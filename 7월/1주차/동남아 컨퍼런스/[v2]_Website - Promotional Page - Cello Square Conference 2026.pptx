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6" r:id="rId7"/>
    <p:sldId id="267" r:id="rId8"/>
    <p:sldId id="263" r:id="rId9"/>
    <p:sldId id="264" r:id="rId10"/>
    <p:sldId id="265" r:id="rId11"/>
  </p:sldIdLst>
  <p:sldSz cx="18288000" cy="10287000"/>
  <p:notesSz cx="6858000" cy="9144000"/>
  <p:embeddedFontLst>
    <p:embeddedFont>
      <p:font typeface="Aptos" panose="020B0604020202020204" charset="0"/>
      <p:regular r:id="rId13"/>
    </p:embeddedFont>
    <p:embeddedFont>
      <p:font typeface="Aptos Bold" panose="020B0604020202020204" charset="0"/>
      <p:regular r:id="rId14"/>
    </p:embeddedFont>
    <p:embeddedFont>
      <p:font typeface="Calibri" panose="020F0502020204030204" pitchFamily="34" charset="0"/>
      <p:regular r:id="rId15"/>
      <p:bold r:id="rId16"/>
      <p:italic r:id="rId17"/>
      <p:boldItalic r:id="rId18"/>
    </p:embeddedFont>
    <p:embeddedFont>
      <p:font typeface="Arimo"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281" autoAdjust="0"/>
  </p:normalViewPr>
  <p:slideViewPr>
    <p:cSldViewPr>
      <p:cViewPr varScale="1">
        <p:scale>
          <a:sx n="73" d="100"/>
          <a:sy n="73" d="100"/>
        </p:scale>
        <p:origin x="200"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C6C279-3A04-43AD-91D9-B4CD195C30A5}" type="datetimeFigureOut">
              <a:rPr lang="en-SG" smtClean="0"/>
              <a:t>26/6/2026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7680A4-333C-4F57-AE28-8F7A608C49EE}" type="slidenum">
              <a:rPr lang="en-SG" smtClean="0"/>
              <a:t>‹#›</a:t>
            </a:fld>
            <a:endParaRPr lang="en-SG"/>
          </a:p>
        </p:txBody>
      </p:sp>
    </p:spTree>
    <p:extLst>
      <p:ext uri="{BB962C8B-B14F-4D97-AF65-F5344CB8AC3E}">
        <p14:creationId xmlns:p14="http://schemas.microsoft.com/office/powerpoint/2010/main" val="544141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F27680A4-333C-4F57-AE28-8F7A608C49EE}" type="slidenum">
              <a:rPr lang="en-SG" smtClean="0"/>
              <a:t>2</a:t>
            </a:fld>
            <a:endParaRPr lang="en-SG"/>
          </a:p>
        </p:txBody>
      </p:sp>
    </p:spTree>
    <p:extLst>
      <p:ext uri="{BB962C8B-B14F-4D97-AF65-F5344CB8AC3E}">
        <p14:creationId xmlns:p14="http://schemas.microsoft.com/office/powerpoint/2010/main" val="3630974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F27680A4-333C-4F57-AE28-8F7A608C49EE}" type="slidenum">
              <a:rPr lang="en-SG" smtClean="0"/>
              <a:t>7</a:t>
            </a:fld>
            <a:endParaRPr lang="en-SG"/>
          </a:p>
        </p:txBody>
      </p:sp>
    </p:spTree>
    <p:extLst>
      <p:ext uri="{BB962C8B-B14F-4D97-AF65-F5344CB8AC3E}">
        <p14:creationId xmlns:p14="http://schemas.microsoft.com/office/powerpoint/2010/main" val="1688096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jpe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jpe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937" y="411070"/>
            <a:ext cx="9053341" cy="9464859"/>
            <a:chOff x="0" y="0"/>
            <a:chExt cx="12071121" cy="12619812"/>
          </a:xfrm>
        </p:grpSpPr>
        <p:sp>
          <p:nvSpPr>
            <p:cNvPr id="3" name="Freeform 3"/>
            <p:cNvSpPr/>
            <p:nvPr/>
          </p:nvSpPr>
          <p:spPr>
            <a:xfrm>
              <a:off x="0" y="0"/>
              <a:ext cx="12071096" cy="12619863"/>
            </a:xfrm>
            <a:custGeom>
              <a:avLst/>
              <a:gdLst/>
              <a:ahLst/>
              <a:cxnLst/>
              <a:rect l="l" t="t" r="r" b="b"/>
              <a:pathLst>
                <a:path w="12071096" h="12619863">
                  <a:moveTo>
                    <a:pt x="0" y="0"/>
                  </a:moveTo>
                  <a:lnTo>
                    <a:pt x="12071096" y="0"/>
                  </a:lnTo>
                  <a:lnTo>
                    <a:pt x="12071096" y="12619863"/>
                  </a:lnTo>
                  <a:lnTo>
                    <a:pt x="0" y="12619863"/>
                  </a:lnTo>
                  <a:lnTo>
                    <a:pt x="0" y="0"/>
                  </a:lnTo>
                  <a:close/>
                </a:path>
              </a:pathLst>
            </a:custGeom>
            <a:blipFill>
              <a:blip r:embed="rId2"/>
              <a:stretch>
                <a:fillRect/>
              </a:stretch>
            </a:blipFill>
          </p:spPr>
        </p:sp>
      </p:grpSp>
      <p:grpSp>
        <p:nvGrpSpPr>
          <p:cNvPr id="7" name="Group 7"/>
          <p:cNvGrpSpPr/>
          <p:nvPr/>
        </p:nvGrpSpPr>
        <p:grpSpPr>
          <a:xfrm>
            <a:off x="679675" y="565375"/>
            <a:ext cx="3193742" cy="700897"/>
            <a:chOff x="0" y="0"/>
            <a:chExt cx="4258323" cy="934529"/>
          </a:xfrm>
        </p:grpSpPr>
        <p:sp>
          <p:nvSpPr>
            <p:cNvPr id="8" name="Freeform 8"/>
            <p:cNvSpPr/>
            <p:nvPr/>
          </p:nvSpPr>
          <p:spPr>
            <a:xfrm>
              <a:off x="0" y="0"/>
              <a:ext cx="4258310" cy="934593"/>
            </a:xfrm>
            <a:custGeom>
              <a:avLst/>
              <a:gdLst/>
              <a:ahLst/>
              <a:cxnLst/>
              <a:rect l="l" t="t" r="r" b="b"/>
              <a:pathLst>
                <a:path w="4258310" h="934593">
                  <a:moveTo>
                    <a:pt x="0" y="0"/>
                  </a:moveTo>
                  <a:lnTo>
                    <a:pt x="4258310" y="0"/>
                  </a:lnTo>
                  <a:lnTo>
                    <a:pt x="4258310" y="934593"/>
                  </a:lnTo>
                  <a:lnTo>
                    <a:pt x="0" y="934593"/>
                  </a:lnTo>
                  <a:close/>
                </a:path>
              </a:pathLst>
            </a:custGeom>
            <a:blipFill>
              <a:blip r:embed="rId3">
                <a:alphaModFix amt="0"/>
              </a:blip>
              <a:stretch>
                <a:fillRect t="-38783" b="-38777"/>
              </a:stretch>
            </a:blipFill>
            <a:ln w="28575" cap="sq">
              <a:solidFill>
                <a:srgbClr val="FF0000"/>
              </a:solidFill>
              <a:prstDash val="solid"/>
              <a:miter/>
            </a:ln>
          </p:spPr>
        </p:sp>
      </p:grpSp>
      <p:sp>
        <p:nvSpPr>
          <p:cNvPr id="9" name="AutoShape 9"/>
          <p:cNvSpPr/>
          <p:nvPr/>
        </p:nvSpPr>
        <p:spPr>
          <a:xfrm rot="2700000">
            <a:off x="3898649" y="864051"/>
            <a:ext cx="40415" cy="0"/>
          </a:xfrm>
          <a:prstGeom prst="line">
            <a:avLst/>
          </a:prstGeom>
          <a:ln w="19050" cap="rnd">
            <a:solidFill>
              <a:srgbClr val="156082"/>
            </a:solidFill>
            <a:prstDash val="solid"/>
            <a:headEnd type="none" w="sm" len="sm"/>
            <a:tailEnd type="none" w="sm" len="sm"/>
          </a:ln>
        </p:spPr>
      </p:sp>
      <p:grpSp>
        <p:nvGrpSpPr>
          <p:cNvPr id="10" name="Group 10"/>
          <p:cNvGrpSpPr/>
          <p:nvPr/>
        </p:nvGrpSpPr>
        <p:grpSpPr>
          <a:xfrm>
            <a:off x="10083689" y="667236"/>
            <a:ext cx="1421540" cy="461666"/>
            <a:chOff x="0" y="0"/>
            <a:chExt cx="1895386" cy="615554"/>
          </a:xfrm>
        </p:grpSpPr>
        <p:sp>
          <p:nvSpPr>
            <p:cNvPr id="11" name="Freeform 11"/>
            <p:cNvSpPr/>
            <p:nvPr/>
          </p:nvSpPr>
          <p:spPr>
            <a:xfrm>
              <a:off x="0" y="0"/>
              <a:ext cx="1895348" cy="615567"/>
            </a:xfrm>
            <a:custGeom>
              <a:avLst/>
              <a:gdLst/>
              <a:ahLst/>
              <a:cxnLst/>
              <a:rect l="l" t="t" r="r" b="b"/>
              <a:pathLst>
                <a:path w="1895348" h="615567">
                  <a:moveTo>
                    <a:pt x="0" y="0"/>
                  </a:moveTo>
                  <a:lnTo>
                    <a:pt x="1895348" y="0"/>
                  </a:lnTo>
                  <a:lnTo>
                    <a:pt x="1895348" y="615567"/>
                  </a:lnTo>
                  <a:lnTo>
                    <a:pt x="0" y="615567"/>
                  </a:lnTo>
                  <a:close/>
                </a:path>
              </a:pathLst>
            </a:custGeom>
            <a:blipFill>
              <a:blip r:embed="rId3">
                <a:alphaModFix amt="0"/>
              </a:blip>
              <a:stretch>
                <a:fillRect t="-9997" r="-2" b="-9995"/>
              </a:stretch>
            </a:blipFill>
            <a:ln cap="sq">
              <a:noFill/>
              <a:prstDash val="solid"/>
              <a:miter/>
            </a:ln>
          </p:spPr>
        </p:sp>
        <p:sp>
          <p:nvSpPr>
            <p:cNvPr id="12" name="TextBox 12"/>
            <p:cNvSpPr txBox="1"/>
            <p:nvPr/>
          </p:nvSpPr>
          <p:spPr>
            <a:xfrm>
              <a:off x="0" y="0"/>
              <a:ext cx="1895386" cy="615554"/>
            </a:xfrm>
            <a:prstGeom prst="rect">
              <a:avLst/>
            </a:prstGeom>
          </p:spPr>
          <p:txBody>
            <a:bodyPr lIns="50800" tIns="50800" rIns="50800" bIns="50800" rtlCol="0" anchor="t"/>
            <a:lstStyle/>
            <a:p>
              <a:pPr algn="l">
                <a:lnSpc>
                  <a:spcPts val="2160"/>
                </a:lnSpc>
              </a:pPr>
              <a:r>
                <a:rPr lang="en-US" sz="1800">
                  <a:solidFill>
                    <a:srgbClr val="FF0000"/>
                  </a:solidFill>
                  <a:latin typeface="Aptos"/>
                  <a:ea typeface="Aptos"/>
                  <a:cs typeface="Aptos"/>
                  <a:sym typeface="Aptos"/>
                </a:rPr>
                <a:t>Keep logo</a:t>
              </a:r>
            </a:p>
          </p:txBody>
        </p:sp>
      </p:grpSp>
      <p:sp>
        <p:nvSpPr>
          <p:cNvPr id="13" name="AutoShape 13"/>
          <p:cNvSpPr/>
          <p:nvPr/>
        </p:nvSpPr>
        <p:spPr>
          <a:xfrm flipV="1">
            <a:off x="3873408" y="898069"/>
            <a:ext cx="6210281" cy="17755"/>
          </a:xfrm>
          <a:prstGeom prst="line">
            <a:avLst/>
          </a:prstGeom>
          <a:ln w="19050" cap="rnd">
            <a:solidFill>
              <a:srgbClr val="FF0000"/>
            </a:solidFill>
            <a:prstDash val="solid"/>
            <a:headEnd type="none" w="sm" len="sm"/>
            <a:tailEnd type="none" w="sm" len="sm"/>
          </a:ln>
        </p:spPr>
      </p:sp>
      <p:grpSp>
        <p:nvGrpSpPr>
          <p:cNvPr id="14" name="Group 14"/>
          <p:cNvGrpSpPr/>
          <p:nvPr/>
        </p:nvGrpSpPr>
        <p:grpSpPr>
          <a:xfrm>
            <a:off x="965425" y="2154203"/>
            <a:ext cx="8258175" cy="635946"/>
            <a:chOff x="0" y="0"/>
            <a:chExt cx="11010900" cy="847928"/>
          </a:xfrm>
        </p:grpSpPr>
        <p:sp>
          <p:nvSpPr>
            <p:cNvPr id="15" name="Freeform 15"/>
            <p:cNvSpPr/>
            <p:nvPr/>
          </p:nvSpPr>
          <p:spPr>
            <a:xfrm>
              <a:off x="0" y="0"/>
              <a:ext cx="11010900" cy="847979"/>
            </a:xfrm>
            <a:custGeom>
              <a:avLst/>
              <a:gdLst/>
              <a:ahLst/>
              <a:cxnLst/>
              <a:rect l="l" t="t" r="r" b="b"/>
              <a:pathLst>
                <a:path w="11010900" h="847979">
                  <a:moveTo>
                    <a:pt x="0" y="0"/>
                  </a:moveTo>
                  <a:lnTo>
                    <a:pt x="11010900" y="0"/>
                  </a:lnTo>
                  <a:lnTo>
                    <a:pt x="11010900" y="847979"/>
                  </a:lnTo>
                  <a:lnTo>
                    <a:pt x="0" y="847979"/>
                  </a:lnTo>
                  <a:close/>
                </a:path>
              </a:pathLst>
            </a:custGeom>
            <a:blipFill>
              <a:blip r:embed="rId3">
                <a:alphaModFix amt="0"/>
              </a:blip>
              <a:stretch>
                <a:fillRect t="-203013" b="-203007"/>
              </a:stretch>
            </a:blipFill>
            <a:ln w="28575" cap="sq">
              <a:solidFill>
                <a:srgbClr val="FF0000"/>
              </a:solidFill>
              <a:prstDash val="solid"/>
              <a:miter/>
            </a:ln>
          </p:spPr>
        </p:sp>
      </p:grpSp>
      <p:sp>
        <p:nvSpPr>
          <p:cNvPr id="16" name="AutoShape 16"/>
          <p:cNvSpPr/>
          <p:nvPr/>
        </p:nvSpPr>
        <p:spPr>
          <a:xfrm rot="2700000">
            <a:off x="4184399" y="2452878"/>
            <a:ext cx="40415" cy="0"/>
          </a:xfrm>
          <a:prstGeom prst="line">
            <a:avLst/>
          </a:prstGeom>
          <a:ln w="19050" cap="rnd">
            <a:solidFill>
              <a:srgbClr val="156082"/>
            </a:solidFill>
            <a:prstDash val="solid"/>
            <a:headEnd type="none" w="sm" len="sm"/>
            <a:tailEnd type="none" w="sm" len="sm"/>
          </a:ln>
        </p:spPr>
      </p:sp>
      <p:grpSp>
        <p:nvGrpSpPr>
          <p:cNvPr id="17" name="Group 17"/>
          <p:cNvGrpSpPr/>
          <p:nvPr/>
        </p:nvGrpSpPr>
        <p:grpSpPr>
          <a:xfrm>
            <a:off x="10083689" y="2154203"/>
            <a:ext cx="5256343" cy="492751"/>
            <a:chOff x="0" y="0"/>
            <a:chExt cx="7008457" cy="657002"/>
          </a:xfrm>
        </p:grpSpPr>
        <p:sp>
          <p:nvSpPr>
            <p:cNvPr id="18" name="Freeform 18"/>
            <p:cNvSpPr/>
            <p:nvPr/>
          </p:nvSpPr>
          <p:spPr>
            <a:xfrm>
              <a:off x="0" y="0"/>
              <a:ext cx="7008495" cy="657014"/>
            </a:xfrm>
            <a:custGeom>
              <a:avLst/>
              <a:gdLst/>
              <a:ahLst/>
              <a:cxnLst/>
              <a:rect l="l" t="t" r="r" b="b"/>
              <a:pathLst>
                <a:path w="7008495" h="657014">
                  <a:moveTo>
                    <a:pt x="0" y="0"/>
                  </a:moveTo>
                  <a:lnTo>
                    <a:pt x="7008495" y="0"/>
                  </a:lnTo>
                  <a:lnTo>
                    <a:pt x="7008495" y="657014"/>
                  </a:lnTo>
                  <a:lnTo>
                    <a:pt x="0" y="657014"/>
                  </a:lnTo>
                  <a:close/>
                </a:path>
              </a:pathLst>
            </a:custGeom>
            <a:blipFill>
              <a:blip r:embed="rId3">
                <a:alphaModFix amt="0"/>
              </a:blip>
              <a:stretch>
                <a:fillRect t="-161004" b="-154694"/>
              </a:stretch>
            </a:blipFill>
            <a:ln cap="sq">
              <a:noFill/>
              <a:prstDash val="solid"/>
              <a:miter/>
            </a:ln>
          </p:spPr>
        </p:sp>
        <p:sp>
          <p:nvSpPr>
            <p:cNvPr id="19" name="TextBox 19"/>
            <p:cNvSpPr txBox="1"/>
            <p:nvPr/>
          </p:nvSpPr>
          <p:spPr>
            <a:xfrm>
              <a:off x="0" y="-19050"/>
              <a:ext cx="7008457" cy="676052"/>
            </a:xfrm>
            <a:prstGeom prst="rect">
              <a:avLst/>
            </a:prstGeom>
          </p:spPr>
          <p:txBody>
            <a:bodyPr lIns="50800" tIns="50800" rIns="50800" bIns="50800" rtlCol="0" anchor="t"/>
            <a:lstStyle/>
            <a:p>
              <a:pPr algn="l">
                <a:lnSpc>
                  <a:spcPts val="2520"/>
                </a:lnSpc>
              </a:pPr>
              <a:r>
                <a:rPr lang="en-US" sz="2100">
                  <a:solidFill>
                    <a:srgbClr val="000000"/>
                  </a:solidFill>
                  <a:latin typeface="Times New Roman"/>
                  <a:ea typeface="Times New Roman"/>
                  <a:cs typeface="Times New Roman"/>
                  <a:sym typeface="Times New Roman"/>
                </a:rPr>
                <a:t>Cello Square Conference Southeast Asia 2026</a:t>
              </a:r>
            </a:p>
          </p:txBody>
        </p:sp>
      </p:grpSp>
      <p:sp>
        <p:nvSpPr>
          <p:cNvPr id="20" name="AutoShape 20"/>
          <p:cNvSpPr/>
          <p:nvPr/>
        </p:nvSpPr>
        <p:spPr>
          <a:xfrm flipV="1">
            <a:off x="9223600" y="2400578"/>
            <a:ext cx="860088" cy="71597"/>
          </a:xfrm>
          <a:prstGeom prst="line">
            <a:avLst/>
          </a:prstGeom>
          <a:ln w="19050" cap="rnd">
            <a:solidFill>
              <a:srgbClr val="FF0000"/>
            </a:solidFill>
            <a:prstDash val="solid"/>
            <a:headEnd type="none" w="sm" len="sm"/>
            <a:tailEnd type="none" w="sm" len="sm"/>
          </a:ln>
        </p:spPr>
      </p:sp>
      <p:grpSp>
        <p:nvGrpSpPr>
          <p:cNvPr id="21" name="Group 21"/>
          <p:cNvGrpSpPr/>
          <p:nvPr/>
        </p:nvGrpSpPr>
        <p:grpSpPr>
          <a:xfrm>
            <a:off x="2207190" y="2900362"/>
            <a:ext cx="5595833" cy="1057094"/>
            <a:chOff x="0" y="0"/>
            <a:chExt cx="7461110" cy="1409459"/>
          </a:xfrm>
        </p:grpSpPr>
        <p:sp>
          <p:nvSpPr>
            <p:cNvPr id="22" name="Freeform 22"/>
            <p:cNvSpPr/>
            <p:nvPr/>
          </p:nvSpPr>
          <p:spPr>
            <a:xfrm>
              <a:off x="0" y="0"/>
              <a:ext cx="7461123" cy="1409446"/>
            </a:xfrm>
            <a:custGeom>
              <a:avLst/>
              <a:gdLst/>
              <a:ahLst/>
              <a:cxnLst/>
              <a:rect l="l" t="t" r="r" b="b"/>
              <a:pathLst>
                <a:path w="7461123" h="1409446">
                  <a:moveTo>
                    <a:pt x="0" y="0"/>
                  </a:moveTo>
                  <a:lnTo>
                    <a:pt x="7461123" y="0"/>
                  </a:lnTo>
                  <a:lnTo>
                    <a:pt x="7461123" y="1409446"/>
                  </a:lnTo>
                  <a:lnTo>
                    <a:pt x="0" y="1409446"/>
                  </a:lnTo>
                  <a:close/>
                </a:path>
              </a:pathLst>
            </a:custGeom>
            <a:blipFill>
              <a:blip r:embed="rId3">
                <a:alphaModFix amt="0"/>
              </a:blip>
              <a:stretch>
                <a:fillRect t="-53146" b="-53147"/>
              </a:stretch>
            </a:blipFill>
            <a:ln w="28575" cap="sq">
              <a:solidFill>
                <a:srgbClr val="FF0000"/>
              </a:solidFill>
              <a:prstDash val="solid"/>
              <a:miter/>
            </a:ln>
          </p:spPr>
        </p:sp>
      </p:grpSp>
      <p:sp>
        <p:nvSpPr>
          <p:cNvPr id="23" name="AutoShape 23"/>
          <p:cNvSpPr/>
          <p:nvPr/>
        </p:nvSpPr>
        <p:spPr>
          <a:xfrm rot="2700000">
            <a:off x="5426164" y="3296393"/>
            <a:ext cx="40415" cy="0"/>
          </a:xfrm>
          <a:prstGeom prst="line">
            <a:avLst/>
          </a:prstGeom>
          <a:ln w="19050" cap="rnd">
            <a:solidFill>
              <a:srgbClr val="156082"/>
            </a:solidFill>
            <a:prstDash val="solid"/>
            <a:headEnd type="none" w="sm" len="sm"/>
            <a:tailEnd type="none" w="sm" len="sm"/>
          </a:ln>
        </p:spPr>
      </p:sp>
      <p:grpSp>
        <p:nvGrpSpPr>
          <p:cNvPr id="24" name="Group 24"/>
          <p:cNvGrpSpPr/>
          <p:nvPr/>
        </p:nvGrpSpPr>
        <p:grpSpPr>
          <a:xfrm>
            <a:off x="10083689" y="3060387"/>
            <a:ext cx="7169416" cy="519639"/>
            <a:chOff x="0" y="0"/>
            <a:chExt cx="9559221" cy="692852"/>
          </a:xfrm>
        </p:grpSpPr>
        <p:sp>
          <p:nvSpPr>
            <p:cNvPr id="25" name="Freeform 25"/>
            <p:cNvSpPr/>
            <p:nvPr/>
          </p:nvSpPr>
          <p:spPr>
            <a:xfrm>
              <a:off x="0" y="0"/>
              <a:ext cx="9559233" cy="692890"/>
            </a:xfrm>
            <a:custGeom>
              <a:avLst/>
              <a:gdLst/>
              <a:ahLst/>
              <a:cxnLst/>
              <a:rect l="l" t="t" r="r" b="b"/>
              <a:pathLst>
                <a:path w="9559233" h="692890">
                  <a:moveTo>
                    <a:pt x="0" y="0"/>
                  </a:moveTo>
                  <a:lnTo>
                    <a:pt x="9559233" y="0"/>
                  </a:lnTo>
                  <a:lnTo>
                    <a:pt x="9559233" y="692890"/>
                  </a:lnTo>
                  <a:lnTo>
                    <a:pt x="0" y="692890"/>
                  </a:lnTo>
                  <a:close/>
                </a:path>
              </a:pathLst>
            </a:custGeom>
            <a:blipFill>
              <a:blip r:embed="rId3">
                <a:alphaModFix amt="0"/>
              </a:blip>
              <a:stretch>
                <a:fillRect t="-161528" r="11821" b="-212554"/>
              </a:stretch>
            </a:blipFill>
            <a:ln cap="sq">
              <a:noFill/>
              <a:prstDash val="solid"/>
              <a:miter/>
            </a:ln>
          </p:spPr>
        </p:sp>
        <p:sp>
          <p:nvSpPr>
            <p:cNvPr id="26" name="TextBox 26"/>
            <p:cNvSpPr txBox="1"/>
            <p:nvPr/>
          </p:nvSpPr>
          <p:spPr>
            <a:xfrm>
              <a:off x="0" y="-19050"/>
              <a:ext cx="9559221" cy="711902"/>
            </a:xfrm>
            <a:prstGeom prst="rect">
              <a:avLst/>
            </a:prstGeom>
          </p:spPr>
          <p:txBody>
            <a:bodyPr lIns="50800" tIns="50800" rIns="50800" bIns="50800" rtlCol="0" anchor="t"/>
            <a:lstStyle/>
            <a:p>
              <a:pPr algn="l">
                <a:lnSpc>
                  <a:spcPts val="2520"/>
                </a:lnSpc>
              </a:pPr>
              <a:r>
                <a:rPr lang="en-US" sz="2100">
                  <a:solidFill>
                    <a:srgbClr val="000000"/>
                  </a:solidFill>
                  <a:latin typeface="Times New Roman"/>
                  <a:ea typeface="Times New Roman"/>
                  <a:cs typeface="Times New Roman"/>
                  <a:sym typeface="Times New Roman"/>
                </a:rPr>
                <a:t>Driving Supply Chain Agility: From Insight to Action</a:t>
              </a:r>
            </a:p>
          </p:txBody>
        </p:sp>
      </p:grpSp>
      <p:sp>
        <p:nvSpPr>
          <p:cNvPr id="27" name="AutoShape 27"/>
          <p:cNvSpPr/>
          <p:nvPr/>
        </p:nvSpPr>
        <p:spPr>
          <a:xfrm flipV="1">
            <a:off x="7803023" y="3320207"/>
            <a:ext cx="2280666" cy="108703"/>
          </a:xfrm>
          <a:prstGeom prst="line">
            <a:avLst/>
          </a:prstGeom>
          <a:ln w="19050" cap="rnd">
            <a:solidFill>
              <a:srgbClr val="FF0000"/>
            </a:solidFill>
            <a:prstDash val="solid"/>
            <a:headEnd type="none" w="sm" len="sm"/>
            <a:tailEnd type="none" w="sm" len="sm"/>
          </a:ln>
        </p:spPr>
      </p:sp>
      <p:sp>
        <p:nvSpPr>
          <p:cNvPr id="28" name="TextBox 28"/>
          <p:cNvSpPr txBox="1"/>
          <p:nvPr/>
        </p:nvSpPr>
        <p:spPr>
          <a:xfrm>
            <a:off x="14483463" y="868815"/>
            <a:ext cx="3546175" cy="819150"/>
          </a:xfrm>
          <a:prstGeom prst="rect">
            <a:avLst/>
          </a:prstGeom>
        </p:spPr>
        <p:txBody>
          <a:bodyPr lIns="0" tIns="0" rIns="0" bIns="0" rtlCol="0" anchor="t">
            <a:spAutoFit/>
          </a:bodyPr>
          <a:lstStyle/>
          <a:p>
            <a:pPr marL="388620" lvl="1" indent="-194310" algn="l">
              <a:lnSpc>
                <a:spcPts val="2160"/>
              </a:lnSpc>
              <a:buFont typeface="Arial"/>
              <a:buChar char="•"/>
            </a:pPr>
            <a:r>
              <a:rPr lang="en-US" sz="1800" dirty="0">
                <a:solidFill>
                  <a:srgbClr val="FF0000"/>
                </a:solidFill>
                <a:latin typeface="Arimo"/>
                <a:ea typeface="Arimo"/>
                <a:cs typeface="Arimo"/>
                <a:sym typeface="Arimo"/>
              </a:rPr>
              <a:t>To be reflected on English site</a:t>
            </a:r>
          </a:p>
          <a:p>
            <a:pPr marL="388620" lvl="1" indent="-194310" algn="l">
              <a:lnSpc>
                <a:spcPts val="2160"/>
              </a:lnSpc>
              <a:buFont typeface="Arial"/>
              <a:buChar char="•"/>
            </a:pPr>
            <a:r>
              <a:rPr lang="en-US" sz="1800" dirty="0">
                <a:solidFill>
                  <a:srgbClr val="FF0000"/>
                </a:solidFill>
                <a:latin typeface="Arimo"/>
                <a:ea typeface="Arimo"/>
                <a:cs typeface="Arimo"/>
                <a:sym typeface="Arimo"/>
              </a:rPr>
              <a:t>Keep font size as it is</a:t>
            </a:r>
          </a:p>
          <a:p>
            <a:pPr marL="388620" lvl="1" indent="-194310" algn="l">
              <a:lnSpc>
                <a:spcPts val="2160"/>
              </a:lnSpc>
              <a:buFont typeface="Arial"/>
              <a:buChar char="•"/>
            </a:pPr>
            <a:r>
              <a:rPr lang="en-US" sz="1800" dirty="0">
                <a:solidFill>
                  <a:srgbClr val="FF0000"/>
                </a:solidFill>
                <a:latin typeface="Arimo"/>
                <a:ea typeface="Arimo"/>
                <a:cs typeface="Arimo"/>
                <a:sym typeface="Arimo"/>
              </a:rPr>
              <a:t>Center alignment</a:t>
            </a:r>
          </a:p>
        </p:txBody>
      </p:sp>
      <p:grpSp>
        <p:nvGrpSpPr>
          <p:cNvPr id="29" name="Group 29"/>
          <p:cNvGrpSpPr/>
          <p:nvPr/>
        </p:nvGrpSpPr>
        <p:grpSpPr>
          <a:xfrm>
            <a:off x="1683887" y="3987146"/>
            <a:ext cx="6723288" cy="578091"/>
            <a:chOff x="0" y="0"/>
            <a:chExt cx="8964384" cy="770788"/>
          </a:xfrm>
        </p:grpSpPr>
        <p:sp>
          <p:nvSpPr>
            <p:cNvPr id="30" name="Freeform 30"/>
            <p:cNvSpPr/>
            <p:nvPr/>
          </p:nvSpPr>
          <p:spPr>
            <a:xfrm>
              <a:off x="0" y="0"/>
              <a:ext cx="8964422" cy="770763"/>
            </a:xfrm>
            <a:custGeom>
              <a:avLst/>
              <a:gdLst/>
              <a:ahLst/>
              <a:cxnLst/>
              <a:rect l="l" t="t" r="r" b="b"/>
              <a:pathLst>
                <a:path w="8964422" h="770763">
                  <a:moveTo>
                    <a:pt x="0" y="0"/>
                  </a:moveTo>
                  <a:lnTo>
                    <a:pt x="8964422" y="0"/>
                  </a:lnTo>
                  <a:lnTo>
                    <a:pt x="8964422" y="770763"/>
                  </a:lnTo>
                  <a:lnTo>
                    <a:pt x="0" y="770763"/>
                  </a:lnTo>
                  <a:close/>
                </a:path>
              </a:pathLst>
            </a:custGeom>
            <a:blipFill>
              <a:blip r:embed="rId3">
                <a:alphaModFix amt="0"/>
              </a:blip>
              <a:stretch>
                <a:fillRect t="-176619" b="-176623"/>
              </a:stretch>
            </a:blipFill>
            <a:ln w="28575" cap="sq">
              <a:solidFill>
                <a:srgbClr val="FF0000"/>
              </a:solidFill>
              <a:prstDash val="solid"/>
              <a:miter/>
            </a:ln>
          </p:spPr>
        </p:sp>
      </p:grpSp>
      <p:sp>
        <p:nvSpPr>
          <p:cNvPr id="31" name="AutoShape 31"/>
          <p:cNvSpPr/>
          <p:nvPr/>
        </p:nvSpPr>
        <p:spPr>
          <a:xfrm rot="2700000">
            <a:off x="4902860" y="4285821"/>
            <a:ext cx="40415" cy="0"/>
          </a:xfrm>
          <a:prstGeom prst="line">
            <a:avLst/>
          </a:prstGeom>
          <a:ln w="19050" cap="rnd">
            <a:solidFill>
              <a:srgbClr val="156082"/>
            </a:solidFill>
            <a:prstDash val="solid"/>
            <a:headEnd type="none" w="sm" len="sm"/>
            <a:tailEnd type="none" w="sm" len="sm"/>
          </a:ln>
        </p:spPr>
      </p:sp>
      <p:grpSp>
        <p:nvGrpSpPr>
          <p:cNvPr id="32" name="Group 32"/>
          <p:cNvGrpSpPr/>
          <p:nvPr/>
        </p:nvGrpSpPr>
        <p:grpSpPr>
          <a:xfrm>
            <a:off x="10083689" y="3872653"/>
            <a:ext cx="8204311" cy="807076"/>
            <a:chOff x="0" y="0"/>
            <a:chExt cx="10939081" cy="1076102"/>
          </a:xfrm>
        </p:grpSpPr>
        <p:sp>
          <p:nvSpPr>
            <p:cNvPr id="33" name="Freeform 33"/>
            <p:cNvSpPr/>
            <p:nvPr/>
          </p:nvSpPr>
          <p:spPr>
            <a:xfrm>
              <a:off x="0" y="0"/>
              <a:ext cx="10939119" cy="1076114"/>
            </a:xfrm>
            <a:custGeom>
              <a:avLst/>
              <a:gdLst/>
              <a:ahLst/>
              <a:cxnLst/>
              <a:rect l="l" t="t" r="r" b="b"/>
              <a:pathLst>
                <a:path w="10939119" h="1076114">
                  <a:moveTo>
                    <a:pt x="0" y="0"/>
                  </a:moveTo>
                  <a:lnTo>
                    <a:pt x="10939119" y="0"/>
                  </a:lnTo>
                  <a:lnTo>
                    <a:pt x="10939119" y="1076114"/>
                  </a:lnTo>
                  <a:lnTo>
                    <a:pt x="0" y="1076114"/>
                  </a:lnTo>
                  <a:close/>
                </a:path>
              </a:pathLst>
            </a:custGeom>
            <a:blipFill>
              <a:blip r:embed="rId3">
                <a:alphaModFix amt="0"/>
              </a:blip>
              <a:stretch>
                <a:fillRect t="-158721" r="5427" b="-115923"/>
              </a:stretch>
            </a:blipFill>
            <a:ln cap="sq">
              <a:noFill/>
              <a:prstDash val="solid"/>
              <a:miter/>
            </a:ln>
          </p:spPr>
        </p:sp>
        <p:sp>
          <p:nvSpPr>
            <p:cNvPr id="34" name="TextBox 34"/>
            <p:cNvSpPr txBox="1"/>
            <p:nvPr/>
          </p:nvSpPr>
          <p:spPr>
            <a:xfrm>
              <a:off x="0" y="-19050"/>
              <a:ext cx="10939081" cy="1095152"/>
            </a:xfrm>
            <a:prstGeom prst="rect">
              <a:avLst/>
            </a:prstGeom>
          </p:spPr>
          <p:txBody>
            <a:bodyPr lIns="50800" tIns="50800" rIns="50800" bIns="50800" rtlCol="0" anchor="t"/>
            <a:lstStyle/>
            <a:p>
              <a:pPr algn="l">
                <a:lnSpc>
                  <a:spcPts val="2520"/>
                </a:lnSpc>
              </a:pPr>
              <a:r>
                <a:rPr lang="en-US" sz="2100" dirty="0">
                  <a:solidFill>
                    <a:srgbClr val="000000"/>
                  </a:solidFill>
                  <a:latin typeface="Times New Roman"/>
                  <a:ea typeface="Times New Roman"/>
                  <a:cs typeface="Times New Roman"/>
                  <a:sym typeface="Times New Roman"/>
                </a:rPr>
                <a:t>24 July (Friday) 13:30 ~ 17:00 (local time)</a:t>
              </a:r>
            </a:p>
            <a:p>
              <a:pPr algn="l">
                <a:lnSpc>
                  <a:spcPts val="2520"/>
                </a:lnSpc>
              </a:pPr>
              <a:r>
                <a:rPr lang="en-US" sz="2100" dirty="0">
                  <a:solidFill>
                    <a:srgbClr val="000000"/>
                  </a:solidFill>
                  <a:latin typeface="Times New Roman"/>
                  <a:ea typeface="Times New Roman"/>
                  <a:cs typeface="Times New Roman"/>
                  <a:sym typeface="Times New Roman"/>
                </a:rPr>
                <a:t>InterContinental Hanoi Landmark 72 | 5F Ballroom 1 | Hanoi, Vietnam</a:t>
              </a:r>
            </a:p>
          </p:txBody>
        </p:sp>
      </p:grpSp>
      <p:sp>
        <p:nvSpPr>
          <p:cNvPr id="35" name="AutoShape 35"/>
          <p:cNvSpPr/>
          <p:nvPr/>
        </p:nvSpPr>
        <p:spPr>
          <a:xfrm>
            <a:off x="8407175" y="4276192"/>
            <a:ext cx="1676514" cy="0"/>
          </a:xfrm>
          <a:prstGeom prst="line">
            <a:avLst/>
          </a:prstGeom>
          <a:ln w="19050" cap="rnd">
            <a:solidFill>
              <a:srgbClr val="FF0000"/>
            </a:solidFill>
            <a:prstDash val="solid"/>
            <a:headEnd type="none" w="sm" len="sm"/>
            <a:tailEnd type="none" w="sm" len="sm"/>
          </a:ln>
        </p:spPr>
      </p:sp>
      <p:grpSp>
        <p:nvGrpSpPr>
          <p:cNvPr id="36" name="Group 36"/>
          <p:cNvGrpSpPr/>
          <p:nvPr/>
        </p:nvGrpSpPr>
        <p:grpSpPr>
          <a:xfrm>
            <a:off x="1087888" y="5762244"/>
            <a:ext cx="8233686" cy="3975706"/>
            <a:chOff x="0" y="0"/>
            <a:chExt cx="10978248" cy="5300942"/>
          </a:xfrm>
        </p:grpSpPr>
        <p:sp>
          <p:nvSpPr>
            <p:cNvPr id="37" name="Freeform 37"/>
            <p:cNvSpPr/>
            <p:nvPr/>
          </p:nvSpPr>
          <p:spPr>
            <a:xfrm>
              <a:off x="0" y="0"/>
              <a:ext cx="10978261" cy="5300980"/>
            </a:xfrm>
            <a:custGeom>
              <a:avLst/>
              <a:gdLst/>
              <a:ahLst/>
              <a:cxnLst/>
              <a:rect l="l" t="t" r="r" b="b"/>
              <a:pathLst>
                <a:path w="10978261" h="5300980">
                  <a:moveTo>
                    <a:pt x="0" y="0"/>
                  </a:moveTo>
                  <a:lnTo>
                    <a:pt x="10978261" y="0"/>
                  </a:lnTo>
                  <a:lnTo>
                    <a:pt x="10978261" y="5300980"/>
                  </a:lnTo>
                  <a:lnTo>
                    <a:pt x="0" y="5300980"/>
                  </a:lnTo>
                  <a:close/>
                </a:path>
              </a:pathLst>
            </a:custGeom>
            <a:blipFill>
              <a:blip r:embed="rId3">
                <a:alphaModFix amt="0"/>
              </a:blip>
              <a:stretch>
                <a:fillRect l="-11952" r="-11952"/>
              </a:stretch>
            </a:blipFill>
            <a:ln w="28575" cap="sq">
              <a:solidFill>
                <a:srgbClr val="FF0000"/>
              </a:solidFill>
              <a:prstDash val="solid"/>
              <a:miter/>
            </a:ln>
          </p:spPr>
        </p:sp>
      </p:grpSp>
      <p:sp>
        <p:nvSpPr>
          <p:cNvPr id="38" name="AutoShape 38"/>
          <p:cNvSpPr/>
          <p:nvPr/>
        </p:nvSpPr>
        <p:spPr>
          <a:xfrm rot="2700000">
            <a:off x="4306862" y="7256726"/>
            <a:ext cx="40415" cy="0"/>
          </a:xfrm>
          <a:prstGeom prst="line">
            <a:avLst/>
          </a:prstGeom>
          <a:ln w="19050" cap="rnd">
            <a:solidFill>
              <a:srgbClr val="156082"/>
            </a:solidFill>
            <a:prstDash val="solid"/>
            <a:headEnd type="none" w="sm" len="sm"/>
            <a:tailEnd type="none" w="sm" len="sm"/>
          </a:ln>
        </p:spPr>
      </p:sp>
      <p:grpSp>
        <p:nvGrpSpPr>
          <p:cNvPr id="39" name="Group 39"/>
          <p:cNvGrpSpPr/>
          <p:nvPr/>
        </p:nvGrpSpPr>
        <p:grpSpPr>
          <a:xfrm>
            <a:off x="10083689" y="4964120"/>
            <a:ext cx="7945949" cy="3722104"/>
            <a:chOff x="0" y="0"/>
            <a:chExt cx="10594599" cy="4962805"/>
          </a:xfrm>
        </p:grpSpPr>
        <p:sp>
          <p:nvSpPr>
            <p:cNvPr id="40" name="Freeform 40"/>
            <p:cNvSpPr/>
            <p:nvPr/>
          </p:nvSpPr>
          <p:spPr>
            <a:xfrm>
              <a:off x="0" y="0"/>
              <a:ext cx="10594542" cy="4962765"/>
            </a:xfrm>
            <a:custGeom>
              <a:avLst/>
              <a:gdLst/>
              <a:ahLst/>
              <a:cxnLst/>
              <a:rect l="l" t="t" r="r" b="b"/>
              <a:pathLst>
                <a:path w="10594542" h="4962765">
                  <a:moveTo>
                    <a:pt x="0" y="0"/>
                  </a:moveTo>
                  <a:lnTo>
                    <a:pt x="10594542" y="0"/>
                  </a:lnTo>
                  <a:lnTo>
                    <a:pt x="10594542" y="4962765"/>
                  </a:lnTo>
                  <a:lnTo>
                    <a:pt x="0" y="4962765"/>
                  </a:lnTo>
                  <a:close/>
                </a:path>
              </a:pathLst>
            </a:custGeom>
            <a:blipFill>
              <a:blip r:embed="rId3">
                <a:alphaModFix amt="0"/>
              </a:blip>
              <a:stretch>
                <a:fillRect l="-30651" r="-19930" b="-25274"/>
              </a:stretch>
            </a:blipFill>
            <a:ln cap="sq">
              <a:noFill/>
              <a:prstDash val="solid"/>
              <a:miter/>
            </a:ln>
          </p:spPr>
        </p:sp>
        <p:sp>
          <p:nvSpPr>
            <p:cNvPr id="41" name="TextBox 41"/>
            <p:cNvSpPr txBox="1"/>
            <p:nvPr/>
          </p:nvSpPr>
          <p:spPr>
            <a:xfrm>
              <a:off x="0" y="-19050"/>
              <a:ext cx="10594599" cy="4981855"/>
            </a:xfrm>
            <a:prstGeom prst="rect">
              <a:avLst/>
            </a:prstGeom>
          </p:spPr>
          <p:txBody>
            <a:bodyPr lIns="50800" tIns="50800" rIns="50800" bIns="50800" rtlCol="0" anchor="t"/>
            <a:lstStyle/>
            <a:p>
              <a:pPr algn="l">
                <a:lnSpc>
                  <a:spcPts val="2520"/>
                </a:lnSpc>
              </a:pPr>
              <a:r>
                <a:rPr lang="en-US" sz="2100" dirty="0">
                  <a:solidFill>
                    <a:srgbClr val="000000"/>
                  </a:solidFill>
                  <a:latin typeface="Times New Roman"/>
                  <a:ea typeface="Times New Roman"/>
                  <a:cs typeface="Times New Roman"/>
                  <a:sym typeface="Times New Roman"/>
                </a:rPr>
                <a:t>Global supply chains are changing rapidly. To stay competitive, businesses must move beyond basic visibility toward agile, </a:t>
              </a:r>
              <a:r>
                <a:rPr lang="en-US" sz="2100" dirty="0" smtClean="0">
                  <a:solidFill>
                    <a:srgbClr val="000000"/>
                  </a:solidFill>
                  <a:latin typeface="Times New Roman"/>
                  <a:ea typeface="Times New Roman"/>
                  <a:cs typeface="Times New Roman"/>
                  <a:sym typeface="Times New Roman"/>
                </a:rPr>
                <a:t>AI-powered, data-driven decision-making and automation.</a:t>
              </a:r>
              <a:endParaRPr lang="en-US" sz="2100" dirty="0">
                <a:solidFill>
                  <a:srgbClr val="000000"/>
                </a:solidFill>
                <a:latin typeface="Times New Roman"/>
                <a:ea typeface="Times New Roman"/>
                <a:cs typeface="Times New Roman"/>
                <a:sym typeface="Times New Roman"/>
              </a:endParaRPr>
            </a:p>
            <a:p>
              <a:pPr algn="l">
                <a:lnSpc>
                  <a:spcPts val="2520"/>
                </a:lnSpc>
              </a:pPr>
              <a:endParaRPr lang="en-US" sz="2100" dirty="0">
                <a:solidFill>
                  <a:srgbClr val="000000"/>
                </a:solidFill>
                <a:latin typeface="Times New Roman"/>
                <a:ea typeface="Times New Roman"/>
                <a:cs typeface="Times New Roman"/>
                <a:sym typeface="Times New Roman"/>
              </a:endParaRPr>
            </a:p>
            <a:p>
              <a:pPr algn="l">
                <a:lnSpc>
                  <a:spcPts val="2520"/>
                </a:lnSpc>
              </a:pPr>
              <a:r>
                <a:rPr lang="en-US" sz="2100" dirty="0">
                  <a:solidFill>
                    <a:srgbClr val="000000"/>
                  </a:solidFill>
                  <a:latin typeface="Times New Roman"/>
                  <a:ea typeface="Times New Roman"/>
                  <a:cs typeface="Times New Roman"/>
                  <a:sym typeface="Times New Roman"/>
                </a:rPr>
                <a:t>Returning for its fourth edition in Hanoi, the Cello Square Conference 2026 connects industry leaders and experts to explore the latest market trends, automation strategies, and digital logistics innovations.</a:t>
              </a:r>
            </a:p>
            <a:p>
              <a:pPr algn="l">
                <a:lnSpc>
                  <a:spcPts val="2520"/>
                </a:lnSpc>
              </a:pPr>
              <a:endParaRPr lang="en-US" sz="2100" dirty="0">
                <a:solidFill>
                  <a:srgbClr val="000000"/>
                </a:solidFill>
                <a:latin typeface="Times New Roman"/>
                <a:ea typeface="Times New Roman"/>
                <a:cs typeface="Times New Roman"/>
                <a:sym typeface="Times New Roman"/>
              </a:endParaRPr>
            </a:p>
            <a:p>
              <a:pPr>
                <a:lnSpc>
                  <a:spcPts val="2520"/>
                </a:lnSpc>
              </a:pPr>
              <a:r>
                <a:rPr lang="en-SG" sz="2100" dirty="0">
                  <a:solidFill>
                    <a:srgbClr val="000000"/>
                  </a:solidFill>
                  <a:latin typeface="Times New Roman"/>
                  <a:ea typeface="Times New Roman"/>
                  <a:cs typeface="Times New Roman"/>
                  <a:sym typeface="Times New Roman"/>
                </a:rPr>
                <a:t>Join us at the InterContinental Hanoi Landmark 72 to gain practical insights into the future of logistics and supply chain innovation - and put them into immediate action.</a:t>
              </a:r>
              <a:endParaRPr lang="en-US" sz="2100" dirty="0">
                <a:solidFill>
                  <a:srgbClr val="000000"/>
                </a:solidFill>
                <a:latin typeface="Times New Roman"/>
                <a:ea typeface="Times New Roman"/>
                <a:cs typeface="Times New Roman"/>
                <a:sym typeface="Times New Roman"/>
              </a:endParaRPr>
            </a:p>
          </p:txBody>
        </p:sp>
      </p:grpSp>
      <p:sp>
        <p:nvSpPr>
          <p:cNvPr id="42" name="AutoShape 42"/>
          <p:cNvSpPr/>
          <p:nvPr/>
        </p:nvSpPr>
        <p:spPr>
          <a:xfrm flipV="1">
            <a:off x="9321575" y="6825172"/>
            <a:ext cx="762114" cy="924926"/>
          </a:xfrm>
          <a:prstGeom prst="line">
            <a:avLst/>
          </a:prstGeom>
          <a:ln w="19050" cap="rnd">
            <a:solidFill>
              <a:srgbClr val="FF0000"/>
            </a:solidFill>
            <a:prstDash val="solid"/>
            <a:headEnd type="none" w="sm" len="sm"/>
            <a:tailEnd type="none" w="sm" len="sm"/>
          </a:ln>
        </p:spPr>
      </p:sp>
      <p:sp>
        <p:nvSpPr>
          <p:cNvPr id="43" name="TextBox 43"/>
          <p:cNvSpPr txBox="1"/>
          <p:nvPr/>
        </p:nvSpPr>
        <p:spPr>
          <a:xfrm>
            <a:off x="16488485" y="368276"/>
            <a:ext cx="1541631" cy="462563"/>
          </a:xfrm>
          <a:prstGeom prst="rect">
            <a:avLst/>
          </a:prstGeom>
        </p:spPr>
        <p:txBody>
          <a:bodyPr lIns="0" tIns="0" rIns="0" bIns="0" rtlCol="0" anchor="t">
            <a:spAutoFit/>
          </a:bodyPr>
          <a:lstStyle/>
          <a:p>
            <a:pPr algn="l">
              <a:lnSpc>
                <a:spcPts val="3240"/>
              </a:lnSpc>
            </a:pPr>
            <a:r>
              <a:rPr lang="en-US" sz="2700" b="1">
                <a:solidFill>
                  <a:srgbClr val="000000"/>
                </a:solidFill>
                <a:latin typeface="Aptos Bold"/>
                <a:ea typeface="Aptos Bold"/>
                <a:cs typeface="Aptos Bold"/>
                <a:sym typeface="Aptos Bold"/>
              </a:rPr>
              <a:t>ENGLISH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4774" y="559670"/>
            <a:ext cx="8607533" cy="9167651"/>
            <a:chOff x="0" y="0"/>
            <a:chExt cx="11476711" cy="12223534"/>
          </a:xfrm>
        </p:grpSpPr>
        <p:sp>
          <p:nvSpPr>
            <p:cNvPr id="3" name="Freeform 3"/>
            <p:cNvSpPr/>
            <p:nvPr/>
          </p:nvSpPr>
          <p:spPr>
            <a:xfrm>
              <a:off x="0" y="0"/>
              <a:ext cx="11476736" cy="12223496"/>
            </a:xfrm>
            <a:custGeom>
              <a:avLst/>
              <a:gdLst/>
              <a:ahLst/>
              <a:cxnLst/>
              <a:rect l="l" t="t" r="r" b="b"/>
              <a:pathLst>
                <a:path w="11476736" h="12223496">
                  <a:moveTo>
                    <a:pt x="0" y="0"/>
                  </a:moveTo>
                  <a:lnTo>
                    <a:pt x="11476736" y="0"/>
                  </a:lnTo>
                  <a:lnTo>
                    <a:pt x="11476736" y="12223496"/>
                  </a:lnTo>
                  <a:lnTo>
                    <a:pt x="0" y="12223496"/>
                  </a:lnTo>
                  <a:lnTo>
                    <a:pt x="0" y="0"/>
                  </a:lnTo>
                  <a:close/>
                </a:path>
              </a:pathLst>
            </a:custGeom>
            <a:blipFill>
              <a:blip r:embed="rId3"/>
              <a:stretch>
                <a:fillRect/>
              </a:stretch>
            </a:blipFill>
          </p:spPr>
        </p:sp>
      </p:grpSp>
      <p:graphicFrame>
        <p:nvGraphicFramePr>
          <p:cNvPr id="4" name="Table 4"/>
          <p:cNvGraphicFramePr>
            <a:graphicFrameLocks noGrp="1"/>
          </p:cNvGraphicFramePr>
          <p:nvPr>
            <p:extLst>
              <p:ext uri="{D42A27DB-BD31-4B8C-83A1-F6EECF244321}">
                <p14:modId xmlns:p14="http://schemas.microsoft.com/office/powerpoint/2010/main" val="3366275318"/>
              </p:ext>
            </p:extLst>
          </p:nvPr>
        </p:nvGraphicFramePr>
        <p:xfrm>
          <a:off x="9413405" y="1618567"/>
          <a:ext cx="8722195" cy="7288399"/>
        </p:xfrm>
        <a:graphic>
          <a:graphicData uri="http://schemas.openxmlformats.org/drawingml/2006/table">
            <a:tbl>
              <a:tblPr/>
              <a:tblGrid>
                <a:gridCol w="1726881">
                  <a:extLst>
                    <a:ext uri="{9D8B030D-6E8A-4147-A177-3AD203B41FA5}">
                      <a16:colId xmlns:a16="http://schemas.microsoft.com/office/drawing/2014/main" val="20000"/>
                    </a:ext>
                  </a:extLst>
                </a:gridCol>
                <a:gridCol w="6995314">
                  <a:extLst>
                    <a:ext uri="{9D8B030D-6E8A-4147-A177-3AD203B41FA5}">
                      <a16:colId xmlns:a16="http://schemas.microsoft.com/office/drawing/2014/main" val="20001"/>
                    </a:ext>
                  </a:extLst>
                </a:gridCol>
              </a:tblGrid>
              <a:tr h="523855">
                <a:tc>
                  <a:txBody>
                    <a:bodyPr/>
                    <a:lstStyle/>
                    <a:p>
                      <a:pPr algn="ctr">
                        <a:lnSpc>
                          <a:spcPts val="2160"/>
                        </a:lnSpc>
                        <a:defRPr/>
                      </a:pPr>
                      <a:r>
                        <a:rPr lang="en-US" sz="1800">
                          <a:solidFill>
                            <a:srgbClr val="000000"/>
                          </a:solidFill>
                          <a:latin typeface="Times New Roman"/>
                          <a:ea typeface="Times New Roman"/>
                          <a:cs typeface="Times New Roman"/>
                          <a:sym typeface="Times New Roman"/>
                        </a:rPr>
                        <a:t>Time</a:t>
                      </a:r>
                      <a:endParaRPr lang="en-US" sz="110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Session / Speaker</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43314">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13:30 ~ </a:t>
                      </a:r>
                      <a:r>
                        <a:rPr lang="en-US" sz="1800" dirty="0" smtClean="0">
                          <a:solidFill>
                            <a:srgbClr val="000000"/>
                          </a:solidFill>
                          <a:latin typeface="Times New Roman"/>
                          <a:ea typeface="Times New Roman"/>
                          <a:cs typeface="Times New Roman"/>
                          <a:sym typeface="Times New Roman"/>
                        </a:rPr>
                        <a:t>14:10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Event </a:t>
                      </a:r>
                      <a:r>
                        <a:rPr lang="en-US" sz="1800" dirty="0" smtClean="0">
                          <a:solidFill>
                            <a:srgbClr val="000000"/>
                          </a:solidFill>
                          <a:latin typeface="Times New Roman"/>
                          <a:ea typeface="Times New Roman"/>
                          <a:cs typeface="Times New Roman"/>
                          <a:sym typeface="Times New Roman"/>
                        </a:rPr>
                        <a:t>Registration</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48124">
                <a:tc>
                  <a:txBody>
                    <a:bodyPr/>
                    <a:lstStyle/>
                    <a:p>
                      <a:pPr algn="ctr">
                        <a:lnSpc>
                          <a:spcPts val="2160"/>
                        </a:lnSpc>
                        <a:defRPr/>
                      </a:pPr>
                      <a:r>
                        <a:rPr lang="en-US" sz="1800" dirty="0" smtClean="0">
                          <a:solidFill>
                            <a:srgbClr val="000000"/>
                          </a:solidFill>
                          <a:latin typeface="Times New Roman"/>
                          <a:ea typeface="Times New Roman"/>
                          <a:cs typeface="Times New Roman"/>
                          <a:sym typeface="Times New Roman"/>
                        </a:rPr>
                        <a:t>14:10 </a:t>
                      </a:r>
                      <a:r>
                        <a:rPr lang="en-US" sz="1800" dirty="0">
                          <a:solidFill>
                            <a:srgbClr val="000000"/>
                          </a:solidFill>
                          <a:latin typeface="Times New Roman"/>
                          <a:ea typeface="Times New Roman"/>
                          <a:cs typeface="Times New Roman"/>
                          <a:sym typeface="Times New Roman"/>
                        </a:rPr>
                        <a:t>~ 14:20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Welcome &amp; Opening </a:t>
                      </a:r>
                      <a:r>
                        <a:rPr lang="en-US" sz="1800" dirty="0" smtClean="0">
                          <a:solidFill>
                            <a:srgbClr val="000000"/>
                          </a:solidFill>
                          <a:latin typeface="Times New Roman"/>
                          <a:ea typeface="Times New Roman"/>
                          <a:cs typeface="Times New Roman"/>
                          <a:sym typeface="Times New Roman"/>
                        </a:rPr>
                        <a:t>Remarks</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48124">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14:20 ~ 14:40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AI-Based Solutions for Securing Competitive Advantage</a:t>
                      </a:r>
                      <a:endParaRPr lang="en-US" sz="1100" dirty="0"/>
                    </a:p>
                    <a:p>
                      <a:pPr algn="ctr">
                        <a:lnSpc>
                          <a:spcPts val="2160"/>
                        </a:lnSpc>
                      </a:pPr>
                      <a:r>
                        <a:rPr lang="en-US" sz="1800" dirty="0">
                          <a:solidFill>
                            <a:srgbClr val="00B0F0"/>
                          </a:solidFill>
                          <a:latin typeface="Times New Roman"/>
                          <a:ea typeface="Times New Roman"/>
                          <a:cs typeface="Times New Roman"/>
                          <a:sym typeface="Times New Roman"/>
                        </a:rPr>
                        <a:t>Samsung SDS </a:t>
                      </a:r>
                      <a:r>
                        <a:rPr lang="en-US" sz="1800" dirty="0" smtClean="0">
                          <a:solidFill>
                            <a:srgbClr val="00B0F0"/>
                          </a:solidFill>
                          <a:latin typeface="Times New Roman"/>
                          <a:ea typeface="Times New Roman"/>
                          <a:cs typeface="Times New Roman"/>
                          <a:sym typeface="Times New Roman"/>
                        </a:rPr>
                        <a:t>Asia Pacific, Vice </a:t>
                      </a:r>
                      <a:r>
                        <a:rPr lang="en-US" sz="1800" dirty="0">
                          <a:solidFill>
                            <a:srgbClr val="00B0F0"/>
                          </a:solidFill>
                          <a:latin typeface="Times New Roman"/>
                          <a:ea typeface="Times New Roman"/>
                          <a:cs typeface="Times New Roman"/>
                          <a:sym typeface="Times New Roman"/>
                        </a:rPr>
                        <a:t>President | Mr. Kim Dong </a:t>
                      </a:r>
                      <a:r>
                        <a:rPr lang="en-US" sz="1800" dirty="0" err="1">
                          <a:solidFill>
                            <a:srgbClr val="00B0F0"/>
                          </a:solidFill>
                          <a:latin typeface="Times New Roman"/>
                          <a:ea typeface="Times New Roman"/>
                          <a:cs typeface="Times New Roman"/>
                          <a:sym typeface="Times New Roman"/>
                        </a:rPr>
                        <a:t>Kyun</a:t>
                      </a:r>
                      <a:endParaRPr lang="en-US" sz="1800" dirty="0">
                        <a:solidFill>
                          <a:srgbClr val="00B0F0"/>
                        </a:solidFill>
                        <a:latin typeface="Times New Roman"/>
                        <a:ea typeface="Times New Roman"/>
                        <a:cs typeface="Times New Roman"/>
                        <a:sym typeface="Times New Roman"/>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914998">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14:40 ~ 15:00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smtClean="0">
                          <a:solidFill>
                            <a:srgbClr val="000000"/>
                          </a:solidFill>
                          <a:latin typeface="Times New Roman"/>
                          <a:ea typeface="Times New Roman"/>
                          <a:cs typeface="Times New Roman"/>
                          <a:sym typeface="Times New Roman"/>
                        </a:rPr>
                        <a:t>Ocean Freight Market Outlook and Strategy</a:t>
                      </a:r>
                      <a:endParaRPr lang="en-US" sz="1100" dirty="0" smtClean="0"/>
                    </a:p>
                    <a:p>
                      <a:pPr algn="ctr">
                        <a:lnSpc>
                          <a:spcPts val="2160"/>
                        </a:lnSpc>
                      </a:pPr>
                      <a:r>
                        <a:rPr lang="en-US" sz="1800" dirty="0" smtClean="0">
                          <a:solidFill>
                            <a:srgbClr val="00B0F0"/>
                          </a:solidFill>
                          <a:latin typeface="Times New Roman"/>
                          <a:ea typeface="Times New Roman"/>
                          <a:cs typeface="Times New Roman"/>
                          <a:sym typeface="Times New Roman"/>
                        </a:rPr>
                        <a:t>Samsung SDS</a:t>
                      </a:r>
                      <a:r>
                        <a:rPr lang="en-US" sz="1800" baseline="0" dirty="0" smtClean="0">
                          <a:solidFill>
                            <a:srgbClr val="00B0F0"/>
                          </a:solidFill>
                          <a:latin typeface="Times New Roman"/>
                          <a:ea typeface="Times New Roman"/>
                          <a:cs typeface="Times New Roman"/>
                          <a:sym typeface="Times New Roman"/>
                        </a:rPr>
                        <a:t> Asia Pacific</a:t>
                      </a:r>
                      <a:r>
                        <a:rPr lang="en-US" sz="1800" dirty="0" smtClean="0">
                          <a:solidFill>
                            <a:srgbClr val="00B0F0"/>
                          </a:solidFill>
                          <a:latin typeface="Times New Roman"/>
                          <a:ea typeface="Times New Roman"/>
                          <a:cs typeface="Times New Roman"/>
                          <a:sym typeface="Times New Roman"/>
                        </a:rPr>
                        <a:t>, Ocean Logistics Team Leader | Mr. Matthew Thong </a:t>
                      </a:r>
                      <a:r>
                        <a:rPr lang="en-US" sz="1800" dirty="0" err="1" smtClean="0">
                          <a:solidFill>
                            <a:srgbClr val="00B0F0"/>
                          </a:solidFill>
                          <a:latin typeface="Times New Roman"/>
                          <a:ea typeface="Times New Roman"/>
                          <a:cs typeface="Times New Roman"/>
                          <a:sym typeface="Times New Roman"/>
                        </a:rPr>
                        <a:t>Jit</a:t>
                      </a:r>
                      <a:r>
                        <a:rPr lang="en-US" sz="1800" dirty="0" smtClean="0">
                          <a:solidFill>
                            <a:srgbClr val="00B0F0"/>
                          </a:solidFill>
                          <a:latin typeface="Times New Roman"/>
                          <a:ea typeface="Times New Roman"/>
                          <a:cs typeface="Times New Roman"/>
                          <a:sym typeface="Times New Roman"/>
                        </a:rPr>
                        <a:t> Fong</a:t>
                      </a: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81249">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15:00 ~ 15:20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Networking &amp; Break</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914998">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15:20 ~ 15:40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smtClean="0">
                          <a:solidFill>
                            <a:srgbClr val="000000"/>
                          </a:solidFill>
                          <a:latin typeface="Times New Roman"/>
                          <a:ea typeface="Times New Roman"/>
                          <a:cs typeface="Times New Roman"/>
                          <a:sym typeface="Times New Roman"/>
                        </a:rPr>
                        <a:t>Air Freight Market Outlook and Strategy</a:t>
                      </a:r>
                      <a:endParaRPr lang="en-US" sz="1100" dirty="0" smtClean="0"/>
                    </a:p>
                    <a:p>
                      <a:pPr algn="ctr">
                        <a:lnSpc>
                          <a:spcPts val="2160"/>
                        </a:lnSpc>
                      </a:pPr>
                      <a:r>
                        <a:rPr lang="en-US" sz="1800" dirty="0" smtClean="0">
                          <a:solidFill>
                            <a:srgbClr val="00B0F0"/>
                          </a:solidFill>
                          <a:latin typeface="Times New Roman"/>
                          <a:ea typeface="Times New Roman"/>
                          <a:cs typeface="Times New Roman"/>
                          <a:sym typeface="Times New Roman"/>
                        </a:rPr>
                        <a:t>Samsung SDS Asia</a:t>
                      </a:r>
                      <a:r>
                        <a:rPr lang="en-US" sz="1800" baseline="0" dirty="0" smtClean="0">
                          <a:solidFill>
                            <a:srgbClr val="00B0F0"/>
                          </a:solidFill>
                          <a:latin typeface="Times New Roman"/>
                          <a:ea typeface="Times New Roman"/>
                          <a:cs typeface="Times New Roman"/>
                          <a:sym typeface="Times New Roman"/>
                        </a:rPr>
                        <a:t> Pacific</a:t>
                      </a:r>
                      <a:r>
                        <a:rPr lang="en-US" sz="1800" dirty="0" smtClean="0">
                          <a:solidFill>
                            <a:srgbClr val="00B0F0"/>
                          </a:solidFill>
                          <a:latin typeface="Times New Roman"/>
                          <a:ea typeface="Times New Roman"/>
                          <a:cs typeface="Times New Roman"/>
                          <a:sym typeface="Times New Roman"/>
                        </a:rPr>
                        <a:t>, Air Logistics Team Leader | Mr. Bae </a:t>
                      </a:r>
                      <a:r>
                        <a:rPr lang="en-US" sz="1800" dirty="0" err="1" smtClean="0">
                          <a:solidFill>
                            <a:srgbClr val="00B0F0"/>
                          </a:solidFill>
                          <a:latin typeface="Times New Roman"/>
                          <a:ea typeface="Times New Roman"/>
                          <a:cs typeface="Times New Roman"/>
                          <a:sym typeface="Times New Roman"/>
                        </a:rPr>
                        <a:t>Kyungjin</a:t>
                      </a:r>
                      <a:endParaRPr lang="en-US" sz="1800" dirty="0" smtClean="0">
                        <a:solidFill>
                          <a:srgbClr val="00B0F0"/>
                        </a:solidFill>
                        <a:latin typeface="Times New Roman"/>
                        <a:ea typeface="Times New Roman"/>
                        <a:cs typeface="Times New Roman"/>
                        <a:sym typeface="Times New Roman"/>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181872">
                <a:tc>
                  <a:txBody>
                    <a:bodyPr/>
                    <a:lstStyle/>
                    <a:p>
                      <a:pPr algn="ctr">
                        <a:lnSpc>
                          <a:spcPts val="2160"/>
                        </a:lnSpc>
                        <a:defRPr/>
                      </a:pPr>
                      <a:r>
                        <a:rPr lang="en-US" sz="1800" dirty="0" smtClean="0">
                          <a:solidFill>
                            <a:srgbClr val="000000"/>
                          </a:solidFill>
                          <a:latin typeface="Times New Roman"/>
                          <a:ea typeface="Times New Roman"/>
                          <a:cs typeface="Times New Roman"/>
                          <a:sym typeface="Times New Roman"/>
                        </a:rPr>
                        <a:t>15:40 </a:t>
                      </a:r>
                      <a:r>
                        <a:rPr lang="en-US" sz="1800" dirty="0">
                          <a:solidFill>
                            <a:srgbClr val="000000"/>
                          </a:solidFill>
                          <a:latin typeface="Times New Roman"/>
                          <a:ea typeface="Times New Roman"/>
                          <a:cs typeface="Times New Roman"/>
                          <a:sym typeface="Times New Roman"/>
                        </a:rPr>
                        <a:t>~ </a:t>
                      </a:r>
                      <a:r>
                        <a:rPr lang="en-US" sz="1800" dirty="0" smtClean="0">
                          <a:solidFill>
                            <a:srgbClr val="000000"/>
                          </a:solidFill>
                          <a:latin typeface="Times New Roman"/>
                          <a:ea typeface="Times New Roman"/>
                          <a:cs typeface="Times New Roman"/>
                          <a:sym typeface="Times New Roman"/>
                        </a:rPr>
                        <a:t>16:00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From Outsourced Function to Strategic Engine: The New Era of Contract Logistics</a:t>
                      </a:r>
                      <a:endParaRPr lang="en-US" sz="1100" dirty="0"/>
                    </a:p>
                    <a:p>
                      <a:pPr algn="ctr">
                        <a:lnSpc>
                          <a:spcPts val="2160"/>
                        </a:lnSpc>
                      </a:pPr>
                      <a:r>
                        <a:rPr lang="en-US" sz="1800" dirty="0">
                          <a:solidFill>
                            <a:srgbClr val="00B0F0"/>
                          </a:solidFill>
                          <a:latin typeface="Times New Roman"/>
                          <a:ea typeface="Times New Roman"/>
                          <a:cs typeface="Times New Roman"/>
                          <a:sym typeface="Times New Roman"/>
                        </a:rPr>
                        <a:t>Samsung SDS </a:t>
                      </a:r>
                      <a:r>
                        <a:rPr lang="en-US" sz="1800" dirty="0" smtClean="0">
                          <a:solidFill>
                            <a:srgbClr val="00B0F0"/>
                          </a:solidFill>
                          <a:latin typeface="Times New Roman"/>
                          <a:ea typeface="Times New Roman"/>
                          <a:cs typeface="Times New Roman"/>
                          <a:sym typeface="Times New Roman"/>
                        </a:rPr>
                        <a:t>Asia Pacific, Contract </a:t>
                      </a:r>
                      <a:r>
                        <a:rPr lang="en-US" sz="1800" dirty="0">
                          <a:solidFill>
                            <a:srgbClr val="00B0F0"/>
                          </a:solidFill>
                          <a:latin typeface="Times New Roman"/>
                          <a:ea typeface="Times New Roman"/>
                          <a:cs typeface="Times New Roman"/>
                          <a:sym typeface="Times New Roman"/>
                        </a:rPr>
                        <a:t>Logistics Team Leader | Mr. Nay </a:t>
                      </a:r>
                      <a:r>
                        <a:rPr lang="en-US" sz="1800" dirty="0" err="1">
                          <a:solidFill>
                            <a:srgbClr val="00B0F0"/>
                          </a:solidFill>
                          <a:latin typeface="Times New Roman"/>
                          <a:ea typeface="Times New Roman"/>
                          <a:cs typeface="Times New Roman"/>
                          <a:sym typeface="Times New Roman"/>
                        </a:rPr>
                        <a:t>Htoo</a:t>
                      </a:r>
                      <a:r>
                        <a:rPr lang="en-US" sz="1800" dirty="0">
                          <a:solidFill>
                            <a:srgbClr val="00B0F0"/>
                          </a:solidFill>
                          <a:latin typeface="Times New Roman"/>
                          <a:ea typeface="Times New Roman"/>
                          <a:cs typeface="Times New Roman"/>
                          <a:sym typeface="Times New Roman"/>
                        </a:rPr>
                        <a:t> Aung</a:t>
                      </a: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181872">
                <a:tc>
                  <a:txBody>
                    <a:bodyPr/>
                    <a:lstStyle/>
                    <a:p>
                      <a:pPr algn="ctr">
                        <a:lnSpc>
                          <a:spcPts val="2160"/>
                        </a:lnSpc>
                        <a:defRPr/>
                      </a:pPr>
                      <a:r>
                        <a:rPr lang="en-US" sz="1800" dirty="0" smtClean="0">
                          <a:solidFill>
                            <a:srgbClr val="000000"/>
                          </a:solidFill>
                          <a:latin typeface="Times New Roman"/>
                          <a:ea typeface="Times New Roman"/>
                          <a:cs typeface="Times New Roman"/>
                          <a:sym typeface="Times New Roman"/>
                        </a:rPr>
                        <a:t>16:00 </a:t>
                      </a:r>
                      <a:r>
                        <a:rPr lang="en-US" sz="1800" dirty="0">
                          <a:solidFill>
                            <a:srgbClr val="000000"/>
                          </a:solidFill>
                          <a:latin typeface="Times New Roman"/>
                          <a:ea typeface="Times New Roman"/>
                          <a:cs typeface="Times New Roman"/>
                          <a:sym typeface="Times New Roman"/>
                        </a:rPr>
                        <a:t>~ </a:t>
                      </a:r>
                      <a:r>
                        <a:rPr lang="en-US" sz="1800" dirty="0" smtClean="0">
                          <a:solidFill>
                            <a:srgbClr val="000000"/>
                          </a:solidFill>
                          <a:latin typeface="Times New Roman"/>
                          <a:ea typeface="Times New Roman"/>
                          <a:cs typeface="Times New Roman"/>
                          <a:sym typeface="Times New Roman"/>
                        </a:rPr>
                        <a:t>16:20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Driving Enterprise Resilience: Navigating Global Disruption with Automation</a:t>
                      </a:r>
                      <a:endParaRPr lang="en-US" sz="1100" dirty="0"/>
                    </a:p>
                    <a:p>
                      <a:pPr algn="ctr">
                        <a:lnSpc>
                          <a:spcPts val="2160"/>
                        </a:lnSpc>
                      </a:pPr>
                      <a:r>
                        <a:rPr lang="en-US" sz="1800" dirty="0">
                          <a:solidFill>
                            <a:srgbClr val="00B0F0"/>
                          </a:solidFill>
                          <a:latin typeface="Times New Roman"/>
                          <a:ea typeface="Times New Roman"/>
                          <a:cs typeface="Times New Roman"/>
                          <a:sym typeface="Times New Roman"/>
                        </a:rPr>
                        <a:t>Samsung SDS </a:t>
                      </a:r>
                      <a:r>
                        <a:rPr lang="en-US" sz="1800" dirty="0" smtClean="0">
                          <a:solidFill>
                            <a:srgbClr val="00B0F0"/>
                          </a:solidFill>
                          <a:latin typeface="Times New Roman"/>
                          <a:ea typeface="Times New Roman"/>
                          <a:cs typeface="Times New Roman"/>
                          <a:sym typeface="Times New Roman"/>
                        </a:rPr>
                        <a:t>Asia Pacific, </a:t>
                      </a:r>
                      <a:r>
                        <a:rPr lang="en-US" sz="1800" dirty="0">
                          <a:solidFill>
                            <a:srgbClr val="00B0F0"/>
                          </a:solidFill>
                          <a:latin typeface="Times New Roman"/>
                          <a:ea typeface="Times New Roman"/>
                          <a:cs typeface="Times New Roman"/>
                          <a:sym typeface="Times New Roman"/>
                        </a:rPr>
                        <a:t>Operations and Automation Team Leader | Mr. </a:t>
                      </a:r>
                      <a:r>
                        <a:rPr lang="en-US" sz="1800" dirty="0" smtClean="0">
                          <a:solidFill>
                            <a:srgbClr val="00B0F0"/>
                          </a:solidFill>
                          <a:latin typeface="Times New Roman"/>
                          <a:ea typeface="Times New Roman"/>
                          <a:cs typeface="Times New Roman"/>
                          <a:sym typeface="Times New Roman"/>
                        </a:rPr>
                        <a:t>Lee Je Ho</a:t>
                      </a:r>
                      <a:endParaRPr lang="en-US" sz="1800" dirty="0">
                        <a:solidFill>
                          <a:srgbClr val="00B0F0"/>
                        </a:solidFill>
                        <a:latin typeface="Times New Roman"/>
                        <a:ea typeface="Times New Roman"/>
                        <a:cs typeface="Times New Roman"/>
                        <a:sym typeface="Times New Roman"/>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49993">
                <a:tc>
                  <a:txBody>
                    <a:bodyPr/>
                    <a:lstStyle/>
                    <a:p>
                      <a:pPr algn="ctr">
                        <a:lnSpc>
                          <a:spcPts val="2160"/>
                        </a:lnSpc>
                        <a:defRPr/>
                      </a:pPr>
                      <a:r>
                        <a:rPr lang="en-US" sz="1800">
                          <a:solidFill>
                            <a:srgbClr val="000000"/>
                          </a:solidFill>
                          <a:latin typeface="Times New Roman"/>
                          <a:ea typeface="Times New Roman"/>
                          <a:cs typeface="Times New Roman"/>
                          <a:sym typeface="Times New Roman"/>
                        </a:rPr>
                        <a:t>16:20 ~ 17:00</a:t>
                      </a:r>
                      <a:endParaRPr lang="en-US" sz="110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Lucky Draw &amp; Closing</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7" name="TextBox 7"/>
          <p:cNvSpPr txBox="1"/>
          <p:nvPr/>
        </p:nvSpPr>
        <p:spPr>
          <a:xfrm>
            <a:off x="9601200" y="9410700"/>
            <a:ext cx="11188401" cy="585499"/>
          </a:xfrm>
          <a:prstGeom prst="rect">
            <a:avLst/>
          </a:prstGeom>
        </p:spPr>
        <p:txBody>
          <a:bodyPr lIns="50800" tIns="50800" rIns="50800" bIns="50800" rtlCol="0" anchor="t"/>
          <a:lstStyle/>
          <a:p>
            <a:pPr>
              <a:lnSpc>
                <a:spcPts val="2160"/>
              </a:lnSpc>
            </a:pPr>
            <a:r>
              <a:rPr lang="en-US" sz="1800" dirty="0" smtClean="0">
                <a:solidFill>
                  <a:srgbClr val="000000"/>
                </a:solidFill>
                <a:latin typeface="Times New Roman"/>
                <a:ea typeface="Times New Roman"/>
                <a:cs typeface="Times New Roman"/>
                <a:sym typeface="Times New Roman"/>
              </a:rPr>
              <a:t>※ </a:t>
            </a:r>
            <a:r>
              <a:rPr lang="en-SG" dirty="0">
                <a:solidFill>
                  <a:srgbClr val="000000"/>
                </a:solidFill>
                <a:latin typeface="Times New Roman"/>
                <a:ea typeface="Times New Roman"/>
                <a:cs typeface="Times New Roman"/>
                <a:sym typeface="Times New Roman"/>
              </a:rPr>
              <a:t>Sessions and </a:t>
            </a:r>
            <a:r>
              <a:rPr lang="en-SG" dirty="0" smtClean="0">
                <a:solidFill>
                  <a:srgbClr val="000000"/>
                </a:solidFill>
                <a:latin typeface="Times New Roman"/>
                <a:ea typeface="Times New Roman"/>
                <a:cs typeface="Times New Roman"/>
                <a:sym typeface="Times New Roman"/>
              </a:rPr>
              <a:t>speakers </a:t>
            </a:r>
            <a:r>
              <a:rPr lang="en-SG" dirty="0">
                <a:solidFill>
                  <a:srgbClr val="000000"/>
                </a:solidFill>
                <a:latin typeface="Times New Roman"/>
                <a:ea typeface="Times New Roman"/>
                <a:cs typeface="Times New Roman"/>
                <a:sym typeface="Times New Roman"/>
              </a:rPr>
              <a:t>are subject to change without prior </a:t>
            </a:r>
            <a:r>
              <a:rPr lang="en-SG" dirty="0" smtClean="0">
                <a:solidFill>
                  <a:srgbClr val="000000"/>
                </a:solidFill>
                <a:latin typeface="Times New Roman"/>
                <a:ea typeface="Times New Roman"/>
                <a:cs typeface="Times New Roman"/>
                <a:sym typeface="Times New Roman"/>
              </a:rPr>
              <a:t>notification.</a:t>
            </a:r>
            <a:r>
              <a:rPr lang="en-US" dirty="0">
                <a:solidFill>
                  <a:srgbClr val="000000"/>
                </a:solidFill>
                <a:latin typeface="Times New Roman"/>
                <a:ea typeface="Times New Roman"/>
                <a:cs typeface="Times New Roman"/>
                <a:sym typeface="Times New Roman"/>
              </a:rPr>
              <a:t/>
            </a:r>
            <a:br>
              <a:rPr lang="en-US" dirty="0">
                <a:solidFill>
                  <a:srgbClr val="000000"/>
                </a:solidFill>
                <a:latin typeface="Times New Roman"/>
                <a:ea typeface="Times New Roman"/>
                <a:cs typeface="Times New Roman"/>
                <a:sym typeface="Times New Roman"/>
              </a:rPr>
            </a:br>
            <a:r>
              <a:rPr lang="en-US" dirty="0">
                <a:solidFill>
                  <a:srgbClr val="000000"/>
                </a:solidFill>
                <a:latin typeface="Times New Roman"/>
                <a:ea typeface="Times New Roman"/>
                <a:cs typeface="Times New Roman"/>
                <a:sym typeface="Times New Roman"/>
              </a:rPr>
              <a:t>※ </a:t>
            </a:r>
            <a:r>
              <a:rPr lang="en-US" dirty="0" smtClean="0">
                <a:solidFill>
                  <a:srgbClr val="000000"/>
                </a:solidFill>
                <a:latin typeface="Times New Roman"/>
                <a:ea typeface="Times New Roman"/>
                <a:cs typeface="Times New Roman"/>
                <a:sym typeface="Times New Roman"/>
              </a:rPr>
              <a:t>The conference will be presented in mainly in English and Korean with Vietnamese translation were possible.</a:t>
            </a:r>
            <a:endParaRPr lang="en-US" dirty="0">
              <a:solidFill>
                <a:srgbClr val="000000"/>
              </a:solidFill>
              <a:latin typeface="Times New Roman"/>
              <a:ea typeface="Times New Roman"/>
              <a:cs typeface="Times New Roman"/>
              <a:sym typeface="Times New Roman"/>
            </a:endParaRPr>
          </a:p>
          <a:p>
            <a:pPr algn="l">
              <a:lnSpc>
                <a:spcPts val="2160"/>
              </a:lnSpc>
            </a:pPr>
            <a:endParaRPr lang="en-US" sz="1800" dirty="0">
              <a:solidFill>
                <a:srgbClr val="000000"/>
              </a:solidFill>
              <a:latin typeface="Times New Roman"/>
              <a:ea typeface="Times New Roman"/>
              <a:cs typeface="Times New Roman"/>
              <a:sym typeface="Times New Roman"/>
            </a:endParaRPr>
          </a:p>
        </p:txBody>
      </p:sp>
      <p:grpSp>
        <p:nvGrpSpPr>
          <p:cNvPr id="8" name="Group 8"/>
          <p:cNvGrpSpPr/>
          <p:nvPr/>
        </p:nvGrpSpPr>
        <p:grpSpPr>
          <a:xfrm>
            <a:off x="793975" y="1920650"/>
            <a:ext cx="8027805" cy="6021162"/>
            <a:chOff x="0" y="0"/>
            <a:chExt cx="10703739" cy="8028216"/>
          </a:xfrm>
        </p:grpSpPr>
        <p:sp>
          <p:nvSpPr>
            <p:cNvPr id="9" name="Freeform 9"/>
            <p:cNvSpPr/>
            <p:nvPr/>
          </p:nvSpPr>
          <p:spPr>
            <a:xfrm>
              <a:off x="0" y="0"/>
              <a:ext cx="10703740" cy="8028178"/>
            </a:xfrm>
            <a:custGeom>
              <a:avLst/>
              <a:gdLst/>
              <a:ahLst/>
              <a:cxnLst/>
              <a:rect l="l" t="t" r="r" b="b"/>
              <a:pathLst>
                <a:path w="10703740" h="8028178">
                  <a:moveTo>
                    <a:pt x="0" y="0"/>
                  </a:moveTo>
                  <a:lnTo>
                    <a:pt x="10703740" y="0"/>
                  </a:lnTo>
                  <a:lnTo>
                    <a:pt x="10703740" y="8028178"/>
                  </a:lnTo>
                  <a:lnTo>
                    <a:pt x="0" y="8028178"/>
                  </a:lnTo>
                  <a:close/>
                </a:path>
              </a:pathLst>
            </a:custGeom>
            <a:blipFill>
              <a:blip r:embed="rId4">
                <a:alphaModFix amt="0"/>
              </a:blip>
              <a:stretch>
                <a:fillRect l="-43729" r="-48735"/>
              </a:stretch>
            </a:blipFill>
            <a:ln w="28575" cap="sq">
              <a:solidFill>
                <a:srgbClr val="FF0000"/>
              </a:solidFill>
              <a:prstDash val="solid"/>
              <a:miter/>
            </a:ln>
          </p:spPr>
        </p:sp>
      </p:grpSp>
      <p:sp>
        <p:nvSpPr>
          <p:cNvPr id="10" name="AutoShape 10"/>
          <p:cNvSpPr/>
          <p:nvPr/>
        </p:nvSpPr>
        <p:spPr>
          <a:xfrm rot="2700000">
            <a:off x="3898649" y="864051"/>
            <a:ext cx="40415" cy="0"/>
          </a:xfrm>
          <a:prstGeom prst="line">
            <a:avLst/>
          </a:prstGeom>
          <a:ln w="19050" cap="rnd">
            <a:solidFill>
              <a:srgbClr val="156082"/>
            </a:solidFill>
            <a:prstDash val="solid"/>
            <a:headEnd type="none" w="sm" len="sm"/>
            <a:tailEnd type="none" w="sm" len="sm"/>
          </a:ln>
        </p:spPr>
      </p:sp>
      <p:grpSp>
        <p:nvGrpSpPr>
          <p:cNvPr id="11" name="Group 11"/>
          <p:cNvGrpSpPr/>
          <p:nvPr/>
        </p:nvGrpSpPr>
        <p:grpSpPr>
          <a:xfrm>
            <a:off x="3920900" y="1179376"/>
            <a:ext cx="1914525" cy="671874"/>
            <a:chOff x="0" y="0"/>
            <a:chExt cx="2552700" cy="895833"/>
          </a:xfrm>
        </p:grpSpPr>
        <p:sp>
          <p:nvSpPr>
            <p:cNvPr id="12" name="Freeform 12"/>
            <p:cNvSpPr/>
            <p:nvPr/>
          </p:nvSpPr>
          <p:spPr>
            <a:xfrm>
              <a:off x="0" y="0"/>
              <a:ext cx="2552700" cy="895858"/>
            </a:xfrm>
            <a:custGeom>
              <a:avLst/>
              <a:gdLst/>
              <a:ahLst/>
              <a:cxnLst/>
              <a:rect l="l" t="t" r="r" b="b"/>
              <a:pathLst>
                <a:path w="2552700" h="895858">
                  <a:moveTo>
                    <a:pt x="0" y="0"/>
                  </a:moveTo>
                  <a:lnTo>
                    <a:pt x="2552700" y="0"/>
                  </a:lnTo>
                  <a:lnTo>
                    <a:pt x="2552700" y="895858"/>
                  </a:lnTo>
                  <a:lnTo>
                    <a:pt x="0" y="895858"/>
                  </a:lnTo>
                  <a:close/>
                </a:path>
              </a:pathLst>
            </a:custGeom>
            <a:blipFill>
              <a:blip r:embed="rId4">
                <a:alphaModFix amt="0"/>
              </a:blip>
              <a:stretch>
                <a:fillRect t="-5523" b="-5520"/>
              </a:stretch>
            </a:blipFill>
            <a:ln w="28575" cap="sq">
              <a:solidFill>
                <a:srgbClr val="FF0000"/>
              </a:solidFill>
              <a:prstDash val="solid"/>
              <a:miter/>
            </a:ln>
          </p:spPr>
        </p:sp>
      </p:grpSp>
      <p:sp>
        <p:nvSpPr>
          <p:cNvPr id="13" name="AutoShape 13"/>
          <p:cNvSpPr/>
          <p:nvPr/>
        </p:nvSpPr>
        <p:spPr>
          <a:xfrm rot="2700000">
            <a:off x="3898649" y="864051"/>
            <a:ext cx="40415" cy="0"/>
          </a:xfrm>
          <a:prstGeom prst="line">
            <a:avLst/>
          </a:prstGeom>
          <a:ln w="19050" cap="rnd">
            <a:solidFill>
              <a:srgbClr val="156082"/>
            </a:solidFill>
            <a:prstDash val="solid"/>
            <a:headEnd type="none" w="sm" len="sm"/>
            <a:tailEnd type="none" w="sm" len="sm"/>
          </a:ln>
        </p:spPr>
      </p:sp>
      <p:grpSp>
        <p:nvGrpSpPr>
          <p:cNvPr id="14" name="Group 14"/>
          <p:cNvGrpSpPr/>
          <p:nvPr/>
        </p:nvGrpSpPr>
        <p:grpSpPr>
          <a:xfrm>
            <a:off x="9413405" y="1028700"/>
            <a:ext cx="3110589" cy="468269"/>
            <a:chOff x="0" y="0"/>
            <a:chExt cx="4147452" cy="624359"/>
          </a:xfrm>
        </p:grpSpPr>
        <p:sp>
          <p:nvSpPr>
            <p:cNvPr id="15" name="Freeform 15"/>
            <p:cNvSpPr/>
            <p:nvPr/>
          </p:nvSpPr>
          <p:spPr>
            <a:xfrm>
              <a:off x="0" y="0"/>
              <a:ext cx="4147439" cy="624371"/>
            </a:xfrm>
            <a:custGeom>
              <a:avLst/>
              <a:gdLst/>
              <a:ahLst/>
              <a:cxnLst/>
              <a:rect l="l" t="t" r="r" b="b"/>
              <a:pathLst>
                <a:path w="4147439" h="624371">
                  <a:moveTo>
                    <a:pt x="0" y="0"/>
                  </a:moveTo>
                  <a:lnTo>
                    <a:pt x="4147439" y="0"/>
                  </a:lnTo>
                  <a:lnTo>
                    <a:pt x="4147439" y="624371"/>
                  </a:lnTo>
                  <a:lnTo>
                    <a:pt x="0" y="624371"/>
                  </a:lnTo>
                  <a:close/>
                </a:path>
              </a:pathLst>
            </a:custGeom>
            <a:blipFill>
              <a:blip r:embed="rId4">
                <a:alphaModFix amt="0"/>
              </a:blip>
              <a:stretch>
                <a:fillRect t="-80137" b="-78725"/>
              </a:stretch>
            </a:blipFill>
            <a:ln cap="sq">
              <a:noFill/>
              <a:prstDash val="solid"/>
              <a:miter/>
            </a:ln>
          </p:spPr>
        </p:sp>
        <p:sp>
          <p:nvSpPr>
            <p:cNvPr id="16" name="TextBox 16"/>
            <p:cNvSpPr txBox="1"/>
            <p:nvPr/>
          </p:nvSpPr>
          <p:spPr>
            <a:xfrm>
              <a:off x="0" y="-9525"/>
              <a:ext cx="4147452" cy="633884"/>
            </a:xfrm>
            <a:prstGeom prst="rect">
              <a:avLst/>
            </a:prstGeom>
          </p:spPr>
          <p:txBody>
            <a:bodyPr lIns="50800" tIns="50800" rIns="50800" bIns="50800" rtlCol="0" anchor="t"/>
            <a:lstStyle/>
            <a:p>
              <a:pPr algn="l">
                <a:lnSpc>
                  <a:spcPts val="2520"/>
                </a:lnSpc>
              </a:pPr>
              <a:r>
                <a:rPr lang="en-US" sz="2100" b="1">
                  <a:solidFill>
                    <a:srgbClr val="000000"/>
                  </a:solidFill>
                  <a:latin typeface="Aptos Bold"/>
                  <a:ea typeface="Aptos Bold"/>
                  <a:cs typeface="Aptos Bold"/>
                  <a:sym typeface="Aptos Bold"/>
                </a:rPr>
                <a:t>Agenda</a:t>
              </a:r>
            </a:p>
          </p:txBody>
        </p:sp>
      </p:grpSp>
      <p:sp>
        <p:nvSpPr>
          <p:cNvPr id="17" name="AutoShape 17"/>
          <p:cNvSpPr/>
          <p:nvPr/>
        </p:nvSpPr>
        <p:spPr>
          <a:xfrm flipV="1">
            <a:off x="5835425" y="1262835"/>
            <a:ext cx="3577981" cy="252479"/>
          </a:xfrm>
          <a:prstGeom prst="line">
            <a:avLst/>
          </a:prstGeom>
          <a:ln w="19050" cap="rnd">
            <a:solidFill>
              <a:srgbClr val="FF0000"/>
            </a:solidFill>
            <a:prstDash val="solid"/>
            <a:headEnd type="none" w="sm" len="sm"/>
            <a:tailEnd type="none" w="sm" len="sm"/>
          </a:ln>
        </p:spPr>
      </p:sp>
      <p:grpSp>
        <p:nvGrpSpPr>
          <p:cNvPr id="19" name="Group 19"/>
          <p:cNvGrpSpPr/>
          <p:nvPr/>
        </p:nvGrpSpPr>
        <p:grpSpPr>
          <a:xfrm>
            <a:off x="2181901" y="9040720"/>
            <a:ext cx="5147586" cy="700897"/>
            <a:chOff x="0" y="0"/>
            <a:chExt cx="6863448" cy="934529"/>
          </a:xfrm>
        </p:grpSpPr>
        <p:sp>
          <p:nvSpPr>
            <p:cNvPr id="20" name="Freeform 20"/>
            <p:cNvSpPr/>
            <p:nvPr/>
          </p:nvSpPr>
          <p:spPr>
            <a:xfrm>
              <a:off x="0" y="0"/>
              <a:ext cx="6863461" cy="934593"/>
            </a:xfrm>
            <a:custGeom>
              <a:avLst/>
              <a:gdLst/>
              <a:ahLst/>
              <a:cxnLst/>
              <a:rect l="l" t="t" r="r" b="b"/>
              <a:pathLst>
                <a:path w="6863461" h="934593">
                  <a:moveTo>
                    <a:pt x="0" y="0"/>
                  </a:moveTo>
                  <a:lnTo>
                    <a:pt x="6863461" y="0"/>
                  </a:lnTo>
                  <a:lnTo>
                    <a:pt x="6863461" y="934593"/>
                  </a:lnTo>
                  <a:lnTo>
                    <a:pt x="0" y="934593"/>
                  </a:lnTo>
                  <a:close/>
                </a:path>
              </a:pathLst>
            </a:custGeom>
            <a:blipFill>
              <a:blip r:embed="rId4">
                <a:alphaModFix amt="0"/>
              </a:blip>
              <a:stretch>
                <a:fillRect t="-93097" b="-93090"/>
              </a:stretch>
            </a:blipFill>
            <a:ln w="28575" cap="sq">
              <a:solidFill>
                <a:srgbClr val="FF0000"/>
              </a:solidFill>
              <a:prstDash val="solid"/>
              <a:miter/>
            </a:ln>
          </p:spPr>
        </p:sp>
      </p:grpSp>
      <p:sp>
        <p:nvSpPr>
          <p:cNvPr id="21" name="AutoShape 21"/>
          <p:cNvSpPr/>
          <p:nvPr/>
        </p:nvSpPr>
        <p:spPr>
          <a:xfrm>
            <a:off x="7300912" y="9376872"/>
            <a:ext cx="2224087" cy="262428"/>
          </a:xfrm>
          <a:prstGeom prst="line">
            <a:avLst/>
          </a:prstGeom>
          <a:ln w="19050" cap="rnd">
            <a:solidFill>
              <a:srgbClr val="FF0000"/>
            </a:solidFill>
            <a:prstDash val="solid"/>
            <a:headEnd type="none" w="sm" len="sm"/>
            <a:tailEnd type="none" w="sm" len="sm"/>
          </a:ln>
        </p:spPr>
      </p:sp>
      <p:grpSp>
        <p:nvGrpSpPr>
          <p:cNvPr id="22" name="Group 22"/>
          <p:cNvGrpSpPr/>
          <p:nvPr/>
        </p:nvGrpSpPr>
        <p:grpSpPr>
          <a:xfrm>
            <a:off x="793975" y="7996685"/>
            <a:ext cx="5147586" cy="700897"/>
            <a:chOff x="0" y="0"/>
            <a:chExt cx="6863448" cy="934529"/>
          </a:xfrm>
        </p:grpSpPr>
        <p:sp>
          <p:nvSpPr>
            <p:cNvPr id="23" name="Freeform 23"/>
            <p:cNvSpPr/>
            <p:nvPr/>
          </p:nvSpPr>
          <p:spPr>
            <a:xfrm>
              <a:off x="0" y="0"/>
              <a:ext cx="6863461" cy="934593"/>
            </a:xfrm>
            <a:custGeom>
              <a:avLst/>
              <a:gdLst/>
              <a:ahLst/>
              <a:cxnLst/>
              <a:rect l="l" t="t" r="r" b="b"/>
              <a:pathLst>
                <a:path w="6863461" h="934593">
                  <a:moveTo>
                    <a:pt x="0" y="0"/>
                  </a:moveTo>
                  <a:lnTo>
                    <a:pt x="6863461" y="0"/>
                  </a:lnTo>
                  <a:lnTo>
                    <a:pt x="6863461" y="934593"/>
                  </a:lnTo>
                  <a:lnTo>
                    <a:pt x="0" y="934593"/>
                  </a:lnTo>
                  <a:close/>
                </a:path>
              </a:pathLst>
            </a:custGeom>
            <a:blipFill>
              <a:blip r:embed="rId4">
                <a:alphaModFix amt="0"/>
              </a:blip>
              <a:stretch>
                <a:fillRect t="-93097" b="-93090"/>
              </a:stretch>
            </a:blipFill>
            <a:ln w="28575" cap="sq">
              <a:solidFill>
                <a:srgbClr val="FF0000"/>
              </a:solidFill>
              <a:prstDash val="solid"/>
              <a:miter/>
            </a:ln>
          </p:spPr>
        </p:sp>
      </p:grpSp>
      <p:sp>
        <p:nvSpPr>
          <p:cNvPr id="24" name="AutoShape 24"/>
          <p:cNvSpPr/>
          <p:nvPr/>
        </p:nvSpPr>
        <p:spPr>
          <a:xfrm>
            <a:off x="5912987" y="8582131"/>
            <a:ext cx="3500418" cy="541397"/>
          </a:xfrm>
          <a:prstGeom prst="line">
            <a:avLst/>
          </a:prstGeom>
          <a:ln w="19050" cap="rnd">
            <a:solidFill>
              <a:srgbClr val="FF0000"/>
            </a:solidFill>
            <a:prstDash val="solid"/>
            <a:headEnd type="none" w="sm" len="sm"/>
            <a:tailEnd type="none" w="sm" len="sm"/>
          </a:ln>
        </p:spPr>
      </p:sp>
      <p:sp>
        <p:nvSpPr>
          <p:cNvPr id="25" name="TextBox 25"/>
          <p:cNvSpPr txBox="1"/>
          <p:nvPr/>
        </p:nvSpPr>
        <p:spPr>
          <a:xfrm>
            <a:off x="16482289" y="334094"/>
            <a:ext cx="1541631" cy="462563"/>
          </a:xfrm>
          <a:prstGeom prst="rect">
            <a:avLst/>
          </a:prstGeom>
        </p:spPr>
        <p:txBody>
          <a:bodyPr lIns="0" tIns="0" rIns="0" bIns="0" rtlCol="0" anchor="t">
            <a:spAutoFit/>
          </a:bodyPr>
          <a:lstStyle/>
          <a:p>
            <a:pPr algn="l">
              <a:lnSpc>
                <a:spcPts val="3240"/>
              </a:lnSpc>
            </a:pPr>
            <a:r>
              <a:rPr lang="en-US" sz="2700" b="1">
                <a:solidFill>
                  <a:srgbClr val="000000"/>
                </a:solidFill>
                <a:latin typeface="Aptos Bold"/>
                <a:ea typeface="Aptos Bold"/>
                <a:cs typeface="Aptos Bold"/>
                <a:sym typeface="Aptos Bold"/>
              </a:rPr>
              <a:t>ENGLISH</a:t>
            </a:r>
          </a:p>
        </p:txBody>
      </p:sp>
      <p:grpSp>
        <p:nvGrpSpPr>
          <p:cNvPr id="26" name="Group 26"/>
          <p:cNvGrpSpPr/>
          <p:nvPr/>
        </p:nvGrpSpPr>
        <p:grpSpPr>
          <a:xfrm>
            <a:off x="9525000" y="9029700"/>
            <a:ext cx="11008195" cy="430523"/>
            <a:chOff x="0" y="0"/>
            <a:chExt cx="10147841" cy="574030"/>
          </a:xfrm>
        </p:grpSpPr>
        <p:sp>
          <p:nvSpPr>
            <p:cNvPr id="27" name="Freeform 27"/>
            <p:cNvSpPr/>
            <p:nvPr/>
          </p:nvSpPr>
          <p:spPr>
            <a:xfrm>
              <a:off x="0" y="0"/>
              <a:ext cx="10147809" cy="574004"/>
            </a:xfrm>
            <a:custGeom>
              <a:avLst/>
              <a:gdLst/>
              <a:ahLst/>
              <a:cxnLst/>
              <a:rect l="l" t="t" r="r" b="b"/>
              <a:pathLst>
                <a:path w="10147809" h="574004">
                  <a:moveTo>
                    <a:pt x="0" y="0"/>
                  </a:moveTo>
                  <a:lnTo>
                    <a:pt x="10147809" y="0"/>
                  </a:lnTo>
                  <a:lnTo>
                    <a:pt x="10147809" y="574004"/>
                  </a:lnTo>
                  <a:lnTo>
                    <a:pt x="0" y="574004"/>
                  </a:lnTo>
                  <a:close/>
                </a:path>
              </a:pathLst>
            </a:custGeom>
            <a:blipFill>
              <a:blip r:embed="rId4">
                <a:alphaModFix amt="0"/>
              </a:blip>
              <a:stretch>
                <a:fillRect t="-363455" r="-19518" b="-359970"/>
              </a:stretch>
            </a:blipFill>
            <a:ln cap="sq">
              <a:noFill/>
              <a:prstDash val="solid"/>
              <a:miter/>
            </a:ln>
          </p:spPr>
        </p:sp>
        <p:sp>
          <p:nvSpPr>
            <p:cNvPr id="28" name="TextBox 28"/>
            <p:cNvSpPr txBox="1"/>
            <p:nvPr/>
          </p:nvSpPr>
          <p:spPr>
            <a:xfrm>
              <a:off x="0" y="-19050"/>
              <a:ext cx="10147841" cy="593080"/>
            </a:xfrm>
            <a:prstGeom prst="rect">
              <a:avLst/>
            </a:prstGeom>
          </p:spPr>
          <p:txBody>
            <a:bodyPr lIns="50800" tIns="50800" rIns="50800" bIns="50800" rtlCol="0" anchor="t"/>
            <a:lstStyle/>
            <a:p>
              <a:pPr>
                <a:lnSpc>
                  <a:spcPts val="2160"/>
                </a:lnSpc>
              </a:pPr>
              <a:r>
                <a:rPr lang="en-US" dirty="0" smtClean="0">
                  <a:solidFill>
                    <a:srgbClr val="000000"/>
                  </a:solidFill>
                  <a:latin typeface="Times New Roman"/>
                  <a:ea typeface="Times New Roman"/>
                  <a:cs typeface="Times New Roman"/>
                  <a:sym typeface="Times New Roman"/>
                </a:rPr>
                <a:t>To remove</a:t>
              </a:r>
              <a:endParaRPr lang="en-US" sz="1800" dirty="0">
                <a:solidFill>
                  <a:srgbClr val="000000"/>
                </a:solidFill>
                <a:latin typeface="Times New Roman"/>
                <a:ea typeface="Times New Roman"/>
                <a:cs typeface="Times New Roman"/>
                <a:sym typeface="Times New Roman"/>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4774" y="263604"/>
            <a:ext cx="6032630" cy="4727496"/>
            <a:chOff x="0" y="0"/>
            <a:chExt cx="8043507" cy="6303328"/>
          </a:xfrm>
        </p:grpSpPr>
        <p:sp>
          <p:nvSpPr>
            <p:cNvPr id="3" name="Freeform 3"/>
            <p:cNvSpPr/>
            <p:nvPr/>
          </p:nvSpPr>
          <p:spPr>
            <a:xfrm>
              <a:off x="0" y="0"/>
              <a:ext cx="8043545" cy="6303264"/>
            </a:xfrm>
            <a:custGeom>
              <a:avLst/>
              <a:gdLst/>
              <a:ahLst/>
              <a:cxnLst/>
              <a:rect l="l" t="t" r="r" b="b"/>
              <a:pathLst>
                <a:path w="8043545" h="6303264">
                  <a:moveTo>
                    <a:pt x="0" y="0"/>
                  </a:moveTo>
                  <a:lnTo>
                    <a:pt x="8043545" y="0"/>
                  </a:lnTo>
                  <a:lnTo>
                    <a:pt x="8043545" y="6303264"/>
                  </a:lnTo>
                  <a:lnTo>
                    <a:pt x="0" y="6303264"/>
                  </a:lnTo>
                  <a:lnTo>
                    <a:pt x="0" y="0"/>
                  </a:lnTo>
                  <a:close/>
                </a:path>
              </a:pathLst>
            </a:custGeom>
            <a:blipFill>
              <a:blip r:embed="rId2"/>
              <a:stretch>
                <a:fillRect b="-1"/>
              </a:stretch>
            </a:blipFill>
          </p:spPr>
        </p:sp>
      </p:grpSp>
      <p:grpSp>
        <p:nvGrpSpPr>
          <p:cNvPr id="4" name="Group 4"/>
          <p:cNvGrpSpPr/>
          <p:nvPr/>
        </p:nvGrpSpPr>
        <p:grpSpPr>
          <a:xfrm>
            <a:off x="554774" y="5143500"/>
            <a:ext cx="6063682" cy="4727496"/>
            <a:chOff x="0" y="0"/>
            <a:chExt cx="8084909" cy="6303328"/>
          </a:xfrm>
        </p:grpSpPr>
        <p:sp>
          <p:nvSpPr>
            <p:cNvPr id="5" name="Freeform 5"/>
            <p:cNvSpPr/>
            <p:nvPr/>
          </p:nvSpPr>
          <p:spPr>
            <a:xfrm>
              <a:off x="0" y="0"/>
              <a:ext cx="8084947" cy="6303391"/>
            </a:xfrm>
            <a:custGeom>
              <a:avLst/>
              <a:gdLst/>
              <a:ahLst/>
              <a:cxnLst/>
              <a:rect l="l" t="t" r="r" b="b"/>
              <a:pathLst>
                <a:path w="8084947" h="6303391">
                  <a:moveTo>
                    <a:pt x="0" y="0"/>
                  </a:moveTo>
                  <a:lnTo>
                    <a:pt x="8084947" y="0"/>
                  </a:lnTo>
                  <a:lnTo>
                    <a:pt x="8084947" y="6303391"/>
                  </a:lnTo>
                  <a:lnTo>
                    <a:pt x="0" y="6303391"/>
                  </a:lnTo>
                  <a:lnTo>
                    <a:pt x="0" y="0"/>
                  </a:lnTo>
                  <a:close/>
                </a:path>
              </a:pathLst>
            </a:custGeom>
            <a:blipFill>
              <a:blip r:embed="rId3"/>
              <a:stretch>
                <a:fillRect b="1"/>
              </a:stretch>
            </a:blipFill>
          </p:spPr>
        </p:sp>
      </p:grpSp>
      <p:sp>
        <p:nvSpPr>
          <p:cNvPr id="6" name="AutoShape 6"/>
          <p:cNvSpPr/>
          <p:nvPr/>
        </p:nvSpPr>
        <p:spPr>
          <a:xfrm flipH="1">
            <a:off x="6082575" y="1585767"/>
            <a:ext cx="7244997" cy="13005"/>
          </a:xfrm>
          <a:prstGeom prst="line">
            <a:avLst/>
          </a:prstGeom>
          <a:ln w="19050" cap="rnd">
            <a:solidFill>
              <a:srgbClr val="FF0000"/>
            </a:solidFill>
            <a:prstDash val="solid"/>
            <a:headEnd type="none" w="sm" len="sm"/>
            <a:tailEnd type="none" w="sm" len="sm"/>
          </a:ln>
        </p:spPr>
      </p:sp>
      <p:sp>
        <p:nvSpPr>
          <p:cNvPr id="7" name="Freeform 7"/>
          <p:cNvSpPr/>
          <p:nvPr/>
        </p:nvSpPr>
        <p:spPr>
          <a:xfrm>
            <a:off x="6994556" y="4566464"/>
            <a:ext cx="4127561" cy="4546299"/>
          </a:xfrm>
          <a:custGeom>
            <a:avLst/>
            <a:gdLst/>
            <a:ahLst/>
            <a:cxnLst/>
            <a:rect l="l" t="t" r="r" b="b"/>
            <a:pathLst>
              <a:path w="4127561" h="4546299">
                <a:moveTo>
                  <a:pt x="0" y="0"/>
                </a:moveTo>
                <a:lnTo>
                  <a:pt x="4127562" y="0"/>
                </a:lnTo>
                <a:lnTo>
                  <a:pt x="4127562" y="4546299"/>
                </a:lnTo>
                <a:lnTo>
                  <a:pt x="0" y="4546299"/>
                </a:lnTo>
                <a:lnTo>
                  <a:pt x="0" y="0"/>
                </a:lnTo>
                <a:close/>
              </a:path>
            </a:pathLst>
          </a:custGeom>
          <a:blipFill>
            <a:blip r:embed="rId4"/>
            <a:stretch>
              <a:fillRect/>
            </a:stretch>
          </a:blipFill>
        </p:spPr>
      </p:sp>
      <p:sp>
        <p:nvSpPr>
          <p:cNvPr id="8" name="Freeform 8"/>
          <p:cNvSpPr/>
          <p:nvPr/>
        </p:nvSpPr>
        <p:spPr>
          <a:xfrm>
            <a:off x="11900657" y="6334687"/>
            <a:ext cx="2034018" cy="2239655"/>
          </a:xfrm>
          <a:custGeom>
            <a:avLst/>
            <a:gdLst/>
            <a:ahLst/>
            <a:cxnLst/>
            <a:rect l="l" t="t" r="r" b="b"/>
            <a:pathLst>
              <a:path w="2034018" h="2239655">
                <a:moveTo>
                  <a:pt x="0" y="0"/>
                </a:moveTo>
                <a:lnTo>
                  <a:pt x="2034018" y="0"/>
                </a:lnTo>
                <a:lnTo>
                  <a:pt x="2034018" y="2239654"/>
                </a:lnTo>
                <a:lnTo>
                  <a:pt x="0" y="2239654"/>
                </a:lnTo>
                <a:lnTo>
                  <a:pt x="0" y="0"/>
                </a:lnTo>
                <a:close/>
              </a:path>
            </a:pathLst>
          </a:custGeom>
          <a:blipFill>
            <a:blip r:embed="rId5"/>
            <a:stretch>
              <a:fillRect l="-84179" t="-11467" r="-78742" b="-17474"/>
            </a:stretch>
          </a:blipFill>
        </p:spPr>
      </p:sp>
      <p:grpSp>
        <p:nvGrpSpPr>
          <p:cNvPr id="9" name="Group 9"/>
          <p:cNvGrpSpPr/>
          <p:nvPr/>
        </p:nvGrpSpPr>
        <p:grpSpPr>
          <a:xfrm>
            <a:off x="13327572" y="2235111"/>
            <a:ext cx="2052913" cy="430523"/>
            <a:chOff x="0" y="0"/>
            <a:chExt cx="2737217" cy="574030"/>
          </a:xfrm>
        </p:grpSpPr>
        <p:sp>
          <p:nvSpPr>
            <p:cNvPr id="10" name="Freeform 10"/>
            <p:cNvSpPr/>
            <p:nvPr/>
          </p:nvSpPr>
          <p:spPr>
            <a:xfrm>
              <a:off x="0" y="0"/>
              <a:ext cx="2737208" cy="574004"/>
            </a:xfrm>
            <a:custGeom>
              <a:avLst/>
              <a:gdLst/>
              <a:ahLst/>
              <a:cxnLst/>
              <a:rect l="l" t="t" r="r" b="b"/>
              <a:pathLst>
                <a:path w="2737208" h="574004">
                  <a:moveTo>
                    <a:pt x="0" y="0"/>
                  </a:moveTo>
                  <a:lnTo>
                    <a:pt x="2737208" y="0"/>
                  </a:lnTo>
                  <a:lnTo>
                    <a:pt x="2737208" y="574004"/>
                  </a:lnTo>
                  <a:lnTo>
                    <a:pt x="0" y="574004"/>
                  </a:lnTo>
                  <a:close/>
                </a:path>
              </a:pathLst>
            </a:custGeom>
            <a:blipFill>
              <a:blip r:embed="rId6">
                <a:alphaModFix amt="0"/>
              </a:blip>
              <a:stretch>
                <a:fillRect t="-363455" r="-343098" b="-359970"/>
              </a:stretch>
            </a:blipFill>
            <a:ln cap="sq">
              <a:noFill/>
              <a:prstDash val="solid"/>
              <a:miter/>
            </a:ln>
          </p:spPr>
        </p:sp>
        <p:sp>
          <p:nvSpPr>
            <p:cNvPr id="11" name="TextBox 11"/>
            <p:cNvSpPr txBox="1"/>
            <p:nvPr/>
          </p:nvSpPr>
          <p:spPr>
            <a:xfrm>
              <a:off x="0" y="-19050"/>
              <a:ext cx="2737217"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1st Prize (1 winner)</a:t>
              </a:r>
            </a:p>
          </p:txBody>
        </p:sp>
      </p:grpSp>
      <p:grpSp>
        <p:nvGrpSpPr>
          <p:cNvPr id="12" name="Group 12"/>
          <p:cNvGrpSpPr/>
          <p:nvPr/>
        </p:nvGrpSpPr>
        <p:grpSpPr>
          <a:xfrm>
            <a:off x="11820842" y="5861302"/>
            <a:ext cx="2193648" cy="430523"/>
            <a:chOff x="0" y="0"/>
            <a:chExt cx="2924864" cy="574030"/>
          </a:xfrm>
        </p:grpSpPr>
        <p:sp>
          <p:nvSpPr>
            <p:cNvPr id="13" name="Freeform 13"/>
            <p:cNvSpPr/>
            <p:nvPr/>
          </p:nvSpPr>
          <p:spPr>
            <a:xfrm>
              <a:off x="0" y="0"/>
              <a:ext cx="2924854" cy="574004"/>
            </a:xfrm>
            <a:custGeom>
              <a:avLst/>
              <a:gdLst/>
              <a:ahLst/>
              <a:cxnLst/>
              <a:rect l="l" t="t" r="r" b="b"/>
              <a:pathLst>
                <a:path w="2924854" h="574004">
                  <a:moveTo>
                    <a:pt x="0" y="0"/>
                  </a:moveTo>
                  <a:lnTo>
                    <a:pt x="2924854" y="0"/>
                  </a:lnTo>
                  <a:lnTo>
                    <a:pt x="2924854" y="574004"/>
                  </a:lnTo>
                  <a:lnTo>
                    <a:pt x="0" y="574004"/>
                  </a:lnTo>
                  <a:close/>
                </a:path>
              </a:pathLst>
            </a:custGeom>
            <a:blipFill>
              <a:blip r:embed="rId6">
                <a:alphaModFix amt="0"/>
              </a:blip>
              <a:stretch>
                <a:fillRect t="-363455" r="-314671" b="-359970"/>
              </a:stretch>
            </a:blipFill>
            <a:ln cap="sq">
              <a:noFill/>
              <a:prstDash val="solid"/>
              <a:miter/>
            </a:ln>
          </p:spPr>
        </p:sp>
        <p:sp>
          <p:nvSpPr>
            <p:cNvPr id="14" name="TextBox 14"/>
            <p:cNvSpPr txBox="1"/>
            <p:nvPr/>
          </p:nvSpPr>
          <p:spPr>
            <a:xfrm>
              <a:off x="0" y="-19050"/>
              <a:ext cx="2924864"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2nd Prize (3 winners)</a:t>
              </a:r>
            </a:p>
          </p:txBody>
        </p:sp>
      </p:grpSp>
      <p:grpSp>
        <p:nvGrpSpPr>
          <p:cNvPr id="15" name="Group 15"/>
          <p:cNvGrpSpPr/>
          <p:nvPr/>
        </p:nvGrpSpPr>
        <p:grpSpPr>
          <a:xfrm>
            <a:off x="15015128" y="5861302"/>
            <a:ext cx="2367165" cy="430523"/>
            <a:chOff x="0" y="0"/>
            <a:chExt cx="3156220" cy="574030"/>
          </a:xfrm>
        </p:grpSpPr>
        <p:sp>
          <p:nvSpPr>
            <p:cNvPr id="16" name="Freeform 16"/>
            <p:cNvSpPr/>
            <p:nvPr/>
          </p:nvSpPr>
          <p:spPr>
            <a:xfrm>
              <a:off x="0" y="0"/>
              <a:ext cx="3156210" cy="574004"/>
            </a:xfrm>
            <a:custGeom>
              <a:avLst/>
              <a:gdLst/>
              <a:ahLst/>
              <a:cxnLst/>
              <a:rect l="l" t="t" r="r" b="b"/>
              <a:pathLst>
                <a:path w="3156210" h="574004">
                  <a:moveTo>
                    <a:pt x="0" y="0"/>
                  </a:moveTo>
                  <a:lnTo>
                    <a:pt x="3156210" y="0"/>
                  </a:lnTo>
                  <a:lnTo>
                    <a:pt x="3156210" y="574004"/>
                  </a:lnTo>
                  <a:lnTo>
                    <a:pt x="0" y="574004"/>
                  </a:lnTo>
                  <a:close/>
                </a:path>
              </a:pathLst>
            </a:custGeom>
            <a:blipFill>
              <a:blip r:embed="rId6">
                <a:alphaModFix amt="0"/>
              </a:blip>
              <a:stretch>
                <a:fillRect t="-363455" r="-284275" b="-359970"/>
              </a:stretch>
            </a:blipFill>
            <a:ln cap="sq">
              <a:noFill/>
              <a:prstDash val="solid"/>
              <a:miter/>
            </a:ln>
          </p:spPr>
        </p:sp>
        <p:sp>
          <p:nvSpPr>
            <p:cNvPr id="17" name="TextBox 17"/>
            <p:cNvSpPr txBox="1"/>
            <p:nvPr/>
          </p:nvSpPr>
          <p:spPr>
            <a:xfrm>
              <a:off x="0" y="-19050"/>
              <a:ext cx="3156220"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3rd Prize (10 winners)</a:t>
              </a:r>
            </a:p>
          </p:txBody>
        </p:sp>
      </p:grpSp>
      <p:sp>
        <p:nvSpPr>
          <p:cNvPr id="18" name="Freeform 18"/>
          <p:cNvSpPr/>
          <p:nvPr/>
        </p:nvSpPr>
        <p:spPr>
          <a:xfrm>
            <a:off x="13227299" y="2779934"/>
            <a:ext cx="2065445" cy="2309440"/>
          </a:xfrm>
          <a:custGeom>
            <a:avLst/>
            <a:gdLst/>
            <a:ahLst/>
            <a:cxnLst/>
            <a:rect l="l" t="t" r="r" b="b"/>
            <a:pathLst>
              <a:path w="2065445" h="2309440">
                <a:moveTo>
                  <a:pt x="0" y="0"/>
                </a:moveTo>
                <a:lnTo>
                  <a:pt x="2065446" y="0"/>
                </a:lnTo>
                <a:lnTo>
                  <a:pt x="2065446" y="2309440"/>
                </a:lnTo>
                <a:lnTo>
                  <a:pt x="0" y="2309440"/>
                </a:lnTo>
                <a:lnTo>
                  <a:pt x="0" y="0"/>
                </a:lnTo>
                <a:close/>
              </a:path>
            </a:pathLst>
          </a:custGeom>
          <a:blipFill>
            <a:blip r:embed="rId7"/>
            <a:stretch>
              <a:fillRect l="-48711" t="-16247" r="-109469" b="-8440"/>
            </a:stretch>
          </a:blipFill>
        </p:spPr>
      </p:sp>
      <p:grpSp>
        <p:nvGrpSpPr>
          <p:cNvPr id="19" name="Group 19"/>
          <p:cNvGrpSpPr/>
          <p:nvPr/>
        </p:nvGrpSpPr>
        <p:grpSpPr>
          <a:xfrm>
            <a:off x="12961753" y="5202179"/>
            <a:ext cx="2801961" cy="430523"/>
            <a:chOff x="0" y="0"/>
            <a:chExt cx="3735948" cy="574030"/>
          </a:xfrm>
        </p:grpSpPr>
        <p:sp>
          <p:nvSpPr>
            <p:cNvPr id="20" name="Freeform 20"/>
            <p:cNvSpPr/>
            <p:nvPr/>
          </p:nvSpPr>
          <p:spPr>
            <a:xfrm>
              <a:off x="0" y="0"/>
              <a:ext cx="3735937" cy="574004"/>
            </a:xfrm>
            <a:custGeom>
              <a:avLst/>
              <a:gdLst/>
              <a:ahLst/>
              <a:cxnLst/>
              <a:rect l="l" t="t" r="r" b="b"/>
              <a:pathLst>
                <a:path w="3735937" h="574004">
                  <a:moveTo>
                    <a:pt x="0" y="0"/>
                  </a:moveTo>
                  <a:lnTo>
                    <a:pt x="3735937" y="0"/>
                  </a:lnTo>
                  <a:lnTo>
                    <a:pt x="3735937" y="574004"/>
                  </a:lnTo>
                  <a:lnTo>
                    <a:pt x="0" y="574004"/>
                  </a:lnTo>
                  <a:close/>
                </a:path>
              </a:pathLst>
            </a:custGeom>
            <a:blipFill>
              <a:blip r:embed="rId6">
                <a:alphaModFix amt="0"/>
              </a:blip>
              <a:stretch>
                <a:fillRect t="-363455" r="-224645" b="-359970"/>
              </a:stretch>
            </a:blipFill>
            <a:ln cap="sq">
              <a:noFill/>
              <a:prstDash val="solid"/>
              <a:miter/>
            </a:ln>
          </p:spPr>
        </p:sp>
        <p:sp>
          <p:nvSpPr>
            <p:cNvPr id="21" name="TextBox 21"/>
            <p:cNvSpPr txBox="1"/>
            <p:nvPr/>
          </p:nvSpPr>
          <p:spPr>
            <a:xfrm>
              <a:off x="0" y="-19050"/>
              <a:ext cx="3735948"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Samsung Galaxy S26 256GB</a:t>
              </a:r>
            </a:p>
          </p:txBody>
        </p:sp>
      </p:grpSp>
      <p:sp>
        <p:nvSpPr>
          <p:cNvPr id="22" name="Freeform 22"/>
          <p:cNvSpPr/>
          <p:nvPr/>
        </p:nvSpPr>
        <p:spPr>
          <a:xfrm>
            <a:off x="15169464" y="6415746"/>
            <a:ext cx="2058492" cy="2077536"/>
          </a:xfrm>
          <a:custGeom>
            <a:avLst/>
            <a:gdLst/>
            <a:ahLst/>
            <a:cxnLst/>
            <a:rect l="l" t="t" r="r" b="b"/>
            <a:pathLst>
              <a:path w="2058492" h="2077536">
                <a:moveTo>
                  <a:pt x="0" y="0"/>
                </a:moveTo>
                <a:lnTo>
                  <a:pt x="2058493" y="0"/>
                </a:lnTo>
                <a:lnTo>
                  <a:pt x="2058493" y="2077536"/>
                </a:lnTo>
                <a:lnTo>
                  <a:pt x="0" y="2077536"/>
                </a:lnTo>
                <a:lnTo>
                  <a:pt x="0" y="0"/>
                </a:lnTo>
                <a:close/>
              </a:path>
            </a:pathLst>
          </a:custGeom>
          <a:blipFill>
            <a:blip r:embed="rId8"/>
            <a:stretch>
              <a:fillRect/>
            </a:stretch>
          </a:blipFill>
        </p:spPr>
      </p:sp>
      <p:grpSp>
        <p:nvGrpSpPr>
          <p:cNvPr id="23" name="Group 23"/>
          <p:cNvGrpSpPr/>
          <p:nvPr/>
        </p:nvGrpSpPr>
        <p:grpSpPr>
          <a:xfrm>
            <a:off x="11700379" y="8617204"/>
            <a:ext cx="2434574" cy="430523"/>
            <a:chOff x="0" y="0"/>
            <a:chExt cx="3246099" cy="574030"/>
          </a:xfrm>
        </p:grpSpPr>
        <p:sp>
          <p:nvSpPr>
            <p:cNvPr id="24" name="Freeform 24"/>
            <p:cNvSpPr/>
            <p:nvPr/>
          </p:nvSpPr>
          <p:spPr>
            <a:xfrm>
              <a:off x="0" y="0"/>
              <a:ext cx="3246089" cy="574004"/>
            </a:xfrm>
            <a:custGeom>
              <a:avLst/>
              <a:gdLst/>
              <a:ahLst/>
              <a:cxnLst/>
              <a:rect l="l" t="t" r="r" b="b"/>
              <a:pathLst>
                <a:path w="3246089" h="574004">
                  <a:moveTo>
                    <a:pt x="0" y="0"/>
                  </a:moveTo>
                  <a:lnTo>
                    <a:pt x="3246089" y="0"/>
                  </a:lnTo>
                  <a:lnTo>
                    <a:pt x="3246089" y="574004"/>
                  </a:lnTo>
                  <a:lnTo>
                    <a:pt x="0" y="574004"/>
                  </a:lnTo>
                  <a:close/>
                </a:path>
              </a:pathLst>
            </a:custGeom>
            <a:blipFill>
              <a:blip r:embed="rId6">
                <a:alphaModFix amt="0"/>
              </a:blip>
              <a:stretch>
                <a:fillRect t="-363455" r="-273635" b="-359970"/>
              </a:stretch>
            </a:blipFill>
            <a:ln cap="sq">
              <a:noFill/>
              <a:prstDash val="solid"/>
              <a:miter/>
            </a:ln>
          </p:spPr>
        </p:sp>
        <p:sp>
          <p:nvSpPr>
            <p:cNvPr id="25" name="TextBox 25"/>
            <p:cNvSpPr txBox="1"/>
            <p:nvPr/>
          </p:nvSpPr>
          <p:spPr>
            <a:xfrm>
              <a:off x="0" y="-19050"/>
              <a:ext cx="3246099"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Samsung Galaxy Buds4</a:t>
              </a:r>
            </a:p>
          </p:txBody>
        </p:sp>
      </p:grpSp>
      <p:grpSp>
        <p:nvGrpSpPr>
          <p:cNvPr id="26" name="Group 26"/>
          <p:cNvGrpSpPr/>
          <p:nvPr/>
        </p:nvGrpSpPr>
        <p:grpSpPr>
          <a:xfrm>
            <a:off x="14858853" y="8617204"/>
            <a:ext cx="2679715" cy="430523"/>
            <a:chOff x="0" y="0"/>
            <a:chExt cx="3572954" cy="574030"/>
          </a:xfrm>
        </p:grpSpPr>
        <p:sp>
          <p:nvSpPr>
            <p:cNvPr id="27" name="Freeform 27"/>
            <p:cNvSpPr/>
            <p:nvPr/>
          </p:nvSpPr>
          <p:spPr>
            <a:xfrm>
              <a:off x="0" y="0"/>
              <a:ext cx="3572943" cy="574004"/>
            </a:xfrm>
            <a:custGeom>
              <a:avLst/>
              <a:gdLst/>
              <a:ahLst/>
              <a:cxnLst/>
              <a:rect l="l" t="t" r="r" b="b"/>
              <a:pathLst>
                <a:path w="3572943" h="574004">
                  <a:moveTo>
                    <a:pt x="0" y="0"/>
                  </a:moveTo>
                  <a:lnTo>
                    <a:pt x="3572943" y="0"/>
                  </a:lnTo>
                  <a:lnTo>
                    <a:pt x="3572943" y="574004"/>
                  </a:lnTo>
                  <a:lnTo>
                    <a:pt x="0" y="574004"/>
                  </a:lnTo>
                  <a:close/>
                </a:path>
              </a:pathLst>
            </a:custGeom>
            <a:blipFill>
              <a:blip r:embed="rId6">
                <a:alphaModFix amt="0"/>
              </a:blip>
              <a:stretch>
                <a:fillRect t="-363455" r="-239455" b="-359970"/>
              </a:stretch>
            </a:blipFill>
            <a:ln cap="sq">
              <a:noFill/>
              <a:prstDash val="solid"/>
              <a:miter/>
            </a:ln>
          </p:spPr>
        </p:sp>
        <p:sp>
          <p:nvSpPr>
            <p:cNvPr id="28" name="TextBox 28"/>
            <p:cNvSpPr txBox="1"/>
            <p:nvPr/>
          </p:nvSpPr>
          <p:spPr>
            <a:xfrm>
              <a:off x="0" y="-19050"/>
              <a:ext cx="3572954"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VinID Vouchers (1M VND)</a:t>
              </a:r>
            </a:p>
          </p:txBody>
        </p:sp>
      </p:grpSp>
      <p:grpSp>
        <p:nvGrpSpPr>
          <p:cNvPr id="29" name="Group 29"/>
          <p:cNvGrpSpPr/>
          <p:nvPr/>
        </p:nvGrpSpPr>
        <p:grpSpPr>
          <a:xfrm>
            <a:off x="2403430" y="590960"/>
            <a:ext cx="2425673" cy="671874"/>
            <a:chOff x="0" y="0"/>
            <a:chExt cx="3234230" cy="895833"/>
          </a:xfrm>
        </p:grpSpPr>
        <p:sp>
          <p:nvSpPr>
            <p:cNvPr id="30" name="Freeform 30"/>
            <p:cNvSpPr/>
            <p:nvPr/>
          </p:nvSpPr>
          <p:spPr>
            <a:xfrm>
              <a:off x="0" y="0"/>
              <a:ext cx="3234230" cy="895858"/>
            </a:xfrm>
            <a:custGeom>
              <a:avLst/>
              <a:gdLst/>
              <a:ahLst/>
              <a:cxnLst/>
              <a:rect l="l" t="t" r="r" b="b"/>
              <a:pathLst>
                <a:path w="3234230" h="895858">
                  <a:moveTo>
                    <a:pt x="0" y="0"/>
                  </a:moveTo>
                  <a:lnTo>
                    <a:pt x="3234230" y="0"/>
                  </a:lnTo>
                  <a:lnTo>
                    <a:pt x="3234230" y="895858"/>
                  </a:lnTo>
                  <a:lnTo>
                    <a:pt x="0" y="895858"/>
                  </a:lnTo>
                  <a:close/>
                </a:path>
              </a:pathLst>
            </a:custGeom>
            <a:blipFill>
              <a:blip r:embed="rId6">
                <a:alphaModFix amt="0"/>
              </a:blip>
              <a:stretch>
                <a:fillRect t="-5523" r="21072" b="-5520"/>
              </a:stretch>
            </a:blipFill>
            <a:ln w="28575" cap="sq">
              <a:solidFill>
                <a:srgbClr val="FF0000"/>
              </a:solidFill>
              <a:prstDash val="solid"/>
              <a:miter/>
            </a:ln>
          </p:spPr>
        </p:sp>
      </p:grpSp>
      <p:sp>
        <p:nvSpPr>
          <p:cNvPr id="31" name="AutoShape 31"/>
          <p:cNvSpPr/>
          <p:nvPr/>
        </p:nvSpPr>
        <p:spPr>
          <a:xfrm>
            <a:off x="4829103" y="926897"/>
            <a:ext cx="8498469" cy="0"/>
          </a:xfrm>
          <a:prstGeom prst="line">
            <a:avLst/>
          </a:prstGeom>
          <a:ln w="19050" cap="rnd">
            <a:solidFill>
              <a:srgbClr val="FF0000"/>
            </a:solidFill>
            <a:prstDash val="solid"/>
            <a:headEnd type="none" w="sm" len="sm"/>
            <a:tailEnd type="none" w="sm" len="sm"/>
          </a:ln>
        </p:spPr>
      </p:sp>
      <p:grpSp>
        <p:nvGrpSpPr>
          <p:cNvPr id="32" name="Group 32"/>
          <p:cNvGrpSpPr/>
          <p:nvPr/>
        </p:nvGrpSpPr>
        <p:grpSpPr>
          <a:xfrm>
            <a:off x="13327572" y="711636"/>
            <a:ext cx="2167941" cy="430523"/>
            <a:chOff x="0" y="0"/>
            <a:chExt cx="2890588" cy="574030"/>
          </a:xfrm>
        </p:grpSpPr>
        <p:sp>
          <p:nvSpPr>
            <p:cNvPr id="33" name="Freeform 33"/>
            <p:cNvSpPr/>
            <p:nvPr/>
          </p:nvSpPr>
          <p:spPr>
            <a:xfrm>
              <a:off x="0" y="0"/>
              <a:ext cx="2890578" cy="574004"/>
            </a:xfrm>
            <a:custGeom>
              <a:avLst/>
              <a:gdLst/>
              <a:ahLst/>
              <a:cxnLst/>
              <a:rect l="l" t="t" r="r" b="b"/>
              <a:pathLst>
                <a:path w="2890578" h="574004">
                  <a:moveTo>
                    <a:pt x="0" y="0"/>
                  </a:moveTo>
                  <a:lnTo>
                    <a:pt x="2890578" y="0"/>
                  </a:lnTo>
                  <a:lnTo>
                    <a:pt x="2890578" y="574004"/>
                  </a:lnTo>
                  <a:lnTo>
                    <a:pt x="0" y="574004"/>
                  </a:lnTo>
                  <a:close/>
                </a:path>
              </a:pathLst>
            </a:custGeom>
            <a:blipFill>
              <a:blip r:embed="rId6">
                <a:alphaModFix amt="0"/>
              </a:blip>
              <a:stretch>
                <a:fillRect t="-363455" r="-319588" b="-359970"/>
              </a:stretch>
            </a:blipFill>
            <a:ln cap="sq">
              <a:noFill/>
              <a:prstDash val="solid"/>
              <a:miter/>
            </a:ln>
          </p:spPr>
        </p:sp>
        <p:sp>
          <p:nvSpPr>
            <p:cNvPr id="34" name="TextBox 34"/>
            <p:cNvSpPr txBox="1"/>
            <p:nvPr/>
          </p:nvSpPr>
          <p:spPr>
            <a:xfrm>
              <a:off x="0" y="-19050"/>
              <a:ext cx="2890588"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Lucky Draw</a:t>
              </a:r>
            </a:p>
          </p:txBody>
        </p:sp>
      </p:grpSp>
      <p:grpSp>
        <p:nvGrpSpPr>
          <p:cNvPr id="35" name="Group 35"/>
          <p:cNvGrpSpPr/>
          <p:nvPr/>
        </p:nvGrpSpPr>
        <p:grpSpPr>
          <a:xfrm>
            <a:off x="1145417" y="1262835"/>
            <a:ext cx="4937158" cy="671874"/>
            <a:chOff x="0" y="0"/>
            <a:chExt cx="6582878" cy="895833"/>
          </a:xfrm>
        </p:grpSpPr>
        <p:sp>
          <p:nvSpPr>
            <p:cNvPr id="36" name="Freeform 36"/>
            <p:cNvSpPr/>
            <p:nvPr/>
          </p:nvSpPr>
          <p:spPr>
            <a:xfrm>
              <a:off x="0" y="0"/>
              <a:ext cx="6582877" cy="895858"/>
            </a:xfrm>
            <a:custGeom>
              <a:avLst/>
              <a:gdLst/>
              <a:ahLst/>
              <a:cxnLst/>
              <a:rect l="l" t="t" r="r" b="b"/>
              <a:pathLst>
                <a:path w="6582877" h="895858">
                  <a:moveTo>
                    <a:pt x="0" y="0"/>
                  </a:moveTo>
                  <a:lnTo>
                    <a:pt x="6582877" y="0"/>
                  </a:lnTo>
                  <a:lnTo>
                    <a:pt x="6582877" y="895858"/>
                  </a:lnTo>
                  <a:lnTo>
                    <a:pt x="0" y="895858"/>
                  </a:lnTo>
                  <a:close/>
                </a:path>
              </a:pathLst>
            </a:custGeom>
            <a:blipFill>
              <a:blip r:embed="rId6">
                <a:alphaModFix amt="0"/>
              </a:blip>
              <a:stretch>
                <a:fillRect t="-5523" r="61222" b="-5520"/>
              </a:stretch>
            </a:blipFill>
            <a:ln w="28575" cap="sq">
              <a:solidFill>
                <a:srgbClr val="FF0000"/>
              </a:solidFill>
              <a:prstDash val="solid"/>
              <a:miter/>
            </a:ln>
          </p:spPr>
        </p:sp>
      </p:grpSp>
      <p:grpSp>
        <p:nvGrpSpPr>
          <p:cNvPr id="37" name="Group 37"/>
          <p:cNvGrpSpPr/>
          <p:nvPr/>
        </p:nvGrpSpPr>
        <p:grpSpPr>
          <a:xfrm>
            <a:off x="1147688" y="2016036"/>
            <a:ext cx="4934887" cy="2550427"/>
            <a:chOff x="0" y="0"/>
            <a:chExt cx="6805495" cy="3517187"/>
          </a:xfrm>
        </p:grpSpPr>
        <p:sp>
          <p:nvSpPr>
            <p:cNvPr id="38" name="Freeform 38"/>
            <p:cNvSpPr/>
            <p:nvPr/>
          </p:nvSpPr>
          <p:spPr>
            <a:xfrm>
              <a:off x="0" y="0"/>
              <a:ext cx="6805495" cy="3517212"/>
            </a:xfrm>
            <a:custGeom>
              <a:avLst/>
              <a:gdLst/>
              <a:ahLst/>
              <a:cxnLst/>
              <a:rect l="l" t="t" r="r" b="b"/>
              <a:pathLst>
                <a:path w="6805495" h="3517212">
                  <a:moveTo>
                    <a:pt x="0" y="0"/>
                  </a:moveTo>
                  <a:lnTo>
                    <a:pt x="6805495" y="0"/>
                  </a:lnTo>
                  <a:lnTo>
                    <a:pt x="6805495" y="3517212"/>
                  </a:lnTo>
                  <a:lnTo>
                    <a:pt x="0" y="3517212"/>
                  </a:lnTo>
                  <a:close/>
                </a:path>
              </a:pathLst>
            </a:custGeom>
            <a:blipFill>
              <a:blip r:embed="rId6">
                <a:alphaModFix amt="0"/>
              </a:blip>
              <a:stretch>
                <a:fillRect t="-1406" r="62490" b="73123"/>
              </a:stretch>
            </a:blipFill>
            <a:ln w="28575" cap="sq">
              <a:solidFill>
                <a:srgbClr val="FF0000"/>
              </a:solidFill>
              <a:prstDash val="solid"/>
              <a:miter/>
            </a:ln>
          </p:spPr>
        </p:sp>
      </p:grpSp>
      <p:sp>
        <p:nvSpPr>
          <p:cNvPr id="39" name="AutoShape 39"/>
          <p:cNvSpPr/>
          <p:nvPr/>
        </p:nvSpPr>
        <p:spPr>
          <a:xfrm flipH="1">
            <a:off x="6081752" y="3207142"/>
            <a:ext cx="7088153" cy="0"/>
          </a:xfrm>
          <a:prstGeom prst="line">
            <a:avLst/>
          </a:prstGeom>
          <a:ln w="19050" cap="rnd">
            <a:solidFill>
              <a:srgbClr val="FF0000"/>
            </a:solidFill>
            <a:prstDash val="solid"/>
            <a:headEnd type="none" w="sm" len="sm"/>
            <a:tailEnd type="none" w="sm" len="sm"/>
          </a:ln>
        </p:spPr>
      </p:sp>
      <p:grpSp>
        <p:nvGrpSpPr>
          <p:cNvPr id="40" name="Group 40"/>
          <p:cNvGrpSpPr/>
          <p:nvPr/>
        </p:nvGrpSpPr>
        <p:grpSpPr>
          <a:xfrm>
            <a:off x="13327572" y="1368504"/>
            <a:ext cx="3206209" cy="434524"/>
            <a:chOff x="0" y="0"/>
            <a:chExt cx="4274945" cy="579366"/>
          </a:xfrm>
        </p:grpSpPr>
        <p:sp>
          <p:nvSpPr>
            <p:cNvPr id="41" name="Freeform 41"/>
            <p:cNvSpPr/>
            <p:nvPr/>
          </p:nvSpPr>
          <p:spPr>
            <a:xfrm>
              <a:off x="0" y="0"/>
              <a:ext cx="4274932" cy="579339"/>
            </a:xfrm>
            <a:custGeom>
              <a:avLst/>
              <a:gdLst/>
              <a:ahLst/>
              <a:cxnLst/>
              <a:rect l="l" t="t" r="r" b="b"/>
              <a:pathLst>
                <a:path w="4274932" h="579339">
                  <a:moveTo>
                    <a:pt x="0" y="0"/>
                  </a:moveTo>
                  <a:lnTo>
                    <a:pt x="4274932" y="0"/>
                  </a:lnTo>
                  <a:lnTo>
                    <a:pt x="4274932" y="579339"/>
                  </a:lnTo>
                  <a:lnTo>
                    <a:pt x="0" y="579339"/>
                  </a:lnTo>
                  <a:close/>
                </a:path>
              </a:pathLst>
            </a:custGeom>
            <a:blipFill>
              <a:blip r:embed="rId6">
                <a:alphaModFix amt="0"/>
              </a:blip>
              <a:stretch>
                <a:fillRect t="-360108" r="-183713" b="-355734"/>
              </a:stretch>
            </a:blipFill>
            <a:ln cap="sq">
              <a:noFill/>
              <a:prstDash val="solid"/>
              <a:miter/>
            </a:ln>
          </p:spPr>
        </p:sp>
        <p:sp>
          <p:nvSpPr>
            <p:cNvPr id="42" name="TextBox 42"/>
            <p:cNvSpPr txBox="1"/>
            <p:nvPr/>
          </p:nvSpPr>
          <p:spPr>
            <a:xfrm>
              <a:off x="0" y="-19050"/>
              <a:ext cx="4274945" cy="598416"/>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Amazing prizes to be won!</a:t>
              </a:r>
            </a:p>
          </p:txBody>
        </p:sp>
      </p:grpSp>
      <p:sp>
        <p:nvSpPr>
          <p:cNvPr id="43" name="TextBox 43"/>
          <p:cNvSpPr txBox="1"/>
          <p:nvPr/>
        </p:nvSpPr>
        <p:spPr>
          <a:xfrm>
            <a:off x="6994556" y="4060860"/>
            <a:ext cx="3700033" cy="285750"/>
          </a:xfrm>
          <a:prstGeom prst="rect">
            <a:avLst/>
          </a:prstGeom>
        </p:spPr>
        <p:txBody>
          <a:bodyPr lIns="0" tIns="0" rIns="0" bIns="0" rtlCol="0" anchor="t">
            <a:spAutoFit/>
          </a:bodyPr>
          <a:lstStyle/>
          <a:p>
            <a:pPr algn="l">
              <a:lnSpc>
                <a:spcPts val="2160"/>
              </a:lnSpc>
            </a:pPr>
            <a:r>
              <a:rPr lang="en-US" sz="1800">
                <a:solidFill>
                  <a:srgbClr val="FF0000"/>
                </a:solidFill>
                <a:latin typeface="Arimo"/>
                <a:ea typeface="Arimo"/>
                <a:cs typeface="Arimo"/>
                <a:sym typeface="Arimo"/>
              </a:rPr>
              <a:t>For example, 2025:</a:t>
            </a:r>
          </a:p>
        </p:txBody>
      </p:sp>
      <p:sp>
        <p:nvSpPr>
          <p:cNvPr id="44" name="TextBox 44"/>
          <p:cNvSpPr txBox="1"/>
          <p:nvPr/>
        </p:nvSpPr>
        <p:spPr>
          <a:xfrm>
            <a:off x="16488485" y="368276"/>
            <a:ext cx="1541631" cy="462563"/>
          </a:xfrm>
          <a:prstGeom prst="rect">
            <a:avLst/>
          </a:prstGeom>
        </p:spPr>
        <p:txBody>
          <a:bodyPr lIns="0" tIns="0" rIns="0" bIns="0" rtlCol="0" anchor="t">
            <a:spAutoFit/>
          </a:bodyPr>
          <a:lstStyle/>
          <a:p>
            <a:pPr algn="l">
              <a:lnSpc>
                <a:spcPts val="3240"/>
              </a:lnSpc>
            </a:pPr>
            <a:r>
              <a:rPr lang="en-US" sz="2700" b="1">
                <a:solidFill>
                  <a:srgbClr val="000000"/>
                </a:solidFill>
                <a:latin typeface="Aptos Bold"/>
                <a:ea typeface="Aptos Bold"/>
                <a:cs typeface="Aptos Bold"/>
                <a:sym typeface="Aptos Bold"/>
              </a:rPr>
              <a:t>ENGLISH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4774" y="263604"/>
            <a:ext cx="6032630" cy="4727496"/>
            <a:chOff x="0" y="0"/>
            <a:chExt cx="8043507" cy="6303328"/>
          </a:xfrm>
        </p:grpSpPr>
        <p:sp>
          <p:nvSpPr>
            <p:cNvPr id="3" name="Freeform 3"/>
            <p:cNvSpPr/>
            <p:nvPr/>
          </p:nvSpPr>
          <p:spPr>
            <a:xfrm>
              <a:off x="0" y="0"/>
              <a:ext cx="8043545" cy="6303264"/>
            </a:xfrm>
            <a:custGeom>
              <a:avLst/>
              <a:gdLst/>
              <a:ahLst/>
              <a:cxnLst/>
              <a:rect l="l" t="t" r="r" b="b"/>
              <a:pathLst>
                <a:path w="8043545" h="6303264">
                  <a:moveTo>
                    <a:pt x="0" y="0"/>
                  </a:moveTo>
                  <a:lnTo>
                    <a:pt x="8043545" y="0"/>
                  </a:lnTo>
                  <a:lnTo>
                    <a:pt x="8043545" y="6303264"/>
                  </a:lnTo>
                  <a:lnTo>
                    <a:pt x="0" y="6303264"/>
                  </a:lnTo>
                  <a:lnTo>
                    <a:pt x="0" y="0"/>
                  </a:lnTo>
                  <a:close/>
                </a:path>
              </a:pathLst>
            </a:custGeom>
            <a:blipFill>
              <a:blip r:embed="rId2"/>
              <a:stretch>
                <a:fillRect b="-1"/>
              </a:stretch>
            </a:blipFill>
          </p:spPr>
        </p:sp>
      </p:grpSp>
      <p:grpSp>
        <p:nvGrpSpPr>
          <p:cNvPr id="4" name="Group 4"/>
          <p:cNvGrpSpPr/>
          <p:nvPr/>
        </p:nvGrpSpPr>
        <p:grpSpPr>
          <a:xfrm>
            <a:off x="554774" y="5143500"/>
            <a:ext cx="6063682" cy="4727496"/>
            <a:chOff x="0" y="0"/>
            <a:chExt cx="8084909" cy="6303328"/>
          </a:xfrm>
        </p:grpSpPr>
        <p:sp>
          <p:nvSpPr>
            <p:cNvPr id="5" name="Freeform 5"/>
            <p:cNvSpPr/>
            <p:nvPr/>
          </p:nvSpPr>
          <p:spPr>
            <a:xfrm>
              <a:off x="0" y="0"/>
              <a:ext cx="8084947" cy="6303391"/>
            </a:xfrm>
            <a:custGeom>
              <a:avLst/>
              <a:gdLst/>
              <a:ahLst/>
              <a:cxnLst/>
              <a:rect l="l" t="t" r="r" b="b"/>
              <a:pathLst>
                <a:path w="8084947" h="6303391">
                  <a:moveTo>
                    <a:pt x="0" y="0"/>
                  </a:moveTo>
                  <a:lnTo>
                    <a:pt x="8084947" y="0"/>
                  </a:lnTo>
                  <a:lnTo>
                    <a:pt x="8084947" y="6303391"/>
                  </a:lnTo>
                  <a:lnTo>
                    <a:pt x="0" y="6303391"/>
                  </a:lnTo>
                  <a:lnTo>
                    <a:pt x="0" y="0"/>
                  </a:lnTo>
                  <a:close/>
                </a:path>
              </a:pathLst>
            </a:custGeom>
            <a:blipFill>
              <a:blip r:embed="rId3"/>
              <a:stretch>
                <a:fillRect b="1"/>
              </a:stretch>
            </a:blipFill>
          </p:spPr>
        </p:sp>
      </p:grpSp>
      <p:grpSp>
        <p:nvGrpSpPr>
          <p:cNvPr id="6" name="Group 6"/>
          <p:cNvGrpSpPr/>
          <p:nvPr/>
        </p:nvGrpSpPr>
        <p:grpSpPr>
          <a:xfrm>
            <a:off x="8481870" y="8131850"/>
            <a:ext cx="9085351" cy="1435726"/>
            <a:chOff x="0" y="0"/>
            <a:chExt cx="12113801" cy="1914302"/>
          </a:xfrm>
        </p:grpSpPr>
        <p:sp>
          <p:nvSpPr>
            <p:cNvPr id="7" name="Freeform 7"/>
            <p:cNvSpPr/>
            <p:nvPr/>
          </p:nvSpPr>
          <p:spPr>
            <a:xfrm>
              <a:off x="0" y="0"/>
              <a:ext cx="12113747" cy="1914340"/>
            </a:xfrm>
            <a:custGeom>
              <a:avLst/>
              <a:gdLst/>
              <a:ahLst/>
              <a:cxnLst/>
              <a:rect l="l" t="t" r="r" b="b"/>
              <a:pathLst>
                <a:path w="12113747" h="1914340">
                  <a:moveTo>
                    <a:pt x="0" y="0"/>
                  </a:moveTo>
                  <a:lnTo>
                    <a:pt x="12113747" y="0"/>
                  </a:lnTo>
                  <a:lnTo>
                    <a:pt x="12113747" y="1914340"/>
                  </a:lnTo>
                  <a:lnTo>
                    <a:pt x="0" y="1914340"/>
                  </a:lnTo>
                  <a:close/>
                </a:path>
              </a:pathLst>
            </a:custGeom>
            <a:blipFill>
              <a:blip r:embed="rId4">
                <a:alphaModFix amt="0"/>
              </a:blip>
              <a:stretch>
                <a:fillRect t="-86781" r="7450" b="-41444"/>
              </a:stretch>
            </a:blipFill>
            <a:ln cap="sq">
              <a:noFill/>
              <a:prstDash val="solid"/>
              <a:miter/>
            </a:ln>
          </p:spPr>
        </p:sp>
        <p:sp>
          <p:nvSpPr>
            <p:cNvPr id="8" name="TextBox 8"/>
            <p:cNvSpPr txBox="1"/>
            <p:nvPr/>
          </p:nvSpPr>
          <p:spPr>
            <a:xfrm>
              <a:off x="0" y="-19050"/>
              <a:ext cx="12113801" cy="1933352"/>
            </a:xfrm>
            <a:prstGeom prst="rect">
              <a:avLst/>
            </a:prstGeom>
          </p:spPr>
          <p:txBody>
            <a:bodyPr lIns="50800" tIns="50800" rIns="50800" bIns="50800" rtlCol="0" anchor="t"/>
            <a:lstStyle/>
            <a:p>
              <a:pPr algn="l">
                <a:lnSpc>
                  <a:spcPts val="2520"/>
                </a:lnSpc>
              </a:pPr>
              <a:r>
                <a:rPr lang="en-US" sz="2100">
                  <a:solidFill>
                    <a:srgbClr val="000000"/>
                  </a:solidFill>
                  <a:latin typeface="Times New Roman"/>
                  <a:ea typeface="Times New Roman"/>
                  <a:cs typeface="Times New Roman"/>
                  <a:sym typeface="Times New Roman"/>
                </a:rPr>
                <a:t>InterContinental Hanoi Landmark72</a:t>
              </a:r>
            </a:p>
            <a:p>
              <a:pPr algn="l">
                <a:lnSpc>
                  <a:spcPts val="2520"/>
                </a:lnSpc>
              </a:pPr>
              <a:r>
                <a:rPr lang="en-US" sz="2100">
                  <a:solidFill>
                    <a:srgbClr val="000000"/>
                  </a:solidFill>
                  <a:latin typeface="Times New Roman"/>
                  <a:ea typeface="Times New Roman"/>
                  <a:cs typeface="Times New Roman"/>
                  <a:sym typeface="Times New Roman"/>
                </a:rPr>
                <a:t>Located in Keangnam Landmark Tower 72</a:t>
              </a:r>
            </a:p>
            <a:p>
              <a:pPr algn="l">
                <a:lnSpc>
                  <a:spcPts val="2520"/>
                </a:lnSpc>
              </a:pPr>
              <a:r>
                <a:rPr lang="en-US" sz="2100">
                  <a:solidFill>
                    <a:srgbClr val="000000"/>
                  </a:solidFill>
                  <a:latin typeface="Times New Roman"/>
                  <a:ea typeface="Times New Roman"/>
                  <a:cs typeface="Times New Roman"/>
                  <a:sym typeface="Times New Roman"/>
                </a:rPr>
                <a:t>Keangnam Hanoi Landmark Tower Plot E6, Cau Giay New Urban Area, Yen Hoa Ward, Yên Hòa, Hà Nội, Vietnam</a:t>
              </a:r>
            </a:p>
          </p:txBody>
        </p:sp>
      </p:grpSp>
      <p:grpSp>
        <p:nvGrpSpPr>
          <p:cNvPr id="9" name="Group 9"/>
          <p:cNvGrpSpPr/>
          <p:nvPr/>
        </p:nvGrpSpPr>
        <p:grpSpPr>
          <a:xfrm>
            <a:off x="1161364" y="5463950"/>
            <a:ext cx="4812849" cy="649434"/>
            <a:chOff x="0" y="0"/>
            <a:chExt cx="6417132" cy="865911"/>
          </a:xfrm>
        </p:grpSpPr>
        <p:sp>
          <p:nvSpPr>
            <p:cNvPr id="10" name="Freeform 10"/>
            <p:cNvSpPr/>
            <p:nvPr/>
          </p:nvSpPr>
          <p:spPr>
            <a:xfrm>
              <a:off x="0" y="0"/>
              <a:ext cx="6417183" cy="865886"/>
            </a:xfrm>
            <a:custGeom>
              <a:avLst/>
              <a:gdLst/>
              <a:ahLst/>
              <a:cxnLst/>
              <a:rect l="l" t="t" r="r" b="b"/>
              <a:pathLst>
                <a:path w="6417183" h="865886">
                  <a:moveTo>
                    <a:pt x="0" y="0"/>
                  </a:moveTo>
                  <a:lnTo>
                    <a:pt x="6417183" y="0"/>
                  </a:lnTo>
                  <a:lnTo>
                    <a:pt x="6417183" y="865886"/>
                  </a:lnTo>
                  <a:lnTo>
                    <a:pt x="0" y="865886"/>
                  </a:lnTo>
                  <a:close/>
                </a:path>
              </a:pathLst>
            </a:custGeom>
            <a:blipFill>
              <a:blip r:embed="rId4">
                <a:alphaModFix amt="0"/>
              </a:blip>
              <a:stretch>
                <a:fillRect t="-94403" b="-94406"/>
              </a:stretch>
            </a:blipFill>
            <a:ln w="28575" cap="sq">
              <a:solidFill>
                <a:srgbClr val="FF0000"/>
              </a:solidFill>
              <a:prstDash val="solid"/>
              <a:miter/>
            </a:ln>
          </p:spPr>
        </p:sp>
      </p:grpSp>
      <p:grpSp>
        <p:nvGrpSpPr>
          <p:cNvPr id="11" name="Group 11"/>
          <p:cNvGrpSpPr/>
          <p:nvPr/>
        </p:nvGrpSpPr>
        <p:grpSpPr>
          <a:xfrm>
            <a:off x="8481870" y="1228137"/>
            <a:ext cx="1508103" cy="617209"/>
            <a:chOff x="0" y="0"/>
            <a:chExt cx="2010804" cy="822945"/>
          </a:xfrm>
        </p:grpSpPr>
        <p:sp>
          <p:nvSpPr>
            <p:cNvPr id="12" name="Freeform 12"/>
            <p:cNvSpPr/>
            <p:nvPr/>
          </p:nvSpPr>
          <p:spPr>
            <a:xfrm>
              <a:off x="0" y="0"/>
              <a:ext cx="2010791" cy="822903"/>
            </a:xfrm>
            <a:custGeom>
              <a:avLst/>
              <a:gdLst/>
              <a:ahLst/>
              <a:cxnLst/>
              <a:rect l="l" t="t" r="r" b="b"/>
              <a:pathLst>
                <a:path w="2010791" h="822903">
                  <a:moveTo>
                    <a:pt x="0" y="0"/>
                  </a:moveTo>
                  <a:lnTo>
                    <a:pt x="2010791" y="0"/>
                  </a:lnTo>
                  <a:lnTo>
                    <a:pt x="2010791" y="822903"/>
                  </a:lnTo>
                  <a:lnTo>
                    <a:pt x="0" y="822903"/>
                  </a:lnTo>
                  <a:close/>
                </a:path>
              </a:pathLst>
            </a:custGeom>
            <a:blipFill>
              <a:blip r:embed="rId4">
                <a:alphaModFix amt="0"/>
              </a:blip>
              <a:stretch>
                <a:fillRect t="-2730" b="7505"/>
              </a:stretch>
            </a:blipFill>
            <a:ln cap="sq">
              <a:noFill/>
              <a:prstDash val="solid"/>
              <a:miter/>
            </a:ln>
          </p:spPr>
        </p:sp>
        <p:sp>
          <p:nvSpPr>
            <p:cNvPr id="13" name="TextBox 13"/>
            <p:cNvSpPr txBox="1"/>
            <p:nvPr/>
          </p:nvSpPr>
          <p:spPr>
            <a:xfrm>
              <a:off x="0" y="-19050"/>
              <a:ext cx="2010804" cy="841995"/>
            </a:xfrm>
            <a:prstGeom prst="rect">
              <a:avLst/>
            </a:prstGeom>
          </p:spPr>
          <p:txBody>
            <a:bodyPr lIns="50800" tIns="50800" rIns="50800" bIns="50800" rtlCol="0" anchor="t"/>
            <a:lstStyle/>
            <a:p>
              <a:pPr algn="l">
                <a:lnSpc>
                  <a:spcPts val="3240"/>
                </a:lnSpc>
              </a:pPr>
              <a:r>
                <a:rPr lang="en-US" sz="2700">
                  <a:solidFill>
                    <a:srgbClr val="000000"/>
                  </a:solidFill>
                  <a:latin typeface="Times New Roman"/>
                  <a:ea typeface="Times New Roman"/>
                  <a:cs typeface="Times New Roman"/>
                  <a:sym typeface="Times New Roman"/>
                </a:rPr>
                <a:t>Location</a:t>
              </a:r>
            </a:p>
          </p:txBody>
        </p:sp>
      </p:grpSp>
      <p:sp>
        <p:nvSpPr>
          <p:cNvPr id="14" name="AutoShape 14"/>
          <p:cNvSpPr/>
          <p:nvPr/>
        </p:nvSpPr>
        <p:spPr>
          <a:xfrm flipV="1">
            <a:off x="5974213" y="1536741"/>
            <a:ext cx="2507656" cy="4251925"/>
          </a:xfrm>
          <a:prstGeom prst="line">
            <a:avLst/>
          </a:prstGeom>
          <a:ln w="19050" cap="rnd">
            <a:solidFill>
              <a:srgbClr val="FF0000"/>
            </a:solidFill>
            <a:prstDash val="solid"/>
            <a:headEnd type="none" w="sm" len="sm"/>
            <a:tailEnd type="none" w="sm" len="sm"/>
          </a:ln>
        </p:spPr>
      </p:sp>
      <p:grpSp>
        <p:nvGrpSpPr>
          <p:cNvPr id="15" name="Group 15"/>
          <p:cNvGrpSpPr/>
          <p:nvPr/>
        </p:nvGrpSpPr>
        <p:grpSpPr>
          <a:xfrm>
            <a:off x="1161364" y="6208614"/>
            <a:ext cx="4812849" cy="2277837"/>
            <a:chOff x="0" y="0"/>
            <a:chExt cx="6417132" cy="3037116"/>
          </a:xfrm>
        </p:grpSpPr>
        <p:sp>
          <p:nvSpPr>
            <p:cNvPr id="16" name="Freeform 16"/>
            <p:cNvSpPr/>
            <p:nvPr/>
          </p:nvSpPr>
          <p:spPr>
            <a:xfrm>
              <a:off x="0" y="0"/>
              <a:ext cx="6417183" cy="3037078"/>
            </a:xfrm>
            <a:custGeom>
              <a:avLst/>
              <a:gdLst/>
              <a:ahLst/>
              <a:cxnLst/>
              <a:rect l="l" t="t" r="r" b="b"/>
              <a:pathLst>
                <a:path w="6417183" h="3037078">
                  <a:moveTo>
                    <a:pt x="0" y="0"/>
                  </a:moveTo>
                  <a:lnTo>
                    <a:pt x="6417183" y="0"/>
                  </a:lnTo>
                  <a:lnTo>
                    <a:pt x="6417183" y="3037078"/>
                  </a:lnTo>
                  <a:lnTo>
                    <a:pt x="0" y="3037078"/>
                  </a:lnTo>
                  <a:close/>
                </a:path>
              </a:pathLst>
            </a:custGeom>
            <a:blipFill>
              <a:blip r:embed="rId4">
                <a:alphaModFix amt="0"/>
              </a:blip>
              <a:stretch>
                <a:fillRect l="-10723" r="-10722" b="-1"/>
              </a:stretch>
            </a:blipFill>
            <a:ln w="28575" cap="sq">
              <a:solidFill>
                <a:srgbClr val="FF0000"/>
              </a:solidFill>
              <a:prstDash val="solid"/>
              <a:miter/>
            </a:ln>
          </p:spPr>
        </p:sp>
      </p:grpSp>
      <p:grpSp>
        <p:nvGrpSpPr>
          <p:cNvPr id="17" name="Group 17"/>
          <p:cNvGrpSpPr/>
          <p:nvPr/>
        </p:nvGrpSpPr>
        <p:grpSpPr>
          <a:xfrm>
            <a:off x="1164665" y="8581701"/>
            <a:ext cx="4812849" cy="995401"/>
            <a:chOff x="0" y="0"/>
            <a:chExt cx="6417132" cy="1327201"/>
          </a:xfrm>
        </p:grpSpPr>
        <p:sp>
          <p:nvSpPr>
            <p:cNvPr id="18" name="Freeform 18"/>
            <p:cNvSpPr/>
            <p:nvPr/>
          </p:nvSpPr>
          <p:spPr>
            <a:xfrm>
              <a:off x="0" y="0"/>
              <a:ext cx="6417183" cy="1327150"/>
            </a:xfrm>
            <a:custGeom>
              <a:avLst/>
              <a:gdLst/>
              <a:ahLst/>
              <a:cxnLst/>
              <a:rect l="l" t="t" r="r" b="b"/>
              <a:pathLst>
                <a:path w="6417183" h="1327150">
                  <a:moveTo>
                    <a:pt x="0" y="0"/>
                  </a:moveTo>
                  <a:lnTo>
                    <a:pt x="6417183" y="0"/>
                  </a:lnTo>
                  <a:lnTo>
                    <a:pt x="6417183" y="1327150"/>
                  </a:lnTo>
                  <a:lnTo>
                    <a:pt x="0" y="1327150"/>
                  </a:lnTo>
                  <a:close/>
                </a:path>
              </a:pathLst>
            </a:custGeom>
            <a:blipFill>
              <a:blip r:embed="rId4">
                <a:alphaModFix amt="0"/>
              </a:blip>
              <a:stretch>
                <a:fillRect t="-44213" b="-44217"/>
              </a:stretch>
            </a:blipFill>
            <a:ln w="28575" cap="sq">
              <a:solidFill>
                <a:srgbClr val="FF0000"/>
              </a:solidFill>
              <a:prstDash val="solid"/>
              <a:miter/>
            </a:ln>
          </p:spPr>
        </p:sp>
      </p:grpSp>
      <p:sp>
        <p:nvSpPr>
          <p:cNvPr id="19" name="AutoShape 19"/>
          <p:cNvSpPr/>
          <p:nvPr/>
        </p:nvSpPr>
        <p:spPr>
          <a:xfrm flipH="1">
            <a:off x="5977514" y="8849714"/>
            <a:ext cx="2504356" cy="229688"/>
          </a:xfrm>
          <a:prstGeom prst="line">
            <a:avLst/>
          </a:prstGeom>
          <a:ln w="19050" cap="rnd">
            <a:solidFill>
              <a:srgbClr val="FF0000"/>
            </a:solidFill>
            <a:prstDash val="solid"/>
            <a:headEnd type="none" w="sm" len="sm"/>
            <a:tailEnd type="none" w="sm" len="sm"/>
          </a:ln>
        </p:spPr>
      </p:sp>
      <p:grpSp>
        <p:nvGrpSpPr>
          <p:cNvPr id="20" name="Group 20"/>
          <p:cNvGrpSpPr/>
          <p:nvPr/>
        </p:nvGrpSpPr>
        <p:grpSpPr>
          <a:xfrm>
            <a:off x="8481870" y="2226821"/>
            <a:ext cx="9085351" cy="5514029"/>
            <a:chOff x="0" y="0"/>
            <a:chExt cx="14880120" cy="9030957"/>
          </a:xfrm>
        </p:grpSpPr>
        <p:sp>
          <p:nvSpPr>
            <p:cNvPr id="21" name="Freeform 21"/>
            <p:cNvSpPr/>
            <p:nvPr/>
          </p:nvSpPr>
          <p:spPr>
            <a:xfrm>
              <a:off x="0" y="0"/>
              <a:ext cx="14880082" cy="9030970"/>
            </a:xfrm>
            <a:custGeom>
              <a:avLst/>
              <a:gdLst/>
              <a:ahLst/>
              <a:cxnLst/>
              <a:rect l="l" t="t" r="r" b="b"/>
              <a:pathLst>
                <a:path w="14880082" h="9030970">
                  <a:moveTo>
                    <a:pt x="0" y="0"/>
                  </a:moveTo>
                  <a:lnTo>
                    <a:pt x="14880082" y="0"/>
                  </a:lnTo>
                  <a:lnTo>
                    <a:pt x="14880082" y="9030970"/>
                  </a:lnTo>
                  <a:lnTo>
                    <a:pt x="0" y="9030970"/>
                  </a:lnTo>
                  <a:lnTo>
                    <a:pt x="0" y="0"/>
                  </a:lnTo>
                  <a:close/>
                </a:path>
              </a:pathLst>
            </a:custGeom>
            <a:blipFill>
              <a:blip r:embed="rId5"/>
              <a:stretch>
                <a:fillRect l="-12247" r="-12247"/>
              </a:stretch>
            </a:blipFill>
          </p:spPr>
        </p:sp>
      </p:grpSp>
      <p:sp>
        <p:nvSpPr>
          <p:cNvPr id="22" name="TextBox 22"/>
          <p:cNvSpPr txBox="1"/>
          <p:nvPr/>
        </p:nvSpPr>
        <p:spPr>
          <a:xfrm>
            <a:off x="16488485" y="368276"/>
            <a:ext cx="1541631" cy="462563"/>
          </a:xfrm>
          <a:prstGeom prst="rect">
            <a:avLst/>
          </a:prstGeom>
        </p:spPr>
        <p:txBody>
          <a:bodyPr lIns="0" tIns="0" rIns="0" bIns="0" rtlCol="0" anchor="t">
            <a:spAutoFit/>
          </a:bodyPr>
          <a:lstStyle/>
          <a:p>
            <a:pPr algn="l">
              <a:lnSpc>
                <a:spcPts val="3240"/>
              </a:lnSpc>
            </a:pPr>
            <a:r>
              <a:rPr lang="en-US" sz="2700" b="1">
                <a:solidFill>
                  <a:srgbClr val="000000"/>
                </a:solidFill>
                <a:latin typeface="Aptos Bold"/>
                <a:ea typeface="Aptos Bold"/>
                <a:cs typeface="Aptos Bold"/>
                <a:sym typeface="Aptos Bold"/>
              </a:rPr>
              <a:t>ENGLISH</a:t>
            </a:r>
          </a:p>
        </p:txBody>
      </p:sp>
      <p:sp>
        <p:nvSpPr>
          <p:cNvPr id="23" name="AutoShape 23"/>
          <p:cNvSpPr/>
          <p:nvPr/>
        </p:nvSpPr>
        <p:spPr>
          <a:xfrm flipV="1">
            <a:off x="6039496" y="4983835"/>
            <a:ext cx="2442373" cy="2442373"/>
          </a:xfrm>
          <a:prstGeom prst="line">
            <a:avLst/>
          </a:prstGeom>
          <a:ln w="19050" cap="rnd">
            <a:solidFill>
              <a:srgbClr val="FF0000"/>
            </a:solidFill>
            <a:prstDash val="solid"/>
            <a:headEnd type="none" w="sm" len="sm"/>
            <a:tailEnd type="none" w="sm" len="sm"/>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890798" y="3252791"/>
            <a:ext cx="5368502" cy="819150"/>
          </a:xfrm>
          <a:prstGeom prst="rect">
            <a:avLst/>
          </a:prstGeom>
        </p:spPr>
        <p:txBody>
          <a:bodyPr lIns="0" tIns="0" rIns="0" bIns="0" rtlCol="0" anchor="t">
            <a:spAutoFit/>
          </a:bodyPr>
          <a:lstStyle/>
          <a:p>
            <a:pPr algn="l">
              <a:lnSpc>
                <a:spcPts val="2160"/>
              </a:lnSpc>
            </a:pPr>
            <a:r>
              <a:rPr lang="en-US" sz="1800">
                <a:solidFill>
                  <a:srgbClr val="FF0000"/>
                </a:solidFill>
                <a:latin typeface="Arimo"/>
                <a:ea typeface="Arimo"/>
                <a:cs typeface="Arimo"/>
                <a:sym typeface="Arimo"/>
              </a:rPr>
              <a:t>Keep the same form.</a:t>
            </a:r>
          </a:p>
          <a:p>
            <a:pPr algn="l">
              <a:lnSpc>
                <a:spcPts val="2160"/>
              </a:lnSpc>
            </a:pPr>
            <a:endParaRPr lang="en-US" sz="1800">
              <a:solidFill>
                <a:srgbClr val="FF0000"/>
              </a:solidFill>
              <a:latin typeface="Arimo"/>
              <a:ea typeface="Arimo"/>
              <a:cs typeface="Arimo"/>
              <a:sym typeface="Arimo"/>
            </a:endParaRPr>
          </a:p>
          <a:p>
            <a:pPr algn="l">
              <a:lnSpc>
                <a:spcPts val="2160"/>
              </a:lnSpc>
            </a:pPr>
            <a:r>
              <a:rPr lang="en-US" sz="1800">
                <a:solidFill>
                  <a:srgbClr val="FF0000"/>
                </a:solidFill>
                <a:latin typeface="Arimo"/>
                <a:ea typeface="Arimo"/>
                <a:cs typeface="Arimo"/>
                <a:sym typeface="Arimo"/>
              </a:rPr>
              <a:t>We are also gathering participants from this page.</a:t>
            </a:r>
          </a:p>
        </p:txBody>
      </p:sp>
      <p:grpSp>
        <p:nvGrpSpPr>
          <p:cNvPr id="3" name="Group 3"/>
          <p:cNvGrpSpPr/>
          <p:nvPr/>
        </p:nvGrpSpPr>
        <p:grpSpPr>
          <a:xfrm>
            <a:off x="2591086" y="398669"/>
            <a:ext cx="8759457" cy="9888331"/>
            <a:chOff x="0" y="0"/>
            <a:chExt cx="11679276" cy="13184442"/>
          </a:xfrm>
        </p:grpSpPr>
        <p:sp>
          <p:nvSpPr>
            <p:cNvPr id="4" name="Freeform 4"/>
            <p:cNvSpPr/>
            <p:nvPr/>
          </p:nvSpPr>
          <p:spPr>
            <a:xfrm>
              <a:off x="0" y="0"/>
              <a:ext cx="11679301" cy="13184378"/>
            </a:xfrm>
            <a:custGeom>
              <a:avLst/>
              <a:gdLst/>
              <a:ahLst/>
              <a:cxnLst/>
              <a:rect l="l" t="t" r="r" b="b"/>
              <a:pathLst>
                <a:path w="11679301" h="13184378">
                  <a:moveTo>
                    <a:pt x="0" y="0"/>
                  </a:moveTo>
                  <a:lnTo>
                    <a:pt x="11679301" y="0"/>
                  </a:lnTo>
                  <a:lnTo>
                    <a:pt x="11679301" y="13184378"/>
                  </a:lnTo>
                  <a:lnTo>
                    <a:pt x="0" y="13184378"/>
                  </a:lnTo>
                  <a:lnTo>
                    <a:pt x="0" y="0"/>
                  </a:lnTo>
                  <a:close/>
                </a:path>
              </a:pathLst>
            </a:custGeom>
            <a:blipFill>
              <a:blip r:embed="rId2"/>
              <a:stretch>
                <a:fillRect/>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937" y="411070"/>
            <a:ext cx="9053341" cy="9464859"/>
            <a:chOff x="0" y="0"/>
            <a:chExt cx="12071121" cy="12619812"/>
          </a:xfrm>
        </p:grpSpPr>
        <p:sp>
          <p:nvSpPr>
            <p:cNvPr id="3" name="Freeform 3"/>
            <p:cNvSpPr/>
            <p:nvPr/>
          </p:nvSpPr>
          <p:spPr>
            <a:xfrm>
              <a:off x="0" y="0"/>
              <a:ext cx="12071096" cy="12619863"/>
            </a:xfrm>
            <a:custGeom>
              <a:avLst/>
              <a:gdLst/>
              <a:ahLst/>
              <a:cxnLst/>
              <a:rect l="l" t="t" r="r" b="b"/>
              <a:pathLst>
                <a:path w="12071096" h="12619863">
                  <a:moveTo>
                    <a:pt x="0" y="0"/>
                  </a:moveTo>
                  <a:lnTo>
                    <a:pt x="12071096" y="0"/>
                  </a:lnTo>
                  <a:lnTo>
                    <a:pt x="12071096" y="12619863"/>
                  </a:lnTo>
                  <a:lnTo>
                    <a:pt x="0" y="12619863"/>
                  </a:lnTo>
                  <a:lnTo>
                    <a:pt x="0" y="0"/>
                  </a:lnTo>
                  <a:close/>
                </a:path>
              </a:pathLst>
            </a:custGeom>
            <a:blipFill>
              <a:blip r:embed="rId2"/>
              <a:stretch>
                <a:fillRect/>
              </a:stretch>
            </a:blipFill>
          </p:spPr>
        </p:sp>
      </p:grpSp>
      <p:grpSp>
        <p:nvGrpSpPr>
          <p:cNvPr id="7" name="Group 7"/>
          <p:cNvGrpSpPr/>
          <p:nvPr/>
        </p:nvGrpSpPr>
        <p:grpSpPr>
          <a:xfrm>
            <a:off x="679675" y="565375"/>
            <a:ext cx="3193742" cy="700897"/>
            <a:chOff x="0" y="0"/>
            <a:chExt cx="4258323" cy="934529"/>
          </a:xfrm>
        </p:grpSpPr>
        <p:sp>
          <p:nvSpPr>
            <p:cNvPr id="8" name="Freeform 8"/>
            <p:cNvSpPr/>
            <p:nvPr/>
          </p:nvSpPr>
          <p:spPr>
            <a:xfrm>
              <a:off x="0" y="0"/>
              <a:ext cx="4258310" cy="934593"/>
            </a:xfrm>
            <a:custGeom>
              <a:avLst/>
              <a:gdLst/>
              <a:ahLst/>
              <a:cxnLst/>
              <a:rect l="l" t="t" r="r" b="b"/>
              <a:pathLst>
                <a:path w="4258310" h="934593">
                  <a:moveTo>
                    <a:pt x="0" y="0"/>
                  </a:moveTo>
                  <a:lnTo>
                    <a:pt x="4258310" y="0"/>
                  </a:lnTo>
                  <a:lnTo>
                    <a:pt x="4258310" y="934593"/>
                  </a:lnTo>
                  <a:lnTo>
                    <a:pt x="0" y="934593"/>
                  </a:lnTo>
                  <a:close/>
                </a:path>
              </a:pathLst>
            </a:custGeom>
            <a:blipFill>
              <a:blip r:embed="rId3">
                <a:alphaModFix amt="0"/>
              </a:blip>
              <a:stretch>
                <a:fillRect t="-38783" b="-38777"/>
              </a:stretch>
            </a:blipFill>
            <a:ln w="28575" cap="sq">
              <a:solidFill>
                <a:srgbClr val="FF0000"/>
              </a:solidFill>
              <a:prstDash val="solid"/>
              <a:miter/>
            </a:ln>
          </p:spPr>
        </p:sp>
      </p:grpSp>
      <p:sp>
        <p:nvSpPr>
          <p:cNvPr id="9" name="AutoShape 9"/>
          <p:cNvSpPr/>
          <p:nvPr/>
        </p:nvSpPr>
        <p:spPr>
          <a:xfrm rot="2700000">
            <a:off x="3898649" y="864051"/>
            <a:ext cx="40415" cy="0"/>
          </a:xfrm>
          <a:prstGeom prst="line">
            <a:avLst/>
          </a:prstGeom>
          <a:ln w="19050" cap="rnd">
            <a:solidFill>
              <a:srgbClr val="156082"/>
            </a:solidFill>
            <a:prstDash val="solid"/>
            <a:headEnd type="none" w="sm" len="sm"/>
            <a:tailEnd type="none" w="sm" len="sm"/>
          </a:ln>
        </p:spPr>
      </p:sp>
      <p:grpSp>
        <p:nvGrpSpPr>
          <p:cNvPr id="10" name="Group 10"/>
          <p:cNvGrpSpPr/>
          <p:nvPr/>
        </p:nvGrpSpPr>
        <p:grpSpPr>
          <a:xfrm>
            <a:off x="10083689" y="667236"/>
            <a:ext cx="1421540" cy="461666"/>
            <a:chOff x="0" y="0"/>
            <a:chExt cx="1895386" cy="615554"/>
          </a:xfrm>
        </p:grpSpPr>
        <p:sp>
          <p:nvSpPr>
            <p:cNvPr id="11" name="Freeform 11"/>
            <p:cNvSpPr/>
            <p:nvPr/>
          </p:nvSpPr>
          <p:spPr>
            <a:xfrm>
              <a:off x="0" y="0"/>
              <a:ext cx="1895348" cy="615567"/>
            </a:xfrm>
            <a:custGeom>
              <a:avLst/>
              <a:gdLst/>
              <a:ahLst/>
              <a:cxnLst/>
              <a:rect l="l" t="t" r="r" b="b"/>
              <a:pathLst>
                <a:path w="1895348" h="615567">
                  <a:moveTo>
                    <a:pt x="0" y="0"/>
                  </a:moveTo>
                  <a:lnTo>
                    <a:pt x="1895348" y="0"/>
                  </a:lnTo>
                  <a:lnTo>
                    <a:pt x="1895348" y="615567"/>
                  </a:lnTo>
                  <a:lnTo>
                    <a:pt x="0" y="615567"/>
                  </a:lnTo>
                  <a:close/>
                </a:path>
              </a:pathLst>
            </a:custGeom>
            <a:blipFill>
              <a:blip r:embed="rId3">
                <a:alphaModFix amt="0"/>
              </a:blip>
              <a:stretch>
                <a:fillRect t="-9997" r="-2" b="-9995"/>
              </a:stretch>
            </a:blipFill>
            <a:ln cap="sq">
              <a:noFill/>
              <a:prstDash val="solid"/>
              <a:miter/>
            </a:ln>
          </p:spPr>
        </p:sp>
        <p:sp>
          <p:nvSpPr>
            <p:cNvPr id="12" name="TextBox 12"/>
            <p:cNvSpPr txBox="1"/>
            <p:nvPr/>
          </p:nvSpPr>
          <p:spPr>
            <a:xfrm>
              <a:off x="0" y="0"/>
              <a:ext cx="1895386" cy="615554"/>
            </a:xfrm>
            <a:prstGeom prst="rect">
              <a:avLst/>
            </a:prstGeom>
          </p:spPr>
          <p:txBody>
            <a:bodyPr lIns="50800" tIns="50800" rIns="50800" bIns="50800" rtlCol="0" anchor="t"/>
            <a:lstStyle/>
            <a:p>
              <a:pPr algn="l">
                <a:lnSpc>
                  <a:spcPts val="2160"/>
                </a:lnSpc>
              </a:pPr>
              <a:r>
                <a:rPr lang="en-US" sz="1800">
                  <a:solidFill>
                    <a:srgbClr val="FF0000"/>
                  </a:solidFill>
                  <a:latin typeface="Aptos"/>
                  <a:ea typeface="Aptos"/>
                  <a:cs typeface="Aptos"/>
                  <a:sym typeface="Aptos"/>
                </a:rPr>
                <a:t>Keep logo</a:t>
              </a:r>
            </a:p>
          </p:txBody>
        </p:sp>
      </p:grpSp>
      <p:sp>
        <p:nvSpPr>
          <p:cNvPr id="13" name="AutoShape 13"/>
          <p:cNvSpPr/>
          <p:nvPr/>
        </p:nvSpPr>
        <p:spPr>
          <a:xfrm flipV="1">
            <a:off x="3873408" y="898069"/>
            <a:ext cx="6210281" cy="17755"/>
          </a:xfrm>
          <a:prstGeom prst="line">
            <a:avLst/>
          </a:prstGeom>
          <a:ln w="19050" cap="rnd">
            <a:solidFill>
              <a:srgbClr val="FF0000"/>
            </a:solidFill>
            <a:prstDash val="solid"/>
            <a:headEnd type="none" w="sm" len="sm"/>
            <a:tailEnd type="none" w="sm" len="sm"/>
          </a:ln>
        </p:spPr>
      </p:sp>
      <p:grpSp>
        <p:nvGrpSpPr>
          <p:cNvPr id="14" name="Group 14"/>
          <p:cNvGrpSpPr/>
          <p:nvPr/>
        </p:nvGrpSpPr>
        <p:grpSpPr>
          <a:xfrm>
            <a:off x="965425" y="2154203"/>
            <a:ext cx="8258175" cy="635946"/>
            <a:chOff x="0" y="0"/>
            <a:chExt cx="11010900" cy="847928"/>
          </a:xfrm>
        </p:grpSpPr>
        <p:sp>
          <p:nvSpPr>
            <p:cNvPr id="15" name="Freeform 15"/>
            <p:cNvSpPr/>
            <p:nvPr/>
          </p:nvSpPr>
          <p:spPr>
            <a:xfrm>
              <a:off x="0" y="0"/>
              <a:ext cx="11010900" cy="847979"/>
            </a:xfrm>
            <a:custGeom>
              <a:avLst/>
              <a:gdLst/>
              <a:ahLst/>
              <a:cxnLst/>
              <a:rect l="l" t="t" r="r" b="b"/>
              <a:pathLst>
                <a:path w="11010900" h="847979">
                  <a:moveTo>
                    <a:pt x="0" y="0"/>
                  </a:moveTo>
                  <a:lnTo>
                    <a:pt x="11010900" y="0"/>
                  </a:lnTo>
                  <a:lnTo>
                    <a:pt x="11010900" y="847979"/>
                  </a:lnTo>
                  <a:lnTo>
                    <a:pt x="0" y="847979"/>
                  </a:lnTo>
                  <a:close/>
                </a:path>
              </a:pathLst>
            </a:custGeom>
            <a:blipFill>
              <a:blip r:embed="rId3">
                <a:alphaModFix amt="0"/>
              </a:blip>
              <a:stretch>
                <a:fillRect t="-203013" b="-203007"/>
              </a:stretch>
            </a:blipFill>
            <a:ln w="28575" cap="sq">
              <a:solidFill>
                <a:srgbClr val="FF0000"/>
              </a:solidFill>
              <a:prstDash val="solid"/>
              <a:miter/>
            </a:ln>
          </p:spPr>
        </p:sp>
      </p:grpSp>
      <p:sp>
        <p:nvSpPr>
          <p:cNvPr id="16" name="AutoShape 16"/>
          <p:cNvSpPr/>
          <p:nvPr/>
        </p:nvSpPr>
        <p:spPr>
          <a:xfrm rot="2700000">
            <a:off x="4184399" y="2452878"/>
            <a:ext cx="40415" cy="0"/>
          </a:xfrm>
          <a:prstGeom prst="line">
            <a:avLst/>
          </a:prstGeom>
          <a:ln w="19050" cap="rnd">
            <a:solidFill>
              <a:srgbClr val="156082"/>
            </a:solidFill>
            <a:prstDash val="solid"/>
            <a:headEnd type="none" w="sm" len="sm"/>
            <a:tailEnd type="none" w="sm" len="sm"/>
          </a:ln>
        </p:spPr>
      </p:sp>
      <p:grpSp>
        <p:nvGrpSpPr>
          <p:cNvPr id="17" name="Group 17"/>
          <p:cNvGrpSpPr/>
          <p:nvPr/>
        </p:nvGrpSpPr>
        <p:grpSpPr>
          <a:xfrm>
            <a:off x="10083689" y="2154203"/>
            <a:ext cx="5256343" cy="492751"/>
            <a:chOff x="0" y="0"/>
            <a:chExt cx="7008457" cy="657002"/>
          </a:xfrm>
        </p:grpSpPr>
        <p:sp>
          <p:nvSpPr>
            <p:cNvPr id="18" name="Freeform 18"/>
            <p:cNvSpPr/>
            <p:nvPr/>
          </p:nvSpPr>
          <p:spPr>
            <a:xfrm>
              <a:off x="0" y="0"/>
              <a:ext cx="7008495" cy="657014"/>
            </a:xfrm>
            <a:custGeom>
              <a:avLst/>
              <a:gdLst/>
              <a:ahLst/>
              <a:cxnLst/>
              <a:rect l="l" t="t" r="r" b="b"/>
              <a:pathLst>
                <a:path w="7008495" h="657014">
                  <a:moveTo>
                    <a:pt x="0" y="0"/>
                  </a:moveTo>
                  <a:lnTo>
                    <a:pt x="7008495" y="0"/>
                  </a:lnTo>
                  <a:lnTo>
                    <a:pt x="7008495" y="657014"/>
                  </a:lnTo>
                  <a:lnTo>
                    <a:pt x="0" y="657014"/>
                  </a:lnTo>
                  <a:close/>
                </a:path>
              </a:pathLst>
            </a:custGeom>
            <a:blipFill>
              <a:blip r:embed="rId3">
                <a:alphaModFix amt="0"/>
              </a:blip>
              <a:stretch>
                <a:fillRect t="-161004" b="-154694"/>
              </a:stretch>
            </a:blipFill>
            <a:ln cap="sq">
              <a:noFill/>
              <a:prstDash val="solid"/>
              <a:miter/>
            </a:ln>
          </p:spPr>
        </p:sp>
        <p:sp>
          <p:nvSpPr>
            <p:cNvPr id="19" name="TextBox 19"/>
            <p:cNvSpPr txBox="1"/>
            <p:nvPr/>
          </p:nvSpPr>
          <p:spPr>
            <a:xfrm>
              <a:off x="0" y="-19050"/>
              <a:ext cx="7008457" cy="676052"/>
            </a:xfrm>
            <a:prstGeom prst="rect">
              <a:avLst/>
            </a:prstGeom>
          </p:spPr>
          <p:txBody>
            <a:bodyPr lIns="50800" tIns="50800" rIns="50800" bIns="50800" rtlCol="0" anchor="t"/>
            <a:lstStyle/>
            <a:p>
              <a:pPr algn="l">
                <a:lnSpc>
                  <a:spcPts val="2520"/>
                </a:lnSpc>
              </a:pPr>
              <a:r>
                <a:rPr lang="en-US" sz="2100" dirty="0">
                  <a:solidFill>
                    <a:srgbClr val="000000"/>
                  </a:solidFill>
                  <a:latin typeface="Times New Roman"/>
                  <a:ea typeface="Times New Roman"/>
                  <a:cs typeface="Times New Roman"/>
                  <a:sym typeface="Times New Roman"/>
                </a:rPr>
                <a:t>Cello Square Conference Southeast Asia 2026</a:t>
              </a:r>
            </a:p>
          </p:txBody>
        </p:sp>
      </p:grpSp>
      <p:sp>
        <p:nvSpPr>
          <p:cNvPr id="20" name="AutoShape 20"/>
          <p:cNvSpPr/>
          <p:nvPr/>
        </p:nvSpPr>
        <p:spPr>
          <a:xfrm flipV="1">
            <a:off x="9223600" y="2400578"/>
            <a:ext cx="860088" cy="71597"/>
          </a:xfrm>
          <a:prstGeom prst="line">
            <a:avLst/>
          </a:prstGeom>
          <a:ln w="19050" cap="rnd">
            <a:solidFill>
              <a:srgbClr val="FF0000"/>
            </a:solidFill>
            <a:prstDash val="solid"/>
            <a:headEnd type="none" w="sm" len="sm"/>
            <a:tailEnd type="none" w="sm" len="sm"/>
          </a:ln>
        </p:spPr>
      </p:sp>
      <p:grpSp>
        <p:nvGrpSpPr>
          <p:cNvPr id="21" name="Group 21"/>
          <p:cNvGrpSpPr/>
          <p:nvPr/>
        </p:nvGrpSpPr>
        <p:grpSpPr>
          <a:xfrm>
            <a:off x="2207190" y="2900362"/>
            <a:ext cx="5595833" cy="1057094"/>
            <a:chOff x="0" y="0"/>
            <a:chExt cx="7461110" cy="1409459"/>
          </a:xfrm>
        </p:grpSpPr>
        <p:sp>
          <p:nvSpPr>
            <p:cNvPr id="22" name="Freeform 22"/>
            <p:cNvSpPr/>
            <p:nvPr/>
          </p:nvSpPr>
          <p:spPr>
            <a:xfrm>
              <a:off x="0" y="0"/>
              <a:ext cx="7461123" cy="1409446"/>
            </a:xfrm>
            <a:custGeom>
              <a:avLst/>
              <a:gdLst/>
              <a:ahLst/>
              <a:cxnLst/>
              <a:rect l="l" t="t" r="r" b="b"/>
              <a:pathLst>
                <a:path w="7461123" h="1409446">
                  <a:moveTo>
                    <a:pt x="0" y="0"/>
                  </a:moveTo>
                  <a:lnTo>
                    <a:pt x="7461123" y="0"/>
                  </a:lnTo>
                  <a:lnTo>
                    <a:pt x="7461123" y="1409446"/>
                  </a:lnTo>
                  <a:lnTo>
                    <a:pt x="0" y="1409446"/>
                  </a:lnTo>
                  <a:close/>
                </a:path>
              </a:pathLst>
            </a:custGeom>
            <a:blipFill>
              <a:blip r:embed="rId3">
                <a:alphaModFix amt="0"/>
              </a:blip>
              <a:stretch>
                <a:fillRect t="-53146" b="-53147"/>
              </a:stretch>
            </a:blipFill>
            <a:ln w="28575" cap="sq">
              <a:solidFill>
                <a:srgbClr val="FF0000"/>
              </a:solidFill>
              <a:prstDash val="solid"/>
              <a:miter/>
            </a:ln>
          </p:spPr>
        </p:sp>
      </p:grpSp>
      <p:sp>
        <p:nvSpPr>
          <p:cNvPr id="23" name="AutoShape 23"/>
          <p:cNvSpPr/>
          <p:nvPr/>
        </p:nvSpPr>
        <p:spPr>
          <a:xfrm rot="2700000">
            <a:off x="5426164" y="3296393"/>
            <a:ext cx="40415" cy="0"/>
          </a:xfrm>
          <a:prstGeom prst="line">
            <a:avLst/>
          </a:prstGeom>
          <a:ln w="19050" cap="rnd">
            <a:solidFill>
              <a:srgbClr val="156082"/>
            </a:solidFill>
            <a:prstDash val="solid"/>
            <a:headEnd type="none" w="sm" len="sm"/>
            <a:tailEnd type="none" w="sm" len="sm"/>
          </a:ln>
        </p:spPr>
      </p:sp>
      <p:grpSp>
        <p:nvGrpSpPr>
          <p:cNvPr id="24" name="Group 24"/>
          <p:cNvGrpSpPr/>
          <p:nvPr/>
        </p:nvGrpSpPr>
        <p:grpSpPr>
          <a:xfrm>
            <a:off x="10083689" y="3060387"/>
            <a:ext cx="7945906" cy="519639"/>
            <a:chOff x="0" y="0"/>
            <a:chExt cx="9559221" cy="692852"/>
          </a:xfrm>
        </p:grpSpPr>
        <p:sp>
          <p:nvSpPr>
            <p:cNvPr id="25" name="Freeform 25"/>
            <p:cNvSpPr/>
            <p:nvPr/>
          </p:nvSpPr>
          <p:spPr>
            <a:xfrm>
              <a:off x="0" y="0"/>
              <a:ext cx="9559233" cy="692890"/>
            </a:xfrm>
            <a:custGeom>
              <a:avLst/>
              <a:gdLst/>
              <a:ahLst/>
              <a:cxnLst/>
              <a:rect l="l" t="t" r="r" b="b"/>
              <a:pathLst>
                <a:path w="9559233" h="692890">
                  <a:moveTo>
                    <a:pt x="0" y="0"/>
                  </a:moveTo>
                  <a:lnTo>
                    <a:pt x="9559233" y="0"/>
                  </a:lnTo>
                  <a:lnTo>
                    <a:pt x="9559233" y="692890"/>
                  </a:lnTo>
                  <a:lnTo>
                    <a:pt x="0" y="692890"/>
                  </a:lnTo>
                  <a:close/>
                </a:path>
              </a:pathLst>
            </a:custGeom>
            <a:blipFill>
              <a:blip r:embed="rId3">
                <a:alphaModFix amt="0"/>
              </a:blip>
              <a:stretch>
                <a:fillRect t="-161528" r="11821" b="-212554"/>
              </a:stretch>
            </a:blipFill>
            <a:ln cap="sq">
              <a:noFill/>
              <a:prstDash val="solid"/>
              <a:miter/>
            </a:ln>
          </p:spPr>
        </p:sp>
        <p:sp>
          <p:nvSpPr>
            <p:cNvPr id="26" name="TextBox 26"/>
            <p:cNvSpPr txBox="1"/>
            <p:nvPr/>
          </p:nvSpPr>
          <p:spPr>
            <a:xfrm>
              <a:off x="0" y="-19050"/>
              <a:ext cx="9559221" cy="711902"/>
            </a:xfrm>
            <a:prstGeom prst="rect">
              <a:avLst/>
            </a:prstGeom>
          </p:spPr>
          <p:txBody>
            <a:bodyPr lIns="50800" tIns="50800" rIns="50800" bIns="50800" rtlCol="0" anchor="t"/>
            <a:lstStyle/>
            <a:p>
              <a:pPr>
                <a:lnSpc>
                  <a:spcPts val="2520"/>
                </a:lnSpc>
              </a:pPr>
              <a:r>
                <a:rPr lang="en-US" sz="2100" dirty="0" err="1">
                  <a:solidFill>
                    <a:srgbClr val="000000"/>
                  </a:solidFill>
                  <a:latin typeface="Times New Roman"/>
                  <a:ea typeface="Times New Roman"/>
                  <a:cs typeface="Times New Roman"/>
                  <a:sym typeface="Times New Roman"/>
                </a:rPr>
                <a:t>Nâng</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cao</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tính</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linh</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hoạt</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chuỗi</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cung</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ứng</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Từ</a:t>
              </a:r>
              <a:r>
                <a:rPr lang="en-US" sz="2100" dirty="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nhận</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thức</a:t>
              </a:r>
              <a:r>
                <a:rPr lang="en-US" sz="2100" dirty="0" smtClean="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đến</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hành</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động</a:t>
              </a:r>
              <a:endParaRPr lang="en-US" sz="2100" dirty="0">
                <a:solidFill>
                  <a:srgbClr val="000000"/>
                </a:solidFill>
                <a:latin typeface="Times New Roman"/>
                <a:ea typeface="Times New Roman"/>
                <a:cs typeface="Times New Roman"/>
                <a:sym typeface="Times New Roman"/>
              </a:endParaRPr>
            </a:p>
          </p:txBody>
        </p:sp>
      </p:grpSp>
      <p:sp>
        <p:nvSpPr>
          <p:cNvPr id="27" name="AutoShape 27"/>
          <p:cNvSpPr/>
          <p:nvPr/>
        </p:nvSpPr>
        <p:spPr>
          <a:xfrm flipV="1">
            <a:off x="7803023" y="3320207"/>
            <a:ext cx="2280666" cy="108703"/>
          </a:xfrm>
          <a:prstGeom prst="line">
            <a:avLst/>
          </a:prstGeom>
          <a:ln w="19050" cap="rnd">
            <a:solidFill>
              <a:srgbClr val="FF0000"/>
            </a:solidFill>
            <a:prstDash val="solid"/>
            <a:headEnd type="none" w="sm" len="sm"/>
            <a:tailEnd type="none" w="sm" len="sm"/>
          </a:ln>
        </p:spPr>
      </p:sp>
      <p:sp>
        <p:nvSpPr>
          <p:cNvPr id="28" name="TextBox 28"/>
          <p:cNvSpPr txBox="1"/>
          <p:nvPr/>
        </p:nvSpPr>
        <p:spPr>
          <a:xfrm>
            <a:off x="14000906" y="868815"/>
            <a:ext cx="3972974" cy="819150"/>
          </a:xfrm>
          <a:prstGeom prst="rect">
            <a:avLst/>
          </a:prstGeom>
        </p:spPr>
        <p:txBody>
          <a:bodyPr lIns="0" tIns="0" rIns="0" bIns="0" rtlCol="0" anchor="t">
            <a:spAutoFit/>
          </a:bodyPr>
          <a:lstStyle/>
          <a:p>
            <a:pPr marL="388620" lvl="1" indent="-194310" algn="l">
              <a:lnSpc>
                <a:spcPts val="2160"/>
              </a:lnSpc>
              <a:buFont typeface="Arial"/>
              <a:buChar char="•"/>
            </a:pPr>
            <a:r>
              <a:rPr lang="en-US" sz="1800">
                <a:solidFill>
                  <a:srgbClr val="FF0000"/>
                </a:solidFill>
                <a:latin typeface="Arimo"/>
                <a:ea typeface="Arimo"/>
                <a:cs typeface="Arimo"/>
                <a:sym typeface="Arimo"/>
              </a:rPr>
              <a:t>To be reflected on Vietnamese site</a:t>
            </a:r>
          </a:p>
          <a:p>
            <a:pPr marL="388620" lvl="1" indent="-194310" algn="l">
              <a:lnSpc>
                <a:spcPts val="2160"/>
              </a:lnSpc>
              <a:buFont typeface="Arial"/>
              <a:buChar char="•"/>
            </a:pPr>
            <a:r>
              <a:rPr lang="en-US" sz="1800">
                <a:solidFill>
                  <a:srgbClr val="FF0000"/>
                </a:solidFill>
                <a:latin typeface="Arimo"/>
                <a:ea typeface="Arimo"/>
                <a:cs typeface="Arimo"/>
                <a:sym typeface="Arimo"/>
              </a:rPr>
              <a:t>Keep font size as it is</a:t>
            </a:r>
          </a:p>
          <a:p>
            <a:pPr marL="388620" lvl="1" indent="-194310" algn="l">
              <a:lnSpc>
                <a:spcPts val="2160"/>
              </a:lnSpc>
              <a:buFont typeface="Arial"/>
              <a:buChar char="•"/>
            </a:pPr>
            <a:r>
              <a:rPr lang="en-US" sz="1800">
                <a:solidFill>
                  <a:srgbClr val="FF0000"/>
                </a:solidFill>
                <a:latin typeface="Arimo"/>
                <a:ea typeface="Arimo"/>
                <a:cs typeface="Arimo"/>
                <a:sym typeface="Arimo"/>
              </a:rPr>
              <a:t>Center alignment</a:t>
            </a:r>
          </a:p>
        </p:txBody>
      </p:sp>
      <p:grpSp>
        <p:nvGrpSpPr>
          <p:cNvPr id="29" name="Group 29"/>
          <p:cNvGrpSpPr/>
          <p:nvPr/>
        </p:nvGrpSpPr>
        <p:grpSpPr>
          <a:xfrm>
            <a:off x="1683887" y="3987146"/>
            <a:ext cx="6723288" cy="578091"/>
            <a:chOff x="0" y="0"/>
            <a:chExt cx="8964384" cy="770788"/>
          </a:xfrm>
        </p:grpSpPr>
        <p:sp>
          <p:nvSpPr>
            <p:cNvPr id="30" name="Freeform 30"/>
            <p:cNvSpPr/>
            <p:nvPr/>
          </p:nvSpPr>
          <p:spPr>
            <a:xfrm>
              <a:off x="0" y="0"/>
              <a:ext cx="8964422" cy="770763"/>
            </a:xfrm>
            <a:custGeom>
              <a:avLst/>
              <a:gdLst/>
              <a:ahLst/>
              <a:cxnLst/>
              <a:rect l="l" t="t" r="r" b="b"/>
              <a:pathLst>
                <a:path w="8964422" h="770763">
                  <a:moveTo>
                    <a:pt x="0" y="0"/>
                  </a:moveTo>
                  <a:lnTo>
                    <a:pt x="8964422" y="0"/>
                  </a:lnTo>
                  <a:lnTo>
                    <a:pt x="8964422" y="770763"/>
                  </a:lnTo>
                  <a:lnTo>
                    <a:pt x="0" y="770763"/>
                  </a:lnTo>
                  <a:close/>
                </a:path>
              </a:pathLst>
            </a:custGeom>
            <a:blipFill>
              <a:blip r:embed="rId3">
                <a:alphaModFix amt="0"/>
              </a:blip>
              <a:stretch>
                <a:fillRect t="-176619" b="-176623"/>
              </a:stretch>
            </a:blipFill>
            <a:ln w="28575" cap="sq">
              <a:solidFill>
                <a:srgbClr val="FF0000"/>
              </a:solidFill>
              <a:prstDash val="solid"/>
              <a:miter/>
            </a:ln>
          </p:spPr>
        </p:sp>
      </p:grpSp>
      <p:sp>
        <p:nvSpPr>
          <p:cNvPr id="31" name="AutoShape 31"/>
          <p:cNvSpPr/>
          <p:nvPr/>
        </p:nvSpPr>
        <p:spPr>
          <a:xfrm rot="2700000">
            <a:off x="4902860" y="4285821"/>
            <a:ext cx="40415" cy="0"/>
          </a:xfrm>
          <a:prstGeom prst="line">
            <a:avLst/>
          </a:prstGeom>
          <a:ln w="19050" cap="rnd">
            <a:solidFill>
              <a:srgbClr val="156082"/>
            </a:solidFill>
            <a:prstDash val="solid"/>
            <a:headEnd type="none" w="sm" len="sm"/>
            <a:tailEnd type="none" w="sm" len="sm"/>
          </a:ln>
        </p:spPr>
      </p:sp>
      <p:grpSp>
        <p:nvGrpSpPr>
          <p:cNvPr id="32" name="Group 32"/>
          <p:cNvGrpSpPr/>
          <p:nvPr/>
        </p:nvGrpSpPr>
        <p:grpSpPr>
          <a:xfrm>
            <a:off x="10083689" y="3872653"/>
            <a:ext cx="8204311" cy="807076"/>
            <a:chOff x="0" y="0"/>
            <a:chExt cx="10939081" cy="1076102"/>
          </a:xfrm>
        </p:grpSpPr>
        <p:sp>
          <p:nvSpPr>
            <p:cNvPr id="33" name="Freeform 33"/>
            <p:cNvSpPr/>
            <p:nvPr/>
          </p:nvSpPr>
          <p:spPr>
            <a:xfrm>
              <a:off x="0" y="0"/>
              <a:ext cx="10939119" cy="1076114"/>
            </a:xfrm>
            <a:custGeom>
              <a:avLst/>
              <a:gdLst/>
              <a:ahLst/>
              <a:cxnLst/>
              <a:rect l="l" t="t" r="r" b="b"/>
              <a:pathLst>
                <a:path w="10939119" h="1076114">
                  <a:moveTo>
                    <a:pt x="0" y="0"/>
                  </a:moveTo>
                  <a:lnTo>
                    <a:pt x="10939119" y="0"/>
                  </a:lnTo>
                  <a:lnTo>
                    <a:pt x="10939119" y="1076114"/>
                  </a:lnTo>
                  <a:lnTo>
                    <a:pt x="0" y="1076114"/>
                  </a:lnTo>
                  <a:close/>
                </a:path>
              </a:pathLst>
            </a:custGeom>
            <a:blipFill>
              <a:blip r:embed="rId3">
                <a:alphaModFix amt="0"/>
              </a:blip>
              <a:stretch>
                <a:fillRect t="-158721" r="5427" b="-115923"/>
              </a:stretch>
            </a:blipFill>
            <a:ln cap="sq">
              <a:noFill/>
              <a:prstDash val="solid"/>
              <a:miter/>
            </a:ln>
          </p:spPr>
        </p:sp>
        <p:sp>
          <p:nvSpPr>
            <p:cNvPr id="34" name="TextBox 34"/>
            <p:cNvSpPr txBox="1"/>
            <p:nvPr/>
          </p:nvSpPr>
          <p:spPr>
            <a:xfrm>
              <a:off x="0" y="-19050"/>
              <a:ext cx="10939081" cy="1095152"/>
            </a:xfrm>
            <a:prstGeom prst="rect">
              <a:avLst/>
            </a:prstGeom>
          </p:spPr>
          <p:txBody>
            <a:bodyPr lIns="50800" tIns="50800" rIns="50800" bIns="50800" rtlCol="0" anchor="t"/>
            <a:lstStyle/>
            <a:p>
              <a:pPr algn="l">
                <a:lnSpc>
                  <a:spcPts val="2520"/>
                </a:lnSpc>
              </a:pPr>
              <a:r>
                <a:rPr lang="en-US" sz="2100" dirty="0">
                  <a:solidFill>
                    <a:srgbClr val="000000"/>
                  </a:solidFill>
                  <a:latin typeface="Times New Roman"/>
                  <a:ea typeface="Times New Roman"/>
                  <a:cs typeface="Times New Roman"/>
                  <a:sym typeface="Times New Roman"/>
                </a:rPr>
                <a:t>24 July (Friday) 13:30 ~ 17:00 (local time)</a:t>
              </a:r>
            </a:p>
            <a:p>
              <a:pPr>
                <a:lnSpc>
                  <a:spcPts val="2520"/>
                </a:lnSpc>
              </a:pPr>
              <a:r>
                <a:rPr lang="en-US" sz="2100" dirty="0">
                  <a:solidFill>
                    <a:srgbClr val="000000"/>
                  </a:solidFill>
                  <a:latin typeface="Times New Roman"/>
                  <a:ea typeface="Times New Roman"/>
                  <a:cs typeface="Times New Roman"/>
                  <a:sym typeface="Times New Roman"/>
                </a:rPr>
                <a:t>InterContinental Hanoi Landmark 72 | 5F Ballroom 1 | </a:t>
              </a:r>
              <a:r>
                <a:rPr lang="en-US" sz="2100" dirty="0" err="1" smtClean="0">
                  <a:solidFill>
                    <a:srgbClr val="000000"/>
                  </a:solidFill>
                  <a:latin typeface="Times New Roman"/>
                  <a:ea typeface="Times New Roman"/>
                  <a:cs typeface="Times New Roman"/>
                  <a:sym typeface="Times New Roman"/>
                </a:rPr>
                <a:t>Hà</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Nội</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Việt</a:t>
              </a:r>
              <a:r>
                <a:rPr lang="en-US" sz="2100" dirty="0" smtClean="0">
                  <a:solidFill>
                    <a:srgbClr val="000000"/>
                  </a:solidFill>
                  <a:latin typeface="Times New Roman"/>
                  <a:ea typeface="Times New Roman"/>
                  <a:cs typeface="Times New Roman"/>
                  <a:sym typeface="Times New Roman"/>
                </a:rPr>
                <a:t> Nam</a:t>
              </a:r>
              <a:endParaRPr lang="en-US" sz="2100" dirty="0">
                <a:solidFill>
                  <a:srgbClr val="000000"/>
                </a:solidFill>
                <a:latin typeface="Times New Roman"/>
                <a:ea typeface="Times New Roman"/>
                <a:cs typeface="Times New Roman"/>
                <a:sym typeface="Times New Roman"/>
              </a:endParaRPr>
            </a:p>
          </p:txBody>
        </p:sp>
      </p:grpSp>
      <p:sp>
        <p:nvSpPr>
          <p:cNvPr id="35" name="AutoShape 35"/>
          <p:cNvSpPr/>
          <p:nvPr/>
        </p:nvSpPr>
        <p:spPr>
          <a:xfrm>
            <a:off x="8407175" y="4276192"/>
            <a:ext cx="1676514" cy="0"/>
          </a:xfrm>
          <a:prstGeom prst="line">
            <a:avLst/>
          </a:prstGeom>
          <a:ln w="19050" cap="rnd">
            <a:solidFill>
              <a:srgbClr val="FF0000"/>
            </a:solidFill>
            <a:prstDash val="solid"/>
            <a:headEnd type="none" w="sm" len="sm"/>
            <a:tailEnd type="none" w="sm" len="sm"/>
          </a:ln>
        </p:spPr>
      </p:sp>
      <p:grpSp>
        <p:nvGrpSpPr>
          <p:cNvPr id="36" name="Group 36"/>
          <p:cNvGrpSpPr/>
          <p:nvPr/>
        </p:nvGrpSpPr>
        <p:grpSpPr>
          <a:xfrm>
            <a:off x="1087888" y="5762244"/>
            <a:ext cx="8233686" cy="3975706"/>
            <a:chOff x="0" y="0"/>
            <a:chExt cx="10978248" cy="5300942"/>
          </a:xfrm>
        </p:grpSpPr>
        <p:sp>
          <p:nvSpPr>
            <p:cNvPr id="37" name="Freeform 37"/>
            <p:cNvSpPr/>
            <p:nvPr/>
          </p:nvSpPr>
          <p:spPr>
            <a:xfrm>
              <a:off x="0" y="0"/>
              <a:ext cx="10978261" cy="5300980"/>
            </a:xfrm>
            <a:custGeom>
              <a:avLst/>
              <a:gdLst/>
              <a:ahLst/>
              <a:cxnLst/>
              <a:rect l="l" t="t" r="r" b="b"/>
              <a:pathLst>
                <a:path w="10978261" h="5300980">
                  <a:moveTo>
                    <a:pt x="0" y="0"/>
                  </a:moveTo>
                  <a:lnTo>
                    <a:pt x="10978261" y="0"/>
                  </a:lnTo>
                  <a:lnTo>
                    <a:pt x="10978261" y="5300980"/>
                  </a:lnTo>
                  <a:lnTo>
                    <a:pt x="0" y="5300980"/>
                  </a:lnTo>
                  <a:close/>
                </a:path>
              </a:pathLst>
            </a:custGeom>
            <a:blipFill>
              <a:blip r:embed="rId3">
                <a:alphaModFix amt="0"/>
              </a:blip>
              <a:stretch>
                <a:fillRect l="-11952" r="-11952"/>
              </a:stretch>
            </a:blipFill>
            <a:ln w="28575" cap="sq">
              <a:solidFill>
                <a:srgbClr val="FF0000"/>
              </a:solidFill>
              <a:prstDash val="solid"/>
              <a:miter/>
            </a:ln>
          </p:spPr>
        </p:sp>
      </p:grpSp>
      <p:sp>
        <p:nvSpPr>
          <p:cNvPr id="38" name="AutoShape 38"/>
          <p:cNvSpPr/>
          <p:nvPr/>
        </p:nvSpPr>
        <p:spPr>
          <a:xfrm rot="2700000">
            <a:off x="4306862" y="7256726"/>
            <a:ext cx="40415" cy="0"/>
          </a:xfrm>
          <a:prstGeom prst="line">
            <a:avLst/>
          </a:prstGeom>
          <a:ln w="19050" cap="rnd">
            <a:solidFill>
              <a:srgbClr val="156082"/>
            </a:solidFill>
            <a:prstDash val="solid"/>
            <a:headEnd type="none" w="sm" len="sm"/>
            <a:tailEnd type="none" w="sm" len="sm"/>
          </a:ln>
        </p:spPr>
      </p:sp>
      <p:grpSp>
        <p:nvGrpSpPr>
          <p:cNvPr id="39" name="Group 39"/>
          <p:cNvGrpSpPr/>
          <p:nvPr/>
        </p:nvGrpSpPr>
        <p:grpSpPr>
          <a:xfrm>
            <a:off x="5257800" y="4152900"/>
            <a:ext cx="12771838" cy="5410200"/>
            <a:chOff x="-6434519" y="-875396"/>
            <a:chExt cx="17029118" cy="5838201"/>
          </a:xfrm>
        </p:grpSpPr>
        <p:sp>
          <p:nvSpPr>
            <p:cNvPr id="40" name="Freeform 40"/>
            <p:cNvSpPr/>
            <p:nvPr/>
          </p:nvSpPr>
          <p:spPr>
            <a:xfrm>
              <a:off x="-6434519" y="-875396"/>
              <a:ext cx="10594542" cy="4962765"/>
            </a:xfrm>
            <a:custGeom>
              <a:avLst/>
              <a:gdLst/>
              <a:ahLst/>
              <a:cxnLst/>
              <a:rect l="l" t="t" r="r" b="b"/>
              <a:pathLst>
                <a:path w="10594542" h="4962765">
                  <a:moveTo>
                    <a:pt x="0" y="0"/>
                  </a:moveTo>
                  <a:lnTo>
                    <a:pt x="10594542" y="0"/>
                  </a:lnTo>
                  <a:lnTo>
                    <a:pt x="10594542" y="4962765"/>
                  </a:lnTo>
                  <a:lnTo>
                    <a:pt x="0" y="4962765"/>
                  </a:lnTo>
                  <a:close/>
                </a:path>
              </a:pathLst>
            </a:custGeom>
            <a:blipFill>
              <a:blip r:embed="rId3">
                <a:alphaModFix amt="0"/>
              </a:blip>
              <a:stretch>
                <a:fillRect l="-30651" r="-19930" b="-25274"/>
              </a:stretch>
            </a:blipFill>
            <a:ln cap="sq">
              <a:noFill/>
              <a:prstDash val="solid"/>
              <a:miter/>
            </a:ln>
          </p:spPr>
        </p:sp>
        <p:sp>
          <p:nvSpPr>
            <p:cNvPr id="41" name="TextBox 41"/>
            <p:cNvSpPr txBox="1"/>
            <p:nvPr/>
          </p:nvSpPr>
          <p:spPr>
            <a:xfrm>
              <a:off x="0" y="-19050"/>
              <a:ext cx="10594599" cy="4981855"/>
            </a:xfrm>
            <a:prstGeom prst="rect">
              <a:avLst/>
            </a:prstGeom>
          </p:spPr>
          <p:txBody>
            <a:bodyPr lIns="50800" tIns="50800" rIns="50800" bIns="50800" rtlCol="0" anchor="t"/>
            <a:lstStyle/>
            <a:p>
              <a:pPr>
                <a:lnSpc>
                  <a:spcPts val="2520"/>
                </a:lnSpc>
              </a:pPr>
              <a:r>
                <a:rPr lang="vi-VN" sz="2100" dirty="0">
                  <a:solidFill>
                    <a:srgbClr val="000000"/>
                  </a:solidFill>
                  <a:latin typeface="Times New Roman"/>
                  <a:ea typeface="Times New Roman"/>
                  <a:cs typeface="Times New Roman"/>
                  <a:sym typeface="Times New Roman"/>
                </a:rPr>
                <a:t>Chuỗi cung ứng toàn cầu đang thay đổi nhanh chóng. Để duy trì lợi thế cạnh tranh, doanh nghiệp cần vượt ra khỏi khả năng nắm bắt thông tin ở mức cơ bản, hướng tới năng lực ra quyết định linh hoạt, </a:t>
              </a:r>
              <a:r>
                <a:rPr lang="vi-VN" sz="2100" dirty="0" smtClean="0">
                  <a:solidFill>
                    <a:srgbClr val="000000"/>
                  </a:solidFill>
                  <a:latin typeface="Times New Roman"/>
                  <a:ea typeface="Times New Roman"/>
                  <a:cs typeface="Times New Roman"/>
                  <a:sym typeface="Times New Roman"/>
                </a:rPr>
                <a:t>ứng </a:t>
              </a:r>
              <a:r>
                <a:rPr lang="vi-VN" sz="2100" dirty="0">
                  <a:solidFill>
                    <a:srgbClr val="000000"/>
                  </a:solidFill>
                  <a:latin typeface="Times New Roman"/>
                  <a:ea typeface="Times New Roman"/>
                  <a:cs typeface="Times New Roman"/>
                  <a:sym typeface="Times New Roman"/>
                </a:rPr>
                <a:t>dụng AI và </a:t>
              </a:r>
              <a:r>
                <a:rPr lang="en-US" sz="2100" dirty="0" err="1" smtClean="0">
                  <a:solidFill>
                    <a:srgbClr val="000000"/>
                  </a:solidFill>
                  <a:latin typeface="Times New Roman"/>
                  <a:ea typeface="Times New Roman"/>
                  <a:cs typeface="Times New Roman"/>
                  <a:sym typeface="Times New Roman"/>
                </a:rPr>
                <a:t>tự</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động</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hóa</a:t>
              </a:r>
              <a:r>
                <a:rPr lang="vi-VN" sz="2100" dirty="0" smtClean="0">
                  <a:solidFill>
                    <a:srgbClr val="000000"/>
                  </a:solidFill>
                  <a:latin typeface="Times New Roman"/>
                  <a:ea typeface="Times New Roman"/>
                  <a:cs typeface="Times New Roman"/>
                  <a:sym typeface="Times New Roman"/>
                </a:rPr>
                <a:t>.</a:t>
              </a:r>
              <a:endParaRPr lang="en-US" sz="2100" dirty="0" smtClean="0">
                <a:solidFill>
                  <a:srgbClr val="000000"/>
                </a:solidFill>
                <a:latin typeface="Times New Roman"/>
                <a:ea typeface="Times New Roman"/>
                <a:cs typeface="Times New Roman"/>
                <a:sym typeface="Times New Roman"/>
              </a:endParaRPr>
            </a:p>
            <a:p>
              <a:pPr>
                <a:lnSpc>
                  <a:spcPts val="2520"/>
                </a:lnSpc>
              </a:pPr>
              <a:endParaRPr lang="en-US" sz="2100" dirty="0" smtClean="0">
                <a:solidFill>
                  <a:srgbClr val="000000"/>
                </a:solidFill>
                <a:latin typeface="Times New Roman"/>
                <a:ea typeface="Times New Roman"/>
                <a:cs typeface="Times New Roman"/>
                <a:sym typeface="Times New Roman"/>
              </a:endParaRPr>
            </a:p>
            <a:p>
              <a:pPr>
                <a:lnSpc>
                  <a:spcPts val="2520"/>
                </a:lnSpc>
              </a:pPr>
              <a:r>
                <a:rPr lang="vi-VN" sz="2100" dirty="0">
                  <a:solidFill>
                    <a:srgbClr val="000000"/>
                  </a:solidFill>
                  <a:latin typeface="Times New Roman"/>
                  <a:ea typeface="Times New Roman"/>
                  <a:cs typeface="Times New Roman"/>
                  <a:sym typeface="Times New Roman"/>
                </a:rPr>
                <a:t>Trở lại Hà Nội lần thứ tư, Cello Square Conference 2026 quy tụ các lãnh đạo </a:t>
              </a:r>
              <a:r>
                <a:rPr lang="vi-VN" sz="2100" dirty="0" smtClean="0">
                  <a:solidFill>
                    <a:srgbClr val="000000"/>
                  </a:solidFill>
                  <a:latin typeface="Times New Roman"/>
                  <a:ea typeface="Times New Roman"/>
                  <a:cs typeface="Times New Roman"/>
                  <a:sym typeface="Times New Roman"/>
                </a:rPr>
                <a:t>và </a:t>
              </a:r>
              <a:r>
                <a:rPr lang="vi-VN" sz="2100" dirty="0">
                  <a:solidFill>
                    <a:srgbClr val="000000"/>
                  </a:solidFill>
                  <a:latin typeface="Times New Roman"/>
                  <a:ea typeface="Times New Roman"/>
                  <a:cs typeface="Times New Roman"/>
                  <a:sym typeface="Times New Roman"/>
                </a:rPr>
                <a:t>chuyên gia đầu ngành nhằm cùng thảo luận về các xu hướng thị trường mới nhất, </a:t>
              </a:r>
              <a:r>
                <a:rPr lang="en-US" sz="2100" dirty="0" err="1" smtClean="0">
                  <a:solidFill>
                    <a:srgbClr val="000000"/>
                  </a:solidFill>
                  <a:latin typeface="Times New Roman"/>
                  <a:ea typeface="Times New Roman"/>
                  <a:cs typeface="Times New Roman"/>
                  <a:sym typeface="Times New Roman"/>
                </a:rPr>
                <a:t>ứng</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dụng</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tự</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động</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hóa</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trong</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vận</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hành</a:t>
              </a:r>
              <a:r>
                <a:rPr lang="vi-VN" sz="2100" dirty="0" smtClean="0">
                  <a:solidFill>
                    <a:srgbClr val="000000"/>
                  </a:solidFill>
                  <a:latin typeface="Times New Roman"/>
                  <a:ea typeface="Times New Roman"/>
                  <a:cs typeface="Times New Roman"/>
                  <a:sym typeface="Times New Roman"/>
                </a:rPr>
                <a:t> </a:t>
              </a:r>
              <a:r>
                <a:rPr lang="vi-VN" sz="2100" dirty="0">
                  <a:solidFill>
                    <a:srgbClr val="000000"/>
                  </a:solidFill>
                  <a:latin typeface="Times New Roman"/>
                  <a:ea typeface="Times New Roman"/>
                  <a:cs typeface="Times New Roman"/>
                  <a:sym typeface="Times New Roman"/>
                </a:rPr>
                <a:t>và các đổi mới trong lĩnh vực logistics số</a:t>
              </a:r>
              <a:r>
                <a:rPr lang="vi-VN" sz="2100" dirty="0" smtClean="0">
                  <a:solidFill>
                    <a:srgbClr val="000000"/>
                  </a:solidFill>
                  <a:latin typeface="Times New Roman"/>
                  <a:ea typeface="Times New Roman"/>
                  <a:cs typeface="Times New Roman"/>
                  <a:sym typeface="Times New Roman"/>
                </a:rPr>
                <a:t>.</a:t>
              </a:r>
              <a:endParaRPr lang="en-US" sz="2100" dirty="0" smtClean="0">
                <a:solidFill>
                  <a:srgbClr val="000000"/>
                </a:solidFill>
                <a:latin typeface="Times New Roman"/>
                <a:ea typeface="Times New Roman"/>
                <a:cs typeface="Times New Roman"/>
                <a:sym typeface="Times New Roman"/>
              </a:endParaRPr>
            </a:p>
            <a:p>
              <a:pPr>
                <a:lnSpc>
                  <a:spcPts val="2520"/>
                </a:lnSpc>
              </a:pPr>
              <a:endParaRPr lang="en-US" sz="2100" dirty="0" smtClean="0">
                <a:solidFill>
                  <a:srgbClr val="000000"/>
                </a:solidFill>
                <a:latin typeface="Times New Roman"/>
                <a:ea typeface="Times New Roman"/>
                <a:cs typeface="Times New Roman"/>
                <a:sym typeface="Times New Roman"/>
              </a:endParaRPr>
            </a:p>
            <a:p>
              <a:pPr>
                <a:lnSpc>
                  <a:spcPts val="2520"/>
                </a:lnSpc>
              </a:pPr>
              <a:r>
                <a:rPr lang="vi-VN" sz="2100" dirty="0">
                  <a:solidFill>
                    <a:srgbClr val="000000"/>
                  </a:solidFill>
                  <a:latin typeface="Times New Roman"/>
                  <a:ea typeface="Times New Roman"/>
                  <a:cs typeface="Times New Roman"/>
                  <a:sym typeface="Times New Roman"/>
                </a:rPr>
                <a:t>Quý vị được chào đón tham dự tại InterContinental Hanoi Landmark 72 để tiếp cận những insight thực tiễn về tương lai của logistics và đổi mới chuỗi cung ứng, đồng thời chuyển hóa các insight này thành những hành động cụ thể, có thể áp dụng ngay vào thực tiễn.</a:t>
              </a:r>
              <a:endParaRPr lang="en-US" sz="2100" dirty="0">
                <a:solidFill>
                  <a:srgbClr val="000000"/>
                </a:solidFill>
                <a:latin typeface="Times New Roman"/>
                <a:ea typeface="Times New Roman"/>
                <a:cs typeface="Times New Roman"/>
                <a:sym typeface="Times New Roman"/>
              </a:endParaRPr>
            </a:p>
          </p:txBody>
        </p:sp>
      </p:grpSp>
      <p:sp>
        <p:nvSpPr>
          <p:cNvPr id="42" name="AutoShape 42"/>
          <p:cNvSpPr/>
          <p:nvPr/>
        </p:nvSpPr>
        <p:spPr>
          <a:xfrm flipV="1">
            <a:off x="9321575" y="6825172"/>
            <a:ext cx="762114" cy="924926"/>
          </a:xfrm>
          <a:prstGeom prst="line">
            <a:avLst/>
          </a:prstGeom>
          <a:ln w="19050" cap="rnd">
            <a:solidFill>
              <a:srgbClr val="FF0000"/>
            </a:solidFill>
            <a:prstDash val="solid"/>
            <a:headEnd type="none" w="sm" len="sm"/>
            <a:tailEnd type="none" w="sm" len="sm"/>
          </a:ln>
        </p:spPr>
      </p:sp>
      <p:sp>
        <p:nvSpPr>
          <p:cNvPr id="43" name="TextBox 43"/>
          <p:cNvSpPr txBox="1"/>
          <p:nvPr/>
        </p:nvSpPr>
        <p:spPr>
          <a:xfrm>
            <a:off x="15987393" y="368276"/>
            <a:ext cx="2300607" cy="409575"/>
          </a:xfrm>
          <a:prstGeom prst="rect">
            <a:avLst/>
          </a:prstGeom>
        </p:spPr>
        <p:txBody>
          <a:bodyPr lIns="0" tIns="0" rIns="0" bIns="0" rtlCol="0" anchor="t">
            <a:spAutoFit/>
          </a:bodyPr>
          <a:lstStyle/>
          <a:p>
            <a:pPr algn="l">
              <a:lnSpc>
                <a:spcPts val="3240"/>
              </a:lnSpc>
            </a:pPr>
            <a:r>
              <a:rPr lang="en-US" sz="2700" b="1">
                <a:solidFill>
                  <a:srgbClr val="000000"/>
                </a:solidFill>
                <a:latin typeface="Aptos Bold"/>
                <a:ea typeface="Aptos Bold"/>
                <a:cs typeface="Aptos Bold"/>
                <a:sym typeface="Aptos Bold"/>
              </a:rPr>
              <a:t>Vietnamese</a:t>
            </a:r>
          </a:p>
        </p:txBody>
      </p:sp>
    </p:spTree>
    <p:extLst>
      <p:ext uri="{BB962C8B-B14F-4D97-AF65-F5344CB8AC3E}">
        <p14:creationId xmlns:p14="http://schemas.microsoft.com/office/powerpoint/2010/main" val="998794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4774" y="559670"/>
            <a:ext cx="8607533" cy="9167651"/>
            <a:chOff x="0" y="0"/>
            <a:chExt cx="11476711" cy="12223534"/>
          </a:xfrm>
        </p:grpSpPr>
        <p:sp>
          <p:nvSpPr>
            <p:cNvPr id="3" name="Freeform 3"/>
            <p:cNvSpPr/>
            <p:nvPr/>
          </p:nvSpPr>
          <p:spPr>
            <a:xfrm>
              <a:off x="0" y="0"/>
              <a:ext cx="11476736" cy="12223496"/>
            </a:xfrm>
            <a:custGeom>
              <a:avLst/>
              <a:gdLst/>
              <a:ahLst/>
              <a:cxnLst/>
              <a:rect l="l" t="t" r="r" b="b"/>
              <a:pathLst>
                <a:path w="11476736" h="12223496">
                  <a:moveTo>
                    <a:pt x="0" y="0"/>
                  </a:moveTo>
                  <a:lnTo>
                    <a:pt x="11476736" y="0"/>
                  </a:lnTo>
                  <a:lnTo>
                    <a:pt x="11476736" y="12223496"/>
                  </a:lnTo>
                  <a:lnTo>
                    <a:pt x="0" y="12223496"/>
                  </a:lnTo>
                  <a:lnTo>
                    <a:pt x="0" y="0"/>
                  </a:lnTo>
                  <a:close/>
                </a:path>
              </a:pathLst>
            </a:custGeom>
            <a:blipFill>
              <a:blip r:embed="rId3"/>
              <a:stretch>
                <a:fillRect/>
              </a:stretch>
            </a:blipFill>
          </p:spPr>
        </p:sp>
      </p:grpSp>
      <p:graphicFrame>
        <p:nvGraphicFramePr>
          <p:cNvPr id="4" name="Table 4"/>
          <p:cNvGraphicFramePr>
            <a:graphicFrameLocks noGrp="1"/>
          </p:cNvGraphicFramePr>
          <p:nvPr>
            <p:extLst>
              <p:ext uri="{D42A27DB-BD31-4B8C-83A1-F6EECF244321}">
                <p14:modId xmlns:p14="http://schemas.microsoft.com/office/powerpoint/2010/main" val="2847065940"/>
              </p:ext>
            </p:extLst>
          </p:nvPr>
        </p:nvGraphicFramePr>
        <p:xfrm>
          <a:off x="9413405" y="1618567"/>
          <a:ext cx="8270719" cy="7493715"/>
        </p:xfrm>
        <a:graphic>
          <a:graphicData uri="http://schemas.openxmlformats.org/drawingml/2006/table">
            <a:tbl>
              <a:tblPr/>
              <a:tblGrid>
                <a:gridCol w="1699696">
                  <a:extLst>
                    <a:ext uri="{9D8B030D-6E8A-4147-A177-3AD203B41FA5}">
                      <a16:colId xmlns:a16="http://schemas.microsoft.com/office/drawing/2014/main" val="20000"/>
                    </a:ext>
                  </a:extLst>
                </a:gridCol>
                <a:gridCol w="6571023">
                  <a:extLst>
                    <a:ext uri="{9D8B030D-6E8A-4147-A177-3AD203B41FA5}">
                      <a16:colId xmlns:a16="http://schemas.microsoft.com/office/drawing/2014/main" val="20001"/>
                    </a:ext>
                  </a:extLst>
                </a:gridCol>
              </a:tblGrid>
              <a:tr h="523855">
                <a:tc>
                  <a:txBody>
                    <a:bodyPr/>
                    <a:lstStyle/>
                    <a:p>
                      <a:pPr algn="ctr">
                        <a:lnSpc>
                          <a:spcPts val="2160"/>
                        </a:lnSpc>
                        <a:defRPr/>
                      </a:pPr>
                      <a:r>
                        <a:rPr lang="en-US" sz="1800" dirty="0" err="1" smtClean="0">
                          <a:solidFill>
                            <a:srgbClr val="000000"/>
                          </a:solidFill>
                          <a:latin typeface="Times New Roman"/>
                          <a:cs typeface="Times New Roman"/>
                          <a:sym typeface="Times New Roman"/>
                        </a:rPr>
                        <a:t>Thời</a:t>
                      </a:r>
                      <a:r>
                        <a:rPr lang="en-US" sz="1800" baseline="0" dirty="0" smtClean="0">
                          <a:solidFill>
                            <a:srgbClr val="000000"/>
                          </a:solidFill>
                          <a:latin typeface="Times New Roman"/>
                          <a:cs typeface="Times New Roman"/>
                          <a:sym typeface="Times New Roman"/>
                        </a:rPr>
                        <a:t> </a:t>
                      </a:r>
                      <a:r>
                        <a:rPr lang="en-US" sz="1800" baseline="0" dirty="0" err="1" smtClean="0">
                          <a:solidFill>
                            <a:srgbClr val="000000"/>
                          </a:solidFill>
                          <a:latin typeface="Times New Roman"/>
                          <a:cs typeface="Times New Roman"/>
                          <a:sym typeface="Times New Roman"/>
                        </a:rPr>
                        <a:t>gian</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err="1" smtClean="0">
                          <a:solidFill>
                            <a:srgbClr val="000000"/>
                          </a:solidFill>
                          <a:latin typeface="Times New Roman"/>
                          <a:ea typeface="Times New Roman"/>
                          <a:cs typeface="Times New Roman"/>
                          <a:sym typeface="Times New Roman"/>
                        </a:rPr>
                        <a:t>Nội</a:t>
                      </a:r>
                      <a:r>
                        <a:rPr lang="en-US" sz="1800" baseline="0" dirty="0" smtClean="0">
                          <a:solidFill>
                            <a:srgbClr val="000000"/>
                          </a:solidFill>
                          <a:latin typeface="Times New Roman"/>
                          <a:ea typeface="Times New Roman"/>
                          <a:cs typeface="Times New Roman"/>
                          <a:sym typeface="Times New Roman"/>
                        </a:rPr>
                        <a:t> dung </a:t>
                      </a:r>
                      <a:r>
                        <a:rPr lang="en-US" sz="1800" baseline="0" dirty="0" err="1" smtClean="0">
                          <a:solidFill>
                            <a:srgbClr val="000000"/>
                          </a:solidFill>
                          <a:latin typeface="Times New Roman"/>
                          <a:ea typeface="Times New Roman"/>
                          <a:cs typeface="Times New Roman"/>
                          <a:sym typeface="Times New Roman"/>
                        </a:rPr>
                        <a:t>chương</a:t>
                      </a:r>
                      <a:r>
                        <a:rPr lang="en-US" sz="1800" baseline="0" dirty="0" smtClean="0">
                          <a:solidFill>
                            <a:srgbClr val="000000"/>
                          </a:solidFill>
                          <a:latin typeface="Times New Roman"/>
                          <a:ea typeface="Times New Roman"/>
                          <a:cs typeface="Times New Roman"/>
                          <a:sym typeface="Times New Roman"/>
                        </a:rPr>
                        <a:t> </a:t>
                      </a:r>
                      <a:r>
                        <a:rPr lang="en-US" sz="1800" baseline="0" dirty="0" err="1" smtClean="0">
                          <a:solidFill>
                            <a:srgbClr val="000000"/>
                          </a:solidFill>
                          <a:latin typeface="Times New Roman"/>
                          <a:ea typeface="Times New Roman"/>
                          <a:cs typeface="Times New Roman"/>
                          <a:sym typeface="Times New Roman"/>
                        </a:rPr>
                        <a:t>trình</a:t>
                      </a:r>
                      <a:r>
                        <a:rPr lang="en-US" sz="1800" baseline="0" dirty="0" smtClean="0">
                          <a:solidFill>
                            <a:srgbClr val="000000"/>
                          </a:solidFill>
                          <a:latin typeface="Times New Roman"/>
                          <a:ea typeface="Times New Roman"/>
                          <a:cs typeface="Times New Roman"/>
                          <a:sym typeface="Times New Roman"/>
                        </a:rPr>
                        <a:t>/</a:t>
                      </a:r>
                      <a:r>
                        <a:rPr lang="en-US" sz="1800" baseline="0" dirty="0" err="1" smtClean="0">
                          <a:solidFill>
                            <a:srgbClr val="000000"/>
                          </a:solidFill>
                          <a:latin typeface="Times New Roman"/>
                          <a:ea typeface="Times New Roman"/>
                          <a:cs typeface="Times New Roman"/>
                          <a:sym typeface="Times New Roman"/>
                        </a:rPr>
                        <a:t>Diễn</a:t>
                      </a:r>
                      <a:r>
                        <a:rPr lang="en-US" sz="1800" baseline="0" dirty="0" smtClean="0">
                          <a:solidFill>
                            <a:srgbClr val="000000"/>
                          </a:solidFill>
                          <a:latin typeface="Times New Roman"/>
                          <a:ea typeface="Times New Roman"/>
                          <a:cs typeface="Times New Roman"/>
                          <a:sym typeface="Times New Roman"/>
                        </a:rPr>
                        <a:t> </a:t>
                      </a:r>
                      <a:r>
                        <a:rPr lang="en-US" sz="1800" baseline="0" dirty="0" err="1" smtClean="0">
                          <a:solidFill>
                            <a:srgbClr val="000000"/>
                          </a:solidFill>
                          <a:latin typeface="Times New Roman"/>
                          <a:ea typeface="Times New Roman"/>
                          <a:cs typeface="Times New Roman"/>
                          <a:sym typeface="Times New Roman"/>
                        </a:rPr>
                        <a:t>giả</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43314">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13:30 ~ </a:t>
                      </a:r>
                      <a:r>
                        <a:rPr lang="en-US" sz="1800" dirty="0" smtClean="0">
                          <a:solidFill>
                            <a:srgbClr val="000000"/>
                          </a:solidFill>
                          <a:latin typeface="Times New Roman"/>
                          <a:ea typeface="Times New Roman"/>
                          <a:cs typeface="Times New Roman"/>
                          <a:sym typeface="Times New Roman"/>
                        </a:rPr>
                        <a:t>14:10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err="1" smtClean="0">
                          <a:solidFill>
                            <a:srgbClr val="000000"/>
                          </a:solidFill>
                          <a:latin typeface="Times New Roman"/>
                          <a:cs typeface="Times New Roman"/>
                          <a:sym typeface="Times New Roman"/>
                        </a:rPr>
                        <a:t>Đăng</a:t>
                      </a:r>
                      <a:r>
                        <a:rPr lang="en-US" sz="1800" baseline="0" dirty="0" smtClean="0">
                          <a:solidFill>
                            <a:srgbClr val="000000"/>
                          </a:solidFill>
                          <a:latin typeface="Times New Roman"/>
                          <a:cs typeface="Times New Roman"/>
                          <a:sym typeface="Times New Roman"/>
                        </a:rPr>
                        <a:t> </a:t>
                      </a:r>
                      <a:r>
                        <a:rPr lang="en-US" sz="1800" baseline="0" dirty="0" err="1" smtClean="0">
                          <a:solidFill>
                            <a:srgbClr val="000000"/>
                          </a:solidFill>
                          <a:latin typeface="Times New Roman"/>
                          <a:cs typeface="Times New Roman"/>
                          <a:sym typeface="Times New Roman"/>
                        </a:rPr>
                        <a:t>ký</a:t>
                      </a:r>
                      <a:r>
                        <a:rPr lang="en-US" sz="1800" baseline="0" dirty="0" smtClean="0">
                          <a:solidFill>
                            <a:srgbClr val="000000"/>
                          </a:solidFill>
                          <a:latin typeface="Times New Roman"/>
                          <a:cs typeface="Times New Roman"/>
                          <a:sym typeface="Times New Roman"/>
                        </a:rPr>
                        <a:t> </a:t>
                      </a:r>
                      <a:r>
                        <a:rPr lang="en-US" sz="1800" baseline="0" dirty="0" err="1" smtClean="0">
                          <a:solidFill>
                            <a:srgbClr val="000000"/>
                          </a:solidFill>
                          <a:latin typeface="Times New Roman"/>
                          <a:cs typeface="Times New Roman"/>
                          <a:sym typeface="Times New Roman"/>
                        </a:rPr>
                        <a:t>và</a:t>
                      </a:r>
                      <a:r>
                        <a:rPr lang="en-US" sz="1800" baseline="0" dirty="0" smtClean="0">
                          <a:solidFill>
                            <a:srgbClr val="000000"/>
                          </a:solidFill>
                          <a:latin typeface="Times New Roman"/>
                          <a:cs typeface="Times New Roman"/>
                          <a:sym typeface="Times New Roman"/>
                        </a:rPr>
                        <a:t> </a:t>
                      </a:r>
                      <a:r>
                        <a:rPr lang="en-US" sz="1800" baseline="0" dirty="0" err="1" smtClean="0">
                          <a:solidFill>
                            <a:srgbClr val="000000"/>
                          </a:solidFill>
                          <a:latin typeface="Times New Roman"/>
                          <a:cs typeface="Times New Roman"/>
                          <a:sym typeface="Times New Roman"/>
                        </a:rPr>
                        <a:t>đón</a:t>
                      </a:r>
                      <a:r>
                        <a:rPr lang="en-US" sz="1800" baseline="0" dirty="0" smtClean="0">
                          <a:solidFill>
                            <a:srgbClr val="000000"/>
                          </a:solidFill>
                          <a:latin typeface="Times New Roman"/>
                          <a:cs typeface="Times New Roman"/>
                          <a:sym typeface="Times New Roman"/>
                        </a:rPr>
                        <a:t> </a:t>
                      </a:r>
                      <a:r>
                        <a:rPr lang="en-US" sz="1800" baseline="0" dirty="0" err="1" smtClean="0">
                          <a:solidFill>
                            <a:srgbClr val="000000"/>
                          </a:solidFill>
                          <a:latin typeface="Times New Roman"/>
                          <a:cs typeface="Times New Roman"/>
                          <a:sym typeface="Times New Roman"/>
                        </a:rPr>
                        <a:t>tiếp</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48124">
                <a:tc>
                  <a:txBody>
                    <a:bodyPr/>
                    <a:lstStyle/>
                    <a:p>
                      <a:pPr algn="ctr">
                        <a:lnSpc>
                          <a:spcPts val="2160"/>
                        </a:lnSpc>
                        <a:defRPr/>
                      </a:pPr>
                      <a:r>
                        <a:rPr lang="en-US" sz="1800" dirty="0" smtClean="0">
                          <a:solidFill>
                            <a:srgbClr val="000000"/>
                          </a:solidFill>
                          <a:latin typeface="Times New Roman"/>
                          <a:ea typeface="Times New Roman"/>
                          <a:cs typeface="Times New Roman"/>
                          <a:sym typeface="Times New Roman"/>
                        </a:rPr>
                        <a:t>14:10 </a:t>
                      </a:r>
                      <a:r>
                        <a:rPr lang="en-US" sz="1800" dirty="0">
                          <a:solidFill>
                            <a:srgbClr val="000000"/>
                          </a:solidFill>
                          <a:latin typeface="Times New Roman"/>
                          <a:ea typeface="Times New Roman"/>
                          <a:cs typeface="Times New Roman"/>
                          <a:sym typeface="Times New Roman"/>
                        </a:rPr>
                        <a:t>~ </a:t>
                      </a:r>
                      <a:r>
                        <a:rPr lang="en-US" sz="1800" dirty="0" smtClean="0">
                          <a:solidFill>
                            <a:srgbClr val="000000"/>
                          </a:solidFill>
                          <a:latin typeface="Times New Roman"/>
                          <a:ea typeface="Times New Roman"/>
                          <a:cs typeface="Times New Roman"/>
                          <a:sym typeface="Times New Roman"/>
                        </a:rPr>
                        <a:t>14:20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ts val="2160"/>
                        </a:lnSpc>
                        <a:spcBef>
                          <a:spcPts val="0"/>
                        </a:spcBef>
                        <a:spcAft>
                          <a:spcPts val="0"/>
                        </a:spcAft>
                        <a:buClrTx/>
                        <a:buSzTx/>
                        <a:buFontTx/>
                        <a:buNone/>
                        <a:tabLst/>
                        <a:defRPr/>
                      </a:pPr>
                      <a:r>
                        <a:rPr lang="en-US" sz="1800" dirty="0" err="1" smtClean="0">
                          <a:solidFill>
                            <a:srgbClr val="000000"/>
                          </a:solidFill>
                          <a:latin typeface="Times New Roman"/>
                          <a:ea typeface="Times New Roman"/>
                          <a:cs typeface="Times New Roman"/>
                          <a:sym typeface="Times New Roman"/>
                        </a:rPr>
                        <a:t>Phát</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biểu</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khai</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mạc</a:t>
                      </a:r>
                      <a:endParaRPr lang="en-US" sz="1800" dirty="0" smtClean="0">
                        <a:solidFill>
                          <a:srgbClr val="00B0F0"/>
                        </a:solidFill>
                        <a:latin typeface="Times New Roman"/>
                        <a:ea typeface="Times New Roman"/>
                        <a:cs typeface="Times New Roman"/>
                        <a:sym typeface="Times New Roman"/>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48124">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14:20 ~ 14:40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err="1" smtClean="0">
                          <a:solidFill>
                            <a:srgbClr val="000000"/>
                          </a:solidFill>
                          <a:latin typeface="Times New Roman"/>
                          <a:ea typeface="Times New Roman"/>
                          <a:cs typeface="Times New Roman"/>
                          <a:sym typeface="Times New Roman"/>
                        </a:rPr>
                        <a:t>Giải</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pháp</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ứng</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dụng</a:t>
                      </a:r>
                      <a:r>
                        <a:rPr lang="en-US" sz="1800" dirty="0" smtClean="0">
                          <a:solidFill>
                            <a:srgbClr val="000000"/>
                          </a:solidFill>
                          <a:latin typeface="Times New Roman"/>
                          <a:ea typeface="Times New Roman"/>
                          <a:cs typeface="Times New Roman"/>
                          <a:sym typeface="Times New Roman"/>
                        </a:rPr>
                        <a:t> AI </a:t>
                      </a:r>
                      <a:r>
                        <a:rPr lang="en-US" sz="1800" dirty="0" err="1" smtClean="0">
                          <a:solidFill>
                            <a:srgbClr val="000000"/>
                          </a:solidFill>
                          <a:latin typeface="Times New Roman"/>
                          <a:ea typeface="Times New Roman"/>
                          <a:cs typeface="Times New Roman"/>
                          <a:sym typeface="Times New Roman"/>
                        </a:rPr>
                        <a:t>nhằm</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nâng</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cao</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lợi</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thế</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cạnh</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tranh</a:t>
                      </a:r>
                      <a:r>
                        <a:rPr lang="en-US" sz="1800" dirty="0" smtClean="0">
                          <a:solidFill>
                            <a:srgbClr val="000000"/>
                          </a:solidFill>
                          <a:latin typeface="Times New Roman"/>
                          <a:ea typeface="Times New Roman"/>
                          <a:cs typeface="Times New Roman"/>
                          <a:sym typeface="Times New Roman"/>
                        </a:rPr>
                        <a:t/>
                      </a:r>
                      <a:br>
                        <a:rPr lang="en-US" sz="1800" dirty="0" smtClean="0">
                          <a:solidFill>
                            <a:srgbClr val="000000"/>
                          </a:solidFill>
                          <a:latin typeface="Times New Roman"/>
                          <a:ea typeface="Times New Roman"/>
                          <a:cs typeface="Times New Roman"/>
                          <a:sym typeface="Times New Roman"/>
                        </a:rPr>
                      </a:br>
                      <a:r>
                        <a:rPr lang="en-US" sz="1800" dirty="0" smtClean="0">
                          <a:solidFill>
                            <a:srgbClr val="00B0F0"/>
                          </a:solidFill>
                          <a:latin typeface="Times New Roman"/>
                          <a:ea typeface="Times New Roman"/>
                          <a:cs typeface="Times New Roman"/>
                          <a:sym typeface="Times New Roman"/>
                        </a:rPr>
                        <a:t>Samsung SDS </a:t>
                      </a:r>
                      <a:r>
                        <a:rPr lang="en-US" sz="1800" dirty="0" err="1" smtClean="0">
                          <a:solidFill>
                            <a:srgbClr val="00B0F0"/>
                          </a:solidFill>
                          <a:latin typeface="Times New Roman"/>
                          <a:ea typeface="Times New Roman"/>
                          <a:cs typeface="Times New Roman"/>
                          <a:sym typeface="Times New Roman"/>
                        </a:rPr>
                        <a:t>Châu</a:t>
                      </a:r>
                      <a:r>
                        <a:rPr lang="en-US" sz="1800" baseline="0" dirty="0" smtClean="0">
                          <a:solidFill>
                            <a:srgbClr val="00B0F0"/>
                          </a:solidFill>
                          <a:latin typeface="Times New Roman"/>
                          <a:ea typeface="Times New Roman"/>
                          <a:cs typeface="Times New Roman"/>
                          <a:sym typeface="Times New Roman"/>
                        </a:rPr>
                        <a:t> Á – </a:t>
                      </a:r>
                      <a:r>
                        <a:rPr lang="en-US" sz="1800" baseline="0" dirty="0" err="1" smtClean="0">
                          <a:solidFill>
                            <a:srgbClr val="00B0F0"/>
                          </a:solidFill>
                          <a:latin typeface="Times New Roman"/>
                          <a:ea typeface="Times New Roman"/>
                          <a:cs typeface="Times New Roman"/>
                          <a:sym typeface="Times New Roman"/>
                        </a:rPr>
                        <a:t>Thái</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Bình</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Dương</a:t>
                      </a:r>
                      <a:r>
                        <a:rPr lang="en-US" sz="1800" baseline="0" dirty="0" smtClean="0">
                          <a:solidFill>
                            <a:srgbClr val="00B0F0"/>
                          </a:solidFill>
                          <a:latin typeface="Times New Roman"/>
                          <a:ea typeface="Times New Roman"/>
                          <a:cs typeface="Times New Roman"/>
                          <a:sym typeface="Times New Roman"/>
                        </a:rPr>
                        <a:t/>
                      </a:r>
                      <a:br>
                        <a:rPr lang="en-US" sz="1800" baseline="0" dirty="0" smtClean="0">
                          <a:solidFill>
                            <a:srgbClr val="00B0F0"/>
                          </a:solidFill>
                          <a:latin typeface="Times New Roman"/>
                          <a:ea typeface="Times New Roman"/>
                          <a:cs typeface="Times New Roman"/>
                          <a:sym typeface="Times New Roman"/>
                        </a:rPr>
                      </a:br>
                      <a:r>
                        <a:rPr lang="en-US" sz="1800" dirty="0" err="1" smtClean="0">
                          <a:solidFill>
                            <a:srgbClr val="00B0F0"/>
                          </a:solidFill>
                          <a:latin typeface="Times New Roman"/>
                          <a:ea typeface="Times New Roman"/>
                          <a:cs typeface="Times New Roman"/>
                          <a:sym typeface="Times New Roman"/>
                        </a:rPr>
                        <a:t>Phó</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chủ</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tịch</a:t>
                      </a:r>
                      <a:r>
                        <a:rPr lang="en-US" sz="1800" baseline="0" dirty="0" smtClean="0">
                          <a:solidFill>
                            <a:srgbClr val="00B0F0"/>
                          </a:solidFill>
                          <a:latin typeface="Times New Roman"/>
                          <a:ea typeface="Times New Roman"/>
                          <a:cs typeface="Times New Roman"/>
                          <a:sym typeface="Times New Roman"/>
                        </a:rPr>
                        <a:t> </a:t>
                      </a:r>
                      <a:r>
                        <a:rPr lang="en-US" sz="1800" dirty="0" smtClean="0">
                          <a:solidFill>
                            <a:srgbClr val="00B0F0"/>
                          </a:solidFill>
                          <a:latin typeface="Times New Roman"/>
                          <a:ea typeface="Times New Roman"/>
                          <a:cs typeface="Times New Roman"/>
                          <a:sym typeface="Times New Roman"/>
                        </a:rPr>
                        <a:t>| </a:t>
                      </a:r>
                      <a:r>
                        <a:rPr lang="en-US" sz="1800" dirty="0" err="1" smtClean="0">
                          <a:solidFill>
                            <a:srgbClr val="00B0F0"/>
                          </a:solidFill>
                          <a:latin typeface="Times New Roman"/>
                          <a:ea typeface="Times New Roman"/>
                          <a:cs typeface="Times New Roman"/>
                          <a:sym typeface="Times New Roman"/>
                        </a:rPr>
                        <a:t>Ông</a:t>
                      </a:r>
                      <a:r>
                        <a:rPr lang="en-US" sz="1800" dirty="0" smtClean="0">
                          <a:solidFill>
                            <a:srgbClr val="00B0F0"/>
                          </a:solidFill>
                          <a:latin typeface="Times New Roman"/>
                          <a:ea typeface="Times New Roman"/>
                          <a:cs typeface="Times New Roman"/>
                          <a:sym typeface="Times New Roman"/>
                        </a:rPr>
                        <a:t> Kim Dong </a:t>
                      </a:r>
                      <a:r>
                        <a:rPr lang="en-US" sz="1800" dirty="0" err="1" smtClean="0">
                          <a:solidFill>
                            <a:srgbClr val="00B0F0"/>
                          </a:solidFill>
                          <a:latin typeface="Times New Roman"/>
                          <a:ea typeface="Times New Roman"/>
                          <a:cs typeface="Times New Roman"/>
                          <a:sym typeface="Times New Roman"/>
                        </a:rPr>
                        <a:t>Kyun</a:t>
                      </a:r>
                      <a:endParaRPr lang="en-US" sz="1800" dirty="0">
                        <a:solidFill>
                          <a:srgbClr val="00B0F0"/>
                        </a:solidFill>
                        <a:latin typeface="Times New Roman"/>
                        <a:ea typeface="Times New Roman"/>
                        <a:cs typeface="Times New Roman"/>
                        <a:sym typeface="Times New Roman"/>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914998">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14:40 ~ 15:00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vi-VN" sz="1800" dirty="0" smtClean="0">
                          <a:solidFill>
                            <a:srgbClr val="000000"/>
                          </a:solidFill>
                          <a:latin typeface="Times New Roman"/>
                          <a:ea typeface="Times New Roman"/>
                          <a:cs typeface="Times New Roman"/>
                          <a:sym typeface="Times New Roman"/>
                        </a:rPr>
                        <a:t>Triển vọng và định hướng chiến lược thị trường vận tải đường biển</a:t>
                      </a:r>
                      <a:r>
                        <a:rPr lang="en-US" sz="1800" dirty="0" smtClean="0">
                          <a:solidFill>
                            <a:srgbClr val="000000"/>
                          </a:solidFill>
                          <a:latin typeface="Times New Roman"/>
                          <a:ea typeface="Times New Roman"/>
                          <a:cs typeface="Times New Roman"/>
                          <a:sym typeface="Times New Roman"/>
                        </a:rPr>
                        <a:t/>
                      </a:r>
                      <a:br>
                        <a:rPr lang="en-US" sz="1800" dirty="0" smtClean="0">
                          <a:solidFill>
                            <a:srgbClr val="000000"/>
                          </a:solidFill>
                          <a:latin typeface="Times New Roman"/>
                          <a:ea typeface="Times New Roman"/>
                          <a:cs typeface="Times New Roman"/>
                          <a:sym typeface="Times New Roman"/>
                        </a:rPr>
                      </a:br>
                      <a:r>
                        <a:rPr lang="en-US" sz="1800" dirty="0" smtClean="0">
                          <a:solidFill>
                            <a:srgbClr val="00B0F0"/>
                          </a:solidFill>
                          <a:latin typeface="Times New Roman"/>
                          <a:ea typeface="Times New Roman"/>
                          <a:cs typeface="Times New Roman"/>
                          <a:sym typeface="Times New Roman"/>
                        </a:rPr>
                        <a:t>Samsung SDS </a:t>
                      </a:r>
                      <a:r>
                        <a:rPr lang="en-US" sz="1800" dirty="0" err="1" smtClean="0">
                          <a:solidFill>
                            <a:srgbClr val="00B0F0"/>
                          </a:solidFill>
                          <a:latin typeface="Times New Roman"/>
                          <a:ea typeface="Times New Roman"/>
                          <a:cs typeface="Times New Roman"/>
                          <a:sym typeface="Times New Roman"/>
                        </a:rPr>
                        <a:t>Châu</a:t>
                      </a:r>
                      <a:r>
                        <a:rPr lang="en-US" sz="1800" baseline="0" dirty="0" smtClean="0">
                          <a:solidFill>
                            <a:srgbClr val="00B0F0"/>
                          </a:solidFill>
                          <a:latin typeface="Times New Roman"/>
                          <a:ea typeface="Times New Roman"/>
                          <a:cs typeface="Times New Roman"/>
                          <a:sym typeface="Times New Roman"/>
                        </a:rPr>
                        <a:t> Á – </a:t>
                      </a:r>
                      <a:r>
                        <a:rPr lang="en-US" sz="1800" baseline="0" dirty="0" err="1" smtClean="0">
                          <a:solidFill>
                            <a:srgbClr val="00B0F0"/>
                          </a:solidFill>
                          <a:latin typeface="Times New Roman"/>
                          <a:ea typeface="Times New Roman"/>
                          <a:cs typeface="Times New Roman"/>
                          <a:sym typeface="Times New Roman"/>
                        </a:rPr>
                        <a:t>Thái</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Bình</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Dương</a:t>
                      </a:r>
                      <a:r>
                        <a:rPr lang="en-US" sz="1800" baseline="0" dirty="0" smtClean="0">
                          <a:solidFill>
                            <a:srgbClr val="00B0F0"/>
                          </a:solidFill>
                          <a:latin typeface="Times New Roman"/>
                          <a:ea typeface="Times New Roman"/>
                          <a:cs typeface="Times New Roman"/>
                          <a:sym typeface="Times New Roman"/>
                        </a:rPr>
                        <a:t>,</a:t>
                      </a:r>
                      <a:br>
                        <a:rPr lang="en-US" sz="1800" baseline="0" dirty="0" smtClean="0">
                          <a:solidFill>
                            <a:srgbClr val="00B0F0"/>
                          </a:solidFill>
                          <a:latin typeface="Times New Roman"/>
                          <a:ea typeface="Times New Roman"/>
                          <a:cs typeface="Times New Roman"/>
                          <a:sym typeface="Times New Roman"/>
                        </a:rPr>
                      </a:br>
                      <a:r>
                        <a:rPr lang="en-US" sz="1800" dirty="0" err="1" smtClean="0">
                          <a:solidFill>
                            <a:srgbClr val="00B0F0"/>
                          </a:solidFill>
                          <a:latin typeface="Times New Roman"/>
                          <a:ea typeface="Times New Roman"/>
                          <a:cs typeface="Times New Roman"/>
                          <a:sym typeface="Times New Roman"/>
                        </a:rPr>
                        <a:t>Trưởng</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bộ</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phận</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vận</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tải</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đường</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biển</a:t>
                      </a:r>
                      <a:r>
                        <a:rPr lang="en-US" sz="1800" baseline="0" dirty="0" smtClean="0">
                          <a:solidFill>
                            <a:srgbClr val="00B0F0"/>
                          </a:solidFill>
                          <a:latin typeface="Times New Roman"/>
                          <a:ea typeface="Times New Roman"/>
                          <a:cs typeface="Times New Roman"/>
                          <a:sym typeface="Times New Roman"/>
                        </a:rPr>
                        <a:t> </a:t>
                      </a:r>
                      <a:r>
                        <a:rPr lang="en-US" sz="1800" dirty="0" smtClean="0">
                          <a:solidFill>
                            <a:srgbClr val="00B0F0"/>
                          </a:solidFill>
                          <a:latin typeface="Times New Roman"/>
                          <a:ea typeface="Times New Roman"/>
                          <a:cs typeface="Times New Roman"/>
                          <a:sym typeface="Times New Roman"/>
                        </a:rPr>
                        <a:t>| </a:t>
                      </a:r>
                      <a:r>
                        <a:rPr lang="en-US" sz="1800" dirty="0" err="1" smtClean="0">
                          <a:solidFill>
                            <a:srgbClr val="00B0F0"/>
                          </a:solidFill>
                          <a:latin typeface="Times New Roman"/>
                          <a:ea typeface="Times New Roman"/>
                          <a:cs typeface="Times New Roman"/>
                          <a:sym typeface="Times New Roman"/>
                        </a:rPr>
                        <a:t>Ông</a:t>
                      </a:r>
                      <a:r>
                        <a:rPr lang="en-US" sz="1800" dirty="0" smtClean="0">
                          <a:solidFill>
                            <a:srgbClr val="00B0F0"/>
                          </a:solidFill>
                          <a:latin typeface="Times New Roman"/>
                          <a:ea typeface="Times New Roman"/>
                          <a:cs typeface="Times New Roman"/>
                          <a:sym typeface="Times New Roman"/>
                        </a:rPr>
                        <a:t> Matthew Thong Jit Fong</a:t>
                      </a:r>
                      <a:endParaRPr lang="en-US" sz="1800" dirty="0">
                        <a:solidFill>
                          <a:srgbClr val="00B0F0"/>
                        </a:solidFill>
                        <a:latin typeface="Times New Roman"/>
                        <a:ea typeface="Times New Roman"/>
                        <a:cs typeface="Times New Roman"/>
                        <a:sym typeface="Times New Roman"/>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81249">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15:00 ~ 15:20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vi-VN" sz="1800" dirty="0" smtClean="0">
                          <a:solidFill>
                            <a:srgbClr val="000000"/>
                          </a:solidFill>
                          <a:latin typeface="Times New Roman"/>
                          <a:ea typeface="Times New Roman"/>
                          <a:cs typeface="Times New Roman"/>
                          <a:sym typeface="Times New Roman"/>
                        </a:rPr>
                        <a:t>Giao lưu/ Giải lao</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914998">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15:20 ~ 15:40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ts val="2160"/>
                        </a:lnSpc>
                        <a:spcBef>
                          <a:spcPts val="0"/>
                        </a:spcBef>
                        <a:spcAft>
                          <a:spcPts val="0"/>
                        </a:spcAft>
                        <a:buClrTx/>
                        <a:buSzTx/>
                        <a:buFontTx/>
                        <a:buNone/>
                        <a:tabLst/>
                        <a:defRPr/>
                      </a:pPr>
                      <a:r>
                        <a:rPr lang="vi-VN" sz="1800" dirty="0" smtClean="0">
                          <a:solidFill>
                            <a:srgbClr val="000000"/>
                          </a:solidFill>
                          <a:latin typeface="Times New Roman"/>
                          <a:ea typeface="Times New Roman"/>
                          <a:cs typeface="Times New Roman"/>
                          <a:sym typeface="Times New Roman"/>
                        </a:rPr>
                        <a:t>Triển vọng và định hướng chiến lược thị trường vận tải hàng không</a:t>
                      </a:r>
                      <a:r>
                        <a:rPr lang="en-US" sz="1800" dirty="0" smtClean="0">
                          <a:solidFill>
                            <a:srgbClr val="000000"/>
                          </a:solidFill>
                          <a:latin typeface="Times New Roman"/>
                          <a:ea typeface="Times New Roman"/>
                          <a:cs typeface="Times New Roman"/>
                          <a:sym typeface="Times New Roman"/>
                        </a:rPr>
                        <a:t/>
                      </a:r>
                      <a:br>
                        <a:rPr lang="en-US" sz="1800" dirty="0" smtClean="0">
                          <a:solidFill>
                            <a:srgbClr val="000000"/>
                          </a:solidFill>
                          <a:latin typeface="Times New Roman"/>
                          <a:ea typeface="Times New Roman"/>
                          <a:cs typeface="Times New Roman"/>
                          <a:sym typeface="Times New Roman"/>
                        </a:rPr>
                      </a:br>
                      <a:r>
                        <a:rPr lang="en-US" sz="1800" dirty="0" smtClean="0">
                          <a:solidFill>
                            <a:srgbClr val="00B0F0"/>
                          </a:solidFill>
                          <a:latin typeface="Times New Roman"/>
                          <a:ea typeface="Times New Roman"/>
                          <a:cs typeface="Times New Roman"/>
                          <a:sym typeface="Times New Roman"/>
                        </a:rPr>
                        <a:t>Samsung SDS </a:t>
                      </a:r>
                      <a:r>
                        <a:rPr lang="en-US" sz="1800" dirty="0" err="1" smtClean="0">
                          <a:solidFill>
                            <a:srgbClr val="00B0F0"/>
                          </a:solidFill>
                          <a:latin typeface="Times New Roman"/>
                          <a:ea typeface="Times New Roman"/>
                          <a:cs typeface="Times New Roman"/>
                          <a:sym typeface="Times New Roman"/>
                        </a:rPr>
                        <a:t>Châu</a:t>
                      </a:r>
                      <a:r>
                        <a:rPr lang="en-US" sz="1800" baseline="0" dirty="0" smtClean="0">
                          <a:solidFill>
                            <a:srgbClr val="00B0F0"/>
                          </a:solidFill>
                          <a:latin typeface="Times New Roman"/>
                          <a:ea typeface="Times New Roman"/>
                          <a:cs typeface="Times New Roman"/>
                          <a:sym typeface="Times New Roman"/>
                        </a:rPr>
                        <a:t> Á – </a:t>
                      </a:r>
                      <a:r>
                        <a:rPr lang="en-US" sz="1800" baseline="0" dirty="0" err="1" smtClean="0">
                          <a:solidFill>
                            <a:srgbClr val="00B0F0"/>
                          </a:solidFill>
                          <a:latin typeface="Times New Roman"/>
                          <a:ea typeface="Times New Roman"/>
                          <a:cs typeface="Times New Roman"/>
                          <a:sym typeface="Times New Roman"/>
                        </a:rPr>
                        <a:t>Thái</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Bình</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Dương</a:t>
                      </a:r>
                      <a:r>
                        <a:rPr lang="en-US" sz="1800" baseline="0" dirty="0" smtClean="0">
                          <a:solidFill>
                            <a:srgbClr val="00B0F0"/>
                          </a:solidFill>
                          <a:latin typeface="Times New Roman"/>
                          <a:ea typeface="Times New Roman"/>
                          <a:cs typeface="Times New Roman"/>
                          <a:sym typeface="Times New Roman"/>
                        </a:rPr>
                        <a:t>,</a:t>
                      </a:r>
                      <a:br>
                        <a:rPr lang="en-US" sz="1800" baseline="0" dirty="0" smtClean="0">
                          <a:solidFill>
                            <a:srgbClr val="00B0F0"/>
                          </a:solidFill>
                          <a:latin typeface="Times New Roman"/>
                          <a:ea typeface="Times New Roman"/>
                          <a:cs typeface="Times New Roman"/>
                          <a:sym typeface="Times New Roman"/>
                        </a:rPr>
                      </a:br>
                      <a:r>
                        <a:rPr lang="en-US" sz="1800" dirty="0" err="1" smtClean="0">
                          <a:solidFill>
                            <a:srgbClr val="00B0F0"/>
                          </a:solidFill>
                          <a:latin typeface="Times New Roman"/>
                          <a:ea typeface="Times New Roman"/>
                          <a:cs typeface="Times New Roman"/>
                          <a:sym typeface="Times New Roman"/>
                        </a:rPr>
                        <a:t>Trưởng</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bộ</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phận</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vận</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tải</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hàng</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không</a:t>
                      </a:r>
                      <a:r>
                        <a:rPr lang="en-US" sz="1800" baseline="0" dirty="0" smtClean="0">
                          <a:solidFill>
                            <a:srgbClr val="00B0F0"/>
                          </a:solidFill>
                          <a:latin typeface="Times New Roman"/>
                          <a:ea typeface="Times New Roman"/>
                          <a:cs typeface="Times New Roman"/>
                          <a:sym typeface="Times New Roman"/>
                        </a:rPr>
                        <a:t> </a:t>
                      </a:r>
                      <a:r>
                        <a:rPr lang="en-US" sz="1800" dirty="0" smtClean="0">
                          <a:solidFill>
                            <a:srgbClr val="00B0F0"/>
                          </a:solidFill>
                          <a:latin typeface="Times New Roman"/>
                          <a:ea typeface="Times New Roman"/>
                          <a:cs typeface="Times New Roman"/>
                          <a:sym typeface="Times New Roman"/>
                        </a:rPr>
                        <a:t>| </a:t>
                      </a:r>
                      <a:r>
                        <a:rPr lang="en-US" sz="1800" dirty="0" err="1" smtClean="0">
                          <a:solidFill>
                            <a:srgbClr val="00B0F0"/>
                          </a:solidFill>
                          <a:latin typeface="Times New Roman"/>
                          <a:ea typeface="Times New Roman"/>
                          <a:cs typeface="Times New Roman"/>
                          <a:sym typeface="Times New Roman"/>
                        </a:rPr>
                        <a:t>Ông</a:t>
                      </a:r>
                      <a:r>
                        <a:rPr lang="en-US" sz="1800" dirty="0" smtClean="0">
                          <a:solidFill>
                            <a:srgbClr val="00B0F0"/>
                          </a:solidFill>
                          <a:latin typeface="Times New Roman"/>
                          <a:ea typeface="Times New Roman"/>
                          <a:cs typeface="Times New Roman"/>
                          <a:sym typeface="Times New Roman"/>
                        </a:rPr>
                        <a:t> Bae Kyung </a:t>
                      </a:r>
                      <a:r>
                        <a:rPr lang="en-US" sz="1800" dirty="0" err="1" smtClean="0">
                          <a:solidFill>
                            <a:srgbClr val="00B0F0"/>
                          </a:solidFill>
                          <a:latin typeface="Times New Roman"/>
                          <a:ea typeface="Times New Roman"/>
                          <a:cs typeface="Times New Roman"/>
                          <a:sym typeface="Times New Roman"/>
                        </a:rPr>
                        <a:t>Jin</a:t>
                      </a:r>
                      <a:endParaRPr lang="en-US" sz="1800" dirty="0" smtClean="0">
                        <a:solidFill>
                          <a:srgbClr val="00B0F0"/>
                        </a:solidFill>
                        <a:latin typeface="Times New Roman"/>
                        <a:ea typeface="Times New Roman"/>
                        <a:cs typeface="Times New Roman"/>
                        <a:sym typeface="Times New Roman"/>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181872">
                <a:tc>
                  <a:txBody>
                    <a:bodyPr/>
                    <a:lstStyle/>
                    <a:p>
                      <a:pPr algn="ctr">
                        <a:lnSpc>
                          <a:spcPts val="2160"/>
                        </a:lnSpc>
                        <a:defRPr/>
                      </a:pPr>
                      <a:r>
                        <a:rPr lang="en-US" sz="1800" dirty="0" smtClean="0">
                          <a:solidFill>
                            <a:srgbClr val="000000"/>
                          </a:solidFill>
                          <a:latin typeface="Times New Roman"/>
                          <a:ea typeface="Times New Roman"/>
                          <a:cs typeface="Times New Roman"/>
                          <a:sym typeface="Times New Roman"/>
                        </a:rPr>
                        <a:t>15:40 </a:t>
                      </a:r>
                      <a:r>
                        <a:rPr lang="en-US" sz="1800" dirty="0">
                          <a:solidFill>
                            <a:srgbClr val="000000"/>
                          </a:solidFill>
                          <a:latin typeface="Times New Roman"/>
                          <a:ea typeface="Times New Roman"/>
                          <a:cs typeface="Times New Roman"/>
                          <a:sym typeface="Times New Roman"/>
                        </a:rPr>
                        <a:t>~ </a:t>
                      </a:r>
                      <a:r>
                        <a:rPr lang="en-US" sz="1800" dirty="0" smtClean="0">
                          <a:solidFill>
                            <a:srgbClr val="000000"/>
                          </a:solidFill>
                          <a:latin typeface="Times New Roman"/>
                          <a:ea typeface="Times New Roman"/>
                          <a:cs typeface="Times New Roman"/>
                          <a:sym typeface="Times New Roman"/>
                        </a:rPr>
                        <a:t>16:00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vi-VN" sz="1800" dirty="0" smtClean="0">
                          <a:solidFill>
                            <a:srgbClr val="000000"/>
                          </a:solidFill>
                          <a:latin typeface="Times New Roman"/>
                          <a:ea typeface="Times New Roman"/>
                          <a:cs typeface="Times New Roman"/>
                          <a:sym typeface="Times New Roman"/>
                        </a:rPr>
                        <a:t>Từ hoạt động thuê ngoài đến trụ cột chiến lược: Kỷ nguyên mới của </a:t>
                      </a:r>
                      <a:r>
                        <a:rPr lang="en-US" sz="1800" dirty="0" smtClean="0">
                          <a:solidFill>
                            <a:srgbClr val="000000"/>
                          </a:solidFill>
                          <a:latin typeface="Times New Roman"/>
                          <a:ea typeface="Times New Roman"/>
                          <a:cs typeface="Times New Roman"/>
                          <a:sym typeface="Times New Roman"/>
                        </a:rPr>
                        <a:t>C</a:t>
                      </a:r>
                      <a:r>
                        <a:rPr lang="vi-VN" sz="1800" dirty="0" smtClean="0">
                          <a:solidFill>
                            <a:srgbClr val="000000"/>
                          </a:solidFill>
                          <a:latin typeface="Times New Roman"/>
                          <a:ea typeface="Times New Roman"/>
                          <a:cs typeface="Times New Roman"/>
                          <a:sym typeface="Times New Roman"/>
                        </a:rPr>
                        <a:t>ontract </a:t>
                      </a:r>
                      <a:r>
                        <a:rPr lang="en-US" sz="1800" dirty="0" smtClean="0">
                          <a:solidFill>
                            <a:srgbClr val="000000"/>
                          </a:solidFill>
                          <a:latin typeface="Times New Roman"/>
                          <a:ea typeface="Times New Roman"/>
                          <a:cs typeface="Times New Roman"/>
                          <a:sym typeface="Times New Roman"/>
                        </a:rPr>
                        <a:t>L</a:t>
                      </a:r>
                      <a:r>
                        <a:rPr lang="vi-VN" sz="1800" dirty="0" smtClean="0">
                          <a:solidFill>
                            <a:srgbClr val="000000"/>
                          </a:solidFill>
                          <a:latin typeface="Times New Roman"/>
                          <a:ea typeface="Times New Roman"/>
                          <a:cs typeface="Times New Roman"/>
                          <a:sym typeface="Times New Roman"/>
                        </a:rPr>
                        <a:t>ogistics</a:t>
                      </a:r>
                      <a:r>
                        <a:rPr lang="en-US" sz="1800" dirty="0" smtClean="0">
                          <a:solidFill>
                            <a:srgbClr val="000000"/>
                          </a:solidFill>
                          <a:latin typeface="Times New Roman"/>
                          <a:ea typeface="Times New Roman"/>
                          <a:cs typeface="Times New Roman"/>
                          <a:sym typeface="Times New Roman"/>
                        </a:rPr>
                        <a:t/>
                      </a:r>
                      <a:br>
                        <a:rPr lang="en-US" sz="1800" dirty="0" smtClean="0">
                          <a:solidFill>
                            <a:srgbClr val="000000"/>
                          </a:solidFill>
                          <a:latin typeface="Times New Roman"/>
                          <a:ea typeface="Times New Roman"/>
                          <a:cs typeface="Times New Roman"/>
                          <a:sym typeface="Times New Roman"/>
                        </a:rPr>
                      </a:br>
                      <a:r>
                        <a:rPr lang="en-US" sz="1800" dirty="0" smtClean="0">
                          <a:solidFill>
                            <a:srgbClr val="00B0F0"/>
                          </a:solidFill>
                          <a:latin typeface="Times New Roman"/>
                          <a:ea typeface="Times New Roman"/>
                          <a:cs typeface="Times New Roman"/>
                          <a:sym typeface="Times New Roman"/>
                        </a:rPr>
                        <a:t>Samsung SDS </a:t>
                      </a:r>
                      <a:r>
                        <a:rPr lang="en-US" sz="1800" dirty="0" err="1" smtClean="0">
                          <a:solidFill>
                            <a:srgbClr val="00B0F0"/>
                          </a:solidFill>
                          <a:latin typeface="Times New Roman"/>
                          <a:ea typeface="Times New Roman"/>
                          <a:cs typeface="Times New Roman"/>
                          <a:sym typeface="Times New Roman"/>
                        </a:rPr>
                        <a:t>Châu</a:t>
                      </a:r>
                      <a:r>
                        <a:rPr lang="en-US" sz="1800" baseline="0" dirty="0" smtClean="0">
                          <a:solidFill>
                            <a:srgbClr val="00B0F0"/>
                          </a:solidFill>
                          <a:latin typeface="Times New Roman"/>
                          <a:ea typeface="Times New Roman"/>
                          <a:cs typeface="Times New Roman"/>
                          <a:sym typeface="Times New Roman"/>
                        </a:rPr>
                        <a:t> Á – </a:t>
                      </a:r>
                      <a:r>
                        <a:rPr lang="en-US" sz="1800" baseline="0" dirty="0" err="1" smtClean="0">
                          <a:solidFill>
                            <a:srgbClr val="00B0F0"/>
                          </a:solidFill>
                          <a:latin typeface="Times New Roman"/>
                          <a:ea typeface="Times New Roman"/>
                          <a:cs typeface="Times New Roman"/>
                          <a:sym typeface="Times New Roman"/>
                        </a:rPr>
                        <a:t>Thái</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Bình</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Dương</a:t>
                      </a:r>
                      <a:r>
                        <a:rPr lang="en-US" sz="1800" baseline="0" dirty="0" smtClean="0">
                          <a:solidFill>
                            <a:srgbClr val="00B0F0"/>
                          </a:solidFill>
                          <a:latin typeface="Times New Roman"/>
                          <a:ea typeface="Times New Roman"/>
                          <a:cs typeface="Times New Roman"/>
                          <a:sym typeface="Times New Roman"/>
                        </a:rPr>
                        <a:t>,</a:t>
                      </a:r>
                      <a:br>
                        <a:rPr lang="en-US" sz="1800" baseline="0" dirty="0" smtClean="0">
                          <a:solidFill>
                            <a:srgbClr val="00B0F0"/>
                          </a:solidFill>
                          <a:latin typeface="Times New Roman"/>
                          <a:ea typeface="Times New Roman"/>
                          <a:cs typeface="Times New Roman"/>
                          <a:sym typeface="Times New Roman"/>
                        </a:rPr>
                      </a:br>
                      <a:r>
                        <a:rPr lang="en-US" sz="1800" dirty="0" err="1" smtClean="0">
                          <a:solidFill>
                            <a:srgbClr val="00B0F0"/>
                          </a:solidFill>
                          <a:latin typeface="Times New Roman"/>
                          <a:ea typeface="Times New Roman"/>
                          <a:cs typeface="Times New Roman"/>
                          <a:sym typeface="Times New Roman"/>
                        </a:rPr>
                        <a:t>Trưởng</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bộ</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phận</a:t>
                      </a:r>
                      <a:r>
                        <a:rPr lang="en-US" sz="1800" baseline="0" dirty="0" smtClean="0">
                          <a:solidFill>
                            <a:srgbClr val="00B0F0"/>
                          </a:solidFill>
                          <a:latin typeface="Times New Roman"/>
                          <a:ea typeface="Times New Roman"/>
                          <a:cs typeface="Times New Roman"/>
                          <a:sym typeface="Times New Roman"/>
                        </a:rPr>
                        <a:t> </a:t>
                      </a:r>
                      <a:r>
                        <a:rPr lang="en-US" sz="1800" dirty="0" smtClean="0">
                          <a:solidFill>
                            <a:srgbClr val="00B0F0"/>
                          </a:solidFill>
                          <a:latin typeface="Times New Roman"/>
                          <a:ea typeface="Times New Roman"/>
                          <a:cs typeface="Times New Roman"/>
                          <a:sym typeface="Times New Roman"/>
                        </a:rPr>
                        <a:t>Contract Logistics | </a:t>
                      </a:r>
                      <a:r>
                        <a:rPr lang="en-US" sz="1800" dirty="0" err="1" smtClean="0">
                          <a:solidFill>
                            <a:srgbClr val="00B0F0"/>
                          </a:solidFill>
                          <a:latin typeface="Times New Roman"/>
                          <a:ea typeface="Times New Roman"/>
                          <a:cs typeface="Times New Roman"/>
                          <a:sym typeface="Times New Roman"/>
                        </a:rPr>
                        <a:t>Ông</a:t>
                      </a:r>
                      <a:r>
                        <a:rPr lang="en-US" sz="1800" dirty="0" smtClean="0">
                          <a:solidFill>
                            <a:srgbClr val="00B0F0"/>
                          </a:solidFill>
                          <a:latin typeface="Times New Roman"/>
                          <a:ea typeface="Times New Roman"/>
                          <a:cs typeface="Times New Roman"/>
                          <a:sym typeface="Times New Roman"/>
                        </a:rPr>
                        <a:t> Nay </a:t>
                      </a:r>
                      <a:r>
                        <a:rPr lang="en-US" sz="1800" dirty="0" err="1" smtClean="0">
                          <a:solidFill>
                            <a:srgbClr val="00B0F0"/>
                          </a:solidFill>
                          <a:latin typeface="Times New Roman"/>
                          <a:ea typeface="Times New Roman"/>
                          <a:cs typeface="Times New Roman"/>
                          <a:sym typeface="Times New Roman"/>
                        </a:rPr>
                        <a:t>Htoo</a:t>
                      </a:r>
                      <a:r>
                        <a:rPr lang="en-US" sz="1800" dirty="0" smtClean="0">
                          <a:solidFill>
                            <a:srgbClr val="00B0F0"/>
                          </a:solidFill>
                          <a:latin typeface="Times New Roman"/>
                          <a:ea typeface="Times New Roman"/>
                          <a:cs typeface="Times New Roman"/>
                          <a:sym typeface="Times New Roman"/>
                        </a:rPr>
                        <a:t> Aung</a:t>
                      </a:r>
                      <a:endParaRPr lang="en-US" sz="1800" dirty="0">
                        <a:solidFill>
                          <a:srgbClr val="00B0F0"/>
                        </a:solidFill>
                        <a:latin typeface="Times New Roman"/>
                        <a:ea typeface="Times New Roman"/>
                        <a:cs typeface="Times New Roman"/>
                        <a:sym typeface="Times New Roman"/>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181872">
                <a:tc>
                  <a:txBody>
                    <a:bodyPr/>
                    <a:lstStyle/>
                    <a:p>
                      <a:pPr algn="ctr">
                        <a:lnSpc>
                          <a:spcPts val="2160"/>
                        </a:lnSpc>
                        <a:defRPr/>
                      </a:pPr>
                      <a:r>
                        <a:rPr lang="en-US" sz="1800" dirty="0" smtClean="0">
                          <a:solidFill>
                            <a:srgbClr val="000000"/>
                          </a:solidFill>
                          <a:latin typeface="Times New Roman"/>
                          <a:ea typeface="Times New Roman"/>
                          <a:cs typeface="Times New Roman"/>
                          <a:sym typeface="Times New Roman"/>
                        </a:rPr>
                        <a:t>16:00 </a:t>
                      </a:r>
                      <a:r>
                        <a:rPr lang="en-US" sz="1800" dirty="0">
                          <a:solidFill>
                            <a:srgbClr val="000000"/>
                          </a:solidFill>
                          <a:latin typeface="Times New Roman"/>
                          <a:ea typeface="Times New Roman"/>
                          <a:cs typeface="Times New Roman"/>
                          <a:sym typeface="Times New Roman"/>
                        </a:rPr>
                        <a:t>~ </a:t>
                      </a:r>
                      <a:r>
                        <a:rPr lang="en-US" sz="1800" dirty="0" smtClean="0">
                          <a:solidFill>
                            <a:srgbClr val="000000"/>
                          </a:solidFill>
                          <a:latin typeface="Times New Roman"/>
                          <a:ea typeface="Times New Roman"/>
                          <a:cs typeface="Times New Roman"/>
                          <a:sym typeface="Times New Roman"/>
                        </a:rPr>
                        <a:t>16:20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vi-VN" sz="1800" dirty="0" smtClean="0">
                          <a:solidFill>
                            <a:srgbClr val="000000"/>
                          </a:solidFill>
                          <a:latin typeface="Times New Roman"/>
                          <a:ea typeface="Times New Roman"/>
                          <a:cs typeface="Times New Roman"/>
                          <a:sym typeface="Times New Roman"/>
                        </a:rPr>
                        <a:t>Tăng cường sức bền doanh nghiệp: Ứng phó với biến động toàn cầu bằng tự động hóa</a:t>
                      </a:r>
                      <a:r>
                        <a:rPr lang="en-US" sz="1800" dirty="0" smtClean="0">
                          <a:solidFill>
                            <a:srgbClr val="000000"/>
                          </a:solidFill>
                          <a:latin typeface="Times New Roman"/>
                          <a:ea typeface="Times New Roman"/>
                          <a:cs typeface="Times New Roman"/>
                          <a:sym typeface="Times New Roman"/>
                        </a:rPr>
                        <a:t/>
                      </a:r>
                      <a:br>
                        <a:rPr lang="en-US" sz="1800" dirty="0" smtClean="0">
                          <a:solidFill>
                            <a:srgbClr val="000000"/>
                          </a:solidFill>
                          <a:latin typeface="Times New Roman"/>
                          <a:ea typeface="Times New Roman"/>
                          <a:cs typeface="Times New Roman"/>
                          <a:sym typeface="Times New Roman"/>
                        </a:rPr>
                      </a:br>
                      <a:r>
                        <a:rPr lang="en-US" sz="1800" dirty="0" smtClean="0">
                          <a:solidFill>
                            <a:srgbClr val="00B0F0"/>
                          </a:solidFill>
                          <a:latin typeface="Times New Roman"/>
                          <a:ea typeface="Times New Roman"/>
                          <a:cs typeface="Times New Roman"/>
                          <a:sym typeface="Times New Roman"/>
                        </a:rPr>
                        <a:t>Samsung SDS </a:t>
                      </a:r>
                      <a:r>
                        <a:rPr lang="en-US" sz="1800" dirty="0" err="1" smtClean="0">
                          <a:solidFill>
                            <a:srgbClr val="00B0F0"/>
                          </a:solidFill>
                          <a:latin typeface="Times New Roman"/>
                          <a:ea typeface="Times New Roman"/>
                          <a:cs typeface="Times New Roman"/>
                          <a:sym typeface="Times New Roman"/>
                        </a:rPr>
                        <a:t>Châu</a:t>
                      </a:r>
                      <a:r>
                        <a:rPr lang="en-US" sz="1800" baseline="0" dirty="0" smtClean="0">
                          <a:solidFill>
                            <a:srgbClr val="00B0F0"/>
                          </a:solidFill>
                          <a:latin typeface="Times New Roman"/>
                          <a:ea typeface="Times New Roman"/>
                          <a:cs typeface="Times New Roman"/>
                          <a:sym typeface="Times New Roman"/>
                        </a:rPr>
                        <a:t> Á – </a:t>
                      </a:r>
                      <a:r>
                        <a:rPr lang="en-US" sz="1800" baseline="0" dirty="0" err="1" smtClean="0">
                          <a:solidFill>
                            <a:srgbClr val="00B0F0"/>
                          </a:solidFill>
                          <a:latin typeface="Times New Roman"/>
                          <a:ea typeface="Times New Roman"/>
                          <a:cs typeface="Times New Roman"/>
                          <a:sym typeface="Times New Roman"/>
                        </a:rPr>
                        <a:t>Thái</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Bình</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Dương</a:t>
                      </a:r>
                      <a:r>
                        <a:rPr lang="en-US" sz="1800" dirty="0" smtClean="0">
                          <a:solidFill>
                            <a:srgbClr val="00B0F0"/>
                          </a:solidFill>
                          <a:latin typeface="Times New Roman"/>
                          <a:ea typeface="Times New Roman"/>
                          <a:cs typeface="Times New Roman"/>
                          <a:sym typeface="Times New Roman"/>
                        </a:rPr>
                        <a:t>,</a:t>
                      </a:r>
                      <a:br>
                        <a:rPr lang="en-US" sz="1800" dirty="0" smtClean="0">
                          <a:solidFill>
                            <a:srgbClr val="00B0F0"/>
                          </a:solidFill>
                          <a:latin typeface="Times New Roman"/>
                          <a:ea typeface="Times New Roman"/>
                          <a:cs typeface="Times New Roman"/>
                          <a:sym typeface="Times New Roman"/>
                        </a:rPr>
                      </a:br>
                      <a:r>
                        <a:rPr lang="en-US" sz="1800" dirty="0" err="1" smtClean="0">
                          <a:solidFill>
                            <a:srgbClr val="00B0F0"/>
                          </a:solidFill>
                          <a:latin typeface="Times New Roman"/>
                          <a:ea typeface="Times New Roman"/>
                          <a:cs typeface="Times New Roman"/>
                          <a:sym typeface="Times New Roman"/>
                        </a:rPr>
                        <a:t>Trưởng</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bộ</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phận</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vận</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hành</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và</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tự</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động</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hóa</a:t>
                      </a:r>
                      <a:r>
                        <a:rPr lang="en-US" sz="1800" baseline="0" dirty="0" smtClean="0">
                          <a:solidFill>
                            <a:srgbClr val="00B0F0"/>
                          </a:solidFill>
                          <a:latin typeface="Times New Roman"/>
                          <a:ea typeface="Times New Roman"/>
                          <a:cs typeface="Times New Roman"/>
                          <a:sym typeface="Times New Roman"/>
                        </a:rPr>
                        <a:t> </a:t>
                      </a:r>
                      <a:r>
                        <a:rPr lang="en-US" sz="1800" dirty="0" smtClean="0">
                          <a:solidFill>
                            <a:srgbClr val="00B0F0"/>
                          </a:solidFill>
                          <a:latin typeface="Times New Roman"/>
                          <a:ea typeface="Times New Roman"/>
                          <a:cs typeface="Times New Roman"/>
                          <a:sym typeface="Times New Roman"/>
                        </a:rPr>
                        <a:t>| </a:t>
                      </a:r>
                      <a:r>
                        <a:rPr lang="en-US" sz="1800" dirty="0" err="1" smtClean="0">
                          <a:solidFill>
                            <a:srgbClr val="00B0F0"/>
                          </a:solidFill>
                          <a:latin typeface="Times New Roman"/>
                          <a:ea typeface="Times New Roman"/>
                          <a:cs typeface="Times New Roman"/>
                          <a:sym typeface="Times New Roman"/>
                        </a:rPr>
                        <a:t>Ông</a:t>
                      </a:r>
                      <a:r>
                        <a:rPr lang="en-US" sz="1800" dirty="0" smtClean="0">
                          <a:solidFill>
                            <a:srgbClr val="00B0F0"/>
                          </a:solidFill>
                          <a:latin typeface="Times New Roman"/>
                          <a:ea typeface="Times New Roman"/>
                          <a:cs typeface="Times New Roman"/>
                          <a:sym typeface="Times New Roman"/>
                        </a:rPr>
                        <a:t> Lee Je Ho</a:t>
                      </a:r>
                      <a:endParaRPr lang="en-US" sz="1800" dirty="0">
                        <a:solidFill>
                          <a:srgbClr val="00B0F0"/>
                        </a:solidFill>
                        <a:latin typeface="Times New Roman"/>
                        <a:ea typeface="Times New Roman"/>
                        <a:cs typeface="Times New Roman"/>
                        <a:sym typeface="Times New Roman"/>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49993">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16:20 ~ 17:00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err="1" smtClean="0">
                          <a:solidFill>
                            <a:srgbClr val="000000"/>
                          </a:solidFill>
                          <a:latin typeface="Times New Roman"/>
                          <a:ea typeface="Times New Roman"/>
                          <a:cs typeface="Times New Roman"/>
                          <a:sym typeface="Times New Roman"/>
                        </a:rPr>
                        <a:t>Rút</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thăm</a:t>
                      </a:r>
                      <a:r>
                        <a:rPr lang="en-US" sz="1800" dirty="0" smtClean="0">
                          <a:solidFill>
                            <a:srgbClr val="000000"/>
                          </a:solidFill>
                          <a:latin typeface="Times New Roman"/>
                          <a:ea typeface="Times New Roman"/>
                          <a:cs typeface="Times New Roman"/>
                          <a:sym typeface="Times New Roman"/>
                        </a:rPr>
                        <a:t> may </a:t>
                      </a:r>
                      <a:r>
                        <a:rPr lang="en-US" sz="1800" dirty="0" err="1" smtClean="0">
                          <a:solidFill>
                            <a:srgbClr val="000000"/>
                          </a:solidFill>
                          <a:latin typeface="Times New Roman"/>
                          <a:ea typeface="Times New Roman"/>
                          <a:cs typeface="Times New Roman"/>
                          <a:sym typeface="Times New Roman"/>
                        </a:rPr>
                        <a:t>mắn</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và</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Bế</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mạc</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7" name="TextBox 7"/>
          <p:cNvSpPr txBox="1"/>
          <p:nvPr/>
        </p:nvSpPr>
        <p:spPr>
          <a:xfrm>
            <a:off x="9448800" y="9334500"/>
            <a:ext cx="8341195" cy="444811"/>
          </a:xfrm>
          <a:prstGeom prst="rect">
            <a:avLst/>
          </a:prstGeom>
        </p:spPr>
        <p:txBody>
          <a:bodyPr lIns="50800" tIns="50800" rIns="50800" bIns="50800" rtlCol="0" anchor="t"/>
          <a:lstStyle/>
          <a:p>
            <a:pPr>
              <a:lnSpc>
                <a:spcPts val="2160"/>
              </a:lnSpc>
            </a:pPr>
            <a:r>
              <a:rPr lang="en-US" dirty="0">
                <a:solidFill>
                  <a:srgbClr val="000000"/>
                </a:solidFill>
                <a:latin typeface="Times New Roman"/>
                <a:ea typeface="Times New Roman"/>
                <a:cs typeface="Times New Roman"/>
                <a:sym typeface="Times New Roman"/>
              </a:rPr>
              <a:t>※ </a:t>
            </a:r>
            <a:r>
              <a:rPr lang="en-US" dirty="0" err="1" smtClean="0">
                <a:solidFill>
                  <a:srgbClr val="000000"/>
                </a:solidFill>
                <a:latin typeface="Times New Roman"/>
                <a:ea typeface="Times New Roman"/>
                <a:cs typeface="Times New Roman"/>
                <a:sym typeface="Times New Roman"/>
              </a:rPr>
              <a:t>Chương</a:t>
            </a:r>
            <a:r>
              <a:rPr lang="en-US" dirty="0" smtClean="0">
                <a:solidFill>
                  <a:srgbClr val="000000"/>
                </a:solidFill>
                <a:latin typeface="Times New Roman"/>
                <a:ea typeface="Times New Roman"/>
                <a:cs typeface="Times New Roman"/>
                <a:sym typeface="Times New Roman"/>
              </a:rPr>
              <a:t> </a:t>
            </a:r>
            <a:r>
              <a:rPr lang="en-US" dirty="0" err="1" smtClean="0">
                <a:solidFill>
                  <a:srgbClr val="000000"/>
                </a:solidFill>
                <a:latin typeface="Times New Roman"/>
                <a:ea typeface="Times New Roman"/>
                <a:cs typeface="Times New Roman"/>
                <a:sym typeface="Times New Roman"/>
              </a:rPr>
              <a:t>trình</a:t>
            </a:r>
            <a:r>
              <a:rPr lang="en-US" dirty="0" smtClean="0">
                <a:solidFill>
                  <a:srgbClr val="000000"/>
                </a:solidFill>
                <a:latin typeface="Times New Roman"/>
                <a:ea typeface="Times New Roman"/>
                <a:cs typeface="Times New Roman"/>
                <a:sym typeface="Times New Roman"/>
              </a:rPr>
              <a:t>/ </a:t>
            </a:r>
            <a:r>
              <a:rPr lang="en-US" dirty="0" err="1" smtClean="0">
                <a:solidFill>
                  <a:srgbClr val="000000"/>
                </a:solidFill>
                <a:latin typeface="Times New Roman"/>
                <a:ea typeface="Times New Roman"/>
                <a:cs typeface="Times New Roman"/>
                <a:sym typeface="Times New Roman"/>
              </a:rPr>
              <a:t>Diễn</a:t>
            </a:r>
            <a:r>
              <a:rPr lang="en-US" dirty="0" smtClean="0">
                <a:solidFill>
                  <a:srgbClr val="000000"/>
                </a:solidFill>
                <a:latin typeface="Times New Roman"/>
                <a:ea typeface="Times New Roman"/>
                <a:cs typeface="Times New Roman"/>
                <a:sym typeface="Times New Roman"/>
              </a:rPr>
              <a:t> </a:t>
            </a:r>
            <a:r>
              <a:rPr lang="en-US" dirty="0" err="1" smtClean="0">
                <a:solidFill>
                  <a:srgbClr val="000000"/>
                </a:solidFill>
                <a:latin typeface="Times New Roman"/>
                <a:ea typeface="Times New Roman"/>
                <a:cs typeface="Times New Roman"/>
                <a:sym typeface="Times New Roman"/>
              </a:rPr>
              <a:t>giả</a:t>
            </a:r>
            <a:r>
              <a:rPr lang="en-US" dirty="0" smtClean="0">
                <a:solidFill>
                  <a:srgbClr val="000000"/>
                </a:solidFill>
                <a:latin typeface="Times New Roman"/>
                <a:ea typeface="Times New Roman"/>
                <a:cs typeface="Times New Roman"/>
                <a:sym typeface="Times New Roman"/>
              </a:rPr>
              <a:t> </a:t>
            </a:r>
            <a:r>
              <a:rPr lang="vi-VN" dirty="0" smtClean="0">
                <a:solidFill>
                  <a:srgbClr val="000000"/>
                </a:solidFill>
                <a:latin typeface="Times New Roman"/>
                <a:ea typeface="Times New Roman"/>
                <a:cs typeface="Times New Roman"/>
                <a:sym typeface="Times New Roman"/>
              </a:rPr>
              <a:t>có thể thay đổi mà không cần thông báo trước.</a:t>
            </a:r>
            <a:r>
              <a:rPr lang="en-SG" dirty="0">
                <a:solidFill>
                  <a:srgbClr val="000000"/>
                </a:solidFill>
                <a:latin typeface="Times New Roman"/>
                <a:ea typeface="Times New Roman"/>
                <a:cs typeface="Times New Roman"/>
                <a:sym typeface="Times New Roman"/>
              </a:rPr>
              <a:t/>
            </a:r>
            <a:br>
              <a:rPr lang="en-SG" dirty="0">
                <a:solidFill>
                  <a:srgbClr val="000000"/>
                </a:solidFill>
                <a:latin typeface="Times New Roman"/>
                <a:ea typeface="Times New Roman"/>
                <a:cs typeface="Times New Roman"/>
                <a:sym typeface="Times New Roman"/>
              </a:rPr>
            </a:br>
            <a:r>
              <a:rPr lang="en-US" dirty="0">
                <a:solidFill>
                  <a:srgbClr val="000000"/>
                </a:solidFill>
                <a:latin typeface="Times New Roman"/>
                <a:ea typeface="Times New Roman"/>
                <a:cs typeface="Times New Roman"/>
                <a:sym typeface="Times New Roman"/>
              </a:rPr>
              <a:t>※ </a:t>
            </a:r>
            <a:r>
              <a:rPr lang="en-SG" dirty="0" err="1" smtClean="0">
                <a:solidFill>
                  <a:srgbClr val="000000"/>
                </a:solidFill>
                <a:latin typeface="Times New Roman"/>
                <a:ea typeface="Times New Roman"/>
                <a:cs typeface="Times New Roman"/>
                <a:sym typeface="Times New Roman"/>
              </a:rPr>
              <a:t>Ngôn</a:t>
            </a:r>
            <a:r>
              <a:rPr lang="en-SG" dirty="0" smtClean="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ngữ</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chính</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của</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hội</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nghị</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sẽ</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là</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tiếng</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Hàn</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và</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tiếng</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Anh</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kèm</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theo</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phiên</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dịch</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tiếng</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Việt</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trong</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điều</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kiện</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cho</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phép</a:t>
            </a:r>
            <a:r>
              <a:rPr lang="en-SG" dirty="0" smtClean="0">
                <a:solidFill>
                  <a:srgbClr val="000000"/>
                </a:solidFill>
                <a:latin typeface="Times New Roman"/>
                <a:ea typeface="Times New Roman"/>
                <a:cs typeface="Times New Roman"/>
                <a:sym typeface="Times New Roman"/>
              </a:rPr>
              <a:t>.</a:t>
            </a:r>
            <a:endParaRPr lang="en-SG" dirty="0">
              <a:solidFill>
                <a:srgbClr val="000000"/>
              </a:solidFill>
              <a:latin typeface="Times New Roman"/>
              <a:ea typeface="Times New Roman"/>
              <a:cs typeface="Times New Roman"/>
              <a:sym typeface="Times New Roman"/>
            </a:endParaRPr>
          </a:p>
        </p:txBody>
      </p:sp>
      <p:grpSp>
        <p:nvGrpSpPr>
          <p:cNvPr id="8" name="Group 8"/>
          <p:cNvGrpSpPr/>
          <p:nvPr/>
        </p:nvGrpSpPr>
        <p:grpSpPr>
          <a:xfrm>
            <a:off x="793975" y="1920650"/>
            <a:ext cx="8027805" cy="6021162"/>
            <a:chOff x="0" y="0"/>
            <a:chExt cx="10703739" cy="8028216"/>
          </a:xfrm>
        </p:grpSpPr>
        <p:sp>
          <p:nvSpPr>
            <p:cNvPr id="9" name="Freeform 9"/>
            <p:cNvSpPr/>
            <p:nvPr/>
          </p:nvSpPr>
          <p:spPr>
            <a:xfrm>
              <a:off x="0" y="0"/>
              <a:ext cx="10703740" cy="8028178"/>
            </a:xfrm>
            <a:custGeom>
              <a:avLst/>
              <a:gdLst/>
              <a:ahLst/>
              <a:cxnLst/>
              <a:rect l="l" t="t" r="r" b="b"/>
              <a:pathLst>
                <a:path w="10703740" h="8028178">
                  <a:moveTo>
                    <a:pt x="0" y="0"/>
                  </a:moveTo>
                  <a:lnTo>
                    <a:pt x="10703740" y="0"/>
                  </a:lnTo>
                  <a:lnTo>
                    <a:pt x="10703740" y="8028178"/>
                  </a:lnTo>
                  <a:lnTo>
                    <a:pt x="0" y="8028178"/>
                  </a:lnTo>
                  <a:close/>
                </a:path>
              </a:pathLst>
            </a:custGeom>
            <a:blipFill>
              <a:blip r:embed="rId4">
                <a:alphaModFix amt="0"/>
              </a:blip>
              <a:stretch>
                <a:fillRect l="-43729" r="-48735"/>
              </a:stretch>
            </a:blipFill>
            <a:ln w="28575" cap="sq">
              <a:solidFill>
                <a:srgbClr val="FF0000"/>
              </a:solidFill>
              <a:prstDash val="solid"/>
              <a:miter/>
            </a:ln>
          </p:spPr>
        </p:sp>
      </p:grpSp>
      <p:sp>
        <p:nvSpPr>
          <p:cNvPr id="10" name="AutoShape 10"/>
          <p:cNvSpPr/>
          <p:nvPr/>
        </p:nvSpPr>
        <p:spPr>
          <a:xfrm rot="2700000">
            <a:off x="3898649" y="864051"/>
            <a:ext cx="40415" cy="0"/>
          </a:xfrm>
          <a:prstGeom prst="line">
            <a:avLst/>
          </a:prstGeom>
          <a:ln w="19050" cap="rnd">
            <a:solidFill>
              <a:srgbClr val="156082"/>
            </a:solidFill>
            <a:prstDash val="solid"/>
            <a:headEnd type="none" w="sm" len="sm"/>
            <a:tailEnd type="none" w="sm" len="sm"/>
          </a:ln>
        </p:spPr>
      </p:sp>
      <p:grpSp>
        <p:nvGrpSpPr>
          <p:cNvPr id="11" name="Group 11"/>
          <p:cNvGrpSpPr/>
          <p:nvPr/>
        </p:nvGrpSpPr>
        <p:grpSpPr>
          <a:xfrm>
            <a:off x="3920900" y="1179376"/>
            <a:ext cx="1914525" cy="671874"/>
            <a:chOff x="0" y="0"/>
            <a:chExt cx="2552700" cy="895833"/>
          </a:xfrm>
        </p:grpSpPr>
        <p:sp>
          <p:nvSpPr>
            <p:cNvPr id="12" name="Freeform 12"/>
            <p:cNvSpPr/>
            <p:nvPr/>
          </p:nvSpPr>
          <p:spPr>
            <a:xfrm>
              <a:off x="0" y="0"/>
              <a:ext cx="2552700" cy="895858"/>
            </a:xfrm>
            <a:custGeom>
              <a:avLst/>
              <a:gdLst/>
              <a:ahLst/>
              <a:cxnLst/>
              <a:rect l="l" t="t" r="r" b="b"/>
              <a:pathLst>
                <a:path w="2552700" h="895858">
                  <a:moveTo>
                    <a:pt x="0" y="0"/>
                  </a:moveTo>
                  <a:lnTo>
                    <a:pt x="2552700" y="0"/>
                  </a:lnTo>
                  <a:lnTo>
                    <a:pt x="2552700" y="895858"/>
                  </a:lnTo>
                  <a:lnTo>
                    <a:pt x="0" y="895858"/>
                  </a:lnTo>
                  <a:close/>
                </a:path>
              </a:pathLst>
            </a:custGeom>
            <a:blipFill>
              <a:blip r:embed="rId4">
                <a:alphaModFix amt="0"/>
              </a:blip>
              <a:stretch>
                <a:fillRect t="-5523" b="-5520"/>
              </a:stretch>
            </a:blipFill>
            <a:ln w="28575" cap="sq">
              <a:solidFill>
                <a:srgbClr val="FF0000"/>
              </a:solidFill>
              <a:prstDash val="solid"/>
              <a:miter/>
            </a:ln>
          </p:spPr>
        </p:sp>
      </p:grpSp>
      <p:sp>
        <p:nvSpPr>
          <p:cNvPr id="13" name="AutoShape 13"/>
          <p:cNvSpPr/>
          <p:nvPr/>
        </p:nvSpPr>
        <p:spPr>
          <a:xfrm rot="2700000">
            <a:off x="3898649" y="864051"/>
            <a:ext cx="40415" cy="0"/>
          </a:xfrm>
          <a:prstGeom prst="line">
            <a:avLst/>
          </a:prstGeom>
          <a:ln w="19050" cap="rnd">
            <a:solidFill>
              <a:srgbClr val="156082"/>
            </a:solidFill>
            <a:prstDash val="solid"/>
            <a:headEnd type="none" w="sm" len="sm"/>
            <a:tailEnd type="none" w="sm" len="sm"/>
          </a:ln>
        </p:spPr>
      </p:sp>
      <p:grpSp>
        <p:nvGrpSpPr>
          <p:cNvPr id="14" name="Group 14"/>
          <p:cNvGrpSpPr/>
          <p:nvPr/>
        </p:nvGrpSpPr>
        <p:grpSpPr>
          <a:xfrm>
            <a:off x="9413405" y="1028700"/>
            <a:ext cx="2626195" cy="468269"/>
            <a:chOff x="0" y="0"/>
            <a:chExt cx="4147452" cy="624359"/>
          </a:xfrm>
        </p:grpSpPr>
        <p:sp>
          <p:nvSpPr>
            <p:cNvPr id="15" name="Freeform 15"/>
            <p:cNvSpPr/>
            <p:nvPr/>
          </p:nvSpPr>
          <p:spPr>
            <a:xfrm>
              <a:off x="0" y="0"/>
              <a:ext cx="4147439" cy="624371"/>
            </a:xfrm>
            <a:custGeom>
              <a:avLst/>
              <a:gdLst/>
              <a:ahLst/>
              <a:cxnLst/>
              <a:rect l="l" t="t" r="r" b="b"/>
              <a:pathLst>
                <a:path w="4147439" h="624371">
                  <a:moveTo>
                    <a:pt x="0" y="0"/>
                  </a:moveTo>
                  <a:lnTo>
                    <a:pt x="4147439" y="0"/>
                  </a:lnTo>
                  <a:lnTo>
                    <a:pt x="4147439" y="624371"/>
                  </a:lnTo>
                  <a:lnTo>
                    <a:pt x="0" y="624371"/>
                  </a:lnTo>
                  <a:close/>
                </a:path>
              </a:pathLst>
            </a:custGeom>
            <a:blipFill>
              <a:blip r:embed="rId4">
                <a:alphaModFix amt="0"/>
              </a:blip>
              <a:stretch>
                <a:fillRect t="-80137" b="-78725"/>
              </a:stretch>
            </a:blipFill>
            <a:ln cap="sq">
              <a:noFill/>
              <a:prstDash val="solid"/>
              <a:miter/>
            </a:ln>
          </p:spPr>
        </p:sp>
        <p:sp>
          <p:nvSpPr>
            <p:cNvPr id="16" name="TextBox 16"/>
            <p:cNvSpPr txBox="1"/>
            <p:nvPr/>
          </p:nvSpPr>
          <p:spPr>
            <a:xfrm>
              <a:off x="0" y="-9525"/>
              <a:ext cx="4147452" cy="633884"/>
            </a:xfrm>
            <a:prstGeom prst="rect">
              <a:avLst/>
            </a:prstGeom>
          </p:spPr>
          <p:txBody>
            <a:bodyPr lIns="50800" tIns="50800" rIns="50800" bIns="50800" rtlCol="0" anchor="t"/>
            <a:lstStyle/>
            <a:p>
              <a:pPr algn="l">
                <a:lnSpc>
                  <a:spcPts val="2520"/>
                </a:lnSpc>
              </a:pPr>
              <a:r>
                <a:rPr lang="en-US" sz="2100" b="1" dirty="0" err="1" smtClean="0">
                  <a:solidFill>
                    <a:srgbClr val="000000"/>
                  </a:solidFill>
                  <a:latin typeface="+mj-lt"/>
                  <a:ea typeface="Aptos Bold"/>
                  <a:cs typeface="Times New Roman" panose="02020603050405020304" pitchFamily="18" charset="0"/>
                  <a:sym typeface="Aptos Bold"/>
                </a:rPr>
                <a:t>Nội</a:t>
              </a:r>
              <a:r>
                <a:rPr lang="en-US" sz="2100" b="1" dirty="0" smtClean="0">
                  <a:solidFill>
                    <a:srgbClr val="000000"/>
                  </a:solidFill>
                  <a:latin typeface="+mj-lt"/>
                  <a:ea typeface="Aptos Bold"/>
                  <a:cs typeface="Times New Roman" panose="02020603050405020304" pitchFamily="18" charset="0"/>
                  <a:sym typeface="Aptos Bold"/>
                </a:rPr>
                <a:t> dung </a:t>
              </a:r>
              <a:r>
                <a:rPr lang="en-US" sz="2100" b="1" dirty="0" err="1" smtClean="0">
                  <a:solidFill>
                    <a:srgbClr val="000000"/>
                  </a:solidFill>
                  <a:latin typeface="+mj-lt"/>
                  <a:ea typeface="Aptos Bold"/>
                  <a:cs typeface="Times New Roman" panose="02020603050405020304" pitchFamily="18" charset="0"/>
                  <a:sym typeface="Aptos Bold"/>
                </a:rPr>
                <a:t>chương</a:t>
              </a:r>
              <a:r>
                <a:rPr lang="en-US" sz="2100" b="1" dirty="0" smtClean="0">
                  <a:solidFill>
                    <a:srgbClr val="000000"/>
                  </a:solidFill>
                  <a:latin typeface="+mj-lt"/>
                  <a:ea typeface="Aptos Bold"/>
                  <a:cs typeface="Times New Roman" panose="02020603050405020304" pitchFamily="18" charset="0"/>
                  <a:sym typeface="Aptos Bold"/>
                </a:rPr>
                <a:t> </a:t>
              </a:r>
              <a:r>
                <a:rPr lang="en-US" sz="2100" b="1" dirty="0" err="1" smtClean="0">
                  <a:solidFill>
                    <a:srgbClr val="000000"/>
                  </a:solidFill>
                  <a:latin typeface="+mj-lt"/>
                  <a:ea typeface="Aptos Bold"/>
                  <a:cs typeface="Times New Roman" panose="02020603050405020304" pitchFamily="18" charset="0"/>
                  <a:sym typeface="Aptos Bold"/>
                </a:rPr>
                <a:t>trình</a:t>
              </a:r>
              <a:endParaRPr lang="en-US" sz="2100" b="1" dirty="0">
                <a:solidFill>
                  <a:srgbClr val="000000"/>
                </a:solidFill>
                <a:latin typeface="+mj-lt"/>
                <a:ea typeface="Aptos Bold"/>
                <a:cs typeface="Times New Roman" panose="02020603050405020304" pitchFamily="18" charset="0"/>
                <a:sym typeface="Aptos Bold"/>
              </a:endParaRPr>
            </a:p>
          </p:txBody>
        </p:sp>
      </p:grpSp>
      <p:sp>
        <p:nvSpPr>
          <p:cNvPr id="17" name="AutoShape 17"/>
          <p:cNvSpPr/>
          <p:nvPr/>
        </p:nvSpPr>
        <p:spPr>
          <a:xfrm flipV="1">
            <a:off x="5835425" y="1262835"/>
            <a:ext cx="3577981" cy="252479"/>
          </a:xfrm>
          <a:prstGeom prst="line">
            <a:avLst/>
          </a:prstGeom>
          <a:ln w="19050" cap="rnd">
            <a:solidFill>
              <a:srgbClr val="FF0000"/>
            </a:solidFill>
            <a:prstDash val="solid"/>
            <a:headEnd type="none" w="sm" len="sm"/>
            <a:tailEnd type="none" w="sm" len="sm"/>
          </a:ln>
        </p:spPr>
      </p:sp>
      <p:grpSp>
        <p:nvGrpSpPr>
          <p:cNvPr id="19" name="Group 19"/>
          <p:cNvGrpSpPr/>
          <p:nvPr/>
        </p:nvGrpSpPr>
        <p:grpSpPr>
          <a:xfrm>
            <a:off x="2181901" y="9040720"/>
            <a:ext cx="5147586" cy="700897"/>
            <a:chOff x="0" y="0"/>
            <a:chExt cx="6863448" cy="934529"/>
          </a:xfrm>
        </p:grpSpPr>
        <p:sp>
          <p:nvSpPr>
            <p:cNvPr id="20" name="Freeform 20"/>
            <p:cNvSpPr/>
            <p:nvPr/>
          </p:nvSpPr>
          <p:spPr>
            <a:xfrm>
              <a:off x="0" y="0"/>
              <a:ext cx="6863461" cy="934593"/>
            </a:xfrm>
            <a:custGeom>
              <a:avLst/>
              <a:gdLst/>
              <a:ahLst/>
              <a:cxnLst/>
              <a:rect l="l" t="t" r="r" b="b"/>
              <a:pathLst>
                <a:path w="6863461" h="934593">
                  <a:moveTo>
                    <a:pt x="0" y="0"/>
                  </a:moveTo>
                  <a:lnTo>
                    <a:pt x="6863461" y="0"/>
                  </a:lnTo>
                  <a:lnTo>
                    <a:pt x="6863461" y="934593"/>
                  </a:lnTo>
                  <a:lnTo>
                    <a:pt x="0" y="934593"/>
                  </a:lnTo>
                  <a:close/>
                </a:path>
              </a:pathLst>
            </a:custGeom>
            <a:blipFill>
              <a:blip r:embed="rId4">
                <a:alphaModFix amt="0"/>
              </a:blip>
              <a:stretch>
                <a:fillRect t="-93097" b="-93090"/>
              </a:stretch>
            </a:blipFill>
            <a:ln w="28575" cap="sq">
              <a:solidFill>
                <a:srgbClr val="FF0000"/>
              </a:solidFill>
              <a:prstDash val="solid"/>
              <a:miter/>
            </a:ln>
          </p:spPr>
        </p:sp>
      </p:grpSp>
      <p:sp>
        <p:nvSpPr>
          <p:cNvPr id="21" name="AutoShape 21"/>
          <p:cNvSpPr/>
          <p:nvPr/>
        </p:nvSpPr>
        <p:spPr>
          <a:xfrm>
            <a:off x="7300913" y="9376872"/>
            <a:ext cx="2112492" cy="149484"/>
          </a:xfrm>
          <a:prstGeom prst="line">
            <a:avLst/>
          </a:prstGeom>
          <a:ln w="19050" cap="rnd">
            <a:solidFill>
              <a:srgbClr val="FF0000"/>
            </a:solidFill>
            <a:prstDash val="solid"/>
            <a:headEnd type="none" w="sm" len="sm"/>
            <a:tailEnd type="none" w="sm" len="sm"/>
          </a:ln>
        </p:spPr>
      </p:sp>
      <p:grpSp>
        <p:nvGrpSpPr>
          <p:cNvPr id="22" name="Group 22"/>
          <p:cNvGrpSpPr/>
          <p:nvPr/>
        </p:nvGrpSpPr>
        <p:grpSpPr>
          <a:xfrm>
            <a:off x="793975" y="7996685"/>
            <a:ext cx="5147586" cy="700897"/>
            <a:chOff x="0" y="0"/>
            <a:chExt cx="6863448" cy="934529"/>
          </a:xfrm>
        </p:grpSpPr>
        <p:sp>
          <p:nvSpPr>
            <p:cNvPr id="23" name="Freeform 23"/>
            <p:cNvSpPr/>
            <p:nvPr/>
          </p:nvSpPr>
          <p:spPr>
            <a:xfrm>
              <a:off x="0" y="0"/>
              <a:ext cx="6863461" cy="934593"/>
            </a:xfrm>
            <a:custGeom>
              <a:avLst/>
              <a:gdLst/>
              <a:ahLst/>
              <a:cxnLst/>
              <a:rect l="l" t="t" r="r" b="b"/>
              <a:pathLst>
                <a:path w="6863461" h="934593">
                  <a:moveTo>
                    <a:pt x="0" y="0"/>
                  </a:moveTo>
                  <a:lnTo>
                    <a:pt x="6863461" y="0"/>
                  </a:lnTo>
                  <a:lnTo>
                    <a:pt x="6863461" y="934593"/>
                  </a:lnTo>
                  <a:lnTo>
                    <a:pt x="0" y="934593"/>
                  </a:lnTo>
                  <a:close/>
                </a:path>
              </a:pathLst>
            </a:custGeom>
            <a:blipFill>
              <a:blip r:embed="rId4">
                <a:alphaModFix amt="0"/>
              </a:blip>
              <a:stretch>
                <a:fillRect t="-93097" b="-93090"/>
              </a:stretch>
            </a:blipFill>
            <a:ln w="28575" cap="sq">
              <a:solidFill>
                <a:srgbClr val="FF0000"/>
              </a:solidFill>
              <a:prstDash val="solid"/>
              <a:miter/>
            </a:ln>
          </p:spPr>
        </p:sp>
      </p:grpSp>
      <p:sp>
        <p:nvSpPr>
          <p:cNvPr id="24" name="AutoShape 24"/>
          <p:cNvSpPr/>
          <p:nvPr/>
        </p:nvSpPr>
        <p:spPr>
          <a:xfrm>
            <a:off x="5941571" y="8411689"/>
            <a:ext cx="3471834" cy="711839"/>
          </a:xfrm>
          <a:prstGeom prst="line">
            <a:avLst/>
          </a:prstGeom>
          <a:ln w="19050" cap="rnd">
            <a:solidFill>
              <a:srgbClr val="FF0000"/>
            </a:solidFill>
            <a:prstDash val="solid"/>
            <a:headEnd type="none" w="sm" len="sm"/>
            <a:tailEnd type="none" w="sm" len="sm"/>
          </a:ln>
        </p:spPr>
      </p:sp>
      <p:sp>
        <p:nvSpPr>
          <p:cNvPr id="25" name="TextBox 25"/>
          <p:cNvSpPr txBox="1"/>
          <p:nvPr/>
        </p:nvSpPr>
        <p:spPr>
          <a:xfrm>
            <a:off x="15987393" y="368276"/>
            <a:ext cx="2300607" cy="409575"/>
          </a:xfrm>
          <a:prstGeom prst="rect">
            <a:avLst/>
          </a:prstGeom>
        </p:spPr>
        <p:txBody>
          <a:bodyPr lIns="0" tIns="0" rIns="0" bIns="0" rtlCol="0" anchor="t">
            <a:spAutoFit/>
          </a:bodyPr>
          <a:lstStyle/>
          <a:p>
            <a:pPr algn="l">
              <a:lnSpc>
                <a:spcPts val="3240"/>
              </a:lnSpc>
            </a:pPr>
            <a:r>
              <a:rPr lang="en-US" sz="2700" b="1">
                <a:solidFill>
                  <a:srgbClr val="000000"/>
                </a:solidFill>
                <a:latin typeface="Aptos Bold"/>
                <a:ea typeface="Aptos Bold"/>
                <a:cs typeface="Aptos Bold"/>
                <a:sym typeface="Aptos Bold"/>
              </a:rPr>
              <a:t>Vietnamese</a:t>
            </a:r>
          </a:p>
        </p:txBody>
      </p:sp>
      <p:sp>
        <p:nvSpPr>
          <p:cNvPr id="26" name="Freeform 27"/>
          <p:cNvSpPr/>
          <p:nvPr/>
        </p:nvSpPr>
        <p:spPr>
          <a:xfrm>
            <a:off x="9372600" y="9029700"/>
            <a:ext cx="11008160" cy="430503"/>
          </a:xfrm>
          <a:custGeom>
            <a:avLst/>
            <a:gdLst/>
            <a:ahLst/>
            <a:cxnLst/>
            <a:rect l="l" t="t" r="r" b="b"/>
            <a:pathLst>
              <a:path w="10147809" h="574004">
                <a:moveTo>
                  <a:pt x="0" y="0"/>
                </a:moveTo>
                <a:lnTo>
                  <a:pt x="10147809" y="0"/>
                </a:lnTo>
                <a:lnTo>
                  <a:pt x="10147809" y="574004"/>
                </a:lnTo>
                <a:lnTo>
                  <a:pt x="0" y="574004"/>
                </a:lnTo>
                <a:close/>
              </a:path>
            </a:pathLst>
          </a:custGeom>
          <a:blipFill>
            <a:blip r:embed="rId4">
              <a:alphaModFix amt="0"/>
            </a:blip>
            <a:stretch>
              <a:fillRect t="-363455" r="-19518" b="-359970"/>
            </a:stretch>
          </a:blipFill>
          <a:ln cap="sq">
            <a:noFill/>
            <a:prstDash val="solid"/>
            <a:miter/>
          </a:ln>
        </p:spPr>
        <p:txBody>
          <a:bodyPr/>
          <a:lstStyle/>
          <a:p>
            <a:r>
              <a:rPr lang="en-SG" dirty="0" smtClean="0"/>
              <a:t>To remove</a:t>
            </a:r>
            <a:endParaRPr lang="en-SG" dirty="0"/>
          </a:p>
        </p:txBody>
      </p:sp>
    </p:spTree>
    <p:extLst>
      <p:ext uri="{BB962C8B-B14F-4D97-AF65-F5344CB8AC3E}">
        <p14:creationId xmlns:p14="http://schemas.microsoft.com/office/powerpoint/2010/main" val="116252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4774" y="263604"/>
            <a:ext cx="6032630" cy="4727496"/>
            <a:chOff x="0" y="0"/>
            <a:chExt cx="8043507" cy="6303328"/>
          </a:xfrm>
        </p:grpSpPr>
        <p:sp>
          <p:nvSpPr>
            <p:cNvPr id="3" name="Freeform 3"/>
            <p:cNvSpPr/>
            <p:nvPr/>
          </p:nvSpPr>
          <p:spPr>
            <a:xfrm>
              <a:off x="0" y="0"/>
              <a:ext cx="8043545" cy="6303264"/>
            </a:xfrm>
            <a:custGeom>
              <a:avLst/>
              <a:gdLst/>
              <a:ahLst/>
              <a:cxnLst/>
              <a:rect l="l" t="t" r="r" b="b"/>
              <a:pathLst>
                <a:path w="8043545" h="6303264">
                  <a:moveTo>
                    <a:pt x="0" y="0"/>
                  </a:moveTo>
                  <a:lnTo>
                    <a:pt x="8043545" y="0"/>
                  </a:lnTo>
                  <a:lnTo>
                    <a:pt x="8043545" y="6303264"/>
                  </a:lnTo>
                  <a:lnTo>
                    <a:pt x="0" y="6303264"/>
                  </a:lnTo>
                  <a:lnTo>
                    <a:pt x="0" y="0"/>
                  </a:lnTo>
                  <a:close/>
                </a:path>
              </a:pathLst>
            </a:custGeom>
            <a:blipFill>
              <a:blip r:embed="rId2"/>
              <a:stretch>
                <a:fillRect b="-1"/>
              </a:stretch>
            </a:blipFill>
          </p:spPr>
        </p:sp>
      </p:grpSp>
      <p:grpSp>
        <p:nvGrpSpPr>
          <p:cNvPr id="4" name="Group 4"/>
          <p:cNvGrpSpPr/>
          <p:nvPr/>
        </p:nvGrpSpPr>
        <p:grpSpPr>
          <a:xfrm>
            <a:off x="554774" y="5143500"/>
            <a:ext cx="6063682" cy="4727496"/>
            <a:chOff x="0" y="0"/>
            <a:chExt cx="8084909" cy="6303328"/>
          </a:xfrm>
        </p:grpSpPr>
        <p:sp>
          <p:nvSpPr>
            <p:cNvPr id="5" name="Freeform 5"/>
            <p:cNvSpPr/>
            <p:nvPr/>
          </p:nvSpPr>
          <p:spPr>
            <a:xfrm>
              <a:off x="0" y="0"/>
              <a:ext cx="8084947" cy="6303391"/>
            </a:xfrm>
            <a:custGeom>
              <a:avLst/>
              <a:gdLst/>
              <a:ahLst/>
              <a:cxnLst/>
              <a:rect l="l" t="t" r="r" b="b"/>
              <a:pathLst>
                <a:path w="8084947" h="6303391">
                  <a:moveTo>
                    <a:pt x="0" y="0"/>
                  </a:moveTo>
                  <a:lnTo>
                    <a:pt x="8084947" y="0"/>
                  </a:lnTo>
                  <a:lnTo>
                    <a:pt x="8084947" y="6303391"/>
                  </a:lnTo>
                  <a:lnTo>
                    <a:pt x="0" y="6303391"/>
                  </a:lnTo>
                  <a:lnTo>
                    <a:pt x="0" y="0"/>
                  </a:lnTo>
                  <a:close/>
                </a:path>
              </a:pathLst>
            </a:custGeom>
            <a:blipFill>
              <a:blip r:embed="rId3"/>
              <a:stretch>
                <a:fillRect b="1"/>
              </a:stretch>
            </a:blipFill>
          </p:spPr>
        </p:sp>
      </p:grpSp>
      <p:sp>
        <p:nvSpPr>
          <p:cNvPr id="6" name="AutoShape 6"/>
          <p:cNvSpPr/>
          <p:nvPr/>
        </p:nvSpPr>
        <p:spPr>
          <a:xfrm flipH="1">
            <a:off x="6082575" y="1585767"/>
            <a:ext cx="7244997" cy="13005"/>
          </a:xfrm>
          <a:prstGeom prst="line">
            <a:avLst/>
          </a:prstGeom>
          <a:ln w="19050" cap="rnd">
            <a:solidFill>
              <a:srgbClr val="FF0000"/>
            </a:solidFill>
            <a:prstDash val="solid"/>
            <a:headEnd type="none" w="sm" len="sm"/>
            <a:tailEnd type="none" w="sm" len="sm"/>
          </a:ln>
        </p:spPr>
      </p:sp>
      <p:sp>
        <p:nvSpPr>
          <p:cNvPr id="7" name="Freeform 7"/>
          <p:cNvSpPr/>
          <p:nvPr/>
        </p:nvSpPr>
        <p:spPr>
          <a:xfrm>
            <a:off x="6994556" y="4566464"/>
            <a:ext cx="4127561" cy="4546299"/>
          </a:xfrm>
          <a:custGeom>
            <a:avLst/>
            <a:gdLst/>
            <a:ahLst/>
            <a:cxnLst/>
            <a:rect l="l" t="t" r="r" b="b"/>
            <a:pathLst>
              <a:path w="4127561" h="4546299">
                <a:moveTo>
                  <a:pt x="0" y="0"/>
                </a:moveTo>
                <a:lnTo>
                  <a:pt x="4127562" y="0"/>
                </a:lnTo>
                <a:lnTo>
                  <a:pt x="4127562" y="4546299"/>
                </a:lnTo>
                <a:lnTo>
                  <a:pt x="0" y="4546299"/>
                </a:lnTo>
                <a:lnTo>
                  <a:pt x="0" y="0"/>
                </a:lnTo>
                <a:close/>
              </a:path>
            </a:pathLst>
          </a:custGeom>
          <a:blipFill>
            <a:blip r:embed="rId4"/>
            <a:stretch>
              <a:fillRect/>
            </a:stretch>
          </a:blipFill>
        </p:spPr>
      </p:sp>
      <p:sp>
        <p:nvSpPr>
          <p:cNvPr id="8" name="Freeform 8"/>
          <p:cNvSpPr/>
          <p:nvPr/>
        </p:nvSpPr>
        <p:spPr>
          <a:xfrm>
            <a:off x="11900657" y="6334687"/>
            <a:ext cx="2034018" cy="2239655"/>
          </a:xfrm>
          <a:custGeom>
            <a:avLst/>
            <a:gdLst/>
            <a:ahLst/>
            <a:cxnLst/>
            <a:rect l="l" t="t" r="r" b="b"/>
            <a:pathLst>
              <a:path w="2034018" h="2239655">
                <a:moveTo>
                  <a:pt x="0" y="0"/>
                </a:moveTo>
                <a:lnTo>
                  <a:pt x="2034018" y="0"/>
                </a:lnTo>
                <a:lnTo>
                  <a:pt x="2034018" y="2239654"/>
                </a:lnTo>
                <a:lnTo>
                  <a:pt x="0" y="2239654"/>
                </a:lnTo>
                <a:lnTo>
                  <a:pt x="0" y="0"/>
                </a:lnTo>
                <a:close/>
              </a:path>
            </a:pathLst>
          </a:custGeom>
          <a:blipFill>
            <a:blip r:embed="rId5"/>
            <a:stretch>
              <a:fillRect l="-84179" t="-11467" r="-78742" b="-17474"/>
            </a:stretch>
          </a:blipFill>
        </p:spPr>
      </p:sp>
      <p:grpSp>
        <p:nvGrpSpPr>
          <p:cNvPr id="9" name="Group 9"/>
          <p:cNvGrpSpPr/>
          <p:nvPr/>
        </p:nvGrpSpPr>
        <p:grpSpPr>
          <a:xfrm>
            <a:off x="13327572" y="2235111"/>
            <a:ext cx="2052913" cy="430523"/>
            <a:chOff x="0" y="0"/>
            <a:chExt cx="2737217" cy="574030"/>
          </a:xfrm>
        </p:grpSpPr>
        <p:sp>
          <p:nvSpPr>
            <p:cNvPr id="10" name="Freeform 10"/>
            <p:cNvSpPr/>
            <p:nvPr/>
          </p:nvSpPr>
          <p:spPr>
            <a:xfrm>
              <a:off x="0" y="0"/>
              <a:ext cx="2737208" cy="574004"/>
            </a:xfrm>
            <a:custGeom>
              <a:avLst/>
              <a:gdLst/>
              <a:ahLst/>
              <a:cxnLst/>
              <a:rect l="l" t="t" r="r" b="b"/>
              <a:pathLst>
                <a:path w="2737208" h="574004">
                  <a:moveTo>
                    <a:pt x="0" y="0"/>
                  </a:moveTo>
                  <a:lnTo>
                    <a:pt x="2737208" y="0"/>
                  </a:lnTo>
                  <a:lnTo>
                    <a:pt x="2737208" y="574004"/>
                  </a:lnTo>
                  <a:lnTo>
                    <a:pt x="0" y="574004"/>
                  </a:lnTo>
                  <a:close/>
                </a:path>
              </a:pathLst>
            </a:custGeom>
            <a:blipFill>
              <a:blip r:embed="rId6">
                <a:alphaModFix amt="0"/>
              </a:blip>
              <a:stretch>
                <a:fillRect t="-363455" r="-343098" b="-359970"/>
              </a:stretch>
            </a:blipFill>
            <a:ln cap="sq">
              <a:noFill/>
              <a:prstDash val="solid"/>
              <a:miter/>
            </a:ln>
          </p:spPr>
        </p:sp>
        <p:sp>
          <p:nvSpPr>
            <p:cNvPr id="11" name="TextBox 11"/>
            <p:cNvSpPr txBox="1"/>
            <p:nvPr/>
          </p:nvSpPr>
          <p:spPr>
            <a:xfrm>
              <a:off x="0" y="-19050"/>
              <a:ext cx="2737217"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1st Prize (1 winner)</a:t>
              </a:r>
            </a:p>
          </p:txBody>
        </p:sp>
      </p:grpSp>
      <p:grpSp>
        <p:nvGrpSpPr>
          <p:cNvPr id="12" name="Group 12"/>
          <p:cNvGrpSpPr/>
          <p:nvPr/>
        </p:nvGrpSpPr>
        <p:grpSpPr>
          <a:xfrm>
            <a:off x="11820842" y="5861302"/>
            <a:ext cx="2193648" cy="430523"/>
            <a:chOff x="0" y="0"/>
            <a:chExt cx="2924864" cy="574030"/>
          </a:xfrm>
        </p:grpSpPr>
        <p:sp>
          <p:nvSpPr>
            <p:cNvPr id="13" name="Freeform 13"/>
            <p:cNvSpPr/>
            <p:nvPr/>
          </p:nvSpPr>
          <p:spPr>
            <a:xfrm>
              <a:off x="0" y="0"/>
              <a:ext cx="2924854" cy="574004"/>
            </a:xfrm>
            <a:custGeom>
              <a:avLst/>
              <a:gdLst/>
              <a:ahLst/>
              <a:cxnLst/>
              <a:rect l="l" t="t" r="r" b="b"/>
              <a:pathLst>
                <a:path w="2924854" h="574004">
                  <a:moveTo>
                    <a:pt x="0" y="0"/>
                  </a:moveTo>
                  <a:lnTo>
                    <a:pt x="2924854" y="0"/>
                  </a:lnTo>
                  <a:lnTo>
                    <a:pt x="2924854" y="574004"/>
                  </a:lnTo>
                  <a:lnTo>
                    <a:pt x="0" y="574004"/>
                  </a:lnTo>
                  <a:close/>
                </a:path>
              </a:pathLst>
            </a:custGeom>
            <a:blipFill>
              <a:blip r:embed="rId6">
                <a:alphaModFix amt="0"/>
              </a:blip>
              <a:stretch>
                <a:fillRect t="-363455" r="-314671" b="-359970"/>
              </a:stretch>
            </a:blipFill>
            <a:ln cap="sq">
              <a:noFill/>
              <a:prstDash val="solid"/>
              <a:miter/>
            </a:ln>
          </p:spPr>
        </p:sp>
        <p:sp>
          <p:nvSpPr>
            <p:cNvPr id="14" name="TextBox 14"/>
            <p:cNvSpPr txBox="1"/>
            <p:nvPr/>
          </p:nvSpPr>
          <p:spPr>
            <a:xfrm>
              <a:off x="0" y="-19050"/>
              <a:ext cx="2924864"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2nd Prize (3 winners)</a:t>
              </a:r>
            </a:p>
          </p:txBody>
        </p:sp>
      </p:grpSp>
      <p:grpSp>
        <p:nvGrpSpPr>
          <p:cNvPr id="15" name="Group 15"/>
          <p:cNvGrpSpPr/>
          <p:nvPr/>
        </p:nvGrpSpPr>
        <p:grpSpPr>
          <a:xfrm>
            <a:off x="15015128" y="5861302"/>
            <a:ext cx="2367165" cy="430523"/>
            <a:chOff x="0" y="0"/>
            <a:chExt cx="3156220" cy="574030"/>
          </a:xfrm>
        </p:grpSpPr>
        <p:sp>
          <p:nvSpPr>
            <p:cNvPr id="16" name="Freeform 16"/>
            <p:cNvSpPr/>
            <p:nvPr/>
          </p:nvSpPr>
          <p:spPr>
            <a:xfrm>
              <a:off x="0" y="0"/>
              <a:ext cx="3156210" cy="574004"/>
            </a:xfrm>
            <a:custGeom>
              <a:avLst/>
              <a:gdLst/>
              <a:ahLst/>
              <a:cxnLst/>
              <a:rect l="l" t="t" r="r" b="b"/>
              <a:pathLst>
                <a:path w="3156210" h="574004">
                  <a:moveTo>
                    <a:pt x="0" y="0"/>
                  </a:moveTo>
                  <a:lnTo>
                    <a:pt x="3156210" y="0"/>
                  </a:lnTo>
                  <a:lnTo>
                    <a:pt x="3156210" y="574004"/>
                  </a:lnTo>
                  <a:lnTo>
                    <a:pt x="0" y="574004"/>
                  </a:lnTo>
                  <a:close/>
                </a:path>
              </a:pathLst>
            </a:custGeom>
            <a:blipFill>
              <a:blip r:embed="rId6">
                <a:alphaModFix amt="0"/>
              </a:blip>
              <a:stretch>
                <a:fillRect t="-363455" r="-284275" b="-359970"/>
              </a:stretch>
            </a:blipFill>
            <a:ln cap="sq">
              <a:noFill/>
              <a:prstDash val="solid"/>
              <a:miter/>
            </a:ln>
          </p:spPr>
        </p:sp>
        <p:sp>
          <p:nvSpPr>
            <p:cNvPr id="17" name="TextBox 17"/>
            <p:cNvSpPr txBox="1"/>
            <p:nvPr/>
          </p:nvSpPr>
          <p:spPr>
            <a:xfrm>
              <a:off x="0" y="-19050"/>
              <a:ext cx="3156220"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3rd Prize (10 winners)</a:t>
              </a:r>
            </a:p>
          </p:txBody>
        </p:sp>
      </p:grpSp>
      <p:sp>
        <p:nvSpPr>
          <p:cNvPr id="18" name="Freeform 18"/>
          <p:cNvSpPr/>
          <p:nvPr/>
        </p:nvSpPr>
        <p:spPr>
          <a:xfrm>
            <a:off x="13227299" y="2779934"/>
            <a:ext cx="2065445" cy="2309440"/>
          </a:xfrm>
          <a:custGeom>
            <a:avLst/>
            <a:gdLst/>
            <a:ahLst/>
            <a:cxnLst/>
            <a:rect l="l" t="t" r="r" b="b"/>
            <a:pathLst>
              <a:path w="2065445" h="2309440">
                <a:moveTo>
                  <a:pt x="0" y="0"/>
                </a:moveTo>
                <a:lnTo>
                  <a:pt x="2065446" y="0"/>
                </a:lnTo>
                <a:lnTo>
                  <a:pt x="2065446" y="2309440"/>
                </a:lnTo>
                <a:lnTo>
                  <a:pt x="0" y="2309440"/>
                </a:lnTo>
                <a:lnTo>
                  <a:pt x="0" y="0"/>
                </a:lnTo>
                <a:close/>
              </a:path>
            </a:pathLst>
          </a:custGeom>
          <a:blipFill>
            <a:blip r:embed="rId7"/>
            <a:stretch>
              <a:fillRect l="-48711" t="-16247" r="-109469" b="-8440"/>
            </a:stretch>
          </a:blipFill>
        </p:spPr>
      </p:sp>
      <p:grpSp>
        <p:nvGrpSpPr>
          <p:cNvPr id="19" name="Group 19"/>
          <p:cNvGrpSpPr/>
          <p:nvPr/>
        </p:nvGrpSpPr>
        <p:grpSpPr>
          <a:xfrm>
            <a:off x="12961753" y="5202179"/>
            <a:ext cx="2801961" cy="430523"/>
            <a:chOff x="0" y="0"/>
            <a:chExt cx="3735948" cy="574030"/>
          </a:xfrm>
        </p:grpSpPr>
        <p:sp>
          <p:nvSpPr>
            <p:cNvPr id="20" name="Freeform 20"/>
            <p:cNvSpPr/>
            <p:nvPr/>
          </p:nvSpPr>
          <p:spPr>
            <a:xfrm>
              <a:off x="0" y="0"/>
              <a:ext cx="3735937" cy="574004"/>
            </a:xfrm>
            <a:custGeom>
              <a:avLst/>
              <a:gdLst/>
              <a:ahLst/>
              <a:cxnLst/>
              <a:rect l="l" t="t" r="r" b="b"/>
              <a:pathLst>
                <a:path w="3735937" h="574004">
                  <a:moveTo>
                    <a:pt x="0" y="0"/>
                  </a:moveTo>
                  <a:lnTo>
                    <a:pt x="3735937" y="0"/>
                  </a:lnTo>
                  <a:lnTo>
                    <a:pt x="3735937" y="574004"/>
                  </a:lnTo>
                  <a:lnTo>
                    <a:pt x="0" y="574004"/>
                  </a:lnTo>
                  <a:close/>
                </a:path>
              </a:pathLst>
            </a:custGeom>
            <a:blipFill>
              <a:blip r:embed="rId6">
                <a:alphaModFix amt="0"/>
              </a:blip>
              <a:stretch>
                <a:fillRect t="-363455" r="-224645" b="-359970"/>
              </a:stretch>
            </a:blipFill>
            <a:ln cap="sq">
              <a:noFill/>
              <a:prstDash val="solid"/>
              <a:miter/>
            </a:ln>
          </p:spPr>
        </p:sp>
        <p:sp>
          <p:nvSpPr>
            <p:cNvPr id="21" name="TextBox 21"/>
            <p:cNvSpPr txBox="1"/>
            <p:nvPr/>
          </p:nvSpPr>
          <p:spPr>
            <a:xfrm>
              <a:off x="0" y="-19050"/>
              <a:ext cx="3735948"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Samsung Galaxy S26 256GB</a:t>
              </a:r>
            </a:p>
          </p:txBody>
        </p:sp>
      </p:grpSp>
      <p:sp>
        <p:nvSpPr>
          <p:cNvPr id="22" name="Freeform 22"/>
          <p:cNvSpPr/>
          <p:nvPr/>
        </p:nvSpPr>
        <p:spPr>
          <a:xfrm>
            <a:off x="15169464" y="6415746"/>
            <a:ext cx="2058492" cy="2077536"/>
          </a:xfrm>
          <a:custGeom>
            <a:avLst/>
            <a:gdLst/>
            <a:ahLst/>
            <a:cxnLst/>
            <a:rect l="l" t="t" r="r" b="b"/>
            <a:pathLst>
              <a:path w="2058492" h="2077536">
                <a:moveTo>
                  <a:pt x="0" y="0"/>
                </a:moveTo>
                <a:lnTo>
                  <a:pt x="2058493" y="0"/>
                </a:lnTo>
                <a:lnTo>
                  <a:pt x="2058493" y="2077536"/>
                </a:lnTo>
                <a:lnTo>
                  <a:pt x="0" y="2077536"/>
                </a:lnTo>
                <a:lnTo>
                  <a:pt x="0" y="0"/>
                </a:lnTo>
                <a:close/>
              </a:path>
            </a:pathLst>
          </a:custGeom>
          <a:blipFill>
            <a:blip r:embed="rId8"/>
            <a:stretch>
              <a:fillRect/>
            </a:stretch>
          </a:blipFill>
        </p:spPr>
      </p:sp>
      <p:grpSp>
        <p:nvGrpSpPr>
          <p:cNvPr id="23" name="Group 23"/>
          <p:cNvGrpSpPr/>
          <p:nvPr/>
        </p:nvGrpSpPr>
        <p:grpSpPr>
          <a:xfrm>
            <a:off x="11700379" y="8617204"/>
            <a:ext cx="2434574" cy="430523"/>
            <a:chOff x="0" y="0"/>
            <a:chExt cx="3246099" cy="574030"/>
          </a:xfrm>
        </p:grpSpPr>
        <p:sp>
          <p:nvSpPr>
            <p:cNvPr id="24" name="Freeform 24"/>
            <p:cNvSpPr/>
            <p:nvPr/>
          </p:nvSpPr>
          <p:spPr>
            <a:xfrm>
              <a:off x="0" y="0"/>
              <a:ext cx="3246089" cy="574004"/>
            </a:xfrm>
            <a:custGeom>
              <a:avLst/>
              <a:gdLst/>
              <a:ahLst/>
              <a:cxnLst/>
              <a:rect l="l" t="t" r="r" b="b"/>
              <a:pathLst>
                <a:path w="3246089" h="574004">
                  <a:moveTo>
                    <a:pt x="0" y="0"/>
                  </a:moveTo>
                  <a:lnTo>
                    <a:pt x="3246089" y="0"/>
                  </a:lnTo>
                  <a:lnTo>
                    <a:pt x="3246089" y="574004"/>
                  </a:lnTo>
                  <a:lnTo>
                    <a:pt x="0" y="574004"/>
                  </a:lnTo>
                  <a:close/>
                </a:path>
              </a:pathLst>
            </a:custGeom>
            <a:blipFill>
              <a:blip r:embed="rId6">
                <a:alphaModFix amt="0"/>
              </a:blip>
              <a:stretch>
                <a:fillRect t="-363455" r="-273635" b="-359970"/>
              </a:stretch>
            </a:blipFill>
            <a:ln cap="sq">
              <a:noFill/>
              <a:prstDash val="solid"/>
              <a:miter/>
            </a:ln>
          </p:spPr>
        </p:sp>
        <p:sp>
          <p:nvSpPr>
            <p:cNvPr id="25" name="TextBox 25"/>
            <p:cNvSpPr txBox="1"/>
            <p:nvPr/>
          </p:nvSpPr>
          <p:spPr>
            <a:xfrm>
              <a:off x="0" y="-19050"/>
              <a:ext cx="3246099"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Samsung Galaxy Buds4</a:t>
              </a:r>
            </a:p>
          </p:txBody>
        </p:sp>
      </p:grpSp>
      <p:grpSp>
        <p:nvGrpSpPr>
          <p:cNvPr id="26" name="Group 26"/>
          <p:cNvGrpSpPr/>
          <p:nvPr/>
        </p:nvGrpSpPr>
        <p:grpSpPr>
          <a:xfrm>
            <a:off x="14858853" y="8617204"/>
            <a:ext cx="2679715" cy="430523"/>
            <a:chOff x="0" y="0"/>
            <a:chExt cx="3572954" cy="574030"/>
          </a:xfrm>
        </p:grpSpPr>
        <p:sp>
          <p:nvSpPr>
            <p:cNvPr id="27" name="Freeform 27"/>
            <p:cNvSpPr/>
            <p:nvPr/>
          </p:nvSpPr>
          <p:spPr>
            <a:xfrm>
              <a:off x="0" y="0"/>
              <a:ext cx="3572943" cy="574004"/>
            </a:xfrm>
            <a:custGeom>
              <a:avLst/>
              <a:gdLst/>
              <a:ahLst/>
              <a:cxnLst/>
              <a:rect l="l" t="t" r="r" b="b"/>
              <a:pathLst>
                <a:path w="3572943" h="574004">
                  <a:moveTo>
                    <a:pt x="0" y="0"/>
                  </a:moveTo>
                  <a:lnTo>
                    <a:pt x="3572943" y="0"/>
                  </a:lnTo>
                  <a:lnTo>
                    <a:pt x="3572943" y="574004"/>
                  </a:lnTo>
                  <a:lnTo>
                    <a:pt x="0" y="574004"/>
                  </a:lnTo>
                  <a:close/>
                </a:path>
              </a:pathLst>
            </a:custGeom>
            <a:blipFill>
              <a:blip r:embed="rId6">
                <a:alphaModFix amt="0"/>
              </a:blip>
              <a:stretch>
                <a:fillRect t="-363455" r="-239455" b="-359970"/>
              </a:stretch>
            </a:blipFill>
            <a:ln cap="sq">
              <a:noFill/>
              <a:prstDash val="solid"/>
              <a:miter/>
            </a:ln>
          </p:spPr>
        </p:sp>
        <p:sp>
          <p:nvSpPr>
            <p:cNvPr id="28" name="TextBox 28"/>
            <p:cNvSpPr txBox="1"/>
            <p:nvPr/>
          </p:nvSpPr>
          <p:spPr>
            <a:xfrm>
              <a:off x="0" y="-19050"/>
              <a:ext cx="3572954"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VinID Vouchers (1M VND)</a:t>
              </a:r>
            </a:p>
          </p:txBody>
        </p:sp>
      </p:grpSp>
      <p:grpSp>
        <p:nvGrpSpPr>
          <p:cNvPr id="29" name="Group 29"/>
          <p:cNvGrpSpPr/>
          <p:nvPr/>
        </p:nvGrpSpPr>
        <p:grpSpPr>
          <a:xfrm>
            <a:off x="2403430" y="590960"/>
            <a:ext cx="2425673" cy="671874"/>
            <a:chOff x="0" y="0"/>
            <a:chExt cx="3234230" cy="895833"/>
          </a:xfrm>
        </p:grpSpPr>
        <p:sp>
          <p:nvSpPr>
            <p:cNvPr id="30" name="Freeform 30"/>
            <p:cNvSpPr/>
            <p:nvPr/>
          </p:nvSpPr>
          <p:spPr>
            <a:xfrm>
              <a:off x="0" y="0"/>
              <a:ext cx="3234230" cy="895858"/>
            </a:xfrm>
            <a:custGeom>
              <a:avLst/>
              <a:gdLst/>
              <a:ahLst/>
              <a:cxnLst/>
              <a:rect l="l" t="t" r="r" b="b"/>
              <a:pathLst>
                <a:path w="3234230" h="895858">
                  <a:moveTo>
                    <a:pt x="0" y="0"/>
                  </a:moveTo>
                  <a:lnTo>
                    <a:pt x="3234230" y="0"/>
                  </a:lnTo>
                  <a:lnTo>
                    <a:pt x="3234230" y="895858"/>
                  </a:lnTo>
                  <a:lnTo>
                    <a:pt x="0" y="895858"/>
                  </a:lnTo>
                  <a:close/>
                </a:path>
              </a:pathLst>
            </a:custGeom>
            <a:blipFill>
              <a:blip r:embed="rId6">
                <a:alphaModFix amt="0"/>
              </a:blip>
              <a:stretch>
                <a:fillRect t="-5523" r="21072" b="-5520"/>
              </a:stretch>
            </a:blipFill>
            <a:ln w="28575" cap="sq">
              <a:solidFill>
                <a:srgbClr val="FF0000"/>
              </a:solidFill>
              <a:prstDash val="solid"/>
              <a:miter/>
            </a:ln>
          </p:spPr>
        </p:sp>
      </p:grpSp>
      <p:sp>
        <p:nvSpPr>
          <p:cNvPr id="31" name="AutoShape 31"/>
          <p:cNvSpPr/>
          <p:nvPr/>
        </p:nvSpPr>
        <p:spPr>
          <a:xfrm>
            <a:off x="4829103" y="926897"/>
            <a:ext cx="8498469" cy="0"/>
          </a:xfrm>
          <a:prstGeom prst="line">
            <a:avLst/>
          </a:prstGeom>
          <a:ln w="19050" cap="rnd">
            <a:solidFill>
              <a:srgbClr val="FF0000"/>
            </a:solidFill>
            <a:prstDash val="solid"/>
            <a:headEnd type="none" w="sm" len="sm"/>
            <a:tailEnd type="none" w="sm" len="sm"/>
          </a:ln>
        </p:spPr>
      </p:sp>
      <p:grpSp>
        <p:nvGrpSpPr>
          <p:cNvPr id="32" name="Group 32"/>
          <p:cNvGrpSpPr/>
          <p:nvPr/>
        </p:nvGrpSpPr>
        <p:grpSpPr>
          <a:xfrm>
            <a:off x="13327572" y="711636"/>
            <a:ext cx="3588828" cy="430523"/>
            <a:chOff x="0" y="0"/>
            <a:chExt cx="2890588" cy="574030"/>
          </a:xfrm>
        </p:grpSpPr>
        <p:sp>
          <p:nvSpPr>
            <p:cNvPr id="33" name="Freeform 33"/>
            <p:cNvSpPr/>
            <p:nvPr/>
          </p:nvSpPr>
          <p:spPr>
            <a:xfrm>
              <a:off x="0" y="0"/>
              <a:ext cx="2890578" cy="574004"/>
            </a:xfrm>
            <a:custGeom>
              <a:avLst/>
              <a:gdLst/>
              <a:ahLst/>
              <a:cxnLst/>
              <a:rect l="l" t="t" r="r" b="b"/>
              <a:pathLst>
                <a:path w="2890578" h="574004">
                  <a:moveTo>
                    <a:pt x="0" y="0"/>
                  </a:moveTo>
                  <a:lnTo>
                    <a:pt x="2890578" y="0"/>
                  </a:lnTo>
                  <a:lnTo>
                    <a:pt x="2890578" y="574004"/>
                  </a:lnTo>
                  <a:lnTo>
                    <a:pt x="0" y="574004"/>
                  </a:lnTo>
                  <a:close/>
                </a:path>
              </a:pathLst>
            </a:custGeom>
            <a:blipFill>
              <a:blip r:embed="rId6">
                <a:alphaModFix amt="0"/>
              </a:blip>
              <a:stretch>
                <a:fillRect t="-363455" r="-319588" b="-359970"/>
              </a:stretch>
            </a:blipFill>
            <a:ln cap="sq">
              <a:noFill/>
              <a:prstDash val="solid"/>
              <a:miter/>
            </a:ln>
          </p:spPr>
        </p:sp>
        <p:sp>
          <p:nvSpPr>
            <p:cNvPr id="34" name="TextBox 34"/>
            <p:cNvSpPr txBox="1"/>
            <p:nvPr/>
          </p:nvSpPr>
          <p:spPr>
            <a:xfrm>
              <a:off x="0" y="-19050"/>
              <a:ext cx="2890588" cy="593080"/>
            </a:xfrm>
            <a:prstGeom prst="rect">
              <a:avLst/>
            </a:prstGeom>
          </p:spPr>
          <p:txBody>
            <a:bodyPr lIns="50800" tIns="50800" rIns="50800" bIns="50800" rtlCol="0" anchor="t"/>
            <a:lstStyle/>
            <a:p>
              <a:pPr algn="l">
                <a:lnSpc>
                  <a:spcPts val="2160"/>
                </a:lnSpc>
              </a:pPr>
              <a:r>
                <a:rPr lang="en-US" sz="1800" dirty="0" err="1" smtClean="0">
                  <a:solidFill>
                    <a:srgbClr val="000000"/>
                  </a:solidFill>
                  <a:latin typeface="Times New Roman"/>
                  <a:ea typeface="Times New Roman"/>
                  <a:cs typeface="Times New Roman"/>
                  <a:sym typeface="Times New Roman"/>
                </a:rPr>
                <a:t>Chương</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trình</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rút</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thăm</a:t>
              </a:r>
              <a:r>
                <a:rPr lang="en-US" sz="1800" dirty="0" smtClean="0">
                  <a:solidFill>
                    <a:srgbClr val="000000"/>
                  </a:solidFill>
                  <a:latin typeface="Times New Roman"/>
                  <a:ea typeface="Times New Roman"/>
                  <a:cs typeface="Times New Roman"/>
                  <a:sym typeface="Times New Roman"/>
                </a:rPr>
                <a:t> may </a:t>
              </a:r>
              <a:r>
                <a:rPr lang="en-US" sz="1800" dirty="0" err="1" smtClean="0">
                  <a:solidFill>
                    <a:srgbClr val="000000"/>
                  </a:solidFill>
                  <a:latin typeface="Times New Roman"/>
                  <a:ea typeface="Times New Roman"/>
                  <a:cs typeface="Times New Roman"/>
                  <a:sym typeface="Times New Roman"/>
                </a:rPr>
                <a:t>mắn</a:t>
              </a:r>
              <a:endParaRPr lang="en-US" sz="1800" dirty="0">
                <a:solidFill>
                  <a:srgbClr val="000000"/>
                </a:solidFill>
                <a:latin typeface="Times New Roman"/>
                <a:ea typeface="Times New Roman"/>
                <a:cs typeface="Times New Roman"/>
                <a:sym typeface="Times New Roman"/>
              </a:endParaRPr>
            </a:p>
          </p:txBody>
        </p:sp>
      </p:grpSp>
      <p:grpSp>
        <p:nvGrpSpPr>
          <p:cNvPr id="35" name="Group 35"/>
          <p:cNvGrpSpPr/>
          <p:nvPr/>
        </p:nvGrpSpPr>
        <p:grpSpPr>
          <a:xfrm>
            <a:off x="1145417" y="1262835"/>
            <a:ext cx="4937158" cy="671874"/>
            <a:chOff x="0" y="0"/>
            <a:chExt cx="6582878" cy="895833"/>
          </a:xfrm>
        </p:grpSpPr>
        <p:sp>
          <p:nvSpPr>
            <p:cNvPr id="36" name="Freeform 36"/>
            <p:cNvSpPr/>
            <p:nvPr/>
          </p:nvSpPr>
          <p:spPr>
            <a:xfrm>
              <a:off x="0" y="0"/>
              <a:ext cx="6582877" cy="895858"/>
            </a:xfrm>
            <a:custGeom>
              <a:avLst/>
              <a:gdLst/>
              <a:ahLst/>
              <a:cxnLst/>
              <a:rect l="l" t="t" r="r" b="b"/>
              <a:pathLst>
                <a:path w="6582877" h="895858">
                  <a:moveTo>
                    <a:pt x="0" y="0"/>
                  </a:moveTo>
                  <a:lnTo>
                    <a:pt x="6582877" y="0"/>
                  </a:lnTo>
                  <a:lnTo>
                    <a:pt x="6582877" y="895858"/>
                  </a:lnTo>
                  <a:lnTo>
                    <a:pt x="0" y="895858"/>
                  </a:lnTo>
                  <a:close/>
                </a:path>
              </a:pathLst>
            </a:custGeom>
            <a:blipFill>
              <a:blip r:embed="rId6">
                <a:alphaModFix amt="0"/>
              </a:blip>
              <a:stretch>
                <a:fillRect t="-5523" r="61222" b="-5520"/>
              </a:stretch>
            </a:blipFill>
            <a:ln w="28575" cap="sq">
              <a:solidFill>
                <a:srgbClr val="FF0000"/>
              </a:solidFill>
              <a:prstDash val="solid"/>
              <a:miter/>
            </a:ln>
          </p:spPr>
        </p:sp>
      </p:grpSp>
      <p:grpSp>
        <p:nvGrpSpPr>
          <p:cNvPr id="37" name="Group 37"/>
          <p:cNvGrpSpPr/>
          <p:nvPr/>
        </p:nvGrpSpPr>
        <p:grpSpPr>
          <a:xfrm>
            <a:off x="1147688" y="2016036"/>
            <a:ext cx="4934887" cy="2550427"/>
            <a:chOff x="0" y="0"/>
            <a:chExt cx="6805495" cy="3517187"/>
          </a:xfrm>
        </p:grpSpPr>
        <p:sp>
          <p:nvSpPr>
            <p:cNvPr id="38" name="Freeform 38"/>
            <p:cNvSpPr/>
            <p:nvPr/>
          </p:nvSpPr>
          <p:spPr>
            <a:xfrm>
              <a:off x="0" y="0"/>
              <a:ext cx="6805495" cy="3517212"/>
            </a:xfrm>
            <a:custGeom>
              <a:avLst/>
              <a:gdLst/>
              <a:ahLst/>
              <a:cxnLst/>
              <a:rect l="l" t="t" r="r" b="b"/>
              <a:pathLst>
                <a:path w="6805495" h="3517212">
                  <a:moveTo>
                    <a:pt x="0" y="0"/>
                  </a:moveTo>
                  <a:lnTo>
                    <a:pt x="6805495" y="0"/>
                  </a:lnTo>
                  <a:lnTo>
                    <a:pt x="6805495" y="3517212"/>
                  </a:lnTo>
                  <a:lnTo>
                    <a:pt x="0" y="3517212"/>
                  </a:lnTo>
                  <a:close/>
                </a:path>
              </a:pathLst>
            </a:custGeom>
            <a:blipFill>
              <a:blip r:embed="rId6">
                <a:alphaModFix amt="0"/>
              </a:blip>
              <a:stretch>
                <a:fillRect t="-1406" r="62490" b="73123"/>
              </a:stretch>
            </a:blipFill>
            <a:ln w="28575" cap="sq">
              <a:solidFill>
                <a:srgbClr val="FF0000"/>
              </a:solidFill>
              <a:prstDash val="solid"/>
              <a:miter/>
            </a:ln>
          </p:spPr>
        </p:sp>
      </p:grpSp>
      <p:sp>
        <p:nvSpPr>
          <p:cNvPr id="39" name="AutoShape 39"/>
          <p:cNvSpPr/>
          <p:nvPr/>
        </p:nvSpPr>
        <p:spPr>
          <a:xfrm flipH="1">
            <a:off x="6081752" y="3207142"/>
            <a:ext cx="7088153" cy="0"/>
          </a:xfrm>
          <a:prstGeom prst="line">
            <a:avLst/>
          </a:prstGeom>
          <a:ln w="19050" cap="rnd">
            <a:solidFill>
              <a:srgbClr val="FF0000"/>
            </a:solidFill>
            <a:prstDash val="solid"/>
            <a:headEnd type="none" w="sm" len="sm"/>
            <a:tailEnd type="none" w="sm" len="sm"/>
          </a:ln>
        </p:spPr>
      </p:sp>
      <p:grpSp>
        <p:nvGrpSpPr>
          <p:cNvPr id="40" name="Group 40"/>
          <p:cNvGrpSpPr/>
          <p:nvPr/>
        </p:nvGrpSpPr>
        <p:grpSpPr>
          <a:xfrm>
            <a:off x="13327572" y="1368504"/>
            <a:ext cx="5341428" cy="434524"/>
            <a:chOff x="0" y="0"/>
            <a:chExt cx="4274945" cy="579366"/>
          </a:xfrm>
        </p:grpSpPr>
        <p:sp>
          <p:nvSpPr>
            <p:cNvPr id="41" name="Freeform 41"/>
            <p:cNvSpPr/>
            <p:nvPr/>
          </p:nvSpPr>
          <p:spPr>
            <a:xfrm>
              <a:off x="0" y="0"/>
              <a:ext cx="4274932" cy="579339"/>
            </a:xfrm>
            <a:custGeom>
              <a:avLst/>
              <a:gdLst/>
              <a:ahLst/>
              <a:cxnLst/>
              <a:rect l="l" t="t" r="r" b="b"/>
              <a:pathLst>
                <a:path w="4274932" h="579339">
                  <a:moveTo>
                    <a:pt x="0" y="0"/>
                  </a:moveTo>
                  <a:lnTo>
                    <a:pt x="4274932" y="0"/>
                  </a:lnTo>
                  <a:lnTo>
                    <a:pt x="4274932" y="579339"/>
                  </a:lnTo>
                  <a:lnTo>
                    <a:pt x="0" y="579339"/>
                  </a:lnTo>
                  <a:close/>
                </a:path>
              </a:pathLst>
            </a:custGeom>
            <a:blipFill>
              <a:blip r:embed="rId6">
                <a:alphaModFix amt="0"/>
              </a:blip>
              <a:stretch>
                <a:fillRect t="-360108" r="-183713" b="-355734"/>
              </a:stretch>
            </a:blipFill>
            <a:ln cap="sq">
              <a:noFill/>
              <a:prstDash val="solid"/>
              <a:miter/>
            </a:ln>
          </p:spPr>
        </p:sp>
        <p:sp>
          <p:nvSpPr>
            <p:cNvPr id="42" name="TextBox 42"/>
            <p:cNvSpPr txBox="1"/>
            <p:nvPr/>
          </p:nvSpPr>
          <p:spPr>
            <a:xfrm>
              <a:off x="0" y="-19050"/>
              <a:ext cx="4274945" cy="598416"/>
            </a:xfrm>
            <a:prstGeom prst="rect">
              <a:avLst/>
            </a:prstGeom>
          </p:spPr>
          <p:txBody>
            <a:bodyPr lIns="50800" tIns="50800" rIns="50800" bIns="50800" rtlCol="0" anchor="t"/>
            <a:lstStyle/>
            <a:p>
              <a:pPr>
                <a:lnSpc>
                  <a:spcPts val="2160"/>
                </a:lnSpc>
              </a:pPr>
              <a:r>
                <a:rPr lang="en-US" dirty="0" err="1">
                  <a:solidFill>
                    <a:srgbClr val="000000"/>
                  </a:solidFill>
                  <a:latin typeface="Times New Roman"/>
                  <a:ea typeface="Times New Roman"/>
                  <a:cs typeface="Times New Roman"/>
                  <a:sym typeface="Times New Roman"/>
                </a:rPr>
                <a:t>Nhiều</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phần</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quà</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giá</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trị</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đang</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chờ</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đón</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quý</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khách</a:t>
              </a:r>
              <a:r>
                <a:rPr lang="en-US" dirty="0">
                  <a:solidFill>
                    <a:srgbClr val="000000"/>
                  </a:solidFill>
                  <a:latin typeface="Times New Roman"/>
                  <a:ea typeface="Times New Roman"/>
                  <a:cs typeface="Times New Roman"/>
                  <a:sym typeface="Times New Roman"/>
                </a:rPr>
                <a:t>!</a:t>
              </a:r>
            </a:p>
            <a:p>
              <a:pPr>
                <a:lnSpc>
                  <a:spcPts val="2160"/>
                </a:lnSpc>
              </a:pPr>
              <a:endParaRPr lang="en-US" dirty="0">
                <a:solidFill>
                  <a:srgbClr val="000000"/>
                </a:solidFill>
                <a:latin typeface="Times New Roman"/>
                <a:ea typeface="Times New Roman"/>
                <a:cs typeface="Times New Roman"/>
                <a:sym typeface="Times New Roman"/>
              </a:endParaRPr>
            </a:p>
          </p:txBody>
        </p:sp>
      </p:grpSp>
      <p:sp>
        <p:nvSpPr>
          <p:cNvPr id="43" name="TextBox 43"/>
          <p:cNvSpPr txBox="1"/>
          <p:nvPr/>
        </p:nvSpPr>
        <p:spPr>
          <a:xfrm>
            <a:off x="6994556" y="4060860"/>
            <a:ext cx="3700033" cy="285750"/>
          </a:xfrm>
          <a:prstGeom prst="rect">
            <a:avLst/>
          </a:prstGeom>
        </p:spPr>
        <p:txBody>
          <a:bodyPr lIns="0" tIns="0" rIns="0" bIns="0" rtlCol="0" anchor="t">
            <a:spAutoFit/>
          </a:bodyPr>
          <a:lstStyle/>
          <a:p>
            <a:pPr algn="l">
              <a:lnSpc>
                <a:spcPts val="2160"/>
              </a:lnSpc>
            </a:pPr>
            <a:r>
              <a:rPr lang="en-US" sz="1800">
                <a:solidFill>
                  <a:srgbClr val="FF0000"/>
                </a:solidFill>
                <a:latin typeface="Arimo"/>
                <a:ea typeface="Arimo"/>
                <a:cs typeface="Arimo"/>
                <a:sym typeface="Arimo"/>
              </a:rPr>
              <a:t>For example, 2025:</a:t>
            </a:r>
          </a:p>
        </p:txBody>
      </p:sp>
      <p:sp>
        <p:nvSpPr>
          <p:cNvPr id="44" name="TextBox 44"/>
          <p:cNvSpPr txBox="1"/>
          <p:nvPr/>
        </p:nvSpPr>
        <p:spPr>
          <a:xfrm>
            <a:off x="15987393" y="368276"/>
            <a:ext cx="2300607" cy="409575"/>
          </a:xfrm>
          <a:prstGeom prst="rect">
            <a:avLst/>
          </a:prstGeom>
        </p:spPr>
        <p:txBody>
          <a:bodyPr lIns="0" tIns="0" rIns="0" bIns="0" rtlCol="0" anchor="t">
            <a:spAutoFit/>
          </a:bodyPr>
          <a:lstStyle/>
          <a:p>
            <a:pPr algn="l">
              <a:lnSpc>
                <a:spcPts val="3240"/>
              </a:lnSpc>
            </a:pPr>
            <a:r>
              <a:rPr lang="en-US" sz="2700" b="1">
                <a:solidFill>
                  <a:srgbClr val="000000"/>
                </a:solidFill>
                <a:latin typeface="Aptos Bold"/>
                <a:ea typeface="Aptos Bold"/>
                <a:cs typeface="Aptos Bold"/>
                <a:sym typeface="Aptos Bold"/>
              </a:rPr>
              <a:t>Vietnamese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4774" y="263604"/>
            <a:ext cx="6032630" cy="4727496"/>
            <a:chOff x="0" y="0"/>
            <a:chExt cx="8043507" cy="6303328"/>
          </a:xfrm>
        </p:grpSpPr>
        <p:sp>
          <p:nvSpPr>
            <p:cNvPr id="3" name="Freeform 3"/>
            <p:cNvSpPr/>
            <p:nvPr/>
          </p:nvSpPr>
          <p:spPr>
            <a:xfrm>
              <a:off x="0" y="0"/>
              <a:ext cx="8043545" cy="6303264"/>
            </a:xfrm>
            <a:custGeom>
              <a:avLst/>
              <a:gdLst/>
              <a:ahLst/>
              <a:cxnLst/>
              <a:rect l="l" t="t" r="r" b="b"/>
              <a:pathLst>
                <a:path w="8043545" h="6303264">
                  <a:moveTo>
                    <a:pt x="0" y="0"/>
                  </a:moveTo>
                  <a:lnTo>
                    <a:pt x="8043545" y="0"/>
                  </a:lnTo>
                  <a:lnTo>
                    <a:pt x="8043545" y="6303264"/>
                  </a:lnTo>
                  <a:lnTo>
                    <a:pt x="0" y="6303264"/>
                  </a:lnTo>
                  <a:lnTo>
                    <a:pt x="0" y="0"/>
                  </a:lnTo>
                  <a:close/>
                </a:path>
              </a:pathLst>
            </a:custGeom>
            <a:blipFill>
              <a:blip r:embed="rId2"/>
              <a:stretch>
                <a:fillRect b="-1"/>
              </a:stretch>
            </a:blipFill>
          </p:spPr>
        </p:sp>
      </p:grpSp>
      <p:grpSp>
        <p:nvGrpSpPr>
          <p:cNvPr id="4" name="Group 4"/>
          <p:cNvGrpSpPr/>
          <p:nvPr/>
        </p:nvGrpSpPr>
        <p:grpSpPr>
          <a:xfrm>
            <a:off x="554774" y="5143500"/>
            <a:ext cx="6063682" cy="4727496"/>
            <a:chOff x="0" y="0"/>
            <a:chExt cx="8084909" cy="6303328"/>
          </a:xfrm>
        </p:grpSpPr>
        <p:sp>
          <p:nvSpPr>
            <p:cNvPr id="5" name="Freeform 5"/>
            <p:cNvSpPr/>
            <p:nvPr/>
          </p:nvSpPr>
          <p:spPr>
            <a:xfrm>
              <a:off x="0" y="0"/>
              <a:ext cx="8084947" cy="6303391"/>
            </a:xfrm>
            <a:custGeom>
              <a:avLst/>
              <a:gdLst/>
              <a:ahLst/>
              <a:cxnLst/>
              <a:rect l="l" t="t" r="r" b="b"/>
              <a:pathLst>
                <a:path w="8084947" h="6303391">
                  <a:moveTo>
                    <a:pt x="0" y="0"/>
                  </a:moveTo>
                  <a:lnTo>
                    <a:pt x="8084947" y="0"/>
                  </a:lnTo>
                  <a:lnTo>
                    <a:pt x="8084947" y="6303391"/>
                  </a:lnTo>
                  <a:lnTo>
                    <a:pt x="0" y="6303391"/>
                  </a:lnTo>
                  <a:lnTo>
                    <a:pt x="0" y="0"/>
                  </a:lnTo>
                  <a:close/>
                </a:path>
              </a:pathLst>
            </a:custGeom>
            <a:blipFill>
              <a:blip r:embed="rId3"/>
              <a:stretch>
                <a:fillRect b="1"/>
              </a:stretch>
            </a:blipFill>
          </p:spPr>
        </p:sp>
      </p:grpSp>
      <p:grpSp>
        <p:nvGrpSpPr>
          <p:cNvPr id="6" name="Group 6"/>
          <p:cNvGrpSpPr/>
          <p:nvPr/>
        </p:nvGrpSpPr>
        <p:grpSpPr>
          <a:xfrm>
            <a:off x="8098682" y="8188525"/>
            <a:ext cx="9085351" cy="1435726"/>
            <a:chOff x="0" y="0"/>
            <a:chExt cx="12113801" cy="1914302"/>
          </a:xfrm>
        </p:grpSpPr>
        <p:sp>
          <p:nvSpPr>
            <p:cNvPr id="7" name="Freeform 7"/>
            <p:cNvSpPr/>
            <p:nvPr/>
          </p:nvSpPr>
          <p:spPr>
            <a:xfrm>
              <a:off x="0" y="0"/>
              <a:ext cx="12113747" cy="1914340"/>
            </a:xfrm>
            <a:custGeom>
              <a:avLst/>
              <a:gdLst/>
              <a:ahLst/>
              <a:cxnLst/>
              <a:rect l="l" t="t" r="r" b="b"/>
              <a:pathLst>
                <a:path w="12113747" h="1914340">
                  <a:moveTo>
                    <a:pt x="0" y="0"/>
                  </a:moveTo>
                  <a:lnTo>
                    <a:pt x="12113747" y="0"/>
                  </a:lnTo>
                  <a:lnTo>
                    <a:pt x="12113747" y="1914340"/>
                  </a:lnTo>
                  <a:lnTo>
                    <a:pt x="0" y="1914340"/>
                  </a:lnTo>
                  <a:close/>
                </a:path>
              </a:pathLst>
            </a:custGeom>
            <a:blipFill>
              <a:blip r:embed="rId4">
                <a:alphaModFix amt="0"/>
              </a:blip>
              <a:stretch>
                <a:fillRect t="-86781" r="7450" b="-41444"/>
              </a:stretch>
            </a:blipFill>
            <a:ln cap="sq">
              <a:noFill/>
              <a:prstDash val="solid"/>
              <a:miter/>
            </a:ln>
          </p:spPr>
        </p:sp>
        <p:sp>
          <p:nvSpPr>
            <p:cNvPr id="8" name="TextBox 8"/>
            <p:cNvSpPr txBox="1"/>
            <p:nvPr/>
          </p:nvSpPr>
          <p:spPr>
            <a:xfrm>
              <a:off x="0" y="-19050"/>
              <a:ext cx="12113801" cy="1933352"/>
            </a:xfrm>
            <a:prstGeom prst="rect">
              <a:avLst/>
            </a:prstGeom>
          </p:spPr>
          <p:txBody>
            <a:bodyPr lIns="50800" tIns="50800" rIns="50800" bIns="50800" rtlCol="0" anchor="t"/>
            <a:lstStyle/>
            <a:p>
              <a:pPr algn="l">
                <a:lnSpc>
                  <a:spcPts val="2520"/>
                </a:lnSpc>
              </a:pPr>
              <a:r>
                <a:rPr lang="en-US" sz="2100" dirty="0">
                  <a:solidFill>
                    <a:srgbClr val="000000"/>
                  </a:solidFill>
                  <a:latin typeface="Times New Roman"/>
                  <a:ea typeface="Times New Roman"/>
                  <a:cs typeface="Times New Roman"/>
                  <a:sym typeface="Times New Roman"/>
                </a:rPr>
                <a:t>InterContinental Hanoi Landmark72</a:t>
              </a:r>
            </a:p>
            <a:p>
              <a:pPr>
                <a:lnSpc>
                  <a:spcPts val="2520"/>
                </a:lnSpc>
              </a:pPr>
              <a:r>
                <a:rPr lang="en-US" sz="2100" dirty="0" err="1">
                  <a:solidFill>
                    <a:srgbClr val="000000"/>
                  </a:solidFill>
                  <a:latin typeface="Times New Roman"/>
                  <a:ea typeface="Times New Roman"/>
                  <a:cs typeface="Times New Roman"/>
                  <a:sym typeface="Times New Roman"/>
                </a:rPr>
                <a:t>Tọa</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lạc</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tại</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Keangnam</a:t>
              </a:r>
              <a:r>
                <a:rPr lang="en-US" sz="2100" dirty="0">
                  <a:solidFill>
                    <a:srgbClr val="000000"/>
                  </a:solidFill>
                  <a:latin typeface="Times New Roman"/>
                  <a:ea typeface="Times New Roman"/>
                  <a:cs typeface="Times New Roman"/>
                  <a:sym typeface="Times New Roman"/>
                </a:rPr>
                <a:t> Landmark Tower </a:t>
              </a:r>
              <a:r>
                <a:rPr lang="en-US" sz="2100" dirty="0" smtClean="0">
                  <a:solidFill>
                    <a:srgbClr val="000000"/>
                  </a:solidFill>
                  <a:latin typeface="Times New Roman"/>
                  <a:ea typeface="Times New Roman"/>
                  <a:cs typeface="Times New Roman"/>
                  <a:sym typeface="Times New Roman"/>
                </a:rPr>
                <a:t>72</a:t>
              </a:r>
              <a:br>
                <a:rPr lang="en-US" sz="2100" dirty="0" smtClean="0">
                  <a:solidFill>
                    <a:srgbClr val="000000"/>
                  </a:solidFill>
                  <a:latin typeface="Times New Roman"/>
                  <a:ea typeface="Times New Roman"/>
                  <a:cs typeface="Times New Roman"/>
                  <a:sym typeface="Times New Roman"/>
                </a:rPr>
              </a:br>
              <a:r>
                <a:rPr lang="en-US" sz="2100" dirty="0" smtClean="0">
                  <a:solidFill>
                    <a:srgbClr val="000000"/>
                  </a:solidFill>
                  <a:latin typeface="Times New Roman"/>
                  <a:ea typeface="Times New Roman"/>
                  <a:cs typeface="Times New Roman"/>
                  <a:sym typeface="Times New Roman"/>
                </a:rPr>
                <a:t>T</a:t>
              </a:r>
              <a:r>
                <a:rPr lang="vi-VN" sz="2100" dirty="0" smtClean="0">
                  <a:solidFill>
                    <a:srgbClr val="000000"/>
                  </a:solidFill>
                  <a:latin typeface="Times New Roman"/>
                  <a:ea typeface="Times New Roman"/>
                  <a:cs typeface="Times New Roman"/>
                  <a:sym typeface="Times New Roman"/>
                </a:rPr>
                <a:t>òa </a:t>
              </a:r>
              <a:r>
                <a:rPr lang="vi-VN" sz="2100" dirty="0">
                  <a:solidFill>
                    <a:srgbClr val="000000"/>
                  </a:solidFill>
                  <a:latin typeface="Times New Roman"/>
                  <a:ea typeface="Times New Roman"/>
                  <a:cs typeface="Times New Roman"/>
                  <a:sym typeface="Times New Roman"/>
                </a:rPr>
                <a:t>Keangnam Hanoi Landmark, lô E6, khu đô thị mới Cầu Giấy, phường Yên Hòa, Hà Nội, Việt Nam</a:t>
              </a:r>
              <a:endParaRPr lang="en-US" sz="2100" dirty="0">
                <a:solidFill>
                  <a:srgbClr val="000000"/>
                </a:solidFill>
                <a:latin typeface="Times New Roman"/>
                <a:ea typeface="Times New Roman"/>
                <a:cs typeface="Times New Roman"/>
                <a:sym typeface="Times New Roman"/>
              </a:endParaRPr>
            </a:p>
          </p:txBody>
        </p:sp>
      </p:grpSp>
      <p:grpSp>
        <p:nvGrpSpPr>
          <p:cNvPr id="9" name="Group 9"/>
          <p:cNvGrpSpPr/>
          <p:nvPr/>
        </p:nvGrpSpPr>
        <p:grpSpPr>
          <a:xfrm>
            <a:off x="1161364" y="5463950"/>
            <a:ext cx="4812849" cy="649434"/>
            <a:chOff x="0" y="0"/>
            <a:chExt cx="6417132" cy="865911"/>
          </a:xfrm>
        </p:grpSpPr>
        <p:sp>
          <p:nvSpPr>
            <p:cNvPr id="10" name="Freeform 10"/>
            <p:cNvSpPr/>
            <p:nvPr/>
          </p:nvSpPr>
          <p:spPr>
            <a:xfrm>
              <a:off x="0" y="0"/>
              <a:ext cx="6417183" cy="865886"/>
            </a:xfrm>
            <a:custGeom>
              <a:avLst/>
              <a:gdLst/>
              <a:ahLst/>
              <a:cxnLst/>
              <a:rect l="l" t="t" r="r" b="b"/>
              <a:pathLst>
                <a:path w="6417183" h="865886">
                  <a:moveTo>
                    <a:pt x="0" y="0"/>
                  </a:moveTo>
                  <a:lnTo>
                    <a:pt x="6417183" y="0"/>
                  </a:lnTo>
                  <a:lnTo>
                    <a:pt x="6417183" y="865886"/>
                  </a:lnTo>
                  <a:lnTo>
                    <a:pt x="0" y="865886"/>
                  </a:lnTo>
                  <a:close/>
                </a:path>
              </a:pathLst>
            </a:custGeom>
            <a:blipFill>
              <a:blip r:embed="rId4">
                <a:alphaModFix amt="0"/>
              </a:blip>
              <a:stretch>
                <a:fillRect t="-94403" b="-94406"/>
              </a:stretch>
            </a:blipFill>
            <a:ln w="28575" cap="sq">
              <a:solidFill>
                <a:srgbClr val="FF0000"/>
              </a:solidFill>
              <a:prstDash val="solid"/>
              <a:miter/>
            </a:ln>
          </p:spPr>
        </p:sp>
      </p:grpSp>
      <p:grpSp>
        <p:nvGrpSpPr>
          <p:cNvPr id="11" name="Group 11"/>
          <p:cNvGrpSpPr/>
          <p:nvPr/>
        </p:nvGrpSpPr>
        <p:grpSpPr>
          <a:xfrm>
            <a:off x="8098682" y="1228137"/>
            <a:ext cx="1508103" cy="617209"/>
            <a:chOff x="0" y="0"/>
            <a:chExt cx="2010804" cy="822945"/>
          </a:xfrm>
        </p:grpSpPr>
        <p:sp>
          <p:nvSpPr>
            <p:cNvPr id="12" name="Freeform 12"/>
            <p:cNvSpPr/>
            <p:nvPr/>
          </p:nvSpPr>
          <p:spPr>
            <a:xfrm>
              <a:off x="0" y="0"/>
              <a:ext cx="2010791" cy="822903"/>
            </a:xfrm>
            <a:custGeom>
              <a:avLst/>
              <a:gdLst/>
              <a:ahLst/>
              <a:cxnLst/>
              <a:rect l="l" t="t" r="r" b="b"/>
              <a:pathLst>
                <a:path w="2010791" h="822903">
                  <a:moveTo>
                    <a:pt x="0" y="0"/>
                  </a:moveTo>
                  <a:lnTo>
                    <a:pt x="2010791" y="0"/>
                  </a:lnTo>
                  <a:lnTo>
                    <a:pt x="2010791" y="822903"/>
                  </a:lnTo>
                  <a:lnTo>
                    <a:pt x="0" y="822903"/>
                  </a:lnTo>
                  <a:close/>
                </a:path>
              </a:pathLst>
            </a:custGeom>
            <a:blipFill>
              <a:blip r:embed="rId4">
                <a:alphaModFix amt="0"/>
              </a:blip>
              <a:stretch>
                <a:fillRect t="-2730" b="7505"/>
              </a:stretch>
            </a:blipFill>
            <a:ln cap="sq">
              <a:noFill/>
              <a:prstDash val="solid"/>
              <a:miter/>
            </a:ln>
          </p:spPr>
        </p:sp>
        <p:sp>
          <p:nvSpPr>
            <p:cNvPr id="13" name="TextBox 13"/>
            <p:cNvSpPr txBox="1"/>
            <p:nvPr/>
          </p:nvSpPr>
          <p:spPr>
            <a:xfrm>
              <a:off x="0" y="-19050"/>
              <a:ext cx="2010804" cy="841995"/>
            </a:xfrm>
            <a:prstGeom prst="rect">
              <a:avLst/>
            </a:prstGeom>
          </p:spPr>
          <p:txBody>
            <a:bodyPr lIns="50800" tIns="50800" rIns="50800" bIns="50800" rtlCol="0" anchor="t"/>
            <a:lstStyle/>
            <a:p>
              <a:pPr algn="l">
                <a:lnSpc>
                  <a:spcPts val="3240"/>
                </a:lnSpc>
              </a:pPr>
              <a:r>
                <a:rPr lang="en-US" sz="2700">
                  <a:solidFill>
                    <a:srgbClr val="000000"/>
                  </a:solidFill>
                  <a:latin typeface="Times New Roman"/>
                  <a:ea typeface="Times New Roman"/>
                  <a:cs typeface="Times New Roman"/>
                  <a:sym typeface="Times New Roman"/>
                </a:rPr>
                <a:t>Location</a:t>
              </a:r>
            </a:p>
          </p:txBody>
        </p:sp>
      </p:grpSp>
      <p:sp>
        <p:nvSpPr>
          <p:cNvPr id="14" name="AutoShape 14"/>
          <p:cNvSpPr/>
          <p:nvPr/>
        </p:nvSpPr>
        <p:spPr>
          <a:xfrm flipV="1">
            <a:off x="5974213" y="1536741"/>
            <a:ext cx="2124469" cy="4251925"/>
          </a:xfrm>
          <a:prstGeom prst="line">
            <a:avLst/>
          </a:prstGeom>
          <a:ln w="19050" cap="rnd">
            <a:solidFill>
              <a:srgbClr val="FF0000"/>
            </a:solidFill>
            <a:prstDash val="solid"/>
            <a:headEnd type="none" w="sm" len="sm"/>
            <a:tailEnd type="none" w="sm" len="sm"/>
          </a:ln>
        </p:spPr>
      </p:sp>
      <p:grpSp>
        <p:nvGrpSpPr>
          <p:cNvPr id="15" name="Group 15"/>
          <p:cNvGrpSpPr/>
          <p:nvPr/>
        </p:nvGrpSpPr>
        <p:grpSpPr>
          <a:xfrm>
            <a:off x="1161364" y="6208614"/>
            <a:ext cx="4812849" cy="2277837"/>
            <a:chOff x="0" y="0"/>
            <a:chExt cx="6417132" cy="3037116"/>
          </a:xfrm>
        </p:grpSpPr>
        <p:sp>
          <p:nvSpPr>
            <p:cNvPr id="16" name="Freeform 16"/>
            <p:cNvSpPr/>
            <p:nvPr/>
          </p:nvSpPr>
          <p:spPr>
            <a:xfrm>
              <a:off x="0" y="0"/>
              <a:ext cx="6417183" cy="3037078"/>
            </a:xfrm>
            <a:custGeom>
              <a:avLst/>
              <a:gdLst/>
              <a:ahLst/>
              <a:cxnLst/>
              <a:rect l="l" t="t" r="r" b="b"/>
              <a:pathLst>
                <a:path w="6417183" h="3037078">
                  <a:moveTo>
                    <a:pt x="0" y="0"/>
                  </a:moveTo>
                  <a:lnTo>
                    <a:pt x="6417183" y="0"/>
                  </a:lnTo>
                  <a:lnTo>
                    <a:pt x="6417183" y="3037078"/>
                  </a:lnTo>
                  <a:lnTo>
                    <a:pt x="0" y="3037078"/>
                  </a:lnTo>
                  <a:close/>
                </a:path>
              </a:pathLst>
            </a:custGeom>
            <a:blipFill>
              <a:blip r:embed="rId4">
                <a:alphaModFix amt="0"/>
              </a:blip>
              <a:stretch>
                <a:fillRect l="-10723" r="-10722" b="-1"/>
              </a:stretch>
            </a:blipFill>
            <a:ln w="28575" cap="sq">
              <a:solidFill>
                <a:srgbClr val="FF0000"/>
              </a:solidFill>
              <a:prstDash val="solid"/>
              <a:miter/>
            </a:ln>
          </p:spPr>
        </p:sp>
      </p:grpSp>
      <p:grpSp>
        <p:nvGrpSpPr>
          <p:cNvPr id="17" name="Group 17"/>
          <p:cNvGrpSpPr/>
          <p:nvPr/>
        </p:nvGrpSpPr>
        <p:grpSpPr>
          <a:xfrm>
            <a:off x="1164665" y="8581701"/>
            <a:ext cx="4812849" cy="995401"/>
            <a:chOff x="0" y="0"/>
            <a:chExt cx="6417132" cy="1327201"/>
          </a:xfrm>
        </p:grpSpPr>
        <p:sp>
          <p:nvSpPr>
            <p:cNvPr id="18" name="Freeform 18"/>
            <p:cNvSpPr/>
            <p:nvPr/>
          </p:nvSpPr>
          <p:spPr>
            <a:xfrm>
              <a:off x="0" y="0"/>
              <a:ext cx="6417183" cy="1327150"/>
            </a:xfrm>
            <a:custGeom>
              <a:avLst/>
              <a:gdLst/>
              <a:ahLst/>
              <a:cxnLst/>
              <a:rect l="l" t="t" r="r" b="b"/>
              <a:pathLst>
                <a:path w="6417183" h="1327150">
                  <a:moveTo>
                    <a:pt x="0" y="0"/>
                  </a:moveTo>
                  <a:lnTo>
                    <a:pt x="6417183" y="0"/>
                  </a:lnTo>
                  <a:lnTo>
                    <a:pt x="6417183" y="1327150"/>
                  </a:lnTo>
                  <a:lnTo>
                    <a:pt x="0" y="1327150"/>
                  </a:lnTo>
                  <a:close/>
                </a:path>
              </a:pathLst>
            </a:custGeom>
            <a:blipFill>
              <a:blip r:embed="rId4">
                <a:alphaModFix amt="0"/>
              </a:blip>
              <a:stretch>
                <a:fillRect t="-44213" b="-44217"/>
              </a:stretch>
            </a:blipFill>
            <a:ln w="28575" cap="sq">
              <a:solidFill>
                <a:srgbClr val="FF0000"/>
              </a:solidFill>
              <a:prstDash val="solid"/>
              <a:miter/>
            </a:ln>
          </p:spPr>
        </p:sp>
      </p:grpSp>
      <p:sp>
        <p:nvSpPr>
          <p:cNvPr id="19" name="AutoShape 19"/>
          <p:cNvSpPr/>
          <p:nvPr/>
        </p:nvSpPr>
        <p:spPr>
          <a:xfrm flipH="1">
            <a:off x="5977514" y="8906388"/>
            <a:ext cx="2121168" cy="173013"/>
          </a:xfrm>
          <a:prstGeom prst="line">
            <a:avLst/>
          </a:prstGeom>
          <a:ln w="19050" cap="rnd">
            <a:solidFill>
              <a:srgbClr val="FF0000"/>
            </a:solidFill>
            <a:prstDash val="solid"/>
            <a:headEnd type="none" w="sm" len="sm"/>
            <a:tailEnd type="none" w="sm" len="sm"/>
          </a:ln>
        </p:spPr>
      </p:sp>
      <p:grpSp>
        <p:nvGrpSpPr>
          <p:cNvPr id="20" name="Group 20"/>
          <p:cNvGrpSpPr/>
          <p:nvPr/>
        </p:nvGrpSpPr>
        <p:grpSpPr>
          <a:xfrm>
            <a:off x="8098682" y="2226821"/>
            <a:ext cx="9085351" cy="5514029"/>
            <a:chOff x="0" y="0"/>
            <a:chExt cx="14880120" cy="9030957"/>
          </a:xfrm>
        </p:grpSpPr>
        <p:sp>
          <p:nvSpPr>
            <p:cNvPr id="21" name="Freeform 21"/>
            <p:cNvSpPr/>
            <p:nvPr/>
          </p:nvSpPr>
          <p:spPr>
            <a:xfrm>
              <a:off x="0" y="0"/>
              <a:ext cx="14880082" cy="9030970"/>
            </a:xfrm>
            <a:custGeom>
              <a:avLst/>
              <a:gdLst/>
              <a:ahLst/>
              <a:cxnLst/>
              <a:rect l="l" t="t" r="r" b="b"/>
              <a:pathLst>
                <a:path w="14880082" h="9030970">
                  <a:moveTo>
                    <a:pt x="0" y="0"/>
                  </a:moveTo>
                  <a:lnTo>
                    <a:pt x="14880082" y="0"/>
                  </a:lnTo>
                  <a:lnTo>
                    <a:pt x="14880082" y="9030970"/>
                  </a:lnTo>
                  <a:lnTo>
                    <a:pt x="0" y="9030970"/>
                  </a:lnTo>
                  <a:lnTo>
                    <a:pt x="0" y="0"/>
                  </a:lnTo>
                  <a:close/>
                </a:path>
              </a:pathLst>
            </a:custGeom>
            <a:blipFill>
              <a:blip r:embed="rId5"/>
              <a:stretch>
                <a:fillRect l="-12247" r="-12247"/>
              </a:stretch>
            </a:blipFill>
          </p:spPr>
        </p:sp>
      </p:grpSp>
      <p:sp>
        <p:nvSpPr>
          <p:cNvPr id="22" name="AutoShape 22"/>
          <p:cNvSpPr/>
          <p:nvPr/>
        </p:nvSpPr>
        <p:spPr>
          <a:xfrm flipV="1">
            <a:off x="5974213" y="4983835"/>
            <a:ext cx="2124469" cy="2363697"/>
          </a:xfrm>
          <a:prstGeom prst="line">
            <a:avLst/>
          </a:prstGeom>
          <a:ln w="19050" cap="rnd">
            <a:solidFill>
              <a:srgbClr val="FF0000"/>
            </a:solidFill>
            <a:prstDash val="solid"/>
            <a:headEnd type="none" w="sm" len="sm"/>
            <a:tailEnd type="none" w="sm" len="sm"/>
          </a:ln>
        </p:spPr>
      </p:sp>
      <p:sp>
        <p:nvSpPr>
          <p:cNvPr id="23" name="TextBox 23"/>
          <p:cNvSpPr txBox="1"/>
          <p:nvPr/>
        </p:nvSpPr>
        <p:spPr>
          <a:xfrm>
            <a:off x="15987393" y="368276"/>
            <a:ext cx="2300607" cy="409575"/>
          </a:xfrm>
          <a:prstGeom prst="rect">
            <a:avLst/>
          </a:prstGeom>
        </p:spPr>
        <p:txBody>
          <a:bodyPr lIns="0" tIns="0" rIns="0" bIns="0" rtlCol="0" anchor="t">
            <a:spAutoFit/>
          </a:bodyPr>
          <a:lstStyle/>
          <a:p>
            <a:pPr algn="l">
              <a:lnSpc>
                <a:spcPts val="3240"/>
              </a:lnSpc>
            </a:pPr>
            <a:r>
              <a:rPr lang="en-US" sz="2700" b="1">
                <a:solidFill>
                  <a:srgbClr val="000000"/>
                </a:solidFill>
                <a:latin typeface="Aptos Bold"/>
                <a:ea typeface="Aptos Bold"/>
                <a:cs typeface="Aptos Bold"/>
                <a:sym typeface="Aptos Bold"/>
              </a:rPr>
              <a:t>Vietnamese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890798" y="3252791"/>
            <a:ext cx="5368502" cy="819150"/>
          </a:xfrm>
          <a:prstGeom prst="rect">
            <a:avLst/>
          </a:prstGeom>
        </p:spPr>
        <p:txBody>
          <a:bodyPr lIns="0" tIns="0" rIns="0" bIns="0" rtlCol="0" anchor="t">
            <a:spAutoFit/>
          </a:bodyPr>
          <a:lstStyle/>
          <a:p>
            <a:pPr algn="l">
              <a:lnSpc>
                <a:spcPts val="2160"/>
              </a:lnSpc>
            </a:pPr>
            <a:r>
              <a:rPr lang="en-US" sz="1800">
                <a:solidFill>
                  <a:srgbClr val="FF0000"/>
                </a:solidFill>
                <a:latin typeface="Arimo"/>
                <a:ea typeface="Arimo"/>
                <a:cs typeface="Arimo"/>
                <a:sym typeface="Arimo"/>
              </a:rPr>
              <a:t>Keep the same form.</a:t>
            </a:r>
          </a:p>
          <a:p>
            <a:pPr algn="l">
              <a:lnSpc>
                <a:spcPts val="2160"/>
              </a:lnSpc>
            </a:pPr>
            <a:endParaRPr lang="en-US" sz="1800">
              <a:solidFill>
                <a:srgbClr val="FF0000"/>
              </a:solidFill>
              <a:latin typeface="Arimo"/>
              <a:ea typeface="Arimo"/>
              <a:cs typeface="Arimo"/>
              <a:sym typeface="Arimo"/>
            </a:endParaRPr>
          </a:p>
          <a:p>
            <a:pPr algn="l">
              <a:lnSpc>
                <a:spcPts val="2160"/>
              </a:lnSpc>
            </a:pPr>
            <a:r>
              <a:rPr lang="en-US" sz="1800">
                <a:solidFill>
                  <a:srgbClr val="FF0000"/>
                </a:solidFill>
                <a:latin typeface="Arimo"/>
                <a:ea typeface="Arimo"/>
                <a:cs typeface="Arimo"/>
                <a:sym typeface="Arimo"/>
              </a:rPr>
              <a:t>We are also gathering participants from this page.</a:t>
            </a:r>
          </a:p>
        </p:txBody>
      </p:sp>
      <p:grpSp>
        <p:nvGrpSpPr>
          <p:cNvPr id="3" name="Group 3"/>
          <p:cNvGrpSpPr/>
          <p:nvPr/>
        </p:nvGrpSpPr>
        <p:grpSpPr>
          <a:xfrm>
            <a:off x="2591086" y="398669"/>
            <a:ext cx="8759457" cy="9888331"/>
            <a:chOff x="0" y="0"/>
            <a:chExt cx="11679276" cy="13184442"/>
          </a:xfrm>
        </p:grpSpPr>
        <p:sp>
          <p:nvSpPr>
            <p:cNvPr id="4" name="Freeform 4"/>
            <p:cNvSpPr/>
            <p:nvPr/>
          </p:nvSpPr>
          <p:spPr>
            <a:xfrm>
              <a:off x="0" y="0"/>
              <a:ext cx="11679301" cy="13184378"/>
            </a:xfrm>
            <a:custGeom>
              <a:avLst/>
              <a:gdLst/>
              <a:ahLst/>
              <a:cxnLst/>
              <a:rect l="l" t="t" r="r" b="b"/>
              <a:pathLst>
                <a:path w="11679301" h="13184378">
                  <a:moveTo>
                    <a:pt x="0" y="0"/>
                  </a:moveTo>
                  <a:lnTo>
                    <a:pt x="11679301" y="0"/>
                  </a:lnTo>
                  <a:lnTo>
                    <a:pt x="11679301" y="13184378"/>
                  </a:lnTo>
                  <a:lnTo>
                    <a:pt x="0" y="13184378"/>
                  </a:lnTo>
                  <a:lnTo>
                    <a:pt x="0" y="0"/>
                  </a:lnTo>
                  <a:close/>
                </a:path>
              </a:pathLst>
            </a:custGeom>
            <a:blipFill>
              <a:blip r:embed="rId2"/>
              <a:stretch>
                <a:fillRect/>
              </a:stretch>
            </a:blipFill>
          </p:spPr>
        </p:sp>
      </p:grpSp>
      <p:sp>
        <p:nvSpPr>
          <p:cNvPr id="5" name="TextBox 5"/>
          <p:cNvSpPr txBox="1"/>
          <p:nvPr/>
        </p:nvSpPr>
        <p:spPr>
          <a:xfrm>
            <a:off x="15987393" y="368276"/>
            <a:ext cx="2300607" cy="409575"/>
          </a:xfrm>
          <a:prstGeom prst="rect">
            <a:avLst/>
          </a:prstGeom>
        </p:spPr>
        <p:txBody>
          <a:bodyPr lIns="0" tIns="0" rIns="0" bIns="0" rtlCol="0" anchor="t">
            <a:spAutoFit/>
          </a:bodyPr>
          <a:lstStyle/>
          <a:p>
            <a:pPr algn="l">
              <a:lnSpc>
                <a:spcPts val="3240"/>
              </a:lnSpc>
            </a:pPr>
            <a:r>
              <a:rPr lang="en-US" sz="2700" b="1">
                <a:solidFill>
                  <a:srgbClr val="000000"/>
                </a:solidFill>
                <a:latin typeface="Aptos Bold"/>
                <a:ea typeface="Aptos Bold"/>
                <a:cs typeface="Aptos Bold"/>
                <a:sym typeface="Aptos Bold"/>
              </a:rPr>
              <a:t>Vietnamese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555</TotalTime>
  <Words>1059</Words>
  <Application>Microsoft Office PowerPoint</Application>
  <PresentationFormat>Custom</PresentationFormat>
  <Paragraphs>119</Paragraphs>
  <Slides>10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Aptos Bold</vt:lpstr>
      <vt:lpstr>Times New Roman</vt:lpstr>
      <vt:lpstr>Arial</vt:lpstr>
      <vt:lpstr>Calibri</vt:lpstr>
      <vt:lpstr>Arimo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Website - Promotional Page - Cello Square Conference 2026.pptx</dc:title>
  <dc:creator>SDS</dc:creator>
  <cp:lastModifiedBy>Soh You Ru/Cello Square Group/Professional/SDSAP (Samsung SDS Asia Pacific Pte. Ltd)</cp:lastModifiedBy>
  <cp:revision>34</cp:revision>
  <dcterms:created xsi:type="dcterms:W3CDTF">2006-08-16T00:00:00Z</dcterms:created>
  <dcterms:modified xsi:type="dcterms:W3CDTF">2026-06-26T10:27:44Z</dcterms:modified>
  <dc:identifier>DAHMyfIBDs8</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