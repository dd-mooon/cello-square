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68" r:id="rId2"/>
    <p:sldId id="269" r:id="rId3"/>
    <p:sldId id="270" r:id="rId4"/>
    <p:sldId id="271" r:id="rId5"/>
    <p:sldId id="256" r:id="rId6"/>
    <p:sldId id="257" r:id="rId7"/>
    <p:sldId id="258" r:id="rId8"/>
    <p:sldId id="259" r:id="rId9"/>
    <p:sldId id="260" r:id="rId10"/>
    <p:sldId id="266" r:id="rId11"/>
    <p:sldId id="267" r:id="rId12"/>
    <p:sldId id="263" r:id="rId13"/>
    <p:sldId id="264" r:id="rId14"/>
    <p:sldId id="265" r:id="rId15"/>
  </p:sldIdLst>
  <p:sldSz cx="18288000" cy="10287000"/>
  <p:notesSz cx="6858000" cy="9144000"/>
  <p:embeddedFontLst>
    <p:embeddedFont>
      <p:font typeface="나눔바른고딕" panose="020B0603020101020101" pitchFamily="50" charset="-127"/>
      <p:regular r:id="rId17"/>
      <p:bold r:id="rId18"/>
    </p:embeddedFont>
    <p:embeddedFont>
      <p:font typeface="맑은 고딕" panose="020B0503020000020004" pitchFamily="50" charset="-127"/>
      <p:regular r:id="rId19"/>
      <p:bold r:id="rId20"/>
    </p:embeddedFont>
    <p:embeddedFont>
      <p:font typeface="Arimo" panose="020B0600000101010101" charset="0"/>
      <p:regular r:id="rId21"/>
    </p:embeddedFont>
    <p:embeddedFont>
      <p:font typeface="Calibri" panose="020F0502020204030204" pitchFamily="34" charset="0"/>
      <p:regular r:id="rId22"/>
      <p:bold r:id="rId23"/>
      <p:italic r:id="rId24"/>
      <p:boldItalic r:id="rId25"/>
    </p:embeddedFont>
    <p:embeddedFont>
      <p:font typeface="Aptos" panose="020B0600000101010101" charset="0"/>
      <p:regular r:id="rId26"/>
    </p:embeddedFont>
    <p:embeddedFont>
      <p:font typeface="Aptos Bold" panose="020B0600000101010101"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281" autoAdjust="0"/>
  </p:normalViewPr>
  <p:slideViewPr>
    <p:cSldViewPr>
      <p:cViewPr varScale="1">
        <p:scale>
          <a:sx n="54" d="100"/>
          <a:sy n="54" d="100"/>
        </p:scale>
        <p:origin x="93" y="161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C6C279-3A04-43AD-91D9-B4CD195C30A5}" type="datetimeFigureOut">
              <a:rPr lang="en-SG" smtClean="0"/>
              <a:t>29/6/2026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7680A4-333C-4F57-AE28-8F7A608C49EE}" type="slidenum">
              <a:rPr lang="en-SG" smtClean="0"/>
              <a:t>‹#›</a:t>
            </a:fld>
            <a:endParaRPr lang="en-SG"/>
          </a:p>
        </p:txBody>
      </p:sp>
    </p:spTree>
    <p:extLst>
      <p:ext uri="{BB962C8B-B14F-4D97-AF65-F5344CB8AC3E}">
        <p14:creationId xmlns:p14="http://schemas.microsoft.com/office/powerpoint/2010/main" val="544141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F27680A4-333C-4F57-AE28-8F7A608C49EE}" type="slidenum">
              <a:rPr lang="en-SG" smtClean="0"/>
              <a:t>2</a:t>
            </a:fld>
            <a:endParaRPr lang="en-SG"/>
          </a:p>
        </p:txBody>
      </p:sp>
    </p:spTree>
    <p:extLst>
      <p:ext uri="{BB962C8B-B14F-4D97-AF65-F5344CB8AC3E}">
        <p14:creationId xmlns:p14="http://schemas.microsoft.com/office/powerpoint/2010/main" val="40361321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F27680A4-333C-4F57-AE28-8F7A608C49EE}" type="slidenum">
              <a:rPr lang="en-SG" smtClean="0"/>
              <a:t>6</a:t>
            </a:fld>
            <a:endParaRPr lang="en-SG"/>
          </a:p>
        </p:txBody>
      </p:sp>
    </p:spTree>
    <p:extLst>
      <p:ext uri="{BB962C8B-B14F-4D97-AF65-F5344CB8AC3E}">
        <p14:creationId xmlns:p14="http://schemas.microsoft.com/office/powerpoint/2010/main" val="36309743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F27680A4-333C-4F57-AE28-8F7A608C49EE}" type="slidenum">
              <a:rPr lang="en-SG" smtClean="0"/>
              <a:t>11</a:t>
            </a:fld>
            <a:endParaRPr lang="en-SG"/>
          </a:p>
        </p:txBody>
      </p:sp>
    </p:spTree>
    <p:extLst>
      <p:ext uri="{BB962C8B-B14F-4D97-AF65-F5344CB8AC3E}">
        <p14:creationId xmlns:p14="http://schemas.microsoft.com/office/powerpoint/2010/main" val="1688096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6/29/2026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jpe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jpe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jpe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937" y="411070"/>
            <a:ext cx="9053341" cy="9464859"/>
            <a:chOff x="0" y="0"/>
            <a:chExt cx="12071121" cy="12619812"/>
          </a:xfrm>
        </p:grpSpPr>
        <p:sp>
          <p:nvSpPr>
            <p:cNvPr id="3" name="Freeform 3"/>
            <p:cNvSpPr/>
            <p:nvPr/>
          </p:nvSpPr>
          <p:spPr>
            <a:xfrm>
              <a:off x="0" y="0"/>
              <a:ext cx="12071096" cy="12619863"/>
            </a:xfrm>
            <a:custGeom>
              <a:avLst/>
              <a:gdLst/>
              <a:ahLst/>
              <a:cxnLst/>
              <a:rect l="l" t="t" r="r" b="b"/>
              <a:pathLst>
                <a:path w="12071096" h="12619863">
                  <a:moveTo>
                    <a:pt x="0" y="0"/>
                  </a:moveTo>
                  <a:lnTo>
                    <a:pt x="12071096" y="0"/>
                  </a:lnTo>
                  <a:lnTo>
                    <a:pt x="12071096" y="12619863"/>
                  </a:lnTo>
                  <a:lnTo>
                    <a:pt x="0" y="12619863"/>
                  </a:lnTo>
                  <a:lnTo>
                    <a:pt x="0" y="0"/>
                  </a:lnTo>
                  <a:close/>
                </a:path>
              </a:pathLst>
            </a:custGeom>
            <a:blipFill>
              <a:blip r:embed="rId2"/>
              <a:stretch>
                <a:fillRect/>
              </a:stretch>
            </a:blipFill>
          </p:spPr>
        </p:sp>
      </p:grpSp>
      <p:grpSp>
        <p:nvGrpSpPr>
          <p:cNvPr id="7" name="Group 7"/>
          <p:cNvGrpSpPr/>
          <p:nvPr/>
        </p:nvGrpSpPr>
        <p:grpSpPr>
          <a:xfrm>
            <a:off x="679675" y="565375"/>
            <a:ext cx="3193742" cy="700897"/>
            <a:chOff x="0" y="0"/>
            <a:chExt cx="4258323" cy="934529"/>
          </a:xfrm>
        </p:grpSpPr>
        <p:sp>
          <p:nvSpPr>
            <p:cNvPr id="8" name="Freeform 8"/>
            <p:cNvSpPr/>
            <p:nvPr/>
          </p:nvSpPr>
          <p:spPr>
            <a:xfrm>
              <a:off x="0" y="0"/>
              <a:ext cx="4258310" cy="934593"/>
            </a:xfrm>
            <a:custGeom>
              <a:avLst/>
              <a:gdLst/>
              <a:ahLst/>
              <a:cxnLst/>
              <a:rect l="l" t="t" r="r" b="b"/>
              <a:pathLst>
                <a:path w="4258310" h="934593">
                  <a:moveTo>
                    <a:pt x="0" y="0"/>
                  </a:moveTo>
                  <a:lnTo>
                    <a:pt x="4258310" y="0"/>
                  </a:lnTo>
                  <a:lnTo>
                    <a:pt x="4258310" y="934593"/>
                  </a:lnTo>
                  <a:lnTo>
                    <a:pt x="0" y="934593"/>
                  </a:lnTo>
                  <a:close/>
                </a:path>
              </a:pathLst>
            </a:custGeom>
            <a:blipFill>
              <a:blip r:embed="rId3">
                <a:alphaModFix amt="0"/>
              </a:blip>
              <a:stretch>
                <a:fillRect t="-38783" b="-38777"/>
              </a:stretch>
            </a:blipFill>
            <a:ln w="28575" cap="sq">
              <a:solidFill>
                <a:srgbClr val="FF0000"/>
              </a:solidFill>
              <a:prstDash val="solid"/>
              <a:miter/>
            </a:ln>
          </p:spPr>
        </p:sp>
      </p:grpSp>
      <p:sp>
        <p:nvSpPr>
          <p:cNvPr id="9" name="AutoShape 9"/>
          <p:cNvSpPr/>
          <p:nvPr/>
        </p:nvSpPr>
        <p:spPr>
          <a:xfrm rot="2700000">
            <a:off x="3898649" y="864051"/>
            <a:ext cx="40415" cy="0"/>
          </a:xfrm>
          <a:prstGeom prst="line">
            <a:avLst/>
          </a:prstGeom>
          <a:ln w="19050" cap="rnd">
            <a:solidFill>
              <a:srgbClr val="156082"/>
            </a:solidFill>
            <a:prstDash val="solid"/>
            <a:headEnd type="none" w="sm" len="sm"/>
            <a:tailEnd type="none" w="sm" len="sm"/>
          </a:ln>
        </p:spPr>
      </p:sp>
      <p:grpSp>
        <p:nvGrpSpPr>
          <p:cNvPr id="10" name="Group 10"/>
          <p:cNvGrpSpPr/>
          <p:nvPr/>
        </p:nvGrpSpPr>
        <p:grpSpPr>
          <a:xfrm>
            <a:off x="10083689" y="667236"/>
            <a:ext cx="1421540" cy="461666"/>
            <a:chOff x="0" y="0"/>
            <a:chExt cx="1895386" cy="615554"/>
          </a:xfrm>
        </p:grpSpPr>
        <p:sp>
          <p:nvSpPr>
            <p:cNvPr id="11" name="Freeform 11"/>
            <p:cNvSpPr/>
            <p:nvPr/>
          </p:nvSpPr>
          <p:spPr>
            <a:xfrm>
              <a:off x="0" y="0"/>
              <a:ext cx="1895348" cy="615567"/>
            </a:xfrm>
            <a:custGeom>
              <a:avLst/>
              <a:gdLst/>
              <a:ahLst/>
              <a:cxnLst/>
              <a:rect l="l" t="t" r="r" b="b"/>
              <a:pathLst>
                <a:path w="1895348" h="615567">
                  <a:moveTo>
                    <a:pt x="0" y="0"/>
                  </a:moveTo>
                  <a:lnTo>
                    <a:pt x="1895348" y="0"/>
                  </a:lnTo>
                  <a:lnTo>
                    <a:pt x="1895348" y="615567"/>
                  </a:lnTo>
                  <a:lnTo>
                    <a:pt x="0" y="615567"/>
                  </a:lnTo>
                  <a:close/>
                </a:path>
              </a:pathLst>
            </a:custGeom>
            <a:blipFill>
              <a:blip r:embed="rId3">
                <a:alphaModFix amt="0"/>
              </a:blip>
              <a:stretch>
                <a:fillRect t="-9997" r="-2" b="-9995"/>
              </a:stretch>
            </a:blipFill>
            <a:ln cap="sq">
              <a:noFill/>
              <a:prstDash val="solid"/>
              <a:miter/>
            </a:ln>
          </p:spPr>
        </p:sp>
        <p:sp>
          <p:nvSpPr>
            <p:cNvPr id="12" name="TextBox 12"/>
            <p:cNvSpPr txBox="1"/>
            <p:nvPr/>
          </p:nvSpPr>
          <p:spPr>
            <a:xfrm>
              <a:off x="0" y="0"/>
              <a:ext cx="1895386" cy="615554"/>
            </a:xfrm>
            <a:prstGeom prst="rect">
              <a:avLst/>
            </a:prstGeom>
          </p:spPr>
          <p:txBody>
            <a:bodyPr lIns="50800" tIns="50800" rIns="50800" bIns="50800" rtlCol="0" anchor="t"/>
            <a:lstStyle/>
            <a:p>
              <a:pPr algn="l">
                <a:lnSpc>
                  <a:spcPts val="2160"/>
                </a:lnSpc>
              </a:pPr>
              <a:r>
                <a:rPr lang="ko-KR" altLang="en-US" sz="1800" dirty="0" smtClean="0">
                  <a:latin typeface="나눔바른고딕" panose="020B0603020101020101" pitchFamily="50" charset="-127"/>
                  <a:ea typeface="나눔바른고딕" panose="020B0603020101020101" pitchFamily="50" charset="-127"/>
                  <a:cs typeface="Aptos"/>
                  <a:sym typeface="Aptos"/>
                </a:rPr>
                <a:t>로고 유지</a:t>
              </a:r>
              <a:endParaRPr lang="en-US" sz="1800" dirty="0">
                <a:latin typeface="나눔바른고딕" panose="020B0603020101020101" pitchFamily="50" charset="-127"/>
                <a:ea typeface="나눔바른고딕" panose="020B0603020101020101" pitchFamily="50" charset="-127"/>
                <a:cs typeface="Aptos"/>
                <a:sym typeface="Aptos"/>
              </a:endParaRPr>
            </a:p>
          </p:txBody>
        </p:sp>
      </p:grpSp>
      <p:sp>
        <p:nvSpPr>
          <p:cNvPr id="13" name="AutoShape 13"/>
          <p:cNvSpPr/>
          <p:nvPr/>
        </p:nvSpPr>
        <p:spPr>
          <a:xfrm flipV="1">
            <a:off x="3873408" y="898069"/>
            <a:ext cx="6210281" cy="17755"/>
          </a:xfrm>
          <a:prstGeom prst="line">
            <a:avLst/>
          </a:prstGeom>
          <a:ln w="19050" cap="rnd">
            <a:solidFill>
              <a:srgbClr val="FF0000"/>
            </a:solidFill>
            <a:prstDash val="solid"/>
            <a:headEnd type="none" w="sm" len="sm"/>
            <a:tailEnd type="none" w="sm" len="sm"/>
          </a:ln>
        </p:spPr>
      </p:sp>
      <p:grpSp>
        <p:nvGrpSpPr>
          <p:cNvPr id="14" name="Group 14"/>
          <p:cNvGrpSpPr/>
          <p:nvPr/>
        </p:nvGrpSpPr>
        <p:grpSpPr>
          <a:xfrm>
            <a:off x="965425" y="2154203"/>
            <a:ext cx="8258175" cy="635946"/>
            <a:chOff x="0" y="0"/>
            <a:chExt cx="11010900" cy="847928"/>
          </a:xfrm>
        </p:grpSpPr>
        <p:sp>
          <p:nvSpPr>
            <p:cNvPr id="15" name="Freeform 15"/>
            <p:cNvSpPr/>
            <p:nvPr/>
          </p:nvSpPr>
          <p:spPr>
            <a:xfrm>
              <a:off x="0" y="0"/>
              <a:ext cx="11010900" cy="847979"/>
            </a:xfrm>
            <a:custGeom>
              <a:avLst/>
              <a:gdLst/>
              <a:ahLst/>
              <a:cxnLst/>
              <a:rect l="l" t="t" r="r" b="b"/>
              <a:pathLst>
                <a:path w="11010900" h="847979">
                  <a:moveTo>
                    <a:pt x="0" y="0"/>
                  </a:moveTo>
                  <a:lnTo>
                    <a:pt x="11010900" y="0"/>
                  </a:lnTo>
                  <a:lnTo>
                    <a:pt x="11010900" y="847979"/>
                  </a:lnTo>
                  <a:lnTo>
                    <a:pt x="0" y="847979"/>
                  </a:lnTo>
                  <a:close/>
                </a:path>
              </a:pathLst>
            </a:custGeom>
            <a:blipFill>
              <a:blip r:embed="rId3">
                <a:alphaModFix amt="0"/>
              </a:blip>
              <a:stretch>
                <a:fillRect t="-203013" b="-203007"/>
              </a:stretch>
            </a:blipFill>
            <a:ln w="28575" cap="sq">
              <a:solidFill>
                <a:srgbClr val="FF0000"/>
              </a:solidFill>
              <a:prstDash val="solid"/>
              <a:miter/>
            </a:ln>
          </p:spPr>
        </p:sp>
      </p:grpSp>
      <p:sp>
        <p:nvSpPr>
          <p:cNvPr id="16" name="AutoShape 16"/>
          <p:cNvSpPr/>
          <p:nvPr/>
        </p:nvSpPr>
        <p:spPr>
          <a:xfrm rot="2700000">
            <a:off x="4184399" y="2452878"/>
            <a:ext cx="40415" cy="0"/>
          </a:xfrm>
          <a:prstGeom prst="line">
            <a:avLst/>
          </a:prstGeom>
          <a:ln w="19050" cap="rnd">
            <a:solidFill>
              <a:srgbClr val="156082"/>
            </a:solidFill>
            <a:prstDash val="solid"/>
            <a:headEnd type="none" w="sm" len="sm"/>
            <a:tailEnd type="none" w="sm" len="sm"/>
          </a:ln>
        </p:spPr>
      </p:sp>
      <p:grpSp>
        <p:nvGrpSpPr>
          <p:cNvPr id="17" name="Group 17"/>
          <p:cNvGrpSpPr/>
          <p:nvPr/>
        </p:nvGrpSpPr>
        <p:grpSpPr>
          <a:xfrm>
            <a:off x="10083689" y="2139916"/>
            <a:ext cx="7790745" cy="507047"/>
            <a:chOff x="0" y="-19049"/>
            <a:chExt cx="10387660" cy="676063"/>
          </a:xfrm>
        </p:grpSpPr>
        <p:sp>
          <p:nvSpPr>
            <p:cNvPr id="18" name="Freeform 18"/>
            <p:cNvSpPr/>
            <p:nvPr/>
          </p:nvSpPr>
          <p:spPr>
            <a:xfrm>
              <a:off x="0" y="0"/>
              <a:ext cx="7008495" cy="657014"/>
            </a:xfrm>
            <a:custGeom>
              <a:avLst/>
              <a:gdLst/>
              <a:ahLst/>
              <a:cxnLst/>
              <a:rect l="l" t="t" r="r" b="b"/>
              <a:pathLst>
                <a:path w="7008495" h="657014">
                  <a:moveTo>
                    <a:pt x="0" y="0"/>
                  </a:moveTo>
                  <a:lnTo>
                    <a:pt x="7008495" y="0"/>
                  </a:lnTo>
                  <a:lnTo>
                    <a:pt x="7008495" y="657014"/>
                  </a:lnTo>
                  <a:lnTo>
                    <a:pt x="0" y="657014"/>
                  </a:lnTo>
                  <a:close/>
                </a:path>
              </a:pathLst>
            </a:custGeom>
            <a:blipFill>
              <a:blip r:embed="rId3">
                <a:alphaModFix amt="0"/>
              </a:blip>
              <a:stretch>
                <a:fillRect t="-161004" b="-154694"/>
              </a:stretch>
            </a:blipFill>
            <a:ln cap="sq">
              <a:noFill/>
              <a:prstDash val="solid"/>
              <a:miter/>
            </a:ln>
          </p:spPr>
        </p:sp>
        <p:sp>
          <p:nvSpPr>
            <p:cNvPr id="19" name="TextBox 19"/>
            <p:cNvSpPr txBox="1"/>
            <p:nvPr/>
          </p:nvSpPr>
          <p:spPr>
            <a:xfrm>
              <a:off x="0" y="-19049"/>
              <a:ext cx="10387660" cy="676051"/>
            </a:xfrm>
            <a:prstGeom prst="rect">
              <a:avLst/>
            </a:prstGeom>
          </p:spPr>
          <p:txBody>
            <a:bodyPr lIns="50800" tIns="50800" rIns="50800" bIns="50800" rtlCol="0" anchor="t"/>
            <a:lstStyle/>
            <a:p>
              <a:pPr algn="l">
                <a:lnSpc>
                  <a:spcPts val="2520"/>
                </a:lnSpc>
              </a:pPr>
              <a:r>
                <a:rPr lang="en-US" sz="21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Cello Square Conference Southeast Asia </a:t>
              </a:r>
              <a:r>
                <a:rPr 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2026</a:t>
              </a:r>
              <a:r>
                <a:rPr lang="ko-KR" alt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로 타이틀 변경</a:t>
              </a:r>
              <a:endParaRPr lang="en-US" sz="2100" dirty="0">
                <a:solidFill>
                  <a:srgbClr val="000000"/>
                </a:solidFill>
                <a:latin typeface="나눔바른고딕" panose="020B0603020101020101" pitchFamily="50" charset="-127"/>
                <a:ea typeface="나눔바른고딕" panose="020B0603020101020101" pitchFamily="50" charset="-127"/>
                <a:cs typeface="Times New Roman"/>
                <a:sym typeface="Times New Roman"/>
              </a:endParaRPr>
            </a:p>
          </p:txBody>
        </p:sp>
      </p:grpSp>
      <p:sp>
        <p:nvSpPr>
          <p:cNvPr id="20" name="AutoShape 20"/>
          <p:cNvSpPr/>
          <p:nvPr/>
        </p:nvSpPr>
        <p:spPr>
          <a:xfrm flipV="1">
            <a:off x="9223600" y="2400578"/>
            <a:ext cx="860088" cy="71597"/>
          </a:xfrm>
          <a:prstGeom prst="line">
            <a:avLst/>
          </a:prstGeom>
          <a:ln w="19050" cap="rnd">
            <a:solidFill>
              <a:srgbClr val="FF0000"/>
            </a:solidFill>
            <a:prstDash val="solid"/>
            <a:headEnd type="none" w="sm" len="sm"/>
            <a:tailEnd type="none" w="sm" len="sm"/>
          </a:ln>
        </p:spPr>
      </p:sp>
      <p:grpSp>
        <p:nvGrpSpPr>
          <p:cNvPr id="21" name="Group 21"/>
          <p:cNvGrpSpPr/>
          <p:nvPr/>
        </p:nvGrpSpPr>
        <p:grpSpPr>
          <a:xfrm>
            <a:off x="2207190" y="2900362"/>
            <a:ext cx="5595833" cy="1057094"/>
            <a:chOff x="0" y="0"/>
            <a:chExt cx="7461110" cy="1409459"/>
          </a:xfrm>
        </p:grpSpPr>
        <p:sp>
          <p:nvSpPr>
            <p:cNvPr id="22" name="Freeform 22"/>
            <p:cNvSpPr/>
            <p:nvPr/>
          </p:nvSpPr>
          <p:spPr>
            <a:xfrm>
              <a:off x="0" y="0"/>
              <a:ext cx="7461123" cy="1409446"/>
            </a:xfrm>
            <a:custGeom>
              <a:avLst/>
              <a:gdLst/>
              <a:ahLst/>
              <a:cxnLst/>
              <a:rect l="l" t="t" r="r" b="b"/>
              <a:pathLst>
                <a:path w="7461123" h="1409446">
                  <a:moveTo>
                    <a:pt x="0" y="0"/>
                  </a:moveTo>
                  <a:lnTo>
                    <a:pt x="7461123" y="0"/>
                  </a:lnTo>
                  <a:lnTo>
                    <a:pt x="7461123" y="1409446"/>
                  </a:lnTo>
                  <a:lnTo>
                    <a:pt x="0" y="1409446"/>
                  </a:lnTo>
                  <a:close/>
                </a:path>
              </a:pathLst>
            </a:custGeom>
            <a:blipFill>
              <a:blip r:embed="rId3">
                <a:alphaModFix amt="0"/>
              </a:blip>
              <a:stretch>
                <a:fillRect t="-53146" b="-53147"/>
              </a:stretch>
            </a:blipFill>
            <a:ln w="28575" cap="sq">
              <a:solidFill>
                <a:srgbClr val="FF0000"/>
              </a:solidFill>
              <a:prstDash val="solid"/>
              <a:miter/>
            </a:ln>
          </p:spPr>
        </p:sp>
      </p:grpSp>
      <p:sp>
        <p:nvSpPr>
          <p:cNvPr id="23" name="AutoShape 23"/>
          <p:cNvSpPr/>
          <p:nvPr/>
        </p:nvSpPr>
        <p:spPr>
          <a:xfrm rot="2700000">
            <a:off x="5426164" y="3296393"/>
            <a:ext cx="40415" cy="0"/>
          </a:xfrm>
          <a:prstGeom prst="line">
            <a:avLst/>
          </a:prstGeom>
          <a:ln w="19050" cap="rnd">
            <a:solidFill>
              <a:srgbClr val="156082"/>
            </a:solidFill>
            <a:prstDash val="solid"/>
            <a:headEnd type="none" w="sm" len="sm"/>
            <a:tailEnd type="none" w="sm" len="sm"/>
          </a:ln>
        </p:spPr>
      </p:sp>
      <p:grpSp>
        <p:nvGrpSpPr>
          <p:cNvPr id="24" name="Group 24"/>
          <p:cNvGrpSpPr/>
          <p:nvPr/>
        </p:nvGrpSpPr>
        <p:grpSpPr>
          <a:xfrm>
            <a:off x="10083689" y="2838252"/>
            <a:ext cx="7169425" cy="741803"/>
            <a:chOff x="0" y="-296180"/>
            <a:chExt cx="9559233" cy="989070"/>
          </a:xfrm>
        </p:grpSpPr>
        <p:sp>
          <p:nvSpPr>
            <p:cNvPr id="25" name="Freeform 25"/>
            <p:cNvSpPr/>
            <p:nvPr/>
          </p:nvSpPr>
          <p:spPr>
            <a:xfrm>
              <a:off x="0" y="0"/>
              <a:ext cx="9559233" cy="692890"/>
            </a:xfrm>
            <a:custGeom>
              <a:avLst/>
              <a:gdLst/>
              <a:ahLst/>
              <a:cxnLst/>
              <a:rect l="l" t="t" r="r" b="b"/>
              <a:pathLst>
                <a:path w="9559233" h="692890">
                  <a:moveTo>
                    <a:pt x="0" y="0"/>
                  </a:moveTo>
                  <a:lnTo>
                    <a:pt x="9559233" y="0"/>
                  </a:lnTo>
                  <a:lnTo>
                    <a:pt x="9559233" y="692890"/>
                  </a:lnTo>
                  <a:lnTo>
                    <a:pt x="0" y="692890"/>
                  </a:lnTo>
                  <a:close/>
                </a:path>
              </a:pathLst>
            </a:custGeom>
            <a:blipFill>
              <a:blip r:embed="rId3">
                <a:alphaModFix amt="0"/>
              </a:blip>
              <a:stretch>
                <a:fillRect t="-161528" r="11821" b="-212554"/>
              </a:stretch>
            </a:blipFill>
            <a:ln cap="sq">
              <a:noFill/>
              <a:prstDash val="solid"/>
              <a:miter/>
            </a:ln>
          </p:spPr>
        </p:sp>
        <p:sp>
          <p:nvSpPr>
            <p:cNvPr id="26" name="TextBox 26"/>
            <p:cNvSpPr txBox="1"/>
            <p:nvPr/>
          </p:nvSpPr>
          <p:spPr>
            <a:xfrm>
              <a:off x="0" y="-296180"/>
              <a:ext cx="9559221" cy="989035"/>
            </a:xfrm>
            <a:prstGeom prst="rect">
              <a:avLst/>
            </a:prstGeom>
          </p:spPr>
          <p:txBody>
            <a:bodyPr lIns="50800" tIns="50800" rIns="50800" bIns="50800" rtlCol="0" anchor="t"/>
            <a:lstStyle/>
            <a:p>
              <a:pPr algn="l">
                <a:lnSpc>
                  <a:spcPts val="2520"/>
                </a:lnSpc>
              </a:pPr>
              <a:r>
                <a:rPr lang="en-US" sz="21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Driving Supply Chain Agility: From Insight to </a:t>
              </a:r>
              <a:r>
                <a:rPr 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Action</a:t>
              </a:r>
            </a:p>
            <a:p>
              <a:pPr algn="l">
                <a:lnSpc>
                  <a:spcPts val="2520"/>
                </a:lnSpc>
              </a:pPr>
              <a:r>
                <a:rPr 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a:t>
              </a:r>
              <a:r>
                <a:rPr lang="ko-KR" alt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한글로 굳이 번역하니 표현이 어색하여 영어 그대로 유지합니다</a:t>
              </a:r>
              <a:r>
                <a:rPr lang="en-US" altLang="ko-KR"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a:t>
              </a:r>
              <a:endParaRPr lang="en-US" sz="2100" dirty="0">
                <a:solidFill>
                  <a:srgbClr val="000000"/>
                </a:solidFill>
                <a:latin typeface="나눔바른고딕" panose="020B0603020101020101" pitchFamily="50" charset="-127"/>
                <a:ea typeface="나눔바른고딕" panose="020B0603020101020101" pitchFamily="50" charset="-127"/>
                <a:cs typeface="Times New Roman"/>
                <a:sym typeface="Times New Roman"/>
              </a:endParaRPr>
            </a:p>
          </p:txBody>
        </p:sp>
      </p:grpSp>
      <p:sp>
        <p:nvSpPr>
          <p:cNvPr id="27" name="AutoShape 27"/>
          <p:cNvSpPr/>
          <p:nvPr/>
        </p:nvSpPr>
        <p:spPr>
          <a:xfrm flipV="1">
            <a:off x="7803023" y="3320207"/>
            <a:ext cx="2280666" cy="108703"/>
          </a:xfrm>
          <a:prstGeom prst="line">
            <a:avLst/>
          </a:prstGeom>
          <a:ln w="19050" cap="rnd">
            <a:solidFill>
              <a:srgbClr val="FF0000"/>
            </a:solidFill>
            <a:prstDash val="solid"/>
            <a:headEnd type="none" w="sm" len="sm"/>
            <a:tailEnd type="none" w="sm" len="sm"/>
          </a:ln>
        </p:spPr>
      </p:sp>
      <p:grpSp>
        <p:nvGrpSpPr>
          <p:cNvPr id="29" name="Group 29"/>
          <p:cNvGrpSpPr/>
          <p:nvPr/>
        </p:nvGrpSpPr>
        <p:grpSpPr>
          <a:xfrm>
            <a:off x="1683887" y="3987146"/>
            <a:ext cx="6723288" cy="578091"/>
            <a:chOff x="0" y="0"/>
            <a:chExt cx="8964384" cy="770788"/>
          </a:xfrm>
        </p:grpSpPr>
        <p:sp>
          <p:nvSpPr>
            <p:cNvPr id="30" name="Freeform 30"/>
            <p:cNvSpPr/>
            <p:nvPr/>
          </p:nvSpPr>
          <p:spPr>
            <a:xfrm>
              <a:off x="0" y="0"/>
              <a:ext cx="8964422" cy="770763"/>
            </a:xfrm>
            <a:custGeom>
              <a:avLst/>
              <a:gdLst/>
              <a:ahLst/>
              <a:cxnLst/>
              <a:rect l="l" t="t" r="r" b="b"/>
              <a:pathLst>
                <a:path w="8964422" h="770763">
                  <a:moveTo>
                    <a:pt x="0" y="0"/>
                  </a:moveTo>
                  <a:lnTo>
                    <a:pt x="8964422" y="0"/>
                  </a:lnTo>
                  <a:lnTo>
                    <a:pt x="8964422" y="770763"/>
                  </a:lnTo>
                  <a:lnTo>
                    <a:pt x="0" y="770763"/>
                  </a:lnTo>
                  <a:close/>
                </a:path>
              </a:pathLst>
            </a:custGeom>
            <a:blipFill>
              <a:blip r:embed="rId3">
                <a:alphaModFix amt="0"/>
              </a:blip>
              <a:stretch>
                <a:fillRect t="-176619" b="-176623"/>
              </a:stretch>
            </a:blipFill>
            <a:ln w="28575" cap="sq">
              <a:solidFill>
                <a:srgbClr val="FF0000"/>
              </a:solidFill>
              <a:prstDash val="solid"/>
              <a:miter/>
            </a:ln>
          </p:spPr>
        </p:sp>
      </p:grpSp>
      <p:sp>
        <p:nvSpPr>
          <p:cNvPr id="31" name="AutoShape 31"/>
          <p:cNvSpPr/>
          <p:nvPr/>
        </p:nvSpPr>
        <p:spPr>
          <a:xfrm rot="2700000">
            <a:off x="4902860" y="4285821"/>
            <a:ext cx="40415" cy="0"/>
          </a:xfrm>
          <a:prstGeom prst="line">
            <a:avLst/>
          </a:prstGeom>
          <a:ln w="19050" cap="rnd">
            <a:solidFill>
              <a:srgbClr val="156082"/>
            </a:solidFill>
            <a:prstDash val="solid"/>
            <a:headEnd type="none" w="sm" len="sm"/>
            <a:tailEnd type="none" w="sm" len="sm"/>
          </a:ln>
        </p:spPr>
      </p:sp>
      <p:grpSp>
        <p:nvGrpSpPr>
          <p:cNvPr id="32" name="Group 32"/>
          <p:cNvGrpSpPr/>
          <p:nvPr/>
        </p:nvGrpSpPr>
        <p:grpSpPr>
          <a:xfrm>
            <a:off x="10083689" y="3872653"/>
            <a:ext cx="8204311" cy="807076"/>
            <a:chOff x="0" y="0"/>
            <a:chExt cx="10939081" cy="1076102"/>
          </a:xfrm>
        </p:grpSpPr>
        <p:sp>
          <p:nvSpPr>
            <p:cNvPr id="33" name="Freeform 33"/>
            <p:cNvSpPr/>
            <p:nvPr/>
          </p:nvSpPr>
          <p:spPr>
            <a:xfrm>
              <a:off x="0" y="0"/>
              <a:ext cx="10939119" cy="1076114"/>
            </a:xfrm>
            <a:custGeom>
              <a:avLst/>
              <a:gdLst/>
              <a:ahLst/>
              <a:cxnLst/>
              <a:rect l="l" t="t" r="r" b="b"/>
              <a:pathLst>
                <a:path w="10939119" h="1076114">
                  <a:moveTo>
                    <a:pt x="0" y="0"/>
                  </a:moveTo>
                  <a:lnTo>
                    <a:pt x="10939119" y="0"/>
                  </a:lnTo>
                  <a:lnTo>
                    <a:pt x="10939119" y="1076114"/>
                  </a:lnTo>
                  <a:lnTo>
                    <a:pt x="0" y="1076114"/>
                  </a:lnTo>
                  <a:close/>
                </a:path>
              </a:pathLst>
            </a:custGeom>
            <a:blipFill>
              <a:blip r:embed="rId3">
                <a:alphaModFix amt="0"/>
              </a:blip>
              <a:stretch>
                <a:fillRect t="-158721" r="5427" b="-115923"/>
              </a:stretch>
            </a:blipFill>
            <a:ln cap="sq">
              <a:noFill/>
              <a:prstDash val="solid"/>
              <a:miter/>
            </a:ln>
          </p:spPr>
        </p:sp>
        <p:sp>
          <p:nvSpPr>
            <p:cNvPr id="34" name="TextBox 34"/>
            <p:cNvSpPr txBox="1"/>
            <p:nvPr/>
          </p:nvSpPr>
          <p:spPr>
            <a:xfrm>
              <a:off x="0" y="-19050"/>
              <a:ext cx="10939081" cy="1095152"/>
            </a:xfrm>
            <a:prstGeom prst="rect">
              <a:avLst/>
            </a:prstGeom>
          </p:spPr>
          <p:txBody>
            <a:bodyPr lIns="50800" tIns="50800" rIns="50800" bIns="50800" rtlCol="0" anchor="t"/>
            <a:lstStyle/>
            <a:p>
              <a:pPr algn="l">
                <a:lnSpc>
                  <a:spcPts val="2520"/>
                </a:lnSpc>
              </a:pPr>
              <a:r>
                <a:rPr 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2026</a:t>
              </a:r>
              <a:r>
                <a:rPr lang="ko-KR" alt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년 </a:t>
              </a:r>
              <a:r>
                <a:rPr lang="en-US" altLang="ko-KR"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7</a:t>
              </a:r>
              <a:r>
                <a:rPr lang="ko-KR" alt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월 </a:t>
              </a:r>
              <a:r>
                <a:rPr lang="en-US" altLang="ko-KR"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24</a:t>
              </a:r>
              <a:r>
                <a:rPr lang="ko-KR" alt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일</a:t>
              </a:r>
              <a:r>
                <a:rPr lang="en-US" altLang="ko-KR"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a:t>
              </a:r>
              <a:r>
                <a:rPr lang="ko-KR" alt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금</a:t>
              </a:r>
              <a:r>
                <a:rPr lang="en-US" altLang="ko-KR"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r>
                <a:rPr 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13:30 </a:t>
              </a:r>
              <a:r>
                <a:rPr lang="en-US" sz="21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 17:00 </a:t>
              </a:r>
              <a:r>
                <a:rPr 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r>
                <a:rPr 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InterContinental </a:t>
              </a:r>
              <a:r>
                <a:rPr lang="en-US" sz="21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Hanoi Landmark 72 </a:t>
              </a:r>
              <a:r>
                <a:rPr 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(5F Ballroom 1)</a:t>
              </a:r>
              <a:endParaRPr lang="en-US" sz="2100" dirty="0">
                <a:solidFill>
                  <a:srgbClr val="000000"/>
                </a:solidFill>
                <a:latin typeface="나눔바른고딕" panose="020B0603020101020101" pitchFamily="50" charset="-127"/>
                <a:ea typeface="나눔바른고딕" panose="020B0603020101020101" pitchFamily="50" charset="-127"/>
                <a:cs typeface="Times New Roman"/>
                <a:sym typeface="Times New Roman"/>
              </a:endParaRPr>
            </a:p>
          </p:txBody>
        </p:sp>
      </p:grpSp>
      <p:sp>
        <p:nvSpPr>
          <p:cNvPr id="35" name="AutoShape 35"/>
          <p:cNvSpPr/>
          <p:nvPr/>
        </p:nvSpPr>
        <p:spPr>
          <a:xfrm>
            <a:off x="8407175" y="4276192"/>
            <a:ext cx="1676514" cy="0"/>
          </a:xfrm>
          <a:prstGeom prst="line">
            <a:avLst/>
          </a:prstGeom>
          <a:ln w="19050" cap="rnd">
            <a:solidFill>
              <a:srgbClr val="FF0000"/>
            </a:solidFill>
            <a:prstDash val="solid"/>
            <a:headEnd type="none" w="sm" len="sm"/>
            <a:tailEnd type="none" w="sm" len="sm"/>
          </a:ln>
        </p:spPr>
      </p:sp>
      <p:grpSp>
        <p:nvGrpSpPr>
          <p:cNvPr id="36" name="Group 36"/>
          <p:cNvGrpSpPr/>
          <p:nvPr/>
        </p:nvGrpSpPr>
        <p:grpSpPr>
          <a:xfrm>
            <a:off x="1087888" y="5762244"/>
            <a:ext cx="8233686" cy="3975706"/>
            <a:chOff x="0" y="0"/>
            <a:chExt cx="10978248" cy="5300942"/>
          </a:xfrm>
        </p:grpSpPr>
        <p:sp>
          <p:nvSpPr>
            <p:cNvPr id="37" name="Freeform 37"/>
            <p:cNvSpPr/>
            <p:nvPr/>
          </p:nvSpPr>
          <p:spPr>
            <a:xfrm>
              <a:off x="0" y="0"/>
              <a:ext cx="10978261" cy="5300980"/>
            </a:xfrm>
            <a:custGeom>
              <a:avLst/>
              <a:gdLst/>
              <a:ahLst/>
              <a:cxnLst/>
              <a:rect l="l" t="t" r="r" b="b"/>
              <a:pathLst>
                <a:path w="10978261" h="5300980">
                  <a:moveTo>
                    <a:pt x="0" y="0"/>
                  </a:moveTo>
                  <a:lnTo>
                    <a:pt x="10978261" y="0"/>
                  </a:lnTo>
                  <a:lnTo>
                    <a:pt x="10978261" y="5300980"/>
                  </a:lnTo>
                  <a:lnTo>
                    <a:pt x="0" y="5300980"/>
                  </a:lnTo>
                  <a:close/>
                </a:path>
              </a:pathLst>
            </a:custGeom>
            <a:blipFill>
              <a:blip r:embed="rId3">
                <a:alphaModFix amt="0"/>
              </a:blip>
              <a:stretch>
                <a:fillRect l="-11952" r="-11952"/>
              </a:stretch>
            </a:blipFill>
            <a:ln w="28575" cap="sq">
              <a:solidFill>
                <a:srgbClr val="FF0000"/>
              </a:solidFill>
              <a:prstDash val="solid"/>
              <a:miter/>
            </a:ln>
          </p:spPr>
        </p:sp>
      </p:grpSp>
      <p:sp>
        <p:nvSpPr>
          <p:cNvPr id="38" name="AutoShape 38"/>
          <p:cNvSpPr/>
          <p:nvPr/>
        </p:nvSpPr>
        <p:spPr>
          <a:xfrm rot="2700000">
            <a:off x="4306862" y="7256726"/>
            <a:ext cx="40415" cy="0"/>
          </a:xfrm>
          <a:prstGeom prst="line">
            <a:avLst/>
          </a:prstGeom>
          <a:ln w="19050" cap="rnd">
            <a:solidFill>
              <a:srgbClr val="156082"/>
            </a:solidFill>
            <a:prstDash val="solid"/>
            <a:headEnd type="none" w="sm" len="sm"/>
            <a:tailEnd type="none" w="sm" len="sm"/>
          </a:ln>
        </p:spPr>
      </p:sp>
      <p:grpSp>
        <p:nvGrpSpPr>
          <p:cNvPr id="39" name="Group 39"/>
          <p:cNvGrpSpPr/>
          <p:nvPr/>
        </p:nvGrpSpPr>
        <p:grpSpPr>
          <a:xfrm>
            <a:off x="10006086" y="4964120"/>
            <a:ext cx="8023509" cy="4006456"/>
            <a:chOff x="-103471" y="0"/>
            <a:chExt cx="10698013" cy="5341941"/>
          </a:xfrm>
        </p:grpSpPr>
        <p:sp>
          <p:nvSpPr>
            <p:cNvPr id="40" name="Freeform 40"/>
            <p:cNvSpPr/>
            <p:nvPr/>
          </p:nvSpPr>
          <p:spPr>
            <a:xfrm>
              <a:off x="0" y="0"/>
              <a:ext cx="10594542" cy="4962765"/>
            </a:xfrm>
            <a:custGeom>
              <a:avLst/>
              <a:gdLst/>
              <a:ahLst/>
              <a:cxnLst/>
              <a:rect l="l" t="t" r="r" b="b"/>
              <a:pathLst>
                <a:path w="10594542" h="4962765">
                  <a:moveTo>
                    <a:pt x="0" y="0"/>
                  </a:moveTo>
                  <a:lnTo>
                    <a:pt x="10594542" y="0"/>
                  </a:lnTo>
                  <a:lnTo>
                    <a:pt x="10594542" y="4962765"/>
                  </a:lnTo>
                  <a:lnTo>
                    <a:pt x="0" y="4962765"/>
                  </a:lnTo>
                  <a:close/>
                </a:path>
              </a:pathLst>
            </a:custGeom>
            <a:blipFill>
              <a:blip r:embed="rId3">
                <a:alphaModFix amt="0"/>
              </a:blip>
              <a:stretch>
                <a:fillRect l="-30651" r="-19930" b="-25274"/>
              </a:stretch>
            </a:blipFill>
            <a:ln cap="sq">
              <a:noFill/>
              <a:prstDash val="solid"/>
              <a:miter/>
            </a:ln>
          </p:spPr>
        </p:sp>
        <p:sp>
          <p:nvSpPr>
            <p:cNvPr id="41" name="TextBox 41"/>
            <p:cNvSpPr txBox="1"/>
            <p:nvPr/>
          </p:nvSpPr>
          <p:spPr>
            <a:xfrm>
              <a:off x="-103471" y="360085"/>
              <a:ext cx="10594599" cy="4981856"/>
            </a:xfrm>
            <a:prstGeom prst="rect">
              <a:avLst/>
            </a:prstGeom>
          </p:spPr>
          <p:txBody>
            <a:bodyPr lIns="50800" tIns="50800" rIns="50800" bIns="50800" rtlCol="0" anchor="t"/>
            <a:lstStyle/>
            <a:p>
              <a:pPr algn="ctr">
                <a:lnSpc>
                  <a:spcPts val="2520"/>
                </a:lnSpc>
              </a:pPr>
              <a:r>
                <a:rPr lang="ko-KR" alt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글로벌 </a:t>
              </a:r>
              <a:r>
                <a:rPr lang="ko-KR" altLang="en-US" sz="2100" dirty="0" err="1"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공급망이</a:t>
              </a:r>
              <a:r>
                <a:rPr lang="ko-KR" alt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급변하는 지금</a:t>
              </a:r>
              <a:r>
                <a:rPr lang="en-US" altLang="ko-KR"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a:t>
              </a:r>
            </a:p>
            <a:p>
              <a:pPr algn="ctr">
                <a:lnSpc>
                  <a:spcPts val="2520"/>
                </a:lnSpc>
              </a:pPr>
              <a:r>
                <a:rPr lang="ko-KR" alt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오늘날의 비즈니스는 단순한 가시성을 넘어</a:t>
              </a:r>
              <a:r>
                <a:rPr lang="en-US" altLang="ko-KR"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a:t>
              </a:r>
            </a:p>
            <a:p>
              <a:pPr algn="ctr">
                <a:lnSpc>
                  <a:spcPts val="2520"/>
                </a:lnSpc>
              </a:pPr>
              <a:r>
                <a:rPr lang="en-US" altLang="ko-KR"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AI·</a:t>
              </a:r>
              <a:r>
                <a:rPr lang="ko-KR" alt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데이터 기반의 의사결정과 자동화를 통해 경쟁력을 확보해야 합니다</a:t>
              </a:r>
              <a:r>
                <a:rPr lang="en-US" altLang="ko-KR"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endParaRPr lang="en-US" sz="2100" dirty="0">
                <a:solidFill>
                  <a:srgbClr val="000000"/>
                </a:solidFill>
                <a:latin typeface="나눔바른고딕" panose="020B0603020101020101" pitchFamily="50" charset="-127"/>
                <a:ea typeface="나눔바른고딕" panose="020B0603020101020101" pitchFamily="50" charset="-127"/>
                <a:cs typeface="Times New Roman"/>
                <a:sym typeface="Times New Roman"/>
              </a:endParaRPr>
            </a:p>
            <a:p>
              <a:pPr algn="ctr">
                <a:lnSpc>
                  <a:spcPts val="2520"/>
                </a:lnSpc>
              </a:pPr>
              <a:endParaRPr lang="en-US" sz="2100" dirty="0">
                <a:solidFill>
                  <a:srgbClr val="000000"/>
                </a:solidFill>
                <a:latin typeface="나눔바른고딕" panose="020B0603020101020101" pitchFamily="50" charset="-127"/>
                <a:ea typeface="나눔바른고딕" panose="020B0603020101020101" pitchFamily="50" charset="-127"/>
                <a:cs typeface="Times New Roman"/>
                <a:sym typeface="Times New Roman"/>
              </a:endParaRPr>
            </a:p>
            <a:p>
              <a:pPr algn="ctr">
                <a:lnSpc>
                  <a:spcPts val="2520"/>
                </a:lnSpc>
              </a:pPr>
              <a:r>
                <a:rPr lang="ko-KR" alt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베트남 하노이에서 네 번째로 개최되는 </a:t>
              </a:r>
              <a:r>
                <a:rPr lang="en-US" altLang="ko-KR"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2026 </a:t>
              </a:r>
              <a:r>
                <a:rPr lang="ko-KR" altLang="en-US" sz="2100" dirty="0" err="1">
                  <a:solidFill>
                    <a:srgbClr val="000000"/>
                  </a:solidFill>
                  <a:latin typeface="나눔바른고딕" panose="020B0603020101020101" pitchFamily="50" charset="-127"/>
                  <a:ea typeface="나눔바른고딕" panose="020B0603020101020101" pitchFamily="50" charset="-127"/>
                  <a:cs typeface="Times New Roman"/>
                  <a:sym typeface="Times New Roman"/>
                </a:rPr>
                <a:t>첼로스퀘어</a:t>
              </a:r>
              <a:r>
                <a:rPr lang="ko-KR" altLang="en-US" sz="21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 컨퍼런스는 </a:t>
              </a:r>
              <a:endParaRPr lang="en-US" altLang="ko-KR"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endParaRPr>
            </a:p>
            <a:p>
              <a:pPr algn="ctr">
                <a:lnSpc>
                  <a:spcPts val="2520"/>
                </a:lnSpc>
              </a:pPr>
              <a:r>
                <a:rPr lang="ko-KR" alt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업계 리더와 전문가들을 한데 모아 최신 시장 동향</a:t>
              </a:r>
              <a:r>
                <a:rPr lang="en-US" altLang="ko-KR"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r>
                <a:rPr lang="ko-KR" alt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자동화 전략</a:t>
              </a:r>
              <a:r>
                <a:rPr lang="en-US" altLang="ko-KR"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p>
            <a:p>
              <a:pPr algn="ctr">
                <a:lnSpc>
                  <a:spcPts val="2520"/>
                </a:lnSpc>
              </a:pPr>
              <a:r>
                <a:rPr lang="ko-KR" alt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디지털 물류 혁신을 심도 있게 논의합니다</a:t>
              </a:r>
              <a:r>
                <a:rPr lang="en-US" altLang="ko-KR"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p>
            <a:p>
              <a:pPr algn="ctr">
                <a:lnSpc>
                  <a:spcPts val="2520"/>
                </a:lnSpc>
              </a:pPr>
              <a:r>
                <a:rPr lang="en-US" sz="21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
              </a:r>
              <a:br>
                <a:rPr lang="en-US" sz="21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br>
              <a:r>
                <a:rPr lang="en-US" altLang="ko-KR" sz="21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InterContinental Hanoi Landmark </a:t>
              </a:r>
              <a:r>
                <a:rPr lang="en-US" altLang="ko-KR"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72</a:t>
              </a:r>
              <a:r>
                <a:rPr lang="ko-KR" alt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에서 개최되는 </a:t>
              </a:r>
              <a:endParaRPr lang="en-US" altLang="ko-KR"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endParaRPr>
            </a:p>
            <a:p>
              <a:pPr algn="ctr">
                <a:lnSpc>
                  <a:spcPts val="2520"/>
                </a:lnSpc>
              </a:pPr>
              <a:r>
                <a:rPr lang="en-US" altLang="ko-KR"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2026 </a:t>
              </a:r>
              <a:r>
                <a:rPr lang="ko-KR" altLang="en-US" sz="2100" dirty="0" err="1"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첼로스퀘어</a:t>
              </a:r>
              <a:r>
                <a:rPr lang="ko-KR" alt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컨퍼런스 참여를 통해 </a:t>
              </a:r>
              <a:endParaRPr lang="en-US" altLang="ko-KR"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endParaRPr>
            </a:p>
            <a:p>
              <a:pPr algn="ctr">
                <a:lnSpc>
                  <a:spcPts val="2520"/>
                </a:lnSpc>
              </a:pPr>
              <a:r>
                <a:rPr lang="ko-KR" alt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다가올 물류</a:t>
              </a:r>
              <a:r>
                <a:rPr lang="en-US" altLang="ko-KR"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a:t>
              </a:r>
              <a:r>
                <a:rPr lang="ko-KR" altLang="en-US" sz="2100" dirty="0" err="1"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공급망</a:t>
              </a:r>
              <a:r>
                <a:rPr lang="ko-KR" alt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혁신의 핵심 </a:t>
              </a:r>
              <a:r>
                <a:rPr lang="ko-KR" altLang="en-US" sz="2100" dirty="0" err="1"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인사이트를</a:t>
              </a:r>
              <a:r>
                <a:rPr lang="ko-KR" alt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얻으시길 바랍니다</a:t>
              </a:r>
              <a:r>
                <a:rPr lang="en-US" altLang="ko-KR"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a:t>
              </a:r>
            </a:p>
            <a:p>
              <a:pPr algn="ctr">
                <a:lnSpc>
                  <a:spcPts val="2520"/>
                </a:lnSpc>
              </a:pPr>
              <a:endParaRPr lang="en-US" altLang="ko-KR" sz="2100" dirty="0">
                <a:solidFill>
                  <a:srgbClr val="000000"/>
                </a:solidFill>
                <a:latin typeface="나눔바른고딕" panose="020B0603020101020101" pitchFamily="50" charset="-127"/>
                <a:ea typeface="나눔바른고딕" panose="020B0603020101020101" pitchFamily="50" charset="-127"/>
                <a:cs typeface="Times New Roman"/>
                <a:sym typeface="Times New Roman"/>
              </a:endParaRPr>
            </a:p>
            <a:p>
              <a:pPr algn="ctr">
                <a:lnSpc>
                  <a:spcPts val="2520"/>
                </a:lnSpc>
              </a:pPr>
              <a:r>
                <a:rPr lang="en-US" altLang="ko-KR"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a:t>
              </a:r>
              <a:r>
                <a:rPr lang="ko-KR" alt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문장 </a:t>
              </a:r>
              <a:r>
                <a:rPr lang="ko-KR" altLang="en-US" sz="2100" dirty="0" err="1"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줄바꿈을</a:t>
              </a:r>
              <a:r>
                <a:rPr lang="ko-KR" alt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위와 동일하게 해주세요</a:t>
              </a:r>
              <a:r>
                <a:rPr lang="en-US" altLang="ko-KR"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r>
                <a:rPr lang="ko-KR" alt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최대한 의미에 맞춰 </a:t>
              </a:r>
              <a:r>
                <a:rPr lang="ko-KR" altLang="en-US" sz="2100" dirty="0" err="1"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구분했거든요</a:t>
              </a:r>
              <a:r>
                <a:rPr lang="en-US" altLang="ko-KR"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endParaRPr lang="en-US" sz="2100" dirty="0">
                <a:solidFill>
                  <a:srgbClr val="000000"/>
                </a:solidFill>
                <a:latin typeface="나눔바른고딕" panose="020B0603020101020101" pitchFamily="50" charset="-127"/>
                <a:ea typeface="나눔바른고딕" panose="020B0603020101020101" pitchFamily="50" charset="-127"/>
                <a:cs typeface="Times New Roman"/>
                <a:sym typeface="Times New Roman"/>
              </a:endParaRPr>
            </a:p>
          </p:txBody>
        </p:sp>
      </p:grpSp>
      <p:sp>
        <p:nvSpPr>
          <p:cNvPr id="42" name="AutoShape 42"/>
          <p:cNvSpPr/>
          <p:nvPr/>
        </p:nvSpPr>
        <p:spPr>
          <a:xfrm flipV="1">
            <a:off x="9321575" y="6825172"/>
            <a:ext cx="762114" cy="924926"/>
          </a:xfrm>
          <a:prstGeom prst="line">
            <a:avLst/>
          </a:prstGeom>
          <a:ln w="19050" cap="rnd">
            <a:solidFill>
              <a:srgbClr val="FF0000"/>
            </a:solidFill>
            <a:prstDash val="solid"/>
            <a:headEnd type="none" w="sm" len="sm"/>
            <a:tailEnd type="none" w="sm" len="sm"/>
          </a:ln>
        </p:spPr>
      </p:sp>
      <p:sp>
        <p:nvSpPr>
          <p:cNvPr id="43" name="TextBox 43"/>
          <p:cNvSpPr txBox="1"/>
          <p:nvPr/>
        </p:nvSpPr>
        <p:spPr>
          <a:xfrm>
            <a:off x="16488485" y="368276"/>
            <a:ext cx="1541631" cy="410369"/>
          </a:xfrm>
          <a:prstGeom prst="rect">
            <a:avLst/>
          </a:prstGeom>
        </p:spPr>
        <p:txBody>
          <a:bodyPr lIns="0" tIns="0" rIns="0" bIns="0" rtlCol="0" anchor="t">
            <a:spAutoFit/>
          </a:bodyPr>
          <a:lstStyle/>
          <a:p>
            <a:pPr algn="ctr">
              <a:lnSpc>
                <a:spcPts val="3240"/>
              </a:lnSpc>
            </a:pPr>
            <a:r>
              <a:rPr lang="ko-KR" altLang="en-US" sz="2700" b="1" dirty="0" smtClean="0">
                <a:solidFill>
                  <a:srgbClr val="000000"/>
                </a:solidFill>
                <a:latin typeface="나눔바른고딕" panose="020B0603020101020101" pitchFamily="50" charset="-127"/>
                <a:ea typeface="나눔바른고딕" panose="020B0603020101020101" pitchFamily="50" charset="-127"/>
                <a:cs typeface="Aptos Bold"/>
                <a:sym typeface="Aptos Bold"/>
              </a:rPr>
              <a:t>국문</a:t>
            </a:r>
            <a:endParaRPr lang="en-US" sz="2700" b="1" dirty="0">
              <a:solidFill>
                <a:srgbClr val="000000"/>
              </a:solidFill>
              <a:latin typeface="나눔바른고딕" panose="020B0603020101020101" pitchFamily="50" charset="-127"/>
              <a:ea typeface="나눔바른고딕" panose="020B0603020101020101" pitchFamily="50" charset="-127"/>
              <a:cs typeface="Aptos Bold"/>
              <a:sym typeface="Aptos Bold"/>
            </a:endParaRPr>
          </a:p>
        </p:txBody>
      </p:sp>
    </p:spTree>
    <p:extLst>
      <p:ext uri="{BB962C8B-B14F-4D97-AF65-F5344CB8AC3E}">
        <p14:creationId xmlns:p14="http://schemas.microsoft.com/office/powerpoint/2010/main" val="1062783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4774" y="559670"/>
            <a:ext cx="8607533" cy="9167651"/>
            <a:chOff x="0" y="0"/>
            <a:chExt cx="11476711" cy="12223534"/>
          </a:xfrm>
        </p:grpSpPr>
        <p:sp>
          <p:nvSpPr>
            <p:cNvPr id="3" name="Freeform 3"/>
            <p:cNvSpPr/>
            <p:nvPr/>
          </p:nvSpPr>
          <p:spPr>
            <a:xfrm>
              <a:off x="0" y="0"/>
              <a:ext cx="11476736" cy="12223496"/>
            </a:xfrm>
            <a:custGeom>
              <a:avLst/>
              <a:gdLst/>
              <a:ahLst/>
              <a:cxnLst/>
              <a:rect l="l" t="t" r="r" b="b"/>
              <a:pathLst>
                <a:path w="11476736" h="12223496">
                  <a:moveTo>
                    <a:pt x="0" y="0"/>
                  </a:moveTo>
                  <a:lnTo>
                    <a:pt x="11476736" y="0"/>
                  </a:lnTo>
                  <a:lnTo>
                    <a:pt x="11476736" y="12223496"/>
                  </a:lnTo>
                  <a:lnTo>
                    <a:pt x="0" y="12223496"/>
                  </a:lnTo>
                  <a:lnTo>
                    <a:pt x="0" y="0"/>
                  </a:lnTo>
                  <a:close/>
                </a:path>
              </a:pathLst>
            </a:custGeom>
            <a:blipFill>
              <a:blip r:embed="rId3"/>
              <a:stretch>
                <a:fillRect/>
              </a:stretch>
            </a:blipFill>
          </p:spPr>
        </p:sp>
      </p:grpSp>
      <p:graphicFrame>
        <p:nvGraphicFramePr>
          <p:cNvPr id="4" name="Table 4"/>
          <p:cNvGraphicFramePr>
            <a:graphicFrameLocks noGrp="1"/>
          </p:cNvGraphicFramePr>
          <p:nvPr>
            <p:extLst>
              <p:ext uri="{D42A27DB-BD31-4B8C-83A1-F6EECF244321}">
                <p14:modId xmlns:p14="http://schemas.microsoft.com/office/powerpoint/2010/main" val="419703517"/>
              </p:ext>
            </p:extLst>
          </p:nvPr>
        </p:nvGraphicFramePr>
        <p:xfrm>
          <a:off x="9413405" y="1618567"/>
          <a:ext cx="8722195" cy="7288399"/>
        </p:xfrm>
        <a:graphic>
          <a:graphicData uri="http://schemas.openxmlformats.org/drawingml/2006/table">
            <a:tbl>
              <a:tblPr/>
              <a:tblGrid>
                <a:gridCol w="1726881">
                  <a:extLst>
                    <a:ext uri="{9D8B030D-6E8A-4147-A177-3AD203B41FA5}">
                      <a16:colId xmlns:a16="http://schemas.microsoft.com/office/drawing/2014/main" val="20000"/>
                    </a:ext>
                  </a:extLst>
                </a:gridCol>
                <a:gridCol w="6995314">
                  <a:extLst>
                    <a:ext uri="{9D8B030D-6E8A-4147-A177-3AD203B41FA5}">
                      <a16:colId xmlns:a16="http://schemas.microsoft.com/office/drawing/2014/main" val="20001"/>
                    </a:ext>
                  </a:extLst>
                </a:gridCol>
              </a:tblGrid>
              <a:tr h="523855">
                <a:tc>
                  <a:txBody>
                    <a:bodyPr/>
                    <a:lstStyle/>
                    <a:p>
                      <a:pPr algn="ctr">
                        <a:lnSpc>
                          <a:spcPts val="2160"/>
                        </a:lnSpc>
                        <a:defRPr/>
                      </a:pP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시간</a:t>
                      </a:r>
                      <a:endParaRPr lang="en-US" sz="1100" dirty="0">
                        <a:latin typeface="나눔바른고딕" panose="020B0603020101020101" pitchFamily="50" charset="-127"/>
                        <a:ea typeface="나눔바른고딕" panose="020B0603020101020101" pitchFamily="50" charset="-127"/>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주제</a:t>
                      </a:r>
                      <a:r>
                        <a:rPr lang="en-US" altLang="ko-KR"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a:t>
                      </a: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발표자</a:t>
                      </a:r>
                      <a:endParaRPr lang="en-US" sz="1100" dirty="0">
                        <a:latin typeface="나눔바른고딕" panose="020B0603020101020101" pitchFamily="50" charset="-127"/>
                        <a:ea typeface="나눔바른고딕" panose="020B0603020101020101" pitchFamily="50" charset="-127"/>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43314">
                <a:tc>
                  <a:txBody>
                    <a:bodyPr/>
                    <a:lstStyle/>
                    <a:p>
                      <a:pPr algn="ctr">
                        <a:lnSpc>
                          <a:spcPts val="2160"/>
                        </a:lnSpc>
                        <a:defRPr/>
                      </a:pPr>
                      <a:r>
                        <a:rPr lang="en-US" sz="18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13:30 ~ </a:t>
                      </a:r>
                      <a:r>
                        <a:rPr 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14:10</a:t>
                      </a:r>
                      <a:endParaRPr lang="en-US" sz="1100" dirty="0">
                        <a:latin typeface="나눔바른고딕" panose="020B0603020101020101" pitchFamily="50" charset="-127"/>
                        <a:ea typeface="나눔바른고딕" panose="020B0603020101020101" pitchFamily="50" charset="-127"/>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참가자 등록 및 입장</a:t>
                      </a:r>
                      <a:endParaRPr lang="en-US" sz="1100" dirty="0">
                        <a:latin typeface="나눔바른고딕" panose="020B0603020101020101" pitchFamily="50" charset="-127"/>
                        <a:ea typeface="나눔바른고딕" panose="020B0603020101020101" pitchFamily="50" charset="-127"/>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48124">
                <a:tc>
                  <a:txBody>
                    <a:bodyPr/>
                    <a:lstStyle/>
                    <a:p>
                      <a:pPr algn="ctr">
                        <a:lnSpc>
                          <a:spcPts val="2160"/>
                        </a:lnSpc>
                        <a:defRPr/>
                      </a:pPr>
                      <a:r>
                        <a:rPr 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14:10 </a:t>
                      </a:r>
                      <a:r>
                        <a:rPr lang="en-US" sz="18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 14:20</a:t>
                      </a:r>
                      <a:endParaRPr lang="en-US" sz="1100" dirty="0">
                        <a:latin typeface="나눔바른고딕" panose="020B0603020101020101" pitchFamily="50" charset="-127"/>
                        <a:ea typeface="나눔바른고딕" panose="020B0603020101020101" pitchFamily="50" charset="-127"/>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환영사</a:t>
                      </a:r>
                      <a:endParaRPr lang="en-US" altLang="ko-KR"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endParaRPr>
                    </a:p>
                    <a:p>
                      <a:pPr marL="0" marR="0" lvl="0" indent="0" algn="ctr" defTabSz="914400" rtl="0" eaLnBrk="1" fontAlgn="auto" latinLnBrk="0" hangingPunct="1">
                        <a:lnSpc>
                          <a:spcPts val="2160"/>
                        </a:lnSpc>
                        <a:spcBef>
                          <a:spcPts val="0"/>
                        </a:spcBef>
                        <a:spcAft>
                          <a:spcPts val="0"/>
                        </a:spcAft>
                        <a:buClrTx/>
                        <a:buSzTx/>
                        <a:buFontTx/>
                        <a:buNone/>
                        <a:tabLst/>
                        <a:defRPr/>
                      </a:pPr>
                      <a:r>
                        <a:rPr kumimoji="0" lang="ko-KR" altLang="en-US" sz="1800" b="0" i="0" u="none" strike="noStrike" kern="1200" cap="none" spc="0" normalizeH="0" baseline="0" noProof="0" dirty="0" smtClean="0">
                          <a:ln>
                            <a:noFill/>
                          </a:ln>
                          <a:solidFill>
                            <a:srgbClr val="00B0F0"/>
                          </a:solidFill>
                          <a:effectLst/>
                          <a:uLnTx/>
                          <a:uFillTx/>
                          <a:latin typeface="나눔바른고딕" panose="020B0603020101020101" pitchFamily="50" charset="-127"/>
                          <a:ea typeface="나눔바른고딕" panose="020B0603020101020101" pitchFamily="50" charset="-127"/>
                          <a:cs typeface="Times New Roman"/>
                          <a:sym typeface="Times New Roman"/>
                        </a:rPr>
                        <a:t>삼성</a:t>
                      </a:r>
                      <a:r>
                        <a:rPr kumimoji="0" lang="en-US" altLang="ko-KR" sz="1800" b="0" i="0" u="none" strike="noStrike" kern="1200" cap="none" spc="0" normalizeH="0" baseline="0" noProof="0" dirty="0" smtClean="0">
                          <a:ln>
                            <a:noFill/>
                          </a:ln>
                          <a:solidFill>
                            <a:srgbClr val="00B0F0"/>
                          </a:solidFill>
                          <a:effectLst/>
                          <a:uLnTx/>
                          <a:uFillTx/>
                          <a:latin typeface="나눔바른고딕" panose="020B0603020101020101" pitchFamily="50" charset="-127"/>
                          <a:ea typeface="나눔바른고딕" panose="020B0603020101020101" pitchFamily="50" charset="-127"/>
                          <a:cs typeface="Times New Roman"/>
                          <a:sym typeface="Times New Roman"/>
                        </a:rPr>
                        <a:t>SDS </a:t>
                      </a:r>
                      <a:r>
                        <a:rPr kumimoji="0" lang="ko-KR" altLang="en-US" sz="1800" b="0" i="0" u="none" strike="noStrike" kern="1200" cap="none" spc="0" normalizeH="0" baseline="0" noProof="0" dirty="0" smtClean="0">
                          <a:ln>
                            <a:noFill/>
                          </a:ln>
                          <a:solidFill>
                            <a:srgbClr val="00B0F0"/>
                          </a:solidFill>
                          <a:effectLst/>
                          <a:uLnTx/>
                          <a:uFillTx/>
                          <a:latin typeface="나눔바른고딕" panose="020B0603020101020101" pitchFamily="50" charset="-127"/>
                          <a:ea typeface="나눔바른고딕" panose="020B0603020101020101" pitchFamily="50" charset="-127"/>
                          <a:cs typeface="Times New Roman"/>
                          <a:sym typeface="Times New Roman"/>
                        </a:rPr>
                        <a:t>동남아권역장 김동균 상무</a:t>
                      </a:r>
                      <a:endParaRPr lang="en-US" sz="1100" dirty="0">
                        <a:latin typeface="나눔바른고딕" panose="020B0603020101020101" pitchFamily="50" charset="-127"/>
                        <a:ea typeface="나눔바른고딕" panose="020B0603020101020101" pitchFamily="50" charset="-127"/>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48124">
                <a:tc>
                  <a:txBody>
                    <a:bodyPr/>
                    <a:lstStyle/>
                    <a:p>
                      <a:pPr algn="ctr">
                        <a:lnSpc>
                          <a:spcPts val="2160"/>
                        </a:lnSpc>
                        <a:defRPr/>
                      </a:pPr>
                      <a:r>
                        <a:rPr lang="en-US" sz="18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14:20 ~ 14:40</a:t>
                      </a:r>
                      <a:endParaRPr lang="en-US" sz="1100" dirty="0">
                        <a:latin typeface="나눔바른고딕" panose="020B0603020101020101" pitchFamily="50" charset="-127"/>
                        <a:ea typeface="나눔바른고딕" panose="020B0603020101020101" pitchFamily="50" charset="-127"/>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경쟁우위 확보를 위한 </a:t>
                      </a:r>
                      <a:r>
                        <a:rPr lang="en-US" altLang="ko-KR"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AI </a:t>
                      </a: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기반 </a:t>
                      </a:r>
                      <a:r>
                        <a:rPr lang="en-US" altLang="ko-KR"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SDS</a:t>
                      </a: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솔루션</a:t>
                      </a:r>
                      <a:endParaRPr lang="en-US" altLang="ko-KR"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endParaRPr>
                    </a:p>
                    <a:p>
                      <a:pPr algn="ctr">
                        <a:lnSpc>
                          <a:spcPts val="2160"/>
                        </a:lnSpc>
                        <a:defRPr/>
                      </a:pPr>
                      <a:r>
                        <a:rPr lang="ko-KR" altLang="en-US" sz="1800" dirty="0" smtClean="0">
                          <a:solidFill>
                            <a:srgbClr val="00B0F0"/>
                          </a:solidFill>
                          <a:latin typeface="나눔바른고딕" panose="020B0603020101020101" pitchFamily="50" charset="-127"/>
                          <a:ea typeface="나눔바른고딕" panose="020B0603020101020101" pitchFamily="50" charset="-127"/>
                          <a:cs typeface="Times New Roman"/>
                          <a:sym typeface="Times New Roman"/>
                        </a:rPr>
                        <a:t>삼성</a:t>
                      </a:r>
                      <a:r>
                        <a:rPr lang="en-US" altLang="ko-KR" sz="1800" dirty="0" smtClean="0">
                          <a:solidFill>
                            <a:srgbClr val="00B0F0"/>
                          </a:solidFill>
                          <a:latin typeface="나눔바른고딕" panose="020B0603020101020101" pitchFamily="50" charset="-127"/>
                          <a:ea typeface="나눔바른고딕" panose="020B0603020101020101" pitchFamily="50" charset="-127"/>
                          <a:cs typeface="Times New Roman"/>
                          <a:sym typeface="Times New Roman"/>
                        </a:rPr>
                        <a:t>SDS </a:t>
                      </a:r>
                      <a:r>
                        <a:rPr lang="ko-KR" altLang="en-US" sz="1800" dirty="0" smtClean="0">
                          <a:solidFill>
                            <a:srgbClr val="00B0F0"/>
                          </a:solidFill>
                          <a:latin typeface="나눔바른고딕" panose="020B0603020101020101" pitchFamily="50" charset="-127"/>
                          <a:ea typeface="나눔바른고딕" panose="020B0603020101020101" pitchFamily="50" charset="-127"/>
                          <a:cs typeface="Times New Roman"/>
                          <a:sym typeface="Times New Roman"/>
                        </a:rPr>
                        <a:t>동남아권역장 김동균 상무</a:t>
                      </a:r>
                      <a:endParaRPr lang="en-US" sz="1800" dirty="0">
                        <a:solidFill>
                          <a:srgbClr val="00B0F0"/>
                        </a:solidFill>
                        <a:latin typeface="나눔바른고딕" panose="020B0603020101020101" pitchFamily="50" charset="-127"/>
                        <a:ea typeface="나눔바른고딕" panose="020B0603020101020101" pitchFamily="50" charset="-127"/>
                        <a:cs typeface="Times New Roman"/>
                        <a:sym typeface="Times New Roman"/>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914998">
                <a:tc>
                  <a:txBody>
                    <a:bodyPr/>
                    <a:lstStyle/>
                    <a:p>
                      <a:pPr algn="ctr">
                        <a:lnSpc>
                          <a:spcPts val="2160"/>
                        </a:lnSpc>
                        <a:defRPr/>
                      </a:pPr>
                      <a:r>
                        <a:rPr lang="en-US" sz="18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14:40 ~ 15:00</a:t>
                      </a:r>
                      <a:endParaRPr lang="en-US" sz="1100" dirty="0">
                        <a:latin typeface="나눔바른고딕" panose="020B0603020101020101" pitchFamily="50" charset="-127"/>
                        <a:ea typeface="나눔바른고딕" panose="020B0603020101020101" pitchFamily="50" charset="-127"/>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해상 시황 및 중동 리스크 대응</a:t>
                      </a:r>
                      <a:endParaRPr lang="en-US" altLang="ko-KR"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endParaRPr>
                    </a:p>
                    <a:p>
                      <a:pPr algn="ctr">
                        <a:lnSpc>
                          <a:spcPts val="2160"/>
                        </a:lnSpc>
                        <a:defRPr/>
                      </a:pP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삼성</a:t>
                      </a:r>
                      <a:r>
                        <a:rPr lang="en-US" altLang="ko-KR"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SDS </a:t>
                      </a:r>
                      <a:r>
                        <a:rPr lang="ko-KR" altLang="en-US" sz="1800" dirty="0" err="1"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동남아권역</a:t>
                      </a: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r>
                        <a:rPr lang="ko-KR" altLang="en-US" sz="1800" dirty="0" err="1"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해상물류</a:t>
                      </a: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r>
                        <a:rPr lang="en-US" sz="1800" dirty="0" smtClean="0">
                          <a:solidFill>
                            <a:srgbClr val="00B0F0"/>
                          </a:solidFill>
                          <a:latin typeface="나눔바른고딕" panose="020B0603020101020101" pitchFamily="50" charset="-127"/>
                          <a:ea typeface="나눔바른고딕" panose="020B0603020101020101" pitchFamily="50" charset="-127"/>
                          <a:cs typeface="Times New Roman"/>
                          <a:sym typeface="Times New Roman"/>
                        </a:rPr>
                        <a:t>Matthew </a:t>
                      </a:r>
                      <a:r>
                        <a:rPr lang="en-US" sz="1800" dirty="0" smtClean="0">
                          <a:solidFill>
                            <a:srgbClr val="00B0F0"/>
                          </a:solidFill>
                          <a:latin typeface="나눔바른고딕" panose="020B0603020101020101" pitchFamily="50" charset="-127"/>
                          <a:ea typeface="나눔바른고딕" panose="020B0603020101020101" pitchFamily="50" charset="-127"/>
                          <a:cs typeface="Times New Roman"/>
                          <a:sym typeface="Times New Roman"/>
                        </a:rPr>
                        <a:t>Thong </a:t>
                      </a:r>
                      <a:r>
                        <a:rPr lang="en-US" sz="1800" dirty="0" err="1" smtClean="0">
                          <a:solidFill>
                            <a:srgbClr val="00B0F0"/>
                          </a:solidFill>
                          <a:latin typeface="나눔바른고딕" panose="020B0603020101020101" pitchFamily="50" charset="-127"/>
                          <a:ea typeface="나눔바른고딕" panose="020B0603020101020101" pitchFamily="50" charset="-127"/>
                          <a:cs typeface="Times New Roman"/>
                          <a:sym typeface="Times New Roman"/>
                        </a:rPr>
                        <a:t>Jit</a:t>
                      </a:r>
                      <a:r>
                        <a:rPr lang="en-US" sz="1800" dirty="0" smtClean="0">
                          <a:solidFill>
                            <a:srgbClr val="00B0F0"/>
                          </a:solidFill>
                          <a:latin typeface="나눔바른고딕" panose="020B0603020101020101" pitchFamily="50" charset="-127"/>
                          <a:ea typeface="나눔바른고딕" panose="020B0603020101020101" pitchFamily="50" charset="-127"/>
                          <a:cs typeface="Times New Roman"/>
                          <a:sym typeface="Times New Roman"/>
                        </a:rPr>
                        <a:t> </a:t>
                      </a:r>
                      <a:r>
                        <a:rPr lang="en-US" sz="1800" dirty="0" smtClean="0">
                          <a:solidFill>
                            <a:srgbClr val="00B0F0"/>
                          </a:solidFill>
                          <a:latin typeface="나눔바른고딕" panose="020B0603020101020101" pitchFamily="50" charset="-127"/>
                          <a:ea typeface="나눔바른고딕" panose="020B0603020101020101" pitchFamily="50" charset="-127"/>
                          <a:cs typeface="Times New Roman"/>
                          <a:sym typeface="Times New Roman"/>
                        </a:rPr>
                        <a:t>Fong </a:t>
                      </a:r>
                      <a:r>
                        <a:rPr lang="ko-KR" altLang="en-US" sz="1800" dirty="0" smtClean="0">
                          <a:solidFill>
                            <a:srgbClr val="00B0F0"/>
                          </a:solidFill>
                          <a:latin typeface="나눔바른고딕" panose="020B0603020101020101" pitchFamily="50" charset="-127"/>
                          <a:ea typeface="나눔바른고딕" panose="020B0603020101020101" pitchFamily="50" charset="-127"/>
                          <a:cs typeface="Times New Roman"/>
                          <a:sym typeface="Times New Roman"/>
                        </a:rPr>
                        <a:t>팀장</a:t>
                      </a:r>
                      <a:endParaRPr lang="en-US" sz="1800" dirty="0" smtClean="0">
                        <a:solidFill>
                          <a:srgbClr val="00B0F0"/>
                        </a:solidFill>
                        <a:latin typeface="나눔바른고딕" panose="020B0603020101020101" pitchFamily="50" charset="-127"/>
                        <a:ea typeface="나눔바른고딕" panose="020B0603020101020101" pitchFamily="50" charset="-127"/>
                        <a:cs typeface="Times New Roman"/>
                        <a:sym typeface="Times New Roman"/>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81249">
                <a:tc>
                  <a:txBody>
                    <a:bodyPr/>
                    <a:lstStyle/>
                    <a:p>
                      <a:pPr algn="ctr">
                        <a:lnSpc>
                          <a:spcPts val="2160"/>
                        </a:lnSpc>
                        <a:defRPr/>
                      </a:pPr>
                      <a:r>
                        <a:rPr lang="en-US" sz="18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15:00 ~ 15:20</a:t>
                      </a:r>
                      <a:endParaRPr lang="en-US" sz="1100" dirty="0">
                        <a:latin typeface="나눔바른고딕" panose="020B0603020101020101" pitchFamily="50" charset="-127"/>
                        <a:ea typeface="나눔바른고딕" panose="020B0603020101020101" pitchFamily="50" charset="-127"/>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네트워킹 및 휴식</a:t>
                      </a:r>
                      <a:endParaRPr lang="en-US" sz="1100" dirty="0">
                        <a:latin typeface="나눔바른고딕" panose="020B0603020101020101" pitchFamily="50" charset="-127"/>
                        <a:ea typeface="나눔바른고딕" panose="020B0603020101020101" pitchFamily="50" charset="-127"/>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914998">
                <a:tc>
                  <a:txBody>
                    <a:bodyPr/>
                    <a:lstStyle/>
                    <a:p>
                      <a:pPr algn="ctr">
                        <a:lnSpc>
                          <a:spcPts val="2160"/>
                        </a:lnSpc>
                        <a:defRPr/>
                      </a:pPr>
                      <a:r>
                        <a:rPr lang="en-US" sz="18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15:20 ~ 15:40</a:t>
                      </a:r>
                      <a:endParaRPr lang="en-US" sz="1100" dirty="0">
                        <a:latin typeface="나눔바른고딕" panose="020B0603020101020101" pitchFamily="50" charset="-127"/>
                        <a:ea typeface="나눔바른고딕" panose="020B0603020101020101" pitchFamily="50" charset="-127"/>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항공 시황 및 베트남 전략</a:t>
                      </a:r>
                      <a:endParaRPr lang="en-US" altLang="ko-KR"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endParaRPr>
                    </a:p>
                    <a:p>
                      <a:pPr algn="ctr">
                        <a:lnSpc>
                          <a:spcPts val="2160"/>
                        </a:lnSpc>
                        <a:defRPr/>
                      </a:pP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삼성</a:t>
                      </a:r>
                      <a:r>
                        <a:rPr lang="en-US" altLang="ko-KR"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SDS </a:t>
                      </a:r>
                      <a:r>
                        <a:rPr lang="ko-KR" altLang="en-US" sz="1800" dirty="0" err="1"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동남아권역</a:t>
                      </a: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항공물류 </a:t>
                      </a:r>
                      <a:r>
                        <a:rPr lang="ko-KR" altLang="en-US" sz="1800" dirty="0" err="1"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배경진</a:t>
                      </a: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팀장</a:t>
                      </a:r>
                      <a:endParaRPr lang="en-US" sz="1800" dirty="0" smtClean="0">
                        <a:solidFill>
                          <a:srgbClr val="00B0F0"/>
                        </a:solidFill>
                        <a:latin typeface="나눔바른고딕" panose="020B0603020101020101" pitchFamily="50" charset="-127"/>
                        <a:ea typeface="나눔바른고딕" panose="020B0603020101020101" pitchFamily="50" charset="-127"/>
                        <a:cs typeface="Times New Roman"/>
                        <a:sym typeface="Times New Roman"/>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181872">
                <a:tc>
                  <a:txBody>
                    <a:bodyPr/>
                    <a:lstStyle/>
                    <a:p>
                      <a:pPr algn="ctr">
                        <a:lnSpc>
                          <a:spcPts val="2160"/>
                        </a:lnSpc>
                        <a:defRPr/>
                      </a:pPr>
                      <a:r>
                        <a:rPr 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15:40 </a:t>
                      </a:r>
                      <a:r>
                        <a:rPr lang="en-US" sz="18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r>
                        <a:rPr 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16:00</a:t>
                      </a:r>
                      <a:endParaRPr lang="en-US" sz="1100" dirty="0">
                        <a:latin typeface="나눔바른고딕" panose="020B0603020101020101" pitchFamily="50" charset="-127"/>
                        <a:ea typeface="나눔바른고딕" panose="020B0603020101020101" pitchFamily="50" charset="-127"/>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계약 물류의 새로운 시대 </a:t>
                      </a:r>
                      <a:r>
                        <a:rPr lang="en-US" altLang="ko-KR"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아웃소싱 기능에서 전략적 엔진으로</a:t>
                      </a:r>
                      <a:endParaRPr lang="en-US" altLang="ko-KR"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endParaRPr>
                    </a:p>
                    <a:p>
                      <a:pPr marL="0" marR="0" lvl="0" indent="0" algn="ctr" defTabSz="914400" rtl="0" eaLnBrk="1" fontAlgn="auto" latinLnBrk="0" hangingPunct="1">
                        <a:lnSpc>
                          <a:spcPts val="2160"/>
                        </a:lnSpc>
                        <a:spcBef>
                          <a:spcPts val="0"/>
                        </a:spcBef>
                        <a:spcAft>
                          <a:spcPts val="0"/>
                        </a:spcAft>
                        <a:buClrTx/>
                        <a:buSzTx/>
                        <a:buFontTx/>
                        <a:buNone/>
                        <a:tabLst/>
                        <a:defRPr/>
                      </a:pP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삼성</a:t>
                      </a:r>
                      <a:r>
                        <a:rPr lang="en-US" altLang="ko-KR"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SDS </a:t>
                      </a:r>
                      <a:r>
                        <a:rPr lang="ko-KR" altLang="en-US" sz="1800" dirty="0" err="1"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동남아권역</a:t>
                      </a: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r>
                        <a:rPr lang="ko-KR" altLang="en-US" sz="1800" dirty="0" err="1"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계약물류</a:t>
                      </a: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r>
                        <a:rPr lang="en-US" sz="1800" dirty="0" smtClean="0">
                          <a:solidFill>
                            <a:srgbClr val="00B0F0"/>
                          </a:solidFill>
                          <a:latin typeface="나눔바른고딕" panose="020B0603020101020101" pitchFamily="50" charset="-127"/>
                          <a:ea typeface="나눔바른고딕" panose="020B0603020101020101" pitchFamily="50" charset="-127"/>
                          <a:cs typeface="Times New Roman"/>
                          <a:sym typeface="Times New Roman"/>
                        </a:rPr>
                        <a:t>Nay </a:t>
                      </a:r>
                      <a:r>
                        <a:rPr lang="en-US" sz="1800" dirty="0" err="1">
                          <a:solidFill>
                            <a:srgbClr val="00B0F0"/>
                          </a:solidFill>
                          <a:latin typeface="나눔바른고딕" panose="020B0603020101020101" pitchFamily="50" charset="-127"/>
                          <a:ea typeface="나눔바른고딕" panose="020B0603020101020101" pitchFamily="50" charset="-127"/>
                          <a:cs typeface="Times New Roman"/>
                          <a:sym typeface="Times New Roman"/>
                        </a:rPr>
                        <a:t>Htoo</a:t>
                      </a:r>
                      <a:r>
                        <a:rPr lang="en-US" sz="1800" dirty="0">
                          <a:solidFill>
                            <a:srgbClr val="00B0F0"/>
                          </a:solidFill>
                          <a:latin typeface="나눔바른고딕" panose="020B0603020101020101" pitchFamily="50" charset="-127"/>
                          <a:ea typeface="나눔바른고딕" panose="020B0603020101020101" pitchFamily="50" charset="-127"/>
                          <a:cs typeface="Times New Roman"/>
                          <a:sym typeface="Times New Roman"/>
                        </a:rPr>
                        <a:t> </a:t>
                      </a:r>
                      <a:r>
                        <a:rPr lang="en-US" sz="1800" dirty="0" smtClean="0">
                          <a:solidFill>
                            <a:srgbClr val="00B0F0"/>
                          </a:solidFill>
                          <a:latin typeface="나눔바른고딕" panose="020B0603020101020101" pitchFamily="50" charset="-127"/>
                          <a:ea typeface="나눔바른고딕" panose="020B0603020101020101" pitchFamily="50" charset="-127"/>
                          <a:cs typeface="Times New Roman"/>
                          <a:sym typeface="Times New Roman"/>
                        </a:rPr>
                        <a:t>Aung </a:t>
                      </a:r>
                      <a:r>
                        <a:rPr lang="ko-KR" altLang="en-US" sz="1800" dirty="0" smtClean="0">
                          <a:solidFill>
                            <a:srgbClr val="00B0F0"/>
                          </a:solidFill>
                          <a:latin typeface="나눔바른고딕" panose="020B0603020101020101" pitchFamily="50" charset="-127"/>
                          <a:ea typeface="나눔바른고딕" panose="020B0603020101020101" pitchFamily="50" charset="-127"/>
                          <a:cs typeface="Times New Roman"/>
                          <a:sym typeface="Times New Roman"/>
                        </a:rPr>
                        <a:t>팀장</a:t>
                      </a:r>
                      <a:endParaRPr lang="en-US" sz="1800" dirty="0">
                        <a:solidFill>
                          <a:srgbClr val="00B0F0"/>
                        </a:solidFill>
                        <a:latin typeface="나눔바른고딕" panose="020B0603020101020101" pitchFamily="50" charset="-127"/>
                        <a:ea typeface="나눔바른고딕" panose="020B0603020101020101" pitchFamily="50" charset="-127"/>
                        <a:cs typeface="Times New Roman"/>
                        <a:sym typeface="Times New Roman"/>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181872">
                <a:tc>
                  <a:txBody>
                    <a:bodyPr/>
                    <a:lstStyle/>
                    <a:p>
                      <a:pPr algn="ctr">
                        <a:lnSpc>
                          <a:spcPts val="2160"/>
                        </a:lnSpc>
                        <a:defRPr/>
                      </a:pPr>
                      <a:r>
                        <a:rPr 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16:00 </a:t>
                      </a:r>
                      <a:r>
                        <a:rPr lang="en-US" sz="18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r>
                        <a:rPr 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16:20</a:t>
                      </a:r>
                      <a:endParaRPr lang="en-US" sz="1100" dirty="0">
                        <a:latin typeface="나눔바른고딕" panose="020B0603020101020101" pitchFamily="50" charset="-127"/>
                        <a:ea typeface="나눔바른고딕" panose="020B0603020101020101" pitchFamily="50" charset="-127"/>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기업 회복 탄력성 강화 </a:t>
                      </a:r>
                      <a:r>
                        <a:rPr lang="en-US" altLang="ko-KR"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자동화 기반 글로벌</a:t>
                      </a:r>
                      <a:r>
                        <a:rPr lang="ko-KR" altLang="en-US" sz="1800" baseline="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리스크 대응 </a:t>
                      </a:r>
                      <a:endParaRPr lang="en-US" altLang="ko-KR" sz="1800" baseline="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endParaRPr>
                    </a:p>
                    <a:p>
                      <a:pPr marL="0" marR="0" lvl="0" indent="0" algn="ctr" defTabSz="914400" rtl="0" eaLnBrk="1" fontAlgn="auto" latinLnBrk="0" hangingPunct="1">
                        <a:lnSpc>
                          <a:spcPts val="2160"/>
                        </a:lnSpc>
                        <a:spcBef>
                          <a:spcPts val="0"/>
                        </a:spcBef>
                        <a:spcAft>
                          <a:spcPts val="0"/>
                        </a:spcAft>
                        <a:buClrTx/>
                        <a:buSzTx/>
                        <a:buFontTx/>
                        <a:buNone/>
                        <a:tabLst/>
                        <a:defRPr/>
                      </a:pP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삼성</a:t>
                      </a:r>
                      <a:r>
                        <a:rPr lang="en-US" altLang="ko-KR"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SDS </a:t>
                      </a:r>
                      <a:r>
                        <a:rPr lang="ko-KR" altLang="en-US" sz="1800" dirty="0" err="1"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동남아권역</a:t>
                      </a: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r>
                        <a:rPr lang="ko-KR" altLang="en-US" sz="1800" dirty="0" err="1"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운영팀</a:t>
                      </a: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이재호 팀장</a:t>
                      </a:r>
                      <a:endParaRPr lang="en-US" altLang="ko-KR" sz="1800" dirty="0">
                        <a:solidFill>
                          <a:srgbClr val="00B0F0"/>
                        </a:solidFill>
                        <a:latin typeface="나눔바른고딕" panose="020B0603020101020101" pitchFamily="50" charset="-127"/>
                        <a:ea typeface="나눔바른고딕" panose="020B0603020101020101" pitchFamily="50" charset="-127"/>
                        <a:cs typeface="Times New Roman"/>
                        <a:sym typeface="Times New Roman"/>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449993">
                <a:tc>
                  <a:txBody>
                    <a:bodyPr/>
                    <a:lstStyle/>
                    <a:p>
                      <a:pPr algn="ctr">
                        <a:lnSpc>
                          <a:spcPts val="2160"/>
                        </a:lnSpc>
                        <a:defRPr/>
                      </a:pPr>
                      <a:r>
                        <a:rPr lang="en-US" sz="1800">
                          <a:solidFill>
                            <a:srgbClr val="000000"/>
                          </a:solidFill>
                          <a:latin typeface="나눔바른고딕" panose="020B0603020101020101" pitchFamily="50" charset="-127"/>
                          <a:ea typeface="나눔바른고딕" panose="020B0603020101020101" pitchFamily="50" charset="-127"/>
                          <a:cs typeface="Times New Roman"/>
                          <a:sym typeface="Times New Roman"/>
                        </a:rPr>
                        <a:t>16:20 ~ 17:00</a:t>
                      </a:r>
                      <a:endParaRPr lang="en-US" sz="1100">
                        <a:latin typeface="나눔바른고딕" panose="020B0603020101020101" pitchFamily="50" charset="-127"/>
                        <a:ea typeface="나눔바른고딕" panose="020B0603020101020101" pitchFamily="50" charset="-127"/>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ko-KR" altLang="en-US" sz="1800" dirty="0" err="1"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럭키</a:t>
                      </a: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드로우 및 마무리</a:t>
                      </a:r>
                      <a:endParaRPr lang="en-US" sz="1100" dirty="0">
                        <a:latin typeface="나눔바른고딕" panose="020B0603020101020101" pitchFamily="50" charset="-127"/>
                        <a:ea typeface="나눔바른고딕" panose="020B0603020101020101" pitchFamily="50" charset="-127"/>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7" name="TextBox 7"/>
          <p:cNvSpPr txBox="1"/>
          <p:nvPr/>
        </p:nvSpPr>
        <p:spPr>
          <a:xfrm>
            <a:off x="9601200" y="9410700"/>
            <a:ext cx="11188401" cy="585499"/>
          </a:xfrm>
          <a:prstGeom prst="rect">
            <a:avLst/>
          </a:prstGeom>
        </p:spPr>
        <p:txBody>
          <a:bodyPr lIns="50800" tIns="50800" rIns="50800" bIns="50800" rtlCol="0" anchor="t"/>
          <a:lstStyle/>
          <a:p>
            <a:pPr>
              <a:lnSpc>
                <a:spcPts val="2160"/>
              </a:lnSpc>
            </a:pPr>
            <a:r>
              <a:rPr 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상기 </a:t>
            </a:r>
            <a:r>
              <a:rPr lang="en-US" altLang="ko-KR"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Agenda</a:t>
            </a: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는 사전 안내 없이 변경될 수 있습니다</a:t>
            </a:r>
            <a:r>
              <a:rPr lang="en-US" altLang="ko-KR"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a:t>
            </a:r>
            <a:r>
              <a:rPr lang="en-SG"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p>
          <a:p>
            <a:pPr>
              <a:lnSpc>
                <a:spcPts val="2160"/>
              </a:lnSpc>
            </a:pPr>
            <a:r>
              <a:rPr lang="en-US"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r>
              <a:rPr lang="ko-KR" altLang="en-US"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본 컨퍼런스는 국문과 영문 중심으로 진행되며 베트남어 통역이 지원됩니다</a:t>
            </a:r>
            <a:r>
              <a:rPr lang="en-US" altLang="ko-KR"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endParaRPr lang="en-US" sz="1800" dirty="0">
              <a:solidFill>
                <a:srgbClr val="000000"/>
              </a:solidFill>
              <a:latin typeface="나눔바른고딕" panose="020B0603020101020101" pitchFamily="50" charset="-127"/>
              <a:ea typeface="나눔바른고딕" panose="020B0603020101020101" pitchFamily="50" charset="-127"/>
              <a:cs typeface="Times New Roman"/>
              <a:sym typeface="Times New Roman"/>
            </a:endParaRPr>
          </a:p>
        </p:txBody>
      </p:sp>
      <p:grpSp>
        <p:nvGrpSpPr>
          <p:cNvPr id="8" name="Group 8"/>
          <p:cNvGrpSpPr/>
          <p:nvPr/>
        </p:nvGrpSpPr>
        <p:grpSpPr>
          <a:xfrm>
            <a:off x="793975" y="1920650"/>
            <a:ext cx="8027805" cy="6021162"/>
            <a:chOff x="0" y="0"/>
            <a:chExt cx="10703739" cy="8028216"/>
          </a:xfrm>
        </p:grpSpPr>
        <p:sp>
          <p:nvSpPr>
            <p:cNvPr id="9" name="Freeform 9"/>
            <p:cNvSpPr/>
            <p:nvPr/>
          </p:nvSpPr>
          <p:spPr>
            <a:xfrm>
              <a:off x="0" y="0"/>
              <a:ext cx="10703740" cy="8028178"/>
            </a:xfrm>
            <a:custGeom>
              <a:avLst/>
              <a:gdLst/>
              <a:ahLst/>
              <a:cxnLst/>
              <a:rect l="l" t="t" r="r" b="b"/>
              <a:pathLst>
                <a:path w="10703740" h="8028178">
                  <a:moveTo>
                    <a:pt x="0" y="0"/>
                  </a:moveTo>
                  <a:lnTo>
                    <a:pt x="10703740" y="0"/>
                  </a:lnTo>
                  <a:lnTo>
                    <a:pt x="10703740" y="8028178"/>
                  </a:lnTo>
                  <a:lnTo>
                    <a:pt x="0" y="8028178"/>
                  </a:lnTo>
                  <a:close/>
                </a:path>
              </a:pathLst>
            </a:custGeom>
            <a:blipFill>
              <a:blip r:embed="rId4">
                <a:alphaModFix amt="0"/>
              </a:blip>
              <a:stretch>
                <a:fillRect l="-43729" r="-48735"/>
              </a:stretch>
            </a:blipFill>
            <a:ln w="28575" cap="sq">
              <a:solidFill>
                <a:srgbClr val="FF0000"/>
              </a:solidFill>
              <a:prstDash val="solid"/>
              <a:miter/>
            </a:ln>
          </p:spPr>
        </p:sp>
      </p:grpSp>
      <p:sp>
        <p:nvSpPr>
          <p:cNvPr id="10" name="AutoShape 10"/>
          <p:cNvSpPr/>
          <p:nvPr/>
        </p:nvSpPr>
        <p:spPr>
          <a:xfrm rot="2700000">
            <a:off x="3898649" y="864051"/>
            <a:ext cx="40415" cy="0"/>
          </a:xfrm>
          <a:prstGeom prst="line">
            <a:avLst/>
          </a:prstGeom>
          <a:ln w="19050" cap="rnd">
            <a:solidFill>
              <a:srgbClr val="156082"/>
            </a:solidFill>
            <a:prstDash val="solid"/>
            <a:headEnd type="none" w="sm" len="sm"/>
            <a:tailEnd type="none" w="sm" len="sm"/>
          </a:ln>
        </p:spPr>
      </p:sp>
      <p:grpSp>
        <p:nvGrpSpPr>
          <p:cNvPr id="11" name="Group 11"/>
          <p:cNvGrpSpPr/>
          <p:nvPr/>
        </p:nvGrpSpPr>
        <p:grpSpPr>
          <a:xfrm>
            <a:off x="3920900" y="1179376"/>
            <a:ext cx="1914525" cy="671874"/>
            <a:chOff x="0" y="0"/>
            <a:chExt cx="2552700" cy="895833"/>
          </a:xfrm>
        </p:grpSpPr>
        <p:sp>
          <p:nvSpPr>
            <p:cNvPr id="12" name="Freeform 12"/>
            <p:cNvSpPr/>
            <p:nvPr/>
          </p:nvSpPr>
          <p:spPr>
            <a:xfrm>
              <a:off x="0" y="0"/>
              <a:ext cx="2552700" cy="895858"/>
            </a:xfrm>
            <a:custGeom>
              <a:avLst/>
              <a:gdLst/>
              <a:ahLst/>
              <a:cxnLst/>
              <a:rect l="l" t="t" r="r" b="b"/>
              <a:pathLst>
                <a:path w="2552700" h="895858">
                  <a:moveTo>
                    <a:pt x="0" y="0"/>
                  </a:moveTo>
                  <a:lnTo>
                    <a:pt x="2552700" y="0"/>
                  </a:lnTo>
                  <a:lnTo>
                    <a:pt x="2552700" y="895858"/>
                  </a:lnTo>
                  <a:lnTo>
                    <a:pt x="0" y="895858"/>
                  </a:lnTo>
                  <a:close/>
                </a:path>
              </a:pathLst>
            </a:custGeom>
            <a:blipFill>
              <a:blip r:embed="rId4">
                <a:alphaModFix amt="0"/>
              </a:blip>
              <a:stretch>
                <a:fillRect t="-5523" b="-5520"/>
              </a:stretch>
            </a:blipFill>
            <a:ln w="28575" cap="sq">
              <a:solidFill>
                <a:srgbClr val="FF0000"/>
              </a:solidFill>
              <a:prstDash val="solid"/>
              <a:miter/>
            </a:ln>
          </p:spPr>
        </p:sp>
      </p:grpSp>
      <p:sp>
        <p:nvSpPr>
          <p:cNvPr id="13" name="AutoShape 13"/>
          <p:cNvSpPr/>
          <p:nvPr/>
        </p:nvSpPr>
        <p:spPr>
          <a:xfrm rot="2700000">
            <a:off x="3898649" y="864051"/>
            <a:ext cx="40415" cy="0"/>
          </a:xfrm>
          <a:prstGeom prst="line">
            <a:avLst/>
          </a:prstGeom>
          <a:ln w="19050" cap="rnd">
            <a:solidFill>
              <a:srgbClr val="156082"/>
            </a:solidFill>
            <a:prstDash val="solid"/>
            <a:headEnd type="none" w="sm" len="sm"/>
            <a:tailEnd type="none" w="sm" len="sm"/>
          </a:ln>
        </p:spPr>
      </p:sp>
      <p:grpSp>
        <p:nvGrpSpPr>
          <p:cNvPr id="14" name="Group 14"/>
          <p:cNvGrpSpPr/>
          <p:nvPr/>
        </p:nvGrpSpPr>
        <p:grpSpPr>
          <a:xfrm>
            <a:off x="9413405" y="1021556"/>
            <a:ext cx="3997795" cy="509019"/>
            <a:chOff x="0" y="-9525"/>
            <a:chExt cx="5330393" cy="678692"/>
          </a:xfrm>
        </p:grpSpPr>
        <p:sp>
          <p:nvSpPr>
            <p:cNvPr id="15" name="Freeform 15"/>
            <p:cNvSpPr/>
            <p:nvPr/>
          </p:nvSpPr>
          <p:spPr>
            <a:xfrm>
              <a:off x="0" y="0"/>
              <a:ext cx="4147439" cy="624371"/>
            </a:xfrm>
            <a:custGeom>
              <a:avLst/>
              <a:gdLst/>
              <a:ahLst/>
              <a:cxnLst/>
              <a:rect l="l" t="t" r="r" b="b"/>
              <a:pathLst>
                <a:path w="4147439" h="624371">
                  <a:moveTo>
                    <a:pt x="0" y="0"/>
                  </a:moveTo>
                  <a:lnTo>
                    <a:pt x="4147439" y="0"/>
                  </a:lnTo>
                  <a:lnTo>
                    <a:pt x="4147439" y="624371"/>
                  </a:lnTo>
                  <a:lnTo>
                    <a:pt x="0" y="624371"/>
                  </a:lnTo>
                  <a:close/>
                </a:path>
              </a:pathLst>
            </a:custGeom>
            <a:blipFill>
              <a:blip r:embed="rId4">
                <a:alphaModFix amt="0"/>
              </a:blip>
              <a:stretch>
                <a:fillRect t="-80137" b="-78725"/>
              </a:stretch>
            </a:blipFill>
            <a:ln cap="sq">
              <a:noFill/>
              <a:prstDash val="solid"/>
              <a:miter/>
            </a:ln>
          </p:spPr>
        </p:sp>
        <p:sp>
          <p:nvSpPr>
            <p:cNvPr id="16" name="TextBox 16"/>
            <p:cNvSpPr txBox="1"/>
            <p:nvPr/>
          </p:nvSpPr>
          <p:spPr>
            <a:xfrm>
              <a:off x="0" y="-9525"/>
              <a:ext cx="5330393" cy="678692"/>
            </a:xfrm>
            <a:prstGeom prst="rect">
              <a:avLst/>
            </a:prstGeom>
          </p:spPr>
          <p:txBody>
            <a:bodyPr lIns="50800" tIns="50800" rIns="50800" bIns="50800" rtlCol="0" anchor="t"/>
            <a:lstStyle/>
            <a:p>
              <a:pPr algn="l">
                <a:lnSpc>
                  <a:spcPts val="2520"/>
                </a:lnSpc>
              </a:pPr>
              <a:r>
                <a:rPr lang="en-US" sz="2100" b="1" dirty="0" smtClean="0">
                  <a:solidFill>
                    <a:srgbClr val="000000"/>
                  </a:solidFill>
                  <a:latin typeface="나눔바른고딕" panose="020B0603020101020101" pitchFamily="50" charset="-127"/>
                  <a:ea typeface="나눔바른고딕" panose="020B0603020101020101" pitchFamily="50" charset="-127"/>
                  <a:cs typeface="Aptos Bold"/>
                  <a:sym typeface="Aptos Bold"/>
                </a:rPr>
                <a:t>Agenda (</a:t>
              </a:r>
              <a:r>
                <a:rPr lang="ko-KR" altLang="en-US" sz="2100" b="1" dirty="0" smtClean="0">
                  <a:solidFill>
                    <a:srgbClr val="000000"/>
                  </a:solidFill>
                  <a:latin typeface="나눔바른고딕" panose="020B0603020101020101" pitchFamily="50" charset="-127"/>
                  <a:ea typeface="나눔바른고딕" panose="020B0603020101020101" pitchFamily="50" charset="-127"/>
                  <a:cs typeface="Aptos Bold"/>
                  <a:sym typeface="Aptos Bold"/>
                </a:rPr>
                <a:t>영문 그대로 유지</a:t>
              </a:r>
              <a:r>
                <a:rPr lang="en-US" altLang="ko-KR" sz="2100" b="1" dirty="0" smtClean="0">
                  <a:solidFill>
                    <a:srgbClr val="000000"/>
                  </a:solidFill>
                  <a:latin typeface="나눔바른고딕" panose="020B0603020101020101" pitchFamily="50" charset="-127"/>
                  <a:ea typeface="나눔바른고딕" panose="020B0603020101020101" pitchFamily="50" charset="-127"/>
                  <a:cs typeface="Aptos Bold"/>
                  <a:sym typeface="Aptos Bold"/>
                </a:rPr>
                <a:t>)</a:t>
              </a:r>
              <a:endParaRPr lang="en-US" sz="2100" b="1" dirty="0">
                <a:solidFill>
                  <a:srgbClr val="000000"/>
                </a:solidFill>
                <a:latin typeface="나눔바른고딕" panose="020B0603020101020101" pitchFamily="50" charset="-127"/>
                <a:ea typeface="나눔바른고딕" panose="020B0603020101020101" pitchFamily="50" charset="-127"/>
                <a:cs typeface="Aptos Bold"/>
                <a:sym typeface="Aptos Bold"/>
              </a:endParaRPr>
            </a:p>
          </p:txBody>
        </p:sp>
      </p:grpSp>
      <p:sp>
        <p:nvSpPr>
          <p:cNvPr id="17" name="AutoShape 17"/>
          <p:cNvSpPr/>
          <p:nvPr/>
        </p:nvSpPr>
        <p:spPr>
          <a:xfrm flipV="1">
            <a:off x="5835425" y="1262835"/>
            <a:ext cx="3577981" cy="252479"/>
          </a:xfrm>
          <a:prstGeom prst="line">
            <a:avLst/>
          </a:prstGeom>
          <a:ln w="19050" cap="rnd">
            <a:solidFill>
              <a:srgbClr val="FF0000"/>
            </a:solidFill>
            <a:prstDash val="solid"/>
            <a:headEnd type="none" w="sm" len="sm"/>
            <a:tailEnd type="none" w="sm" len="sm"/>
          </a:ln>
        </p:spPr>
      </p:sp>
      <p:grpSp>
        <p:nvGrpSpPr>
          <p:cNvPr id="19" name="Group 19"/>
          <p:cNvGrpSpPr/>
          <p:nvPr/>
        </p:nvGrpSpPr>
        <p:grpSpPr>
          <a:xfrm>
            <a:off x="2181901" y="9040720"/>
            <a:ext cx="5147586" cy="700897"/>
            <a:chOff x="0" y="0"/>
            <a:chExt cx="6863448" cy="934529"/>
          </a:xfrm>
        </p:grpSpPr>
        <p:sp>
          <p:nvSpPr>
            <p:cNvPr id="20" name="Freeform 20"/>
            <p:cNvSpPr/>
            <p:nvPr/>
          </p:nvSpPr>
          <p:spPr>
            <a:xfrm>
              <a:off x="0" y="0"/>
              <a:ext cx="6863461" cy="934593"/>
            </a:xfrm>
            <a:custGeom>
              <a:avLst/>
              <a:gdLst/>
              <a:ahLst/>
              <a:cxnLst/>
              <a:rect l="l" t="t" r="r" b="b"/>
              <a:pathLst>
                <a:path w="6863461" h="934593">
                  <a:moveTo>
                    <a:pt x="0" y="0"/>
                  </a:moveTo>
                  <a:lnTo>
                    <a:pt x="6863461" y="0"/>
                  </a:lnTo>
                  <a:lnTo>
                    <a:pt x="6863461" y="934593"/>
                  </a:lnTo>
                  <a:lnTo>
                    <a:pt x="0" y="934593"/>
                  </a:lnTo>
                  <a:close/>
                </a:path>
              </a:pathLst>
            </a:custGeom>
            <a:blipFill>
              <a:blip r:embed="rId4">
                <a:alphaModFix amt="0"/>
              </a:blip>
              <a:stretch>
                <a:fillRect t="-93097" b="-93090"/>
              </a:stretch>
            </a:blipFill>
            <a:ln w="28575" cap="sq">
              <a:solidFill>
                <a:srgbClr val="FF0000"/>
              </a:solidFill>
              <a:prstDash val="solid"/>
              <a:miter/>
            </a:ln>
          </p:spPr>
        </p:sp>
      </p:grpSp>
      <p:sp>
        <p:nvSpPr>
          <p:cNvPr id="21" name="AutoShape 21"/>
          <p:cNvSpPr/>
          <p:nvPr/>
        </p:nvSpPr>
        <p:spPr>
          <a:xfrm>
            <a:off x="7300912" y="9376872"/>
            <a:ext cx="2224087" cy="262428"/>
          </a:xfrm>
          <a:prstGeom prst="line">
            <a:avLst/>
          </a:prstGeom>
          <a:ln w="19050" cap="rnd">
            <a:solidFill>
              <a:srgbClr val="FF0000"/>
            </a:solidFill>
            <a:prstDash val="solid"/>
            <a:headEnd type="none" w="sm" len="sm"/>
            <a:tailEnd type="none" w="sm" len="sm"/>
          </a:ln>
        </p:spPr>
      </p:sp>
      <p:grpSp>
        <p:nvGrpSpPr>
          <p:cNvPr id="22" name="Group 22"/>
          <p:cNvGrpSpPr/>
          <p:nvPr/>
        </p:nvGrpSpPr>
        <p:grpSpPr>
          <a:xfrm>
            <a:off x="793975" y="7996685"/>
            <a:ext cx="5147586" cy="700897"/>
            <a:chOff x="0" y="0"/>
            <a:chExt cx="6863448" cy="934529"/>
          </a:xfrm>
        </p:grpSpPr>
        <p:sp>
          <p:nvSpPr>
            <p:cNvPr id="23" name="Freeform 23"/>
            <p:cNvSpPr/>
            <p:nvPr/>
          </p:nvSpPr>
          <p:spPr>
            <a:xfrm>
              <a:off x="0" y="0"/>
              <a:ext cx="6863461" cy="934593"/>
            </a:xfrm>
            <a:custGeom>
              <a:avLst/>
              <a:gdLst/>
              <a:ahLst/>
              <a:cxnLst/>
              <a:rect l="l" t="t" r="r" b="b"/>
              <a:pathLst>
                <a:path w="6863461" h="934593">
                  <a:moveTo>
                    <a:pt x="0" y="0"/>
                  </a:moveTo>
                  <a:lnTo>
                    <a:pt x="6863461" y="0"/>
                  </a:lnTo>
                  <a:lnTo>
                    <a:pt x="6863461" y="934593"/>
                  </a:lnTo>
                  <a:lnTo>
                    <a:pt x="0" y="934593"/>
                  </a:lnTo>
                  <a:close/>
                </a:path>
              </a:pathLst>
            </a:custGeom>
            <a:blipFill>
              <a:blip r:embed="rId4">
                <a:alphaModFix amt="0"/>
              </a:blip>
              <a:stretch>
                <a:fillRect t="-93097" b="-93090"/>
              </a:stretch>
            </a:blipFill>
            <a:ln w="28575" cap="sq">
              <a:solidFill>
                <a:srgbClr val="FF0000"/>
              </a:solidFill>
              <a:prstDash val="solid"/>
              <a:miter/>
            </a:ln>
          </p:spPr>
        </p:sp>
      </p:grpSp>
      <p:sp>
        <p:nvSpPr>
          <p:cNvPr id="24" name="AutoShape 24"/>
          <p:cNvSpPr/>
          <p:nvPr/>
        </p:nvSpPr>
        <p:spPr>
          <a:xfrm>
            <a:off x="5912987" y="8582131"/>
            <a:ext cx="3500418" cy="541397"/>
          </a:xfrm>
          <a:prstGeom prst="line">
            <a:avLst/>
          </a:prstGeom>
          <a:ln w="19050" cap="rnd">
            <a:solidFill>
              <a:srgbClr val="FF0000"/>
            </a:solidFill>
            <a:prstDash val="solid"/>
            <a:headEnd type="none" w="sm" len="sm"/>
            <a:tailEnd type="none" w="sm" len="sm"/>
          </a:ln>
        </p:spPr>
      </p:sp>
      <p:sp>
        <p:nvSpPr>
          <p:cNvPr id="25" name="TextBox 25"/>
          <p:cNvSpPr txBox="1"/>
          <p:nvPr/>
        </p:nvSpPr>
        <p:spPr>
          <a:xfrm>
            <a:off x="16482289" y="334094"/>
            <a:ext cx="1541631" cy="410369"/>
          </a:xfrm>
          <a:prstGeom prst="rect">
            <a:avLst/>
          </a:prstGeom>
        </p:spPr>
        <p:txBody>
          <a:bodyPr lIns="0" tIns="0" rIns="0" bIns="0" rtlCol="0" anchor="t">
            <a:spAutoFit/>
          </a:bodyPr>
          <a:lstStyle/>
          <a:p>
            <a:pPr algn="l">
              <a:lnSpc>
                <a:spcPts val="3240"/>
              </a:lnSpc>
            </a:pPr>
            <a:r>
              <a:rPr lang="ko-KR" altLang="en-US" sz="2700" b="1" dirty="0" smtClean="0">
                <a:solidFill>
                  <a:srgbClr val="000000"/>
                </a:solidFill>
                <a:latin typeface="나눔바른고딕" panose="020B0603020101020101" pitchFamily="50" charset="-127"/>
                <a:ea typeface="나눔바른고딕" panose="020B0603020101020101" pitchFamily="50" charset="-127"/>
                <a:cs typeface="Aptos Bold"/>
                <a:sym typeface="Aptos Bold"/>
              </a:rPr>
              <a:t>국문</a:t>
            </a:r>
            <a:endParaRPr lang="en-US" sz="2700" b="1" dirty="0">
              <a:solidFill>
                <a:srgbClr val="000000"/>
              </a:solidFill>
              <a:latin typeface="나눔바른고딕" panose="020B0603020101020101" pitchFamily="50" charset="-127"/>
              <a:ea typeface="나눔바른고딕" panose="020B0603020101020101" pitchFamily="50" charset="-127"/>
              <a:cs typeface="Aptos Bold"/>
              <a:sym typeface="Aptos Bold"/>
            </a:endParaRPr>
          </a:p>
        </p:txBody>
      </p:sp>
      <p:grpSp>
        <p:nvGrpSpPr>
          <p:cNvPr id="26" name="Group 26"/>
          <p:cNvGrpSpPr/>
          <p:nvPr/>
        </p:nvGrpSpPr>
        <p:grpSpPr>
          <a:xfrm>
            <a:off x="9525000" y="9029700"/>
            <a:ext cx="11008195" cy="430523"/>
            <a:chOff x="0" y="0"/>
            <a:chExt cx="10147841" cy="574030"/>
          </a:xfrm>
        </p:grpSpPr>
        <p:sp>
          <p:nvSpPr>
            <p:cNvPr id="27" name="Freeform 27"/>
            <p:cNvSpPr/>
            <p:nvPr/>
          </p:nvSpPr>
          <p:spPr>
            <a:xfrm>
              <a:off x="0" y="0"/>
              <a:ext cx="10147809" cy="574004"/>
            </a:xfrm>
            <a:custGeom>
              <a:avLst/>
              <a:gdLst/>
              <a:ahLst/>
              <a:cxnLst/>
              <a:rect l="l" t="t" r="r" b="b"/>
              <a:pathLst>
                <a:path w="10147809" h="574004">
                  <a:moveTo>
                    <a:pt x="0" y="0"/>
                  </a:moveTo>
                  <a:lnTo>
                    <a:pt x="10147809" y="0"/>
                  </a:lnTo>
                  <a:lnTo>
                    <a:pt x="10147809" y="574004"/>
                  </a:lnTo>
                  <a:lnTo>
                    <a:pt x="0" y="574004"/>
                  </a:lnTo>
                  <a:close/>
                </a:path>
              </a:pathLst>
            </a:custGeom>
            <a:blipFill>
              <a:blip r:embed="rId4">
                <a:alphaModFix amt="0"/>
              </a:blip>
              <a:stretch>
                <a:fillRect t="-363455" r="-19518" b="-359970"/>
              </a:stretch>
            </a:blipFill>
            <a:ln cap="sq">
              <a:noFill/>
              <a:prstDash val="solid"/>
              <a:miter/>
            </a:ln>
          </p:spPr>
        </p:sp>
        <p:sp>
          <p:nvSpPr>
            <p:cNvPr id="28" name="TextBox 28"/>
            <p:cNvSpPr txBox="1"/>
            <p:nvPr/>
          </p:nvSpPr>
          <p:spPr>
            <a:xfrm>
              <a:off x="0" y="-19050"/>
              <a:ext cx="10147841" cy="593080"/>
            </a:xfrm>
            <a:prstGeom prst="rect">
              <a:avLst/>
            </a:prstGeom>
          </p:spPr>
          <p:txBody>
            <a:bodyPr lIns="50800" tIns="50800" rIns="50800" bIns="50800" rtlCol="0" anchor="t"/>
            <a:lstStyle/>
            <a:p>
              <a:pPr>
                <a:lnSpc>
                  <a:spcPts val="2160"/>
                </a:lnSpc>
              </a:pPr>
              <a:r>
                <a:rPr lang="ko-KR" altLang="en-US"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삭제해 주십시오</a:t>
              </a:r>
              <a:endParaRPr lang="en-US" sz="1800" dirty="0">
                <a:solidFill>
                  <a:srgbClr val="000000"/>
                </a:solidFill>
                <a:latin typeface="나눔바른고딕" panose="020B0603020101020101" pitchFamily="50" charset="-127"/>
                <a:ea typeface="나눔바른고딕" panose="020B0603020101020101" pitchFamily="50" charset="-127"/>
                <a:cs typeface="Times New Roman"/>
                <a:sym typeface="Times New Roman"/>
              </a:endParaRPr>
            </a:p>
          </p:txBody>
        </p:sp>
      </p:grpSp>
    </p:spTree>
    <p:extLst>
      <p:ext uri="{BB962C8B-B14F-4D97-AF65-F5344CB8AC3E}">
        <p14:creationId xmlns:p14="http://schemas.microsoft.com/office/powerpoint/2010/main" val="1842925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4774" y="263604"/>
            <a:ext cx="6032630" cy="4727496"/>
            <a:chOff x="0" y="0"/>
            <a:chExt cx="8043507" cy="6303328"/>
          </a:xfrm>
        </p:grpSpPr>
        <p:sp>
          <p:nvSpPr>
            <p:cNvPr id="3" name="Freeform 3"/>
            <p:cNvSpPr/>
            <p:nvPr/>
          </p:nvSpPr>
          <p:spPr>
            <a:xfrm>
              <a:off x="0" y="0"/>
              <a:ext cx="8043545" cy="6303264"/>
            </a:xfrm>
            <a:custGeom>
              <a:avLst/>
              <a:gdLst/>
              <a:ahLst/>
              <a:cxnLst/>
              <a:rect l="l" t="t" r="r" b="b"/>
              <a:pathLst>
                <a:path w="8043545" h="6303264">
                  <a:moveTo>
                    <a:pt x="0" y="0"/>
                  </a:moveTo>
                  <a:lnTo>
                    <a:pt x="8043545" y="0"/>
                  </a:lnTo>
                  <a:lnTo>
                    <a:pt x="8043545" y="6303264"/>
                  </a:lnTo>
                  <a:lnTo>
                    <a:pt x="0" y="6303264"/>
                  </a:lnTo>
                  <a:lnTo>
                    <a:pt x="0" y="0"/>
                  </a:lnTo>
                  <a:close/>
                </a:path>
              </a:pathLst>
            </a:custGeom>
            <a:blipFill>
              <a:blip r:embed="rId2"/>
              <a:stretch>
                <a:fillRect b="-1"/>
              </a:stretch>
            </a:blipFill>
          </p:spPr>
        </p:sp>
      </p:grpSp>
      <p:grpSp>
        <p:nvGrpSpPr>
          <p:cNvPr id="4" name="Group 4"/>
          <p:cNvGrpSpPr/>
          <p:nvPr/>
        </p:nvGrpSpPr>
        <p:grpSpPr>
          <a:xfrm>
            <a:off x="554774" y="5143500"/>
            <a:ext cx="6063682" cy="4727496"/>
            <a:chOff x="0" y="0"/>
            <a:chExt cx="8084909" cy="6303328"/>
          </a:xfrm>
        </p:grpSpPr>
        <p:sp>
          <p:nvSpPr>
            <p:cNvPr id="5" name="Freeform 5"/>
            <p:cNvSpPr/>
            <p:nvPr/>
          </p:nvSpPr>
          <p:spPr>
            <a:xfrm>
              <a:off x="0" y="0"/>
              <a:ext cx="8084947" cy="6303391"/>
            </a:xfrm>
            <a:custGeom>
              <a:avLst/>
              <a:gdLst/>
              <a:ahLst/>
              <a:cxnLst/>
              <a:rect l="l" t="t" r="r" b="b"/>
              <a:pathLst>
                <a:path w="8084947" h="6303391">
                  <a:moveTo>
                    <a:pt x="0" y="0"/>
                  </a:moveTo>
                  <a:lnTo>
                    <a:pt x="8084947" y="0"/>
                  </a:lnTo>
                  <a:lnTo>
                    <a:pt x="8084947" y="6303391"/>
                  </a:lnTo>
                  <a:lnTo>
                    <a:pt x="0" y="6303391"/>
                  </a:lnTo>
                  <a:lnTo>
                    <a:pt x="0" y="0"/>
                  </a:lnTo>
                  <a:close/>
                </a:path>
              </a:pathLst>
            </a:custGeom>
            <a:blipFill>
              <a:blip r:embed="rId3"/>
              <a:stretch>
                <a:fillRect b="1"/>
              </a:stretch>
            </a:blipFill>
          </p:spPr>
        </p:sp>
      </p:grpSp>
      <p:sp>
        <p:nvSpPr>
          <p:cNvPr id="6" name="AutoShape 6"/>
          <p:cNvSpPr/>
          <p:nvPr/>
        </p:nvSpPr>
        <p:spPr>
          <a:xfrm flipH="1">
            <a:off x="6082575" y="1585767"/>
            <a:ext cx="7244997" cy="13005"/>
          </a:xfrm>
          <a:prstGeom prst="line">
            <a:avLst/>
          </a:prstGeom>
          <a:ln w="19050" cap="rnd">
            <a:solidFill>
              <a:srgbClr val="FF0000"/>
            </a:solidFill>
            <a:prstDash val="solid"/>
            <a:headEnd type="none" w="sm" len="sm"/>
            <a:tailEnd type="none" w="sm" len="sm"/>
          </a:ln>
        </p:spPr>
      </p:sp>
      <p:sp>
        <p:nvSpPr>
          <p:cNvPr id="7" name="Freeform 7"/>
          <p:cNvSpPr/>
          <p:nvPr/>
        </p:nvSpPr>
        <p:spPr>
          <a:xfrm>
            <a:off x="6994556" y="4566464"/>
            <a:ext cx="4127561" cy="4546299"/>
          </a:xfrm>
          <a:custGeom>
            <a:avLst/>
            <a:gdLst/>
            <a:ahLst/>
            <a:cxnLst/>
            <a:rect l="l" t="t" r="r" b="b"/>
            <a:pathLst>
              <a:path w="4127561" h="4546299">
                <a:moveTo>
                  <a:pt x="0" y="0"/>
                </a:moveTo>
                <a:lnTo>
                  <a:pt x="4127562" y="0"/>
                </a:lnTo>
                <a:lnTo>
                  <a:pt x="4127562" y="4546299"/>
                </a:lnTo>
                <a:lnTo>
                  <a:pt x="0" y="4546299"/>
                </a:lnTo>
                <a:lnTo>
                  <a:pt x="0" y="0"/>
                </a:lnTo>
                <a:close/>
              </a:path>
            </a:pathLst>
          </a:custGeom>
          <a:blipFill>
            <a:blip r:embed="rId4"/>
            <a:stretch>
              <a:fillRect/>
            </a:stretch>
          </a:blipFill>
        </p:spPr>
      </p:sp>
      <p:sp>
        <p:nvSpPr>
          <p:cNvPr id="8" name="Freeform 8"/>
          <p:cNvSpPr/>
          <p:nvPr/>
        </p:nvSpPr>
        <p:spPr>
          <a:xfrm>
            <a:off x="11900657" y="6334687"/>
            <a:ext cx="2034018" cy="2239655"/>
          </a:xfrm>
          <a:custGeom>
            <a:avLst/>
            <a:gdLst/>
            <a:ahLst/>
            <a:cxnLst/>
            <a:rect l="l" t="t" r="r" b="b"/>
            <a:pathLst>
              <a:path w="2034018" h="2239655">
                <a:moveTo>
                  <a:pt x="0" y="0"/>
                </a:moveTo>
                <a:lnTo>
                  <a:pt x="2034018" y="0"/>
                </a:lnTo>
                <a:lnTo>
                  <a:pt x="2034018" y="2239654"/>
                </a:lnTo>
                <a:lnTo>
                  <a:pt x="0" y="2239654"/>
                </a:lnTo>
                <a:lnTo>
                  <a:pt x="0" y="0"/>
                </a:lnTo>
                <a:close/>
              </a:path>
            </a:pathLst>
          </a:custGeom>
          <a:blipFill>
            <a:blip r:embed="rId5"/>
            <a:stretch>
              <a:fillRect l="-84179" t="-11467" r="-78742" b="-17474"/>
            </a:stretch>
          </a:blipFill>
        </p:spPr>
      </p:sp>
      <p:grpSp>
        <p:nvGrpSpPr>
          <p:cNvPr id="9" name="Group 9"/>
          <p:cNvGrpSpPr/>
          <p:nvPr/>
        </p:nvGrpSpPr>
        <p:grpSpPr>
          <a:xfrm>
            <a:off x="13327572" y="2235111"/>
            <a:ext cx="2052913" cy="430523"/>
            <a:chOff x="0" y="0"/>
            <a:chExt cx="2737217" cy="574030"/>
          </a:xfrm>
        </p:grpSpPr>
        <p:sp>
          <p:nvSpPr>
            <p:cNvPr id="10" name="Freeform 10"/>
            <p:cNvSpPr/>
            <p:nvPr/>
          </p:nvSpPr>
          <p:spPr>
            <a:xfrm>
              <a:off x="0" y="0"/>
              <a:ext cx="2737208" cy="574004"/>
            </a:xfrm>
            <a:custGeom>
              <a:avLst/>
              <a:gdLst/>
              <a:ahLst/>
              <a:cxnLst/>
              <a:rect l="l" t="t" r="r" b="b"/>
              <a:pathLst>
                <a:path w="2737208" h="574004">
                  <a:moveTo>
                    <a:pt x="0" y="0"/>
                  </a:moveTo>
                  <a:lnTo>
                    <a:pt x="2737208" y="0"/>
                  </a:lnTo>
                  <a:lnTo>
                    <a:pt x="2737208" y="574004"/>
                  </a:lnTo>
                  <a:lnTo>
                    <a:pt x="0" y="574004"/>
                  </a:lnTo>
                  <a:close/>
                </a:path>
              </a:pathLst>
            </a:custGeom>
            <a:blipFill>
              <a:blip r:embed="rId6">
                <a:alphaModFix amt="0"/>
              </a:blip>
              <a:stretch>
                <a:fillRect t="-363455" r="-343098" b="-359970"/>
              </a:stretch>
            </a:blipFill>
            <a:ln cap="sq">
              <a:noFill/>
              <a:prstDash val="solid"/>
              <a:miter/>
            </a:ln>
          </p:spPr>
        </p:sp>
        <p:sp>
          <p:nvSpPr>
            <p:cNvPr id="11" name="TextBox 11"/>
            <p:cNvSpPr txBox="1"/>
            <p:nvPr/>
          </p:nvSpPr>
          <p:spPr>
            <a:xfrm>
              <a:off x="0" y="-19050"/>
              <a:ext cx="2737217" cy="593080"/>
            </a:xfrm>
            <a:prstGeom prst="rect">
              <a:avLst/>
            </a:prstGeom>
          </p:spPr>
          <p:txBody>
            <a:bodyPr lIns="50800" tIns="50800" rIns="50800" bIns="50800" rtlCol="0" anchor="t"/>
            <a:lstStyle/>
            <a:p>
              <a:pPr algn="l">
                <a:lnSpc>
                  <a:spcPts val="2160"/>
                </a:lnSpc>
              </a:pPr>
              <a:r>
                <a:rPr 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1</a:t>
              </a: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등</a:t>
              </a:r>
              <a:r>
                <a:rPr lang="en-US" altLang="ko-KR"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(1</a:t>
              </a: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명</a:t>
              </a:r>
              <a:r>
                <a:rPr lang="en-US" altLang="ko-KR"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a:t>
              </a:r>
              <a:endParaRPr lang="en-US" sz="1800" dirty="0">
                <a:solidFill>
                  <a:srgbClr val="000000"/>
                </a:solidFill>
                <a:latin typeface="나눔바른고딕" panose="020B0603020101020101" pitchFamily="50" charset="-127"/>
                <a:ea typeface="나눔바른고딕" panose="020B0603020101020101" pitchFamily="50" charset="-127"/>
                <a:cs typeface="Times New Roman"/>
                <a:sym typeface="Times New Roman"/>
              </a:endParaRPr>
            </a:p>
          </p:txBody>
        </p:sp>
      </p:grpSp>
      <p:grpSp>
        <p:nvGrpSpPr>
          <p:cNvPr id="12" name="Group 12"/>
          <p:cNvGrpSpPr/>
          <p:nvPr/>
        </p:nvGrpSpPr>
        <p:grpSpPr>
          <a:xfrm>
            <a:off x="11820842" y="5861302"/>
            <a:ext cx="2193648" cy="430523"/>
            <a:chOff x="0" y="0"/>
            <a:chExt cx="2924864" cy="574030"/>
          </a:xfrm>
        </p:grpSpPr>
        <p:sp>
          <p:nvSpPr>
            <p:cNvPr id="13" name="Freeform 13"/>
            <p:cNvSpPr/>
            <p:nvPr/>
          </p:nvSpPr>
          <p:spPr>
            <a:xfrm>
              <a:off x="0" y="0"/>
              <a:ext cx="2924854" cy="574004"/>
            </a:xfrm>
            <a:custGeom>
              <a:avLst/>
              <a:gdLst/>
              <a:ahLst/>
              <a:cxnLst/>
              <a:rect l="l" t="t" r="r" b="b"/>
              <a:pathLst>
                <a:path w="2924854" h="574004">
                  <a:moveTo>
                    <a:pt x="0" y="0"/>
                  </a:moveTo>
                  <a:lnTo>
                    <a:pt x="2924854" y="0"/>
                  </a:lnTo>
                  <a:lnTo>
                    <a:pt x="2924854" y="574004"/>
                  </a:lnTo>
                  <a:lnTo>
                    <a:pt x="0" y="574004"/>
                  </a:lnTo>
                  <a:close/>
                </a:path>
              </a:pathLst>
            </a:custGeom>
            <a:blipFill>
              <a:blip r:embed="rId6">
                <a:alphaModFix amt="0"/>
              </a:blip>
              <a:stretch>
                <a:fillRect t="-363455" r="-314671" b="-359970"/>
              </a:stretch>
            </a:blipFill>
            <a:ln cap="sq">
              <a:noFill/>
              <a:prstDash val="solid"/>
              <a:miter/>
            </a:ln>
          </p:spPr>
        </p:sp>
        <p:sp>
          <p:nvSpPr>
            <p:cNvPr id="14" name="TextBox 14"/>
            <p:cNvSpPr txBox="1"/>
            <p:nvPr/>
          </p:nvSpPr>
          <p:spPr>
            <a:xfrm>
              <a:off x="0" y="-19050"/>
              <a:ext cx="2924864" cy="593080"/>
            </a:xfrm>
            <a:prstGeom prst="rect">
              <a:avLst/>
            </a:prstGeom>
          </p:spPr>
          <p:txBody>
            <a:bodyPr lIns="50800" tIns="50800" rIns="50800" bIns="50800" rtlCol="0" anchor="t"/>
            <a:lstStyle/>
            <a:p>
              <a:pPr algn="l">
                <a:lnSpc>
                  <a:spcPts val="2160"/>
                </a:lnSpc>
              </a:pPr>
              <a:r>
                <a:rPr lang="en-US"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2</a:t>
              </a:r>
              <a:r>
                <a:rPr lang="ko-KR" altLang="en-US"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등</a:t>
              </a:r>
              <a:r>
                <a:rPr lang="en-US" altLang="ko-KR"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(3</a:t>
              </a:r>
              <a:r>
                <a:rPr lang="ko-KR" altLang="en-US"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명</a:t>
              </a:r>
              <a:r>
                <a:rPr lang="en-US" altLang="ko-KR"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a:t>
              </a:r>
              <a:r>
                <a:rPr 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a:t>
              </a:r>
              <a:endParaRPr lang="en-US" sz="1800" dirty="0">
                <a:solidFill>
                  <a:srgbClr val="000000"/>
                </a:solidFill>
                <a:latin typeface="나눔바른고딕" panose="020B0603020101020101" pitchFamily="50" charset="-127"/>
                <a:ea typeface="나눔바른고딕" panose="020B0603020101020101" pitchFamily="50" charset="-127"/>
                <a:cs typeface="Times New Roman"/>
                <a:sym typeface="Times New Roman"/>
              </a:endParaRPr>
            </a:p>
          </p:txBody>
        </p:sp>
      </p:grpSp>
      <p:grpSp>
        <p:nvGrpSpPr>
          <p:cNvPr id="15" name="Group 15"/>
          <p:cNvGrpSpPr/>
          <p:nvPr/>
        </p:nvGrpSpPr>
        <p:grpSpPr>
          <a:xfrm>
            <a:off x="15015128" y="5861302"/>
            <a:ext cx="2367165" cy="430523"/>
            <a:chOff x="0" y="0"/>
            <a:chExt cx="3156220" cy="574030"/>
          </a:xfrm>
        </p:grpSpPr>
        <p:sp>
          <p:nvSpPr>
            <p:cNvPr id="16" name="Freeform 16"/>
            <p:cNvSpPr/>
            <p:nvPr/>
          </p:nvSpPr>
          <p:spPr>
            <a:xfrm>
              <a:off x="0" y="0"/>
              <a:ext cx="3156210" cy="574004"/>
            </a:xfrm>
            <a:custGeom>
              <a:avLst/>
              <a:gdLst/>
              <a:ahLst/>
              <a:cxnLst/>
              <a:rect l="l" t="t" r="r" b="b"/>
              <a:pathLst>
                <a:path w="3156210" h="574004">
                  <a:moveTo>
                    <a:pt x="0" y="0"/>
                  </a:moveTo>
                  <a:lnTo>
                    <a:pt x="3156210" y="0"/>
                  </a:lnTo>
                  <a:lnTo>
                    <a:pt x="3156210" y="574004"/>
                  </a:lnTo>
                  <a:lnTo>
                    <a:pt x="0" y="574004"/>
                  </a:lnTo>
                  <a:close/>
                </a:path>
              </a:pathLst>
            </a:custGeom>
            <a:blipFill>
              <a:blip r:embed="rId6">
                <a:alphaModFix amt="0"/>
              </a:blip>
              <a:stretch>
                <a:fillRect t="-363455" r="-284275" b="-359970"/>
              </a:stretch>
            </a:blipFill>
            <a:ln cap="sq">
              <a:noFill/>
              <a:prstDash val="solid"/>
              <a:miter/>
            </a:ln>
          </p:spPr>
        </p:sp>
        <p:sp>
          <p:nvSpPr>
            <p:cNvPr id="17" name="TextBox 17"/>
            <p:cNvSpPr txBox="1"/>
            <p:nvPr/>
          </p:nvSpPr>
          <p:spPr>
            <a:xfrm>
              <a:off x="0" y="-19050"/>
              <a:ext cx="3156220" cy="593080"/>
            </a:xfrm>
            <a:prstGeom prst="rect">
              <a:avLst/>
            </a:prstGeom>
          </p:spPr>
          <p:txBody>
            <a:bodyPr lIns="50800" tIns="50800" rIns="50800" bIns="50800" rtlCol="0" anchor="t"/>
            <a:lstStyle/>
            <a:p>
              <a:pPr algn="l">
                <a:lnSpc>
                  <a:spcPts val="2160"/>
                </a:lnSpc>
              </a:pPr>
              <a:r>
                <a:rPr 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3</a:t>
              </a: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등</a:t>
              </a:r>
              <a:r>
                <a:rPr lang="en-US" altLang="ko-KR"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(1</a:t>
              </a: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명</a:t>
              </a:r>
              <a:r>
                <a:rPr lang="en-US" altLang="ko-KR"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a:t>
              </a:r>
              <a:endParaRPr lang="en-US" sz="1800" dirty="0">
                <a:solidFill>
                  <a:srgbClr val="000000"/>
                </a:solidFill>
                <a:latin typeface="나눔바른고딕" panose="020B0603020101020101" pitchFamily="50" charset="-127"/>
                <a:ea typeface="나눔바른고딕" panose="020B0603020101020101" pitchFamily="50" charset="-127"/>
                <a:cs typeface="Times New Roman"/>
                <a:sym typeface="Times New Roman"/>
              </a:endParaRPr>
            </a:p>
          </p:txBody>
        </p:sp>
      </p:grpSp>
      <p:sp>
        <p:nvSpPr>
          <p:cNvPr id="18" name="Freeform 18"/>
          <p:cNvSpPr/>
          <p:nvPr/>
        </p:nvSpPr>
        <p:spPr>
          <a:xfrm>
            <a:off x="13227299" y="2779934"/>
            <a:ext cx="2065445" cy="2309440"/>
          </a:xfrm>
          <a:custGeom>
            <a:avLst/>
            <a:gdLst/>
            <a:ahLst/>
            <a:cxnLst/>
            <a:rect l="l" t="t" r="r" b="b"/>
            <a:pathLst>
              <a:path w="2065445" h="2309440">
                <a:moveTo>
                  <a:pt x="0" y="0"/>
                </a:moveTo>
                <a:lnTo>
                  <a:pt x="2065446" y="0"/>
                </a:lnTo>
                <a:lnTo>
                  <a:pt x="2065446" y="2309440"/>
                </a:lnTo>
                <a:lnTo>
                  <a:pt x="0" y="2309440"/>
                </a:lnTo>
                <a:lnTo>
                  <a:pt x="0" y="0"/>
                </a:lnTo>
                <a:close/>
              </a:path>
            </a:pathLst>
          </a:custGeom>
          <a:blipFill>
            <a:blip r:embed="rId7"/>
            <a:stretch>
              <a:fillRect l="-48711" t="-16247" r="-109469" b="-8440"/>
            </a:stretch>
          </a:blipFill>
        </p:spPr>
      </p:sp>
      <p:grpSp>
        <p:nvGrpSpPr>
          <p:cNvPr id="19" name="Group 19"/>
          <p:cNvGrpSpPr/>
          <p:nvPr/>
        </p:nvGrpSpPr>
        <p:grpSpPr>
          <a:xfrm>
            <a:off x="12961753" y="5187892"/>
            <a:ext cx="3649847" cy="444790"/>
            <a:chOff x="0" y="-19049"/>
            <a:chExt cx="4866463" cy="593053"/>
          </a:xfrm>
        </p:grpSpPr>
        <p:sp>
          <p:nvSpPr>
            <p:cNvPr id="20" name="Freeform 20"/>
            <p:cNvSpPr/>
            <p:nvPr/>
          </p:nvSpPr>
          <p:spPr>
            <a:xfrm>
              <a:off x="0" y="0"/>
              <a:ext cx="3735937" cy="574004"/>
            </a:xfrm>
            <a:custGeom>
              <a:avLst/>
              <a:gdLst/>
              <a:ahLst/>
              <a:cxnLst/>
              <a:rect l="l" t="t" r="r" b="b"/>
              <a:pathLst>
                <a:path w="3735937" h="574004">
                  <a:moveTo>
                    <a:pt x="0" y="0"/>
                  </a:moveTo>
                  <a:lnTo>
                    <a:pt x="3735937" y="0"/>
                  </a:lnTo>
                  <a:lnTo>
                    <a:pt x="3735937" y="574004"/>
                  </a:lnTo>
                  <a:lnTo>
                    <a:pt x="0" y="574004"/>
                  </a:lnTo>
                  <a:close/>
                </a:path>
              </a:pathLst>
            </a:custGeom>
            <a:blipFill>
              <a:blip r:embed="rId6">
                <a:alphaModFix amt="0"/>
              </a:blip>
              <a:stretch>
                <a:fillRect t="-363455" r="-224645" b="-359970"/>
              </a:stretch>
            </a:blipFill>
            <a:ln cap="sq">
              <a:noFill/>
              <a:prstDash val="solid"/>
              <a:miter/>
            </a:ln>
          </p:spPr>
        </p:sp>
        <p:sp>
          <p:nvSpPr>
            <p:cNvPr id="21" name="TextBox 21"/>
            <p:cNvSpPr txBox="1"/>
            <p:nvPr/>
          </p:nvSpPr>
          <p:spPr>
            <a:xfrm>
              <a:off x="0" y="-19049"/>
              <a:ext cx="4866463" cy="291365"/>
            </a:xfrm>
            <a:prstGeom prst="rect">
              <a:avLst/>
            </a:prstGeom>
          </p:spPr>
          <p:txBody>
            <a:bodyPr lIns="50800" tIns="50800" rIns="50800" bIns="50800" rtlCol="0" anchor="t"/>
            <a:lstStyle/>
            <a:p>
              <a:pPr algn="l">
                <a:lnSpc>
                  <a:spcPts val="2160"/>
                </a:lnSpc>
              </a:pPr>
              <a:r>
                <a:rPr lang="en-US" sz="18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Samsung Galaxy S26 256GB</a:t>
              </a:r>
            </a:p>
          </p:txBody>
        </p:sp>
      </p:grpSp>
      <p:sp>
        <p:nvSpPr>
          <p:cNvPr id="22" name="Freeform 22"/>
          <p:cNvSpPr/>
          <p:nvPr/>
        </p:nvSpPr>
        <p:spPr>
          <a:xfrm>
            <a:off x="15169464" y="6415746"/>
            <a:ext cx="2058492" cy="2077536"/>
          </a:xfrm>
          <a:custGeom>
            <a:avLst/>
            <a:gdLst/>
            <a:ahLst/>
            <a:cxnLst/>
            <a:rect l="l" t="t" r="r" b="b"/>
            <a:pathLst>
              <a:path w="2058492" h="2077536">
                <a:moveTo>
                  <a:pt x="0" y="0"/>
                </a:moveTo>
                <a:lnTo>
                  <a:pt x="2058493" y="0"/>
                </a:lnTo>
                <a:lnTo>
                  <a:pt x="2058493" y="2077536"/>
                </a:lnTo>
                <a:lnTo>
                  <a:pt x="0" y="2077536"/>
                </a:lnTo>
                <a:lnTo>
                  <a:pt x="0" y="0"/>
                </a:lnTo>
                <a:close/>
              </a:path>
            </a:pathLst>
          </a:custGeom>
          <a:blipFill>
            <a:blip r:embed="rId8"/>
            <a:stretch>
              <a:fillRect/>
            </a:stretch>
          </a:blipFill>
        </p:spPr>
      </p:sp>
      <p:grpSp>
        <p:nvGrpSpPr>
          <p:cNvPr id="23" name="Group 23"/>
          <p:cNvGrpSpPr/>
          <p:nvPr/>
        </p:nvGrpSpPr>
        <p:grpSpPr>
          <a:xfrm>
            <a:off x="11700379" y="8617204"/>
            <a:ext cx="2434574" cy="430523"/>
            <a:chOff x="0" y="0"/>
            <a:chExt cx="3246099" cy="574030"/>
          </a:xfrm>
        </p:grpSpPr>
        <p:sp>
          <p:nvSpPr>
            <p:cNvPr id="24" name="Freeform 24"/>
            <p:cNvSpPr/>
            <p:nvPr/>
          </p:nvSpPr>
          <p:spPr>
            <a:xfrm>
              <a:off x="0" y="0"/>
              <a:ext cx="3246089" cy="574004"/>
            </a:xfrm>
            <a:custGeom>
              <a:avLst/>
              <a:gdLst/>
              <a:ahLst/>
              <a:cxnLst/>
              <a:rect l="l" t="t" r="r" b="b"/>
              <a:pathLst>
                <a:path w="3246089" h="574004">
                  <a:moveTo>
                    <a:pt x="0" y="0"/>
                  </a:moveTo>
                  <a:lnTo>
                    <a:pt x="3246089" y="0"/>
                  </a:lnTo>
                  <a:lnTo>
                    <a:pt x="3246089" y="574004"/>
                  </a:lnTo>
                  <a:lnTo>
                    <a:pt x="0" y="574004"/>
                  </a:lnTo>
                  <a:close/>
                </a:path>
              </a:pathLst>
            </a:custGeom>
            <a:blipFill>
              <a:blip r:embed="rId6">
                <a:alphaModFix amt="0"/>
              </a:blip>
              <a:stretch>
                <a:fillRect t="-363455" r="-273635" b="-359970"/>
              </a:stretch>
            </a:blipFill>
            <a:ln cap="sq">
              <a:noFill/>
              <a:prstDash val="solid"/>
              <a:miter/>
            </a:ln>
          </p:spPr>
        </p:sp>
        <p:sp>
          <p:nvSpPr>
            <p:cNvPr id="25" name="TextBox 25"/>
            <p:cNvSpPr txBox="1"/>
            <p:nvPr/>
          </p:nvSpPr>
          <p:spPr>
            <a:xfrm>
              <a:off x="0" y="-19050"/>
              <a:ext cx="3246099" cy="593080"/>
            </a:xfrm>
            <a:prstGeom prst="rect">
              <a:avLst/>
            </a:prstGeom>
          </p:spPr>
          <p:txBody>
            <a:bodyPr lIns="50800" tIns="50800" rIns="50800" bIns="50800" rtlCol="0" anchor="t"/>
            <a:lstStyle/>
            <a:p>
              <a:pPr algn="l">
                <a:lnSpc>
                  <a:spcPts val="2160"/>
                </a:lnSpc>
              </a:pPr>
              <a:r>
                <a:rPr lang="en-US" sz="1800">
                  <a:solidFill>
                    <a:srgbClr val="000000"/>
                  </a:solidFill>
                  <a:latin typeface="나눔바른고딕" panose="020B0603020101020101" pitchFamily="50" charset="-127"/>
                  <a:ea typeface="나눔바른고딕" panose="020B0603020101020101" pitchFamily="50" charset="-127"/>
                  <a:cs typeface="Times New Roman"/>
                  <a:sym typeface="Times New Roman"/>
                </a:rPr>
                <a:t>Samsung Galaxy Buds4</a:t>
              </a:r>
            </a:p>
          </p:txBody>
        </p:sp>
      </p:grpSp>
      <p:grpSp>
        <p:nvGrpSpPr>
          <p:cNvPr id="26" name="Group 26"/>
          <p:cNvGrpSpPr/>
          <p:nvPr/>
        </p:nvGrpSpPr>
        <p:grpSpPr>
          <a:xfrm>
            <a:off x="14858853" y="8617204"/>
            <a:ext cx="2679715" cy="430523"/>
            <a:chOff x="0" y="0"/>
            <a:chExt cx="3572954" cy="574030"/>
          </a:xfrm>
        </p:grpSpPr>
        <p:sp>
          <p:nvSpPr>
            <p:cNvPr id="27" name="Freeform 27"/>
            <p:cNvSpPr/>
            <p:nvPr/>
          </p:nvSpPr>
          <p:spPr>
            <a:xfrm>
              <a:off x="0" y="0"/>
              <a:ext cx="3572943" cy="574004"/>
            </a:xfrm>
            <a:custGeom>
              <a:avLst/>
              <a:gdLst/>
              <a:ahLst/>
              <a:cxnLst/>
              <a:rect l="l" t="t" r="r" b="b"/>
              <a:pathLst>
                <a:path w="3572943" h="574004">
                  <a:moveTo>
                    <a:pt x="0" y="0"/>
                  </a:moveTo>
                  <a:lnTo>
                    <a:pt x="3572943" y="0"/>
                  </a:lnTo>
                  <a:lnTo>
                    <a:pt x="3572943" y="574004"/>
                  </a:lnTo>
                  <a:lnTo>
                    <a:pt x="0" y="574004"/>
                  </a:lnTo>
                  <a:close/>
                </a:path>
              </a:pathLst>
            </a:custGeom>
            <a:blipFill>
              <a:blip r:embed="rId6">
                <a:alphaModFix amt="0"/>
              </a:blip>
              <a:stretch>
                <a:fillRect t="-363455" r="-239455" b="-359970"/>
              </a:stretch>
            </a:blipFill>
            <a:ln cap="sq">
              <a:noFill/>
              <a:prstDash val="solid"/>
              <a:miter/>
            </a:ln>
          </p:spPr>
        </p:sp>
        <p:sp>
          <p:nvSpPr>
            <p:cNvPr id="28" name="TextBox 28"/>
            <p:cNvSpPr txBox="1"/>
            <p:nvPr/>
          </p:nvSpPr>
          <p:spPr>
            <a:xfrm>
              <a:off x="0" y="-19050"/>
              <a:ext cx="3572954" cy="593080"/>
            </a:xfrm>
            <a:prstGeom prst="rect">
              <a:avLst/>
            </a:prstGeom>
          </p:spPr>
          <p:txBody>
            <a:bodyPr lIns="50800" tIns="50800" rIns="50800" bIns="50800" rtlCol="0" anchor="t"/>
            <a:lstStyle/>
            <a:p>
              <a:pPr algn="l">
                <a:lnSpc>
                  <a:spcPts val="2160"/>
                </a:lnSpc>
              </a:pPr>
              <a:r>
                <a:rPr lang="en-US" sz="1800" dirty="0" err="1">
                  <a:solidFill>
                    <a:srgbClr val="000000"/>
                  </a:solidFill>
                  <a:latin typeface="나눔바른고딕" panose="020B0603020101020101" pitchFamily="50" charset="-127"/>
                  <a:ea typeface="나눔바른고딕" panose="020B0603020101020101" pitchFamily="50" charset="-127"/>
                  <a:cs typeface="Times New Roman"/>
                  <a:sym typeface="Times New Roman"/>
                </a:rPr>
                <a:t>VinID</a:t>
              </a:r>
              <a:r>
                <a:rPr lang="en-US" sz="18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 Vouchers (1M VND)</a:t>
              </a:r>
            </a:p>
          </p:txBody>
        </p:sp>
      </p:grpSp>
      <p:grpSp>
        <p:nvGrpSpPr>
          <p:cNvPr id="29" name="Group 29"/>
          <p:cNvGrpSpPr/>
          <p:nvPr/>
        </p:nvGrpSpPr>
        <p:grpSpPr>
          <a:xfrm>
            <a:off x="2403430" y="590960"/>
            <a:ext cx="2425673" cy="671874"/>
            <a:chOff x="0" y="0"/>
            <a:chExt cx="3234230" cy="895833"/>
          </a:xfrm>
        </p:grpSpPr>
        <p:sp>
          <p:nvSpPr>
            <p:cNvPr id="30" name="Freeform 30"/>
            <p:cNvSpPr/>
            <p:nvPr/>
          </p:nvSpPr>
          <p:spPr>
            <a:xfrm>
              <a:off x="0" y="0"/>
              <a:ext cx="3234230" cy="895858"/>
            </a:xfrm>
            <a:custGeom>
              <a:avLst/>
              <a:gdLst/>
              <a:ahLst/>
              <a:cxnLst/>
              <a:rect l="l" t="t" r="r" b="b"/>
              <a:pathLst>
                <a:path w="3234230" h="895858">
                  <a:moveTo>
                    <a:pt x="0" y="0"/>
                  </a:moveTo>
                  <a:lnTo>
                    <a:pt x="3234230" y="0"/>
                  </a:lnTo>
                  <a:lnTo>
                    <a:pt x="3234230" y="895858"/>
                  </a:lnTo>
                  <a:lnTo>
                    <a:pt x="0" y="895858"/>
                  </a:lnTo>
                  <a:close/>
                </a:path>
              </a:pathLst>
            </a:custGeom>
            <a:blipFill>
              <a:blip r:embed="rId6">
                <a:alphaModFix amt="0"/>
              </a:blip>
              <a:stretch>
                <a:fillRect t="-5523" r="21072" b="-5520"/>
              </a:stretch>
            </a:blipFill>
            <a:ln w="28575" cap="sq">
              <a:solidFill>
                <a:srgbClr val="FF0000"/>
              </a:solidFill>
              <a:prstDash val="solid"/>
              <a:miter/>
            </a:ln>
          </p:spPr>
        </p:sp>
      </p:grpSp>
      <p:sp>
        <p:nvSpPr>
          <p:cNvPr id="31" name="AutoShape 31"/>
          <p:cNvSpPr/>
          <p:nvPr/>
        </p:nvSpPr>
        <p:spPr>
          <a:xfrm>
            <a:off x="4829103" y="926897"/>
            <a:ext cx="8498469" cy="0"/>
          </a:xfrm>
          <a:prstGeom prst="line">
            <a:avLst/>
          </a:prstGeom>
          <a:ln w="19050" cap="rnd">
            <a:solidFill>
              <a:srgbClr val="FF0000"/>
            </a:solidFill>
            <a:prstDash val="solid"/>
            <a:headEnd type="none" w="sm" len="sm"/>
            <a:tailEnd type="none" w="sm" len="sm"/>
          </a:ln>
        </p:spPr>
      </p:sp>
      <p:grpSp>
        <p:nvGrpSpPr>
          <p:cNvPr id="32" name="Group 32"/>
          <p:cNvGrpSpPr/>
          <p:nvPr/>
        </p:nvGrpSpPr>
        <p:grpSpPr>
          <a:xfrm>
            <a:off x="13327572" y="711636"/>
            <a:ext cx="2167941" cy="430523"/>
            <a:chOff x="0" y="0"/>
            <a:chExt cx="2890588" cy="574030"/>
          </a:xfrm>
        </p:grpSpPr>
        <p:sp>
          <p:nvSpPr>
            <p:cNvPr id="33" name="Freeform 33"/>
            <p:cNvSpPr/>
            <p:nvPr/>
          </p:nvSpPr>
          <p:spPr>
            <a:xfrm>
              <a:off x="0" y="0"/>
              <a:ext cx="2890578" cy="574004"/>
            </a:xfrm>
            <a:custGeom>
              <a:avLst/>
              <a:gdLst/>
              <a:ahLst/>
              <a:cxnLst/>
              <a:rect l="l" t="t" r="r" b="b"/>
              <a:pathLst>
                <a:path w="2890578" h="574004">
                  <a:moveTo>
                    <a:pt x="0" y="0"/>
                  </a:moveTo>
                  <a:lnTo>
                    <a:pt x="2890578" y="0"/>
                  </a:lnTo>
                  <a:lnTo>
                    <a:pt x="2890578" y="574004"/>
                  </a:lnTo>
                  <a:lnTo>
                    <a:pt x="0" y="574004"/>
                  </a:lnTo>
                  <a:close/>
                </a:path>
              </a:pathLst>
            </a:custGeom>
            <a:blipFill>
              <a:blip r:embed="rId6">
                <a:alphaModFix amt="0"/>
              </a:blip>
              <a:stretch>
                <a:fillRect t="-363455" r="-319588" b="-359970"/>
              </a:stretch>
            </a:blipFill>
            <a:ln cap="sq">
              <a:noFill/>
              <a:prstDash val="solid"/>
              <a:miter/>
            </a:ln>
          </p:spPr>
        </p:sp>
        <p:sp>
          <p:nvSpPr>
            <p:cNvPr id="34" name="TextBox 34"/>
            <p:cNvSpPr txBox="1"/>
            <p:nvPr/>
          </p:nvSpPr>
          <p:spPr>
            <a:xfrm>
              <a:off x="0" y="-19050"/>
              <a:ext cx="2890588" cy="593080"/>
            </a:xfrm>
            <a:prstGeom prst="rect">
              <a:avLst/>
            </a:prstGeom>
          </p:spPr>
          <p:txBody>
            <a:bodyPr lIns="50800" tIns="50800" rIns="50800" bIns="50800" rtlCol="0" anchor="t"/>
            <a:lstStyle/>
            <a:p>
              <a:pPr algn="l">
                <a:lnSpc>
                  <a:spcPts val="2160"/>
                </a:lnSpc>
              </a:pPr>
              <a:r>
                <a:rPr lang="ko-KR" altLang="en-US" sz="1800" dirty="0" err="1"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럭키</a:t>
              </a: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드로우 </a:t>
              </a:r>
              <a:endParaRPr lang="en-US" sz="1800" dirty="0">
                <a:solidFill>
                  <a:srgbClr val="000000"/>
                </a:solidFill>
                <a:latin typeface="나눔바른고딕" panose="020B0603020101020101" pitchFamily="50" charset="-127"/>
                <a:ea typeface="나눔바른고딕" panose="020B0603020101020101" pitchFamily="50" charset="-127"/>
                <a:cs typeface="Times New Roman"/>
                <a:sym typeface="Times New Roman"/>
              </a:endParaRPr>
            </a:p>
          </p:txBody>
        </p:sp>
      </p:grpSp>
      <p:grpSp>
        <p:nvGrpSpPr>
          <p:cNvPr id="35" name="Group 35"/>
          <p:cNvGrpSpPr/>
          <p:nvPr/>
        </p:nvGrpSpPr>
        <p:grpSpPr>
          <a:xfrm>
            <a:off x="1145417" y="1262835"/>
            <a:ext cx="4937158" cy="671874"/>
            <a:chOff x="0" y="0"/>
            <a:chExt cx="6582878" cy="895833"/>
          </a:xfrm>
        </p:grpSpPr>
        <p:sp>
          <p:nvSpPr>
            <p:cNvPr id="36" name="Freeform 36"/>
            <p:cNvSpPr/>
            <p:nvPr/>
          </p:nvSpPr>
          <p:spPr>
            <a:xfrm>
              <a:off x="0" y="0"/>
              <a:ext cx="6582877" cy="895858"/>
            </a:xfrm>
            <a:custGeom>
              <a:avLst/>
              <a:gdLst/>
              <a:ahLst/>
              <a:cxnLst/>
              <a:rect l="l" t="t" r="r" b="b"/>
              <a:pathLst>
                <a:path w="6582877" h="895858">
                  <a:moveTo>
                    <a:pt x="0" y="0"/>
                  </a:moveTo>
                  <a:lnTo>
                    <a:pt x="6582877" y="0"/>
                  </a:lnTo>
                  <a:lnTo>
                    <a:pt x="6582877" y="895858"/>
                  </a:lnTo>
                  <a:lnTo>
                    <a:pt x="0" y="895858"/>
                  </a:lnTo>
                  <a:close/>
                </a:path>
              </a:pathLst>
            </a:custGeom>
            <a:blipFill>
              <a:blip r:embed="rId6">
                <a:alphaModFix amt="0"/>
              </a:blip>
              <a:stretch>
                <a:fillRect t="-5523" r="61222" b="-5520"/>
              </a:stretch>
            </a:blipFill>
            <a:ln w="28575" cap="sq">
              <a:solidFill>
                <a:srgbClr val="FF0000"/>
              </a:solidFill>
              <a:prstDash val="solid"/>
              <a:miter/>
            </a:ln>
          </p:spPr>
        </p:sp>
      </p:grpSp>
      <p:grpSp>
        <p:nvGrpSpPr>
          <p:cNvPr id="37" name="Group 37"/>
          <p:cNvGrpSpPr/>
          <p:nvPr/>
        </p:nvGrpSpPr>
        <p:grpSpPr>
          <a:xfrm>
            <a:off x="1147688" y="2016036"/>
            <a:ext cx="4934887" cy="2550427"/>
            <a:chOff x="0" y="0"/>
            <a:chExt cx="6805495" cy="3517187"/>
          </a:xfrm>
        </p:grpSpPr>
        <p:sp>
          <p:nvSpPr>
            <p:cNvPr id="38" name="Freeform 38"/>
            <p:cNvSpPr/>
            <p:nvPr/>
          </p:nvSpPr>
          <p:spPr>
            <a:xfrm>
              <a:off x="0" y="0"/>
              <a:ext cx="6805495" cy="3517212"/>
            </a:xfrm>
            <a:custGeom>
              <a:avLst/>
              <a:gdLst/>
              <a:ahLst/>
              <a:cxnLst/>
              <a:rect l="l" t="t" r="r" b="b"/>
              <a:pathLst>
                <a:path w="6805495" h="3517212">
                  <a:moveTo>
                    <a:pt x="0" y="0"/>
                  </a:moveTo>
                  <a:lnTo>
                    <a:pt x="6805495" y="0"/>
                  </a:lnTo>
                  <a:lnTo>
                    <a:pt x="6805495" y="3517212"/>
                  </a:lnTo>
                  <a:lnTo>
                    <a:pt x="0" y="3517212"/>
                  </a:lnTo>
                  <a:close/>
                </a:path>
              </a:pathLst>
            </a:custGeom>
            <a:blipFill>
              <a:blip r:embed="rId6">
                <a:alphaModFix amt="0"/>
              </a:blip>
              <a:stretch>
                <a:fillRect t="-1406" r="62490" b="73123"/>
              </a:stretch>
            </a:blipFill>
            <a:ln w="28575" cap="sq">
              <a:solidFill>
                <a:srgbClr val="FF0000"/>
              </a:solidFill>
              <a:prstDash val="solid"/>
              <a:miter/>
            </a:ln>
          </p:spPr>
        </p:sp>
      </p:grpSp>
      <p:sp>
        <p:nvSpPr>
          <p:cNvPr id="39" name="AutoShape 39"/>
          <p:cNvSpPr/>
          <p:nvPr/>
        </p:nvSpPr>
        <p:spPr>
          <a:xfrm flipH="1">
            <a:off x="6081752" y="3207142"/>
            <a:ext cx="7088153" cy="0"/>
          </a:xfrm>
          <a:prstGeom prst="line">
            <a:avLst/>
          </a:prstGeom>
          <a:ln w="19050" cap="rnd">
            <a:solidFill>
              <a:srgbClr val="FF0000"/>
            </a:solidFill>
            <a:prstDash val="solid"/>
            <a:headEnd type="none" w="sm" len="sm"/>
            <a:tailEnd type="none" w="sm" len="sm"/>
          </a:ln>
        </p:spPr>
      </p:sp>
      <p:grpSp>
        <p:nvGrpSpPr>
          <p:cNvPr id="40" name="Group 40"/>
          <p:cNvGrpSpPr/>
          <p:nvPr/>
        </p:nvGrpSpPr>
        <p:grpSpPr>
          <a:xfrm>
            <a:off x="13327572" y="1368504"/>
            <a:ext cx="3206209" cy="434524"/>
            <a:chOff x="0" y="0"/>
            <a:chExt cx="4274945" cy="579366"/>
          </a:xfrm>
        </p:grpSpPr>
        <p:sp>
          <p:nvSpPr>
            <p:cNvPr id="41" name="Freeform 41"/>
            <p:cNvSpPr/>
            <p:nvPr/>
          </p:nvSpPr>
          <p:spPr>
            <a:xfrm>
              <a:off x="0" y="0"/>
              <a:ext cx="4274932" cy="579339"/>
            </a:xfrm>
            <a:custGeom>
              <a:avLst/>
              <a:gdLst/>
              <a:ahLst/>
              <a:cxnLst/>
              <a:rect l="l" t="t" r="r" b="b"/>
              <a:pathLst>
                <a:path w="4274932" h="579339">
                  <a:moveTo>
                    <a:pt x="0" y="0"/>
                  </a:moveTo>
                  <a:lnTo>
                    <a:pt x="4274932" y="0"/>
                  </a:lnTo>
                  <a:lnTo>
                    <a:pt x="4274932" y="579339"/>
                  </a:lnTo>
                  <a:lnTo>
                    <a:pt x="0" y="579339"/>
                  </a:lnTo>
                  <a:close/>
                </a:path>
              </a:pathLst>
            </a:custGeom>
            <a:blipFill>
              <a:blip r:embed="rId6">
                <a:alphaModFix amt="0"/>
              </a:blip>
              <a:stretch>
                <a:fillRect t="-360108" r="-183713" b="-355734"/>
              </a:stretch>
            </a:blipFill>
            <a:ln cap="sq">
              <a:noFill/>
              <a:prstDash val="solid"/>
              <a:miter/>
            </a:ln>
          </p:spPr>
        </p:sp>
        <p:sp>
          <p:nvSpPr>
            <p:cNvPr id="42" name="TextBox 42"/>
            <p:cNvSpPr txBox="1"/>
            <p:nvPr/>
          </p:nvSpPr>
          <p:spPr>
            <a:xfrm>
              <a:off x="0" y="-19050"/>
              <a:ext cx="4274945" cy="598416"/>
            </a:xfrm>
            <a:prstGeom prst="rect">
              <a:avLst/>
            </a:prstGeom>
          </p:spPr>
          <p:txBody>
            <a:bodyPr lIns="50800" tIns="50800" rIns="50800" bIns="50800" rtlCol="0" anchor="t"/>
            <a:lstStyle/>
            <a:p>
              <a:pPr algn="l">
                <a:lnSpc>
                  <a:spcPts val="2160"/>
                </a:lnSpc>
              </a:pPr>
              <a:r>
                <a:rPr lang="ko-KR" altLang="en-US"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다양한 경품이 여러분을 기다립니다</a:t>
              </a:r>
              <a:r>
                <a:rPr lang="en-US" altLang="ko-KR" sz="18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endParaRPr lang="en-US" sz="1800" dirty="0">
                <a:solidFill>
                  <a:srgbClr val="000000"/>
                </a:solidFill>
                <a:latin typeface="나눔바른고딕" panose="020B0603020101020101" pitchFamily="50" charset="-127"/>
                <a:ea typeface="나눔바른고딕" panose="020B0603020101020101" pitchFamily="50" charset="-127"/>
                <a:cs typeface="Times New Roman"/>
                <a:sym typeface="Times New Roman"/>
              </a:endParaRPr>
            </a:p>
          </p:txBody>
        </p:sp>
      </p:grpSp>
      <p:sp>
        <p:nvSpPr>
          <p:cNvPr id="43" name="TextBox 43"/>
          <p:cNvSpPr txBox="1"/>
          <p:nvPr/>
        </p:nvSpPr>
        <p:spPr>
          <a:xfrm>
            <a:off x="6994556" y="4060860"/>
            <a:ext cx="3700033" cy="285750"/>
          </a:xfrm>
          <a:prstGeom prst="rect">
            <a:avLst/>
          </a:prstGeom>
        </p:spPr>
        <p:txBody>
          <a:bodyPr lIns="0" tIns="0" rIns="0" bIns="0" rtlCol="0" anchor="t">
            <a:spAutoFit/>
          </a:bodyPr>
          <a:lstStyle/>
          <a:p>
            <a:pPr algn="l">
              <a:lnSpc>
                <a:spcPts val="2160"/>
              </a:lnSpc>
            </a:pPr>
            <a:r>
              <a:rPr lang="en-US" sz="1800">
                <a:solidFill>
                  <a:srgbClr val="FF0000"/>
                </a:solidFill>
                <a:latin typeface="나눔바른고딕" panose="020B0603020101020101" pitchFamily="50" charset="-127"/>
                <a:ea typeface="나눔바른고딕" panose="020B0603020101020101" pitchFamily="50" charset="-127"/>
                <a:cs typeface="Arimo"/>
                <a:sym typeface="Arimo"/>
              </a:rPr>
              <a:t>For example, 2025:</a:t>
            </a:r>
          </a:p>
        </p:txBody>
      </p:sp>
      <p:sp>
        <p:nvSpPr>
          <p:cNvPr id="44" name="TextBox 44"/>
          <p:cNvSpPr txBox="1"/>
          <p:nvPr/>
        </p:nvSpPr>
        <p:spPr>
          <a:xfrm>
            <a:off x="16488485" y="368276"/>
            <a:ext cx="1541631" cy="410369"/>
          </a:xfrm>
          <a:prstGeom prst="rect">
            <a:avLst/>
          </a:prstGeom>
        </p:spPr>
        <p:txBody>
          <a:bodyPr lIns="0" tIns="0" rIns="0" bIns="0" rtlCol="0" anchor="t">
            <a:spAutoFit/>
          </a:bodyPr>
          <a:lstStyle/>
          <a:p>
            <a:pPr algn="l">
              <a:lnSpc>
                <a:spcPts val="3240"/>
              </a:lnSpc>
            </a:pPr>
            <a:r>
              <a:rPr lang="ko-KR" altLang="en-US" sz="2700" b="1" dirty="0" smtClean="0">
                <a:solidFill>
                  <a:srgbClr val="000000"/>
                </a:solidFill>
                <a:latin typeface="나눔바른고딕" panose="020B0603020101020101" pitchFamily="50" charset="-127"/>
                <a:ea typeface="나눔바른고딕" panose="020B0603020101020101" pitchFamily="50" charset="-127"/>
                <a:cs typeface="Aptos Bold"/>
                <a:sym typeface="Aptos Bold"/>
              </a:rPr>
              <a:t>국문</a:t>
            </a:r>
            <a:endParaRPr lang="en-US" sz="2700" b="1" dirty="0">
              <a:solidFill>
                <a:srgbClr val="000000"/>
              </a:solidFill>
              <a:latin typeface="나눔바른고딕" panose="020B0603020101020101" pitchFamily="50" charset="-127"/>
              <a:ea typeface="나눔바른고딕" panose="020B0603020101020101" pitchFamily="50" charset="-127"/>
              <a:cs typeface="Aptos Bold"/>
              <a:sym typeface="Aptos Bold"/>
            </a:endParaRPr>
          </a:p>
        </p:txBody>
      </p:sp>
    </p:spTree>
    <p:extLst>
      <p:ext uri="{BB962C8B-B14F-4D97-AF65-F5344CB8AC3E}">
        <p14:creationId xmlns:p14="http://schemas.microsoft.com/office/powerpoint/2010/main" val="2013264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4774" y="263604"/>
            <a:ext cx="6032630" cy="4727496"/>
            <a:chOff x="0" y="0"/>
            <a:chExt cx="8043507" cy="6303328"/>
          </a:xfrm>
        </p:grpSpPr>
        <p:sp>
          <p:nvSpPr>
            <p:cNvPr id="3" name="Freeform 3"/>
            <p:cNvSpPr/>
            <p:nvPr/>
          </p:nvSpPr>
          <p:spPr>
            <a:xfrm>
              <a:off x="0" y="0"/>
              <a:ext cx="8043545" cy="6303264"/>
            </a:xfrm>
            <a:custGeom>
              <a:avLst/>
              <a:gdLst/>
              <a:ahLst/>
              <a:cxnLst/>
              <a:rect l="l" t="t" r="r" b="b"/>
              <a:pathLst>
                <a:path w="8043545" h="6303264">
                  <a:moveTo>
                    <a:pt x="0" y="0"/>
                  </a:moveTo>
                  <a:lnTo>
                    <a:pt x="8043545" y="0"/>
                  </a:lnTo>
                  <a:lnTo>
                    <a:pt x="8043545" y="6303264"/>
                  </a:lnTo>
                  <a:lnTo>
                    <a:pt x="0" y="6303264"/>
                  </a:lnTo>
                  <a:lnTo>
                    <a:pt x="0" y="0"/>
                  </a:lnTo>
                  <a:close/>
                </a:path>
              </a:pathLst>
            </a:custGeom>
            <a:blipFill>
              <a:blip r:embed="rId2"/>
              <a:stretch>
                <a:fillRect b="-1"/>
              </a:stretch>
            </a:blipFill>
          </p:spPr>
        </p:sp>
      </p:grpSp>
      <p:grpSp>
        <p:nvGrpSpPr>
          <p:cNvPr id="4" name="Group 4"/>
          <p:cNvGrpSpPr/>
          <p:nvPr/>
        </p:nvGrpSpPr>
        <p:grpSpPr>
          <a:xfrm>
            <a:off x="554774" y="5143500"/>
            <a:ext cx="6063682" cy="4727496"/>
            <a:chOff x="0" y="0"/>
            <a:chExt cx="8084909" cy="6303328"/>
          </a:xfrm>
        </p:grpSpPr>
        <p:sp>
          <p:nvSpPr>
            <p:cNvPr id="5" name="Freeform 5"/>
            <p:cNvSpPr/>
            <p:nvPr/>
          </p:nvSpPr>
          <p:spPr>
            <a:xfrm>
              <a:off x="0" y="0"/>
              <a:ext cx="8084947" cy="6303391"/>
            </a:xfrm>
            <a:custGeom>
              <a:avLst/>
              <a:gdLst/>
              <a:ahLst/>
              <a:cxnLst/>
              <a:rect l="l" t="t" r="r" b="b"/>
              <a:pathLst>
                <a:path w="8084947" h="6303391">
                  <a:moveTo>
                    <a:pt x="0" y="0"/>
                  </a:moveTo>
                  <a:lnTo>
                    <a:pt x="8084947" y="0"/>
                  </a:lnTo>
                  <a:lnTo>
                    <a:pt x="8084947" y="6303391"/>
                  </a:lnTo>
                  <a:lnTo>
                    <a:pt x="0" y="6303391"/>
                  </a:lnTo>
                  <a:lnTo>
                    <a:pt x="0" y="0"/>
                  </a:lnTo>
                  <a:close/>
                </a:path>
              </a:pathLst>
            </a:custGeom>
            <a:blipFill>
              <a:blip r:embed="rId3"/>
              <a:stretch>
                <a:fillRect b="1"/>
              </a:stretch>
            </a:blipFill>
          </p:spPr>
        </p:sp>
      </p:grpSp>
      <p:grpSp>
        <p:nvGrpSpPr>
          <p:cNvPr id="6" name="Group 6"/>
          <p:cNvGrpSpPr/>
          <p:nvPr/>
        </p:nvGrpSpPr>
        <p:grpSpPr>
          <a:xfrm>
            <a:off x="8481870" y="8117563"/>
            <a:ext cx="9548246" cy="1450041"/>
            <a:chOff x="0" y="-19049"/>
            <a:chExt cx="12730994" cy="1933389"/>
          </a:xfrm>
        </p:grpSpPr>
        <p:sp>
          <p:nvSpPr>
            <p:cNvPr id="7" name="Freeform 7"/>
            <p:cNvSpPr/>
            <p:nvPr/>
          </p:nvSpPr>
          <p:spPr>
            <a:xfrm>
              <a:off x="0" y="0"/>
              <a:ext cx="12113747" cy="1914340"/>
            </a:xfrm>
            <a:custGeom>
              <a:avLst/>
              <a:gdLst/>
              <a:ahLst/>
              <a:cxnLst/>
              <a:rect l="l" t="t" r="r" b="b"/>
              <a:pathLst>
                <a:path w="12113747" h="1914340">
                  <a:moveTo>
                    <a:pt x="0" y="0"/>
                  </a:moveTo>
                  <a:lnTo>
                    <a:pt x="12113747" y="0"/>
                  </a:lnTo>
                  <a:lnTo>
                    <a:pt x="12113747" y="1914340"/>
                  </a:lnTo>
                  <a:lnTo>
                    <a:pt x="0" y="1914340"/>
                  </a:lnTo>
                  <a:close/>
                </a:path>
              </a:pathLst>
            </a:custGeom>
            <a:blipFill>
              <a:blip r:embed="rId4">
                <a:alphaModFix amt="0"/>
              </a:blip>
              <a:stretch>
                <a:fillRect t="-86781" r="7450" b="-41444"/>
              </a:stretch>
            </a:blipFill>
            <a:ln cap="sq">
              <a:noFill/>
              <a:prstDash val="solid"/>
              <a:miter/>
            </a:ln>
          </p:spPr>
        </p:sp>
        <p:sp>
          <p:nvSpPr>
            <p:cNvPr id="8" name="TextBox 8"/>
            <p:cNvSpPr txBox="1"/>
            <p:nvPr/>
          </p:nvSpPr>
          <p:spPr>
            <a:xfrm>
              <a:off x="0" y="-19049"/>
              <a:ext cx="12730994" cy="1933351"/>
            </a:xfrm>
            <a:prstGeom prst="rect">
              <a:avLst/>
            </a:prstGeom>
          </p:spPr>
          <p:txBody>
            <a:bodyPr lIns="50800" tIns="50800" rIns="50800" bIns="50800" rtlCol="0" anchor="t"/>
            <a:lstStyle/>
            <a:p>
              <a:pPr>
                <a:lnSpc>
                  <a:spcPts val="2520"/>
                </a:lnSpc>
              </a:pPr>
              <a:r>
                <a:rPr lang="ko-KR" altLang="en-US" sz="2100" dirty="0" err="1">
                  <a:solidFill>
                    <a:srgbClr val="000000"/>
                  </a:solidFill>
                  <a:latin typeface="나눔바른고딕" panose="020B0603020101020101" pitchFamily="50" charset="-127"/>
                  <a:ea typeface="나눔바른고딕" panose="020B0603020101020101" pitchFamily="50" charset="-127"/>
                  <a:cs typeface="Times New Roman"/>
                  <a:sym typeface="Times New Roman"/>
                </a:rPr>
                <a:t>인터컨티넨탈</a:t>
              </a:r>
              <a:r>
                <a:rPr lang="ko-KR" altLang="en-US" sz="21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 하노이 랜드마크</a:t>
              </a:r>
              <a:r>
                <a:rPr lang="en-US" altLang="ko-KR" sz="21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72(</a:t>
              </a:r>
              <a:r>
                <a:rPr lang="en-US" sz="21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InterContinental Hanoi Landmark72</a:t>
              </a:r>
              <a:r>
                <a:rPr 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a:t>
              </a:r>
            </a:p>
            <a:p>
              <a:pPr>
                <a:lnSpc>
                  <a:spcPts val="2520"/>
                </a:lnSpc>
              </a:pPr>
              <a:r>
                <a:rPr lang="en-US" altLang="ko-KR"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r>
                <a:rPr lang="ko-KR" alt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주소 </a:t>
              </a:r>
              <a:r>
                <a:rPr lang="en-US" altLang="ko-KR"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r>
                <a:rPr lang="en-US" altLang="ko-KR" b="1" dirty="0"/>
                <a:t> </a:t>
              </a:r>
              <a:r>
                <a:rPr lang="en-US" sz="2100" dirty="0" err="1"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Keangnam</a:t>
              </a:r>
              <a:r>
                <a:rPr 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r>
                <a:rPr lang="en-US" sz="21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Hanoi Landmark Tower Plot E6, </a:t>
              </a:r>
              <a:endParaRPr 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endParaRPr>
            </a:p>
            <a:p>
              <a:pPr>
                <a:lnSpc>
                  <a:spcPts val="2520"/>
                </a:lnSpc>
              </a:pPr>
              <a:r>
                <a:rPr lang="en-US" sz="21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r>
                <a:rPr 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r>
                <a:rPr lang="en-US" sz="2100" dirty="0" err="1"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Cau</a:t>
              </a:r>
              <a:r>
                <a:rPr lang="en-US" sz="21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r>
                <a:rPr lang="en-US" sz="2100" dirty="0" err="1">
                  <a:solidFill>
                    <a:srgbClr val="000000"/>
                  </a:solidFill>
                  <a:latin typeface="나눔바른고딕" panose="020B0603020101020101" pitchFamily="50" charset="-127"/>
                  <a:ea typeface="나눔바른고딕" panose="020B0603020101020101" pitchFamily="50" charset="-127"/>
                  <a:cs typeface="Times New Roman"/>
                  <a:sym typeface="Times New Roman"/>
                </a:rPr>
                <a:t>Giay</a:t>
              </a:r>
              <a:r>
                <a:rPr lang="en-US" sz="21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 New Urban Area, Yen </a:t>
              </a:r>
              <a:r>
                <a:rPr lang="en-US" sz="2100" dirty="0" err="1">
                  <a:solidFill>
                    <a:srgbClr val="000000"/>
                  </a:solidFill>
                  <a:latin typeface="나눔바른고딕" panose="020B0603020101020101" pitchFamily="50" charset="-127"/>
                  <a:ea typeface="나눔바른고딕" panose="020B0603020101020101" pitchFamily="50" charset="-127"/>
                  <a:cs typeface="Times New Roman"/>
                  <a:sym typeface="Times New Roman"/>
                </a:rPr>
                <a:t>Hoa</a:t>
              </a:r>
              <a:r>
                <a:rPr lang="en-US" sz="21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 Ward, </a:t>
              </a:r>
              <a:r>
                <a:rPr lang="en-US" sz="2100" dirty="0" err="1">
                  <a:solidFill>
                    <a:srgbClr val="000000"/>
                  </a:solidFill>
                  <a:latin typeface="나눔바른고딕" panose="020B0603020101020101" pitchFamily="50" charset="-127"/>
                  <a:ea typeface="나눔바른고딕" panose="020B0603020101020101" pitchFamily="50" charset="-127"/>
                  <a:cs typeface="Times New Roman"/>
                  <a:sym typeface="Times New Roman"/>
                </a:rPr>
                <a:t>Yên</a:t>
              </a:r>
              <a:r>
                <a:rPr lang="en-US" sz="21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r>
                <a:rPr lang="en-US" sz="2100" dirty="0" err="1">
                  <a:solidFill>
                    <a:srgbClr val="000000"/>
                  </a:solidFill>
                  <a:latin typeface="나눔바른고딕" panose="020B0603020101020101" pitchFamily="50" charset="-127"/>
                  <a:ea typeface="나눔바른고딕" panose="020B0603020101020101" pitchFamily="50" charset="-127"/>
                  <a:cs typeface="Times New Roman"/>
                  <a:sym typeface="Times New Roman"/>
                </a:rPr>
                <a:t>Hòa</a:t>
              </a:r>
              <a:r>
                <a:rPr lang="en-US" sz="21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r>
                <a:rPr lang="en-US" sz="2100" dirty="0" err="1">
                  <a:solidFill>
                    <a:srgbClr val="000000"/>
                  </a:solidFill>
                  <a:latin typeface="나눔바른고딕" panose="020B0603020101020101" pitchFamily="50" charset="-127"/>
                  <a:ea typeface="나눔바른고딕" panose="020B0603020101020101" pitchFamily="50" charset="-127"/>
                  <a:cs typeface="Times New Roman"/>
                  <a:sym typeface="Times New Roman"/>
                </a:rPr>
                <a:t>Hà</a:t>
              </a:r>
              <a:r>
                <a:rPr lang="en-US" sz="21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 </a:t>
              </a:r>
              <a:r>
                <a:rPr lang="en-US" sz="2100" dirty="0" err="1">
                  <a:solidFill>
                    <a:srgbClr val="000000"/>
                  </a:solidFill>
                  <a:latin typeface="나눔바른고딕" panose="020B0603020101020101" pitchFamily="50" charset="-127"/>
                  <a:ea typeface="나눔바른고딕" panose="020B0603020101020101" pitchFamily="50" charset="-127"/>
                  <a:cs typeface="Times New Roman"/>
                  <a:sym typeface="Times New Roman"/>
                </a:rPr>
                <a:t>Nội</a:t>
              </a:r>
              <a:r>
                <a:rPr lang="en-US" sz="2100" dirty="0">
                  <a:solidFill>
                    <a:srgbClr val="000000"/>
                  </a:solidFill>
                  <a:latin typeface="나눔바른고딕" panose="020B0603020101020101" pitchFamily="50" charset="-127"/>
                  <a:ea typeface="나눔바른고딕" panose="020B0603020101020101" pitchFamily="50" charset="-127"/>
                  <a:cs typeface="Times New Roman"/>
                  <a:sym typeface="Times New Roman"/>
                </a:rPr>
                <a:t>, Vietnam</a:t>
              </a:r>
            </a:p>
          </p:txBody>
        </p:sp>
      </p:grpSp>
      <p:grpSp>
        <p:nvGrpSpPr>
          <p:cNvPr id="9" name="Group 9"/>
          <p:cNvGrpSpPr/>
          <p:nvPr/>
        </p:nvGrpSpPr>
        <p:grpSpPr>
          <a:xfrm>
            <a:off x="1161364" y="5463950"/>
            <a:ext cx="4812849" cy="649434"/>
            <a:chOff x="0" y="0"/>
            <a:chExt cx="6417132" cy="865911"/>
          </a:xfrm>
        </p:grpSpPr>
        <p:sp>
          <p:nvSpPr>
            <p:cNvPr id="10" name="Freeform 10"/>
            <p:cNvSpPr/>
            <p:nvPr/>
          </p:nvSpPr>
          <p:spPr>
            <a:xfrm>
              <a:off x="0" y="0"/>
              <a:ext cx="6417183" cy="865886"/>
            </a:xfrm>
            <a:custGeom>
              <a:avLst/>
              <a:gdLst/>
              <a:ahLst/>
              <a:cxnLst/>
              <a:rect l="l" t="t" r="r" b="b"/>
              <a:pathLst>
                <a:path w="6417183" h="865886">
                  <a:moveTo>
                    <a:pt x="0" y="0"/>
                  </a:moveTo>
                  <a:lnTo>
                    <a:pt x="6417183" y="0"/>
                  </a:lnTo>
                  <a:lnTo>
                    <a:pt x="6417183" y="865886"/>
                  </a:lnTo>
                  <a:lnTo>
                    <a:pt x="0" y="865886"/>
                  </a:lnTo>
                  <a:close/>
                </a:path>
              </a:pathLst>
            </a:custGeom>
            <a:blipFill>
              <a:blip r:embed="rId4">
                <a:alphaModFix amt="0"/>
              </a:blip>
              <a:stretch>
                <a:fillRect t="-94403" b="-94406"/>
              </a:stretch>
            </a:blipFill>
            <a:ln w="28575" cap="sq">
              <a:solidFill>
                <a:srgbClr val="FF0000"/>
              </a:solidFill>
              <a:prstDash val="solid"/>
              <a:miter/>
            </a:ln>
          </p:spPr>
        </p:sp>
      </p:grpSp>
      <p:grpSp>
        <p:nvGrpSpPr>
          <p:cNvPr id="11" name="Group 11"/>
          <p:cNvGrpSpPr/>
          <p:nvPr/>
        </p:nvGrpSpPr>
        <p:grpSpPr>
          <a:xfrm>
            <a:off x="8481870" y="1228137"/>
            <a:ext cx="1508103" cy="617209"/>
            <a:chOff x="0" y="0"/>
            <a:chExt cx="2010804" cy="822945"/>
          </a:xfrm>
        </p:grpSpPr>
        <p:sp>
          <p:nvSpPr>
            <p:cNvPr id="12" name="Freeform 12"/>
            <p:cNvSpPr/>
            <p:nvPr/>
          </p:nvSpPr>
          <p:spPr>
            <a:xfrm>
              <a:off x="0" y="0"/>
              <a:ext cx="2010791" cy="822903"/>
            </a:xfrm>
            <a:custGeom>
              <a:avLst/>
              <a:gdLst/>
              <a:ahLst/>
              <a:cxnLst/>
              <a:rect l="l" t="t" r="r" b="b"/>
              <a:pathLst>
                <a:path w="2010791" h="822903">
                  <a:moveTo>
                    <a:pt x="0" y="0"/>
                  </a:moveTo>
                  <a:lnTo>
                    <a:pt x="2010791" y="0"/>
                  </a:lnTo>
                  <a:lnTo>
                    <a:pt x="2010791" y="822903"/>
                  </a:lnTo>
                  <a:lnTo>
                    <a:pt x="0" y="822903"/>
                  </a:lnTo>
                  <a:close/>
                </a:path>
              </a:pathLst>
            </a:custGeom>
            <a:blipFill>
              <a:blip r:embed="rId4">
                <a:alphaModFix amt="0"/>
              </a:blip>
              <a:stretch>
                <a:fillRect t="-2730" b="7505"/>
              </a:stretch>
            </a:blipFill>
            <a:ln cap="sq">
              <a:noFill/>
              <a:prstDash val="solid"/>
              <a:miter/>
            </a:ln>
          </p:spPr>
        </p:sp>
        <p:sp>
          <p:nvSpPr>
            <p:cNvPr id="13" name="TextBox 13"/>
            <p:cNvSpPr txBox="1"/>
            <p:nvPr/>
          </p:nvSpPr>
          <p:spPr>
            <a:xfrm>
              <a:off x="0" y="-19050"/>
              <a:ext cx="2010804" cy="841995"/>
            </a:xfrm>
            <a:prstGeom prst="rect">
              <a:avLst/>
            </a:prstGeom>
          </p:spPr>
          <p:txBody>
            <a:bodyPr lIns="50800" tIns="50800" rIns="50800" bIns="50800" rtlCol="0" anchor="t"/>
            <a:lstStyle/>
            <a:p>
              <a:pPr algn="l">
                <a:lnSpc>
                  <a:spcPts val="3240"/>
                </a:lnSpc>
              </a:pPr>
              <a:r>
                <a:rPr lang="ko-KR" altLang="en-US" sz="2700" dirty="0" smtClean="0">
                  <a:solidFill>
                    <a:srgbClr val="000000"/>
                  </a:solidFill>
                  <a:latin typeface="나눔바른고딕" panose="020B0603020101020101" pitchFamily="50" charset="-127"/>
                  <a:ea typeface="나눔바른고딕" panose="020B0603020101020101" pitchFamily="50" charset="-127"/>
                  <a:cs typeface="Times New Roman"/>
                  <a:sym typeface="Times New Roman"/>
                </a:rPr>
                <a:t>오시는 길</a:t>
              </a:r>
              <a:endParaRPr lang="en-US" sz="2700" dirty="0">
                <a:solidFill>
                  <a:srgbClr val="000000"/>
                </a:solidFill>
                <a:latin typeface="나눔바른고딕" panose="020B0603020101020101" pitchFamily="50" charset="-127"/>
                <a:ea typeface="나눔바른고딕" panose="020B0603020101020101" pitchFamily="50" charset="-127"/>
                <a:cs typeface="Times New Roman"/>
                <a:sym typeface="Times New Roman"/>
              </a:endParaRPr>
            </a:p>
          </p:txBody>
        </p:sp>
      </p:grpSp>
      <p:sp>
        <p:nvSpPr>
          <p:cNvPr id="14" name="AutoShape 14"/>
          <p:cNvSpPr/>
          <p:nvPr/>
        </p:nvSpPr>
        <p:spPr>
          <a:xfrm flipV="1">
            <a:off x="5974213" y="1536741"/>
            <a:ext cx="2507656" cy="4251925"/>
          </a:xfrm>
          <a:prstGeom prst="line">
            <a:avLst/>
          </a:prstGeom>
          <a:ln w="19050" cap="rnd">
            <a:solidFill>
              <a:srgbClr val="FF0000"/>
            </a:solidFill>
            <a:prstDash val="solid"/>
            <a:headEnd type="none" w="sm" len="sm"/>
            <a:tailEnd type="none" w="sm" len="sm"/>
          </a:ln>
        </p:spPr>
      </p:sp>
      <p:grpSp>
        <p:nvGrpSpPr>
          <p:cNvPr id="15" name="Group 15"/>
          <p:cNvGrpSpPr/>
          <p:nvPr/>
        </p:nvGrpSpPr>
        <p:grpSpPr>
          <a:xfrm>
            <a:off x="1161364" y="6208614"/>
            <a:ext cx="4812849" cy="2277837"/>
            <a:chOff x="0" y="0"/>
            <a:chExt cx="6417132" cy="3037116"/>
          </a:xfrm>
        </p:grpSpPr>
        <p:sp>
          <p:nvSpPr>
            <p:cNvPr id="16" name="Freeform 16"/>
            <p:cNvSpPr/>
            <p:nvPr/>
          </p:nvSpPr>
          <p:spPr>
            <a:xfrm>
              <a:off x="0" y="0"/>
              <a:ext cx="6417183" cy="3037078"/>
            </a:xfrm>
            <a:custGeom>
              <a:avLst/>
              <a:gdLst/>
              <a:ahLst/>
              <a:cxnLst/>
              <a:rect l="l" t="t" r="r" b="b"/>
              <a:pathLst>
                <a:path w="6417183" h="3037078">
                  <a:moveTo>
                    <a:pt x="0" y="0"/>
                  </a:moveTo>
                  <a:lnTo>
                    <a:pt x="6417183" y="0"/>
                  </a:lnTo>
                  <a:lnTo>
                    <a:pt x="6417183" y="3037078"/>
                  </a:lnTo>
                  <a:lnTo>
                    <a:pt x="0" y="3037078"/>
                  </a:lnTo>
                  <a:close/>
                </a:path>
              </a:pathLst>
            </a:custGeom>
            <a:blipFill>
              <a:blip r:embed="rId4">
                <a:alphaModFix amt="0"/>
              </a:blip>
              <a:stretch>
                <a:fillRect l="-10723" r="-10722" b="-1"/>
              </a:stretch>
            </a:blipFill>
            <a:ln w="28575" cap="sq">
              <a:solidFill>
                <a:srgbClr val="FF0000"/>
              </a:solidFill>
              <a:prstDash val="solid"/>
              <a:miter/>
            </a:ln>
          </p:spPr>
        </p:sp>
      </p:grpSp>
      <p:grpSp>
        <p:nvGrpSpPr>
          <p:cNvPr id="17" name="Group 17"/>
          <p:cNvGrpSpPr/>
          <p:nvPr/>
        </p:nvGrpSpPr>
        <p:grpSpPr>
          <a:xfrm>
            <a:off x="1164665" y="8581701"/>
            <a:ext cx="4812849" cy="995401"/>
            <a:chOff x="0" y="0"/>
            <a:chExt cx="6417132" cy="1327201"/>
          </a:xfrm>
        </p:grpSpPr>
        <p:sp>
          <p:nvSpPr>
            <p:cNvPr id="18" name="Freeform 18"/>
            <p:cNvSpPr/>
            <p:nvPr/>
          </p:nvSpPr>
          <p:spPr>
            <a:xfrm>
              <a:off x="0" y="0"/>
              <a:ext cx="6417183" cy="1327150"/>
            </a:xfrm>
            <a:custGeom>
              <a:avLst/>
              <a:gdLst/>
              <a:ahLst/>
              <a:cxnLst/>
              <a:rect l="l" t="t" r="r" b="b"/>
              <a:pathLst>
                <a:path w="6417183" h="1327150">
                  <a:moveTo>
                    <a:pt x="0" y="0"/>
                  </a:moveTo>
                  <a:lnTo>
                    <a:pt x="6417183" y="0"/>
                  </a:lnTo>
                  <a:lnTo>
                    <a:pt x="6417183" y="1327150"/>
                  </a:lnTo>
                  <a:lnTo>
                    <a:pt x="0" y="1327150"/>
                  </a:lnTo>
                  <a:close/>
                </a:path>
              </a:pathLst>
            </a:custGeom>
            <a:blipFill>
              <a:blip r:embed="rId4">
                <a:alphaModFix amt="0"/>
              </a:blip>
              <a:stretch>
                <a:fillRect t="-44213" b="-44217"/>
              </a:stretch>
            </a:blipFill>
            <a:ln w="28575" cap="sq">
              <a:solidFill>
                <a:srgbClr val="FF0000"/>
              </a:solidFill>
              <a:prstDash val="solid"/>
              <a:miter/>
            </a:ln>
          </p:spPr>
        </p:sp>
      </p:grpSp>
      <p:sp>
        <p:nvSpPr>
          <p:cNvPr id="19" name="AutoShape 19"/>
          <p:cNvSpPr/>
          <p:nvPr/>
        </p:nvSpPr>
        <p:spPr>
          <a:xfrm flipH="1">
            <a:off x="5977514" y="8849714"/>
            <a:ext cx="2504356" cy="229688"/>
          </a:xfrm>
          <a:prstGeom prst="line">
            <a:avLst/>
          </a:prstGeom>
          <a:ln w="19050" cap="rnd">
            <a:solidFill>
              <a:srgbClr val="FF0000"/>
            </a:solidFill>
            <a:prstDash val="solid"/>
            <a:headEnd type="none" w="sm" len="sm"/>
            <a:tailEnd type="none" w="sm" len="sm"/>
          </a:ln>
        </p:spPr>
      </p:sp>
      <p:grpSp>
        <p:nvGrpSpPr>
          <p:cNvPr id="20" name="Group 20"/>
          <p:cNvGrpSpPr/>
          <p:nvPr/>
        </p:nvGrpSpPr>
        <p:grpSpPr>
          <a:xfrm>
            <a:off x="8481870" y="2226821"/>
            <a:ext cx="9085351" cy="5514029"/>
            <a:chOff x="0" y="0"/>
            <a:chExt cx="14880120" cy="9030957"/>
          </a:xfrm>
        </p:grpSpPr>
        <p:sp>
          <p:nvSpPr>
            <p:cNvPr id="21" name="Freeform 21"/>
            <p:cNvSpPr/>
            <p:nvPr/>
          </p:nvSpPr>
          <p:spPr>
            <a:xfrm>
              <a:off x="0" y="0"/>
              <a:ext cx="14880082" cy="9030970"/>
            </a:xfrm>
            <a:custGeom>
              <a:avLst/>
              <a:gdLst/>
              <a:ahLst/>
              <a:cxnLst/>
              <a:rect l="l" t="t" r="r" b="b"/>
              <a:pathLst>
                <a:path w="14880082" h="9030970">
                  <a:moveTo>
                    <a:pt x="0" y="0"/>
                  </a:moveTo>
                  <a:lnTo>
                    <a:pt x="14880082" y="0"/>
                  </a:lnTo>
                  <a:lnTo>
                    <a:pt x="14880082" y="9030970"/>
                  </a:lnTo>
                  <a:lnTo>
                    <a:pt x="0" y="9030970"/>
                  </a:lnTo>
                  <a:lnTo>
                    <a:pt x="0" y="0"/>
                  </a:lnTo>
                  <a:close/>
                </a:path>
              </a:pathLst>
            </a:custGeom>
            <a:blipFill>
              <a:blip r:embed="rId5"/>
              <a:stretch>
                <a:fillRect l="-12247" r="-12247"/>
              </a:stretch>
            </a:blipFill>
          </p:spPr>
        </p:sp>
      </p:grpSp>
      <p:sp>
        <p:nvSpPr>
          <p:cNvPr id="22" name="TextBox 22"/>
          <p:cNvSpPr txBox="1"/>
          <p:nvPr/>
        </p:nvSpPr>
        <p:spPr>
          <a:xfrm>
            <a:off x="16488485" y="368276"/>
            <a:ext cx="1541631" cy="410369"/>
          </a:xfrm>
          <a:prstGeom prst="rect">
            <a:avLst/>
          </a:prstGeom>
        </p:spPr>
        <p:txBody>
          <a:bodyPr lIns="0" tIns="0" rIns="0" bIns="0" rtlCol="0" anchor="t">
            <a:spAutoFit/>
          </a:bodyPr>
          <a:lstStyle/>
          <a:p>
            <a:pPr algn="l">
              <a:lnSpc>
                <a:spcPts val="3240"/>
              </a:lnSpc>
            </a:pPr>
            <a:r>
              <a:rPr lang="ko-KR" altLang="en-US" sz="2700" b="1" dirty="0" smtClean="0">
                <a:solidFill>
                  <a:srgbClr val="000000"/>
                </a:solidFill>
                <a:latin typeface="나눔바른고딕" panose="020B0603020101020101" pitchFamily="50" charset="-127"/>
                <a:ea typeface="나눔바른고딕" panose="020B0603020101020101" pitchFamily="50" charset="-127"/>
                <a:cs typeface="Aptos Bold"/>
                <a:sym typeface="Aptos Bold"/>
              </a:rPr>
              <a:t>국문</a:t>
            </a:r>
            <a:endParaRPr lang="en-US" sz="2700" b="1" dirty="0">
              <a:solidFill>
                <a:srgbClr val="000000"/>
              </a:solidFill>
              <a:latin typeface="나눔바른고딕" panose="020B0603020101020101" pitchFamily="50" charset="-127"/>
              <a:ea typeface="나눔바른고딕" panose="020B0603020101020101" pitchFamily="50" charset="-127"/>
              <a:cs typeface="Aptos Bold"/>
              <a:sym typeface="Aptos Bold"/>
            </a:endParaRPr>
          </a:p>
        </p:txBody>
      </p:sp>
      <p:sp>
        <p:nvSpPr>
          <p:cNvPr id="23" name="AutoShape 23"/>
          <p:cNvSpPr/>
          <p:nvPr/>
        </p:nvSpPr>
        <p:spPr>
          <a:xfrm flipV="1">
            <a:off x="6039496" y="4983835"/>
            <a:ext cx="2442373" cy="2442373"/>
          </a:xfrm>
          <a:prstGeom prst="line">
            <a:avLst/>
          </a:prstGeom>
          <a:ln w="19050" cap="rnd">
            <a:solidFill>
              <a:srgbClr val="FF0000"/>
            </a:solidFill>
            <a:prstDash val="solid"/>
            <a:headEnd type="none" w="sm" len="sm"/>
            <a:tailEnd type="none" w="sm" len="sm"/>
          </a:ln>
        </p:spPr>
      </p:sp>
    </p:spTree>
    <p:extLst>
      <p:ext uri="{BB962C8B-B14F-4D97-AF65-F5344CB8AC3E}">
        <p14:creationId xmlns:p14="http://schemas.microsoft.com/office/powerpoint/2010/main" val="2424020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937" y="411070"/>
            <a:ext cx="9053341" cy="9464859"/>
            <a:chOff x="0" y="0"/>
            <a:chExt cx="12071121" cy="12619812"/>
          </a:xfrm>
        </p:grpSpPr>
        <p:sp>
          <p:nvSpPr>
            <p:cNvPr id="3" name="Freeform 3"/>
            <p:cNvSpPr/>
            <p:nvPr/>
          </p:nvSpPr>
          <p:spPr>
            <a:xfrm>
              <a:off x="0" y="0"/>
              <a:ext cx="12071096" cy="12619863"/>
            </a:xfrm>
            <a:custGeom>
              <a:avLst/>
              <a:gdLst/>
              <a:ahLst/>
              <a:cxnLst/>
              <a:rect l="l" t="t" r="r" b="b"/>
              <a:pathLst>
                <a:path w="12071096" h="12619863">
                  <a:moveTo>
                    <a:pt x="0" y="0"/>
                  </a:moveTo>
                  <a:lnTo>
                    <a:pt x="12071096" y="0"/>
                  </a:lnTo>
                  <a:lnTo>
                    <a:pt x="12071096" y="12619863"/>
                  </a:lnTo>
                  <a:lnTo>
                    <a:pt x="0" y="12619863"/>
                  </a:lnTo>
                  <a:lnTo>
                    <a:pt x="0" y="0"/>
                  </a:lnTo>
                  <a:close/>
                </a:path>
              </a:pathLst>
            </a:custGeom>
            <a:blipFill>
              <a:blip r:embed="rId2"/>
              <a:stretch>
                <a:fillRect/>
              </a:stretch>
            </a:blipFill>
          </p:spPr>
        </p:sp>
      </p:grpSp>
      <p:grpSp>
        <p:nvGrpSpPr>
          <p:cNvPr id="7" name="Group 7"/>
          <p:cNvGrpSpPr/>
          <p:nvPr/>
        </p:nvGrpSpPr>
        <p:grpSpPr>
          <a:xfrm>
            <a:off x="679675" y="565375"/>
            <a:ext cx="3193742" cy="700897"/>
            <a:chOff x="0" y="0"/>
            <a:chExt cx="4258323" cy="934529"/>
          </a:xfrm>
        </p:grpSpPr>
        <p:sp>
          <p:nvSpPr>
            <p:cNvPr id="8" name="Freeform 8"/>
            <p:cNvSpPr/>
            <p:nvPr/>
          </p:nvSpPr>
          <p:spPr>
            <a:xfrm>
              <a:off x="0" y="0"/>
              <a:ext cx="4258310" cy="934593"/>
            </a:xfrm>
            <a:custGeom>
              <a:avLst/>
              <a:gdLst/>
              <a:ahLst/>
              <a:cxnLst/>
              <a:rect l="l" t="t" r="r" b="b"/>
              <a:pathLst>
                <a:path w="4258310" h="934593">
                  <a:moveTo>
                    <a:pt x="0" y="0"/>
                  </a:moveTo>
                  <a:lnTo>
                    <a:pt x="4258310" y="0"/>
                  </a:lnTo>
                  <a:lnTo>
                    <a:pt x="4258310" y="934593"/>
                  </a:lnTo>
                  <a:lnTo>
                    <a:pt x="0" y="934593"/>
                  </a:lnTo>
                  <a:close/>
                </a:path>
              </a:pathLst>
            </a:custGeom>
            <a:blipFill>
              <a:blip r:embed="rId3">
                <a:alphaModFix amt="0"/>
              </a:blip>
              <a:stretch>
                <a:fillRect t="-38783" b="-38777"/>
              </a:stretch>
            </a:blipFill>
            <a:ln w="28575" cap="sq">
              <a:solidFill>
                <a:srgbClr val="FF0000"/>
              </a:solidFill>
              <a:prstDash val="solid"/>
              <a:miter/>
            </a:ln>
          </p:spPr>
        </p:sp>
      </p:grpSp>
      <p:sp>
        <p:nvSpPr>
          <p:cNvPr id="9" name="AutoShape 9"/>
          <p:cNvSpPr/>
          <p:nvPr/>
        </p:nvSpPr>
        <p:spPr>
          <a:xfrm rot="2700000">
            <a:off x="3898649" y="864051"/>
            <a:ext cx="40415" cy="0"/>
          </a:xfrm>
          <a:prstGeom prst="line">
            <a:avLst/>
          </a:prstGeom>
          <a:ln w="19050" cap="rnd">
            <a:solidFill>
              <a:srgbClr val="156082"/>
            </a:solidFill>
            <a:prstDash val="solid"/>
            <a:headEnd type="none" w="sm" len="sm"/>
            <a:tailEnd type="none" w="sm" len="sm"/>
          </a:ln>
        </p:spPr>
      </p:sp>
      <p:grpSp>
        <p:nvGrpSpPr>
          <p:cNvPr id="10" name="Group 10"/>
          <p:cNvGrpSpPr/>
          <p:nvPr/>
        </p:nvGrpSpPr>
        <p:grpSpPr>
          <a:xfrm>
            <a:off x="10083689" y="667236"/>
            <a:ext cx="1421540" cy="461666"/>
            <a:chOff x="0" y="0"/>
            <a:chExt cx="1895386" cy="615554"/>
          </a:xfrm>
        </p:grpSpPr>
        <p:sp>
          <p:nvSpPr>
            <p:cNvPr id="11" name="Freeform 11"/>
            <p:cNvSpPr/>
            <p:nvPr/>
          </p:nvSpPr>
          <p:spPr>
            <a:xfrm>
              <a:off x="0" y="0"/>
              <a:ext cx="1895348" cy="615567"/>
            </a:xfrm>
            <a:custGeom>
              <a:avLst/>
              <a:gdLst/>
              <a:ahLst/>
              <a:cxnLst/>
              <a:rect l="l" t="t" r="r" b="b"/>
              <a:pathLst>
                <a:path w="1895348" h="615567">
                  <a:moveTo>
                    <a:pt x="0" y="0"/>
                  </a:moveTo>
                  <a:lnTo>
                    <a:pt x="1895348" y="0"/>
                  </a:lnTo>
                  <a:lnTo>
                    <a:pt x="1895348" y="615567"/>
                  </a:lnTo>
                  <a:lnTo>
                    <a:pt x="0" y="615567"/>
                  </a:lnTo>
                  <a:close/>
                </a:path>
              </a:pathLst>
            </a:custGeom>
            <a:blipFill>
              <a:blip r:embed="rId3">
                <a:alphaModFix amt="0"/>
              </a:blip>
              <a:stretch>
                <a:fillRect t="-9997" r="-2" b="-9995"/>
              </a:stretch>
            </a:blipFill>
            <a:ln cap="sq">
              <a:noFill/>
              <a:prstDash val="solid"/>
              <a:miter/>
            </a:ln>
          </p:spPr>
        </p:sp>
        <p:sp>
          <p:nvSpPr>
            <p:cNvPr id="12" name="TextBox 12"/>
            <p:cNvSpPr txBox="1"/>
            <p:nvPr/>
          </p:nvSpPr>
          <p:spPr>
            <a:xfrm>
              <a:off x="0" y="0"/>
              <a:ext cx="1895386" cy="615554"/>
            </a:xfrm>
            <a:prstGeom prst="rect">
              <a:avLst/>
            </a:prstGeom>
          </p:spPr>
          <p:txBody>
            <a:bodyPr lIns="50800" tIns="50800" rIns="50800" bIns="50800" rtlCol="0" anchor="t"/>
            <a:lstStyle/>
            <a:p>
              <a:pPr algn="l">
                <a:lnSpc>
                  <a:spcPts val="2160"/>
                </a:lnSpc>
              </a:pPr>
              <a:r>
                <a:rPr lang="en-US" sz="1800">
                  <a:solidFill>
                    <a:srgbClr val="FF0000"/>
                  </a:solidFill>
                  <a:latin typeface="Aptos"/>
                  <a:ea typeface="Aptos"/>
                  <a:cs typeface="Aptos"/>
                  <a:sym typeface="Aptos"/>
                </a:rPr>
                <a:t>Keep logo</a:t>
              </a:r>
            </a:p>
          </p:txBody>
        </p:sp>
      </p:grpSp>
      <p:sp>
        <p:nvSpPr>
          <p:cNvPr id="13" name="AutoShape 13"/>
          <p:cNvSpPr/>
          <p:nvPr/>
        </p:nvSpPr>
        <p:spPr>
          <a:xfrm flipV="1">
            <a:off x="3873408" y="898069"/>
            <a:ext cx="6210281" cy="17755"/>
          </a:xfrm>
          <a:prstGeom prst="line">
            <a:avLst/>
          </a:prstGeom>
          <a:ln w="19050" cap="rnd">
            <a:solidFill>
              <a:srgbClr val="FF0000"/>
            </a:solidFill>
            <a:prstDash val="solid"/>
            <a:headEnd type="none" w="sm" len="sm"/>
            <a:tailEnd type="none" w="sm" len="sm"/>
          </a:ln>
        </p:spPr>
      </p:sp>
      <p:grpSp>
        <p:nvGrpSpPr>
          <p:cNvPr id="14" name="Group 14"/>
          <p:cNvGrpSpPr/>
          <p:nvPr/>
        </p:nvGrpSpPr>
        <p:grpSpPr>
          <a:xfrm>
            <a:off x="965425" y="2154203"/>
            <a:ext cx="8258175" cy="635946"/>
            <a:chOff x="0" y="0"/>
            <a:chExt cx="11010900" cy="847928"/>
          </a:xfrm>
        </p:grpSpPr>
        <p:sp>
          <p:nvSpPr>
            <p:cNvPr id="15" name="Freeform 15"/>
            <p:cNvSpPr/>
            <p:nvPr/>
          </p:nvSpPr>
          <p:spPr>
            <a:xfrm>
              <a:off x="0" y="0"/>
              <a:ext cx="11010900" cy="847979"/>
            </a:xfrm>
            <a:custGeom>
              <a:avLst/>
              <a:gdLst/>
              <a:ahLst/>
              <a:cxnLst/>
              <a:rect l="l" t="t" r="r" b="b"/>
              <a:pathLst>
                <a:path w="11010900" h="847979">
                  <a:moveTo>
                    <a:pt x="0" y="0"/>
                  </a:moveTo>
                  <a:lnTo>
                    <a:pt x="11010900" y="0"/>
                  </a:lnTo>
                  <a:lnTo>
                    <a:pt x="11010900" y="847979"/>
                  </a:lnTo>
                  <a:lnTo>
                    <a:pt x="0" y="847979"/>
                  </a:lnTo>
                  <a:close/>
                </a:path>
              </a:pathLst>
            </a:custGeom>
            <a:blipFill>
              <a:blip r:embed="rId3">
                <a:alphaModFix amt="0"/>
              </a:blip>
              <a:stretch>
                <a:fillRect t="-203013" b="-203007"/>
              </a:stretch>
            </a:blipFill>
            <a:ln w="28575" cap="sq">
              <a:solidFill>
                <a:srgbClr val="FF0000"/>
              </a:solidFill>
              <a:prstDash val="solid"/>
              <a:miter/>
            </a:ln>
          </p:spPr>
        </p:sp>
      </p:grpSp>
      <p:sp>
        <p:nvSpPr>
          <p:cNvPr id="16" name="AutoShape 16"/>
          <p:cNvSpPr/>
          <p:nvPr/>
        </p:nvSpPr>
        <p:spPr>
          <a:xfrm rot="2700000">
            <a:off x="4184399" y="2452878"/>
            <a:ext cx="40415" cy="0"/>
          </a:xfrm>
          <a:prstGeom prst="line">
            <a:avLst/>
          </a:prstGeom>
          <a:ln w="19050" cap="rnd">
            <a:solidFill>
              <a:srgbClr val="156082"/>
            </a:solidFill>
            <a:prstDash val="solid"/>
            <a:headEnd type="none" w="sm" len="sm"/>
            <a:tailEnd type="none" w="sm" len="sm"/>
          </a:ln>
        </p:spPr>
      </p:sp>
      <p:grpSp>
        <p:nvGrpSpPr>
          <p:cNvPr id="17" name="Group 17"/>
          <p:cNvGrpSpPr/>
          <p:nvPr/>
        </p:nvGrpSpPr>
        <p:grpSpPr>
          <a:xfrm>
            <a:off x="10083689" y="2154203"/>
            <a:ext cx="5256343" cy="492751"/>
            <a:chOff x="0" y="0"/>
            <a:chExt cx="7008457" cy="657002"/>
          </a:xfrm>
        </p:grpSpPr>
        <p:sp>
          <p:nvSpPr>
            <p:cNvPr id="18" name="Freeform 18"/>
            <p:cNvSpPr/>
            <p:nvPr/>
          </p:nvSpPr>
          <p:spPr>
            <a:xfrm>
              <a:off x="0" y="0"/>
              <a:ext cx="7008495" cy="657014"/>
            </a:xfrm>
            <a:custGeom>
              <a:avLst/>
              <a:gdLst/>
              <a:ahLst/>
              <a:cxnLst/>
              <a:rect l="l" t="t" r="r" b="b"/>
              <a:pathLst>
                <a:path w="7008495" h="657014">
                  <a:moveTo>
                    <a:pt x="0" y="0"/>
                  </a:moveTo>
                  <a:lnTo>
                    <a:pt x="7008495" y="0"/>
                  </a:lnTo>
                  <a:lnTo>
                    <a:pt x="7008495" y="657014"/>
                  </a:lnTo>
                  <a:lnTo>
                    <a:pt x="0" y="657014"/>
                  </a:lnTo>
                  <a:close/>
                </a:path>
              </a:pathLst>
            </a:custGeom>
            <a:blipFill>
              <a:blip r:embed="rId3">
                <a:alphaModFix amt="0"/>
              </a:blip>
              <a:stretch>
                <a:fillRect t="-161004" b="-154694"/>
              </a:stretch>
            </a:blipFill>
            <a:ln cap="sq">
              <a:noFill/>
              <a:prstDash val="solid"/>
              <a:miter/>
            </a:ln>
          </p:spPr>
        </p:sp>
        <p:sp>
          <p:nvSpPr>
            <p:cNvPr id="19" name="TextBox 19"/>
            <p:cNvSpPr txBox="1"/>
            <p:nvPr/>
          </p:nvSpPr>
          <p:spPr>
            <a:xfrm>
              <a:off x="0" y="-19050"/>
              <a:ext cx="7008457" cy="676052"/>
            </a:xfrm>
            <a:prstGeom prst="rect">
              <a:avLst/>
            </a:prstGeom>
          </p:spPr>
          <p:txBody>
            <a:bodyPr lIns="50800" tIns="50800" rIns="50800" bIns="50800" rtlCol="0" anchor="t"/>
            <a:lstStyle/>
            <a:p>
              <a:pPr algn="l">
                <a:lnSpc>
                  <a:spcPts val="2520"/>
                </a:lnSpc>
              </a:pPr>
              <a:r>
                <a:rPr lang="en-US" sz="2100">
                  <a:solidFill>
                    <a:srgbClr val="000000"/>
                  </a:solidFill>
                  <a:latin typeface="Times New Roman"/>
                  <a:ea typeface="Times New Roman"/>
                  <a:cs typeface="Times New Roman"/>
                  <a:sym typeface="Times New Roman"/>
                </a:rPr>
                <a:t>Cello Square Conference Southeast Asia 2026</a:t>
              </a:r>
            </a:p>
          </p:txBody>
        </p:sp>
      </p:grpSp>
      <p:sp>
        <p:nvSpPr>
          <p:cNvPr id="20" name="AutoShape 20"/>
          <p:cNvSpPr/>
          <p:nvPr/>
        </p:nvSpPr>
        <p:spPr>
          <a:xfrm flipV="1">
            <a:off x="9223600" y="2400578"/>
            <a:ext cx="860088" cy="71597"/>
          </a:xfrm>
          <a:prstGeom prst="line">
            <a:avLst/>
          </a:prstGeom>
          <a:ln w="19050" cap="rnd">
            <a:solidFill>
              <a:srgbClr val="FF0000"/>
            </a:solidFill>
            <a:prstDash val="solid"/>
            <a:headEnd type="none" w="sm" len="sm"/>
            <a:tailEnd type="none" w="sm" len="sm"/>
          </a:ln>
        </p:spPr>
      </p:sp>
      <p:grpSp>
        <p:nvGrpSpPr>
          <p:cNvPr id="21" name="Group 21"/>
          <p:cNvGrpSpPr/>
          <p:nvPr/>
        </p:nvGrpSpPr>
        <p:grpSpPr>
          <a:xfrm>
            <a:off x="2207190" y="2900362"/>
            <a:ext cx="5595833" cy="1057094"/>
            <a:chOff x="0" y="0"/>
            <a:chExt cx="7461110" cy="1409459"/>
          </a:xfrm>
        </p:grpSpPr>
        <p:sp>
          <p:nvSpPr>
            <p:cNvPr id="22" name="Freeform 22"/>
            <p:cNvSpPr/>
            <p:nvPr/>
          </p:nvSpPr>
          <p:spPr>
            <a:xfrm>
              <a:off x="0" y="0"/>
              <a:ext cx="7461123" cy="1409446"/>
            </a:xfrm>
            <a:custGeom>
              <a:avLst/>
              <a:gdLst/>
              <a:ahLst/>
              <a:cxnLst/>
              <a:rect l="l" t="t" r="r" b="b"/>
              <a:pathLst>
                <a:path w="7461123" h="1409446">
                  <a:moveTo>
                    <a:pt x="0" y="0"/>
                  </a:moveTo>
                  <a:lnTo>
                    <a:pt x="7461123" y="0"/>
                  </a:lnTo>
                  <a:lnTo>
                    <a:pt x="7461123" y="1409446"/>
                  </a:lnTo>
                  <a:lnTo>
                    <a:pt x="0" y="1409446"/>
                  </a:lnTo>
                  <a:close/>
                </a:path>
              </a:pathLst>
            </a:custGeom>
            <a:blipFill>
              <a:blip r:embed="rId3">
                <a:alphaModFix amt="0"/>
              </a:blip>
              <a:stretch>
                <a:fillRect t="-53146" b="-53147"/>
              </a:stretch>
            </a:blipFill>
            <a:ln w="28575" cap="sq">
              <a:solidFill>
                <a:srgbClr val="FF0000"/>
              </a:solidFill>
              <a:prstDash val="solid"/>
              <a:miter/>
            </a:ln>
          </p:spPr>
        </p:sp>
      </p:grpSp>
      <p:sp>
        <p:nvSpPr>
          <p:cNvPr id="23" name="AutoShape 23"/>
          <p:cNvSpPr/>
          <p:nvPr/>
        </p:nvSpPr>
        <p:spPr>
          <a:xfrm rot="2700000">
            <a:off x="5426164" y="3296393"/>
            <a:ext cx="40415" cy="0"/>
          </a:xfrm>
          <a:prstGeom prst="line">
            <a:avLst/>
          </a:prstGeom>
          <a:ln w="19050" cap="rnd">
            <a:solidFill>
              <a:srgbClr val="156082"/>
            </a:solidFill>
            <a:prstDash val="solid"/>
            <a:headEnd type="none" w="sm" len="sm"/>
            <a:tailEnd type="none" w="sm" len="sm"/>
          </a:ln>
        </p:spPr>
      </p:sp>
      <p:grpSp>
        <p:nvGrpSpPr>
          <p:cNvPr id="24" name="Group 24"/>
          <p:cNvGrpSpPr/>
          <p:nvPr/>
        </p:nvGrpSpPr>
        <p:grpSpPr>
          <a:xfrm>
            <a:off x="10083689" y="3060387"/>
            <a:ext cx="7169416" cy="519639"/>
            <a:chOff x="0" y="0"/>
            <a:chExt cx="9559221" cy="692852"/>
          </a:xfrm>
        </p:grpSpPr>
        <p:sp>
          <p:nvSpPr>
            <p:cNvPr id="25" name="Freeform 25"/>
            <p:cNvSpPr/>
            <p:nvPr/>
          </p:nvSpPr>
          <p:spPr>
            <a:xfrm>
              <a:off x="0" y="0"/>
              <a:ext cx="9559233" cy="692890"/>
            </a:xfrm>
            <a:custGeom>
              <a:avLst/>
              <a:gdLst/>
              <a:ahLst/>
              <a:cxnLst/>
              <a:rect l="l" t="t" r="r" b="b"/>
              <a:pathLst>
                <a:path w="9559233" h="692890">
                  <a:moveTo>
                    <a:pt x="0" y="0"/>
                  </a:moveTo>
                  <a:lnTo>
                    <a:pt x="9559233" y="0"/>
                  </a:lnTo>
                  <a:lnTo>
                    <a:pt x="9559233" y="692890"/>
                  </a:lnTo>
                  <a:lnTo>
                    <a:pt x="0" y="692890"/>
                  </a:lnTo>
                  <a:close/>
                </a:path>
              </a:pathLst>
            </a:custGeom>
            <a:blipFill>
              <a:blip r:embed="rId3">
                <a:alphaModFix amt="0"/>
              </a:blip>
              <a:stretch>
                <a:fillRect t="-161528" r="11821" b="-212554"/>
              </a:stretch>
            </a:blipFill>
            <a:ln cap="sq">
              <a:noFill/>
              <a:prstDash val="solid"/>
              <a:miter/>
            </a:ln>
          </p:spPr>
        </p:sp>
        <p:sp>
          <p:nvSpPr>
            <p:cNvPr id="26" name="TextBox 26"/>
            <p:cNvSpPr txBox="1"/>
            <p:nvPr/>
          </p:nvSpPr>
          <p:spPr>
            <a:xfrm>
              <a:off x="0" y="-19050"/>
              <a:ext cx="9559221" cy="711902"/>
            </a:xfrm>
            <a:prstGeom prst="rect">
              <a:avLst/>
            </a:prstGeom>
          </p:spPr>
          <p:txBody>
            <a:bodyPr lIns="50800" tIns="50800" rIns="50800" bIns="50800" rtlCol="0" anchor="t"/>
            <a:lstStyle/>
            <a:p>
              <a:pPr algn="l">
                <a:lnSpc>
                  <a:spcPts val="2520"/>
                </a:lnSpc>
              </a:pPr>
              <a:r>
                <a:rPr lang="en-US" sz="2100">
                  <a:solidFill>
                    <a:srgbClr val="000000"/>
                  </a:solidFill>
                  <a:latin typeface="Times New Roman"/>
                  <a:ea typeface="Times New Roman"/>
                  <a:cs typeface="Times New Roman"/>
                  <a:sym typeface="Times New Roman"/>
                </a:rPr>
                <a:t>Driving Supply Chain Agility: From Insight to Action</a:t>
              </a:r>
            </a:p>
          </p:txBody>
        </p:sp>
      </p:grpSp>
      <p:sp>
        <p:nvSpPr>
          <p:cNvPr id="27" name="AutoShape 27"/>
          <p:cNvSpPr/>
          <p:nvPr/>
        </p:nvSpPr>
        <p:spPr>
          <a:xfrm flipV="1">
            <a:off x="7803023" y="3320207"/>
            <a:ext cx="2280666" cy="108703"/>
          </a:xfrm>
          <a:prstGeom prst="line">
            <a:avLst/>
          </a:prstGeom>
          <a:ln w="19050" cap="rnd">
            <a:solidFill>
              <a:srgbClr val="FF0000"/>
            </a:solidFill>
            <a:prstDash val="solid"/>
            <a:headEnd type="none" w="sm" len="sm"/>
            <a:tailEnd type="none" w="sm" len="sm"/>
          </a:ln>
        </p:spPr>
      </p:sp>
      <p:sp>
        <p:nvSpPr>
          <p:cNvPr id="28" name="TextBox 28"/>
          <p:cNvSpPr txBox="1"/>
          <p:nvPr/>
        </p:nvSpPr>
        <p:spPr>
          <a:xfrm>
            <a:off x="14483463" y="868815"/>
            <a:ext cx="3546175" cy="819150"/>
          </a:xfrm>
          <a:prstGeom prst="rect">
            <a:avLst/>
          </a:prstGeom>
        </p:spPr>
        <p:txBody>
          <a:bodyPr lIns="0" tIns="0" rIns="0" bIns="0" rtlCol="0" anchor="t">
            <a:spAutoFit/>
          </a:bodyPr>
          <a:lstStyle/>
          <a:p>
            <a:pPr marL="388620" lvl="1" indent="-194310" algn="l">
              <a:lnSpc>
                <a:spcPts val="2160"/>
              </a:lnSpc>
              <a:buFont typeface="Arial"/>
              <a:buChar char="•"/>
            </a:pPr>
            <a:r>
              <a:rPr lang="en-US" sz="1800" dirty="0">
                <a:solidFill>
                  <a:srgbClr val="FF0000"/>
                </a:solidFill>
                <a:latin typeface="Arimo"/>
                <a:ea typeface="Arimo"/>
                <a:cs typeface="Arimo"/>
                <a:sym typeface="Arimo"/>
              </a:rPr>
              <a:t>To be reflected on English site</a:t>
            </a:r>
          </a:p>
          <a:p>
            <a:pPr marL="388620" lvl="1" indent="-194310" algn="l">
              <a:lnSpc>
                <a:spcPts val="2160"/>
              </a:lnSpc>
              <a:buFont typeface="Arial"/>
              <a:buChar char="•"/>
            </a:pPr>
            <a:r>
              <a:rPr lang="en-US" sz="1800" dirty="0">
                <a:solidFill>
                  <a:srgbClr val="FF0000"/>
                </a:solidFill>
                <a:latin typeface="Arimo"/>
                <a:ea typeface="Arimo"/>
                <a:cs typeface="Arimo"/>
                <a:sym typeface="Arimo"/>
              </a:rPr>
              <a:t>Keep font size as it is</a:t>
            </a:r>
          </a:p>
          <a:p>
            <a:pPr marL="388620" lvl="1" indent="-194310" algn="l">
              <a:lnSpc>
                <a:spcPts val="2160"/>
              </a:lnSpc>
              <a:buFont typeface="Arial"/>
              <a:buChar char="•"/>
            </a:pPr>
            <a:r>
              <a:rPr lang="en-US" sz="1800" dirty="0">
                <a:solidFill>
                  <a:srgbClr val="FF0000"/>
                </a:solidFill>
                <a:latin typeface="Arimo"/>
                <a:ea typeface="Arimo"/>
                <a:cs typeface="Arimo"/>
                <a:sym typeface="Arimo"/>
              </a:rPr>
              <a:t>Center alignment</a:t>
            </a:r>
          </a:p>
        </p:txBody>
      </p:sp>
      <p:grpSp>
        <p:nvGrpSpPr>
          <p:cNvPr id="29" name="Group 29"/>
          <p:cNvGrpSpPr/>
          <p:nvPr/>
        </p:nvGrpSpPr>
        <p:grpSpPr>
          <a:xfrm>
            <a:off x="1683887" y="3987146"/>
            <a:ext cx="6723288" cy="578091"/>
            <a:chOff x="0" y="0"/>
            <a:chExt cx="8964384" cy="770788"/>
          </a:xfrm>
        </p:grpSpPr>
        <p:sp>
          <p:nvSpPr>
            <p:cNvPr id="30" name="Freeform 30"/>
            <p:cNvSpPr/>
            <p:nvPr/>
          </p:nvSpPr>
          <p:spPr>
            <a:xfrm>
              <a:off x="0" y="0"/>
              <a:ext cx="8964422" cy="770763"/>
            </a:xfrm>
            <a:custGeom>
              <a:avLst/>
              <a:gdLst/>
              <a:ahLst/>
              <a:cxnLst/>
              <a:rect l="l" t="t" r="r" b="b"/>
              <a:pathLst>
                <a:path w="8964422" h="770763">
                  <a:moveTo>
                    <a:pt x="0" y="0"/>
                  </a:moveTo>
                  <a:lnTo>
                    <a:pt x="8964422" y="0"/>
                  </a:lnTo>
                  <a:lnTo>
                    <a:pt x="8964422" y="770763"/>
                  </a:lnTo>
                  <a:lnTo>
                    <a:pt x="0" y="770763"/>
                  </a:lnTo>
                  <a:close/>
                </a:path>
              </a:pathLst>
            </a:custGeom>
            <a:blipFill>
              <a:blip r:embed="rId3">
                <a:alphaModFix amt="0"/>
              </a:blip>
              <a:stretch>
                <a:fillRect t="-176619" b="-176623"/>
              </a:stretch>
            </a:blipFill>
            <a:ln w="28575" cap="sq">
              <a:solidFill>
                <a:srgbClr val="FF0000"/>
              </a:solidFill>
              <a:prstDash val="solid"/>
              <a:miter/>
            </a:ln>
          </p:spPr>
        </p:sp>
      </p:grpSp>
      <p:sp>
        <p:nvSpPr>
          <p:cNvPr id="31" name="AutoShape 31"/>
          <p:cNvSpPr/>
          <p:nvPr/>
        </p:nvSpPr>
        <p:spPr>
          <a:xfrm rot="2700000">
            <a:off x="4902860" y="4285821"/>
            <a:ext cx="40415" cy="0"/>
          </a:xfrm>
          <a:prstGeom prst="line">
            <a:avLst/>
          </a:prstGeom>
          <a:ln w="19050" cap="rnd">
            <a:solidFill>
              <a:srgbClr val="156082"/>
            </a:solidFill>
            <a:prstDash val="solid"/>
            <a:headEnd type="none" w="sm" len="sm"/>
            <a:tailEnd type="none" w="sm" len="sm"/>
          </a:ln>
        </p:spPr>
      </p:sp>
      <p:grpSp>
        <p:nvGrpSpPr>
          <p:cNvPr id="32" name="Group 32"/>
          <p:cNvGrpSpPr/>
          <p:nvPr/>
        </p:nvGrpSpPr>
        <p:grpSpPr>
          <a:xfrm>
            <a:off x="10083689" y="3872653"/>
            <a:ext cx="8204311" cy="807076"/>
            <a:chOff x="0" y="0"/>
            <a:chExt cx="10939081" cy="1076102"/>
          </a:xfrm>
        </p:grpSpPr>
        <p:sp>
          <p:nvSpPr>
            <p:cNvPr id="33" name="Freeform 33"/>
            <p:cNvSpPr/>
            <p:nvPr/>
          </p:nvSpPr>
          <p:spPr>
            <a:xfrm>
              <a:off x="0" y="0"/>
              <a:ext cx="10939119" cy="1076114"/>
            </a:xfrm>
            <a:custGeom>
              <a:avLst/>
              <a:gdLst/>
              <a:ahLst/>
              <a:cxnLst/>
              <a:rect l="l" t="t" r="r" b="b"/>
              <a:pathLst>
                <a:path w="10939119" h="1076114">
                  <a:moveTo>
                    <a:pt x="0" y="0"/>
                  </a:moveTo>
                  <a:lnTo>
                    <a:pt x="10939119" y="0"/>
                  </a:lnTo>
                  <a:lnTo>
                    <a:pt x="10939119" y="1076114"/>
                  </a:lnTo>
                  <a:lnTo>
                    <a:pt x="0" y="1076114"/>
                  </a:lnTo>
                  <a:close/>
                </a:path>
              </a:pathLst>
            </a:custGeom>
            <a:blipFill>
              <a:blip r:embed="rId3">
                <a:alphaModFix amt="0"/>
              </a:blip>
              <a:stretch>
                <a:fillRect t="-158721" r="5427" b="-115923"/>
              </a:stretch>
            </a:blipFill>
            <a:ln cap="sq">
              <a:noFill/>
              <a:prstDash val="solid"/>
              <a:miter/>
            </a:ln>
          </p:spPr>
        </p:sp>
        <p:sp>
          <p:nvSpPr>
            <p:cNvPr id="34" name="TextBox 34"/>
            <p:cNvSpPr txBox="1"/>
            <p:nvPr/>
          </p:nvSpPr>
          <p:spPr>
            <a:xfrm>
              <a:off x="0" y="-19050"/>
              <a:ext cx="10939081" cy="1095152"/>
            </a:xfrm>
            <a:prstGeom prst="rect">
              <a:avLst/>
            </a:prstGeom>
          </p:spPr>
          <p:txBody>
            <a:bodyPr lIns="50800" tIns="50800" rIns="50800" bIns="50800" rtlCol="0" anchor="t"/>
            <a:lstStyle/>
            <a:p>
              <a:pPr algn="l">
                <a:lnSpc>
                  <a:spcPts val="2520"/>
                </a:lnSpc>
              </a:pPr>
              <a:r>
                <a:rPr lang="en-US" sz="2100" dirty="0">
                  <a:solidFill>
                    <a:srgbClr val="000000"/>
                  </a:solidFill>
                  <a:latin typeface="Times New Roman"/>
                  <a:ea typeface="Times New Roman"/>
                  <a:cs typeface="Times New Roman"/>
                  <a:sym typeface="Times New Roman"/>
                </a:rPr>
                <a:t>24 July (Friday) 13:30 ~ 17:00 (local time)</a:t>
              </a:r>
            </a:p>
            <a:p>
              <a:pPr algn="l">
                <a:lnSpc>
                  <a:spcPts val="2520"/>
                </a:lnSpc>
              </a:pPr>
              <a:r>
                <a:rPr lang="en-US" sz="2100" dirty="0">
                  <a:solidFill>
                    <a:srgbClr val="000000"/>
                  </a:solidFill>
                  <a:latin typeface="Times New Roman"/>
                  <a:ea typeface="Times New Roman"/>
                  <a:cs typeface="Times New Roman"/>
                  <a:sym typeface="Times New Roman"/>
                </a:rPr>
                <a:t>InterContinental Hanoi Landmark 72 | 5F Ballroom 1 | Hanoi, Vietnam</a:t>
              </a:r>
            </a:p>
          </p:txBody>
        </p:sp>
      </p:grpSp>
      <p:sp>
        <p:nvSpPr>
          <p:cNvPr id="35" name="AutoShape 35"/>
          <p:cNvSpPr/>
          <p:nvPr/>
        </p:nvSpPr>
        <p:spPr>
          <a:xfrm>
            <a:off x="8407175" y="4276192"/>
            <a:ext cx="1676514" cy="0"/>
          </a:xfrm>
          <a:prstGeom prst="line">
            <a:avLst/>
          </a:prstGeom>
          <a:ln w="19050" cap="rnd">
            <a:solidFill>
              <a:srgbClr val="FF0000"/>
            </a:solidFill>
            <a:prstDash val="solid"/>
            <a:headEnd type="none" w="sm" len="sm"/>
            <a:tailEnd type="none" w="sm" len="sm"/>
          </a:ln>
        </p:spPr>
      </p:sp>
      <p:grpSp>
        <p:nvGrpSpPr>
          <p:cNvPr id="36" name="Group 36"/>
          <p:cNvGrpSpPr/>
          <p:nvPr/>
        </p:nvGrpSpPr>
        <p:grpSpPr>
          <a:xfrm>
            <a:off x="1087888" y="5762244"/>
            <a:ext cx="8233686" cy="3975706"/>
            <a:chOff x="0" y="0"/>
            <a:chExt cx="10978248" cy="5300942"/>
          </a:xfrm>
        </p:grpSpPr>
        <p:sp>
          <p:nvSpPr>
            <p:cNvPr id="37" name="Freeform 37"/>
            <p:cNvSpPr/>
            <p:nvPr/>
          </p:nvSpPr>
          <p:spPr>
            <a:xfrm>
              <a:off x="0" y="0"/>
              <a:ext cx="10978261" cy="5300980"/>
            </a:xfrm>
            <a:custGeom>
              <a:avLst/>
              <a:gdLst/>
              <a:ahLst/>
              <a:cxnLst/>
              <a:rect l="l" t="t" r="r" b="b"/>
              <a:pathLst>
                <a:path w="10978261" h="5300980">
                  <a:moveTo>
                    <a:pt x="0" y="0"/>
                  </a:moveTo>
                  <a:lnTo>
                    <a:pt x="10978261" y="0"/>
                  </a:lnTo>
                  <a:lnTo>
                    <a:pt x="10978261" y="5300980"/>
                  </a:lnTo>
                  <a:lnTo>
                    <a:pt x="0" y="5300980"/>
                  </a:lnTo>
                  <a:close/>
                </a:path>
              </a:pathLst>
            </a:custGeom>
            <a:blipFill>
              <a:blip r:embed="rId3">
                <a:alphaModFix amt="0"/>
              </a:blip>
              <a:stretch>
                <a:fillRect l="-11952" r="-11952"/>
              </a:stretch>
            </a:blipFill>
            <a:ln w="28575" cap="sq">
              <a:solidFill>
                <a:srgbClr val="FF0000"/>
              </a:solidFill>
              <a:prstDash val="solid"/>
              <a:miter/>
            </a:ln>
          </p:spPr>
        </p:sp>
      </p:grpSp>
      <p:sp>
        <p:nvSpPr>
          <p:cNvPr id="38" name="AutoShape 38"/>
          <p:cNvSpPr/>
          <p:nvPr/>
        </p:nvSpPr>
        <p:spPr>
          <a:xfrm rot="2700000">
            <a:off x="4306862" y="7256726"/>
            <a:ext cx="40415" cy="0"/>
          </a:xfrm>
          <a:prstGeom prst="line">
            <a:avLst/>
          </a:prstGeom>
          <a:ln w="19050" cap="rnd">
            <a:solidFill>
              <a:srgbClr val="156082"/>
            </a:solidFill>
            <a:prstDash val="solid"/>
            <a:headEnd type="none" w="sm" len="sm"/>
            <a:tailEnd type="none" w="sm" len="sm"/>
          </a:ln>
        </p:spPr>
      </p:sp>
      <p:grpSp>
        <p:nvGrpSpPr>
          <p:cNvPr id="39" name="Group 39"/>
          <p:cNvGrpSpPr/>
          <p:nvPr/>
        </p:nvGrpSpPr>
        <p:grpSpPr>
          <a:xfrm>
            <a:off x="10083689" y="4964120"/>
            <a:ext cx="7945949" cy="3722104"/>
            <a:chOff x="0" y="0"/>
            <a:chExt cx="10594599" cy="4962805"/>
          </a:xfrm>
        </p:grpSpPr>
        <p:sp>
          <p:nvSpPr>
            <p:cNvPr id="40" name="Freeform 40"/>
            <p:cNvSpPr/>
            <p:nvPr/>
          </p:nvSpPr>
          <p:spPr>
            <a:xfrm>
              <a:off x="0" y="0"/>
              <a:ext cx="10594542" cy="4962765"/>
            </a:xfrm>
            <a:custGeom>
              <a:avLst/>
              <a:gdLst/>
              <a:ahLst/>
              <a:cxnLst/>
              <a:rect l="l" t="t" r="r" b="b"/>
              <a:pathLst>
                <a:path w="10594542" h="4962765">
                  <a:moveTo>
                    <a:pt x="0" y="0"/>
                  </a:moveTo>
                  <a:lnTo>
                    <a:pt x="10594542" y="0"/>
                  </a:lnTo>
                  <a:lnTo>
                    <a:pt x="10594542" y="4962765"/>
                  </a:lnTo>
                  <a:lnTo>
                    <a:pt x="0" y="4962765"/>
                  </a:lnTo>
                  <a:close/>
                </a:path>
              </a:pathLst>
            </a:custGeom>
            <a:blipFill>
              <a:blip r:embed="rId3">
                <a:alphaModFix amt="0"/>
              </a:blip>
              <a:stretch>
                <a:fillRect l="-30651" r="-19930" b="-25274"/>
              </a:stretch>
            </a:blipFill>
            <a:ln cap="sq">
              <a:noFill/>
              <a:prstDash val="solid"/>
              <a:miter/>
            </a:ln>
          </p:spPr>
        </p:sp>
        <p:sp>
          <p:nvSpPr>
            <p:cNvPr id="41" name="TextBox 41"/>
            <p:cNvSpPr txBox="1"/>
            <p:nvPr/>
          </p:nvSpPr>
          <p:spPr>
            <a:xfrm>
              <a:off x="0" y="-19050"/>
              <a:ext cx="10594599" cy="4981855"/>
            </a:xfrm>
            <a:prstGeom prst="rect">
              <a:avLst/>
            </a:prstGeom>
          </p:spPr>
          <p:txBody>
            <a:bodyPr lIns="50800" tIns="50800" rIns="50800" bIns="50800" rtlCol="0" anchor="t"/>
            <a:lstStyle/>
            <a:p>
              <a:pPr algn="l">
                <a:lnSpc>
                  <a:spcPts val="2520"/>
                </a:lnSpc>
              </a:pPr>
              <a:r>
                <a:rPr lang="en-US" sz="2100" dirty="0">
                  <a:solidFill>
                    <a:srgbClr val="000000"/>
                  </a:solidFill>
                  <a:latin typeface="Times New Roman"/>
                  <a:ea typeface="Times New Roman"/>
                  <a:cs typeface="Times New Roman"/>
                  <a:sym typeface="Times New Roman"/>
                </a:rPr>
                <a:t>Global supply chains are changing rapidly. To stay competitive, businesses must move beyond basic visibility toward agile, </a:t>
              </a:r>
              <a:r>
                <a:rPr lang="en-US" sz="2100" dirty="0" smtClean="0">
                  <a:solidFill>
                    <a:srgbClr val="000000"/>
                  </a:solidFill>
                  <a:latin typeface="Times New Roman"/>
                  <a:ea typeface="Times New Roman"/>
                  <a:cs typeface="Times New Roman"/>
                  <a:sym typeface="Times New Roman"/>
                </a:rPr>
                <a:t>AI-powered, data-driven decision-making and automation.</a:t>
              </a:r>
              <a:endParaRPr lang="en-US" sz="2100" dirty="0">
                <a:solidFill>
                  <a:srgbClr val="000000"/>
                </a:solidFill>
                <a:latin typeface="Times New Roman"/>
                <a:ea typeface="Times New Roman"/>
                <a:cs typeface="Times New Roman"/>
                <a:sym typeface="Times New Roman"/>
              </a:endParaRPr>
            </a:p>
            <a:p>
              <a:pPr algn="l">
                <a:lnSpc>
                  <a:spcPts val="2520"/>
                </a:lnSpc>
              </a:pPr>
              <a:endParaRPr lang="en-US" sz="2100" dirty="0">
                <a:solidFill>
                  <a:srgbClr val="000000"/>
                </a:solidFill>
                <a:latin typeface="Times New Roman"/>
                <a:ea typeface="Times New Roman"/>
                <a:cs typeface="Times New Roman"/>
                <a:sym typeface="Times New Roman"/>
              </a:endParaRPr>
            </a:p>
            <a:p>
              <a:pPr algn="l">
                <a:lnSpc>
                  <a:spcPts val="2520"/>
                </a:lnSpc>
              </a:pPr>
              <a:r>
                <a:rPr lang="en-US" sz="2100" dirty="0">
                  <a:solidFill>
                    <a:srgbClr val="000000"/>
                  </a:solidFill>
                  <a:latin typeface="Times New Roman"/>
                  <a:ea typeface="Times New Roman"/>
                  <a:cs typeface="Times New Roman"/>
                  <a:sym typeface="Times New Roman"/>
                </a:rPr>
                <a:t>Returning for its fourth edition in Hanoi, the Cello Square Conference 2026 connects industry leaders and experts to explore the latest market trends, automation strategies, and digital logistics innovations.</a:t>
              </a:r>
            </a:p>
            <a:p>
              <a:pPr algn="l">
                <a:lnSpc>
                  <a:spcPts val="2520"/>
                </a:lnSpc>
              </a:pPr>
              <a:endParaRPr lang="en-US" sz="2100" dirty="0">
                <a:solidFill>
                  <a:srgbClr val="000000"/>
                </a:solidFill>
                <a:latin typeface="Times New Roman"/>
                <a:ea typeface="Times New Roman"/>
                <a:cs typeface="Times New Roman"/>
                <a:sym typeface="Times New Roman"/>
              </a:endParaRPr>
            </a:p>
            <a:p>
              <a:pPr>
                <a:lnSpc>
                  <a:spcPts val="2520"/>
                </a:lnSpc>
              </a:pPr>
              <a:r>
                <a:rPr lang="en-SG" sz="2100" dirty="0">
                  <a:solidFill>
                    <a:srgbClr val="000000"/>
                  </a:solidFill>
                  <a:latin typeface="Times New Roman"/>
                  <a:ea typeface="Times New Roman"/>
                  <a:cs typeface="Times New Roman"/>
                  <a:sym typeface="Times New Roman"/>
                </a:rPr>
                <a:t>Join us at the InterContinental Hanoi Landmark 72 to gain practical insights into the future of logistics and supply chain innovation - and put them into immediate action.</a:t>
              </a:r>
              <a:endParaRPr lang="en-US" sz="2100" dirty="0">
                <a:solidFill>
                  <a:srgbClr val="000000"/>
                </a:solidFill>
                <a:latin typeface="Times New Roman"/>
                <a:ea typeface="Times New Roman"/>
                <a:cs typeface="Times New Roman"/>
                <a:sym typeface="Times New Roman"/>
              </a:endParaRPr>
            </a:p>
          </p:txBody>
        </p:sp>
      </p:grpSp>
      <p:sp>
        <p:nvSpPr>
          <p:cNvPr id="42" name="AutoShape 42"/>
          <p:cNvSpPr/>
          <p:nvPr/>
        </p:nvSpPr>
        <p:spPr>
          <a:xfrm flipV="1">
            <a:off x="9321575" y="6825172"/>
            <a:ext cx="762114" cy="924926"/>
          </a:xfrm>
          <a:prstGeom prst="line">
            <a:avLst/>
          </a:prstGeom>
          <a:ln w="19050" cap="rnd">
            <a:solidFill>
              <a:srgbClr val="FF0000"/>
            </a:solidFill>
            <a:prstDash val="solid"/>
            <a:headEnd type="none" w="sm" len="sm"/>
            <a:tailEnd type="none" w="sm" len="sm"/>
          </a:ln>
        </p:spPr>
      </p:sp>
      <p:sp>
        <p:nvSpPr>
          <p:cNvPr id="43" name="TextBox 43"/>
          <p:cNvSpPr txBox="1"/>
          <p:nvPr/>
        </p:nvSpPr>
        <p:spPr>
          <a:xfrm>
            <a:off x="16488485" y="368276"/>
            <a:ext cx="1541631" cy="462563"/>
          </a:xfrm>
          <a:prstGeom prst="rect">
            <a:avLst/>
          </a:prstGeom>
        </p:spPr>
        <p:txBody>
          <a:bodyPr lIns="0" tIns="0" rIns="0" bIns="0" rtlCol="0" anchor="t">
            <a:spAutoFit/>
          </a:bodyPr>
          <a:lstStyle/>
          <a:p>
            <a:pPr algn="l">
              <a:lnSpc>
                <a:spcPts val="3240"/>
              </a:lnSpc>
            </a:pPr>
            <a:r>
              <a:rPr lang="en-US" sz="2700" b="1">
                <a:solidFill>
                  <a:srgbClr val="000000"/>
                </a:solidFill>
                <a:latin typeface="Aptos Bold"/>
                <a:ea typeface="Aptos Bold"/>
                <a:cs typeface="Aptos Bold"/>
                <a:sym typeface="Aptos Bold"/>
              </a:rPr>
              <a:t>ENGLISH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4774" y="559670"/>
            <a:ext cx="8607533" cy="9167651"/>
            <a:chOff x="0" y="0"/>
            <a:chExt cx="11476711" cy="12223534"/>
          </a:xfrm>
        </p:grpSpPr>
        <p:sp>
          <p:nvSpPr>
            <p:cNvPr id="3" name="Freeform 3"/>
            <p:cNvSpPr/>
            <p:nvPr/>
          </p:nvSpPr>
          <p:spPr>
            <a:xfrm>
              <a:off x="0" y="0"/>
              <a:ext cx="11476736" cy="12223496"/>
            </a:xfrm>
            <a:custGeom>
              <a:avLst/>
              <a:gdLst/>
              <a:ahLst/>
              <a:cxnLst/>
              <a:rect l="l" t="t" r="r" b="b"/>
              <a:pathLst>
                <a:path w="11476736" h="12223496">
                  <a:moveTo>
                    <a:pt x="0" y="0"/>
                  </a:moveTo>
                  <a:lnTo>
                    <a:pt x="11476736" y="0"/>
                  </a:lnTo>
                  <a:lnTo>
                    <a:pt x="11476736" y="12223496"/>
                  </a:lnTo>
                  <a:lnTo>
                    <a:pt x="0" y="12223496"/>
                  </a:lnTo>
                  <a:lnTo>
                    <a:pt x="0" y="0"/>
                  </a:lnTo>
                  <a:close/>
                </a:path>
              </a:pathLst>
            </a:custGeom>
            <a:blipFill>
              <a:blip r:embed="rId3"/>
              <a:stretch>
                <a:fillRect/>
              </a:stretch>
            </a:blipFill>
          </p:spPr>
        </p:sp>
      </p:grpSp>
      <p:graphicFrame>
        <p:nvGraphicFramePr>
          <p:cNvPr id="4" name="Table 4"/>
          <p:cNvGraphicFramePr>
            <a:graphicFrameLocks noGrp="1"/>
          </p:cNvGraphicFramePr>
          <p:nvPr>
            <p:extLst>
              <p:ext uri="{D42A27DB-BD31-4B8C-83A1-F6EECF244321}">
                <p14:modId xmlns:p14="http://schemas.microsoft.com/office/powerpoint/2010/main" val="3366275318"/>
              </p:ext>
            </p:extLst>
          </p:nvPr>
        </p:nvGraphicFramePr>
        <p:xfrm>
          <a:off x="9413405" y="1618567"/>
          <a:ext cx="8722195" cy="7288399"/>
        </p:xfrm>
        <a:graphic>
          <a:graphicData uri="http://schemas.openxmlformats.org/drawingml/2006/table">
            <a:tbl>
              <a:tblPr/>
              <a:tblGrid>
                <a:gridCol w="1726881">
                  <a:extLst>
                    <a:ext uri="{9D8B030D-6E8A-4147-A177-3AD203B41FA5}">
                      <a16:colId xmlns:a16="http://schemas.microsoft.com/office/drawing/2014/main" val="20000"/>
                    </a:ext>
                  </a:extLst>
                </a:gridCol>
                <a:gridCol w="6995314">
                  <a:extLst>
                    <a:ext uri="{9D8B030D-6E8A-4147-A177-3AD203B41FA5}">
                      <a16:colId xmlns:a16="http://schemas.microsoft.com/office/drawing/2014/main" val="20001"/>
                    </a:ext>
                  </a:extLst>
                </a:gridCol>
              </a:tblGrid>
              <a:tr h="523855">
                <a:tc>
                  <a:txBody>
                    <a:bodyPr/>
                    <a:lstStyle/>
                    <a:p>
                      <a:pPr algn="ctr">
                        <a:lnSpc>
                          <a:spcPts val="2160"/>
                        </a:lnSpc>
                        <a:defRPr/>
                      </a:pPr>
                      <a:r>
                        <a:rPr lang="en-US" sz="1800">
                          <a:solidFill>
                            <a:srgbClr val="000000"/>
                          </a:solidFill>
                          <a:latin typeface="Times New Roman"/>
                          <a:ea typeface="Times New Roman"/>
                          <a:cs typeface="Times New Roman"/>
                          <a:sym typeface="Times New Roman"/>
                        </a:rPr>
                        <a:t>Time</a:t>
                      </a:r>
                      <a:endParaRPr lang="en-US" sz="110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Session / Speaker</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43314">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13:30 ~ </a:t>
                      </a:r>
                      <a:r>
                        <a:rPr lang="en-US" sz="1800" dirty="0" smtClean="0">
                          <a:solidFill>
                            <a:srgbClr val="000000"/>
                          </a:solidFill>
                          <a:latin typeface="Times New Roman"/>
                          <a:ea typeface="Times New Roman"/>
                          <a:cs typeface="Times New Roman"/>
                          <a:sym typeface="Times New Roman"/>
                        </a:rPr>
                        <a:t>14:10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Event </a:t>
                      </a:r>
                      <a:r>
                        <a:rPr lang="en-US" sz="1800" dirty="0" smtClean="0">
                          <a:solidFill>
                            <a:srgbClr val="000000"/>
                          </a:solidFill>
                          <a:latin typeface="Times New Roman"/>
                          <a:ea typeface="Times New Roman"/>
                          <a:cs typeface="Times New Roman"/>
                          <a:sym typeface="Times New Roman"/>
                        </a:rPr>
                        <a:t>Registration</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48124">
                <a:tc>
                  <a:txBody>
                    <a:bodyPr/>
                    <a:lstStyle/>
                    <a:p>
                      <a:pPr algn="ctr">
                        <a:lnSpc>
                          <a:spcPts val="2160"/>
                        </a:lnSpc>
                        <a:defRPr/>
                      </a:pPr>
                      <a:r>
                        <a:rPr lang="en-US" sz="1800" dirty="0" smtClean="0">
                          <a:solidFill>
                            <a:srgbClr val="000000"/>
                          </a:solidFill>
                          <a:latin typeface="Times New Roman"/>
                          <a:ea typeface="Times New Roman"/>
                          <a:cs typeface="Times New Roman"/>
                          <a:sym typeface="Times New Roman"/>
                        </a:rPr>
                        <a:t>14:10 </a:t>
                      </a:r>
                      <a:r>
                        <a:rPr lang="en-US" sz="1800" dirty="0">
                          <a:solidFill>
                            <a:srgbClr val="000000"/>
                          </a:solidFill>
                          <a:latin typeface="Times New Roman"/>
                          <a:ea typeface="Times New Roman"/>
                          <a:cs typeface="Times New Roman"/>
                          <a:sym typeface="Times New Roman"/>
                        </a:rPr>
                        <a:t>~ 14:20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Welcome &amp; Opening </a:t>
                      </a:r>
                      <a:r>
                        <a:rPr lang="en-US" sz="1800" dirty="0" smtClean="0">
                          <a:solidFill>
                            <a:srgbClr val="000000"/>
                          </a:solidFill>
                          <a:latin typeface="Times New Roman"/>
                          <a:ea typeface="Times New Roman"/>
                          <a:cs typeface="Times New Roman"/>
                          <a:sym typeface="Times New Roman"/>
                        </a:rPr>
                        <a:t>Remarks</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48124">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14:20 ~ 14:40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AI-Based Solutions for Securing Competitive Advantage</a:t>
                      </a:r>
                      <a:endParaRPr lang="en-US" sz="1100" dirty="0"/>
                    </a:p>
                    <a:p>
                      <a:pPr algn="ctr">
                        <a:lnSpc>
                          <a:spcPts val="2160"/>
                        </a:lnSpc>
                      </a:pPr>
                      <a:r>
                        <a:rPr lang="en-US" sz="1800" dirty="0">
                          <a:solidFill>
                            <a:srgbClr val="00B0F0"/>
                          </a:solidFill>
                          <a:latin typeface="Times New Roman"/>
                          <a:ea typeface="Times New Roman"/>
                          <a:cs typeface="Times New Roman"/>
                          <a:sym typeface="Times New Roman"/>
                        </a:rPr>
                        <a:t>Samsung SDS </a:t>
                      </a:r>
                      <a:r>
                        <a:rPr lang="en-US" sz="1800" dirty="0" smtClean="0">
                          <a:solidFill>
                            <a:srgbClr val="00B0F0"/>
                          </a:solidFill>
                          <a:latin typeface="Times New Roman"/>
                          <a:ea typeface="Times New Roman"/>
                          <a:cs typeface="Times New Roman"/>
                          <a:sym typeface="Times New Roman"/>
                        </a:rPr>
                        <a:t>Asia Pacific, Vice </a:t>
                      </a:r>
                      <a:r>
                        <a:rPr lang="en-US" sz="1800" dirty="0">
                          <a:solidFill>
                            <a:srgbClr val="00B0F0"/>
                          </a:solidFill>
                          <a:latin typeface="Times New Roman"/>
                          <a:ea typeface="Times New Roman"/>
                          <a:cs typeface="Times New Roman"/>
                          <a:sym typeface="Times New Roman"/>
                        </a:rPr>
                        <a:t>President | Mr. Kim Dong </a:t>
                      </a:r>
                      <a:r>
                        <a:rPr lang="en-US" sz="1800" dirty="0" err="1">
                          <a:solidFill>
                            <a:srgbClr val="00B0F0"/>
                          </a:solidFill>
                          <a:latin typeface="Times New Roman"/>
                          <a:ea typeface="Times New Roman"/>
                          <a:cs typeface="Times New Roman"/>
                          <a:sym typeface="Times New Roman"/>
                        </a:rPr>
                        <a:t>Kyun</a:t>
                      </a:r>
                      <a:endParaRPr lang="en-US" sz="1800" dirty="0">
                        <a:solidFill>
                          <a:srgbClr val="00B0F0"/>
                        </a:solidFill>
                        <a:latin typeface="Times New Roman"/>
                        <a:ea typeface="Times New Roman"/>
                        <a:cs typeface="Times New Roman"/>
                        <a:sym typeface="Times New Roman"/>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914998">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14:40 ~ 15:00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smtClean="0">
                          <a:solidFill>
                            <a:srgbClr val="000000"/>
                          </a:solidFill>
                          <a:latin typeface="Times New Roman"/>
                          <a:ea typeface="Times New Roman"/>
                          <a:cs typeface="Times New Roman"/>
                          <a:sym typeface="Times New Roman"/>
                        </a:rPr>
                        <a:t>Ocean Freight Market Outlook and Strategy</a:t>
                      </a:r>
                      <a:endParaRPr lang="en-US" sz="1100" dirty="0" smtClean="0"/>
                    </a:p>
                    <a:p>
                      <a:pPr algn="ctr">
                        <a:lnSpc>
                          <a:spcPts val="2160"/>
                        </a:lnSpc>
                      </a:pPr>
                      <a:r>
                        <a:rPr lang="en-US" sz="1800" dirty="0" smtClean="0">
                          <a:solidFill>
                            <a:srgbClr val="00B0F0"/>
                          </a:solidFill>
                          <a:latin typeface="Times New Roman"/>
                          <a:ea typeface="Times New Roman"/>
                          <a:cs typeface="Times New Roman"/>
                          <a:sym typeface="Times New Roman"/>
                        </a:rPr>
                        <a:t>Samsung SDS</a:t>
                      </a:r>
                      <a:r>
                        <a:rPr lang="en-US" sz="1800" baseline="0" dirty="0" smtClean="0">
                          <a:solidFill>
                            <a:srgbClr val="00B0F0"/>
                          </a:solidFill>
                          <a:latin typeface="Times New Roman"/>
                          <a:ea typeface="Times New Roman"/>
                          <a:cs typeface="Times New Roman"/>
                          <a:sym typeface="Times New Roman"/>
                        </a:rPr>
                        <a:t> Asia Pacific</a:t>
                      </a:r>
                      <a:r>
                        <a:rPr lang="en-US" sz="1800" dirty="0" smtClean="0">
                          <a:solidFill>
                            <a:srgbClr val="00B0F0"/>
                          </a:solidFill>
                          <a:latin typeface="Times New Roman"/>
                          <a:ea typeface="Times New Roman"/>
                          <a:cs typeface="Times New Roman"/>
                          <a:sym typeface="Times New Roman"/>
                        </a:rPr>
                        <a:t>, Ocean Logistics Team Leader | Mr. Matthew Thong </a:t>
                      </a:r>
                      <a:r>
                        <a:rPr lang="en-US" sz="1800" dirty="0" err="1" smtClean="0">
                          <a:solidFill>
                            <a:srgbClr val="00B0F0"/>
                          </a:solidFill>
                          <a:latin typeface="Times New Roman"/>
                          <a:ea typeface="Times New Roman"/>
                          <a:cs typeface="Times New Roman"/>
                          <a:sym typeface="Times New Roman"/>
                        </a:rPr>
                        <a:t>Jit</a:t>
                      </a:r>
                      <a:r>
                        <a:rPr lang="en-US" sz="1800" dirty="0" smtClean="0">
                          <a:solidFill>
                            <a:srgbClr val="00B0F0"/>
                          </a:solidFill>
                          <a:latin typeface="Times New Roman"/>
                          <a:ea typeface="Times New Roman"/>
                          <a:cs typeface="Times New Roman"/>
                          <a:sym typeface="Times New Roman"/>
                        </a:rPr>
                        <a:t> Fong</a:t>
                      </a: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81249">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15:00 ~ 15:20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Networking &amp; Break</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914998">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15:20 ~ 15:40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smtClean="0">
                          <a:solidFill>
                            <a:srgbClr val="000000"/>
                          </a:solidFill>
                          <a:latin typeface="Times New Roman"/>
                          <a:ea typeface="Times New Roman"/>
                          <a:cs typeface="Times New Roman"/>
                          <a:sym typeface="Times New Roman"/>
                        </a:rPr>
                        <a:t>Air Freight Market Outlook and Strategy</a:t>
                      </a:r>
                      <a:endParaRPr lang="en-US" sz="1100" dirty="0" smtClean="0"/>
                    </a:p>
                    <a:p>
                      <a:pPr algn="ctr">
                        <a:lnSpc>
                          <a:spcPts val="2160"/>
                        </a:lnSpc>
                      </a:pPr>
                      <a:r>
                        <a:rPr lang="en-US" sz="1800" dirty="0" smtClean="0">
                          <a:solidFill>
                            <a:srgbClr val="00B0F0"/>
                          </a:solidFill>
                          <a:latin typeface="Times New Roman"/>
                          <a:ea typeface="Times New Roman"/>
                          <a:cs typeface="Times New Roman"/>
                          <a:sym typeface="Times New Roman"/>
                        </a:rPr>
                        <a:t>Samsung SDS Asia</a:t>
                      </a:r>
                      <a:r>
                        <a:rPr lang="en-US" sz="1800" baseline="0" dirty="0" smtClean="0">
                          <a:solidFill>
                            <a:srgbClr val="00B0F0"/>
                          </a:solidFill>
                          <a:latin typeface="Times New Roman"/>
                          <a:ea typeface="Times New Roman"/>
                          <a:cs typeface="Times New Roman"/>
                          <a:sym typeface="Times New Roman"/>
                        </a:rPr>
                        <a:t> Pacific</a:t>
                      </a:r>
                      <a:r>
                        <a:rPr lang="en-US" sz="1800" dirty="0" smtClean="0">
                          <a:solidFill>
                            <a:srgbClr val="00B0F0"/>
                          </a:solidFill>
                          <a:latin typeface="Times New Roman"/>
                          <a:ea typeface="Times New Roman"/>
                          <a:cs typeface="Times New Roman"/>
                          <a:sym typeface="Times New Roman"/>
                        </a:rPr>
                        <a:t>, Air Logistics Team Leader | Mr. Bae </a:t>
                      </a:r>
                      <a:r>
                        <a:rPr lang="en-US" sz="1800" dirty="0" err="1" smtClean="0">
                          <a:solidFill>
                            <a:srgbClr val="00B0F0"/>
                          </a:solidFill>
                          <a:latin typeface="Times New Roman"/>
                          <a:ea typeface="Times New Roman"/>
                          <a:cs typeface="Times New Roman"/>
                          <a:sym typeface="Times New Roman"/>
                        </a:rPr>
                        <a:t>Kyungjin</a:t>
                      </a:r>
                      <a:endParaRPr lang="en-US" sz="1800" dirty="0" smtClean="0">
                        <a:solidFill>
                          <a:srgbClr val="00B0F0"/>
                        </a:solidFill>
                        <a:latin typeface="Times New Roman"/>
                        <a:ea typeface="Times New Roman"/>
                        <a:cs typeface="Times New Roman"/>
                        <a:sym typeface="Times New Roman"/>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181872">
                <a:tc>
                  <a:txBody>
                    <a:bodyPr/>
                    <a:lstStyle/>
                    <a:p>
                      <a:pPr algn="ctr">
                        <a:lnSpc>
                          <a:spcPts val="2160"/>
                        </a:lnSpc>
                        <a:defRPr/>
                      </a:pPr>
                      <a:r>
                        <a:rPr lang="en-US" sz="1800" dirty="0" smtClean="0">
                          <a:solidFill>
                            <a:srgbClr val="000000"/>
                          </a:solidFill>
                          <a:latin typeface="Times New Roman"/>
                          <a:ea typeface="Times New Roman"/>
                          <a:cs typeface="Times New Roman"/>
                          <a:sym typeface="Times New Roman"/>
                        </a:rPr>
                        <a:t>15:40 </a:t>
                      </a:r>
                      <a:r>
                        <a:rPr lang="en-US" sz="1800" dirty="0">
                          <a:solidFill>
                            <a:srgbClr val="000000"/>
                          </a:solidFill>
                          <a:latin typeface="Times New Roman"/>
                          <a:ea typeface="Times New Roman"/>
                          <a:cs typeface="Times New Roman"/>
                          <a:sym typeface="Times New Roman"/>
                        </a:rPr>
                        <a:t>~ </a:t>
                      </a:r>
                      <a:r>
                        <a:rPr lang="en-US" sz="1800" dirty="0" smtClean="0">
                          <a:solidFill>
                            <a:srgbClr val="000000"/>
                          </a:solidFill>
                          <a:latin typeface="Times New Roman"/>
                          <a:ea typeface="Times New Roman"/>
                          <a:cs typeface="Times New Roman"/>
                          <a:sym typeface="Times New Roman"/>
                        </a:rPr>
                        <a:t>16:00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From Outsourced Function to Strategic Engine: The New Era of Contract Logistics</a:t>
                      </a:r>
                      <a:endParaRPr lang="en-US" sz="1100" dirty="0"/>
                    </a:p>
                    <a:p>
                      <a:pPr algn="ctr">
                        <a:lnSpc>
                          <a:spcPts val="2160"/>
                        </a:lnSpc>
                      </a:pPr>
                      <a:r>
                        <a:rPr lang="en-US" sz="1800" dirty="0">
                          <a:solidFill>
                            <a:srgbClr val="00B0F0"/>
                          </a:solidFill>
                          <a:latin typeface="Times New Roman"/>
                          <a:ea typeface="Times New Roman"/>
                          <a:cs typeface="Times New Roman"/>
                          <a:sym typeface="Times New Roman"/>
                        </a:rPr>
                        <a:t>Samsung SDS </a:t>
                      </a:r>
                      <a:r>
                        <a:rPr lang="en-US" sz="1800" dirty="0" smtClean="0">
                          <a:solidFill>
                            <a:srgbClr val="00B0F0"/>
                          </a:solidFill>
                          <a:latin typeface="Times New Roman"/>
                          <a:ea typeface="Times New Roman"/>
                          <a:cs typeface="Times New Roman"/>
                          <a:sym typeface="Times New Roman"/>
                        </a:rPr>
                        <a:t>Asia Pacific, Contract </a:t>
                      </a:r>
                      <a:r>
                        <a:rPr lang="en-US" sz="1800" dirty="0">
                          <a:solidFill>
                            <a:srgbClr val="00B0F0"/>
                          </a:solidFill>
                          <a:latin typeface="Times New Roman"/>
                          <a:ea typeface="Times New Roman"/>
                          <a:cs typeface="Times New Roman"/>
                          <a:sym typeface="Times New Roman"/>
                        </a:rPr>
                        <a:t>Logistics Team Leader | Mr. Nay </a:t>
                      </a:r>
                      <a:r>
                        <a:rPr lang="en-US" sz="1800" dirty="0" err="1">
                          <a:solidFill>
                            <a:srgbClr val="00B0F0"/>
                          </a:solidFill>
                          <a:latin typeface="Times New Roman"/>
                          <a:ea typeface="Times New Roman"/>
                          <a:cs typeface="Times New Roman"/>
                          <a:sym typeface="Times New Roman"/>
                        </a:rPr>
                        <a:t>Htoo</a:t>
                      </a:r>
                      <a:r>
                        <a:rPr lang="en-US" sz="1800" dirty="0">
                          <a:solidFill>
                            <a:srgbClr val="00B0F0"/>
                          </a:solidFill>
                          <a:latin typeface="Times New Roman"/>
                          <a:ea typeface="Times New Roman"/>
                          <a:cs typeface="Times New Roman"/>
                          <a:sym typeface="Times New Roman"/>
                        </a:rPr>
                        <a:t> Aung</a:t>
                      </a: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181872">
                <a:tc>
                  <a:txBody>
                    <a:bodyPr/>
                    <a:lstStyle/>
                    <a:p>
                      <a:pPr algn="ctr">
                        <a:lnSpc>
                          <a:spcPts val="2160"/>
                        </a:lnSpc>
                        <a:defRPr/>
                      </a:pPr>
                      <a:r>
                        <a:rPr lang="en-US" sz="1800" dirty="0" smtClean="0">
                          <a:solidFill>
                            <a:srgbClr val="000000"/>
                          </a:solidFill>
                          <a:latin typeface="Times New Roman"/>
                          <a:ea typeface="Times New Roman"/>
                          <a:cs typeface="Times New Roman"/>
                          <a:sym typeface="Times New Roman"/>
                        </a:rPr>
                        <a:t>16:00 </a:t>
                      </a:r>
                      <a:r>
                        <a:rPr lang="en-US" sz="1800" dirty="0">
                          <a:solidFill>
                            <a:srgbClr val="000000"/>
                          </a:solidFill>
                          <a:latin typeface="Times New Roman"/>
                          <a:ea typeface="Times New Roman"/>
                          <a:cs typeface="Times New Roman"/>
                          <a:sym typeface="Times New Roman"/>
                        </a:rPr>
                        <a:t>~ </a:t>
                      </a:r>
                      <a:r>
                        <a:rPr lang="en-US" sz="1800" dirty="0" smtClean="0">
                          <a:solidFill>
                            <a:srgbClr val="000000"/>
                          </a:solidFill>
                          <a:latin typeface="Times New Roman"/>
                          <a:ea typeface="Times New Roman"/>
                          <a:cs typeface="Times New Roman"/>
                          <a:sym typeface="Times New Roman"/>
                        </a:rPr>
                        <a:t>16:20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Driving Enterprise Resilience: Navigating Global Disruption with Automation</a:t>
                      </a:r>
                      <a:endParaRPr lang="en-US" sz="1100" dirty="0"/>
                    </a:p>
                    <a:p>
                      <a:pPr algn="ctr">
                        <a:lnSpc>
                          <a:spcPts val="2160"/>
                        </a:lnSpc>
                      </a:pPr>
                      <a:r>
                        <a:rPr lang="en-US" sz="1800" dirty="0">
                          <a:solidFill>
                            <a:srgbClr val="00B0F0"/>
                          </a:solidFill>
                          <a:latin typeface="Times New Roman"/>
                          <a:ea typeface="Times New Roman"/>
                          <a:cs typeface="Times New Roman"/>
                          <a:sym typeface="Times New Roman"/>
                        </a:rPr>
                        <a:t>Samsung SDS </a:t>
                      </a:r>
                      <a:r>
                        <a:rPr lang="en-US" sz="1800" dirty="0" smtClean="0">
                          <a:solidFill>
                            <a:srgbClr val="00B0F0"/>
                          </a:solidFill>
                          <a:latin typeface="Times New Roman"/>
                          <a:ea typeface="Times New Roman"/>
                          <a:cs typeface="Times New Roman"/>
                          <a:sym typeface="Times New Roman"/>
                        </a:rPr>
                        <a:t>Asia Pacific, </a:t>
                      </a:r>
                      <a:r>
                        <a:rPr lang="en-US" sz="1800" dirty="0">
                          <a:solidFill>
                            <a:srgbClr val="00B0F0"/>
                          </a:solidFill>
                          <a:latin typeface="Times New Roman"/>
                          <a:ea typeface="Times New Roman"/>
                          <a:cs typeface="Times New Roman"/>
                          <a:sym typeface="Times New Roman"/>
                        </a:rPr>
                        <a:t>Operations and Automation Team Leader | Mr. </a:t>
                      </a:r>
                      <a:r>
                        <a:rPr lang="en-US" sz="1800" dirty="0" smtClean="0">
                          <a:solidFill>
                            <a:srgbClr val="00B0F0"/>
                          </a:solidFill>
                          <a:latin typeface="Times New Roman"/>
                          <a:ea typeface="Times New Roman"/>
                          <a:cs typeface="Times New Roman"/>
                          <a:sym typeface="Times New Roman"/>
                        </a:rPr>
                        <a:t>Lee Je Ho</a:t>
                      </a:r>
                      <a:endParaRPr lang="en-US" sz="1800" dirty="0">
                        <a:solidFill>
                          <a:srgbClr val="00B0F0"/>
                        </a:solidFill>
                        <a:latin typeface="Times New Roman"/>
                        <a:ea typeface="Times New Roman"/>
                        <a:cs typeface="Times New Roman"/>
                        <a:sym typeface="Times New Roman"/>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449993">
                <a:tc>
                  <a:txBody>
                    <a:bodyPr/>
                    <a:lstStyle/>
                    <a:p>
                      <a:pPr algn="ctr">
                        <a:lnSpc>
                          <a:spcPts val="2160"/>
                        </a:lnSpc>
                        <a:defRPr/>
                      </a:pPr>
                      <a:r>
                        <a:rPr lang="en-US" sz="1800">
                          <a:solidFill>
                            <a:srgbClr val="000000"/>
                          </a:solidFill>
                          <a:latin typeface="Times New Roman"/>
                          <a:ea typeface="Times New Roman"/>
                          <a:cs typeface="Times New Roman"/>
                          <a:sym typeface="Times New Roman"/>
                        </a:rPr>
                        <a:t>16:20 ~ 17:00</a:t>
                      </a:r>
                      <a:endParaRPr lang="en-US" sz="110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Lucky Draw &amp; Closing</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7" name="TextBox 7"/>
          <p:cNvSpPr txBox="1"/>
          <p:nvPr/>
        </p:nvSpPr>
        <p:spPr>
          <a:xfrm>
            <a:off x="9601200" y="9410700"/>
            <a:ext cx="11188401" cy="585499"/>
          </a:xfrm>
          <a:prstGeom prst="rect">
            <a:avLst/>
          </a:prstGeom>
        </p:spPr>
        <p:txBody>
          <a:bodyPr lIns="50800" tIns="50800" rIns="50800" bIns="50800" rtlCol="0" anchor="t"/>
          <a:lstStyle/>
          <a:p>
            <a:pPr>
              <a:lnSpc>
                <a:spcPts val="2160"/>
              </a:lnSpc>
            </a:pPr>
            <a:r>
              <a:rPr lang="en-US" sz="1800" dirty="0" smtClean="0">
                <a:solidFill>
                  <a:srgbClr val="000000"/>
                </a:solidFill>
                <a:latin typeface="Times New Roman"/>
                <a:ea typeface="Times New Roman"/>
                <a:cs typeface="Times New Roman"/>
                <a:sym typeface="Times New Roman"/>
              </a:rPr>
              <a:t>※ </a:t>
            </a:r>
            <a:r>
              <a:rPr lang="en-SG" dirty="0">
                <a:solidFill>
                  <a:srgbClr val="000000"/>
                </a:solidFill>
                <a:latin typeface="Times New Roman"/>
                <a:ea typeface="Times New Roman"/>
                <a:cs typeface="Times New Roman"/>
                <a:sym typeface="Times New Roman"/>
              </a:rPr>
              <a:t>Sessions and </a:t>
            </a:r>
            <a:r>
              <a:rPr lang="en-SG" dirty="0" smtClean="0">
                <a:solidFill>
                  <a:srgbClr val="000000"/>
                </a:solidFill>
                <a:latin typeface="Times New Roman"/>
                <a:ea typeface="Times New Roman"/>
                <a:cs typeface="Times New Roman"/>
                <a:sym typeface="Times New Roman"/>
              </a:rPr>
              <a:t>speakers </a:t>
            </a:r>
            <a:r>
              <a:rPr lang="en-SG" dirty="0">
                <a:solidFill>
                  <a:srgbClr val="000000"/>
                </a:solidFill>
                <a:latin typeface="Times New Roman"/>
                <a:ea typeface="Times New Roman"/>
                <a:cs typeface="Times New Roman"/>
                <a:sym typeface="Times New Roman"/>
              </a:rPr>
              <a:t>are subject to change without prior </a:t>
            </a:r>
            <a:r>
              <a:rPr lang="en-SG" dirty="0" smtClean="0">
                <a:solidFill>
                  <a:srgbClr val="000000"/>
                </a:solidFill>
                <a:latin typeface="Times New Roman"/>
                <a:ea typeface="Times New Roman"/>
                <a:cs typeface="Times New Roman"/>
                <a:sym typeface="Times New Roman"/>
              </a:rPr>
              <a:t>notification.</a:t>
            </a:r>
            <a:r>
              <a:rPr lang="en-US" dirty="0">
                <a:solidFill>
                  <a:srgbClr val="000000"/>
                </a:solidFill>
                <a:latin typeface="Times New Roman"/>
                <a:ea typeface="Times New Roman"/>
                <a:cs typeface="Times New Roman"/>
                <a:sym typeface="Times New Roman"/>
              </a:rPr>
              <a:t/>
            </a:r>
            <a:br>
              <a:rPr lang="en-US" dirty="0">
                <a:solidFill>
                  <a:srgbClr val="000000"/>
                </a:solidFill>
                <a:latin typeface="Times New Roman"/>
                <a:ea typeface="Times New Roman"/>
                <a:cs typeface="Times New Roman"/>
                <a:sym typeface="Times New Roman"/>
              </a:rPr>
            </a:br>
            <a:r>
              <a:rPr lang="en-US" dirty="0">
                <a:solidFill>
                  <a:srgbClr val="000000"/>
                </a:solidFill>
                <a:latin typeface="Times New Roman"/>
                <a:ea typeface="Times New Roman"/>
                <a:cs typeface="Times New Roman"/>
                <a:sym typeface="Times New Roman"/>
              </a:rPr>
              <a:t>※ </a:t>
            </a:r>
            <a:r>
              <a:rPr lang="en-US" dirty="0" smtClean="0">
                <a:solidFill>
                  <a:srgbClr val="000000"/>
                </a:solidFill>
                <a:latin typeface="Times New Roman"/>
                <a:ea typeface="Times New Roman"/>
                <a:cs typeface="Times New Roman"/>
                <a:sym typeface="Times New Roman"/>
              </a:rPr>
              <a:t>The conference will be presented in mainly in English and Korean with Vietnamese translation were possible.</a:t>
            </a:r>
            <a:endParaRPr lang="en-US" dirty="0">
              <a:solidFill>
                <a:srgbClr val="000000"/>
              </a:solidFill>
              <a:latin typeface="Times New Roman"/>
              <a:ea typeface="Times New Roman"/>
              <a:cs typeface="Times New Roman"/>
              <a:sym typeface="Times New Roman"/>
            </a:endParaRPr>
          </a:p>
          <a:p>
            <a:pPr algn="l">
              <a:lnSpc>
                <a:spcPts val="2160"/>
              </a:lnSpc>
            </a:pPr>
            <a:endParaRPr lang="en-US" sz="1800" dirty="0">
              <a:solidFill>
                <a:srgbClr val="000000"/>
              </a:solidFill>
              <a:latin typeface="Times New Roman"/>
              <a:ea typeface="Times New Roman"/>
              <a:cs typeface="Times New Roman"/>
              <a:sym typeface="Times New Roman"/>
            </a:endParaRPr>
          </a:p>
        </p:txBody>
      </p:sp>
      <p:grpSp>
        <p:nvGrpSpPr>
          <p:cNvPr id="8" name="Group 8"/>
          <p:cNvGrpSpPr/>
          <p:nvPr/>
        </p:nvGrpSpPr>
        <p:grpSpPr>
          <a:xfrm>
            <a:off x="793975" y="1920650"/>
            <a:ext cx="8027805" cy="6021162"/>
            <a:chOff x="0" y="0"/>
            <a:chExt cx="10703739" cy="8028216"/>
          </a:xfrm>
        </p:grpSpPr>
        <p:sp>
          <p:nvSpPr>
            <p:cNvPr id="9" name="Freeform 9"/>
            <p:cNvSpPr/>
            <p:nvPr/>
          </p:nvSpPr>
          <p:spPr>
            <a:xfrm>
              <a:off x="0" y="0"/>
              <a:ext cx="10703740" cy="8028178"/>
            </a:xfrm>
            <a:custGeom>
              <a:avLst/>
              <a:gdLst/>
              <a:ahLst/>
              <a:cxnLst/>
              <a:rect l="l" t="t" r="r" b="b"/>
              <a:pathLst>
                <a:path w="10703740" h="8028178">
                  <a:moveTo>
                    <a:pt x="0" y="0"/>
                  </a:moveTo>
                  <a:lnTo>
                    <a:pt x="10703740" y="0"/>
                  </a:lnTo>
                  <a:lnTo>
                    <a:pt x="10703740" y="8028178"/>
                  </a:lnTo>
                  <a:lnTo>
                    <a:pt x="0" y="8028178"/>
                  </a:lnTo>
                  <a:close/>
                </a:path>
              </a:pathLst>
            </a:custGeom>
            <a:blipFill>
              <a:blip r:embed="rId4">
                <a:alphaModFix amt="0"/>
              </a:blip>
              <a:stretch>
                <a:fillRect l="-43729" r="-48735"/>
              </a:stretch>
            </a:blipFill>
            <a:ln w="28575" cap="sq">
              <a:solidFill>
                <a:srgbClr val="FF0000"/>
              </a:solidFill>
              <a:prstDash val="solid"/>
              <a:miter/>
            </a:ln>
          </p:spPr>
        </p:sp>
      </p:grpSp>
      <p:sp>
        <p:nvSpPr>
          <p:cNvPr id="10" name="AutoShape 10"/>
          <p:cNvSpPr/>
          <p:nvPr/>
        </p:nvSpPr>
        <p:spPr>
          <a:xfrm rot="2700000">
            <a:off x="3898649" y="864051"/>
            <a:ext cx="40415" cy="0"/>
          </a:xfrm>
          <a:prstGeom prst="line">
            <a:avLst/>
          </a:prstGeom>
          <a:ln w="19050" cap="rnd">
            <a:solidFill>
              <a:srgbClr val="156082"/>
            </a:solidFill>
            <a:prstDash val="solid"/>
            <a:headEnd type="none" w="sm" len="sm"/>
            <a:tailEnd type="none" w="sm" len="sm"/>
          </a:ln>
        </p:spPr>
      </p:sp>
      <p:grpSp>
        <p:nvGrpSpPr>
          <p:cNvPr id="11" name="Group 11"/>
          <p:cNvGrpSpPr/>
          <p:nvPr/>
        </p:nvGrpSpPr>
        <p:grpSpPr>
          <a:xfrm>
            <a:off x="3920900" y="1179376"/>
            <a:ext cx="1914525" cy="671874"/>
            <a:chOff x="0" y="0"/>
            <a:chExt cx="2552700" cy="895833"/>
          </a:xfrm>
        </p:grpSpPr>
        <p:sp>
          <p:nvSpPr>
            <p:cNvPr id="12" name="Freeform 12"/>
            <p:cNvSpPr/>
            <p:nvPr/>
          </p:nvSpPr>
          <p:spPr>
            <a:xfrm>
              <a:off x="0" y="0"/>
              <a:ext cx="2552700" cy="895858"/>
            </a:xfrm>
            <a:custGeom>
              <a:avLst/>
              <a:gdLst/>
              <a:ahLst/>
              <a:cxnLst/>
              <a:rect l="l" t="t" r="r" b="b"/>
              <a:pathLst>
                <a:path w="2552700" h="895858">
                  <a:moveTo>
                    <a:pt x="0" y="0"/>
                  </a:moveTo>
                  <a:lnTo>
                    <a:pt x="2552700" y="0"/>
                  </a:lnTo>
                  <a:lnTo>
                    <a:pt x="2552700" y="895858"/>
                  </a:lnTo>
                  <a:lnTo>
                    <a:pt x="0" y="895858"/>
                  </a:lnTo>
                  <a:close/>
                </a:path>
              </a:pathLst>
            </a:custGeom>
            <a:blipFill>
              <a:blip r:embed="rId4">
                <a:alphaModFix amt="0"/>
              </a:blip>
              <a:stretch>
                <a:fillRect t="-5523" b="-5520"/>
              </a:stretch>
            </a:blipFill>
            <a:ln w="28575" cap="sq">
              <a:solidFill>
                <a:srgbClr val="FF0000"/>
              </a:solidFill>
              <a:prstDash val="solid"/>
              <a:miter/>
            </a:ln>
          </p:spPr>
        </p:sp>
      </p:grpSp>
      <p:sp>
        <p:nvSpPr>
          <p:cNvPr id="13" name="AutoShape 13"/>
          <p:cNvSpPr/>
          <p:nvPr/>
        </p:nvSpPr>
        <p:spPr>
          <a:xfrm rot="2700000">
            <a:off x="3898649" y="864051"/>
            <a:ext cx="40415" cy="0"/>
          </a:xfrm>
          <a:prstGeom prst="line">
            <a:avLst/>
          </a:prstGeom>
          <a:ln w="19050" cap="rnd">
            <a:solidFill>
              <a:srgbClr val="156082"/>
            </a:solidFill>
            <a:prstDash val="solid"/>
            <a:headEnd type="none" w="sm" len="sm"/>
            <a:tailEnd type="none" w="sm" len="sm"/>
          </a:ln>
        </p:spPr>
      </p:sp>
      <p:grpSp>
        <p:nvGrpSpPr>
          <p:cNvPr id="14" name="Group 14"/>
          <p:cNvGrpSpPr/>
          <p:nvPr/>
        </p:nvGrpSpPr>
        <p:grpSpPr>
          <a:xfrm>
            <a:off x="9413405" y="1028700"/>
            <a:ext cx="3110589" cy="468269"/>
            <a:chOff x="0" y="0"/>
            <a:chExt cx="4147452" cy="624359"/>
          </a:xfrm>
        </p:grpSpPr>
        <p:sp>
          <p:nvSpPr>
            <p:cNvPr id="15" name="Freeform 15"/>
            <p:cNvSpPr/>
            <p:nvPr/>
          </p:nvSpPr>
          <p:spPr>
            <a:xfrm>
              <a:off x="0" y="0"/>
              <a:ext cx="4147439" cy="624371"/>
            </a:xfrm>
            <a:custGeom>
              <a:avLst/>
              <a:gdLst/>
              <a:ahLst/>
              <a:cxnLst/>
              <a:rect l="l" t="t" r="r" b="b"/>
              <a:pathLst>
                <a:path w="4147439" h="624371">
                  <a:moveTo>
                    <a:pt x="0" y="0"/>
                  </a:moveTo>
                  <a:lnTo>
                    <a:pt x="4147439" y="0"/>
                  </a:lnTo>
                  <a:lnTo>
                    <a:pt x="4147439" y="624371"/>
                  </a:lnTo>
                  <a:lnTo>
                    <a:pt x="0" y="624371"/>
                  </a:lnTo>
                  <a:close/>
                </a:path>
              </a:pathLst>
            </a:custGeom>
            <a:blipFill>
              <a:blip r:embed="rId4">
                <a:alphaModFix amt="0"/>
              </a:blip>
              <a:stretch>
                <a:fillRect t="-80137" b="-78725"/>
              </a:stretch>
            </a:blipFill>
            <a:ln cap="sq">
              <a:noFill/>
              <a:prstDash val="solid"/>
              <a:miter/>
            </a:ln>
          </p:spPr>
        </p:sp>
        <p:sp>
          <p:nvSpPr>
            <p:cNvPr id="16" name="TextBox 16"/>
            <p:cNvSpPr txBox="1"/>
            <p:nvPr/>
          </p:nvSpPr>
          <p:spPr>
            <a:xfrm>
              <a:off x="0" y="-9525"/>
              <a:ext cx="4147452" cy="633884"/>
            </a:xfrm>
            <a:prstGeom prst="rect">
              <a:avLst/>
            </a:prstGeom>
          </p:spPr>
          <p:txBody>
            <a:bodyPr lIns="50800" tIns="50800" rIns="50800" bIns="50800" rtlCol="0" anchor="t"/>
            <a:lstStyle/>
            <a:p>
              <a:pPr algn="l">
                <a:lnSpc>
                  <a:spcPts val="2520"/>
                </a:lnSpc>
              </a:pPr>
              <a:r>
                <a:rPr lang="en-US" sz="2100" b="1">
                  <a:solidFill>
                    <a:srgbClr val="000000"/>
                  </a:solidFill>
                  <a:latin typeface="Aptos Bold"/>
                  <a:ea typeface="Aptos Bold"/>
                  <a:cs typeface="Aptos Bold"/>
                  <a:sym typeface="Aptos Bold"/>
                </a:rPr>
                <a:t>Agenda</a:t>
              </a:r>
            </a:p>
          </p:txBody>
        </p:sp>
      </p:grpSp>
      <p:sp>
        <p:nvSpPr>
          <p:cNvPr id="17" name="AutoShape 17"/>
          <p:cNvSpPr/>
          <p:nvPr/>
        </p:nvSpPr>
        <p:spPr>
          <a:xfrm flipV="1">
            <a:off x="5835425" y="1262835"/>
            <a:ext cx="3577981" cy="252479"/>
          </a:xfrm>
          <a:prstGeom prst="line">
            <a:avLst/>
          </a:prstGeom>
          <a:ln w="19050" cap="rnd">
            <a:solidFill>
              <a:srgbClr val="FF0000"/>
            </a:solidFill>
            <a:prstDash val="solid"/>
            <a:headEnd type="none" w="sm" len="sm"/>
            <a:tailEnd type="none" w="sm" len="sm"/>
          </a:ln>
        </p:spPr>
      </p:sp>
      <p:grpSp>
        <p:nvGrpSpPr>
          <p:cNvPr id="19" name="Group 19"/>
          <p:cNvGrpSpPr/>
          <p:nvPr/>
        </p:nvGrpSpPr>
        <p:grpSpPr>
          <a:xfrm>
            <a:off x="2181901" y="9040720"/>
            <a:ext cx="5147586" cy="700897"/>
            <a:chOff x="0" y="0"/>
            <a:chExt cx="6863448" cy="934529"/>
          </a:xfrm>
        </p:grpSpPr>
        <p:sp>
          <p:nvSpPr>
            <p:cNvPr id="20" name="Freeform 20"/>
            <p:cNvSpPr/>
            <p:nvPr/>
          </p:nvSpPr>
          <p:spPr>
            <a:xfrm>
              <a:off x="0" y="0"/>
              <a:ext cx="6863461" cy="934593"/>
            </a:xfrm>
            <a:custGeom>
              <a:avLst/>
              <a:gdLst/>
              <a:ahLst/>
              <a:cxnLst/>
              <a:rect l="l" t="t" r="r" b="b"/>
              <a:pathLst>
                <a:path w="6863461" h="934593">
                  <a:moveTo>
                    <a:pt x="0" y="0"/>
                  </a:moveTo>
                  <a:lnTo>
                    <a:pt x="6863461" y="0"/>
                  </a:lnTo>
                  <a:lnTo>
                    <a:pt x="6863461" y="934593"/>
                  </a:lnTo>
                  <a:lnTo>
                    <a:pt x="0" y="934593"/>
                  </a:lnTo>
                  <a:close/>
                </a:path>
              </a:pathLst>
            </a:custGeom>
            <a:blipFill>
              <a:blip r:embed="rId4">
                <a:alphaModFix amt="0"/>
              </a:blip>
              <a:stretch>
                <a:fillRect t="-93097" b="-93090"/>
              </a:stretch>
            </a:blipFill>
            <a:ln w="28575" cap="sq">
              <a:solidFill>
                <a:srgbClr val="FF0000"/>
              </a:solidFill>
              <a:prstDash val="solid"/>
              <a:miter/>
            </a:ln>
          </p:spPr>
        </p:sp>
      </p:grpSp>
      <p:sp>
        <p:nvSpPr>
          <p:cNvPr id="21" name="AutoShape 21"/>
          <p:cNvSpPr/>
          <p:nvPr/>
        </p:nvSpPr>
        <p:spPr>
          <a:xfrm>
            <a:off x="7300912" y="9376872"/>
            <a:ext cx="2224087" cy="262428"/>
          </a:xfrm>
          <a:prstGeom prst="line">
            <a:avLst/>
          </a:prstGeom>
          <a:ln w="19050" cap="rnd">
            <a:solidFill>
              <a:srgbClr val="FF0000"/>
            </a:solidFill>
            <a:prstDash val="solid"/>
            <a:headEnd type="none" w="sm" len="sm"/>
            <a:tailEnd type="none" w="sm" len="sm"/>
          </a:ln>
        </p:spPr>
      </p:sp>
      <p:grpSp>
        <p:nvGrpSpPr>
          <p:cNvPr id="22" name="Group 22"/>
          <p:cNvGrpSpPr/>
          <p:nvPr/>
        </p:nvGrpSpPr>
        <p:grpSpPr>
          <a:xfrm>
            <a:off x="793975" y="7996685"/>
            <a:ext cx="5147586" cy="700897"/>
            <a:chOff x="0" y="0"/>
            <a:chExt cx="6863448" cy="934529"/>
          </a:xfrm>
        </p:grpSpPr>
        <p:sp>
          <p:nvSpPr>
            <p:cNvPr id="23" name="Freeform 23"/>
            <p:cNvSpPr/>
            <p:nvPr/>
          </p:nvSpPr>
          <p:spPr>
            <a:xfrm>
              <a:off x="0" y="0"/>
              <a:ext cx="6863461" cy="934593"/>
            </a:xfrm>
            <a:custGeom>
              <a:avLst/>
              <a:gdLst/>
              <a:ahLst/>
              <a:cxnLst/>
              <a:rect l="l" t="t" r="r" b="b"/>
              <a:pathLst>
                <a:path w="6863461" h="934593">
                  <a:moveTo>
                    <a:pt x="0" y="0"/>
                  </a:moveTo>
                  <a:lnTo>
                    <a:pt x="6863461" y="0"/>
                  </a:lnTo>
                  <a:lnTo>
                    <a:pt x="6863461" y="934593"/>
                  </a:lnTo>
                  <a:lnTo>
                    <a:pt x="0" y="934593"/>
                  </a:lnTo>
                  <a:close/>
                </a:path>
              </a:pathLst>
            </a:custGeom>
            <a:blipFill>
              <a:blip r:embed="rId4">
                <a:alphaModFix amt="0"/>
              </a:blip>
              <a:stretch>
                <a:fillRect t="-93097" b="-93090"/>
              </a:stretch>
            </a:blipFill>
            <a:ln w="28575" cap="sq">
              <a:solidFill>
                <a:srgbClr val="FF0000"/>
              </a:solidFill>
              <a:prstDash val="solid"/>
              <a:miter/>
            </a:ln>
          </p:spPr>
        </p:sp>
      </p:grpSp>
      <p:sp>
        <p:nvSpPr>
          <p:cNvPr id="24" name="AutoShape 24"/>
          <p:cNvSpPr/>
          <p:nvPr/>
        </p:nvSpPr>
        <p:spPr>
          <a:xfrm>
            <a:off x="5912987" y="8582131"/>
            <a:ext cx="3500418" cy="541397"/>
          </a:xfrm>
          <a:prstGeom prst="line">
            <a:avLst/>
          </a:prstGeom>
          <a:ln w="19050" cap="rnd">
            <a:solidFill>
              <a:srgbClr val="FF0000"/>
            </a:solidFill>
            <a:prstDash val="solid"/>
            <a:headEnd type="none" w="sm" len="sm"/>
            <a:tailEnd type="none" w="sm" len="sm"/>
          </a:ln>
        </p:spPr>
      </p:sp>
      <p:sp>
        <p:nvSpPr>
          <p:cNvPr id="25" name="TextBox 25"/>
          <p:cNvSpPr txBox="1"/>
          <p:nvPr/>
        </p:nvSpPr>
        <p:spPr>
          <a:xfrm>
            <a:off x="16482289" y="334094"/>
            <a:ext cx="1541631" cy="462563"/>
          </a:xfrm>
          <a:prstGeom prst="rect">
            <a:avLst/>
          </a:prstGeom>
        </p:spPr>
        <p:txBody>
          <a:bodyPr lIns="0" tIns="0" rIns="0" bIns="0" rtlCol="0" anchor="t">
            <a:spAutoFit/>
          </a:bodyPr>
          <a:lstStyle/>
          <a:p>
            <a:pPr algn="l">
              <a:lnSpc>
                <a:spcPts val="3240"/>
              </a:lnSpc>
            </a:pPr>
            <a:r>
              <a:rPr lang="en-US" sz="2700" b="1">
                <a:solidFill>
                  <a:srgbClr val="000000"/>
                </a:solidFill>
                <a:latin typeface="Aptos Bold"/>
                <a:ea typeface="Aptos Bold"/>
                <a:cs typeface="Aptos Bold"/>
                <a:sym typeface="Aptos Bold"/>
              </a:rPr>
              <a:t>ENGLISH</a:t>
            </a:r>
          </a:p>
        </p:txBody>
      </p:sp>
      <p:grpSp>
        <p:nvGrpSpPr>
          <p:cNvPr id="26" name="Group 26"/>
          <p:cNvGrpSpPr/>
          <p:nvPr/>
        </p:nvGrpSpPr>
        <p:grpSpPr>
          <a:xfrm>
            <a:off x="9525000" y="9029700"/>
            <a:ext cx="11008195" cy="430523"/>
            <a:chOff x="0" y="0"/>
            <a:chExt cx="10147841" cy="574030"/>
          </a:xfrm>
        </p:grpSpPr>
        <p:sp>
          <p:nvSpPr>
            <p:cNvPr id="27" name="Freeform 27"/>
            <p:cNvSpPr/>
            <p:nvPr/>
          </p:nvSpPr>
          <p:spPr>
            <a:xfrm>
              <a:off x="0" y="0"/>
              <a:ext cx="10147809" cy="574004"/>
            </a:xfrm>
            <a:custGeom>
              <a:avLst/>
              <a:gdLst/>
              <a:ahLst/>
              <a:cxnLst/>
              <a:rect l="l" t="t" r="r" b="b"/>
              <a:pathLst>
                <a:path w="10147809" h="574004">
                  <a:moveTo>
                    <a:pt x="0" y="0"/>
                  </a:moveTo>
                  <a:lnTo>
                    <a:pt x="10147809" y="0"/>
                  </a:lnTo>
                  <a:lnTo>
                    <a:pt x="10147809" y="574004"/>
                  </a:lnTo>
                  <a:lnTo>
                    <a:pt x="0" y="574004"/>
                  </a:lnTo>
                  <a:close/>
                </a:path>
              </a:pathLst>
            </a:custGeom>
            <a:blipFill>
              <a:blip r:embed="rId4">
                <a:alphaModFix amt="0"/>
              </a:blip>
              <a:stretch>
                <a:fillRect t="-363455" r="-19518" b="-359970"/>
              </a:stretch>
            </a:blipFill>
            <a:ln cap="sq">
              <a:noFill/>
              <a:prstDash val="solid"/>
              <a:miter/>
            </a:ln>
          </p:spPr>
        </p:sp>
        <p:sp>
          <p:nvSpPr>
            <p:cNvPr id="28" name="TextBox 28"/>
            <p:cNvSpPr txBox="1"/>
            <p:nvPr/>
          </p:nvSpPr>
          <p:spPr>
            <a:xfrm>
              <a:off x="0" y="-19050"/>
              <a:ext cx="10147841" cy="593080"/>
            </a:xfrm>
            <a:prstGeom prst="rect">
              <a:avLst/>
            </a:prstGeom>
          </p:spPr>
          <p:txBody>
            <a:bodyPr lIns="50800" tIns="50800" rIns="50800" bIns="50800" rtlCol="0" anchor="t"/>
            <a:lstStyle/>
            <a:p>
              <a:pPr>
                <a:lnSpc>
                  <a:spcPts val="2160"/>
                </a:lnSpc>
              </a:pPr>
              <a:r>
                <a:rPr lang="en-US" dirty="0" smtClean="0">
                  <a:solidFill>
                    <a:srgbClr val="000000"/>
                  </a:solidFill>
                  <a:latin typeface="Times New Roman"/>
                  <a:ea typeface="Times New Roman"/>
                  <a:cs typeface="Times New Roman"/>
                  <a:sym typeface="Times New Roman"/>
                </a:rPr>
                <a:t>To remove</a:t>
              </a:r>
              <a:endParaRPr lang="en-US" sz="1800" dirty="0">
                <a:solidFill>
                  <a:srgbClr val="000000"/>
                </a:solidFill>
                <a:latin typeface="Times New Roman"/>
                <a:ea typeface="Times New Roman"/>
                <a:cs typeface="Times New Roman"/>
                <a:sym typeface="Times New Roman"/>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4774" y="263604"/>
            <a:ext cx="6032630" cy="4727496"/>
            <a:chOff x="0" y="0"/>
            <a:chExt cx="8043507" cy="6303328"/>
          </a:xfrm>
        </p:grpSpPr>
        <p:sp>
          <p:nvSpPr>
            <p:cNvPr id="3" name="Freeform 3"/>
            <p:cNvSpPr/>
            <p:nvPr/>
          </p:nvSpPr>
          <p:spPr>
            <a:xfrm>
              <a:off x="0" y="0"/>
              <a:ext cx="8043545" cy="6303264"/>
            </a:xfrm>
            <a:custGeom>
              <a:avLst/>
              <a:gdLst/>
              <a:ahLst/>
              <a:cxnLst/>
              <a:rect l="l" t="t" r="r" b="b"/>
              <a:pathLst>
                <a:path w="8043545" h="6303264">
                  <a:moveTo>
                    <a:pt x="0" y="0"/>
                  </a:moveTo>
                  <a:lnTo>
                    <a:pt x="8043545" y="0"/>
                  </a:lnTo>
                  <a:lnTo>
                    <a:pt x="8043545" y="6303264"/>
                  </a:lnTo>
                  <a:lnTo>
                    <a:pt x="0" y="6303264"/>
                  </a:lnTo>
                  <a:lnTo>
                    <a:pt x="0" y="0"/>
                  </a:lnTo>
                  <a:close/>
                </a:path>
              </a:pathLst>
            </a:custGeom>
            <a:blipFill>
              <a:blip r:embed="rId2"/>
              <a:stretch>
                <a:fillRect b="-1"/>
              </a:stretch>
            </a:blipFill>
          </p:spPr>
        </p:sp>
      </p:grpSp>
      <p:grpSp>
        <p:nvGrpSpPr>
          <p:cNvPr id="4" name="Group 4"/>
          <p:cNvGrpSpPr/>
          <p:nvPr/>
        </p:nvGrpSpPr>
        <p:grpSpPr>
          <a:xfrm>
            <a:off x="554774" y="5143500"/>
            <a:ext cx="6063682" cy="4727496"/>
            <a:chOff x="0" y="0"/>
            <a:chExt cx="8084909" cy="6303328"/>
          </a:xfrm>
        </p:grpSpPr>
        <p:sp>
          <p:nvSpPr>
            <p:cNvPr id="5" name="Freeform 5"/>
            <p:cNvSpPr/>
            <p:nvPr/>
          </p:nvSpPr>
          <p:spPr>
            <a:xfrm>
              <a:off x="0" y="0"/>
              <a:ext cx="8084947" cy="6303391"/>
            </a:xfrm>
            <a:custGeom>
              <a:avLst/>
              <a:gdLst/>
              <a:ahLst/>
              <a:cxnLst/>
              <a:rect l="l" t="t" r="r" b="b"/>
              <a:pathLst>
                <a:path w="8084947" h="6303391">
                  <a:moveTo>
                    <a:pt x="0" y="0"/>
                  </a:moveTo>
                  <a:lnTo>
                    <a:pt x="8084947" y="0"/>
                  </a:lnTo>
                  <a:lnTo>
                    <a:pt x="8084947" y="6303391"/>
                  </a:lnTo>
                  <a:lnTo>
                    <a:pt x="0" y="6303391"/>
                  </a:lnTo>
                  <a:lnTo>
                    <a:pt x="0" y="0"/>
                  </a:lnTo>
                  <a:close/>
                </a:path>
              </a:pathLst>
            </a:custGeom>
            <a:blipFill>
              <a:blip r:embed="rId3"/>
              <a:stretch>
                <a:fillRect b="1"/>
              </a:stretch>
            </a:blipFill>
          </p:spPr>
        </p:sp>
      </p:grpSp>
      <p:sp>
        <p:nvSpPr>
          <p:cNvPr id="6" name="AutoShape 6"/>
          <p:cNvSpPr/>
          <p:nvPr/>
        </p:nvSpPr>
        <p:spPr>
          <a:xfrm flipH="1">
            <a:off x="6082575" y="1585767"/>
            <a:ext cx="7244997" cy="13005"/>
          </a:xfrm>
          <a:prstGeom prst="line">
            <a:avLst/>
          </a:prstGeom>
          <a:ln w="19050" cap="rnd">
            <a:solidFill>
              <a:srgbClr val="FF0000"/>
            </a:solidFill>
            <a:prstDash val="solid"/>
            <a:headEnd type="none" w="sm" len="sm"/>
            <a:tailEnd type="none" w="sm" len="sm"/>
          </a:ln>
        </p:spPr>
      </p:sp>
      <p:sp>
        <p:nvSpPr>
          <p:cNvPr id="7" name="Freeform 7"/>
          <p:cNvSpPr/>
          <p:nvPr/>
        </p:nvSpPr>
        <p:spPr>
          <a:xfrm>
            <a:off x="6994556" y="4566464"/>
            <a:ext cx="4127561" cy="4546299"/>
          </a:xfrm>
          <a:custGeom>
            <a:avLst/>
            <a:gdLst/>
            <a:ahLst/>
            <a:cxnLst/>
            <a:rect l="l" t="t" r="r" b="b"/>
            <a:pathLst>
              <a:path w="4127561" h="4546299">
                <a:moveTo>
                  <a:pt x="0" y="0"/>
                </a:moveTo>
                <a:lnTo>
                  <a:pt x="4127562" y="0"/>
                </a:lnTo>
                <a:lnTo>
                  <a:pt x="4127562" y="4546299"/>
                </a:lnTo>
                <a:lnTo>
                  <a:pt x="0" y="4546299"/>
                </a:lnTo>
                <a:lnTo>
                  <a:pt x="0" y="0"/>
                </a:lnTo>
                <a:close/>
              </a:path>
            </a:pathLst>
          </a:custGeom>
          <a:blipFill>
            <a:blip r:embed="rId4"/>
            <a:stretch>
              <a:fillRect/>
            </a:stretch>
          </a:blipFill>
        </p:spPr>
      </p:sp>
      <p:sp>
        <p:nvSpPr>
          <p:cNvPr id="8" name="Freeform 8"/>
          <p:cNvSpPr/>
          <p:nvPr/>
        </p:nvSpPr>
        <p:spPr>
          <a:xfrm>
            <a:off x="11900657" y="6334687"/>
            <a:ext cx="2034018" cy="2239655"/>
          </a:xfrm>
          <a:custGeom>
            <a:avLst/>
            <a:gdLst/>
            <a:ahLst/>
            <a:cxnLst/>
            <a:rect l="l" t="t" r="r" b="b"/>
            <a:pathLst>
              <a:path w="2034018" h="2239655">
                <a:moveTo>
                  <a:pt x="0" y="0"/>
                </a:moveTo>
                <a:lnTo>
                  <a:pt x="2034018" y="0"/>
                </a:lnTo>
                <a:lnTo>
                  <a:pt x="2034018" y="2239654"/>
                </a:lnTo>
                <a:lnTo>
                  <a:pt x="0" y="2239654"/>
                </a:lnTo>
                <a:lnTo>
                  <a:pt x="0" y="0"/>
                </a:lnTo>
                <a:close/>
              </a:path>
            </a:pathLst>
          </a:custGeom>
          <a:blipFill>
            <a:blip r:embed="rId5"/>
            <a:stretch>
              <a:fillRect l="-84179" t="-11467" r="-78742" b="-17474"/>
            </a:stretch>
          </a:blipFill>
        </p:spPr>
      </p:sp>
      <p:grpSp>
        <p:nvGrpSpPr>
          <p:cNvPr id="9" name="Group 9"/>
          <p:cNvGrpSpPr/>
          <p:nvPr/>
        </p:nvGrpSpPr>
        <p:grpSpPr>
          <a:xfrm>
            <a:off x="13327572" y="2235111"/>
            <a:ext cx="2052913" cy="430523"/>
            <a:chOff x="0" y="0"/>
            <a:chExt cx="2737217" cy="574030"/>
          </a:xfrm>
        </p:grpSpPr>
        <p:sp>
          <p:nvSpPr>
            <p:cNvPr id="10" name="Freeform 10"/>
            <p:cNvSpPr/>
            <p:nvPr/>
          </p:nvSpPr>
          <p:spPr>
            <a:xfrm>
              <a:off x="0" y="0"/>
              <a:ext cx="2737208" cy="574004"/>
            </a:xfrm>
            <a:custGeom>
              <a:avLst/>
              <a:gdLst/>
              <a:ahLst/>
              <a:cxnLst/>
              <a:rect l="l" t="t" r="r" b="b"/>
              <a:pathLst>
                <a:path w="2737208" h="574004">
                  <a:moveTo>
                    <a:pt x="0" y="0"/>
                  </a:moveTo>
                  <a:lnTo>
                    <a:pt x="2737208" y="0"/>
                  </a:lnTo>
                  <a:lnTo>
                    <a:pt x="2737208" y="574004"/>
                  </a:lnTo>
                  <a:lnTo>
                    <a:pt x="0" y="574004"/>
                  </a:lnTo>
                  <a:close/>
                </a:path>
              </a:pathLst>
            </a:custGeom>
            <a:blipFill>
              <a:blip r:embed="rId6">
                <a:alphaModFix amt="0"/>
              </a:blip>
              <a:stretch>
                <a:fillRect t="-363455" r="-343098" b="-359970"/>
              </a:stretch>
            </a:blipFill>
            <a:ln cap="sq">
              <a:noFill/>
              <a:prstDash val="solid"/>
              <a:miter/>
            </a:ln>
          </p:spPr>
        </p:sp>
        <p:sp>
          <p:nvSpPr>
            <p:cNvPr id="11" name="TextBox 11"/>
            <p:cNvSpPr txBox="1"/>
            <p:nvPr/>
          </p:nvSpPr>
          <p:spPr>
            <a:xfrm>
              <a:off x="0" y="-19050"/>
              <a:ext cx="2737217" cy="593080"/>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1st Prize (1 winner)</a:t>
              </a:r>
            </a:p>
          </p:txBody>
        </p:sp>
      </p:grpSp>
      <p:grpSp>
        <p:nvGrpSpPr>
          <p:cNvPr id="12" name="Group 12"/>
          <p:cNvGrpSpPr/>
          <p:nvPr/>
        </p:nvGrpSpPr>
        <p:grpSpPr>
          <a:xfrm>
            <a:off x="11820842" y="5861302"/>
            <a:ext cx="2193648" cy="430523"/>
            <a:chOff x="0" y="0"/>
            <a:chExt cx="2924864" cy="574030"/>
          </a:xfrm>
        </p:grpSpPr>
        <p:sp>
          <p:nvSpPr>
            <p:cNvPr id="13" name="Freeform 13"/>
            <p:cNvSpPr/>
            <p:nvPr/>
          </p:nvSpPr>
          <p:spPr>
            <a:xfrm>
              <a:off x="0" y="0"/>
              <a:ext cx="2924854" cy="574004"/>
            </a:xfrm>
            <a:custGeom>
              <a:avLst/>
              <a:gdLst/>
              <a:ahLst/>
              <a:cxnLst/>
              <a:rect l="l" t="t" r="r" b="b"/>
              <a:pathLst>
                <a:path w="2924854" h="574004">
                  <a:moveTo>
                    <a:pt x="0" y="0"/>
                  </a:moveTo>
                  <a:lnTo>
                    <a:pt x="2924854" y="0"/>
                  </a:lnTo>
                  <a:lnTo>
                    <a:pt x="2924854" y="574004"/>
                  </a:lnTo>
                  <a:lnTo>
                    <a:pt x="0" y="574004"/>
                  </a:lnTo>
                  <a:close/>
                </a:path>
              </a:pathLst>
            </a:custGeom>
            <a:blipFill>
              <a:blip r:embed="rId6">
                <a:alphaModFix amt="0"/>
              </a:blip>
              <a:stretch>
                <a:fillRect t="-363455" r="-314671" b="-359970"/>
              </a:stretch>
            </a:blipFill>
            <a:ln cap="sq">
              <a:noFill/>
              <a:prstDash val="solid"/>
              <a:miter/>
            </a:ln>
          </p:spPr>
        </p:sp>
        <p:sp>
          <p:nvSpPr>
            <p:cNvPr id="14" name="TextBox 14"/>
            <p:cNvSpPr txBox="1"/>
            <p:nvPr/>
          </p:nvSpPr>
          <p:spPr>
            <a:xfrm>
              <a:off x="0" y="-19050"/>
              <a:ext cx="2924864" cy="593080"/>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2nd Prize (3 winners)</a:t>
              </a:r>
            </a:p>
          </p:txBody>
        </p:sp>
      </p:grpSp>
      <p:grpSp>
        <p:nvGrpSpPr>
          <p:cNvPr id="15" name="Group 15"/>
          <p:cNvGrpSpPr/>
          <p:nvPr/>
        </p:nvGrpSpPr>
        <p:grpSpPr>
          <a:xfrm>
            <a:off x="15015128" y="5861302"/>
            <a:ext cx="2367165" cy="430523"/>
            <a:chOff x="0" y="0"/>
            <a:chExt cx="3156220" cy="574030"/>
          </a:xfrm>
        </p:grpSpPr>
        <p:sp>
          <p:nvSpPr>
            <p:cNvPr id="16" name="Freeform 16"/>
            <p:cNvSpPr/>
            <p:nvPr/>
          </p:nvSpPr>
          <p:spPr>
            <a:xfrm>
              <a:off x="0" y="0"/>
              <a:ext cx="3156210" cy="574004"/>
            </a:xfrm>
            <a:custGeom>
              <a:avLst/>
              <a:gdLst/>
              <a:ahLst/>
              <a:cxnLst/>
              <a:rect l="l" t="t" r="r" b="b"/>
              <a:pathLst>
                <a:path w="3156210" h="574004">
                  <a:moveTo>
                    <a:pt x="0" y="0"/>
                  </a:moveTo>
                  <a:lnTo>
                    <a:pt x="3156210" y="0"/>
                  </a:lnTo>
                  <a:lnTo>
                    <a:pt x="3156210" y="574004"/>
                  </a:lnTo>
                  <a:lnTo>
                    <a:pt x="0" y="574004"/>
                  </a:lnTo>
                  <a:close/>
                </a:path>
              </a:pathLst>
            </a:custGeom>
            <a:blipFill>
              <a:blip r:embed="rId6">
                <a:alphaModFix amt="0"/>
              </a:blip>
              <a:stretch>
                <a:fillRect t="-363455" r="-284275" b="-359970"/>
              </a:stretch>
            </a:blipFill>
            <a:ln cap="sq">
              <a:noFill/>
              <a:prstDash val="solid"/>
              <a:miter/>
            </a:ln>
          </p:spPr>
        </p:sp>
        <p:sp>
          <p:nvSpPr>
            <p:cNvPr id="17" name="TextBox 17"/>
            <p:cNvSpPr txBox="1"/>
            <p:nvPr/>
          </p:nvSpPr>
          <p:spPr>
            <a:xfrm>
              <a:off x="0" y="-19050"/>
              <a:ext cx="3156220" cy="593080"/>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3rd Prize (10 winners)</a:t>
              </a:r>
            </a:p>
          </p:txBody>
        </p:sp>
      </p:grpSp>
      <p:sp>
        <p:nvSpPr>
          <p:cNvPr id="18" name="Freeform 18"/>
          <p:cNvSpPr/>
          <p:nvPr/>
        </p:nvSpPr>
        <p:spPr>
          <a:xfrm>
            <a:off x="13227299" y="2779934"/>
            <a:ext cx="2065445" cy="2309440"/>
          </a:xfrm>
          <a:custGeom>
            <a:avLst/>
            <a:gdLst/>
            <a:ahLst/>
            <a:cxnLst/>
            <a:rect l="l" t="t" r="r" b="b"/>
            <a:pathLst>
              <a:path w="2065445" h="2309440">
                <a:moveTo>
                  <a:pt x="0" y="0"/>
                </a:moveTo>
                <a:lnTo>
                  <a:pt x="2065446" y="0"/>
                </a:lnTo>
                <a:lnTo>
                  <a:pt x="2065446" y="2309440"/>
                </a:lnTo>
                <a:lnTo>
                  <a:pt x="0" y="2309440"/>
                </a:lnTo>
                <a:lnTo>
                  <a:pt x="0" y="0"/>
                </a:lnTo>
                <a:close/>
              </a:path>
            </a:pathLst>
          </a:custGeom>
          <a:blipFill>
            <a:blip r:embed="rId7"/>
            <a:stretch>
              <a:fillRect l="-48711" t="-16247" r="-109469" b="-8440"/>
            </a:stretch>
          </a:blipFill>
        </p:spPr>
      </p:sp>
      <p:grpSp>
        <p:nvGrpSpPr>
          <p:cNvPr id="19" name="Group 19"/>
          <p:cNvGrpSpPr/>
          <p:nvPr/>
        </p:nvGrpSpPr>
        <p:grpSpPr>
          <a:xfrm>
            <a:off x="12961753" y="5202179"/>
            <a:ext cx="2801961" cy="430523"/>
            <a:chOff x="0" y="0"/>
            <a:chExt cx="3735948" cy="574030"/>
          </a:xfrm>
        </p:grpSpPr>
        <p:sp>
          <p:nvSpPr>
            <p:cNvPr id="20" name="Freeform 20"/>
            <p:cNvSpPr/>
            <p:nvPr/>
          </p:nvSpPr>
          <p:spPr>
            <a:xfrm>
              <a:off x="0" y="0"/>
              <a:ext cx="3735937" cy="574004"/>
            </a:xfrm>
            <a:custGeom>
              <a:avLst/>
              <a:gdLst/>
              <a:ahLst/>
              <a:cxnLst/>
              <a:rect l="l" t="t" r="r" b="b"/>
              <a:pathLst>
                <a:path w="3735937" h="574004">
                  <a:moveTo>
                    <a:pt x="0" y="0"/>
                  </a:moveTo>
                  <a:lnTo>
                    <a:pt x="3735937" y="0"/>
                  </a:lnTo>
                  <a:lnTo>
                    <a:pt x="3735937" y="574004"/>
                  </a:lnTo>
                  <a:lnTo>
                    <a:pt x="0" y="574004"/>
                  </a:lnTo>
                  <a:close/>
                </a:path>
              </a:pathLst>
            </a:custGeom>
            <a:blipFill>
              <a:blip r:embed="rId6">
                <a:alphaModFix amt="0"/>
              </a:blip>
              <a:stretch>
                <a:fillRect t="-363455" r="-224645" b="-359970"/>
              </a:stretch>
            </a:blipFill>
            <a:ln cap="sq">
              <a:noFill/>
              <a:prstDash val="solid"/>
              <a:miter/>
            </a:ln>
          </p:spPr>
        </p:sp>
        <p:sp>
          <p:nvSpPr>
            <p:cNvPr id="21" name="TextBox 21"/>
            <p:cNvSpPr txBox="1"/>
            <p:nvPr/>
          </p:nvSpPr>
          <p:spPr>
            <a:xfrm>
              <a:off x="0" y="-19050"/>
              <a:ext cx="3735948" cy="593080"/>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Samsung Galaxy S26 256GB</a:t>
              </a:r>
            </a:p>
          </p:txBody>
        </p:sp>
      </p:grpSp>
      <p:sp>
        <p:nvSpPr>
          <p:cNvPr id="22" name="Freeform 22"/>
          <p:cNvSpPr/>
          <p:nvPr/>
        </p:nvSpPr>
        <p:spPr>
          <a:xfrm>
            <a:off x="15169464" y="6415746"/>
            <a:ext cx="2058492" cy="2077536"/>
          </a:xfrm>
          <a:custGeom>
            <a:avLst/>
            <a:gdLst/>
            <a:ahLst/>
            <a:cxnLst/>
            <a:rect l="l" t="t" r="r" b="b"/>
            <a:pathLst>
              <a:path w="2058492" h="2077536">
                <a:moveTo>
                  <a:pt x="0" y="0"/>
                </a:moveTo>
                <a:lnTo>
                  <a:pt x="2058493" y="0"/>
                </a:lnTo>
                <a:lnTo>
                  <a:pt x="2058493" y="2077536"/>
                </a:lnTo>
                <a:lnTo>
                  <a:pt x="0" y="2077536"/>
                </a:lnTo>
                <a:lnTo>
                  <a:pt x="0" y="0"/>
                </a:lnTo>
                <a:close/>
              </a:path>
            </a:pathLst>
          </a:custGeom>
          <a:blipFill>
            <a:blip r:embed="rId8"/>
            <a:stretch>
              <a:fillRect/>
            </a:stretch>
          </a:blipFill>
        </p:spPr>
      </p:sp>
      <p:grpSp>
        <p:nvGrpSpPr>
          <p:cNvPr id="23" name="Group 23"/>
          <p:cNvGrpSpPr/>
          <p:nvPr/>
        </p:nvGrpSpPr>
        <p:grpSpPr>
          <a:xfrm>
            <a:off x="11700379" y="8617204"/>
            <a:ext cx="2434574" cy="430523"/>
            <a:chOff x="0" y="0"/>
            <a:chExt cx="3246099" cy="574030"/>
          </a:xfrm>
        </p:grpSpPr>
        <p:sp>
          <p:nvSpPr>
            <p:cNvPr id="24" name="Freeform 24"/>
            <p:cNvSpPr/>
            <p:nvPr/>
          </p:nvSpPr>
          <p:spPr>
            <a:xfrm>
              <a:off x="0" y="0"/>
              <a:ext cx="3246089" cy="574004"/>
            </a:xfrm>
            <a:custGeom>
              <a:avLst/>
              <a:gdLst/>
              <a:ahLst/>
              <a:cxnLst/>
              <a:rect l="l" t="t" r="r" b="b"/>
              <a:pathLst>
                <a:path w="3246089" h="574004">
                  <a:moveTo>
                    <a:pt x="0" y="0"/>
                  </a:moveTo>
                  <a:lnTo>
                    <a:pt x="3246089" y="0"/>
                  </a:lnTo>
                  <a:lnTo>
                    <a:pt x="3246089" y="574004"/>
                  </a:lnTo>
                  <a:lnTo>
                    <a:pt x="0" y="574004"/>
                  </a:lnTo>
                  <a:close/>
                </a:path>
              </a:pathLst>
            </a:custGeom>
            <a:blipFill>
              <a:blip r:embed="rId6">
                <a:alphaModFix amt="0"/>
              </a:blip>
              <a:stretch>
                <a:fillRect t="-363455" r="-273635" b="-359970"/>
              </a:stretch>
            </a:blipFill>
            <a:ln cap="sq">
              <a:noFill/>
              <a:prstDash val="solid"/>
              <a:miter/>
            </a:ln>
          </p:spPr>
        </p:sp>
        <p:sp>
          <p:nvSpPr>
            <p:cNvPr id="25" name="TextBox 25"/>
            <p:cNvSpPr txBox="1"/>
            <p:nvPr/>
          </p:nvSpPr>
          <p:spPr>
            <a:xfrm>
              <a:off x="0" y="-19050"/>
              <a:ext cx="3246099" cy="593080"/>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Samsung Galaxy Buds4</a:t>
              </a:r>
            </a:p>
          </p:txBody>
        </p:sp>
      </p:grpSp>
      <p:grpSp>
        <p:nvGrpSpPr>
          <p:cNvPr id="26" name="Group 26"/>
          <p:cNvGrpSpPr/>
          <p:nvPr/>
        </p:nvGrpSpPr>
        <p:grpSpPr>
          <a:xfrm>
            <a:off x="14858853" y="8617204"/>
            <a:ext cx="2679715" cy="430523"/>
            <a:chOff x="0" y="0"/>
            <a:chExt cx="3572954" cy="574030"/>
          </a:xfrm>
        </p:grpSpPr>
        <p:sp>
          <p:nvSpPr>
            <p:cNvPr id="27" name="Freeform 27"/>
            <p:cNvSpPr/>
            <p:nvPr/>
          </p:nvSpPr>
          <p:spPr>
            <a:xfrm>
              <a:off x="0" y="0"/>
              <a:ext cx="3572943" cy="574004"/>
            </a:xfrm>
            <a:custGeom>
              <a:avLst/>
              <a:gdLst/>
              <a:ahLst/>
              <a:cxnLst/>
              <a:rect l="l" t="t" r="r" b="b"/>
              <a:pathLst>
                <a:path w="3572943" h="574004">
                  <a:moveTo>
                    <a:pt x="0" y="0"/>
                  </a:moveTo>
                  <a:lnTo>
                    <a:pt x="3572943" y="0"/>
                  </a:lnTo>
                  <a:lnTo>
                    <a:pt x="3572943" y="574004"/>
                  </a:lnTo>
                  <a:lnTo>
                    <a:pt x="0" y="574004"/>
                  </a:lnTo>
                  <a:close/>
                </a:path>
              </a:pathLst>
            </a:custGeom>
            <a:blipFill>
              <a:blip r:embed="rId6">
                <a:alphaModFix amt="0"/>
              </a:blip>
              <a:stretch>
                <a:fillRect t="-363455" r="-239455" b="-359970"/>
              </a:stretch>
            </a:blipFill>
            <a:ln cap="sq">
              <a:noFill/>
              <a:prstDash val="solid"/>
              <a:miter/>
            </a:ln>
          </p:spPr>
        </p:sp>
        <p:sp>
          <p:nvSpPr>
            <p:cNvPr id="28" name="TextBox 28"/>
            <p:cNvSpPr txBox="1"/>
            <p:nvPr/>
          </p:nvSpPr>
          <p:spPr>
            <a:xfrm>
              <a:off x="0" y="-19050"/>
              <a:ext cx="3572954" cy="593080"/>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VinID Vouchers (1M VND)</a:t>
              </a:r>
            </a:p>
          </p:txBody>
        </p:sp>
      </p:grpSp>
      <p:grpSp>
        <p:nvGrpSpPr>
          <p:cNvPr id="29" name="Group 29"/>
          <p:cNvGrpSpPr/>
          <p:nvPr/>
        </p:nvGrpSpPr>
        <p:grpSpPr>
          <a:xfrm>
            <a:off x="2403430" y="590960"/>
            <a:ext cx="2425673" cy="671874"/>
            <a:chOff x="0" y="0"/>
            <a:chExt cx="3234230" cy="895833"/>
          </a:xfrm>
        </p:grpSpPr>
        <p:sp>
          <p:nvSpPr>
            <p:cNvPr id="30" name="Freeform 30"/>
            <p:cNvSpPr/>
            <p:nvPr/>
          </p:nvSpPr>
          <p:spPr>
            <a:xfrm>
              <a:off x="0" y="0"/>
              <a:ext cx="3234230" cy="895858"/>
            </a:xfrm>
            <a:custGeom>
              <a:avLst/>
              <a:gdLst/>
              <a:ahLst/>
              <a:cxnLst/>
              <a:rect l="l" t="t" r="r" b="b"/>
              <a:pathLst>
                <a:path w="3234230" h="895858">
                  <a:moveTo>
                    <a:pt x="0" y="0"/>
                  </a:moveTo>
                  <a:lnTo>
                    <a:pt x="3234230" y="0"/>
                  </a:lnTo>
                  <a:lnTo>
                    <a:pt x="3234230" y="895858"/>
                  </a:lnTo>
                  <a:lnTo>
                    <a:pt x="0" y="895858"/>
                  </a:lnTo>
                  <a:close/>
                </a:path>
              </a:pathLst>
            </a:custGeom>
            <a:blipFill>
              <a:blip r:embed="rId6">
                <a:alphaModFix amt="0"/>
              </a:blip>
              <a:stretch>
                <a:fillRect t="-5523" r="21072" b="-5520"/>
              </a:stretch>
            </a:blipFill>
            <a:ln w="28575" cap="sq">
              <a:solidFill>
                <a:srgbClr val="FF0000"/>
              </a:solidFill>
              <a:prstDash val="solid"/>
              <a:miter/>
            </a:ln>
          </p:spPr>
        </p:sp>
      </p:grpSp>
      <p:sp>
        <p:nvSpPr>
          <p:cNvPr id="31" name="AutoShape 31"/>
          <p:cNvSpPr/>
          <p:nvPr/>
        </p:nvSpPr>
        <p:spPr>
          <a:xfrm>
            <a:off x="4829103" y="926897"/>
            <a:ext cx="8498469" cy="0"/>
          </a:xfrm>
          <a:prstGeom prst="line">
            <a:avLst/>
          </a:prstGeom>
          <a:ln w="19050" cap="rnd">
            <a:solidFill>
              <a:srgbClr val="FF0000"/>
            </a:solidFill>
            <a:prstDash val="solid"/>
            <a:headEnd type="none" w="sm" len="sm"/>
            <a:tailEnd type="none" w="sm" len="sm"/>
          </a:ln>
        </p:spPr>
      </p:sp>
      <p:grpSp>
        <p:nvGrpSpPr>
          <p:cNvPr id="32" name="Group 32"/>
          <p:cNvGrpSpPr/>
          <p:nvPr/>
        </p:nvGrpSpPr>
        <p:grpSpPr>
          <a:xfrm>
            <a:off x="13327572" y="711636"/>
            <a:ext cx="2167941" cy="430523"/>
            <a:chOff x="0" y="0"/>
            <a:chExt cx="2890588" cy="574030"/>
          </a:xfrm>
        </p:grpSpPr>
        <p:sp>
          <p:nvSpPr>
            <p:cNvPr id="33" name="Freeform 33"/>
            <p:cNvSpPr/>
            <p:nvPr/>
          </p:nvSpPr>
          <p:spPr>
            <a:xfrm>
              <a:off x="0" y="0"/>
              <a:ext cx="2890578" cy="574004"/>
            </a:xfrm>
            <a:custGeom>
              <a:avLst/>
              <a:gdLst/>
              <a:ahLst/>
              <a:cxnLst/>
              <a:rect l="l" t="t" r="r" b="b"/>
              <a:pathLst>
                <a:path w="2890578" h="574004">
                  <a:moveTo>
                    <a:pt x="0" y="0"/>
                  </a:moveTo>
                  <a:lnTo>
                    <a:pt x="2890578" y="0"/>
                  </a:lnTo>
                  <a:lnTo>
                    <a:pt x="2890578" y="574004"/>
                  </a:lnTo>
                  <a:lnTo>
                    <a:pt x="0" y="574004"/>
                  </a:lnTo>
                  <a:close/>
                </a:path>
              </a:pathLst>
            </a:custGeom>
            <a:blipFill>
              <a:blip r:embed="rId6">
                <a:alphaModFix amt="0"/>
              </a:blip>
              <a:stretch>
                <a:fillRect t="-363455" r="-319588" b="-359970"/>
              </a:stretch>
            </a:blipFill>
            <a:ln cap="sq">
              <a:noFill/>
              <a:prstDash val="solid"/>
              <a:miter/>
            </a:ln>
          </p:spPr>
        </p:sp>
        <p:sp>
          <p:nvSpPr>
            <p:cNvPr id="34" name="TextBox 34"/>
            <p:cNvSpPr txBox="1"/>
            <p:nvPr/>
          </p:nvSpPr>
          <p:spPr>
            <a:xfrm>
              <a:off x="0" y="-19050"/>
              <a:ext cx="2890588" cy="593080"/>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Lucky Draw</a:t>
              </a:r>
            </a:p>
          </p:txBody>
        </p:sp>
      </p:grpSp>
      <p:grpSp>
        <p:nvGrpSpPr>
          <p:cNvPr id="35" name="Group 35"/>
          <p:cNvGrpSpPr/>
          <p:nvPr/>
        </p:nvGrpSpPr>
        <p:grpSpPr>
          <a:xfrm>
            <a:off x="1145417" y="1262835"/>
            <a:ext cx="4937158" cy="671874"/>
            <a:chOff x="0" y="0"/>
            <a:chExt cx="6582878" cy="895833"/>
          </a:xfrm>
        </p:grpSpPr>
        <p:sp>
          <p:nvSpPr>
            <p:cNvPr id="36" name="Freeform 36"/>
            <p:cNvSpPr/>
            <p:nvPr/>
          </p:nvSpPr>
          <p:spPr>
            <a:xfrm>
              <a:off x="0" y="0"/>
              <a:ext cx="6582877" cy="895858"/>
            </a:xfrm>
            <a:custGeom>
              <a:avLst/>
              <a:gdLst/>
              <a:ahLst/>
              <a:cxnLst/>
              <a:rect l="l" t="t" r="r" b="b"/>
              <a:pathLst>
                <a:path w="6582877" h="895858">
                  <a:moveTo>
                    <a:pt x="0" y="0"/>
                  </a:moveTo>
                  <a:lnTo>
                    <a:pt x="6582877" y="0"/>
                  </a:lnTo>
                  <a:lnTo>
                    <a:pt x="6582877" y="895858"/>
                  </a:lnTo>
                  <a:lnTo>
                    <a:pt x="0" y="895858"/>
                  </a:lnTo>
                  <a:close/>
                </a:path>
              </a:pathLst>
            </a:custGeom>
            <a:blipFill>
              <a:blip r:embed="rId6">
                <a:alphaModFix amt="0"/>
              </a:blip>
              <a:stretch>
                <a:fillRect t="-5523" r="61222" b="-5520"/>
              </a:stretch>
            </a:blipFill>
            <a:ln w="28575" cap="sq">
              <a:solidFill>
                <a:srgbClr val="FF0000"/>
              </a:solidFill>
              <a:prstDash val="solid"/>
              <a:miter/>
            </a:ln>
          </p:spPr>
        </p:sp>
      </p:grpSp>
      <p:grpSp>
        <p:nvGrpSpPr>
          <p:cNvPr id="37" name="Group 37"/>
          <p:cNvGrpSpPr/>
          <p:nvPr/>
        </p:nvGrpSpPr>
        <p:grpSpPr>
          <a:xfrm>
            <a:off x="1147688" y="2016036"/>
            <a:ext cx="4934887" cy="2550427"/>
            <a:chOff x="0" y="0"/>
            <a:chExt cx="6805495" cy="3517187"/>
          </a:xfrm>
        </p:grpSpPr>
        <p:sp>
          <p:nvSpPr>
            <p:cNvPr id="38" name="Freeform 38"/>
            <p:cNvSpPr/>
            <p:nvPr/>
          </p:nvSpPr>
          <p:spPr>
            <a:xfrm>
              <a:off x="0" y="0"/>
              <a:ext cx="6805495" cy="3517212"/>
            </a:xfrm>
            <a:custGeom>
              <a:avLst/>
              <a:gdLst/>
              <a:ahLst/>
              <a:cxnLst/>
              <a:rect l="l" t="t" r="r" b="b"/>
              <a:pathLst>
                <a:path w="6805495" h="3517212">
                  <a:moveTo>
                    <a:pt x="0" y="0"/>
                  </a:moveTo>
                  <a:lnTo>
                    <a:pt x="6805495" y="0"/>
                  </a:lnTo>
                  <a:lnTo>
                    <a:pt x="6805495" y="3517212"/>
                  </a:lnTo>
                  <a:lnTo>
                    <a:pt x="0" y="3517212"/>
                  </a:lnTo>
                  <a:close/>
                </a:path>
              </a:pathLst>
            </a:custGeom>
            <a:blipFill>
              <a:blip r:embed="rId6">
                <a:alphaModFix amt="0"/>
              </a:blip>
              <a:stretch>
                <a:fillRect t="-1406" r="62490" b="73123"/>
              </a:stretch>
            </a:blipFill>
            <a:ln w="28575" cap="sq">
              <a:solidFill>
                <a:srgbClr val="FF0000"/>
              </a:solidFill>
              <a:prstDash val="solid"/>
              <a:miter/>
            </a:ln>
          </p:spPr>
        </p:sp>
      </p:grpSp>
      <p:sp>
        <p:nvSpPr>
          <p:cNvPr id="39" name="AutoShape 39"/>
          <p:cNvSpPr/>
          <p:nvPr/>
        </p:nvSpPr>
        <p:spPr>
          <a:xfrm flipH="1">
            <a:off x="6081752" y="3207142"/>
            <a:ext cx="7088153" cy="0"/>
          </a:xfrm>
          <a:prstGeom prst="line">
            <a:avLst/>
          </a:prstGeom>
          <a:ln w="19050" cap="rnd">
            <a:solidFill>
              <a:srgbClr val="FF0000"/>
            </a:solidFill>
            <a:prstDash val="solid"/>
            <a:headEnd type="none" w="sm" len="sm"/>
            <a:tailEnd type="none" w="sm" len="sm"/>
          </a:ln>
        </p:spPr>
      </p:sp>
      <p:grpSp>
        <p:nvGrpSpPr>
          <p:cNvPr id="40" name="Group 40"/>
          <p:cNvGrpSpPr/>
          <p:nvPr/>
        </p:nvGrpSpPr>
        <p:grpSpPr>
          <a:xfrm>
            <a:off x="13327572" y="1368504"/>
            <a:ext cx="3206209" cy="434524"/>
            <a:chOff x="0" y="0"/>
            <a:chExt cx="4274945" cy="579366"/>
          </a:xfrm>
        </p:grpSpPr>
        <p:sp>
          <p:nvSpPr>
            <p:cNvPr id="41" name="Freeform 41"/>
            <p:cNvSpPr/>
            <p:nvPr/>
          </p:nvSpPr>
          <p:spPr>
            <a:xfrm>
              <a:off x="0" y="0"/>
              <a:ext cx="4274932" cy="579339"/>
            </a:xfrm>
            <a:custGeom>
              <a:avLst/>
              <a:gdLst/>
              <a:ahLst/>
              <a:cxnLst/>
              <a:rect l="l" t="t" r="r" b="b"/>
              <a:pathLst>
                <a:path w="4274932" h="579339">
                  <a:moveTo>
                    <a:pt x="0" y="0"/>
                  </a:moveTo>
                  <a:lnTo>
                    <a:pt x="4274932" y="0"/>
                  </a:lnTo>
                  <a:lnTo>
                    <a:pt x="4274932" y="579339"/>
                  </a:lnTo>
                  <a:lnTo>
                    <a:pt x="0" y="579339"/>
                  </a:lnTo>
                  <a:close/>
                </a:path>
              </a:pathLst>
            </a:custGeom>
            <a:blipFill>
              <a:blip r:embed="rId6">
                <a:alphaModFix amt="0"/>
              </a:blip>
              <a:stretch>
                <a:fillRect t="-360108" r="-183713" b="-355734"/>
              </a:stretch>
            </a:blipFill>
            <a:ln cap="sq">
              <a:noFill/>
              <a:prstDash val="solid"/>
              <a:miter/>
            </a:ln>
          </p:spPr>
        </p:sp>
        <p:sp>
          <p:nvSpPr>
            <p:cNvPr id="42" name="TextBox 42"/>
            <p:cNvSpPr txBox="1"/>
            <p:nvPr/>
          </p:nvSpPr>
          <p:spPr>
            <a:xfrm>
              <a:off x="0" y="-19050"/>
              <a:ext cx="4274945" cy="598416"/>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Amazing prizes to be won!</a:t>
              </a:r>
            </a:p>
          </p:txBody>
        </p:sp>
      </p:grpSp>
      <p:sp>
        <p:nvSpPr>
          <p:cNvPr id="43" name="TextBox 43"/>
          <p:cNvSpPr txBox="1"/>
          <p:nvPr/>
        </p:nvSpPr>
        <p:spPr>
          <a:xfrm>
            <a:off x="6994556" y="4060860"/>
            <a:ext cx="3700033" cy="285750"/>
          </a:xfrm>
          <a:prstGeom prst="rect">
            <a:avLst/>
          </a:prstGeom>
        </p:spPr>
        <p:txBody>
          <a:bodyPr lIns="0" tIns="0" rIns="0" bIns="0" rtlCol="0" anchor="t">
            <a:spAutoFit/>
          </a:bodyPr>
          <a:lstStyle/>
          <a:p>
            <a:pPr algn="l">
              <a:lnSpc>
                <a:spcPts val="2160"/>
              </a:lnSpc>
            </a:pPr>
            <a:r>
              <a:rPr lang="en-US" sz="1800">
                <a:solidFill>
                  <a:srgbClr val="FF0000"/>
                </a:solidFill>
                <a:latin typeface="Arimo"/>
                <a:ea typeface="Arimo"/>
                <a:cs typeface="Arimo"/>
                <a:sym typeface="Arimo"/>
              </a:rPr>
              <a:t>For example, 2025:</a:t>
            </a:r>
          </a:p>
        </p:txBody>
      </p:sp>
      <p:sp>
        <p:nvSpPr>
          <p:cNvPr id="44" name="TextBox 44"/>
          <p:cNvSpPr txBox="1"/>
          <p:nvPr/>
        </p:nvSpPr>
        <p:spPr>
          <a:xfrm>
            <a:off x="16488485" y="368276"/>
            <a:ext cx="1541631" cy="462563"/>
          </a:xfrm>
          <a:prstGeom prst="rect">
            <a:avLst/>
          </a:prstGeom>
        </p:spPr>
        <p:txBody>
          <a:bodyPr lIns="0" tIns="0" rIns="0" bIns="0" rtlCol="0" anchor="t">
            <a:spAutoFit/>
          </a:bodyPr>
          <a:lstStyle/>
          <a:p>
            <a:pPr algn="l">
              <a:lnSpc>
                <a:spcPts val="3240"/>
              </a:lnSpc>
            </a:pPr>
            <a:r>
              <a:rPr lang="en-US" sz="2700" b="1">
                <a:solidFill>
                  <a:srgbClr val="000000"/>
                </a:solidFill>
                <a:latin typeface="Aptos Bold"/>
                <a:ea typeface="Aptos Bold"/>
                <a:cs typeface="Aptos Bold"/>
                <a:sym typeface="Aptos Bold"/>
              </a:rPr>
              <a:t>ENGLISH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4774" y="263604"/>
            <a:ext cx="6032630" cy="4727496"/>
            <a:chOff x="0" y="0"/>
            <a:chExt cx="8043507" cy="6303328"/>
          </a:xfrm>
        </p:grpSpPr>
        <p:sp>
          <p:nvSpPr>
            <p:cNvPr id="3" name="Freeform 3"/>
            <p:cNvSpPr/>
            <p:nvPr/>
          </p:nvSpPr>
          <p:spPr>
            <a:xfrm>
              <a:off x="0" y="0"/>
              <a:ext cx="8043545" cy="6303264"/>
            </a:xfrm>
            <a:custGeom>
              <a:avLst/>
              <a:gdLst/>
              <a:ahLst/>
              <a:cxnLst/>
              <a:rect l="l" t="t" r="r" b="b"/>
              <a:pathLst>
                <a:path w="8043545" h="6303264">
                  <a:moveTo>
                    <a:pt x="0" y="0"/>
                  </a:moveTo>
                  <a:lnTo>
                    <a:pt x="8043545" y="0"/>
                  </a:lnTo>
                  <a:lnTo>
                    <a:pt x="8043545" y="6303264"/>
                  </a:lnTo>
                  <a:lnTo>
                    <a:pt x="0" y="6303264"/>
                  </a:lnTo>
                  <a:lnTo>
                    <a:pt x="0" y="0"/>
                  </a:lnTo>
                  <a:close/>
                </a:path>
              </a:pathLst>
            </a:custGeom>
            <a:blipFill>
              <a:blip r:embed="rId2"/>
              <a:stretch>
                <a:fillRect b="-1"/>
              </a:stretch>
            </a:blipFill>
          </p:spPr>
        </p:sp>
      </p:grpSp>
      <p:grpSp>
        <p:nvGrpSpPr>
          <p:cNvPr id="4" name="Group 4"/>
          <p:cNvGrpSpPr/>
          <p:nvPr/>
        </p:nvGrpSpPr>
        <p:grpSpPr>
          <a:xfrm>
            <a:off x="554774" y="5143500"/>
            <a:ext cx="6063682" cy="4727496"/>
            <a:chOff x="0" y="0"/>
            <a:chExt cx="8084909" cy="6303328"/>
          </a:xfrm>
        </p:grpSpPr>
        <p:sp>
          <p:nvSpPr>
            <p:cNvPr id="5" name="Freeform 5"/>
            <p:cNvSpPr/>
            <p:nvPr/>
          </p:nvSpPr>
          <p:spPr>
            <a:xfrm>
              <a:off x="0" y="0"/>
              <a:ext cx="8084947" cy="6303391"/>
            </a:xfrm>
            <a:custGeom>
              <a:avLst/>
              <a:gdLst/>
              <a:ahLst/>
              <a:cxnLst/>
              <a:rect l="l" t="t" r="r" b="b"/>
              <a:pathLst>
                <a:path w="8084947" h="6303391">
                  <a:moveTo>
                    <a:pt x="0" y="0"/>
                  </a:moveTo>
                  <a:lnTo>
                    <a:pt x="8084947" y="0"/>
                  </a:lnTo>
                  <a:lnTo>
                    <a:pt x="8084947" y="6303391"/>
                  </a:lnTo>
                  <a:lnTo>
                    <a:pt x="0" y="6303391"/>
                  </a:lnTo>
                  <a:lnTo>
                    <a:pt x="0" y="0"/>
                  </a:lnTo>
                  <a:close/>
                </a:path>
              </a:pathLst>
            </a:custGeom>
            <a:blipFill>
              <a:blip r:embed="rId3"/>
              <a:stretch>
                <a:fillRect b="1"/>
              </a:stretch>
            </a:blipFill>
          </p:spPr>
        </p:sp>
      </p:grpSp>
      <p:grpSp>
        <p:nvGrpSpPr>
          <p:cNvPr id="6" name="Group 6"/>
          <p:cNvGrpSpPr/>
          <p:nvPr/>
        </p:nvGrpSpPr>
        <p:grpSpPr>
          <a:xfrm>
            <a:off x="8481870" y="8131850"/>
            <a:ext cx="9085351" cy="1435726"/>
            <a:chOff x="0" y="0"/>
            <a:chExt cx="12113801" cy="1914302"/>
          </a:xfrm>
        </p:grpSpPr>
        <p:sp>
          <p:nvSpPr>
            <p:cNvPr id="7" name="Freeform 7"/>
            <p:cNvSpPr/>
            <p:nvPr/>
          </p:nvSpPr>
          <p:spPr>
            <a:xfrm>
              <a:off x="0" y="0"/>
              <a:ext cx="12113747" cy="1914340"/>
            </a:xfrm>
            <a:custGeom>
              <a:avLst/>
              <a:gdLst/>
              <a:ahLst/>
              <a:cxnLst/>
              <a:rect l="l" t="t" r="r" b="b"/>
              <a:pathLst>
                <a:path w="12113747" h="1914340">
                  <a:moveTo>
                    <a:pt x="0" y="0"/>
                  </a:moveTo>
                  <a:lnTo>
                    <a:pt x="12113747" y="0"/>
                  </a:lnTo>
                  <a:lnTo>
                    <a:pt x="12113747" y="1914340"/>
                  </a:lnTo>
                  <a:lnTo>
                    <a:pt x="0" y="1914340"/>
                  </a:lnTo>
                  <a:close/>
                </a:path>
              </a:pathLst>
            </a:custGeom>
            <a:blipFill>
              <a:blip r:embed="rId4">
                <a:alphaModFix amt="0"/>
              </a:blip>
              <a:stretch>
                <a:fillRect t="-86781" r="7450" b="-41444"/>
              </a:stretch>
            </a:blipFill>
            <a:ln cap="sq">
              <a:noFill/>
              <a:prstDash val="solid"/>
              <a:miter/>
            </a:ln>
          </p:spPr>
        </p:sp>
        <p:sp>
          <p:nvSpPr>
            <p:cNvPr id="8" name="TextBox 8"/>
            <p:cNvSpPr txBox="1"/>
            <p:nvPr/>
          </p:nvSpPr>
          <p:spPr>
            <a:xfrm>
              <a:off x="0" y="-19050"/>
              <a:ext cx="12113801" cy="1933352"/>
            </a:xfrm>
            <a:prstGeom prst="rect">
              <a:avLst/>
            </a:prstGeom>
          </p:spPr>
          <p:txBody>
            <a:bodyPr lIns="50800" tIns="50800" rIns="50800" bIns="50800" rtlCol="0" anchor="t"/>
            <a:lstStyle/>
            <a:p>
              <a:pPr algn="l">
                <a:lnSpc>
                  <a:spcPts val="2520"/>
                </a:lnSpc>
              </a:pPr>
              <a:r>
                <a:rPr lang="en-US" sz="2100">
                  <a:solidFill>
                    <a:srgbClr val="000000"/>
                  </a:solidFill>
                  <a:latin typeface="Times New Roman"/>
                  <a:ea typeface="Times New Roman"/>
                  <a:cs typeface="Times New Roman"/>
                  <a:sym typeface="Times New Roman"/>
                </a:rPr>
                <a:t>InterContinental Hanoi Landmark72</a:t>
              </a:r>
            </a:p>
            <a:p>
              <a:pPr algn="l">
                <a:lnSpc>
                  <a:spcPts val="2520"/>
                </a:lnSpc>
              </a:pPr>
              <a:r>
                <a:rPr lang="en-US" sz="2100">
                  <a:solidFill>
                    <a:srgbClr val="000000"/>
                  </a:solidFill>
                  <a:latin typeface="Times New Roman"/>
                  <a:ea typeface="Times New Roman"/>
                  <a:cs typeface="Times New Roman"/>
                  <a:sym typeface="Times New Roman"/>
                </a:rPr>
                <a:t>Located in Keangnam Landmark Tower 72</a:t>
              </a:r>
            </a:p>
            <a:p>
              <a:pPr algn="l">
                <a:lnSpc>
                  <a:spcPts val="2520"/>
                </a:lnSpc>
              </a:pPr>
              <a:r>
                <a:rPr lang="en-US" sz="2100">
                  <a:solidFill>
                    <a:srgbClr val="000000"/>
                  </a:solidFill>
                  <a:latin typeface="Times New Roman"/>
                  <a:ea typeface="Times New Roman"/>
                  <a:cs typeface="Times New Roman"/>
                  <a:sym typeface="Times New Roman"/>
                </a:rPr>
                <a:t>Keangnam Hanoi Landmark Tower Plot E6, Cau Giay New Urban Area, Yen Hoa Ward, Yên Hòa, Hà Nội, Vietnam</a:t>
              </a:r>
            </a:p>
          </p:txBody>
        </p:sp>
      </p:grpSp>
      <p:grpSp>
        <p:nvGrpSpPr>
          <p:cNvPr id="9" name="Group 9"/>
          <p:cNvGrpSpPr/>
          <p:nvPr/>
        </p:nvGrpSpPr>
        <p:grpSpPr>
          <a:xfrm>
            <a:off x="1161364" y="5463950"/>
            <a:ext cx="4812849" cy="649434"/>
            <a:chOff x="0" y="0"/>
            <a:chExt cx="6417132" cy="865911"/>
          </a:xfrm>
        </p:grpSpPr>
        <p:sp>
          <p:nvSpPr>
            <p:cNvPr id="10" name="Freeform 10"/>
            <p:cNvSpPr/>
            <p:nvPr/>
          </p:nvSpPr>
          <p:spPr>
            <a:xfrm>
              <a:off x="0" y="0"/>
              <a:ext cx="6417183" cy="865886"/>
            </a:xfrm>
            <a:custGeom>
              <a:avLst/>
              <a:gdLst/>
              <a:ahLst/>
              <a:cxnLst/>
              <a:rect l="l" t="t" r="r" b="b"/>
              <a:pathLst>
                <a:path w="6417183" h="865886">
                  <a:moveTo>
                    <a:pt x="0" y="0"/>
                  </a:moveTo>
                  <a:lnTo>
                    <a:pt x="6417183" y="0"/>
                  </a:lnTo>
                  <a:lnTo>
                    <a:pt x="6417183" y="865886"/>
                  </a:lnTo>
                  <a:lnTo>
                    <a:pt x="0" y="865886"/>
                  </a:lnTo>
                  <a:close/>
                </a:path>
              </a:pathLst>
            </a:custGeom>
            <a:blipFill>
              <a:blip r:embed="rId4">
                <a:alphaModFix amt="0"/>
              </a:blip>
              <a:stretch>
                <a:fillRect t="-94403" b="-94406"/>
              </a:stretch>
            </a:blipFill>
            <a:ln w="28575" cap="sq">
              <a:solidFill>
                <a:srgbClr val="FF0000"/>
              </a:solidFill>
              <a:prstDash val="solid"/>
              <a:miter/>
            </a:ln>
          </p:spPr>
        </p:sp>
      </p:grpSp>
      <p:grpSp>
        <p:nvGrpSpPr>
          <p:cNvPr id="11" name="Group 11"/>
          <p:cNvGrpSpPr/>
          <p:nvPr/>
        </p:nvGrpSpPr>
        <p:grpSpPr>
          <a:xfrm>
            <a:off x="8481870" y="1228137"/>
            <a:ext cx="1508103" cy="617209"/>
            <a:chOff x="0" y="0"/>
            <a:chExt cx="2010804" cy="822945"/>
          </a:xfrm>
        </p:grpSpPr>
        <p:sp>
          <p:nvSpPr>
            <p:cNvPr id="12" name="Freeform 12"/>
            <p:cNvSpPr/>
            <p:nvPr/>
          </p:nvSpPr>
          <p:spPr>
            <a:xfrm>
              <a:off x="0" y="0"/>
              <a:ext cx="2010791" cy="822903"/>
            </a:xfrm>
            <a:custGeom>
              <a:avLst/>
              <a:gdLst/>
              <a:ahLst/>
              <a:cxnLst/>
              <a:rect l="l" t="t" r="r" b="b"/>
              <a:pathLst>
                <a:path w="2010791" h="822903">
                  <a:moveTo>
                    <a:pt x="0" y="0"/>
                  </a:moveTo>
                  <a:lnTo>
                    <a:pt x="2010791" y="0"/>
                  </a:lnTo>
                  <a:lnTo>
                    <a:pt x="2010791" y="822903"/>
                  </a:lnTo>
                  <a:lnTo>
                    <a:pt x="0" y="822903"/>
                  </a:lnTo>
                  <a:close/>
                </a:path>
              </a:pathLst>
            </a:custGeom>
            <a:blipFill>
              <a:blip r:embed="rId4">
                <a:alphaModFix amt="0"/>
              </a:blip>
              <a:stretch>
                <a:fillRect t="-2730" b="7505"/>
              </a:stretch>
            </a:blipFill>
            <a:ln cap="sq">
              <a:noFill/>
              <a:prstDash val="solid"/>
              <a:miter/>
            </a:ln>
          </p:spPr>
        </p:sp>
        <p:sp>
          <p:nvSpPr>
            <p:cNvPr id="13" name="TextBox 13"/>
            <p:cNvSpPr txBox="1"/>
            <p:nvPr/>
          </p:nvSpPr>
          <p:spPr>
            <a:xfrm>
              <a:off x="0" y="-19050"/>
              <a:ext cx="2010804" cy="841995"/>
            </a:xfrm>
            <a:prstGeom prst="rect">
              <a:avLst/>
            </a:prstGeom>
          </p:spPr>
          <p:txBody>
            <a:bodyPr lIns="50800" tIns="50800" rIns="50800" bIns="50800" rtlCol="0" anchor="t"/>
            <a:lstStyle/>
            <a:p>
              <a:pPr algn="l">
                <a:lnSpc>
                  <a:spcPts val="3240"/>
                </a:lnSpc>
              </a:pPr>
              <a:r>
                <a:rPr lang="en-US" sz="2700">
                  <a:solidFill>
                    <a:srgbClr val="000000"/>
                  </a:solidFill>
                  <a:latin typeface="Times New Roman"/>
                  <a:ea typeface="Times New Roman"/>
                  <a:cs typeface="Times New Roman"/>
                  <a:sym typeface="Times New Roman"/>
                </a:rPr>
                <a:t>Location</a:t>
              </a:r>
            </a:p>
          </p:txBody>
        </p:sp>
      </p:grpSp>
      <p:sp>
        <p:nvSpPr>
          <p:cNvPr id="14" name="AutoShape 14"/>
          <p:cNvSpPr/>
          <p:nvPr/>
        </p:nvSpPr>
        <p:spPr>
          <a:xfrm flipV="1">
            <a:off x="5974213" y="1536741"/>
            <a:ext cx="2507656" cy="4251925"/>
          </a:xfrm>
          <a:prstGeom prst="line">
            <a:avLst/>
          </a:prstGeom>
          <a:ln w="19050" cap="rnd">
            <a:solidFill>
              <a:srgbClr val="FF0000"/>
            </a:solidFill>
            <a:prstDash val="solid"/>
            <a:headEnd type="none" w="sm" len="sm"/>
            <a:tailEnd type="none" w="sm" len="sm"/>
          </a:ln>
        </p:spPr>
      </p:sp>
      <p:grpSp>
        <p:nvGrpSpPr>
          <p:cNvPr id="15" name="Group 15"/>
          <p:cNvGrpSpPr/>
          <p:nvPr/>
        </p:nvGrpSpPr>
        <p:grpSpPr>
          <a:xfrm>
            <a:off x="1161364" y="6208614"/>
            <a:ext cx="4812849" cy="2277837"/>
            <a:chOff x="0" y="0"/>
            <a:chExt cx="6417132" cy="3037116"/>
          </a:xfrm>
        </p:grpSpPr>
        <p:sp>
          <p:nvSpPr>
            <p:cNvPr id="16" name="Freeform 16"/>
            <p:cNvSpPr/>
            <p:nvPr/>
          </p:nvSpPr>
          <p:spPr>
            <a:xfrm>
              <a:off x="0" y="0"/>
              <a:ext cx="6417183" cy="3037078"/>
            </a:xfrm>
            <a:custGeom>
              <a:avLst/>
              <a:gdLst/>
              <a:ahLst/>
              <a:cxnLst/>
              <a:rect l="l" t="t" r="r" b="b"/>
              <a:pathLst>
                <a:path w="6417183" h="3037078">
                  <a:moveTo>
                    <a:pt x="0" y="0"/>
                  </a:moveTo>
                  <a:lnTo>
                    <a:pt x="6417183" y="0"/>
                  </a:lnTo>
                  <a:lnTo>
                    <a:pt x="6417183" y="3037078"/>
                  </a:lnTo>
                  <a:lnTo>
                    <a:pt x="0" y="3037078"/>
                  </a:lnTo>
                  <a:close/>
                </a:path>
              </a:pathLst>
            </a:custGeom>
            <a:blipFill>
              <a:blip r:embed="rId4">
                <a:alphaModFix amt="0"/>
              </a:blip>
              <a:stretch>
                <a:fillRect l="-10723" r="-10722" b="-1"/>
              </a:stretch>
            </a:blipFill>
            <a:ln w="28575" cap="sq">
              <a:solidFill>
                <a:srgbClr val="FF0000"/>
              </a:solidFill>
              <a:prstDash val="solid"/>
              <a:miter/>
            </a:ln>
          </p:spPr>
        </p:sp>
      </p:grpSp>
      <p:grpSp>
        <p:nvGrpSpPr>
          <p:cNvPr id="17" name="Group 17"/>
          <p:cNvGrpSpPr/>
          <p:nvPr/>
        </p:nvGrpSpPr>
        <p:grpSpPr>
          <a:xfrm>
            <a:off x="1164665" y="8581701"/>
            <a:ext cx="4812849" cy="995401"/>
            <a:chOff x="0" y="0"/>
            <a:chExt cx="6417132" cy="1327201"/>
          </a:xfrm>
        </p:grpSpPr>
        <p:sp>
          <p:nvSpPr>
            <p:cNvPr id="18" name="Freeform 18"/>
            <p:cNvSpPr/>
            <p:nvPr/>
          </p:nvSpPr>
          <p:spPr>
            <a:xfrm>
              <a:off x="0" y="0"/>
              <a:ext cx="6417183" cy="1327150"/>
            </a:xfrm>
            <a:custGeom>
              <a:avLst/>
              <a:gdLst/>
              <a:ahLst/>
              <a:cxnLst/>
              <a:rect l="l" t="t" r="r" b="b"/>
              <a:pathLst>
                <a:path w="6417183" h="1327150">
                  <a:moveTo>
                    <a:pt x="0" y="0"/>
                  </a:moveTo>
                  <a:lnTo>
                    <a:pt x="6417183" y="0"/>
                  </a:lnTo>
                  <a:lnTo>
                    <a:pt x="6417183" y="1327150"/>
                  </a:lnTo>
                  <a:lnTo>
                    <a:pt x="0" y="1327150"/>
                  </a:lnTo>
                  <a:close/>
                </a:path>
              </a:pathLst>
            </a:custGeom>
            <a:blipFill>
              <a:blip r:embed="rId4">
                <a:alphaModFix amt="0"/>
              </a:blip>
              <a:stretch>
                <a:fillRect t="-44213" b="-44217"/>
              </a:stretch>
            </a:blipFill>
            <a:ln w="28575" cap="sq">
              <a:solidFill>
                <a:srgbClr val="FF0000"/>
              </a:solidFill>
              <a:prstDash val="solid"/>
              <a:miter/>
            </a:ln>
          </p:spPr>
        </p:sp>
      </p:grpSp>
      <p:sp>
        <p:nvSpPr>
          <p:cNvPr id="19" name="AutoShape 19"/>
          <p:cNvSpPr/>
          <p:nvPr/>
        </p:nvSpPr>
        <p:spPr>
          <a:xfrm flipH="1">
            <a:off x="5977514" y="8849714"/>
            <a:ext cx="2504356" cy="229688"/>
          </a:xfrm>
          <a:prstGeom prst="line">
            <a:avLst/>
          </a:prstGeom>
          <a:ln w="19050" cap="rnd">
            <a:solidFill>
              <a:srgbClr val="FF0000"/>
            </a:solidFill>
            <a:prstDash val="solid"/>
            <a:headEnd type="none" w="sm" len="sm"/>
            <a:tailEnd type="none" w="sm" len="sm"/>
          </a:ln>
        </p:spPr>
      </p:sp>
      <p:grpSp>
        <p:nvGrpSpPr>
          <p:cNvPr id="20" name="Group 20"/>
          <p:cNvGrpSpPr/>
          <p:nvPr/>
        </p:nvGrpSpPr>
        <p:grpSpPr>
          <a:xfrm>
            <a:off x="8481870" y="2226821"/>
            <a:ext cx="9085351" cy="5514029"/>
            <a:chOff x="0" y="0"/>
            <a:chExt cx="14880120" cy="9030957"/>
          </a:xfrm>
        </p:grpSpPr>
        <p:sp>
          <p:nvSpPr>
            <p:cNvPr id="21" name="Freeform 21"/>
            <p:cNvSpPr/>
            <p:nvPr/>
          </p:nvSpPr>
          <p:spPr>
            <a:xfrm>
              <a:off x="0" y="0"/>
              <a:ext cx="14880082" cy="9030970"/>
            </a:xfrm>
            <a:custGeom>
              <a:avLst/>
              <a:gdLst/>
              <a:ahLst/>
              <a:cxnLst/>
              <a:rect l="l" t="t" r="r" b="b"/>
              <a:pathLst>
                <a:path w="14880082" h="9030970">
                  <a:moveTo>
                    <a:pt x="0" y="0"/>
                  </a:moveTo>
                  <a:lnTo>
                    <a:pt x="14880082" y="0"/>
                  </a:lnTo>
                  <a:lnTo>
                    <a:pt x="14880082" y="9030970"/>
                  </a:lnTo>
                  <a:lnTo>
                    <a:pt x="0" y="9030970"/>
                  </a:lnTo>
                  <a:lnTo>
                    <a:pt x="0" y="0"/>
                  </a:lnTo>
                  <a:close/>
                </a:path>
              </a:pathLst>
            </a:custGeom>
            <a:blipFill>
              <a:blip r:embed="rId5"/>
              <a:stretch>
                <a:fillRect l="-12247" r="-12247"/>
              </a:stretch>
            </a:blipFill>
          </p:spPr>
        </p:sp>
      </p:grpSp>
      <p:sp>
        <p:nvSpPr>
          <p:cNvPr id="22" name="TextBox 22"/>
          <p:cNvSpPr txBox="1"/>
          <p:nvPr/>
        </p:nvSpPr>
        <p:spPr>
          <a:xfrm>
            <a:off x="16488485" y="368276"/>
            <a:ext cx="1541631" cy="462563"/>
          </a:xfrm>
          <a:prstGeom prst="rect">
            <a:avLst/>
          </a:prstGeom>
        </p:spPr>
        <p:txBody>
          <a:bodyPr lIns="0" tIns="0" rIns="0" bIns="0" rtlCol="0" anchor="t">
            <a:spAutoFit/>
          </a:bodyPr>
          <a:lstStyle/>
          <a:p>
            <a:pPr algn="l">
              <a:lnSpc>
                <a:spcPts val="3240"/>
              </a:lnSpc>
            </a:pPr>
            <a:r>
              <a:rPr lang="en-US" sz="2700" b="1">
                <a:solidFill>
                  <a:srgbClr val="000000"/>
                </a:solidFill>
                <a:latin typeface="Aptos Bold"/>
                <a:ea typeface="Aptos Bold"/>
                <a:cs typeface="Aptos Bold"/>
                <a:sym typeface="Aptos Bold"/>
              </a:rPr>
              <a:t>ENGLISH</a:t>
            </a:r>
          </a:p>
        </p:txBody>
      </p:sp>
      <p:sp>
        <p:nvSpPr>
          <p:cNvPr id="23" name="AutoShape 23"/>
          <p:cNvSpPr/>
          <p:nvPr/>
        </p:nvSpPr>
        <p:spPr>
          <a:xfrm flipV="1">
            <a:off x="6039496" y="4983835"/>
            <a:ext cx="2442373" cy="2442373"/>
          </a:xfrm>
          <a:prstGeom prst="line">
            <a:avLst/>
          </a:prstGeom>
          <a:ln w="19050" cap="rnd">
            <a:solidFill>
              <a:srgbClr val="FF0000"/>
            </a:solidFill>
            <a:prstDash val="solid"/>
            <a:headEnd type="none" w="sm" len="sm"/>
            <a:tailEnd type="none" w="sm" len="sm"/>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890798" y="3252791"/>
            <a:ext cx="5368502" cy="819150"/>
          </a:xfrm>
          <a:prstGeom prst="rect">
            <a:avLst/>
          </a:prstGeom>
        </p:spPr>
        <p:txBody>
          <a:bodyPr lIns="0" tIns="0" rIns="0" bIns="0" rtlCol="0" anchor="t">
            <a:spAutoFit/>
          </a:bodyPr>
          <a:lstStyle/>
          <a:p>
            <a:pPr algn="l">
              <a:lnSpc>
                <a:spcPts val="2160"/>
              </a:lnSpc>
            </a:pPr>
            <a:r>
              <a:rPr lang="en-US" sz="1800">
                <a:solidFill>
                  <a:srgbClr val="FF0000"/>
                </a:solidFill>
                <a:latin typeface="Arimo"/>
                <a:ea typeface="Arimo"/>
                <a:cs typeface="Arimo"/>
                <a:sym typeface="Arimo"/>
              </a:rPr>
              <a:t>Keep the same form.</a:t>
            </a:r>
          </a:p>
          <a:p>
            <a:pPr algn="l">
              <a:lnSpc>
                <a:spcPts val="2160"/>
              </a:lnSpc>
            </a:pPr>
            <a:endParaRPr lang="en-US" sz="1800">
              <a:solidFill>
                <a:srgbClr val="FF0000"/>
              </a:solidFill>
              <a:latin typeface="Arimo"/>
              <a:ea typeface="Arimo"/>
              <a:cs typeface="Arimo"/>
              <a:sym typeface="Arimo"/>
            </a:endParaRPr>
          </a:p>
          <a:p>
            <a:pPr algn="l">
              <a:lnSpc>
                <a:spcPts val="2160"/>
              </a:lnSpc>
            </a:pPr>
            <a:r>
              <a:rPr lang="en-US" sz="1800">
                <a:solidFill>
                  <a:srgbClr val="FF0000"/>
                </a:solidFill>
                <a:latin typeface="Arimo"/>
                <a:ea typeface="Arimo"/>
                <a:cs typeface="Arimo"/>
                <a:sym typeface="Arimo"/>
              </a:rPr>
              <a:t>We are also gathering participants from this page.</a:t>
            </a:r>
          </a:p>
        </p:txBody>
      </p:sp>
      <p:grpSp>
        <p:nvGrpSpPr>
          <p:cNvPr id="3" name="Group 3"/>
          <p:cNvGrpSpPr/>
          <p:nvPr/>
        </p:nvGrpSpPr>
        <p:grpSpPr>
          <a:xfrm>
            <a:off x="2591086" y="398669"/>
            <a:ext cx="8759457" cy="9888331"/>
            <a:chOff x="0" y="0"/>
            <a:chExt cx="11679276" cy="13184442"/>
          </a:xfrm>
        </p:grpSpPr>
        <p:sp>
          <p:nvSpPr>
            <p:cNvPr id="4" name="Freeform 4"/>
            <p:cNvSpPr/>
            <p:nvPr/>
          </p:nvSpPr>
          <p:spPr>
            <a:xfrm>
              <a:off x="0" y="0"/>
              <a:ext cx="11679301" cy="13184378"/>
            </a:xfrm>
            <a:custGeom>
              <a:avLst/>
              <a:gdLst/>
              <a:ahLst/>
              <a:cxnLst/>
              <a:rect l="l" t="t" r="r" b="b"/>
              <a:pathLst>
                <a:path w="11679301" h="13184378">
                  <a:moveTo>
                    <a:pt x="0" y="0"/>
                  </a:moveTo>
                  <a:lnTo>
                    <a:pt x="11679301" y="0"/>
                  </a:lnTo>
                  <a:lnTo>
                    <a:pt x="11679301" y="13184378"/>
                  </a:lnTo>
                  <a:lnTo>
                    <a:pt x="0" y="13184378"/>
                  </a:lnTo>
                  <a:lnTo>
                    <a:pt x="0" y="0"/>
                  </a:lnTo>
                  <a:close/>
                </a:path>
              </a:pathLst>
            </a:custGeom>
            <a:blipFill>
              <a:blip r:embed="rId2"/>
              <a:stretch>
                <a:fillRect/>
              </a:stretch>
            </a:blipFill>
          </p:spPr>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937" y="411070"/>
            <a:ext cx="9053341" cy="9464859"/>
            <a:chOff x="0" y="0"/>
            <a:chExt cx="12071121" cy="12619812"/>
          </a:xfrm>
        </p:grpSpPr>
        <p:sp>
          <p:nvSpPr>
            <p:cNvPr id="3" name="Freeform 3"/>
            <p:cNvSpPr/>
            <p:nvPr/>
          </p:nvSpPr>
          <p:spPr>
            <a:xfrm>
              <a:off x="0" y="0"/>
              <a:ext cx="12071096" cy="12619863"/>
            </a:xfrm>
            <a:custGeom>
              <a:avLst/>
              <a:gdLst/>
              <a:ahLst/>
              <a:cxnLst/>
              <a:rect l="l" t="t" r="r" b="b"/>
              <a:pathLst>
                <a:path w="12071096" h="12619863">
                  <a:moveTo>
                    <a:pt x="0" y="0"/>
                  </a:moveTo>
                  <a:lnTo>
                    <a:pt x="12071096" y="0"/>
                  </a:lnTo>
                  <a:lnTo>
                    <a:pt x="12071096" y="12619863"/>
                  </a:lnTo>
                  <a:lnTo>
                    <a:pt x="0" y="12619863"/>
                  </a:lnTo>
                  <a:lnTo>
                    <a:pt x="0" y="0"/>
                  </a:lnTo>
                  <a:close/>
                </a:path>
              </a:pathLst>
            </a:custGeom>
            <a:blipFill>
              <a:blip r:embed="rId2"/>
              <a:stretch>
                <a:fillRect/>
              </a:stretch>
            </a:blipFill>
          </p:spPr>
        </p:sp>
      </p:grpSp>
      <p:grpSp>
        <p:nvGrpSpPr>
          <p:cNvPr id="7" name="Group 7"/>
          <p:cNvGrpSpPr/>
          <p:nvPr/>
        </p:nvGrpSpPr>
        <p:grpSpPr>
          <a:xfrm>
            <a:off x="679675" y="565375"/>
            <a:ext cx="3193742" cy="700897"/>
            <a:chOff x="0" y="0"/>
            <a:chExt cx="4258323" cy="934529"/>
          </a:xfrm>
        </p:grpSpPr>
        <p:sp>
          <p:nvSpPr>
            <p:cNvPr id="8" name="Freeform 8"/>
            <p:cNvSpPr/>
            <p:nvPr/>
          </p:nvSpPr>
          <p:spPr>
            <a:xfrm>
              <a:off x="0" y="0"/>
              <a:ext cx="4258310" cy="934593"/>
            </a:xfrm>
            <a:custGeom>
              <a:avLst/>
              <a:gdLst/>
              <a:ahLst/>
              <a:cxnLst/>
              <a:rect l="l" t="t" r="r" b="b"/>
              <a:pathLst>
                <a:path w="4258310" h="934593">
                  <a:moveTo>
                    <a:pt x="0" y="0"/>
                  </a:moveTo>
                  <a:lnTo>
                    <a:pt x="4258310" y="0"/>
                  </a:lnTo>
                  <a:lnTo>
                    <a:pt x="4258310" y="934593"/>
                  </a:lnTo>
                  <a:lnTo>
                    <a:pt x="0" y="934593"/>
                  </a:lnTo>
                  <a:close/>
                </a:path>
              </a:pathLst>
            </a:custGeom>
            <a:blipFill>
              <a:blip r:embed="rId3">
                <a:alphaModFix amt="0"/>
              </a:blip>
              <a:stretch>
                <a:fillRect t="-38783" b="-38777"/>
              </a:stretch>
            </a:blipFill>
            <a:ln w="28575" cap="sq">
              <a:solidFill>
                <a:srgbClr val="FF0000"/>
              </a:solidFill>
              <a:prstDash val="solid"/>
              <a:miter/>
            </a:ln>
          </p:spPr>
        </p:sp>
      </p:grpSp>
      <p:sp>
        <p:nvSpPr>
          <p:cNvPr id="9" name="AutoShape 9"/>
          <p:cNvSpPr/>
          <p:nvPr/>
        </p:nvSpPr>
        <p:spPr>
          <a:xfrm rot="2700000">
            <a:off x="3898649" y="864051"/>
            <a:ext cx="40415" cy="0"/>
          </a:xfrm>
          <a:prstGeom prst="line">
            <a:avLst/>
          </a:prstGeom>
          <a:ln w="19050" cap="rnd">
            <a:solidFill>
              <a:srgbClr val="156082"/>
            </a:solidFill>
            <a:prstDash val="solid"/>
            <a:headEnd type="none" w="sm" len="sm"/>
            <a:tailEnd type="none" w="sm" len="sm"/>
          </a:ln>
        </p:spPr>
      </p:sp>
      <p:grpSp>
        <p:nvGrpSpPr>
          <p:cNvPr id="10" name="Group 10"/>
          <p:cNvGrpSpPr/>
          <p:nvPr/>
        </p:nvGrpSpPr>
        <p:grpSpPr>
          <a:xfrm>
            <a:off x="10083689" y="667236"/>
            <a:ext cx="1421540" cy="461666"/>
            <a:chOff x="0" y="0"/>
            <a:chExt cx="1895386" cy="615554"/>
          </a:xfrm>
        </p:grpSpPr>
        <p:sp>
          <p:nvSpPr>
            <p:cNvPr id="11" name="Freeform 11"/>
            <p:cNvSpPr/>
            <p:nvPr/>
          </p:nvSpPr>
          <p:spPr>
            <a:xfrm>
              <a:off x="0" y="0"/>
              <a:ext cx="1895348" cy="615567"/>
            </a:xfrm>
            <a:custGeom>
              <a:avLst/>
              <a:gdLst/>
              <a:ahLst/>
              <a:cxnLst/>
              <a:rect l="l" t="t" r="r" b="b"/>
              <a:pathLst>
                <a:path w="1895348" h="615567">
                  <a:moveTo>
                    <a:pt x="0" y="0"/>
                  </a:moveTo>
                  <a:lnTo>
                    <a:pt x="1895348" y="0"/>
                  </a:lnTo>
                  <a:lnTo>
                    <a:pt x="1895348" y="615567"/>
                  </a:lnTo>
                  <a:lnTo>
                    <a:pt x="0" y="615567"/>
                  </a:lnTo>
                  <a:close/>
                </a:path>
              </a:pathLst>
            </a:custGeom>
            <a:blipFill>
              <a:blip r:embed="rId3">
                <a:alphaModFix amt="0"/>
              </a:blip>
              <a:stretch>
                <a:fillRect t="-9997" r="-2" b="-9995"/>
              </a:stretch>
            </a:blipFill>
            <a:ln cap="sq">
              <a:noFill/>
              <a:prstDash val="solid"/>
              <a:miter/>
            </a:ln>
          </p:spPr>
        </p:sp>
        <p:sp>
          <p:nvSpPr>
            <p:cNvPr id="12" name="TextBox 12"/>
            <p:cNvSpPr txBox="1"/>
            <p:nvPr/>
          </p:nvSpPr>
          <p:spPr>
            <a:xfrm>
              <a:off x="0" y="0"/>
              <a:ext cx="1895386" cy="615554"/>
            </a:xfrm>
            <a:prstGeom prst="rect">
              <a:avLst/>
            </a:prstGeom>
          </p:spPr>
          <p:txBody>
            <a:bodyPr lIns="50800" tIns="50800" rIns="50800" bIns="50800" rtlCol="0" anchor="t"/>
            <a:lstStyle/>
            <a:p>
              <a:pPr algn="l">
                <a:lnSpc>
                  <a:spcPts val="2160"/>
                </a:lnSpc>
              </a:pPr>
              <a:r>
                <a:rPr lang="en-US" sz="1800">
                  <a:solidFill>
                    <a:srgbClr val="FF0000"/>
                  </a:solidFill>
                  <a:latin typeface="Aptos"/>
                  <a:ea typeface="Aptos"/>
                  <a:cs typeface="Aptos"/>
                  <a:sym typeface="Aptos"/>
                </a:rPr>
                <a:t>Keep logo</a:t>
              </a:r>
            </a:p>
          </p:txBody>
        </p:sp>
      </p:grpSp>
      <p:sp>
        <p:nvSpPr>
          <p:cNvPr id="13" name="AutoShape 13"/>
          <p:cNvSpPr/>
          <p:nvPr/>
        </p:nvSpPr>
        <p:spPr>
          <a:xfrm flipV="1">
            <a:off x="3873408" y="898069"/>
            <a:ext cx="6210281" cy="17755"/>
          </a:xfrm>
          <a:prstGeom prst="line">
            <a:avLst/>
          </a:prstGeom>
          <a:ln w="19050" cap="rnd">
            <a:solidFill>
              <a:srgbClr val="FF0000"/>
            </a:solidFill>
            <a:prstDash val="solid"/>
            <a:headEnd type="none" w="sm" len="sm"/>
            <a:tailEnd type="none" w="sm" len="sm"/>
          </a:ln>
        </p:spPr>
      </p:sp>
      <p:grpSp>
        <p:nvGrpSpPr>
          <p:cNvPr id="14" name="Group 14"/>
          <p:cNvGrpSpPr/>
          <p:nvPr/>
        </p:nvGrpSpPr>
        <p:grpSpPr>
          <a:xfrm>
            <a:off x="965425" y="2154203"/>
            <a:ext cx="8258175" cy="635946"/>
            <a:chOff x="0" y="0"/>
            <a:chExt cx="11010900" cy="847928"/>
          </a:xfrm>
        </p:grpSpPr>
        <p:sp>
          <p:nvSpPr>
            <p:cNvPr id="15" name="Freeform 15"/>
            <p:cNvSpPr/>
            <p:nvPr/>
          </p:nvSpPr>
          <p:spPr>
            <a:xfrm>
              <a:off x="0" y="0"/>
              <a:ext cx="11010900" cy="847979"/>
            </a:xfrm>
            <a:custGeom>
              <a:avLst/>
              <a:gdLst/>
              <a:ahLst/>
              <a:cxnLst/>
              <a:rect l="l" t="t" r="r" b="b"/>
              <a:pathLst>
                <a:path w="11010900" h="847979">
                  <a:moveTo>
                    <a:pt x="0" y="0"/>
                  </a:moveTo>
                  <a:lnTo>
                    <a:pt x="11010900" y="0"/>
                  </a:lnTo>
                  <a:lnTo>
                    <a:pt x="11010900" y="847979"/>
                  </a:lnTo>
                  <a:lnTo>
                    <a:pt x="0" y="847979"/>
                  </a:lnTo>
                  <a:close/>
                </a:path>
              </a:pathLst>
            </a:custGeom>
            <a:blipFill>
              <a:blip r:embed="rId3">
                <a:alphaModFix amt="0"/>
              </a:blip>
              <a:stretch>
                <a:fillRect t="-203013" b="-203007"/>
              </a:stretch>
            </a:blipFill>
            <a:ln w="28575" cap="sq">
              <a:solidFill>
                <a:srgbClr val="FF0000"/>
              </a:solidFill>
              <a:prstDash val="solid"/>
              <a:miter/>
            </a:ln>
          </p:spPr>
        </p:sp>
      </p:grpSp>
      <p:sp>
        <p:nvSpPr>
          <p:cNvPr id="16" name="AutoShape 16"/>
          <p:cNvSpPr/>
          <p:nvPr/>
        </p:nvSpPr>
        <p:spPr>
          <a:xfrm rot="2700000">
            <a:off x="4184399" y="2452878"/>
            <a:ext cx="40415" cy="0"/>
          </a:xfrm>
          <a:prstGeom prst="line">
            <a:avLst/>
          </a:prstGeom>
          <a:ln w="19050" cap="rnd">
            <a:solidFill>
              <a:srgbClr val="156082"/>
            </a:solidFill>
            <a:prstDash val="solid"/>
            <a:headEnd type="none" w="sm" len="sm"/>
            <a:tailEnd type="none" w="sm" len="sm"/>
          </a:ln>
        </p:spPr>
      </p:sp>
      <p:grpSp>
        <p:nvGrpSpPr>
          <p:cNvPr id="17" name="Group 17"/>
          <p:cNvGrpSpPr/>
          <p:nvPr/>
        </p:nvGrpSpPr>
        <p:grpSpPr>
          <a:xfrm>
            <a:off x="10083689" y="2154203"/>
            <a:ext cx="5256343" cy="492751"/>
            <a:chOff x="0" y="0"/>
            <a:chExt cx="7008457" cy="657002"/>
          </a:xfrm>
        </p:grpSpPr>
        <p:sp>
          <p:nvSpPr>
            <p:cNvPr id="18" name="Freeform 18"/>
            <p:cNvSpPr/>
            <p:nvPr/>
          </p:nvSpPr>
          <p:spPr>
            <a:xfrm>
              <a:off x="0" y="0"/>
              <a:ext cx="7008495" cy="657014"/>
            </a:xfrm>
            <a:custGeom>
              <a:avLst/>
              <a:gdLst/>
              <a:ahLst/>
              <a:cxnLst/>
              <a:rect l="l" t="t" r="r" b="b"/>
              <a:pathLst>
                <a:path w="7008495" h="657014">
                  <a:moveTo>
                    <a:pt x="0" y="0"/>
                  </a:moveTo>
                  <a:lnTo>
                    <a:pt x="7008495" y="0"/>
                  </a:lnTo>
                  <a:lnTo>
                    <a:pt x="7008495" y="657014"/>
                  </a:lnTo>
                  <a:lnTo>
                    <a:pt x="0" y="657014"/>
                  </a:lnTo>
                  <a:close/>
                </a:path>
              </a:pathLst>
            </a:custGeom>
            <a:blipFill>
              <a:blip r:embed="rId3">
                <a:alphaModFix amt="0"/>
              </a:blip>
              <a:stretch>
                <a:fillRect t="-161004" b="-154694"/>
              </a:stretch>
            </a:blipFill>
            <a:ln cap="sq">
              <a:noFill/>
              <a:prstDash val="solid"/>
              <a:miter/>
            </a:ln>
          </p:spPr>
        </p:sp>
        <p:sp>
          <p:nvSpPr>
            <p:cNvPr id="19" name="TextBox 19"/>
            <p:cNvSpPr txBox="1"/>
            <p:nvPr/>
          </p:nvSpPr>
          <p:spPr>
            <a:xfrm>
              <a:off x="0" y="-19050"/>
              <a:ext cx="7008457" cy="676052"/>
            </a:xfrm>
            <a:prstGeom prst="rect">
              <a:avLst/>
            </a:prstGeom>
          </p:spPr>
          <p:txBody>
            <a:bodyPr lIns="50800" tIns="50800" rIns="50800" bIns="50800" rtlCol="0" anchor="t"/>
            <a:lstStyle/>
            <a:p>
              <a:pPr algn="l">
                <a:lnSpc>
                  <a:spcPts val="2520"/>
                </a:lnSpc>
              </a:pPr>
              <a:r>
                <a:rPr lang="en-US" sz="2100" dirty="0">
                  <a:solidFill>
                    <a:srgbClr val="000000"/>
                  </a:solidFill>
                  <a:latin typeface="Times New Roman"/>
                  <a:ea typeface="Times New Roman"/>
                  <a:cs typeface="Times New Roman"/>
                  <a:sym typeface="Times New Roman"/>
                </a:rPr>
                <a:t>Cello Square Conference Southeast Asia 2026</a:t>
              </a:r>
            </a:p>
          </p:txBody>
        </p:sp>
      </p:grpSp>
      <p:sp>
        <p:nvSpPr>
          <p:cNvPr id="20" name="AutoShape 20"/>
          <p:cNvSpPr/>
          <p:nvPr/>
        </p:nvSpPr>
        <p:spPr>
          <a:xfrm flipV="1">
            <a:off x="9223600" y="2400578"/>
            <a:ext cx="860088" cy="71597"/>
          </a:xfrm>
          <a:prstGeom prst="line">
            <a:avLst/>
          </a:prstGeom>
          <a:ln w="19050" cap="rnd">
            <a:solidFill>
              <a:srgbClr val="FF0000"/>
            </a:solidFill>
            <a:prstDash val="solid"/>
            <a:headEnd type="none" w="sm" len="sm"/>
            <a:tailEnd type="none" w="sm" len="sm"/>
          </a:ln>
        </p:spPr>
      </p:sp>
      <p:grpSp>
        <p:nvGrpSpPr>
          <p:cNvPr id="21" name="Group 21"/>
          <p:cNvGrpSpPr/>
          <p:nvPr/>
        </p:nvGrpSpPr>
        <p:grpSpPr>
          <a:xfrm>
            <a:off x="2207190" y="2900362"/>
            <a:ext cx="5595833" cy="1057094"/>
            <a:chOff x="0" y="0"/>
            <a:chExt cx="7461110" cy="1409459"/>
          </a:xfrm>
        </p:grpSpPr>
        <p:sp>
          <p:nvSpPr>
            <p:cNvPr id="22" name="Freeform 22"/>
            <p:cNvSpPr/>
            <p:nvPr/>
          </p:nvSpPr>
          <p:spPr>
            <a:xfrm>
              <a:off x="0" y="0"/>
              <a:ext cx="7461123" cy="1409446"/>
            </a:xfrm>
            <a:custGeom>
              <a:avLst/>
              <a:gdLst/>
              <a:ahLst/>
              <a:cxnLst/>
              <a:rect l="l" t="t" r="r" b="b"/>
              <a:pathLst>
                <a:path w="7461123" h="1409446">
                  <a:moveTo>
                    <a:pt x="0" y="0"/>
                  </a:moveTo>
                  <a:lnTo>
                    <a:pt x="7461123" y="0"/>
                  </a:lnTo>
                  <a:lnTo>
                    <a:pt x="7461123" y="1409446"/>
                  </a:lnTo>
                  <a:lnTo>
                    <a:pt x="0" y="1409446"/>
                  </a:lnTo>
                  <a:close/>
                </a:path>
              </a:pathLst>
            </a:custGeom>
            <a:blipFill>
              <a:blip r:embed="rId3">
                <a:alphaModFix amt="0"/>
              </a:blip>
              <a:stretch>
                <a:fillRect t="-53146" b="-53147"/>
              </a:stretch>
            </a:blipFill>
            <a:ln w="28575" cap="sq">
              <a:solidFill>
                <a:srgbClr val="FF0000"/>
              </a:solidFill>
              <a:prstDash val="solid"/>
              <a:miter/>
            </a:ln>
          </p:spPr>
        </p:sp>
      </p:grpSp>
      <p:sp>
        <p:nvSpPr>
          <p:cNvPr id="23" name="AutoShape 23"/>
          <p:cNvSpPr/>
          <p:nvPr/>
        </p:nvSpPr>
        <p:spPr>
          <a:xfrm rot="2700000">
            <a:off x="5426164" y="3296393"/>
            <a:ext cx="40415" cy="0"/>
          </a:xfrm>
          <a:prstGeom prst="line">
            <a:avLst/>
          </a:prstGeom>
          <a:ln w="19050" cap="rnd">
            <a:solidFill>
              <a:srgbClr val="156082"/>
            </a:solidFill>
            <a:prstDash val="solid"/>
            <a:headEnd type="none" w="sm" len="sm"/>
            <a:tailEnd type="none" w="sm" len="sm"/>
          </a:ln>
        </p:spPr>
      </p:sp>
      <p:grpSp>
        <p:nvGrpSpPr>
          <p:cNvPr id="24" name="Group 24"/>
          <p:cNvGrpSpPr/>
          <p:nvPr/>
        </p:nvGrpSpPr>
        <p:grpSpPr>
          <a:xfrm>
            <a:off x="10083689" y="3060387"/>
            <a:ext cx="7945906" cy="519639"/>
            <a:chOff x="0" y="0"/>
            <a:chExt cx="9559221" cy="692852"/>
          </a:xfrm>
        </p:grpSpPr>
        <p:sp>
          <p:nvSpPr>
            <p:cNvPr id="25" name="Freeform 25"/>
            <p:cNvSpPr/>
            <p:nvPr/>
          </p:nvSpPr>
          <p:spPr>
            <a:xfrm>
              <a:off x="0" y="0"/>
              <a:ext cx="9559233" cy="692890"/>
            </a:xfrm>
            <a:custGeom>
              <a:avLst/>
              <a:gdLst/>
              <a:ahLst/>
              <a:cxnLst/>
              <a:rect l="l" t="t" r="r" b="b"/>
              <a:pathLst>
                <a:path w="9559233" h="692890">
                  <a:moveTo>
                    <a:pt x="0" y="0"/>
                  </a:moveTo>
                  <a:lnTo>
                    <a:pt x="9559233" y="0"/>
                  </a:lnTo>
                  <a:lnTo>
                    <a:pt x="9559233" y="692890"/>
                  </a:lnTo>
                  <a:lnTo>
                    <a:pt x="0" y="692890"/>
                  </a:lnTo>
                  <a:close/>
                </a:path>
              </a:pathLst>
            </a:custGeom>
            <a:blipFill>
              <a:blip r:embed="rId3">
                <a:alphaModFix amt="0"/>
              </a:blip>
              <a:stretch>
                <a:fillRect t="-161528" r="11821" b="-212554"/>
              </a:stretch>
            </a:blipFill>
            <a:ln cap="sq">
              <a:noFill/>
              <a:prstDash val="solid"/>
              <a:miter/>
            </a:ln>
          </p:spPr>
        </p:sp>
        <p:sp>
          <p:nvSpPr>
            <p:cNvPr id="26" name="TextBox 26"/>
            <p:cNvSpPr txBox="1"/>
            <p:nvPr/>
          </p:nvSpPr>
          <p:spPr>
            <a:xfrm>
              <a:off x="0" y="-19050"/>
              <a:ext cx="9559221" cy="711902"/>
            </a:xfrm>
            <a:prstGeom prst="rect">
              <a:avLst/>
            </a:prstGeom>
          </p:spPr>
          <p:txBody>
            <a:bodyPr lIns="50800" tIns="50800" rIns="50800" bIns="50800" rtlCol="0" anchor="t"/>
            <a:lstStyle/>
            <a:p>
              <a:pPr>
                <a:lnSpc>
                  <a:spcPts val="2520"/>
                </a:lnSpc>
              </a:pPr>
              <a:r>
                <a:rPr lang="en-US" sz="2100" dirty="0" err="1">
                  <a:solidFill>
                    <a:srgbClr val="000000"/>
                  </a:solidFill>
                  <a:latin typeface="Times New Roman"/>
                  <a:ea typeface="Times New Roman"/>
                  <a:cs typeface="Times New Roman"/>
                  <a:sym typeface="Times New Roman"/>
                </a:rPr>
                <a:t>Nâng</a:t>
              </a:r>
              <a:r>
                <a:rPr lang="en-US" sz="2100" dirty="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cao</a:t>
              </a:r>
              <a:r>
                <a:rPr lang="en-US" sz="2100" dirty="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tính</a:t>
              </a:r>
              <a:r>
                <a:rPr lang="en-US" sz="2100" dirty="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linh</a:t>
              </a:r>
              <a:r>
                <a:rPr lang="en-US" sz="2100" dirty="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hoạt</a:t>
              </a:r>
              <a:r>
                <a:rPr lang="en-US" sz="2100" dirty="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chuỗi</a:t>
              </a:r>
              <a:r>
                <a:rPr lang="en-US" sz="2100" dirty="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cung</a:t>
              </a:r>
              <a:r>
                <a:rPr lang="en-US" sz="2100" dirty="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ứng</a:t>
              </a:r>
              <a:r>
                <a:rPr lang="en-US" sz="2100" dirty="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Từ</a:t>
              </a:r>
              <a:r>
                <a:rPr lang="en-US" sz="2100" dirty="0">
                  <a:solidFill>
                    <a:srgbClr val="000000"/>
                  </a:solidFill>
                  <a:latin typeface="Times New Roman"/>
                  <a:ea typeface="Times New Roman"/>
                  <a:cs typeface="Times New Roman"/>
                  <a:sym typeface="Times New Roman"/>
                </a:rPr>
                <a:t> </a:t>
              </a:r>
              <a:r>
                <a:rPr lang="en-US" sz="2100" dirty="0" err="1" smtClean="0">
                  <a:solidFill>
                    <a:srgbClr val="000000"/>
                  </a:solidFill>
                  <a:latin typeface="Times New Roman"/>
                  <a:ea typeface="Times New Roman"/>
                  <a:cs typeface="Times New Roman"/>
                  <a:sym typeface="Times New Roman"/>
                </a:rPr>
                <a:t>nhận</a:t>
              </a:r>
              <a:r>
                <a:rPr lang="en-US" sz="2100" dirty="0" smtClean="0">
                  <a:solidFill>
                    <a:srgbClr val="000000"/>
                  </a:solidFill>
                  <a:latin typeface="Times New Roman"/>
                  <a:ea typeface="Times New Roman"/>
                  <a:cs typeface="Times New Roman"/>
                  <a:sym typeface="Times New Roman"/>
                </a:rPr>
                <a:t> </a:t>
              </a:r>
              <a:r>
                <a:rPr lang="en-US" sz="2100" dirty="0" err="1" smtClean="0">
                  <a:solidFill>
                    <a:srgbClr val="000000"/>
                  </a:solidFill>
                  <a:latin typeface="Times New Roman"/>
                  <a:ea typeface="Times New Roman"/>
                  <a:cs typeface="Times New Roman"/>
                  <a:sym typeface="Times New Roman"/>
                </a:rPr>
                <a:t>thức</a:t>
              </a:r>
              <a:r>
                <a:rPr lang="en-US" sz="2100" dirty="0" smtClean="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đến</a:t>
              </a:r>
              <a:r>
                <a:rPr lang="en-US" sz="2100" dirty="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hành</a:t>
              </a:r>
              <a:r>
                <a:rPr lang="en-US" sz="2100" dirty="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động</a:t>
              </a:r>
              <a:endParaRPr lang="en-US" sz="2100" dirty="0">
                <a:solidFill>
                  <a:srgbClr val="000000"/>
                </a:solidFill>
                <a:latin typeface="Times New Roman"/>
                <a:ea typeface="Times New Roman"/>
                <a:cs typeface="Times New Roman"/>
                <a:sym typeface="Times New Roman"/>
              </a:endParaRPr>
            </a:p>
          </p:txBody>
        </p:sp>
      </p:grpSp>
      <p:sp>
        <p:nvSpPr>
          <p:cNvPr id="27" name="AutoShape 27"/>
          <p:cNvSpPr/>
          <p:nvPr/>
        </p:nvSpPr>
        <p:spPr>
          <a:xfrm flipV="1">
            <a:off x="7803023" y="3320207"/>
            <a:ext cx="2280666" cy="108703"/>
          </a:xfrm>
          <a:prstGeom prst="line">
            <a:avLst/>
          </a:prstGeom>
          <a:ln w="19050" cap="rnd">
            <a:solidFill>
              <a:srgbClr val="FF0000"/>
            </a:solidFill>
            <a:prstDash val="solid"/>
            <a:headEnd type="none" w="sm" len="sm"/>
            <a:tailEnd type="none" w="sm" len="sm"/>
          </a:ln>
        </p:spPr>
      </p:sp>
      <p:sp>
        <p:nvSpPr>
          <p:cNvPr id="28" name="TextBox 28"/>
          <p:cNvSpPr txBox="1"/>
          <p:nvPr/>
        </p:nvSpPr>
        <p:spPr>
          <a:xfrm>
            <a:off x="14000906" y="868815"/>
            <a:ext cx="3972974" cy="819150"/>
          </a:xfrm>
          <a:prstGeom prst="rect">
            <a:avLst/>
          </a:prstGeom>
        </p:spPr>
        <p:txBody>
          <a:bodyPr lIns="0" tIns="0" rIns="0" bIns="0" rtlCol="0" anchor="t">
            <a:spAutoFit/>
          </a:bodyPr>
          <a:lstStyle/>
          <a:p>
            <a:pPr marL="388620" lvl="1" indent="-194310" algn="l">
              <a:lnSpc>
                <a:spcPts val="2160"/>
              </a:lnSpc>
              <a:buFont typeface="Arial"/>
              <a:buChar char="•"/>
            </a:pPr>
            <a:r>
              <a:rPr lang="en-US" sz="1800">
                <a:solidFill>
                  <a:srgbClr val="FF0000"/>
                </a:solidFill>
                <a:latin typeface="Arimo"/>
                <a:ea typeface="Arimo"/>
                <a:cs typeface="Arimo"/>
                <a:sym typeface="Arimo"/>
              </a:rPr>
              <a:t>To be reflected on Vietnamese site</a:t>
            </a:r>
          </a:p>
          <a:p>
            <a:pPr marL="388620" lvl="1" indent="-194310" algn="l">
              <a:lnSpc>
                <a:spcPts val="2160"/>
              </a:lnSpc>
              <a:buFont typeface="Arial"/>
              <a:buChar char="•"/>
            </a:pPr>
            <a:r>
              <a:rPr lang="en-US" sz="1800">
                <a:solidFill>
                  <a:srgbClr val="FF0000"/>
                </a:solidFill>
                <a:latin typeface="Arimo"/>
                <a:ea typeface="Arimo"/>
                <a:cs typeface="Arimo"/>
                <a:sym typeface="Arimo"/>
              </a:rPr>
              <a:t>Keep font size as it is</a:t>
            </a:r>
          </a:p>
          <a:p>
            <a:pPr marL="388620" lvl="1" indent="-194310" algn="l">
              <a:lnSpc>
                <a:spcPts val="2160"/>
              </a:lnSpc>
              <a:buFont typeface="Arial"/>
              <a:buChar char="•"/>
            </a:pPr>
            <a:r>
              <a:rPr lang="en-US" sz="1800">
                <a:solidFill>
                  <a:srgbClr val="FF0000"/>
                </a:solidFill>
                <a:latin typeface="Arimo"/>
                <a:ea typeface="Arimo"/>
                <a:cs typeface="Arimo"/>
                <a:sym typeface="Arimo"/>
              </a:rPr>
              <a:t>Center alignment</a:t>
            </a:r>
          </a:p>
        </p:txBody>
      </p:sp>
      <p:grpSp>
        <p:nvGrpSpPr>
          <p:cNvPr id="29" name="Group 29"/>
          <p:cNvGrpSpPr/>
          <p:nvPr/>
        </p:nvGrpSpPr>
        <p:grpSpPr>
          <a:xfrm>
            <a:off x="1683887" y="3987146"/>
            <a:ext cx="6723288" cy="578091"/>
            <a:chOff x="0" y="0"/>
            <a:chExt cx="8964384" cy="770788"/>
          </a:xfrm>
        </p:grpSpPr>
        <p:sp>
          <p:nvSpPr>
            <p:cNvPr id="30" name="Freeform 30"/>
            <p:cNvSpPr/>
            <p:nvPr/>
          </p:nvSpPr>
          <p:spPr>
            <a:xfrm>
              <a:off x="0" y="0"/>
              <a:ext cx="8964422" cy="770763"/>
            </a:xfrm>
            <a:custGeom>
              <a:avLst/>
              <a:gdLst/>
              <a:ahLst/>
              <a:cxnLst/>
              <a:rect l="l" t="t" r="r" b="b"/>
              <a:pathLst>
                <a:path w="8964422" h="770763">
                  <a:moveTo>
                    <a:pt x="0" y="0"/>
                  </a:moveTo>
                  <a:lnTo>
                    <a:pt x="8964422" y="0"/>
                  </a:lnTo>
                  <a:lnTo>
                    <a:pt x="8964422" y="770763"/>
                  </a:lnTo>
                  <a:lnTo>
                    <a:pt x="0" y="770763"/>
                  </a:lnTo>
                  <a:close/>
                </a:path>
              </a:pathLst>
            </a:custGeom>
            <a:blipFill>
              <a:blip r:embed="rId3">
                <a:alphaModFix amt="0"/>
              </a:blip>
              <a:stretch>
                <a:fillRect t="-176619" b="-176623"/>
              </a:stretch>
            </a:blipFill>
            <a:ln w="28575" cap="sq">
              <a:solidFill>
                <a:srgbClr val="FF0000"/>
              </a:solidFill>
              <a:prstDash val="solid"/>
              <a:miter/>
            </a:ln>
          </p:spPr>
        </p:sp>
      </p:grpSp>
      <p:sp>
        <p:nvSpPr>
          <p:cNvPr id="31" name="AutoShape 31"/>
          <p:cNvSpPr/>
          <p:nvPr/>
        </p:nvSpPr>
        <p:spPr>
          <a:xfrm rot="2700000">
            <a:off x="4902860" y="4285821"/>
            <a:ext cx="40415" cy="0"/>
          </a:xfrm>
          <a:prstGeom prst="line">
            <a:avLst/>
          </a:prstGeom>
          <a:ln w="19050" cap="rnd">
            <a:solidFill>
              <a:srgbClr val="156082"/>
            </a:solidFill>
            <a:prstDash val="solid"/>
            <a:headEnd type="none" w="sm" len="sm"/>
            <a:tailEnd type="none" w="sm" len="sm"/>
          </a:ln>
        </p:spPr>
      </p:sp>
      <p:grpSp>
        <p:nvGrpSpPr>
          <p:cNvPr id="32" name="Group 32"/>
          <p:cNvGrpSpPr/>
          <p:nvPr/>
        </p:nvGrpSpPr>
        <p:grpSpPr>
          <a:xfrm>
            <a:off x="10083689" y="3872653"/>
            <a:ext cx="8204311" cy="807076"/>
            <a:chOff x="0" y="0"/>
            <a:chExt cx="10939081" cy="1076102"/>
          </a:xfrm>
        </p:grpSpPr>
        <p:sp>
          <p:nvSpPr>
            <p:cNvPr id="33" name="Freeform 33"/>
            <p:cNvSpPr/>
            <p:nvPr/>
          </p:nvSpPr>
          <p:spPr>
            <a:xfrm>
              <a:off x="0" y="0"/>
              <a:ext cx="10939119" cy="1076114"/>
            </a:xfrm>
            <a:custGeom>
              <a:avLst/>
              <a:gdLst/>
              <a:ahLst/>
              <a:cxnLst/>
              <a:rect l="l" t="t" r="r" b="b"/>
              <a:pathLst>
                <a:path w="10939119" h="1076114">
                  <a:moveTo>
                    <a:pt x="0" y="0"/>
                  </a:moveTo>
                  <a:lnTo>
                    <a:pt x="10939119" y="0"/>
                  </a:lnTo>
                  <a:lnTo>
                    <a:pt x="10939119" y="1076114"/>
                  </a:lnTo>
                  <a:lnTo>
                    <a:pt x="0" y="1076114"/>
                  </a:lnTo>
                  <a:close/>
                </a:path>
              </a:pathLst>
            </a:custGeom>
            <a:blipFill>
              <a:blip r:embed="rId3">
                <a:alphaModFix amt="0"/>
              </a:blip>
              <a:stretch>
                <a:fillRect t="-158721" r="5427" b="-115923"/>
              </a:stretch>
            </a:blipFill>
            <a:ln cap="sq">
              <a:noFill/>
              <a:prstDash val="solid"/>
              <a:miter/>
            </a:ln>
          </p:spPr>
        </p:sp>
        <p:sp>
          <p:nvSpPr>
            <p:cNvPr id="34" name="TextBox 34"/>
            <p:cNvSpPr txBox="1"/>
            <p:nvPr/>
          </p:nvSpPr>
          <p:spPr>
            <a:xfrm>
              <a:off x="0" y="-19050"/>
              <a:ext cx="10939081" cy="1095152"/>
            </a:xfrm>
            <a:prstGeom prst="rect">
              <a:avLst/>
            </a:prstGeom>
          </p:spPr>
          <p:txBody>
            <a:bodyPr lIns="50800" tIns="50800" rIns="50800" bIns="50800" rtlCol="0" anchor="t"/>
            <a:lstStyle/>
            <a:p>
              <a:pPr algn="l">
                <a:lnSpc>
                  <a:spcPts val="2520"/>
                </a:lnSpc>
              </a:pPr>
              <a:r>
                <a:rPr lang="en-US" sz="2100" dirty="0">
                  <a:solidFill>
                    <a:srgbClr val="000000"/>
                  </a:solidFill>
                  <a:latin typeface="Times New Roman"/>
                  <a:ea typeface="Times New Roman"/>
                  <a:cs typeface="Times New Roman"/>
                  <a:sym typeface="Times New Roman"/>
                </a:rPr>
                <a:t>24 July (Friday) 13:30 ~ 17:00 (local time)</a:t>
              </a:r>
            </a:p>
            <a:p>
              <a:pPr>
                <a:lnSpc>
                  <a:spcPts val="2520"/>
                </a:lnSpc>
              </a:pPr>
              <a:r>
                <a:rPr lang="en-US" sz="2100" dirty="0">
                  <a:solidFill>
                    <a:srgbClr val="000000"/>
                  </a:solidFill>
                  <a:latin typeface="Times New Roman"/>
                  <a:ea typeface="Times New Roman"/>
                  <a:cs typeface="Times New Roman"/>
                  <a:sym typeface="Times New Roman"/>
                </a:rPr>
                <a:t>InterContinental Hanoi Landmark 72 | 5F Ballroom 1 | </a:t>
              </a:r>
              <a:r>
                <a:rPr lang="en-US" sz="2100" dirty="0" err="1" smtClean="0">
                  <a:solidFill>
                    <a:srgbClr val="000000"/>
                  </a:solidFill>
                  <a:latin typeface="Times New Roman"/>
                  <a:ea typeface="Times New Roman"/>
                  <a:cs typeface="Times New Roman"/>
                  <a:sym typeface="Times New Roman"/>
                </a:rPr>
                <a:t>Hà</a:t>
              </a:r>
              <a:r>
                <a:rPr lang="en-US" sz="2100" dirty="0" smtClean="0">
                  <a:solidFill>
                    <a:srgbClr val="000000"/>
                  </a:solidFill>
                  <a:latin typeface="Times New Roman"/>
                  <a:ea typeface="Times New Roman"/>
                  <a:cs typeface="Times New Roman"/>
                  <a:sym typeface="Times New Roman"/>
                </a:rPr>
                <a:t> </a:t>
              </a:r>
              <a:r>
                <a:rPr lang="en-US" sz="2100" dirty="0" err="1" smtClean="0">
                  <a:solidFill>
                    <a:srgbClr val="000000"/>
                  </a:solidFill>
                  <a:latin typeface="Times New Roman"/>
                  <a:ea typeface="Times New Roman"/>
                  <a:cs typeface="Times New Roman"/>
                  <a:sym typeface="Times New Roman"/>
                </a:rPr>
                <a:t>Nội</a:t>
              </a:r>
              <a:r>
                <a:rPr lang="en-US" sz="2100" dirty="0" smtClean="0">
                  <a:solidFill>
                    <a:srgbClr val="000000"/>
                  </a:solidFill>
                  <a:latin typeface="Times New Roman"/>
                  <a:ea typeface="Times New Roman"/>
                  <a:cs typeface="Times New Roman"/>
                  <a:sym typeface="Times New Roman"/>
                </a:rPr>
                <a:t>, </a:t>
              </a:r>
              <a:r>
                <a:rPr lang="en-US" sz="2100" dirty="0" err="1" smtClean="0">
                  <a:solidFill>
                    <a:srgbClr val="000000"/>
                  </a:solidFill>
                  <a:latin typeface="Times New Roman"/>
                  <a:ea typeface="Times New Roman"/>
                  <a:cs typeface="Times New Roman"/>
                  <a:sym typeface="Times New Roman"/>
                </a:rPr>
                <a:t>Việt</a:t>
              </a:r>
              <a:r>
                <a:rPr lang="en-US" sz="2100" dirty="0" smtClean="0">
                  <a:solidFill>
                    <a:srgbClr val="000000"/>
                  </a:solidFill>
                  <a:latin typeface="Times New Roman"/>
                  <a:ea typeface="Times New Roman"/>
                  <a:cs typeface="Times New Roman"/>
                  <a:sym typeface="Times New Roman"/>
                </a:rPr>
                <a:t> Nam</a:t>
              </a:r>
              <a:endParaRPr lang="en-US" sz="2100" dirty="0">
                <a:solidFill>
                  <a:srgbClr val="000000"/>
                </a:solidFill>
                <a:latin typeface="Times New Roman"/>
                <a:ea typeface="Times New Roman"/>
                <a:cs typeface="Times New Roman"/>
                <a:sym typeface="Times New Roman"/>
              </a:endParaRPr>
            </a:p>
          </p:txBody>
        </p:sp>
      </p:grpSp>
      <p:sp>
        <p:nvSpPr>
          <p:cNvPr id="35" name="AutoShape 35"/>
          <p:cNvSpPr/>
          <p:nvPr/>
        </p:nvSpPr>
        <p:spPr>
          <a:xfrm>
            <a:off x="8407175" y="4276192"/>
            <a:ext cx="1676514" cy="0"/>
          </a:xfrm>
          <a:prstGeom prst="line">
            <a:avLst/>
          </a:prstGeom>
          <a:ln w="19050" cap="rnd">
            <a:solidFill>
              <a:srgbClr val="FF0000"/>
            </a:solidFill>
            <a:prstDash val="solid"/>
            <a:headEnd type="none" w="sm" len="sm"/>
            <a:tailEnd type="none" w="sm" len="sm"/>
          </a:ln>
        </p:spPr>
      </p:sp>
      <p:grpSp>
        <p:nvGrpSpPr>
          <p:cNvPr id="36" name="Group 36"/>
          <p:cNvGrpSpPr/>
          <p:nvPr/>
        </p:nvGrpSpPr>
        <p:grpSpPr>
          <a:xfrm>
            <a:off x="1087888" y="5762244"/>
            <a:ext cx="8233686" cy="3975706"/>
            <a:chOff x="0" y="0"/>
            <a:chExt cx="10978248" cy="5300942"/>
          </a:xfrm>
        </p:grpSpPr>
        <p:sp>
          <p:nvSpPr>
            <p:cNvPr id="37" name="Freeform 37"/>
            <p:cNvSpPr/>
            <p:nvPr/>
          </p:nvSpPr>
          <p:spPr>
            <a:xfrm>
              <a:off x="0" y="0"/>
              <a:ext cx="10978261" cy="5300980"/>
            </a:xfrm>
            <a:custGeom>
              <a:avLst/>
              <a:gdLst/>
              <a:ahLst/>
              <a:cxnLst/>
              <a:rect l="l" t="t" r="r" b="b"/>
              <a:pathLst>
                <a:path w="10978261" h="5300980">
                  <a:moveTo>
                    <a:pt x="0" y="0"/>
                  </a:moveTo>
                  <a:lnTo>
                    <a:pt x="10978261" y="0"/>
                  </a:lnTo>
                  <a:lnTo>
                    <a:pt x="10978261" y="5300980"/>
                  </a:lnTo>
                  <a:lnTo>
                    <a:pt x="0" y="5300980"/>
                  </a:lnTo>
                  <a:close/>
                </a:path>
              </a:pathLst>
            </a:custGeom>
            <a:blipFill>
              <a:blip r:embed="rId3">
                <a:alphaModFix amt="0"/>
              </a:blip>
              <a:stretch>
                <a:fillRect l="-11952" r="-11952"/>
              </a:stretch>
            </a:blipFill>
            <a:ln w="28575" cap="sq">
              <a:solidFill>
                <a:srgbClr val="FF0000"/>
              </a:solidFill>
              <a:prstDash val="solid"/>
              <a:miter/>
            </a:ln>
          </p:spPr>
        </p:sp>
      </p:grpSp>
      <p:sp>
        <p:nvSpPr>
          <p:cNvPr id="38" name="AutoShape 38"/>
          <p:cNvSpPr/>
          <p:nvPr/>
        </p:nvSpPr>
        <p:spPr>
          <a:xfrm rot="2700000">
            <a:off x="4306862" y="7256726"/>
            <a:ext cx="40415" cy="0"/>
          </a:xfrm>
          <a:prstGeom prst="line">
            <a:avLst/>
          </a:prstGeom>
          <a:ln w="19050" cap="rnd">
            <a:solidFill>
              <a:srgbClr val="156082"/>
            </a:solidFill>
            <a:prstDash val="solid"/>
            <a:headEnd type="none" w="sm" len="sm"/>
            <a:tailEnd type="none" w="sm" len="sm"/>
          </a:ln>
        </p:spPr>
      </p:sp>
      <p:grpSp>
        <p:nvGrpSpPr>
          <p:cNvPr id="39" name="Group 39"/>
          <p:cNvGrpSpPr/>
          <p:nvPr/>
        </p:nvGrpSpPr>
        <p:grpSpPr>
          <a:xfrm>
            <a:off x="5257800" y="4152900"/>
            <a:ext cx="12771838" cy="5410200"/>
            <a:chOff x="-6434519" y="-875396"/>
            <a:chExt cx="17029118" cy="5838201"/>
          </a:xfrm>
        </p:grpSpPr>
        <p:sp>
          <p:nvSpPr>
            <p:cNvPr id="40" name="Freeform 40"/>
            <p:cNvSpPr/>
            <p:nvPr/>
          </p:nvSpPr>
          <p:spPr>
            <a:xfrm>
              <a:off x="-6434519" y="-875396"/>
              <a:ext cx="10594542" cy="4962765"/>
            </a:xfrm>
            <a:custGeom>
              <a:avLst/>
              <a:gdLst/>
              <a:ahLst/>
              <a:cxnLst/>
              <a:rect l="l" t="t" r="r" b="b"/>
              <a:pathLst>
                <a:path w="10594542" h="4962765">
                  <a:moveTo>
                    <a:pt x="0" y="0"/>
                  </a:moveTo>
                  <a:lnTo>
                    <a:pt x="10594542" y="0"/>
                  </a:lnTo>
                  <a:lnTo>
                    <a:pt x="10594542" y="4962765"/>
                  </a:lnTo>
                  <a:lnTo>
                    <a:pt x="0" y="4962765"/>
                  </a:lnTo>
                  <a:close/>
                </a:path>
              </a:pathLst>
            </a:custGeom>
            <a:blipFill>
              <a:blip r:embed="rId3">
                <a:alphaModFix amt="0"/>
              </a:blip>
              <a:stretch>
                <a:fillRect l="-30651" r="-19930" b="-25274"/>
              </a:stretch>
            </a:blipFill>
            <a:ln cap="sq">
              <a:noFill/>
              <a:prstDash val="solid"/>
              <a:miter/>
            </a:ln>
          </p:spPr>
        </p:sp>
        <p:sp>
          <p:nvSpPr>
            <p:cNvPr id="41" name="TextBox 41"/>
            <p:cNvSpPr txBox="1"/>
            <p:nvPr/>
          </p:nvSpPr>
          <p:spPr>
            <a:xfrm>
              <a:off x="0" y="-19050"/>
              <a:ext cx="10594599" cy="4981855"/>
            </a:xfrm>
            <a:prstGeom prst="rect">
              <a:avLst/>
            </a:prstGeom>
          </p:spPr>
          <p:txBody>
            <a:bodyPr lIns="50800" tIns="50800" rIns="50800" bIns="50800" rtlCol="0" anchor="t"/>
            <a:lstStyle/>
            <a:p>
              <a:pPr>
                <a:lnSpc>
                  <a:spcPts val="2520"/>
                </a:lnSpc>
              </a:pPr>
              <a:r>
                <a:rPr lang="vi-VN" sz="2100" dirty="0">
                  <a:solidFill>
                    <a:srgbClr val="000000"/>
                  </a:solidFill>
                  <a:latin typeface="Times New Roman"/>
                  <a:ea typeface="Times New Roman"/>
                  <a:cs typeface="Times New Roman"/>
                  <a:sym typeface="Times New Roman"/>
                </a:rPr>
                <a:t>Chuỗi cung ứng toàn cầu đang thay đổi nhanh chóng. Để duy trì lợi thế cạnh tranh, doanh nghiệp cần vượt ra khỏi khả năng nắm bắt thông tin ở mức cơ bản, hướng tới năng lực ra quyết định linh hoạt, </a:t>
              </a:r>
              <a:r>
                <a:rPr lang="vi-VN" sz="2100" dirty="0" smtClean="0">
                  <a:solidFill>
                    <a:srgbClr val="000000"/>
                  </a:solidFill>
                  <a:latin typeface="Times New Roman"/>
                  <a:ea typeface="Times New Roman"/>
                  <a:cs typeface="Times New Roman"/>
                  <a:sym typeface="Times New Roman"/>
                </a:rPr>
                <a:t>ứng </a:t>
              </a:r>
              <a:r>
                <a:rPr lang="vi-VN" sz="2100" dirty="0">
                  <a:solidFill>
                    <a:srgbClr val="000000"/>
                  </a:solidFill>
                  <a:latin typeface="Times New Roman"/>
                  <a:ea typeface="Times New Roman"/>
                  <a:cs typeface="Times New Roman"/>
                  <a:sym typeface="Times New Roman"/>
                </a:rPr>
                <a:t>dụng AI và </a:t>
              </a:r>
              <a:r>
                <a:rPr lang="en-US" sz="2100" dirty="0" err="1" smtClean="0">
                  <a:solidFill>
                    <a:srgbClr val="000000"/>
                  </a:solidFill>
                  <a:latin typeface="Times New Roman"/>
                  <a:ea typeface="Times New Roman"/>
                  <a:cs typeface="Times New Roman"/>
                  <a:sym typeface="Times New Roman"/>
                </a:rPr>
                <a:t>tự</a:t>
              </a:r>
              <a:r>
                <a:rPr lang="en-US" sz="2100" dirty="0" smtClean="0">
                  <a:solidFill>
                    <a:srgbClr val="000000"/>
                  </a:solidFill>
                  <a:latin typeface="Times New Roman"/>
                  <a:ea typeface="Times New Roman"/>
                  <a:cs typeface="Times New Roman"/>
                  <a:sym typeface="Times New Roman"/>
                </a:rPr>
                <a:t> </a:t>
              </a:r>
              <a:r>
                <a:rPr lang="en-US" sz="2100" dirty="0" err="1" smtClean="0">
                  <a:solidFill>
                    <a:srgbClr val="000000"/>
                  </a:solidFill>
                  <a:latin typeface="Times New Roman"/>
                  <a:ea typeface="Times New Roman"/>
                  <a:cs typeface="Times New Roman"/>
                  <a:sym typeface="Times New Roman"/>
                </a:rPr>
                <a:t>động</a:t>
              </a:r>
              <a:r>
                <a:rPr lang="en-US" sz="2100" dirty="0" smtClean="0">
                  <a:solidFill>
                    <a:srgbClr val="000000"/>
                  </a:solidFill>
                  <a:latin typeface="Times New Roman"/>
                  <a:ea typeface="Times New Roman"/>
                  <a:cs typeface="Times New Roman"/>
                  <a:sym typeface="Times New Roman"/>
                </a:rPr>
                <a:t> </a:t>
              </a:r>
              <a:r>
                <a:rPr lang="en-US" sz="2100" dirty="0" err="1" smtClean="0">
                  <a:solidFill>
                    <a:srgbClr val="000000"/>
                  </a:solidFill>
                  <a:latin typeface="Times New Roman"/>
                  <a:ea typeface="Times New Roman"/>
                  <a:cs typeface="Times New Roman"/>
                  <a:sym typeface="Times New Roman"/>
                </a:rPr>
                <a:t>hóa</a:t>
              </a:r>
              <a:r>
                <a:rPr lang="vi-VN" sz="2100" dirty="0" smtClean="0">
                  <a:solidFill>
                    <a:srgbClr val="000000"/>
                  </a:solidFill>
                  <a:latin typeface="Times New Roman"/>
                  <a:ea typeface="Times New Roman"/>
                  <a:cs typeface="Times New Roman"/>
                  <a:sym typeface="Times New Roman"/>
                </a:rPr>
                <a:t>.</a:t>
              </a:r>
              <a:endParaRPr lang="en-US" sz="2100" dirty="0" smtClean="0">
                <a:solidFill>
                  <a:srgbClr val="000000"/>
                </a:solidFill>
                <a:latin typeface="Times New Roman"/>
                <a:ea typeface="Times New Roman"/>
                <a:cs typeface="Times New Roman"/>
                <a:sym typeface="Times New Roman"/>
              </a:endParaRPr>
            </a:p>
            <a:p>
              <a:pPr>
                <a:lnSpc>
                  <a:spcPts val="2520"/>
                </a:lnSpc>
              </a:pPr>
              <a:endParaRPr lang="en-US" sz="2100" dirty="0" smtClean="0">
                <a:solidFill>
                  <a:srgbClr val="000000"/>
                </a:solidFill>
                <a:latin typeface="Times New Roman"/>
                <a:ea typeface="Times New Roman"/>
                <a:cs typeface="Times New Roman"/>
                <a:sym typeface="Times New Roman"/>
              </a:endParaRPr>
            </a:p>
            <a:p>
              <a:pPr>
                <a:lnSpc>
                  <a:spcPts val="2520"/>
                </a:lnSpc>
              </a:pPr>
              <a:r>
                <a:rPr lang="vi-VN" sz="2100" dirty="0">
                  <a:solidFill>
                    <a:srgbClr val="000000"/>
                  </a:solidFill>
                  <a:latin typeface="Times New Roman"/>
                  <a:ea typeface="Times New Roman"/>
                  <a:cs typeface="Times New Roman"/>
                  <a:sym typeface="Times New Roman"/>
                </a:rPr>
                <a:t>Trở lại Hà Nội lần thứ tư, Cello Square Conference 2026 quy tụ các lãnh đạo </a:t>
              </a:r>
              <a:r>
                <a:rPr lang="vi-VN" sz="2100" dirty="0" smtClean="0">
                  <a:solidFill>
                    <a:srgbClr val="000000"/>
                  </a:solidFill>
                  <a:latin typeface="Times New Roman"/>
                  <a:ea typeface="Times New Roman"/>
                  <a:cs typeface="Times New Roman"/>
                  <a:sym typeface="Times New Roman"/>
                </a:rPr>
                <a:t>và </a:t>
              </a:r>
              <a:r>
                <a:rPr lang="vi-VN" sz="2100" dirty="0">
                  <a:solidFill>
                    <a:srgbClr val="000000"/>
                  </a:solidFill>
                  <a:latin typeface="Times New Roman"/>
                  <a:ea typeface="Times New Roman"/>
                  <a:cs typeface="Times New Roman"/>
                  <a:sym typeface="Times New Roman"/>
                </a:rPr>
                <a:t>chuyên gia đầu ngành nhằm cùng thảo luận về các xu hướng thị trường mới nhất, </a:t>
              </a:r>
              <a:r>
                <a:rPr lang="en-US" sz="2100" dirty="0" err="1" smtClean="0">
                  <a:solidFill>
                    <a:srgbClr val="000000"/>
                  </a:solidFill>
                  <a:latin typeface="Times New Roman"/>
                  <a:ea typeface="Times New Roman"/>
                  <a:cs typeface="Times New Roman"/>
                  <a:sym typeface="Times New Roman"/>
                </a:rPr>
                <a:t>ứng</a:t>
              </a:r>
              <a:r>
                <a:rPr lang="en-US" sz="2100" dirty="0" smtClean="0">
                  <a:solidFill>
                    <a:srgbClr val="000000"/>
                  </a:solidFill>
                  <a:latin typeface="Times New Roman"/>
                  <a:ea typeface="Times New Roman"/>
                  <a:cs typeface="Times New Roman"/>
                  <a:sym typeface="Times New Roman"/>
                </a:rPr>
                <a:t> </a:t>
              </a:r>
              <a:r>
                <a:rPr lang="en-US" sz="2100" dirty="0" err="1" smtClean="0">
                  <a:solidFill>
                    <a:srgbClr val="000000"/>
                  </a:solidFill>
                  <a:latin typeface="Times New Roman"/>
                  <a:ea typeface="Times New Roman"/>
                  <a:cs typeface="Times New Roman"/>
                  <a:sym typeface="Times New Roman"/>
                </a:rPr>
                <a:t>dụng</a:t>
              </a:r>
              <a:r>
                <a:rPr lang="en-US" sz="2100" dirty="0" smtClean="0">
                  <a:solidFill>
                    <a:srgbClr val="000000"/>
                  </a:solidFill>
                  <a:latin typeface="Times New Roman"/>
                  <a:ea typeface="Times New Roman"/>
                  <a:cs typeface="Times New Roman"/>
                  <a:sym typeface="Times New Roman"/>
                </a:rPr>
                <a:t> </a:t>
              </a:r>
              <a:r>
                <a:rPr lang="en-US" sz="2100" dirty="0" err="1" smtClean="0">
                  <a:solidFill>
                    <a:srgbClr val="000000"/>
                  </a:solidFill>
                  <a:latin typeface="Times New Roman"/>
                  <a:ea typeface="Times New Roman"/>
                  <a:cs typeface="Times New Roman"/>
                  <a:sym typeface="Times New Roman"/>
                </a:rPr>
                <a:t>tự</a:t>
              </a:r>
              <a:r>
                <a:rPr lang="en-US" sz="2100" dirty="0" smtClean="0">
                  <a:solidFill>
                    <a:srgbClr val="000000"/>
                  </a:solidFill>
                  <a:latin typeface="Times New Roman"/>
                  <a:ea typeface="Times New Roman"/>
                  <a:cs typeface="Times New Roman"/>
                  <a:sym typeface="Times New Roman"/>
                </a:rPr>
                <a:t> </a:t>
              </a:r>
              <a:r>
                <a:rPr lang="en-US" sz="2100" dirty="0" err="1" smtClean="0">
                  <a:solidFill>
                    <a:srgbClr val="000000"/>
                  </a:solidFill>
                  <a:latin typeface="Times New Roman"/>
                  <a:ea typeface="Times New Roman"/>
                  <a:cs typeface="Times New Roman"/>
                  <a:sym typeface="Times New Roman"/>
                </a:rPr>
                <a:t>động</a:t>
              </a:r>
              <a:r>
                <a:rPr lang="en-US" sz="2100" dirty="0" smtClean="0">
                  <a:solidFill>
                    <a:srgbClr val="000000"/>
                  </a:solidFill>
                  <a:latin typeface="Times New Roman"/>
                  <a:ea typeface="Times New Roman"/>
                  <a:cs typeface="Times New Roman"/>
                  <a:sym typeface="Times New Roman"/>
                </a:rPr>
                <a:t> </a:t>
              </a:r>
              <a:r>
                <a:rPr lang="en-US" sz="2100" dirty="0" err="1" smtClean="0">
                  <a:solidFill>
                    <a:srgbClr val="000000"/>
                  </a:solidFill>
                  <a:latin typeface="Times New Roman"/>
                  <a:ea typeface="Times New Roman"/>
                  <a:cs typeface="Times New Roman"/>
                  <a:sym typeface="Times New Roman"/>
                </a:rPr>
                <a:t>hóa</a:t>
              </a:r>
              <a:r>
                <a:rPr lang="en-US" sz="2100" dirty="0" smtClean="0">
                  <a:solidFill>
                    <a:srgbClr val="000000"/>
                  </a:solidFill>
                  <a:latin typeface="Times New Roman"/>
                  <a:ea typeface="Times New Roman"/>
                  <a:cs typeface="Times New Roman"/>
                  <a:sym typeface="Times New Roman"/>
                </a:rPr>
                <a:t> </a:t>
              </a:r>
              <a:r>
                <a:rPr lang="en-US" sz="2100" dirty="0" err="1" smtClean="0">
                  <a:solidFill>
                    <a:srgbClr val="000000"/>
                  </a:solidFill>
                  <a:latin typeface="Times New Roman"/>
                  <a:ea typeface="Times New Roman"/>
                  <a:cs typeface="Times New Roman"/>
                  <a:sym typeface="Times New Roman"/>
                </a:rPr>
                <a:t>trong</a:t>
              </a:r>
              <a:r>
                <a:rPr lang="en-US" sz="2100" dirty="0" smtClean="0">
                  <a:solidFill>
                    <a:srgbClr val="000000"/>
                  </a:solidFill>
                  <a:latin typeface="Times New Roman"/>
                  <a:ea typeface="Times New Roman"/>
                  <a:cs typeface="Times New Roman"/>
                  <a:sym typeface="Times New Roman"/>
                </a:rPr>
                <a:t> </a:t>
              </a:r>
              <a:r>
                <a:rPr lang="en-US" sz="2100" dirty="0" err="1" smtClean="0">
                  <a:solidFill>
                    <a:srgbClr val="000000"/>
                  </a:solidFill>
                  <a:latin typeface="Times New Roman"/>
                  <a:ea typeface="Times New Roman"/>
                  <a:cs typeface="Times New Roman"/>
                  <a:sym typeface="Times New Roman"/>
                </a:rPr>
                <a:t>vận</a:t>
              </a:r>
              <a:r>
                <a:rPr lang="en-US" sz="2100" dirty="0" smtClean="0">
                  <a:solidFill>
                    <a:srgbClr val="000000"/>
                  </a:solidFill>
                  <a:latin typeface="Times New Roman"/>
                  <a:ea typeface="Times New Roman"/>
                  <a:cs typeface="Times New Roman"/>
                  <a:sym typeface="Times New Roman"/>
                </a:rPr>
                <a:t> </a:t>
              </a:r>
              <a:r>
                <a:rPr lang="en-US" sz="2100" dirty="0" err="1" smtClean="0">
                  <a:solidFill>
                    <a:srgbClr val="000000"/>
                  </a:solidFill>
                  <a:latin typeface="Times New Roman"/>
                  <a:ea typeface="Times New Roman"/>
                  <a:cs typeface="Times New Roman"/>
                  <a:sym typeface="Times New Roman"/>
                </a:rPr>
                <a:t>hành</a:t>
              </a:r>
              <a:r>
                <a:rPr lang="vi-VN" sz="2100" dirty="0" smtClean="0">
                  <a:solidFill>
                    <a:srgbClr val="000000"/>
                  </a:solidFill>
                  <a:latin typeface="Times New Roman"/>
                  <a:ea typeface="Times New Roman"/>
                  <a:cs typeface="Times New Roman"/>
                  <a:sym typeface="Times New Roman"/>
                </a:rPr>
                <a:t> </a:t>
              </a:r>
              <a:r>
                <a:rPr lang="vi-VN" sz="2100" dirty="0">
                  <a:solidFill>
                    <a:srgbClr val="000000"/>
                  </a:solidFill>
                  <a:latin typeface="Times New Roman"/>
                  <a:ea typeface="Times New Roman"/>
                  <a:cs typeface="Times New Roman"/>
                  <a:sym typeface="Times New Roman"/>
                </a:rPr>
                <a:t>và các đổi mới trong lĩnh vực logistics số</a:t>
              </a:r>
              <a:r>
                <a:rPr lang="vi-VN" sz="2100" dirty="0" smtClean="0">
                  <a:solidFill>
                    <a:srgbClr val="000000"/>
                  </a:solidFill>
                  <a:latin typeface="Times New Roman"/>
                  <a:ea typeface="Times New Roman"/>
                  <a:cs typeface="Times New Roman"/>
                  <a:sym typeface="Times New Roman"/>
                </a:rPr>
                <a:t>.</a:t>
              </a:r>
              <a:endParaRPr lang="en-US" sz="2100" dirty="0" smtClean="0">
                <a:solidFill>
                  <a:srgbClr val="000000"/>
                </a:solidFill>
                <a:latin typeface="Times New Roman"/>
                <a:ea typeface="Times New Roman"/>
                <a:cs typeface="Times New Roman"/>
                <a:sym typeface="Times New Roman"/>
              </a:endParaRPr>
            </a:p>
            <a:p>
              <a:pPr>
                <a:lnSpc>
                  <a:spcPts val="2520"/>
                </a:lnSpc>
              </a:pPr>
              <a:endParaRPr lang="en-US" sz="2100" dirty="0" smtClean="0">
                <a:solidFill>
                  <a:srgbClr val="000000"/>
                </a:solidFill>
                <a:latin typeface="Times New Roman"/>
                <a:ea typeface="Times New Roman"/>
                <a:cs typeface="Times New Roman"/>
                <a:sym typeface="Times New Roman"/>
              </a:endParaRPr>
            </a:p>
            <a:p>
              <a:pPr>
                <a:lnSpc>
                  <a:spcPts val="2520"/>
                </a:lnSpc>
              </a:pPr>
              <a:r>
                <a:rPr lang="vi-VN" sz="2100" dirty="0">
                  <a:solidFill>
                    <a:srgbClr val="000000"/>
                  </a:solidFill>
                  <a:latin typeface="Times New Roman"/>
                  <a:ea typeface="Times New Roman"/>
                  <a:cs typeface="Times New Roman"/>
                  <a:sym typeface="Times New Roman"/>
                </a:rPr>
                <a:t>Quý vị được chào đón tham dự tại InterContinental Hanoi Landmark 72 để tiếp cận những insight thực tiễn về tương lai của logistics và đổi mới chuỗi cung ứng, đồng thời chuyển hóa các insight này thành những hành động cụ thể, có thể áp dụng ngay vào thực tiễn.</a:t>
              </a:r>
              <a:endParaRPr lang="en-US" sz="2100" dirty="0">
                <a:solidFill>
                  <a:srgbClr val="000000"/>
                </a:solidFill>
                <a:latin typeface="Times New Roman"/>
                <a:ea typeface="Times New Roman"/>
                <a:cs typeface="Times New Roman"/>
                <a:sym typeface="Times New Roman"/>
              </a:endParaRPr>
            </a:p>
          </p:txBody>
        </p:sp>
      </p:grpSp>
      <p:sp>
        <p:nvSpPr>
          <p:cNvPr id="42" name="AutoShape 42"/>
          <p:cNvSpPr/>
          <p:nvPr/>
        </p:nvSpPr>
        <p:spPr>
          <a:xfrm flipV="1">
            <a:off x="9321575" y="6825172"/>
            <a:ext cx="762114" cy="924926"/>
          </a:xfrm>
          <a:prstGeom prst="line">
            <a:avLst/>
          </a:prstGeom>
          <a:ln w="19050" cap="rnd">
            <a:solidFill>
              <a:srgbClr val="FF0000"/>
            </a:solidFill>
            <a:prstDash val="solid"/>
            <a:headEnd type="none" w="sm" len="sm"/>
            <a:tailEnd type="none" w="sm" len="sm"/>
          </a:ln>
        </p:spPr>
      </p:sp>
      <p:sp>
        <p:nvSpPr>
          <p:cNvPr id="43" name="TextBox 43"/>
          <p:cNvSpPr txBox="1"/>
          <p:nvPr/>
        </p:nvSpPr>
        <p:spPr>
          <a:xfrm>
            <a:off x="15987393" y="368276"/>
            <a:ext cx="2300607" cy="409575"/>
          </a:xfrm>
          <a:prstGeom prst="rect">
            <a:avLst/>
          </a:prstGeom>
        </p:spPr>
        <p:txBody>
          <a:bodyPr lIns="0" tIns="0" rIns="0" bIns="0" rtlCol="0" anchor="t">
            <a:spAutoFit/>
          </a:bodyPr>
          <a:lstStyle/>
          <a:p>
            <a:pPr algn="l">
              <a:lnSpc>
                <a:spcPts val="3240"/>
              </a:lnSpc>
            </a:pPr>
            <a:r>
              <a:rPr lang="en-US" sz="2700" b="1">
                <a:solidFill>
                  <a:srgbClr val="000000"/>
                </a:solidFill>
                <a:latin typeface="Aptos Bold"/>
                <a:ea typeface="Aptos Bold"/>
                <a:cs typeface="Aptos Bold"/>
                <a:sym typeface="Aptos Bold"/>
              </a:rPr>
              <a:t>Vietnamese</a:t>
            </a:r>
          </a:p>
        </p:txBody>
      </p:sp>
    </p:spTree>
    <p:extLst>
      <p:ext uri="{BB962C8B-B14F-4D97-AF65-F5344CB8AC3E}">
        <p14:creationId xmlns:p14="http://schemas.microsoft.com/office/powerpoint/2010/main" val="998794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4774" y="559670"/>
            <a:ext cx="8607533" cy="9167651"/>
            <a:chOff x="0" y="0"/>
            <a:chExt cx="11476711" cy="12223534"/>
          </a:xfrm>
        </p:grpSpPr>
        <p:sp>
          <p:nvSpPr>
            <p:cNvPr id="3" name="Freeform 3"/>
            <p:cNvSpPr/>
            <p:nvPr/>
          </p:nvSpPr>
          <p:spPr>
            <a:xfrm>
              <a:off x="0" y="0"/>
              <a:ext cx="11476736" cy="12223496"/>
            </a:xfrm>
            <a:custGeom>
              <a:avLst/>
              <a:gdLst/>
              <a:ahLst/>
              <a:cxnLst/>
              <a:rect l="l" t="t" r="r" b="b"/>
              <a:pathLst>
                <a:path w="11476736" h="12223496">
                  <a:moveTo>
                    <a:pt x="0" y="0"/>
                  </a:moveTo>
                  <a:lnTo>
                    <a:pt x="11476736" y="0"/>
                  </a:lnTo>
                  <a:lnTo>
                    <a:pt x="11476736" y="12223496"/>
                  </a:lnTo>
                  <a:lnTo>
                    <a:pt x="0" y="12223496"/>
                  </a:lnTo>
                  <a:lnTo>
                    <a:pt x="0" y="0"/>
                  </a:lnTo>
                  <a:close/>
                </a:path>
              </a:pathLst>
            </a:custGeom>
            <a:blipFill>
              <a:blip r:embed="rId3"/>
              <a:stretch>
                <a:fillRect/>
              </a:stretch>
            </a:blipFill>
          </p:spPr>
        </p:sp>
      </p:grpSp>
      <p:graphicFrame>
        <p:nvGraphicFramePr>
          <p:cNvPr id="4" name="Table 4"/>
          <p:cNvGraphicFramePr>
            <a:graphicFrameLocks noGrp="1"/>
          </p:cNvGraphicFramePr>
          <p:nvPr>
            <p:extLst>
              <p:ext uri="{D42A27DB-BD31-4B8C-83A1-F6EECF244321}">
                <p14:modId xmlns:p14="http://schemas.microsoft.com/office/powerpoint/2010/main" val="2847065940"/>
              </p:ext>
            </p:extLst>
          </p:nvPr>
        </p:nvGraphicFramePr>
        <p:xfrm>
          <a:off x="9413405" y="1618567"/>
          <a:ext cx="8270719" cy="7493715"/>
        </p:xfrm>
        <a:graphic>
          <a:graphicData uri="http://schemas.openxmlformats.org/drawingml/2006/table">
            <a:tbl>
              <a:tblPr/>
              <a:tblGrid>
                <a:gridCol w="1699696">
                  <a:extLst>
                    <a:ext uri="{9D8B030D-6E8A-4147-A177-3AD203B41FA5}">
                      <a16:colId xmlns:a16="http://schemas.microsoft.com/office/drawing/2014/main" val="20000"/>
                    </a:ext>
                  </a:extLst>
                </a:gridCol>
                <a:gridCol w="6571023">
                  <a:extLst>
                    <a:ext uri="{9D8B030D-6E8A-4147-A177-3AD203B41FA5}">
                      <a16:colId xmlns:a16="http://schemas.microsoft.com/office/drawing/2014/main" val="20001"/>
                    </a:ext>
                  </a:extLst>
                </a:gridCol>
              </a:tblGrid>
              <a:tr h="523855">
                <a:tc>
                  <a:txBody>
                    <a:bodyPr/>
                    <a:lstStyle/>
                    <a:p>
                      <a:pPr algn="ctr">
                        <a:lnSpc>
                          <a:spcPts val="2160"/>
                        </a:lnSpc>
                        <a:defRPr/>
                      </a:pPr>
                      <a:r>
                        <a:rPr lang="en-US" sz="1800" dirty="0" err="1" smtClean="0">
                          <a:solidFill>
                            <a:srgbClr val="000000"/>
                          </a:solidFill>
                          <a:latin typeface="Times New Roman"/>
                          <a:cs typeface="Times New Roman"/>
                          <a:sym typeface="Times New Roman"/>
                        </a:rPr>
                        <a:t>Thời</a:t>
                      </a:r>
                      <a:r>
                        <a:rPr lang="en-US" sz="1800" baseline="0" dirty="0" smtClean="0">
                          <a:solidFill>
                            <a:srgbClr val="000000"/>
                          </a:solidFill>
                          <a:latin typeface="Times New Roman"/>
                          <a:cs typeface="Times New Roman"/>
                          <a:sym typeface="Times New Roman"/>
                        </a:rPr>
                        <a:t> </a:t>
                      </a:r>
                      <a:r>
                        <a:rPr lang="en-US" sz="1800" baseline="0" dirty="0" err="1" smtClean="0">
                          <a:solidFill>
                            <a:srgbClr val="000000"/>
                          </a:solidFill>
                          <a:latin typeface="Times New Roman"/>
                          <a:cs typeface="Times New Roman"/>
                          <a:sym typeface="Times New Roman"/>
                        </a:rPr>
                        <a:t>gian</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err="1" smtClean="0">
                          <a:solidFill>
                            <a:srgbClr val="000000"/>
                          </a:solidFill>
                          <a:latin typeface="Times New Roman"/>
                          <a:ea typeface="Times New Roman"/>
                          <a:cs typeface="Times New Roman"/>
                          <a:sym typeface="Times New Roman"/>
                        </a:rPr>
                        <a:t>Nội</a:t>
                      </a:r>
                      <a:r>
                        <a:rPr lang="en-US" sz="1800" baseline="0" dirty="0" smtClean="0">
                          <a:solidFill>
                            <a:srgbClr val="000000"/>
                          </a:solidFill>
                          <a:latin typeface="Times New Roman"/>
                          <a:ea typeface="Times New Roman"/>
                          <a:cs typeface="Times New Roman"/>
                          <a:sym typeface="Times New Roman"/>
                        </a:rPr>
                        <a:t> dung </a:t>
                      </a:r>
                      <a:r>
                        <a:rPr lang="en-US" sz="1800" baseline="0" dirty="0" err="1" smtClean="0">
                          <a:solidFill>
                            <a:srgbClr val="000000"/>
                          </a:solidFill>
                          <a:latin typeface="Times New Roman"/>
                          <a:ea typeface="Times New Roman"/>
                          <a:cs typeface="Times New Roman"/>
                          <a:sym typeface="Times New Roman"/>
                        </a:rPr>
                        <a:t>chương</a:t>
                      </a:r>
                      <a:r>
                        <a:rPr lang="en-US" sz="1800" baseline="0" dirty="0" smtClean="0">
                          <a:solidFill>
                            <a:srgbClr val="000000"/>
                          </a:solidFill>
                          <a:latin typeface="Times New Roman"/>
                          <a:ea typeface="Times New Roman"/>
                          <a:cs typeface="Times New Roman"/>
                          <a:sym typeface="Times New Roman"/>
                        </a:rPr>
                        <a:t> </a:t>
                      </a:r>
                      <a:r>
                        <a:rPr lang="en-US" sz="1800" baseline="0" dirty="0" err="1" smtClean="0">
                          <a:solidFill>
                            <a:srgbClr val="000000"/>
                          </a:solidFill>
                          <a:latin typeface="Times New Roman"/>
                          <a:ea typeface="Times New Roman"/>
                          <a:cs typeface="Times New Roman"/>
                          <a:sym typeface="Times New Roman"/>
                        </a:rPr>
                        <a:t>trình</a:t>
                      </a:r>
                      <a:r>
                        <a:rPr lang="en-US" sz="1800" baseline="0" dirty="0" smtClean="0">
                          <a:solidFill>
                            <a:srgbClr val="000000"/>
                          </a:solidFill>
                          <a:latin typeface="Times New Roman"/>
                          <a:ea typeface="Times New Roman"/>
                          <a:cs typeface="Times New Roman"/>
                          <a:sym typeface="Times New Roman"/>
                        </a:rPr>
                        <a:t>/</a:t>
                      </a:r>
                      <a:r>
                        <a:rPr lang="en-US" sz="1800" baseline="0" dirty="0" err="1" smtClean="0">
                          <a:solidFill>
                            <a:srgbClr val="000000"/>
                          </a:solidFill>
                          <a:latin typeface="Times New Roman"/>
                          <a:ea typeface="Times New Roman"/>
                          <a:cs typeface="Times New Roman"/>
                          <a:sym typeface="Times New Roman"/>
                        </a:rPr>
                        <a:t>Diễn</a:t>
                      </a:r>
                      <a:r>
                        <a:rPr lang="en-US" sz="1800" baseline="0" dirty="0" smtClean="0">
                          <a:solidFill>
                            <a:srgbClr val="000000"/>
                          </a:solidFill>
                          <a:latin typeface="Times New Roman"/>
                          <a:ea typeface="Times New Roman"/>
                          <a:cs typeface="Times New Roman"/>
                          <a:sym typeface="Times New Roman"/>
                        </a:rPr>
                        <a:t> </a:t>
                      </a:r>
                      <a:r>
                        <a:rPr lang="en-US" sz="1800" baseline="0" dirty="0" err="1" smtClean="0">
                          <a:solidFill>
                            <a:srgbClr val="000000"/>
                          </a:solidFill>
                          <a:latin typeface="Times New Roman"/>
                          <a:ea typeface="Times New Roman"/>
                          <a:cs typeface="Times New Roman"/>
                          <a:sym typeface="Times New Roman"/>
                        </a:rPr>
                        <a:t>giả</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43314">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13:30 ~ </a:t>
                      </a:r>
                      <a:r>
                        <a:rPr lang="en-US" sz="1800" dirty="0" smtClean="0">
                          <a:solidFill>
                            <a:srgbClr val="000000"/>
                          </a:solidFill>
                          <a:latin typeface="Times New Roman"/>
                          <a:ea typeface="Times New Roman"/>
                          <a:cs typeface="Times New Roman"/>
                          <a:sym typeface="Times New Roman"/>
                        </a:rPr>
                        <a:t>14:10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err="1" smtClean="0">
                          <a:solidFill>
                            <a:srgbClr val="000000"/>
                          </a:solidFill>
                          <a:latin typeface="Times New Roman"/>
                          <a:cs typeface="Times New Roman"/>
                          <a:sym typeface="Times New Roman"/>
                        </a:rPr>
                        <a:t>Đăng</a:t>
                      </a:r>
                      <a:r>
                        <a:rPr lang="en-US" sz="1800" baseline="0" dirty="0" smtClean="0">
                          <a:solidFill>
                            <a:srgbClr val="000000"/>
                          </a:solidFill>
                          <a:latin typeface="Times New Roman"/>
                          <a:cs typeface="Times New Roman"/>
                          <a:sym typeface="Times New Roman"/>
                        </a:rPr>
                        <a:t> </a:t>
                      </a:r>
                      <a:r>
                        <a:rPr lang="en-US" sz="1800" baseline="0" dirty="0" err="1" smtClean="0">
                          <a:solidFill>
                            <a:srgbClr val="000000"/>
                          </a:solidFill>
                          <a:latin typeface="Times New Roman"/>
                          <a:cs typeface="Times New Roman"/>
                          <a:sym typeface="Times New Roman"/>
                        </a:rPr>
                        <a:t>ký</a:t>
                      </a:r>
                      <a:r>
                        <a:rPr lang="en-US" sz="1800" baseline="0" dirty="0" smtClean="0">
                          <a:solidFill>
                            <a:srgbClr val="000000"/>
                          </a:solidFill>
                          <a:latin typeface="Times New Roman"/>
                          <a:cs typeface="Times New Roman"/>
                          <a:sym typeface="Times New Roman"/>
                        </a:rPr>
                        <a:t> </a:t>
                      </a:r>
                      <a:r>
                        <a:rPr lang="en-US" sz="1800" baseline="0" dirty="0" err="1" smtClean="0">
                          <a:solidFill>
                            <a:srgbClr val="000000"/>
                          </a:solidFill>
                          <a:latin typeface="Times New Roman"/>
                          <a:cs typeface="Times New Roman"/>
                          <a:sym typeface="Times New Roman"/>
                        </a:rPr>
                        <a:t>và</a:t>
                      </a:r>
                      <a:r>
                        <a:rPr lang="en-US" sz="1800" baseline="0" dirty="0" smtClean="0">
                          <a:solidFill>
                            <a:srgbClr val="000000"/>
                          </a:solidFill>
                          <a:latin typeface="Times New Roman"/>
                          <a:cs typeface="Times New Roman"/>
                          <a:sym typeface="Times New Roman"/>
                        </a:rPr>
                        <a:t> </a:t>
                      </a:r>
                      <a:r>
                        <a:rPr lang="en-US" sz="1800" baseline="0" dirty="0" err="1" smtClean="0">
                          <a:solidFill>
                            <a:srgbClr val="000000"/>
                          </a:solidFill>
                          <a:latin typeface="Times New Roman"/>
                          <a:cs typeface="Times New Roman"/>
                          <a:sym typeface="Times New Roman"/>
                        </a:rPr>
                        <a:t>đón</a:t>
                      </a:r>
                      <a:r>
                        <a:rPr lang="en-US" sz="1800" baseline="0" dirty="0" smtClean="0">
                          <a:solidFill>
                            <a:srgbClr val="000000"/>
                          </a:solidFill>
                          <a:latin typeface="Times New Roman"/>
                          <a:cs typeface="Times New Roman"/>
                          <a:sym typeface="Times New Roman"/>
                        </a:rPr>
                        <a:t> </a:t>
                      </a:r>
                      <a:r>
                        <a:rPr lang="en-US" sz="1800" baseline="0" dirty="0" err="1" smtClean="0">
                          <a:solidFill>
                            <a:srgbClr val="000000"/>
                          </a:solidFill>
                          <a:latin typeface="Times New Roman"/>
                          <a:cs typeface="Times New Roman"/>
                          <a:sym typeface="Times New Roman"/>
                        </a:rPr>
                        <a:t>tiếp</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48124">
                <a:tc>
                  <a:txBody>
                    <a:bodyPr/>
                    <a:lstStyle/>
                    <a:p>
                      <a:pPr algn="ctr">
                        <a:lnSpc>
                          <a:spcPts val="2160"/>
                        </a:lnSpc>
                        <a:defRPr/>
                      </a:pPr>
                      <a:r>
                        <a:rPr lang="en-US" sz="1800" dirty="0" smtClean="0">
                          <a:solidFill>
                            <a:srgbClr val="000000"/>
                          </a:solidFill>
                          <a:latin typeface="Times New Roman"/>
                          <a:ea typeface="Times New Roman"/>
                          <a:cs typeface="Times New Roman"/>
                          <a:sym typeface="Times New Roman"/>
                        </a:rPr>
                        <a:t>14:10 </a:t>
                      </a:r>
                      <a:r>
                        <a:rPr lang="en-US" sz="1800" dirty="0">
                          <a:solidFill>
                            <a:srgbClr val="000000"/>
                          </a:solidFill>
                          <a:latin typeface="Times New Roman"/>
                          <a:ea typeface="Times New Roman"/>
                          <a:cs typeface="Times New Roman"/>
                          <a:sym typeface="Times New Roman"/>
                        </a:rPr>
                        <a:t>~ </a:t>
                      </a:r>
                      <a:r>
                        <a:rPr lang="en-US" sz="1800" dirty="0" smtClean="0">
                          <a:solidFill>
                            <a:srgbClr val="000000"/>
                          </a:solidFill>
                          <a:latin typeface="Times New Roman"/>
                          <a:ea typeface="Times New Roman"/>
                          <a:cs typeface="Times New Roman"/>
                          <a:sym typeface="Times New Roman"/>
                        </a:rPr>
                        <a:t>14:20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ts val="2160"/>
                        </a:lnSpc>
                        <a:spcBef>
                          <a:spcPts val="0"/>
                        </a:spcBef>
                        <a:spcAft>
                          <a:spcPts val="0"/>
                        </a:spcAft>
                        <a:buClrTx/>
                        <a:buSzTx/>
                        <a:buFontTx/>
                        <a:buNone/>
                        <a:tabLst/>
                        <a:defRPr/>
                      </a:pPr>
                      <a:r>
                        <a:rPr lang="en-US" sz="1800" dirty="0" err="1" smtClean="0">
                          <a:solidFill>
                            <a:srgbClr val="000000"/>
                          </a:solidFill>
                          <a:latin typeface="Times New Roman"/>
                          <a:ea typeface="Times New Roman"/>
                          <a:cs typeface="Times New Roman"/>
                          <a:sym typeface="Times New Roman"/>
                        </a:rPr>
                        <a:t>Phát</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biểu</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khai</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mạc</a:t>
                      </a:r>
                      <a:endParaRPr lang="en-US" sz="1800" dirty="0" smtClean="0">
                        <a:solidFill>
                          <a:srgbClr val="00B0F0"/>
                        </a:solidFill>
                        <a:latin typeface="Times New Roman"/>
                        <a:ea typeface="Times New Roman"/>
                        <a:cs typeface="Times New Roman"/>
                        <a:sym typeface="Times New Roman"/>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48124">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14:20 ~ 14:40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err="1" smtClean="0">
                          <a:solidFill>
                            <a:srgbClr val="000000"/>
                          </a:solidFill>
                          <a:latin typeface="Times New Roman"/>
                          <a:ea typeface="Times New Roman"/>
                          <a:cs typeface="Times New Roman"/>
                          <a:sym typeface="Times New Roman"/>
                        </a:rPr>
                        <a:t>Giải</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pháp</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ứng</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dụng</a:t>
                      </a:r>
                      <a:r>
                        <a:rPr lang="en-US" sz="1800" dirty="0" smtClean="0">
                          <a:solidFill>
                            <a:srgbClr val="000000"/>
                          </a:solidFill>
                          <a:latin typeface="Times New Roman"/>
                          <a:ea typeface="Times New Roman"/>
                          <a:cs typeface="Times New Roman"/>
                          <a:sym typeface="Times New Roman"/>
                        </a:rPr>
                        <a:t> AI </a:t>
                      </a:r>
                      <a:r>
                        <a:rPr lang="en-US" sz="1800" dirty="0" err="1" smtClean="0">
                          <a:solidFill>
                            <a:srgbClr val="000000"/>
                          </a:solidFill>
                          <a:latin typeface="Times New Roman"/>
                          <a:ea typeface="Times New Roman"/>
                          <a:cs typeface="Times New Roman"/>
                          <a:sym typeface="Times New Roman"/>
                        </a:rPr>
                        <a:t>nhằm</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nâng</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cao</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lợi</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thế</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cạnh</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tranh</a:t>
                      </a:r>
                      <a:r>
                        <a:rPr lang="en-US" sz="1800" dirty="0" smtClean="0">
                          <a:solidFill>
                            <a:srgbClr val="000000"/>
                          </a:solidFill>
                          <a:latin typeface="Times New Roman"/>
                          <a:ea typeface="Times New Roman"/>
                          <a:cs typeface="Times New Roman"/>
                          <a:sym typeface="Times New Roman"/>
                        </a:rPr>
                        <a:t/>
                      </a:r>
                      <a:br>
                        <a:rPr lang="en-US" sz="1800" dirty="0" smtClean="0">
                          <a:solidFill>
                            <a:srgbClr val="000000"/>
                          </a:solidFill>
                          <a:latin typeface="Times New Roman"/>
                          <a:ea typeface="Times New Roman"/>
                          <a:cs typeface="Times New Roman"/>
                          <a:sym typeface="Times New Roman"/>
                        </a:rPr>
                      </a:br>
                      <a:r>
                        <a:rPr lang="en-US" sz="1800" dirty="0" smtClean="0">
                          <a:solidFill>
                            <a:srgbClr val="00B0F0"/>
                          </a:solidFill>
                          <a:latin typeface="Times New Roman"/>
                          <a:ea typeface="Times New Roman"/>
                          <a:cs typeface="Times New Roman"/>
                          <a:sym typeface="Times New Roman"/>
                        </a:rPr>
                        <a:t>Samsung SDS </a:t>
                      </a:r>
                      <a:r>
                        <a:rPr lang="en-US" sz="1800" dirty="0" err="1" smtClean="0">
                          <a:solidFill>
                            <a:srgbClr val="00B0F0"/>
                          </a:solidFill>
                          <a:latin typeface="Times New Roman"/>
                          <a:ea typeface="Times New Roman"/>
                          <a:cs typeface="Times New Roman"/>
                          <a:sym typeface="Times New Roman"/>
                        </a:rPr>
                        <a:t>Châu</a:t>
                      </a:r>
                      <a:r>
                        <a:rPr lang="en-US" sz="1800" baseline="0" dirty="0" smtClean="0">
                          <a:solidFill>
                            <a:srgbClr val="00B0F0"/>
                          </a:solidFill>
                          <a:latin typeface="Times New Roman"/>
                          <a:ea typeface="Times New Roman"/>
                          <a:cs typeface="Times New Roman"/>
                          <a:sym typeface="Times New Roman"/>
                        </a:rPr>
                        <a:t> Á – </a:t>
                      </a:r>
                      <a:r>
                        <a:rPr lang="en-US" sz="1800" baseline="0" dirty="0" err="1" smtClean="0">
                          <a:solidFill>
                            <a:srgbClr val="00B0F0"/>
                          </a:solidFill>
                          <a:latin typeface="Times New Roman"/>
                          <a:ea typeface="Times New Roman"/>
                          <a:cs typeface="Times New Roman"/>
                          <a:sym typeface="Times New Roman"/>
                        </a:rPr>
                        <a:t>Thái</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Bình</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Dương</a:t>
                      </a:r>
                      <a:r>
                        <a:rPr lang="en-US" sz="1800" baseline="0" dirty="0" smtClean="0">
                          <a:solidFill>
                            <a:srgbClr val="00B0F0"/>
                          </a:solidFill>
                          <a:latin typeface="Times New Roman"/>
                          <a:ea typeface="Times New Roman"/>
                          <a:cs typeface="Times New Roman"/>
                          <a:sym typeface="Times New Roman"/>
                        </a:rPr>
                        <a:t/>
                      </a:r>
                      <a:br>
                        <a:rPr lang="en-US" sz="1800" baseline="0" dirty="0" smtClean="0">
                          <a:solidFill>
                            <a:srgbClr val="00B0F0"/>
                          </a:solidFill>
                          <a:latin typeface="Times New Roman"/>
                          <a:ea typeface="Times New Roman"/>
                          <a:cs typeface="Times New Roman"/>
                          <a:sym typeface="Times New Roman"/>
                        </a:rPr>
                      </a:br>
                      <a:r>
                        <a:rPr lang="en-US" sz="1800" dirty="0" err="1" smtClean="0">
                          <a:solidFill>
                            <a:srgbClr val="00B0F0"/>
                          </a:solidFill>
                          <a:latin typeface="Times New Roman"/>
                          <a:ea typeface="Times New Roman"/>
                          <a:cs typeface="Times New Roman"/>
                          <a:sym typeface="Times New Roman"/>
                        </a:rPr>
                        <a:t>Phó</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chủ</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tịch</a:t>
                      </a:r>
                      <a:r>
                        <a:rPr lang="en-US" sz="1800" baseline="0" dirty="0" smtClean="0">
                          <a:solidFill>
                            <a:srgbClr val="00B0F0"/>
                          </a:solidFill>
                          <a:latin typeface="Times New Roman"/>
                          <a:ea typeface="Times New Roman"/>
                          <a:cs typeface="Times New Roman"/>
                          <a:sym typeface="Times New Roman"/>
                        </a:rPr>
                        <a:t> </a:t>
                      </a:r>
                      <a:r>
                        <a:rPr lang="en-US" sz="1800" dirty="0" smtClean="0">
                          <a:solidFill>
                            <a:srgbClr val="00B0F0"/>
                          </a:solidFill>
                          <a:latin typeface="Times New Roman"/>
                          <a:ea typeface="Times New Roman"/>
                          <a:cs typeface="Times New Roman"/>
                          <a:sym typeface="Times New Roman"/>
                        </a:rPr>
                        <a:t>| </a:t>
                      </a:r>
                      <a:r>
                        <a:rPr lang="en-US" sz="1800" dirty="0" err="1" smtClean="0">
                          <a:solidFill>
                            <a:srgbClr val="00B0F0"/>
                          </a:solidFill>
                          <a:latin typeface="Times New Roman"/>
                          <a:ea typeface="Times New Roman"/>
                          <a:cs typeface="Times New Roman"/>
                          <a:sym typeface="Times New Roman"/>
                        </a:rPr>
                        <a:t>Ông</a:t>
                      </a:r>
                      <a:r>
                        <a:rPr lang="en-US" sz="1800" dirty="0" smtClean="0">
                          <a:solidFill>
                            <a:srgbClr val="00B0F0"/>
                          </a:solidFill>
                          <a:latin typeface="Times New Roman"/>
                          <a:ea typeface="Times New Roman"/>
                          <a:cs typeface="Times New Roman"/>
                          <a:sym typeface="Times New Roman"/>
                        </a:rPr>
                        <a:t> Kim Dong </a:t>
                      </a:r>
                      <a:r>
                        <a:rPr lang="en-US" sz="1800" dirty="0" err="1" smtClean="0">
                          <a:solidFill>
                            <a:srgbClr val="00B0F0"/>
                          </a:solidFill>
                          <a:latin typeface="Times New Roman"/>
                          <a:ea typeface="Times New Roman"/>
                          <a:cs typeface="Times New Roman"/>
                          <a:sym typeface="Times New Roman"/>
                        </a:rPr>
                        <a:t>Kyun</a:t>
                      </a:r>
                      <a:endParaRPr lang="en-US" sz="1800" dirty="0">
                        <a:solidFill>
                          <a:srgbClr val="00B0F0"/>
                        </a:solidFill>
                        <a:latin typeface="Times New Roman"/>
                        <a:ea typeface="Times New Roman"/>
                        <a:cs typeface="Times New Roman"/>
                        <a:sym typeface="Times New Roman"/>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914998">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14:40 ~ 15:00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vi-VN" sz="1800" dirty="0" smtClean="0">
                          <a:solidFill>
                            <a:srgbClr val="000000"/>
                          </a:solidFill>
                          <a:latin typeface="Times New Roman"/>
                          <a:ea typeface="Times New Roman"/>
                          <a:cs typeface="Times New Roman"/>
                          <a:sym typeface="Times New Roman"/>
                        </a:rPr>
                        <a:t>Triển vọng và định hướng chiến lược thị trường vận tải đường biển</a:t>
                      </a:r>
                      <a:r>
                        <a:rPr lang="en-US" sz="1800" dirty="0" smtClean="0">
                          <a:solidFill>
                            <a:srgbClr val="000000"/>
                          </a:solidFill>
                          <a:latin typeface="Times New Roman"/>
                          <a:ea typeface="Times New Roman"/>
                          <a:cs typeface="Times New Roman"/>
                          <a:sym typeface="Times New Roman"/>
                        </a:rPr>
                        <a:t/>
                      </a:r>
                      <a:br>
                        <a:rPr lang="en-US" sz="1800" dirty="0" smtClean="0">
                          <a:solidFill>
                            <a:srgbClr val="000000"/>
                          </a:solidFill>
                          <a:latin typeface="Times New Roman"/>
                          <a:ea typeface="Times New Roman"/>
                          <a:cs typeface="Times New Roman"/>
                          <a:sym typeface="Times New Roman"/>
                        </a:rPr>
                      </a:br>
                      <a:r>
                        <a:rPr lang="en-US" sz="1800" dirty="0" smtClean="0">
                          <a:solidFill>
                            <a:srgbClr val="00B0F0"/>
                          </a:solidFill>
                          <a:latin typeface="Times New Roman"/>
                          <a:ea typeface="Times New Roman"/>
                          <a:cs typeface="Times New Roman"/>
                          <a:sym typeface="Times New Roman"/>
                        </a:rPr>
                        <a:t>Samsung SDS </a:t>
                      </a:r>
                      <a:r>
                        <a:rPr lang="en-US" sz="1800" dirty="0" err="1" smtClean="0">
                          <a:solidFill>
                            <a:srgbClr val="00B0F0"/>
                          </a:solidFill>
                          <a:latin typeface="Times New Roman"/>
                          <a:ea typeface="Times New Roman"/>
                          <a:cs typeface="Times New Roman"/>
                          <a:sym typeface="Times New Roman"/>
                        </a:rPr>
                        <a:t>Châu</a:t>
                      </a:r>
                      <a:r>
                        <a:rPr lang="en-US" sz="1800" baseline="0" dirty="0" smtClean="0">
                          <a:solidFill>
                            <a:srgbClr val="00B0F0"/>
                          </a:solidFill>
                          <a:latin typeface="Times New Roman"/>
                          <a:ea typeface="Times New Roman"/>
                          <a:cs typeface="Times New Roman"/>
                          <a:sym typeface="Times New Roman"/>
                        </a:rPr>
                        <a:t> Á – </a:t>
                      </a:r>
                      <a:r>
                        <a:rPr lang="en-US" sz="1800" baseline="0" dirty="0" err="1" smtClean="0">
                          <a:solidFill>
                            <a:srgbClr val="00B0F0"/>
                          </a:solidFill>
                          <a:latin typeface="Times New Roman"/>
                          <a:ea typeface="Times New Roman"/>
                          <a:cs typeface="Times New Roman"/>
                          <a:sym typeface="Times New Roman"/>
                        </a:rPr>
                        <a:t>Thái</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Bình</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Dương</a:t>
                      </a:r>
                      <a:r>
                        <a:rPr lang="en-US" sz="1800" baseline="0" dirty="0" smtClean="0">
                          <a:solidFill>
                            <a:srgbClr val="00B0F0"/>
                          </a:solidFill>
                          <a:latin typeface="Times New Roman"/>
                          <a:ea typeface="Times New Roman"/>
                          <a:cs typeface="Times New Roman"/>
                          <a:sym typeface="Times New Roman"/>
                        </a:rPr>
                        <a:t>,</a:t>
                      </a:r>
                      <a:br>
                        <a:rPr lang="en-US" sz="1800" baseline="0" dirty="0" smtClean="0">
                          <a:solidFill>
                            <a:srgbClr val="00B0F0"/>
                          </a:solidFill>
                          <a:latin typeface="Times New Roman"/>
                          <a:ea typeface="Times New Roman"/>
                          <a:cs typeface="Times New Roman"/>
                          <a:sym typeface="Times New Roman"/>
                        </a:rPr>
                      </a:br>
                      <a:r>
                        <a:rPr lang="en-US" sz="1800" dirty="0" err="1" smtClean="0">
                          <a:solidFill>
                            <a:srgbClr val="00B0F0"/>
                          </a:solidFill>
                          <a:latin typeface="Times New Roman"/>
                          <a:ea typeface="Times New Roman"/>
                          <a:cs typeface="Times New Roman"/>
                          <a:sym typeface="Times New Roman"/>
                        </a:rPr>
                        <a:t>Trưởng</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bộ</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phận</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vận</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tải</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đường</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biển</a:t>
                      </a:r>
                      <a:r>
                        <a:rPr lang="en-US" sz="1800" baseline="0" dirty="0" smtClean="0">
                          <a:solidFill>
                            <a:srgbClr val="00B0F0"/>
                          </a:solidFill>
                          <a:latin typeface="Times New Roman"/>
                          <a:ea typeface="Times New Roman"/>
                          <a:cs typeface="Times New Roman"/>
                          <a:sym typeface="Times New Roman"/>
                        </a:rPr>
                        <a:t> </a:t>
                      </a:r>
                      <a:r>
                        <a:rPr lang="en-US" sz="1800" dirty="0" smtClean="0">
                          <a:solidFill>
                            <a:srgbClr val="00B0F0"/>
                          </a:solidFill>
                          <a:latin typeface="Times New Roman"/>
                          <a:ea typeface="Times New Roman"/>
                          <a:cs typeface="Times New Roman"/>
                          <a:sym typeface="Times New Roman"/>
                        </a:rPr>
                        <a:t>| </a:t>
                      </a:r>
                      <a:r>
                        <a:rPr lang="en-US" sz="1800" dirty="0" err="1" smtClean="0">
                          <a:solidFill>
                            <a:srgbClr val="00B0F0"/>
                          </a:solidFill>
                          <a:latin typeface="Times New Roman"/>
                          <a:ea typeface="Times New Roman"/>
                          <a:cs typeface="Times New Roman"/>
                          <a:sym typeface="Times New Roman"/>
                        </a:rPr>
                        <a:t>Ông</a:t>
                      </a:r>
                      <a:r>
                        <a:rPr lang="en-US" sz="1800" dirty="0" smtClean="0">
                          <a:solidFill>
                            <a:srgbClr val="00B0F0"/>
                          </a:solidFill>
                          <a:latin typeface="Times New Roman"/>
                          <a:ea typeface="Times New Roman"/>
                          <a:cs typeface="Times New Roman"/>
                          <a:sym typeface="Times New Roman"/>
                        </a:rPr>
                        <a:t> Matthew Thong Jit Fong</a:t>
                      </a:r>
                      <a:endParaRPr lang="en-US" sz="1800" dirty="0">
                        <a:solidFill>
                          <a:srgbClr val="00B0F0"/>
                        </a:solidFill>
                        <a:latin typeface="Times New Roman"/>
                        <a:ea typeface="Times New Roman"/>
                        <a:cs typeface="Times New Roman"/>
                        <a:sym typeface="Times New Roman"/>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81249">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15:00 ~ 15:20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vi-VN" sz="1800" dirty="0" smtClean="0">
                          <a:solidFill>
                            <a:srgbClr val="000000"/>
                          </a:solidFill>
                          <a:latin typeface="Times New Roman"/>
                          <a:ea typeface="Times New Roman"/>
                          <a:cs typeface="Times New Roman"/>
                          <a:sym typeface="Times New Roman"/>
                        </a:rPr>
                        <a:t>Giao lưu/ Giải lao</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914998">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15:20 ~ 15:40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ts val="2160"/>
                        </a:lnSpc>
                        <a:spcBef>
                          <a:spcPts val="0"/>
                        </a:spcBef>
                        <a:spcAft>
                          <a:spcPts val="0"/>
                        </a:spcAft>
                        <a:buClrTx/>
                        <a:buSzTx/>
                        <a:buFontTx/>
                        <a:buNone/>
                        <a:tabLst/>
                        <a:defRPr/>
                      </a:pPr>
                      <a:r>
                        <a:rPr lang="vi-VN" sz="1800" dirty="0" smtClean="0">
                          <a:solidFill>
                            <a:srgbClr val="000000"/>
                          </a:solidFill>
                          <a:latin typeface="Times New Roman"/>
                          <a:ea typeface="Times New Roman"/>
                          <a:cs typeface="Times New Roman"/>
                          <a:sym typeface="Times New Roman"/>
                        </a:rPr>
                        <a:t>Triển vọng và định hướng chiến lược thị trường vận tải hàng không</a:t>
                      </a:r>
                      <a:r>
                        <a:rPr lang="en-US" sz="1800" dirty="0" smtClean="0">
                          <a:solidFill>
                            <a:srgbClr val="000000"/>
                          </a:solidFill>
                          <a:latin typeface="Times New Roman"/>
                          <a:ea typeface="Times New Roman"/>
                          <a:cs typeface="Times New Roman"/>
                          <a:sym typeface="Times New Roman"/>
                        </a:rPr>
                        <a:t/>
                      </a:r>
                      <a:br>
                        <a:rPr lang="en-US" sz="1800" dirty="0" smtClean="0">
                          <a:solidFill>
                            <a:srgbClr val="000000"/>
                          </a:solidFill>
                          <a:latin typeface="Times New Roman"/>
                          <a:ea typeface="Times New Roman"/>
                          <a:cs typeface="Times New Roman"/>
                          <a:sym typeface="Times New Roman"/>
                        </a:rPr>
                      </a:br>
                      <a:r>
                        <a:rPr lang="en-US" sz="1800" dirty="0" smtClean="0">
                          <a:solidFill>
                            <a:srgbClr val="00B0F0"/>
                          </a:solidFill>
                          <a:latin typeface="Times New Roman"/>
                          <a:ea typeface="Times New Roman"/>
                          <a:cs typeface="Times New Roman"/>
                          <a:sym typeface="Times New Roman"/>
                        </a:rPr>
                        <a:t>Samsung SDS </a:t>
                      </a:r>
                      <a:r>
                        <a:rPr lang="en-US" sz="1800" dirty="0" err="1" smtClean="0">
                          <a:solidFill>
                            <a:srgbClr val="00B0F0"/>
                          </a:solidFill>
                          <a:latin typeface="Times New Roman"/>
                          <a:ea typeface="Times New Roman"/>
                          <a:cs typeface="Times New Roman"/>
                          <a:sym typeface="Times New Roman"/>
                        </a:rPr>
                        <a:t>Châu</a:t>
                      </a:r>
                      <a:r>
                        <a:rPr lang="en-US" sz="1800" baseline="0" dirty="0" smtClean="0">
                          <a:solidFill>
                            <a:srgbClr val="00B0F0"/>
                          </a:solidFill>
                          <a:latin typeface="Times New Roman"/>
                          <a:ea typeface="Times New Roman"/>
                          <a:cs typeface="Times New Roman"/>
                          <a:sym typeface="Times New Roman"/>
                        </a:rPr>
                        <a:t> Á – </a:t>
                      </a:r>
                      <a:r>
                        <a:rPr lang="en-US" sz="1800" baseline="0" dirty="0" err="1" smtClean="0">
                          <a:solidFill>
                            <a:srgbClr val="00B0F0"/>
                          </a:solidFill>
                          <a:latin typeface="Times New Roman"/>
                          <a:ea typeface="Times New Roman"/>
                          <a:cs typeface="Times New Roman"/>
                          <a:sym typeface="Times New Roman"/>
                        </a:rPr>
                        <a:t>Thái</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Bình</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Dương</a:t>
                      </a:r>
                      <a:r>
                        <a:rPr lang="en-US" sz="1800" baseline="0" dirty="0" smtClean="0">
                          <a:solidFill>
                            <a:srgbClr val="00B0F0"/>
                          </a:solidFill>
                          <a:latin typeface="Times New Roman"/>
                          <a:ea typeface="Times New Roman"/>
                          <a:cs typeface="Times New Roman"/>
                          <a:sym typeface="Times New Roman"/>
                        </a:rPr>
                        <a:t>,</a:t>
                      </a:r>
                      <a:br>
                        <a:rPr lang="en-US" sz="1800" baseline="0" dirty="0" smtClean="0">
                          <a:solidFill>
                            <a:srgbClr val="00B0F0"/>
                          </a:solidFill>
                          <a:latin typeface="Times New Roman"/>
                          <a:ea typeface="Times New Roman"/>
                          <a:cs typeface="Times New Roman"/>
                          <a:sym typeface="Times New Roman"/>
                        </a:rPr>
                      </a:br>
                      <a:r>
                        <a:rPr lang="en-US" sz="1800" dirty="0" err="1" smtClean="0">
                          <a:solidFill>
                            <a:srgbClr val="00B0F0"/>
                          </a:solidFill>
                          <a:latin typeface="Times New Roman"/>
                          <a:ea typeface="Times New Roman"/>
                          <a:cs typeface="Times New Roman"/>
                          <a:sym typeface="Times New Roman"/>
                        </a:rPr>
                        <a:t>Trưởng</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bộ</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phận</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vận</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tải</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hàng</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không</a:t>
                      </a:r>
                      <a:r>
                        <a:rPr lang="en-US" sz="1800" baseline="0" dirty="0" smtClean="0">
                          <a:solidFill>
                            <a:srgbClr val="00B0F0"/>
                          </a:solidFill>
                          <a:latin typeface="Times New Roman"/>
                          <a:ea typeface="Times New Roman"/>
                          <a:cs typeface="Times New Roman"/>
                          <a:sym typeface="Times New Roman"/>
                        </a:rPr>
                        <a:t> </a:t>
                      </a:r>
                      <a:r>
                        <a:rPr lang="en-US" sz="1800" dirty="0" smtClean="0">
                          <a:solidFill>
                            <a:srgbClr val="00B0F0"/>
                          </a:solidFill>
                          <a:latin typeface="Times New Roman"/>
                          <a:ea typeface="Times New Roman"/>
                          <a:cs typeface="Times New Roman"/>
                          <a:sym typeface="Times New Roman"/>
                        </a:rPr>
                        <a:t>| </a:t>
                      </a:r>
                      <a:r>
                        <a:rPr lang="en-US" sz="1800" dirty="0" err="1" smtClean="0">
                          <a:solidFill>
                            <a:srgbClr val="00B0F0"/>
                          </a:solidFill>
                          <a:latin typeface="Times New Roman"/>
                          <a:ea typeface="Times New Roman"/>
                          <a:cs typeface="Times New Roman"/>
                          <a:sym typeface="Times New Roman"/>
                        </a:rPr>
                        <a:t>Ông</a:t>
                      </a:r>
                      <a:r>
                        <a:rPr lang="en-US" sz="1800" dirty="0" smtClean="0">
                          <a:solidFill>
                            <a:srgbClr val="00B0F0"/>
                          </a:solidFill>
                          <a:latin typeface="Times New Roman"/>
                          <a:ea typeface="Times New Roman"/>
                          <a:cs typeface="Times New Roman"/>
                          <a:sym typeface="Times New Roman"/>
                        </a:rPr>
                        <a:t> Bae Kyung </a:t>
                      </a:r>
                      <a:r>
                        <a:rPr lang="en-US" sz="1800" dirty="0" err="1" smtClean="0">
                          <a:solidFill>
                            <a:srgbClr val="00B0F0"/>
                          </a:solidFill>
                          <a:latin typeface="Times New Roman"/>
                          <a:ea typeface="Times New Roman"/>
                          <a:cs typeface="Times New Roman"/>
                          <a:sym typeface="Times New Roman"/>
                        </a:rPr>
                        <a:t>Jin</a:t>
                      </a:r>
                      <a:endParaRPr lang="en-US" sz="1800" dirty="0" smtClean="0">
                        <a:solidFill>
                          <a:srgbClr val="00B0F0"/>
                        </a:solidFill>
                        <a:latin typeface="Times New Roman"/>
                        <a:ea typeface="Times New Roman"/>
                        <a:cs typeface="Times New Roman"/>
                        <a:sym typeface="Times New Roman"/>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181872">
                <a:tc>
                  <a:txBody>
                    <a:bodyPr/>
                    <a:lstStyle/>
                    <a:p>
                      <a:pPr algn="ctr">
                        <a:lnSpc>
                          <a:spcPts val="2160"/>
                        </a:lnSpc>
                        <a:defRPr/>
                      </a:pPr>
                      <a:r>
                        <a:rPr lang="en-US" sz="1800" dirty="0" smtClean="0">
                          <a:solidFill>
                            <a:srgbClr val="000000"/>
                          </a:solidFill>
                          <a:latin typeface="Times New Roman"/>
                          <a:ea typeface="Times New Roman"/>
                          <a:cs typeface="Times New Roman"/>
                          <a:sym typeface="Times New Roman"/>
                        </a:rPr>
                        <a:t>15:40 </a:t>
                      </a:r>
                      <a:r>
                        <a:rPr lang="en-US" sz="1800" dirty="0">
                          <a:solidFill>
                            <a:srgbClr val="000000"/>
                          </a:solidFill>
                          <a:latin typeface="Times New Roman"/>
                          <a:ea typeface="Times New Roman"/>
                          <a:cs typeface="Times New Roman"/>
                          <a:sym typeface="Times New Roman"/>
                        </a:rPr>
                        <a:t>~ </a:t>
                      </a:r>
                      <a:r>
                        <a:rPr lang="en-US" sz="1800" dirty="0" smtClean="0">
                          <a:solidFill>
                            <a:srgbClr val="000000"/>
                          </a:solidFill>
                          <a:latin typeface="Times New Roman"/>
                          <a:ea typeface="Times New Roman"/>
                          <a:cs typeface="Times New Roman"/>
                          <a:sym typeface="Times New Roman"/>
                        </a:rPr>
                        <a:t>16:00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vi-VN" sz="1800" dirty="0" smtClean="0">
                          <a:solidFill>
                            <a:srgbClr val="000000"/>
                          </a:solidFill>
                          <a:latin typeface="Times New Roman"/>
                          <a:ea typeface="Times New Roman"/>
                          <a:cs typeface="Times New Roman"/>
                          <a:sym typeface="Times New Roman"/>
                        </a:rPr>
                        <a:t>Từ hoạt động thuê ngoài đến trụ cột chiến lược: Kỷ nguyên mới của </a:t>
                      </a:r>
                      <a:r>
                        <a:rPr lang="en-US" sz="1800" dirty="0" smtClean="0">
                          <a:solidFill>
                            <a:srgbClr val="000000"/>
                          </a:solidFill>
                          <a:latin typeface="Times New Roman"/>
                          <a:ea typeface="Times New Roman"/>
                          <a:cs typeface="Times New Roman"/>
                          <a:sym typeface="Times New Roman"/>
                        </a:rPr>
                        <a:t>C</a:t>
                      </a:r>
                      <a:r>
                        <a:rPr lang="vi-VN" sz="1800" dirty="0" smtClean="0">
                          <a:solidFill>
                            <a:srgbClr val="000000"/>
                          </a:solidFill>
                          <a:latin typeface="Times New Roman"/>
                          <a:ea typeface="Times New Roman"/>
                          <a:cs typeface="Times New Roman"/>
                          <a:sym typeface="Times New Roman"/>
                        </a:rPr>
                        <a:t>ontract </a:t>
                      </a:r>
                      <a:r>
                        <a:rPr lang="en-US" sz="1800" dirty="0" smtClean="0">
                          <a:solidFill>
                            <a:srgbClr val="000000"/>
                          </a:solidFill>
                          <a:latin typeface="Times New Roman"/>
                          <a:ea typeface="Times New Roman"/>
                          <a:cs typeface="Times New Roman"/>
                          <a:sym typeface="Times New Roman"/>
                        </a:rPr>
                        <a:t>L</a:t>
                      </a:r>
                      <a:r>
                        <a:rPr lang="vi-VN" sz="1800" dirty="0" smtClean="0">
                          <a:solidFill>
                            <a:srgbClr val="000000"/>
                          </a:solidFill>
                          <a:latin typeface="Times New Roman"/>
                          <a:ea typeface="Times New Roman"/>
                          <a:cs typeface="Times New Roman"/>
                          <a:sym typeface="Times New Roman"/>
                        </a:rPr>
                        <a:t>ogistics</a:t>
                      </a:r>
                      <a:r>
                        <a:rPr lang="en-US" sz="1800" dirty="0" smtClean="0">
                          <a:solidFill>
                            <a:srgbClr val="000000"/>
                          </a:solidFill>
                          <a:latin typeface="Times New Roman"/>
                          <a:ea typeface="Times New Roman"/>
                          <a:cs typeface="Times New Roman"/>
                          <a:sym typeface="Times New Roman"/>
                        </a:rPr>
                        <a:t/>
                      </a:r>
                      <a:br>
                        <a:rPr lang="en-US" sz="1800" dirty="0" smtClean="0">
                          <a:solidFill>
                            <a:srgbClr val="000000"/>
                          </a:solidFill>
                          <a:latin typeface="Times New Roman"/>
                          <a:ea typeface="Times New Roman"/>
                          <a:cs typeface="Times New Roman"/>
                          <a:sym typeface="Times New Roman"/>
                        </a:rPr>
                      </a:br>
                      <a:r>
                        <a:rPr lang="en-US" sz="1800" dirty="0" smtClean="0">
                          <a:solidFill>
                            <a:srgbClr val="00B0F0"/>
                          </a:solidFill>
                          <a:latin typeface="Times New Roman"/>
                          <a:ea typeface="Times New Roman"/>
                          <a:cs typeface="Times New Roman"/>
                          <a:sym typeface="Times New Roman"/>
                        </a:rPr>
                        <a:t>Samsung SDS </a:t>
                      </a:r>
                      <a:r>
                        <a:rPr lang="en-US" sz="1800" dirty="0" err="1" smtClean="0">
                          <a:solidFill>
                            <a:srgbClr val="00B0F0"/>
                          </a:solidFill>
                          <a:latin typeface="Times New Roman"/>
                          <a:ea typeface="Times New Roman"/>
                          <a:cs typeface="Times New Roman"/>
                          <a:sym typeface="Times New Roman"/>
                        </a:rPr>
                        <a:t>Châu</a:t>
                      </a:r>
                      <a:r>
                        <a:rPr lang="en-US" sz="1800" baseline="0" dirty="0" smtClean="0">
                          <a:solidFill>
                            <a:srgbClr val="00B0F0"/>
                          </a:solidFill>
                          <a:latin typeface="Times New Roman"/>
                          <a:ea typeface="Times New Roman"/>
                          <a:cs typeface="Times New Roman"/>
                          <a:sym typeface="Times New Roman"/>
                        </a:rPr>
                        <a:t> Á – </a:t>
                      </a:r>
                      <a:r>
                        <a:rPr lang="en-US" sz="1800" baseline="0" dirty="0" err="1" smtClean="0">
                          <a:solidFill>
                            <a:srgbClr val="00B0F0"/>
                          </a:solidFill>
                          <a:latin typeface="Times New Roman"/>
                          <a:ea typeface="Times New Roman"/>
                          <a:cs typeface="Times New Roman"/>
                          <a:sym typeface="Times New Roman"/>
                        </a:rPr>
                        <a:t>Thái</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Bình</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Dương</a:t>
                      </a:r>
                      <a:r>
                        <a:rPr lang="en-US" sz="1800" baseline="0" dirty="0" smtClean="0">
                          <a:solidFill>
                            <a:srgbClr val="00B0F0"/>
                          </a:solidFill>
                          <a:latin typeface="Times New Roman"/>
                          <a:ea typeface="Times New Roman"/>
                          <a:cs typeface="Times New Roman"/>
                          <a:sym typeface="Times New Roman"/>
                        </a:rPr>
                        <a:t>,</a:t>
                      </a:r>
                      <a:br>
                        <a:rPr lang="en-US" sz="1800" baseline="0" dirty="0" smtClean="0">
                          <a:solidFill>
                            <a:srgbClr val="00B0F0"/>
                          </a:solidFill>
                          <a:latin typeface="Times New Roman"/>
                          <a:ea typeface="Times New Roman"/>
                          <a:cs typeface="Times New Roman"/>
                          <a:sym typeface="Times New Roman"/>
                        </a:rPr>
                      </a:br>
                      <a:r>
                        <a:rPr lang="en-US" sz="1800" dirty="0" err="1" smtClean="0">
                          <a:solidFill>
                            <a:srgbClr val="00B0F0"/>
                          </a:solidFill>
                          <a:latin typeface="Times New Roman"/>
                          <a:ea typeface="Times New Roman"/>
                          <a:cs typeface="Times New Roman"/>
                          <a:sym typeface="Times New Roman"/>
                        </a:rPr>
                        <a:t>Trưởng</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bộ</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phận</a:t>
                      </a:r>
                      <a:r>
                        <a:rPr lang="en-US" sz="1800" baseline="0" dirty="0" smtClean="0">
                          <a:solidFill>
                            <a:srgbClr val="00B0F0"/>
                          </a:solidFill>
                          <a:latin typeface="Times New Roman"/>
                          <a:ea typeface="Times New Roman"/>
                          <a:cs typeface="Times New Roman"/>
                          <a:sym typeface="Times New Roman"/>
                        </a:rPr>
                        <a:t> </a:t>
                      </a:r>
                      <a:r>
                        <a:rPr lang="en-US" sz="1800" dirty="0" smtClean="0">
                          <a:solidFill>
                            <a:srgbClr val="00B0F0"/>
                          </a:solidFill>
                          <a:latin typeface="Times New Roman"/>
                          <a:ea typeface="Times New Roman"/>
                          <a:cs typeface="Times New Roman"/>
                          <a:sym typeface="Times New Roman"/>
                        </a:rPr>
                        <a:t>Contract Logistics | </a:t>
                      </a:r>
                      <a:r>
                        <a:rPr lang="en-US" sz="1800" dirty="0" err="1" smtClean="0">
                          <a:solidFill>
                            <a:srgbClr val="00B0F0"/>
                          </a:solidFill>
                          <a:latin typeface="Times New Roman"/>
                          <a:ea typeface="Times New Roman"/>
                          <a:cs typeface="Times New Roman"/>
                          <a:sym typeface="Times New Roman"/>
                        </a:rPr>
                        <a:t>Ông</a:t>
                      </a:r>
                      <a:r>
                        <a:rPr lang="en-US" sz="1800" dirty="0" smtClean="0">
                          <a:solidFill>
                            <a:srgbClr val="00B0F0"/>
                          </a:solidFill>
                          <a:latin typeface="Times New Roman"/>
                          <a:ea typeface="Times New Roman"/>
                          <a:cs typeface="Times New Roman"/>
                          <a:sym typeface="Times New Roman"/>
                        </a:rPr>
                        <a:t> Nay </a:t>
                      </a:r>
                      <a:r>
                        <a:rPr lang="en-US" sz="1800" dirty="0" err="1" smtClean="0">
                          <a:solidFill>
                            <a:srgbClr val="00B0F0"/>
                          </a:solidFill>
                          <a:latin typeface="Times New Roman"/>
                          <a:ea typeface="Times New Roman"/>
                          <a:cs typeface="Times New Roman"/>
                          <a:sym typeface="Times New Roman"/>
                        </a:rPr>
                        <a:t>Htoo</a:t>
                      </a:r>
                      <a:r>
                        <a:rPr lang="en-US" sz="1800" dirty="0" smtClean="0">
                          <a:solidFill>
                            <a:srgbClr val="00B0F0"/>
                          </a:solidFill>
                          <a:latin typeface="Times New Roman"/>
                          <a:ea typeface="Times New Roman"/>
                          <a:cs typeface="Times New Roman"/>
                          <a:sym typeface="Times New Roman"/>
                        </a:rPr>
                        <a:t> Aung</a:t>
                      </a:r>
                      <a:endParaRPr lang="en-US" sz="1800" dirty="0">
                        <a:solidFill>
                          <a:srgbClr val="00B0F0"/>
                        </a:solidFill>
                        <a:latin typeface="Times New Roman"/>
                        <a:ea typeface="Times New Roman"/>
                        <a:cs typeface="Times New Roman"/>
                        <a:sym typeface="Times New Roman"/>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181872">
                <a:tc>
                  <a:txBody>
                    <a:bodyPr/>
                    <a:lstStyle/>
                    <a:p>
                      <a:pPr algn="ctr">
                        <a:lnSpc>
                          <a:spcPts val="2160"/>
                        </a:lnSpc>
                        <a:defRPr/>
                      </a:pPr>
                      <a:r>
                        <a:rPr lang="en-US" sz="1800" dirty="0" smtClean="0">
                          <a:solidFill>
                            <a:srgbClr val="000000"/>
                          </a:solidFill>
                          <a:latin typeface="Times New Roman"/>
                          <a:ea typeface="Times New Roman"/>
                          <a:cs typeface="Times New Roman"/>
                          <a:sym typeface="Times New Roman"/>
                        </a:rPr>
                        <a:t>16:00 </a:t>
                      </a:r>
                      <a:r>
                        <a:rPr lang="en-US" sz="1800" dirty="0">
                          <a:solidFill>
                            <a:srgbClr val="000000"/>
                          </a:solidFill>
                          <a:latin typeface="Times New Roman"/>
                          <a:ea typeface="Times New Roman"/>
                          <a:cs typeface="Times New Roman"/>
                          <a:sym typeface="Times New Roman"/>
                        </a:rPr>
                        <a:t>~ </a:t>
                      </a:r>
                      <a:r>
                        <a:rPr lang="en-US" sz="1800" dirty="0" smtClean="0">
                          <a:solidFill>
                            <a:srgbClr val="000000"/>
                          </a:solidFill>
                          <a:latin typeface="Times New Roman"/>
                          <a:ea typeface="Times New Roman"/>
                          <a:cs typeface="Times New Roman"/>
                          <a:sym typeface="Times New Roman"/>
                        </a:rPr>
                        <a:t>16:20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vi-VN" sz="1800" dirty="0" smtClean="0">
                          <a:solidFill>
                            <a:srgbClr val="000000"/>
                          </a:solidFill>
                          <a:latin typeface="Times New Roman"/>
                          <a:ea typeface="Times New Roman"/>
                          <a:cs typeface="Times New Roman"/>
                          <a:sym typeface="Times New Roman"/>
                        </a:rPr>
                        <a:t>Tăng cường sức bền doanh nghiệp: Ứng phó với biến động toàn cầu bằng tự động hóa</a:t>
                      </a:r>
                      <a:r>
                        <a:rPr lang="en-US" sz="1800" dirty="0" smtClean="0">
                          <a:solidFill>
                            <a:srgbClr val="000000"/>
                          </a:solidFill>
                          <a:latin typeface="Times New Roman"/>
                          <a:ea typeface="Times New Roman"/>
                          <a:cs typeface="Times New Roman"/>
                          <a:sym typeface="Times New Roman"/>
                        </a:rPr>
                        <a:t/>
                      </a:r>
                      <a:br>
                        <a:rPr lang="en-US" sz="1800" dirty="0" smtClean="0">
                          <a:solidFill>
                            <a:srgbClr val="000000"/>
                          </a:solidFill>
                          <a:latin typeface="Times New Roman"/>
                          <a:ea typeface="Times New Roman"/>
                          <a:cs typeface="Times New Roman"/>
                          <a:sym typeface="Times New Roman"/>
                        </a:rPr>
                      </a:br>
                      <a:r>
                        <a:rPr lang="en-US" sz="1800" dirty="0" smtClean="0">
                          <a:solidFill>
                            <a:srgbClr val="00B0F0"/>
                          </a:solidFill>
                          <a:latin typeface="Times New Roman"/>
                          <a:ea typeface="Times New Roman"/>
                          <a:cs typeface="Times New Roman"/>
                          <a:sym typeface="Times New Roman"/>
                        </a:rPr>
                        <a:t>Samsung SDS </a:t>
                      </a:r>
                      <a:r>
                        <a:rPr lang="en-US" sz="1800" dirty="0" err="1" smtClean="0">
                          <a:solidFill>
                            <a:srgbClr val="00B0F0"/>
                          </a:solidFill>
                          <a:latin typeface="Times New Roman"/>
                          <a:ea typeface="Times New Roman"/>
                          <a:cs typeface="Times New Roman"/>
                          <a:sym typeface="Times New Roman"/>
                        </a:rPr>
                        <a:t>Châu</a:t>
                      </a:r>
                      <a:r>
                        <a:rPr lang="en-US" sz="1800" baseline="0" dirty="0" smtClean="0">
                          <a:solidFill>
                            <a:srgbClr val="00B0F0"/>
                          </a:solidFill>
                          <a:latin typeface="Times New Roman"/>
                          <a:ea typeface="Times New Roman"/>
                          <a:cs typeface="Times New Roman"/>
                          <a:sym typeface="Times New Roman"/>
                        </a:rPr>
                        <a:t> Á – </a:t>
                      </a:r>
                      <a:r>
                        <a:rPr lang="en-US" sz="1800" baseline="0" dirty="0" err="1" smtClean="0">
                          <a:solidFill>
                            <a:srgbClr val="00B0F0"/>
                          </a:solidFill>
                          <a:latin typeface="Times New Roman"/>
                          <a:ea typeface="Times New Roman"/>
                          <a:cs typeface="Times New Roman"/>
                          <a:sym typeface="Times New Roman"/>
                        </a:rPr>
                        <a:t>Thái</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Bình</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Dương</a:t>
                      </a:r>
                      <a:r>
                        <a:rPr lang="en-US" sz="1800" dirty="0" smtClean="0">
                          <a:solidFill>
                            <a:srgbClr val="00B0F0"/>
                          </a:solidFill>
                          <a:latin typeface="Times New Roman"/>
                          <a:ea typeface="Times New Roman"/>
                          <a:cs typeface="Times New Roman"/>
                          <a:sym typeface="Times New Roman"/>
                        </a:rPr>
                        <a:t>,</a:t>
                      </a:r>
                      <a:br>
                        <a:rPr lang="en-US" sz="1800" dirty="0" smtClean="0">
                          <a:solidFill>
                            <a:srgbClr val="00B0F0"/>
                          </a:solidFill>
                          <a:latin typeface="Times New Roman"/>
                          <a:ea typeface="Times New Roman"/>
                          <a:cs typeface="Times New Roman"/>
                          <a:sym typeface="Times New Roman"/>
                        </a:rPr>
                      </a:br>
                      <a:r>
                        <a:rPr lang="en-US" sz="1800" dirty="0" err="1" smtClean="0">
                          <a:solidFill>
                            <a:srgbClr val="00B0F0"/>
                          </a:solidFill>
                          <a:latin typeface="Times New Roman"/>
                          <a:ea typeface="Times New Roman"/>
                          <a:cs typeface="Times New Roman"/>
                          <a:sym typeface="Times New Roman"/>
                        </a:rPr>
                        <a:t>Trưởng</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bộ</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phận</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vận</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hành</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và</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tự</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động</a:t>
                      </a:r>
                      <a:r>
                        <a:rPr lang="en-US" sz="1800" baseline="0" dirty="0" smtClean="0">
                          <a:solidFill>
                            <a:srgbClr val="00B0F0"/>
                          </a:solidFill>
                          <a:latin typeface="Times New Roman"/>
                          <a:ea typeface="Times New Roman"/>
                          <a:cs typeface="Times New Roman"/>
                          <a:sym typeface="Times New Roman"/>
                        </a:rPr>
                        <a:t> </a:t>
                      </a:r>
                      <a:r>
                        <a:rPr lang="en-US" sz="1800" baseline="0" dirty="0" err="1" smtClean="0">
                          <a:solidFill>
                            <a:srgbClr val="00B0F0"/>
                          </a:solidFill>
                          <a:latin typeface="Times New Roman"/>
                          <a:ea typeface="Times New Roman"/>
                          <a:cs typeface="Times New Roman"/>
                          <a:sym typeface="Times New Roman"/>
                        </a:rPr>
                        <a:t>hóa</a:t>
                      </a:r>
                      <a:r>
                        <a:rPr lang="en-US" sz="1800" baseline="0" dirty="0" smtClean="0">
                          <a:solidFill>
                            <a:srgbClr val="00B0F0"/>
                          </a:solidFill>
                          <a:latin typeface="Times New Roman"/>
                          <a:ea typeface="Times New Roman"/>
                          <a:cs typeface="Times New Roman"/>
                          <a:sym typeface="Times New Roman"/>
                        </a:rPr>
                        <a:t> </a:t>
                      </a:r>
                      <a:r>
                        <a:rPr lang="en-US" sz="1800" dirty="0" smtClean="0">
                          <a:solidFill>
                            <a:srgbClr val="00B0F0"/>
                          </a:solidFill>
                          <a:latin typeface="Times New Roman"/>
                          <a:ea typeface="Times New Roman"/>
                          <a:cs typeface="Times New Roman"/>
                          <a:sym typeface="Times New Roman"/>
                        </a:rPr>
                        <a:t>| </a:t>
                      </a:r>
                      <a:r>
                        <a:rPr lang="en-US" sz="1800" dirty="0" err="1" smtClean="0">
                          <a:solidFill>
                            <a:srgbClr val="00B0F0"/>
                          </a:solidFill>
                          <a:latin typeface="Times New Roman"/>
                          <a:ea typeface="Times New Roman"/>
                          <a:cs typeface="Times New Roman"/>
                          <a:sym typeface="Times New Roman"/>
                        </a:rPr>
                        <a:t>Ông</a:t>
                      </a:r>
                      <a:r>
                        <a:rPr lang="en-US" sz="1800" dirty="0" smtClean="0">
                          <a:solidFill>
                            <a:srgbClr val="00B0F0"/>
                          </a:solidFill>
                          <a:latin typeface="Times New Roman"/>
                          <a:ea typeface="Times New Roman"/>
                          <a:cs typeface="Times New Roman"/>
                          <a:sym typeface="Times New Roman"/>
                        </a:rPr>
                        <a:t> Lee Je Ho</a:t>
                      </a:r>
                      <a:endParaRPr lang="en-US" sz="1800" dirty="0">
                        <a:solidFill>
                          <a:srgbClr val="00B0F0"/>
                        </a:solidFill>
                        <a:latin typeface="Times New Roman"/>
                        <a:ea typeface="Times New Roman"/>
                        <a:cs typeface="Times New Roman"/>
                        <a:sym typeface="Times New Roman"/>
                      </a:endParaRPr>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449993">
                <a:tc>
                  <a:txBody>
                    <a:bodyPr/>
                    <a:lstStyle/>
                    <a:p>
                      <a:pPr algn="ctr">
                        <a:lnSpc>
                          <a:spcPts val="2160"/>
                        </a:lnSpc>
                        <a:defRPr/>
                      </a:pPr>
                      <a:r>
                        <a:rPr lang="en-US" sz="1800" dirty="0">
                          <a:solidFill>
                            <a:srgbClr val="000000"/>
                          </a:solidFill>
                          <a:latin typeface="Times New Roman"/>
                          <a:ea typeface="Times New Roman"/>
                          <a:cs typeface="Times New Roman"/>
                          <a:sym typeface="Times New Roman"/>
                        </a:rPr>
                        <a:t>16:20 ~ 17:00</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160"/>
                        </a:lnSpc>
                        <a:defRPr/>
                      </a:pPr>
                      <a:r>
                        <a:rPr lang="en-US" sz="1800" dirty="0" err="1" smtClean="0">
                          <a:solidFill>
                            <a:srgbClr val="000000"/>
                          </a:solidFill>
                          <a:latin typeface="Times New Roman"/>
                          <a:ea typeface="Times New Roman"/>
                          <a:cs typeface="Times New Roman"/>
                          <a:sym typeface="Times New Roman"/>
                        </a:rPr>
                        <a:t>Rút</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thăm</a:t>
                      </a:r>
                      <a:r>
                        <a:rPr lang="en-US" sz="1800" dirty="0" smtClean="0">
                          <a:solidFill>
                            <a:srgbClr val="000000"/>
                          </a:solidFill>
                          <a:latin typeface="Times New Roman"/>
                          <a:ea typeface="Times New Roman"/>
                          <a:cs typeface="Times New Roman"/>
                          <a:sym typeface="Times New Roman"/>
                        </a:rPr>
                        <a:t> may </a:t>
                      </a:r>
                      <a:r>
                        <a:rPr lang="en-US" sz="1800" dirty="0" err="1" smtClean="0">
                          <a:solidFill>
                            <a:srgbClr val="000000"/>
                          </a:solidFill>
                          <a:latin typeface="Times New Roman"/>
                          <a:ea typeface="Times New Roman"/>
                          <a:cs typeface="Times New Roman"/>
                          <a:sym typeface="Times New Roman"/>
                        </a:rPr>
                        <a:t>mắn</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và</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Bế</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mạc</a:t>
                      </a:r>
                      <a:endParaRPr lang="en-US" sz="1100" dirty="0"/>
                    </a:p>
                  </a:txBody>
                  <a:tcPr marL="7620" marR="7620" marT="7620" marB="7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7" name="TextBox 7"/>
          <p:cNvSpPr txBox="1"/>
          <p:nvPr/>
        </p:nvSpPr>
        <p:spPr>
          <a:xfrm>
            <a:off x="9448800" y="9334500"/>
            <a:ext cx="8341195" cy="444811"/>
          </a:xfrm>
          <a:prstGeom prst="rect">
            <a:avLst/>
          </a:prstGeom>
        </p:spPr>
        <p:txBody>
          <a:bodyPr lIns="50800" tIns="50800" rIns="50800" bIns="50800" rtlCol="0" anchor="t"/>
          <a:lstStyle/>
          <a:p>
            <a:pPr>
              <a:lnSpc>
                <a:spcPts val="2160"/>
              </a:lnSpc>
            </a:pPr>
            <a:r>
              <a:rPr lang="en-US" dirty="0">
                <a:solidFill>
                  <a:srgbClr val="000000"/>
                </a:solidFill>
                <a:latin typeface="Times New Roman"/>
                <a:ea typeface="Times New Roman"/>
                <a:cs typeface="Times New Roman"/>
                <a:sym typeface="Times New Roman"/>
              </a:rPr>
              <a:t>※ </a:t>
            </a:r>
            <a:r>
              <a:rPr lang="en-US" dirty="0" err="1" smtClean="0">
                <a:solidFill>
                  <a:srgbClr val="000000"/>
                </a:solidFill>
                <a:latin typeface="Times New Roman"/>
                <a:ea typeface="Times New Roman"/>
                <a:cs typeface="Times New Roman"/>
                <a:sym typeface="Times New Roman"/>
              </a:rPr>
              <a:t>Chương</a:t>
            </a:r>
            <a:r>
              <a:rPr lang="en-US" dirty="0" smtClean="0">
                <a:solidFill>
                  <a:srgbClr val="000000"/>
                </a:solidFill>
                <a:latin typeface="Times New Roman"/>
                <a:ea typeface="Times New Roman"/>
                <a:cs typeface="Times New Roman"/>
                <a:sym typeface="Times New Roman"/>
              </a:rPr>
              <a:t> </a:t>
            </a:r>
            <a:r>
              <a:rPr lang="en-US" dirty="0" err="1" smtClean="0">
                <a:solidFill>
                  <a:srgbClr val="000000"/>
                </a:solidFill>
                <a:latin typeface="Times New Roman"/>
                <a:ea typeface="Times New Roman"/>
                <a:cs typeface="Times New Roman"/>
                <a:sym typeface="Times New Roman"/>
              </a:rPr>
              <a:t>trình</a:t>
            </a:r>
            <a:r>
              <a:rPr lang="en-US" dirty="0" smtClean="0">
                <a:solidFill>
                  <a:srgbClr val="000000"/>
                </a:solidFill>
                <a:latin typeface="Times New Roman"/>
                <a:ea typeface="Times New Roman"/>
                <a:cs typeface="Times New Roman"/>
                <a:sym typeface="Times New Roman"/>
              </a:rPr>
              <a:t>/ </a:t>
            </a:r>
            <a:r>
              <a:rPr lang="en-US" dirty="0" err="1" smtClean="0">
                <a:solidFill>
                  <a:srgbClr val="000000"/>
                </a:solidFill>
                <a:latin typeface="Times New Roman"/>
                <a:ea typeface="Times New Roman"/>
                <a:cs typeface="Times New Roman"/>
                <a:sym typeface="Times New Roman"/>
              </a:rPr>
              <a:t>Diễn</a:t>
            </a:r>
            <a:r>
              <a:rPr lang="en-US" dirty="0" smtClean="0">
                <a:solidFill>
                  <a:srgbClr val="000000"/>
                </a:solidFill>
                <a:latin typeface="Times New Roman"/>
                <a:ea typeface="Times New Roman"/>
                <a:cs typeface="Times New Roman"/>
                <a:sym typeface="Times New Roman"/>
              </a:rPr>
              <a:t> </a:t>
            </a:r>
            <a:r>
              <a:rPr lang="en-US" dirty="0" err="1" smtClean="0">
                <a:solidFill>
                  <a:srgbClr val="000000"/>
                </a:solidFill>
                <a:latin typeface="Times New Roman"/>
                <a:ea typeface="Times New Roman"/>
                <a:cs typeface="Times New Roman"/>
                <a:sym typeface="Times New Roman"/>
              </a:rPr>
              <a:t>giả</a:t>
            </a:r>
            <a:r>
              <a:rPr lang="en-US" dirty="0" smtClean="0">
                <a:solidFill>
                  <a:srgbClr val="000000"/>
                </a:solidFill>
                <a:latin typeface="Times New Roman"/>
                <a:ea typeface="Times New Roman"/>
                <a:cs typeface="Times New Roman"/>
                <a:sym typeface="Times New Roman"/>
              </a:rPr>
              <a:t> </a:t>
            </a:r>
            <a:r>
              <a:rPr lang="vi-VN" dirty="0" smtClean="0">
                <a:solidFill>
                  <a:srgbClr val="000000"/>
                </a:solidFill>
                <a:latin typeface="Times New Roman"/>
                <a:ea typeface="Times New Roman"/>
                <a:cs typeface="Times New Roman"/>
                <a:sym typeface="Times New Roman"/>
              </a:rPr>
              <a:t>có thể thay đổi mà không cần thông báo trước.</a:t>
            </a:r>
            <a:r>
              <a:rPr lang="en-SG" dirty="0">
                <a:solidFill>
                  <a:srgbClr val="000000"/>
                </a:solidFill>
                <a:latin typeface="Times New Roman"/>
                <a:ea typeface="Times New Roman"/>
                <a:cs typeface="Times New Roman"/>
                <a:sym typeface="Times New Roman"/>
              </a:rPr>
              <a:t/>
            </a:r>
            <a:br>
              <a:rPr lang="en-SG" dirty="0">
                <a:solidFill>
                  <a:srgbClr val="000000"/>
                </a:solidFill>
                <a:latin typeface="Times New Roman"/>
                <a:ea typeface="Times New Roman"/>
                <a:cs typeface="Times New Roman"/>
                <a:sym typeface="Times New Roman"/>
              </a:rPr>
            </a:br>
            <a:r>
              <a:rPr lang="en-US" dirty="0">
                <a:solidFill>
                  <a:srgbClr val="000000"/>
                </a:solidFill>
                <a:latin typeface="Times New Roman"/>
                <a:ea typeface="Times New Roman"/>
                <a:cs typeface="Times New Roman"/>
                <a:sym typeface="Times New Roman"/>
              </a:rPr>
              <a:t>※ </a:t>
            </a:r>
            <a:r>
              <a:rPr lang="en-SG" dirty="0" err="1" smtClean="0">
                <a:solidFill>
                  <a:srgbClr val="000000"/>
                </a:solidFill>
                <a:latin typeface="Times New Roman"/>
                <a:ea typeface="Times New Roman"/>
                <a:cs typeface="Times New Roman"/>
                <a:sym typeface="Times New Roman"/>
              </a:rPr>
              <a:t>Ngôn</a:t>
            </a:r>
            <a:r>
              <a:rPr lang="en-SG" dirty="0" smtClean="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ngữ</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chính</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của</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hội</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nghị</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sẽ</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là</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tiếng</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Hàn</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và</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tiếng</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Anh</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kèm</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theo</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phiên</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dịch</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tiếng</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Việt</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trong</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điều</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kiện</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cho</a:t>
            </a:r>
            <a:r>
              <a:rPr lang="en-SG" dirty="0">
                <a:solidFill>
                  <a:srgbClr val="000000"/>
                </a:solidFill>
                <a:latin typeface="Times New Roman"/>
                <a:ea typeface="Times New Roman"/>
                <a:cs typeface="Times New Roman"/>
                <a:sym typeface="Times New Roman"/>
              </a:rPr>
              <a:t> </a:t>
            </a:r>
            <a:r>
              <a:rPr lang="en-SG" dirty="0" err="1">
                <a:solidFill>
                  <a:srgbClr val="000000"/>
                </a:solidFill>
                <a:latin typeface="Times New Roman"/>
                <a:ea typeface="Times New Roman"/>
                <a:cs typeface="Times New Roman"/>
                <a:sym typeface="Times New Roman"/>
              </a:rPr>
              <a:t>phép</a:t>
            </a:r>
            <a:r>
              <a:rPr lang="en-SG" dirty="0" smtClean="0">
                <a:solidFill>
                  <a:srgbClr val="000000"/>
                </a:solidFill>
                <a:latin typeface="Times New Roman"/>
                <a:ea typeface="Times New Roman"/>
                <a:cs typeface="Times New Roman"/>
                <a:sym typeface="Times New Roman"/>
              </a:rPr>
              <a:t>.</a:t>
            </a:r>
            <a:endParaRPr lang="en-SG" dirty="0">
              <a:solidFill>
                <a:srgbClr val="000000"/>
              </a:solidFill>
              <a:latin typeface="Times New Roman"/>
              <a:ea typeface="Times New Roman"/>
              <a:cs typeface="Times New Roman"/>
              <a:sym typeface="Times New Roman"/>
            </a:endParaRPr>
          </a:p>
        </p:txBody>
      </p:sp>
      <p:grpSp>
        <p:nvGrpSpPr>
          <p:cNvPr id="8" name="Group 8"/>
          <p:cNvGrpSpPr/>
          <p:nvPr/>
        </p:nvGrpSpPr>
        <p:grpSpPr>
          <a:xfrm>
            <a:off x="793975" y="1920650"/>
            <a:ext cx="8027805" cy="6021162"/>
            <a:chOff x="0" y="0"/>
            <a:chExt cx="10703739" cy="8028216"/>
          </a:xfrm>
        </p:grpSpPr>
        <p:sp>
          <p:nvSpPr>
            <p:cNvPr id="9" name="Freeform 9"/>
            <p:cNvSpPr/>
            <p:nvPr/>
          </p:nvSpPr>
          <p:spPr>
            <a:xfrm>
              <a:off x="0" y="0"/>
              <a:ext cx="10703740" cy="8028178"/>
            </a:xfrm>
            <a:custGeom>
              <a:avLst/>
              <a:gdLst/>
              <a:ahLst/>
              <a:cxnLst/>
              <a:rect l="l" t="t" r="r" b="b"/>
              <a:pathLst>
                <a:path w="10703740" h="8028178">
                  <a:moveTo>
                    <a:pt x="0" y="0"/>
                  </a:moveTo>
                  <a:lnTo>
                    <a:pt x="10703740" y="0"/>
                  </a:lnTo>
                  <a:lnTo>
                    <a:pt x="10703740" y="8028178"/>
                  </a:lnTo>
                  <a:lnTo>
                    <a:pt x="0" y="8028178"/>
                  </a:lnTo>
                  <a:close/>
                </a:path>
              </a:pathLst>
            </a:custGeom>
            <a:blipFill>
              <a:blip r:embed="rId4">
                <a:alphaModFix amt="0"/>
              </a:blip>
              <a:stretch>
                <a:fillRect l="-43729" r="-48735"/>
              </a:stretch>
            </a:blipFill>
            <a:ln w="28575" cap="sq">
              <a:solidFill>
                <a:srgbClr val="FF0000"/>
              </a:solidFill>
              <a:prstDash val="solid"/>
              <a:miter/>
            </a:ln>
          </p:spPr>
        </p:sp>
      </p:grpSp>
      <p:sp>
        <p:nvSpPr>
          <p:cNvPr id="10" name="AutoShape 10"/>
          <p:cNvSpPr/>
          <p:nvPr/>
        </p:nvSpPr>
        <p:spPr>
          <a:xfrm rot="2700000">
            <a:off x="3898649" y="864051"/>
            <a:ext cx="40415" cy="0"/>
          </a:xfrm>
          <a:prstGeom prst="line">
            <a:avLst/>
          </a:prstGeom>
          <a:ln w="19050" cap="rnd">
            <a:solidFill>
              <a:srgbClr val="156082"/>
            </a:solidFill>
            <a:prstDash val="solid"/>
            <a:headEnd type="none" w="sm" len="sm"/>
            <a:tailEnd type="none" w="sm" len="sm"/>
          </a:ln>
        </p:spPr>
      </p:sp>
      <p:grpSp>
        <p:nvGrpSpPr>
          <p:cNvPr id="11" name="Group 11"/>
          <p:cNvGrpSpPr/>
          <p:nvPr/>
        </p:nvGrpSpPr>
        <p:grpSpPr>
          <a:xfrm>
            <a:off x="3920900" y="1179376"/>
            <a:ext cx="1914525" cy="671874"/>
            <a:chOff x="0" y="0"/>
            <a:chExt cx="2552700" cy="895833"/>
          </a:xfrm>
        </p:grpSpPr>
        <p:sp>
          <p:nvSpPr>
            <p:cNvPr id="12" name="Freeform 12"/>
            <p:cNvSpPr/>
            <p:nvPr/>
          </p:nvSpPr>
          <p:spPr>
            <a:xfrm>
              <a:off x="0" y="0"/>
              <a:ext cx="2552700" cy="895858"/>
            </a:xfrm>
            <a:custGeom>
              <a:avLst/>
              <a:gdLst/>
              <a:ahLst/>
              <a:cxnLst/>
              <a:rect l="l" t="t" r="r" b="b"/>
              <a:pathLst>
                <a:path w="2552700" h="895858">
                  <a:moveTo>
                    <a:pt x="0" y="0"/>
                  </a:moveTo>
                  <a:lnTo>
                    <a:pt x="2552700" y="0"/>
                  </a:lnTo>
                  <a:lnTo>
                    <a:pt x="2552700" y="895858"/>
                  </a:lnTo>
                  <a:lnTo>
                    <a:pt x="0" y="895858"/>
                  </a:lnTo>
                  <a:close/>
                </a:path>
              </a:pathLst>
            </a:custGeom>
            <a:blipFill>
              <a:blip r:embed="rId4">
                <a:alphaModFix amt="0"/>
              </a:blip>
              <a:stretch>
                <a:fillRect t="-5523" b="-5520"/>
              </a:stretch>
            </a:blipFill>
            <a:ln w="28575" cap="sq">
              <a:solidFill>
                <a:srgbClr val="FF0000"/>
              </a:solidFill>
              <a:prstDash val="solid"/>
              <a:miter/>
            </a:ln>
          </p:spPr>
        </p:sp>
      </p:grpSp>
      <p:sp>
        <p:nvSpPr>
          <p:cNvPr id="13" name="AutoShape 13"/>
          <p:cNvSpPr/>
          <p:nvPr/>
        </p:nvSpPr>
        <p:spPr>
          <a:xfrm rot="2700000">
            <a:off x="3898649" y="864051"/>
            <a:ext cx="40415" cy="0"/>
          </a:xfrm>
          <a:prstGeom prst="line">
            <a:avLst/>
          </a:prstGeom>
          <a:ln w="19050" cap="rnd">
            <a:solidFill>
              <a:srgbClr val="156082"/>
            </a:solidFill>
            <a:prstDash val="solid"/>
            <a:headEnd type="none" w="sm" len="sm"/>
            <a:tailEnd type="none" w="sm" len="sm"/>
          </a:ln>
        </p:spPr>
      </p:sp>
      <p:grpSp>
        <p:nvGrpSpPr>
          <p:cNvPr id="14" name="Group 14"/>
          <p:cNvGrpSpPr/>
          <p:nvPr/>
        </p:nvGrpSpPr>
        <p:grpSpPr>
          <a:xfrm>
            <a:off x="9413405" y="1028700"/>
            <a:ext cx="2626195" cy="468269"/>
            <a:chOff x="0" y="0"/>
            <a:chExt cx="4147452" cy="624359"/>
          </a:xfrm>
        </p:grpSpPr>
        <p:sp>
          <p:nvSpPr>
            <p:cNvPr id="15" name="Freeform 15"/>
            <p:cNvSpPr/>
            <p:nvPr/>
          </p:nvSpPr>
          <p:spPr>
            <a:xfrm>
              <a:off x="0" y="0"/>
              <a:ext cx="4147439" cy="624371"/>
            </a:xfrm>
            <a:custGeom>
              <a:avLst/>
              <a:gdLst/>
              <a:ahLst/>
              <a:cxnLst/>
              <a:rect l="l" t="t" r="r" b="b"/>
              <a:pathLst>
                <a:path w="4147439" h="624371">
                  <a:moveTo>
                    <a:pt x="0" y="0"/>
                  </a:moveTo>
                  <a:lnTo>
                    <a:pt x="4147439" y="0"/>
                  </a:lnTo>
                  <a:lnTo>
                    <a:pt x="4147439" y="624371"/>
                  </a:lnTo>
                  <a:lnTo>
                    <a:pt x="0" y="624371"/>
                  </a:lnTo>
                  <a:close/>
                </a:path>
              </a:pathLst>
            </a:custGeom>
            <a:blipFill>
              <a:blip r:embed="rId4">
                <a:alphaModFix amt="0"/>
              </a:blip>
              <a:stretch>
                <a:fillRect t="-80137" b="-78725"/>
              </a:stretch>
            </a:blipFill>
            <a:ln cap="sq">
              <a:noFill/>
              <a:prstDash val="solid"/>
              <a:miter/>
            </a:ln>
          </p:spPr>
        </p:sp>
        <p:sp>
          <p:nvSpPr>
            <p:cNvPr id="16" name="TextBox 16"/>
            <p:cNvSpPr txBox="1"/>
            <p:nvPr/>
          </p:nvSpPr>
          <p:spPr>
            <a:xfrm>
              <a:off x="0" y="-9525"/>
              <a:ext cx="4147452" cy="633884"/>
            </a:xfrm>
            <a:prstGeom prst="rect">
              <a:avLst/>
            </a:prstGeom>
          </p:spPr>
          <p:txBody>
            <a:bodyPr lIns="50800" tIns="50800" rIns="50800" bIns="50800" rtlCol="0" anchor="t"/>
            <a:lstStyle/>
            <a:p>
              <a:pPr algn="l">
                <a:lnSpc>
                  <a:spcPts val="2520"/>
                </a:lnSpc>
              </a:pPr>
              <a:r>
                <a:rPr lang="en-US" sz="2100" b="1" dirty="0" err="1" smtClean="0">
                  <a:solidFill>
                    <a:srgbClr val="000000"/>
                  </a:solidFill>
                  <a:latin typeface="+mj-lt"/>
                  <a:ea typeface="Aptos Bold"/>
                  <a:cs typeface="Times New Roman" panose="02020603050405020304" pitchFamily="18" charset="0"/>
                  <a:sym typeface="Aptos Bold"/>
                </a:rPr>
                <a:t>Nội</a:t>
              </a:r>
              <a:r>
                <a:rPr lang="en-US" sz="2100" b="1" dirty="0" smtClean="0">
                  <a:solidFill>
                    <a:srgbClr val="000000"/>
                  </a:solidFill>
                  <a:latin typeface="+mj-lt"/>
                  <a:ea typeface="Aptos Bold"/>
                  <a:cs typeface="Times New Roman" panose="02020603050405020304" pitchFamily="18" charset="0"/>
                  <a:sym typeface="Aptos Bold"/>
                </a:rPr>
                <a:t> dung </a:t>
              </a:r>
              <a:r>
                <a:rPr lang="en-US" sz="2100" b="1" dirty="0" err="1" smtClean="0">
                  <a:solidFill>
                    <a:srgbClr val="000000"/>
                  </a:solidFill>
                  <a:latin typeface="+mj-lt"/>
                  <a:ea typeface="Aptos Bold"/>
                  <a:cs typeface="Times New Roman" panose="02020603050405020304" pitchFamily="18" charset="0"/>
                  <a:sym typeface="Aptos Bold"/>
                </a:rPr>
                <a:t>chương</a:t>
              </a:r>
              <a:r>
                <a:rPr lang="en-US" sz="2100" b="1" dirty="0" smtClean="0">
                  <a:solidFill>
                    <a:srgbClr val="000000"/>
                  </a:solidFill>
                  <a:latin typeface="+mj-lt"/>
                  <a:ea typeface="Aptos Bold"/>
                  <a:cs typeface="Times New Roman" panose="02020603050405020304" pitchFamily="18" charset="0"/>
                  <a:sym typeface="Aptos Bold"/>
                </a:rPr>
                <a:t> </a:t>
              </a:r>
              <a:r>
                <a:rPr lang="en-US" sz="2100" b="1" dirty="0" err="1" smtClean="0">
                  <a:solidFill>
                    <a:srgbClr val="000000"/>
                  </a:solidFill>
                  <a:latin typeface="+mj-lt"/>
                  <a:ea typeface="Aptos Bold"/>
                  <a:cs typeface="Times New Roman" panose="02020603050405020304" pitchFamily="18" charset="0"/>
                  <a:sym typeface="Aptos Bold"/>
                </a:rPr>
                <a:t>trình</a:t>
              </a:r>
              <a:endParaRPr lang="en-US" sz="2100" b="1" dirty="0">
                <a:solidFill>
                  <a:srgbClr val="000000"/>
                </a:solidFill>
                <a:latin typeface="+mj-lt"/>
                <a:ea typeface="Aptos Bold"/>
                <a:cs typeface="Times New Roman" panose="02020603050405020304" pitchFamily="18" charset="0"/>
                <a:sym typeface="Aptos Bold"/>
              </a:endParaRPr>
            </a:p>
          </p:txBody>
        </p:sp>
      </p:grpSp>
      <p:sp>
        <p:nvSpPr>
          <p:cNvPr id="17" name="AutoShape 17"/>
          <p:cNvSpPr/>
          <p:nvPr/>
        </p:nvSpPr>
        <p:spPr>
          <a:xfrm flipV="1">
            <a:off x="5835425" y="1262835"/>
            <a:ext cx="3577981" cy="252479"/>
          </a:xfrm>
          <a:prstGeom prst="line">
            <a:avLst/>
          </a:prstGeom>
          <a:ln w="19050" cap="rnd">
            <a:solidFill>
              <a:srgbClr val="FF0000"/>
            </a:solidFill>
            <a:prstDash val="solid"/>
            <a:headEnd type="none" w="sm" len="sm"/>
            <a:tailEnd type="none" w="sm" len="sm"/>
          </a:ln>
        </p:spPr>
      </p:sp>
      <p:grpSp>
        <p:nvGrpSpPr>
          <p:cNvPr id="19" name="Group 19"/>
          <p:cNvGrpSpPr/>
          <p:nvPr/>
        </p:nvGrpSpPr>
        <p:grpSpPr>
          <a:xfrm>
            <a:off x="2181901" y="9040720"/>
            <a:ext cx="5147586" cy="700897"/>
            <a:chOff x="0" y="0"/>
            <a:chExt cx="6863448" cy="934529"/>
          </a:xfrm>
        </p:grpSpPr>
        <p:sp>
          <p:nvSpPr>
            <p:cNvPr id="20" name="Freeform 20"/>
            <p:cNvSpPr/>
            <p:nvPr/>
          </p:nvSpPr>
          <p:spPr>
            <a:xfrm>
              <a:off x="0" y="0"/>
              <a:ext cx="6863461" cy="934593"/>
            </a:xfrm>
            <a:custGeom>
              <a:avLst/>
              <a:gdLst/>
              <a:ahLst/>
              <a:cxnLst/>
              <a:rect l="l" t="t" r="r" b="b"/>
              <a:pathLst>
                <a:path w="6863461" h="934593">
                  <a:moveTo>
                    <a:pt x="0" y="0"/>
                  </a:moveTo>
                  <a:lnTo>
                    <a:pt x="6863461" y="0"/>
                  </a:lnTo>
                  <a:lnTo>
                    <a:pt x="6863461" y="934593"/>
                  </a:lnTo>
                  <a:lnTo>
                    <a:pt x="0" y="934593"/>
                  </a:lnTo>
                  <a:close/>
                </a:path>
              </a:pathLst>
            </a:custGeom>
            <a:blipFill>
              <a:blip r:embed="rId4">
                <a:alphaModFix amt="0"/>
              </a:blip>
              <a:stretch>
                <a:fillRect t="-93097" b="-93090"/>
              </a:stretch>
            </a:blipFill>
            <a:ln w="28575" cap="sq">
              <a:solidFill>
                <a:srgbClr val="FF0000"/>
              </a:solidFill>
              <a:prstDash val="solid"/>
              <a:miter/>
            </a:ln>
          </p:spPr>
        </p:sp>
      </p:grpSp>
      <p:sp>
        <p:nvSpPr>
          <p:cNvPr id="21" name="AutoShape 21"/>
          <p:cNvSpPr/>
          <p:nvPr/>
        </p:nvSpPr>
        <p:spPr>
          <a:xfrm>
            <a:off x="7300913" y="9376872"/>
            <a:ext cx="2112492" cy="149484"/>
          </a:xfrm>
          <a:prstGeom prst="line">
            <a:avLst/>
          </a:prstGeom>
          <a:ln w="19050" cap="rnd">
            <a:solidFill>
              <a:srgbClr val="FF0000"/>
            </a:solidFill>
            <a:prstDash val="solid"/>
            <a:headEnd type="none" w="sm" len="sm"/>
            <a:tailEnd type="none" w="sm" len="sm"/>
          </a:ln>
        </p:spPr>
      </p:sp>
      <p:grpSp>
        <p:nvGrpSpPr>
          <p:cNvPr id="22" name="Group 22"/>
          <p:cNvGrpSpPr/>
          <p:nvPr/>
        </p:nvGrpSpPr>
        <p:grpSpPr>
          <a:xfrm>
            <a:off x="793975" y="7996685"/>
            <a:ext cx="5147586" cy="700897"/>
            <a:chOff x="0" y="0"/>
            <a:chExt cx="6863448" cy="934529"/>
          </a:xfrm>
        </p:grpSpPr>
        <p:sp>
          <p:nvSpPr>
            <p:cNvPr id="23" name="Freeform 23"/>
            <p:cNvSpPr/>
            <p:nvPr/>
          </p:nvSpPr>
          <p:spPr>
            <a:xfrm>
              <a:off x="0" y="0"/>
              <a:ext cx="6863461" cy="934593"/>
            </a:xfrm>
            <a:custGeom>
              <a:avLst/>
              <a:gdLst/>
              <a:ahLst/>
              <a:cxnLst/>
              <a:rect l="l" t="t" r="r" b="b"/>
              <a:pathLst>
                <a:path w="6863461" h="934593">
                  <a:moveTo>
                    <a:pt x="0" y="0"/>
                  </a:moveTo>
                  <a:lnTo>
                    <a:pt x="6863461" y="0"/>
                  </a:lnTo>
                  <a:lnTo>
                    <a:pt x="6863461" y="934593"/>
                  </a:lnTo>
                  <a:lnTo>
                    <a:pt x="0" y="934593"/>
                  </a:lnTo>
                  <a:close/>
                </a:path>
              </a:pathLst>
            </a:custGeom>
            <a:blipFill>
              <a:blip r:embed="rId4">
                <a:alphaModFix amt="0"/>
              </a:blip>
              <a:stretch>
                <a:fillRect t="-93097" b="-93090"/>
              </a:stretch>
            </a:blipFill>
            <a:ln w="28575" cap="sq">
              <a:solidFill>
                <a:srgbClr val="FF0000"/>
              </a:solidFill>
              <a:prstDash val="solid"/>
              <a:miter/>
            </a:ln>
          </p:spPr>
        </p:sp>
      </p:grpSp>
      <p:sp>
        <p:nvSpPr>
          <p:cNvPr id="24" name="AutoShape 24"/>
          <p:cNvSpPr/>
          <p:nvPr/>
        </p:nvSpPr>
        <p:spPr>
          <a:xfrm>
            <a:off x="5941571" y="8411689"/>
            <a:ext cx="3471834" cy="711839"/>
          </a:xfrm>
          <a:prstGeom prst="line">
            <a:avLst/>
          </a:prstGeom>
          <a:ln w="19050" cap="rnd">
            <a:solidFill>
              <a:srgbClr val="FF0000"/>
            </a:solidFill>
            <a:prstDash val="solid"/>
            <a:headEnd type="none" w="sm" len="sm"/>
            <a:tailEnd type="none" w="sm" len="sm"/>
          </a:ln>
        </p:spPr>
      </p:sp>
      <p:sp>
        <p:nvSpPr>
          <p:cNvPr id="25" name="TextBox 25"/>
          <p:cNvSpPr txBox="1"/>
          <p:nvPr/>
        </p:nvSpPr>
        <p:spPr>
          <a:xfrm>
            <a:off x="15987393" y="368276"/>
            <a:ext cx="2300607" cy="409575"/>
          </a:xfrm>
          <a:prstGeom prst="rect">
            <a:avLst/>
          </a:prstGeom>
        </p:spPr>
        <p:txBody>
          <a:bodyPr lIns="0" tIns="0" rIns="0" bIns="0" rtlCol="0" anchor="t">
            <a:spAutoFit/>
          </a:bodyPr>
          <a:lstStyle/>
          <a:p>
            <a:pPr algn="l">
              <a:lnSpc>
                <a:spcPts val="3240"/>
              </a:lnSpc>
            </a:pPr>
            <a:r>
              <a:rPr lang="en-US" sz="2700" b="1">
                <a:solidFill>
                  <a:srgbClr val="000000"/>
                </a:solidFill>
                <a:latin typeface="Aptos Bold"/>
                <a:ea typeface="Aptos Bold"/>
                <a:cs typeface="Aptos Bold"/>
                <a:sym typeface="Aptos Bold"/>
              </a:rPr>
              <a:t>Vietnamese</a:t>
            </a:r>
          </a:p>
        </p:txBody>
      </p:sp>
      <p:sp>
        <p:nvSpPr>
          <p:cNvPr id="26" name="Freeform 27"/>
          <p:cNvSpPr/>
          <p:nvPr/>
        </p:nvSpPr>
        <p:spPr>
          <a:xfrm>
            <a:off x="9372600" y="9029700"/>
            <a:ext cx="11008160" cy="430503"/>
          </a:xfrm>
          <a:custGeom>
            <a:avLst/>
            <a:gdLst/>
            <a:ahLst/>
            <a:cxnLst/>
            <a:rect l="l" t="t" r="r" b="b"/>
            <a:pathLst>
              <a:path w="10147809" h="574004">
                <a:moveTo>
                  <a:pt x="0" y="0"/>
                </a:moveTo>
                <a:lnTo>
                  <a:pt x="10147809" y="0"/>
                </a:lnTo>
                <a:lnTo>
                  <a:pt x="10147809" y="574004"/>
                </a:lnTo>
                <a:lnTo>
                  <a:pt x="0" y="574004"/>
                </a:lnTo>
                <a:close/>
              </a:path>
            </a:pathLst>
          </a:custGeom>
          <a:blipFill>
            <a:blip r:embed="rId4">
              <a:alphaModFix amt="0"/>
            </a:blip>
            <a:stretch>
              <a:fillRect t="-363455" r="-19518" b="-359970"/>
            </a:stretch>
          </a:blipFill>
          <a:ln cap="sq">
            <a:noFill/>
            <a:prstDash val="solid"/>
            <a:miter/>
          </a:ln>
        </p:spPr>
        <p:txBody>
          <a:bodyPr/>
          <a:lstStyle/>
          <a:p>
            <a:r>
              <a:rPr lang="en-SG" dirty="0" smtClean="0"/>
              <a:t>To remove</a:t>
            </a:r>
            <a:endParaRPr lang="en-SG" dirty="0"/>
          </a:p>
        </p:txBody>
      </p:sp>
    </p:spTree>
    <p:extLst>
      <p:ext uri="{BB962C8B-B14F-4D97-AF65-F5344CB8AC3E}">
        <p14:creationId xmlns:p14="http://schemas.microsoft.com/office/powerpoint/2010/main" val="1162525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4774" y="263604"/>
            <a:ext cx="6032630" cy="4727496"/>
            <a:chOff x="0" y="0"/>
            <a:chExt cx="8043507" cy="6303328"/>
          </a:xfrm>
        </p:grpSpPr>
        <p:sp>
          <p:nvSpPr>
            <p:cNvPr id="3" name="Freeform 3"/>
            <p:cNvSpPr/>
            <p:nvPr/>
          </p:nvSpPr>
          <p:spPr>
            <a:xfrm>
              <a:off x="0" y="0"/>
              <a:ext cx="8043545" cy="6303264"/>
            </a:xfrm>
            <a:custGeom>
              <a:avLst/>
              <a:gdLst/>
              <a:ahLst/>
              <a:cxnLst/>
              <a:rect l="l" t="t" r="r" b="b"/>
              <a:pathLst>
                <a:path w="8043545" h="6303264">
                  <a:moveTo>
                    <a:pt x="0" y="0"/>
                  </a:moveTo>
                  <a:lnTo>
                    <a:pt x="8043545" y="0"/>
                  </a:lnTo>
                  <a:lnTo>
                    <a:pt x="8043545" y="6303264"/>
                  </a:lnTo>
                  <a:lnTo>
                    <a:pt x="0" y="6303264"/>
                  </a:lnTo>
                  <a:lnTo>
                    <a:pt x="0" y="0"/>
                  </a:lnTo>
                  <a:close/>
                </a:path>
              </a:pathLst>
            </a:custGeom>
            <a:blipFill>
              <a:blip r:embed="rId2"/>
              <a:stretch>
                <a:fillRect b="-1"/>
              </a:stretch>
            </a:blipFill>
          </p:spPr>
        </p:sp>
      </p:grpSp>
      <p:grpSp>
        <p:nvGrpSpPr>
          <p:cNvPr id="4" name="Group 4"/>
          <p:cNvGrpSpPr/>
          <p:nvPr/>
        </p:nvGrpSpPr>
        <p:grpSpPr>
          <a:xfrm>
            <a:off x="554774" y="5143500"/>
            <a:ext cx="6063682" cy="4727496"/>
            <a:chOff x="0" y="0"/>
            <a:chExt cx="8084909" cy="6303328"/>
          </a:xfrm>
        </p:grpSpPr>
        <p:sp>
          <p:nvSpPr>
            <p:cNvPr id="5" name="Freeform 5"/>
            <p:cNvSpPr/>
            <p:nvPr/>
          </p:nvSpPr>
          <p:spPr>
            <a:xfrm>
              <a:off x="0" y="0"/>
              <a:ext cx="8084947" cy="6303391"/>
            </a:xfrm>
            <a:custGeom>
              <a:avLst/>
              <a:gdLst/>
              <a:ahLst/>
              <a:cxnLst/>
              <a:rect l="l" t="t" r="r" b="b"/>
              <a:pathLst>
                <a:path w="8084947" h="6303391">
                  <a:moveTo>
                    <a:pt x="0" y="0"/>
                  </a:moveTo>
                  <a:lnTo>
                    <a:pt x="8084947" y="0"/>
                  </a:lnTo>
                  <a:lnTo>
                    <a:pt x="8084947" y="6303391"/>
                  </a:lnTo>
                  <a:lnTo>
                    <a:pt x="0" y="6303391"/>
                  </a:lnTo>
                  <a:lnTo>
                    <a:pt x="0" y="0"/>
                  </a:lnTo>
                  <a:close/>
                </a:path>
              </a:pathLst>
            </a:custGeom>
            <a:blipFill>
              <a:blip r:embed="rId3"/>
              <a:stretch>
                <a:fillRect b="1"/>
              </a:stretch>
            </a:blipFill>
          </p:spPr>
        </p:sp>
      </p:grpSp>
      <p:sp>
        <p:nvSpPr>
          <p:cNvPr id="6" name="AutoShape 6"/>
          <p:cNvSpPr/>
          <p:nvPr/>
        </p:nvSpPr>
        <p:spPr>
          <a:xfrm flipH="1">
            <a:off x="6082575" y="1585767"/>
            <a:ext cx="7244997" cy="13005"/>
          </a:xfrm>
          <a:prstGeom prst="line">
            <a:avLst/>
          </a:prstGeom>
          <a:ln w="19050" cap="rnd">
            <a:solidFill>
              <a:srgbClr val="FF0000"/>
            </a:solidFill>
            <a:prstDash val="solid"/>
            <a:headEnd type="none" w="sm" len="sm"/>
            <a:tailEnd type="none" w="sm" len="sm"/>
          </a:ln>
        </p:spPr>
      </p:sp>
      <p:sp>
        <p:nvSpPr>
          <p:cNvPr id="7" name="Freeform 7"/>
          <p:cNvSpPr/>
          <p:nvPr/>
        </p:nvSpPr>
        <p:spPr>
          <a:xfrm>
            <a:off x="6994556" y="4566464"/>
            <a:ext cx="4127561" cy="4546299"/>
          </a:xfrm>
          <a:custGeom>
            <a:avLst/>
            <a:gdLst/>
            <a:ahLst/>
            <a:cxnLst/>
            <a:rect l="l" t="t" r="r" b="b"/>
            <a:pathLst>
              <a:path w="4127561" h="4546299">
                <a:moveTo>
                  <a:pt x="0" y="0"/>
                </a:moveTo>
                <a:lnTo>
                  <a:pt x="4127562" y="0"/>
                </a:lnTo>
                <a:lnTo>
                  <a:pt x="4127562" y="4546299"/>
                </a:lnTo>
                <a:lnTo>
                  <a:pt x="0" y="4546299"/>
                </a:lnTo>
                <a:lnTo>
                  <a:pt x="0" y="0"/>
                </a:lnTo>
                <a:close/>
              </a:path>
            </a:pathLst>
          </a:custGeom>
          <a:blipFill>
            <a:blip r:embed="rId4"/>
            <a:stretch>
              <a:fillRect/>
            </a:stretch>
          </a:blipFill>
        </p:spPr>
      </p:sp>
      <p:sp>
        <p:nvSpPr>
          <p:cNvPr id="8" name="Freeform 8"/>
          <p:cNvSpPr/>
          <p:nvPr/>
        </p:nvSpPr>
        <p:spPr>
          <a:xfrm>
            <a:off x="11900657" y="6334687"/>
            <a:ext cx="2034018" cy="2239655"/>
          </a:xfrm>
          <a:custGeom>
            <a:avLst/>
            <a:gdLst/>
            <a:ahLst/>
            <a:cxnLst/>
            <a:rect l="l" t="t" r="r" b="b"/>
            <a:pathLst>
              <a:path w="2034018" h="2239655">
                <a:moveTo>
                  <a:pt x="0" y="0"/>
                </a:moveTo>
                <a:lnTo>
                  <a:pt x="2034018" y="0"/>
                </a:lnTo>
                <a:lnTo>
                  <a:pt x="2034018" y="2239654"/>
                </a:lnTo>
                <a:lnTo>
                  <a:pt x="0" y="2239654"/>
                </a:lnTo>
                <a:lnTo>
                  <a:pt x="0" y="0"/>
                </a:lnTo>
                <a:close/>
              </a:path>
            </a:pathLst>
          </a:custGeom>
          <a:blipFill>
            <a:blip r:embed="rId5"/>
            <a:stretch>
              <a:fillRect l="-84179" t="-11467" r="-78742" b="-17474"/>
            </a:stretch>
          </a:blipFill>
        </p:spPr>
      </p:sp>
      <p:grpSp>
        <p:nvGrpSpPr>
          <p:cNvPr id="9" name="Group 9"/>
          <p:cNvGrpSpPr/>
          <p:nvPr/>
        </p:nvGrpSpPr>
        <p:grpSpPr>
          <a:xfrm>
            <a:off x="13327572" y="2235111"/>
            <a:ext cx="2052913" cy="430523"/>
            <a:chOff x="0" y="0"/>
            <a:chExt cx="2737217" cy="574030"/>
          </a:xfrm>
        </p:grpSpPr>
        <p:sp>
          <p:nvSpPr>
            <p:cNvPr id="10" name="Freeform 10"/>
            <p:cNvSpPr/>
            <p:nvPr/>
          </p:nvSpPr>
          <p:spPr>
            <a:xfrm>
              <a:off x="0" y="0"/>
              <a:ext cx="2737208" cy="574004"/>
            </a:xfrm>
            <a:custGeom>
              <a:avLst/>
              <a:gdLst/>
              <a:ahLst/>
              <a:cxnLst/>
              <a:rect l="l" t="t" r="r" b="b"/>
              <a:pathLst>
                <a:path w="2737208" h="574004">
                  <a:moveTo>
                    <a:pt x="0" y="0"/>
                  </a:moveTo>
                  <a:lnTo>
                    <a:pt x="2737208" y="0"/>
                  </a:lnTo>
                  <a:lnTo>
                    <a:pt x="2737208" y="574004"/>
                  </a:lnTo>
                  <a:lnTo>
                    <a:pt x="0" y="574004"/>
                  </a:lnTo>
                  <a:close/>
                </a:path>
              </a:pathLst>
            </a:custGeom>
            <a:blipFill>
              <a:blip r:embed="rId6">
                <a:alphaModFix amt="0"/>
              </a:blip>
              <a:stretch>
                <a:fillRect t="-363455" r="-343098" b="-359970"/>
              </a:stretch>
            </a:blipFill>
            <a:ln cap="sq">
              <a:noFill/>
              <a:prstDash val="solid"/>
              <a:miter/>
            </a:ln>
          </p:spPr>
        </p:sp>
        <p:sp>
          <p:nvSpPr>
            <p:cNvPr id="11" name="TextBox 11"/>
            <p:cNvSpPr txBox="1"/>
            <p:nvPr/>
          </p:nvSpPr>
          <p:spPr>
            <a:xfrm>
              <a:off x="0" y="-19050"/>
              <a:ext cx="2737217" cy="593080"/>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1st Prize (1 winner)</a:t>
              </a:r>
            </a:p>
          </p:txBody>
        </p:sp>
      </p:grpSp>
      <p:grpSp>
        <p:nvGrpSpPr>
          <p:cNvPr id="12" name="Group 12"/>
          <p:cNvGrpSpPr/>
          <p:nvPr/>
        </p:nvGrpSpPr>
        <p:grpSpPr>
          <a:xfrm>
            <a:off x="11820842" y="5861302"/>
            <a:ext cx="2193648" cy="430523"/>
            <a:chOff x="0" y="0"/>
            <a:chExt cx="2924864" cy="574030"/>
          </a:xfrm>
        </p:grpSpPr>
        <p:sp>
          <p:nvSpPr>
            <p:cNvPr id="13" name="Freeform 13"/>
            <p:cNvSpPr/>
            <p:nvPr/>
          </p:nvSpPr>
          <p:spPr>
            <a:xfrm>
              <a:off x="0" y="0"/>
              <a:ext cx="2924854" cy="574004"/>
            </a:xfrm>
            <a:custGeom>
              <a:avLst/>
              <a:gdLst/>
              <a:ahLst/>
              <a:cxnLst/>
              <a:rect l="l" t="t" r="r" b="b"/>
              <a:pathLst>
                <a:path w="2924854" h="574004">
                  <a:moveTo>
                    <a:pt x="0" y="0"/>
                  </a:moveTo>
                  <a:lnTo>
                    <a:pt x="2924854" y="0"/>
                  </a:lnTo>
                  <a:lnTo>
                    <a:pt x="2924854" y="574004"/>
                  </a:lnTo>
                  <a:lnTo>
                    <a:pt x="0" y="574004"/>
                  </a:lnTo>
                  <a:close/>
                </a:path>
              </a:pathLst>
            </a:custGeom>
            <a:blipFill>
              <a:blip r:embed="rId6">
                <a:alphaModFix amt="0"/>
              </a:blip>
              <a:stretch>
                <a:fillRect t="-363455" r="-314671" b="-359970"/>
              </a:stretch>
            </a:blipFill>
            <a:ln cap="sq">
              <a:noFill/>
              <a:prstDash val="solid"/>
              <a:miter/>
            </a:ln>
          </p:spPr>
        </p:sp>
        <p:sp>
          <p:nvSpPr>
            <p:cNvPr id="14" name="TextBox 14"/>
            <p:cNvSpPr txBox="1"/>
            <p:nvPr/>
          </p:nvSpPr>
          <p:spPr>
            <a:xfrm>
              <a:off x="0" y="-19050"/>
              <a:ext cx="2924864" cy="593080"/>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2nd Prize (3 winners)</a:t>
              </a:r>
            </a:p>
          </p:txBody>
        </p:sp>
      </p:grpSp>
      <p:grpSp>
        <p:nvGrpSpPr>
          <p:cNvPr id="15" name="Group 15"/>
          <p:cNvGrpSpPr/>
          <p:nvPr/>
        </p:nvGrpSpPr>
        <p:grpSpPr>
          <a:xfrm>
            <a:off x="15015128" y="5861302"/>
            <a:ext cx="2367165" cy="430523"/>
            <a:chOff x="0" y="0"/>
            <a:chExt cx="3156220" cy="574030"/>
          </a:xfrm>
        </p:grpSpPr>
        <p:sp>
          <p:nvSpPr>
            <p:cNvPr id="16" name="Freeform 16"/>
            <p:cNvSpPr/>
            <p:nvPr/>
          </p:nvSpPr>
          <p:spPr>
            <a:xfrm>
              <a:off x="0" y="0"/>
              <a:ext cx="3156210" cy="574004"/>
            </a:xfrm>
            <a:custGeom>
              <a:avLst/>
              <a:gdLst/>
              <a:ahLst/>
              <a:cxnLst/>
              <a:rect l="l" t="t" r="r" b="b"/>
              <a:pathLst>
                <a:path w="3156210" h="574004">
                  <a:moveTo>
                    <a:pt x="0" y="0"/>
                  </a:moveTo>
                  <a:lnTo>
                    <a:pt x="3156210" y="0"/>
                  </a:lnTo>
                  <a:lnTo>
                    <a:pt x="3156210" y="574004"/>
                  </a:lnTo>
                  <a:lnTo>
                    <a:pt x="0" y="574004"/>
                  </a:lnTo>
                  <a:close/>
                </a:path>
              </a:pathLst>
            </a:custGeom>
            <a:blipFill>
              <a:blip r:embed="rId6">
                <a:alphaModFix amt="0"/>
              </a:blip>
              <a:stretch>
                <a:fillRect t="-363455" r="-284275" b="-359970"/>
              </a:stretch>
            </a:blipFill>
            <a:ln cap="sq">
              <a:noFill/>
              <a:prstDash val="solid"/>
              <a:miter/>
            </a:ln>
          </p:spPr>
        </p:sp>
        <p:sp>
          <p:nvSpPr>
            <p:cNvPr id="17" name="TextBox 17"/>
            <p:cNvSpPr txBox="1"/>
            <p:nvPr/>
          </p:nvSpPr>
          <p:spPr>
            <a:xfrm>
              <a:off x="0" y="-19050"/>
              <a:ext cx="3156220" cy="593080"/>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3rd Prize (10 winners)</a:t>
              </a:r>
            </a:p>
          </p:txBody>
        </p:sp>
      </p:grpSp>
      <p:sp>
        <p:nvSpPr>
          <p:cNvPr id="18" name="Freeform 18"/>
          <p:cNvSpPr/>
          <p:nvPr/>
        </p:nvSpPr>
        <p:spPr>
          <a:xfrm>
            <a:off x="13227299" y="2779934"/>
            <a:ext cx="2065445" cy="2309440"/>
          </a:xfrm>
          <a:custGeom>
            <a:avLst/>
            <a:gdLst/>
            <a:ahLst/>
            <a:cxnLst/>
            <a:rect l="l" t="t" r="r" b="b"/>
            <a:pathLst>
              <a:path w="2065445" h="2309440">
                <a:moveTo>
                  <a:pt x="0" y="0"/>
                </a:moveTo>
                <a:lnTo>
                  <a:pt x="2065446" y="0"/>
                </a:lnTo>
                <a:lnTo>
                  <a:pt x="2065446" y="2309440"/>
                </a:lnTo>
                <a:lnTo>
                  <a:pt x="0" y="2309440"/>
                </a:lnTo>
                <a:lnTo>
                  <a:pt x="0" y="0"/>
                </a:lnTo>
                <a:close/>
              </a:path>
            </a:pathLst>
          </a:custGeom>
          <a:blipFill>
            <a:blip r:embed="rId7"/>
            <a:stretch>
              <a:fillRect l="-48711" t="-16247" r="-109469" b="-8440"/>
            </a:stretch>
          </a:blipFill>
        </p:spPr>
      </p:sp>
      <p:grpSp>
        <p:nvGrpSpPr>
          <p:cNvPr id="19" name="Group 19"/>
          <p:cNvGrpSpPr/>
          <p:nvPr/>
        </p:nvGrpSpPr>
        <p:grpSpPr>
          <a:xfrm>
            <a:off x="12961753" y="5202179"/>
            <a:ext cx="2801961" cy="430523"/>
            <a:chOff x="0" y="0"/>
            <a:chExt cx="3735948" cy="574030"/>
          </a:xfrm>
        </p:grpSpPr>
        <p:sp>
          <p:nvSpPr>
            <p:cNvPr id="20" name="Freeform 20"/>
            <p:cNvSpPr/>
            <p:nvPr/>
          </p:nvSpPr>
          <p:spPr>
            <a:xfrm>
              <a:off x="0" y="0"/>
              <a:ext cx="3735937" cy="574004"/>
            </a:xfrm>
            <a:custGeom>
              <a:avLst/>
              <a:gdLst/>
              <a:ahLst/>
              <a:cxnLst/>
              <a:rect l="l" t="t" r="r" b="b"/>
              <a:pathLst>
                <a:path w="3735937" h="574004">
                  <a:moveTo>
                    <a:pt x="0" y="0"/>
                  </a:moveTo>
                  <a:lnTo>
                    <a:pt x="3735937" y="0"/>
                  </a:lnTo>
                  <a:lnTo>
                    <a:pt x="3735937" y="574004"/>
                  </a:lnTo>
                  <a:lnTo>
                    <a:pt x="0" y="574004"/>
                  </a:lnTo>
                  <a:close/>
                </a:path>
              </a:pathLst>
            </a:custGeom>
            <a:blipFill>
              <a:blip r:embed="rId6">
                <a:alphaModFix amt="0"/>
              </a:blip>
              <a:stretch>
                <a:fillRect t="-363455" r="-224645" b="-359970"/>
              </a:stretch>
            </a:blipFill>
            <a:ln cap="sq">
              <a:noFill/>
              <a:prstDash val="solid"/>
              <a:miter/>
            </a:ln>
          </p:spPr>
        </p:sp>
        <p:sp>
          <p:nvSpPr>
            <p:cNvPr id="21" name="TextBox 21"/>
            <p:cNvSpPr txBox="1"/>
            <p:nvPr/>
          </p:nvSpPr>
          <p:spPr>
            <a:xfrm>
              <a:off x="0" y="-19050"/>
              <a:ext cx="3735948" cy="593080"/>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Samsung Galaxy S26 256GB</a:t>
              </a:r>
            </a:p>
          </p:txBody>
        </p:sp>
      </p:grpSp>
      <p:sp>
        <p:nvSpPr>
          <p:cNvPr id="22" name="Freeform 22"/>
          <p:cNvSpPr/>
          <p:nvPr/>
        </p:nvSpPr>
        <p:spPr>
          <a:xfrm>
            <a:off x="15169464" y="6415746"/>
            <a:ext cx="2058492" cy="2077536"/>
          </a:xfrm>
          <a:custGeom>
            <a:avLst/>
            <a:gdLst/>
            <a:ahLst/>
            <a:cxnLst/>
            <a:rect l="l" t="t" r="r" b="b"/>
            <a:pathLst>
              <a:path w="2058492" h="2077536">
                <a:moveTo>
                  <a:pt x="0" y="0"/>
                </a:moveTo>
                <a:lnTo>
                  <a:pt x="2058493" y="0"/>
                </a:lnTo>
                <a:lnTo>
                  <a:pt x="2058493" y="2077536"/>
                </a:lnTo>
                <a:lnTo>
                  <a:pt x="0" y="2077536"/>
                </a:lnTo>
                <a:lnTo>
                  <a:pt x="0" y="0"/>
                </a:lnTo>
                <a:close/>
              </a:path>
            </a:pathLst>
          </a:custGeom>
          <a:blipFill>
            <a:blip r:embed="rId8"/>
            <a:stretch>
              <a:fillRect/>
            </a:stretch>
          </a:blipFill>
        </p:spPr>
      </p:sp>
      <p:grpSp>
        <p:nvGrpSpPr>
          <p:cNvPr id="23" name="Group 23"/>
          <p:cNvGrpSpPr/>
          <p:nvPr/>
        </p:nvGrpSpPr>
        <p:grpSpPr>
          <a:xfrm>
            <a:off x="11700379" y="8617204"/>
            <a:ext cx="2434574" cy="430523"/>
            <a:chOff x="0" y="0"/>
            <a:chExt cx="3246099" cy="574030"/>
          </a:xfrm>
        </p:grpSpPr>
        <p:sp>
          <p:nvSpPr>
            <p:cNvPr id="24" name="Freeform 24"/>
            <p:cNvSpPr/>
            <p:nvPr/>
          </p:nvSpPr>
          <p:spPr>
            <a:xfrm>
              <a:off x="0" y="0"/>
              <a:ext cx="3246089" cy="574004"/>
            </a:xfrm>
            <a:custGeom>
              <a:avLst/>
              <a:gdLst/>
              <a:ahLst/>
              <a:cxnLst/>
              <a:rect l="l" t="t" r="r" b="b"/>
              <a:pathLst>
                <a:path w="3246089" h="574004">
                  <a:moveTo>
                    <a:pt x="0" y="0"/>
                  </a:moveTo>
                  <a:lnTo>
                    <a:pt x="3246089" y="0"/>
                  </a:lnTo>
                  <a:lnTo>
                    <a:pt x="3246089" y="574004"/>
                  </a:lnTo>
                  <a:lnTo>
                    <a:pt x="0" y="574004"/>
                  </a:lnTo>
                  <a:close/>
                </a:path>
              </a:pathLst>
            </a:custGeom>
            <a:blipFill>
              <a:blip r:embed="rId6">
                <a:alphaModFix amt="0"/>
              </a:blip>
              <a:stretch>
                <a:fillRect t="-363455" r="-273635" b="-359970"/>
              </a:stretch>
            </a:blipFill>
            <a:ln cap="sq">
              <a:noFill/>
              <a:prstDash val="solid"/>
              <a:miter/>
            </a:ln>
          </p:spPr>
        </p:sp>
        <p:sp>
          <p:nvSpPr>
            <p:cNvPr id="25" name="TextBox 25"/>
            <p:cNvSpPr txBox="1"/>
            <p:nvPr/>
          </p:nvSpPr>
          <p:spPr>
            <a:xfrm>
              <a:off x="0" y="-19050"/>
              <a:ext cx="3246099" cy="593080"/>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Samsung Galaxy Buds4</a:t>
              </a:r>
            </a:p>
          </p:txBody>
        </p:sp>
      </p:grpSp>
      <p:grpSp>
        <p:nvGrpSpPr>
          <p:cNvPr id="26" name="Group 26"/>
          <p:cNvGrpSpPr/>
          <p:nvPr/>
        </p:nvGrpSpPr>
        <p:grpSpPr>
          <a:xfrm>
            <a:off x="14858853" y="8617204"/>
            <a:ext cx="2679715" cy="430523"/>
            <a:chOff x="0" y="0"/>
            <a:chExt cx="3572954" cy="574030"/>
          </a:xfrm>
        </p:grpSpPr>
        <p:sp>
          <p:nvSpPr>
            <p:cNvPr id="27" name="Freeform 27"/>
            <p:cNvSpPr/>
            <p:nvPr/>
          </p:nvSpPr>
          <p:spPr>
            <a:xfrm>
              <a:off x="0" y="0"/>
              <a:ext cx="3572943" cy="574004"/>
            </a:xfrm>
            <a:custGeom>
              <a:avLst/>
              <a:gdLst/>
              <a:ahLst/>
              <a:cxnLst/>
              <a:rect l="l" t="t" r="r" b="b"/>
              <a:pathLst>
                <a:path w="3572943" h="574004">
                  <a:moveTo>
                    <a:pt x="0" y="0"/>
                  </a:moveTo>
                  <a:lnTo>
                    <a:pt x="3572943" y="0"/>
                  </a:lnTo>
                  <a:lnTo>
                    <a:pt x="3572943" y="574004"/>
                  </a:lnTo>
                  <a:lnTo>
                    <a:pt x="0" y="574004"/>
                  </a:lnTo>
                  <a:close/>
                </a:path>
              </a:pathLst>
            </a:custGeom>
            <a:blipFill>
              <a:blip r:embed="rId6">
                <a:alphaModFix amt="0"/>
              </a:blip>
              <a:stretch>
                <a:fillRect t="-363455" r="-239455" b="-359970"/>
              </a:stretch>
            </a:blipFill>
            <a:ln cap="sq">
              <a:noFill/>
              <a:prstDash val="solid"/>
              <a:miter/>
            </a:ln>
          </p:spPr>
        </p:sp>
        <p:sp>
          <p:nvSpPr>
            <p:cNvPr id="28" name="TextBox 28"/>
            <p:cNvSpPr txBox="1"/>
            <p:nvPr/>
          </p:nvSpPr>
          <p:spPr>
            <a:xfrm>
              <a:off x="0" y="-19050"/>
              <a:ext cx="3572954" cy="593080"/>
            </a:xfrm>
            <a:prstGeom prst="rect">
              <a:avLst/>
            </a:prstGeom>
          </p:spPr>
          <p:txBody>
            <a:bodyPr lIns="50800" tIns="50800" rIns="50800" bIns="50800" rtlCol="0" anchor="t"/>
            <a:lstStyle/>
            <a:p>
              <a:pPr algn="l">
                <a:lnSpc>
                  <a:spcPts val="2160"/>
                </a:lnSpc>
              </a:pPr>
              <a:r>
                <a:rPr lang="en-US" sz="1800">
                  <a:solidFill>
                    <a:srgbClr val="000000"/>
                  </a:solidFill>
                  <a:latin typeface="Times New Roman"/>
                  <a:ea typeface="Times New Roman"/>
                  <a:cs typeface="Times New Roman"/>
                  <a:sym typeface="Times New Roman"/>
                </a:rPr>
                <a:t>VinID Vouchers (1M VND)</a:t>
              </a:r>
            </a:p>
          </p:txBody>
        </p:sp>
      </p:grpSp>
      <p:grpSp>
        <p:nvGrpSpPr>
          <p:cNvPr id="29" name="Group 29"/>
          <p:cNvGrpSpPr/>
          <p:nvPr/>
        </p:nvGrpSpPr>
        <p:grpSpPr>
          <a:xfrm>
            <a:off x="2403430" y="590960"/>
            <a:ext cx="2425673" cy="671874"/>
            <a:chOff x="0" y="0"/>
            <a:chExt cx="3234230" cy="895833"/>
          </a:xfrm>
        </p:grpSpPr>
        <p:sp>
          <p:nvSpPr>
            <p:cNvPr id="30" name="Freeform 30"/>
            <p:cNvSpPr/>
            <p:nvPr/>
          </p:nvSpPr>
          <p:spPr>
            <a:xfrm>
              <a:off x="0" y="0"/>
              <a:ext cx="3234230" cy="895858"/>
            </a:xfrm>
            <a:custGeom>
              <a:avLst/>
              <a:gdLst/>
              <a:ahLst/>
              <a:cxnLst/>
              <a:rect l="l" t="t" r="r" b="b"/>
              <a:pathLst>
                <a:path w="3234230" h="895858">
                  <a:moveTo>
                    <a:pt x="0" y="0"/>
                  </a:moveTo>
                  <a:lnTo>
                    <a:pt x="3234230" y="0"/>
                  </a:lnTo>
                  <a:lnTo>
                    <a:pt x="3234230" y="895858"/>
                  </a:lnTo>
                  <a:lnTo>
                    <a:pt x="0" y="895858"/>
                  </a:lnTo>
                  <a:close/>
                </a:path>
              </a:pathLst>
            </a:custGeom>
            <a:blipFill>
              <a:blip r:embed="rId6">
                <a:alphaModFix amt="0"/>
              </a:blip>
              <a:stretch>
                <a:fillRect t="-5523" r="21072" b="-5520"/>
              </a:stretch>
            </a:blipFill>
            <a:ln w="28575" cap="sq">
              <a:solidFill>
                <a:srgbClr val="FF0000"/>
              </a:solidFill>
              <a:prstDash val="solid"/>
              <a:miter/>
            </a:ln>
          </p:spPr>
        </p:sp>
      </p:grpSp>
      <p:sp>
        <p:nvSpPr>
          <p:cNvPr id="31" name="AutoShape 31"/>
          <p:cNvSpPr/>
          <p:nvPr/>
        </p:nvSpPr>
        <p:spPr>
          <a:xfrm>
            <a:off x="4829103" y="926897"/>
            <a:ext cx="8498469" cy="0"/>
          </a:xfrm>
          <a:prstGeom prst="line">
            <a:avLst/>
          </a:prstGeom>
          <a:ln w="19050" cap="rnd">
            <a:solidFill>
              <a:srgbClr val="FF0000"/>
            </a:solidFill>
            <a:prstDash val="solid"/>
            <a:headEnd type="none" w="sm" len="sm"/>
            <a:tailEnd type="none" w="sm" len="sm"/>
          </a:ln>
        </p:spPr>
      </p:sp>
      <p:grpSp>
        <p:nvGrpSpPr>
          <p:cNvPr id="32" name="Group 32"/>
          <p:cNvGrpSpPr/>
          <p:nvPr/>
        </p:nvGrpSpPr>
        <p:grpSpPr>
          <a:xfrm>
            <a:off x="13327572" y="711636"/>
            <a:ext cx="3588828" cy="430523"/>
            <a:chOff x="0" y="0"/>
            <a:chExt cx="2890588" cy="574030"/>
          </a:xfrm>
        </p:grpSpPr>
        <p:sp>
          <p:nvSpPr>
            <p:cNvPr id="33" name="Freeform 33"/>
            <p:cNvSpPr/>
            <p:nvPr/>
          </p:nvSpPr>
          <p:spPr>
            <a:xfrm>
              <a:off x="0" y="0"/>
              <a:ext cx="2890578" cy="574004"/>
            </a:xfrm>
            <a:custGeom>
              <a:avLst/>
              <a:gdLst/>
              <a:ahLst/>
              <a:cxnLst/>
              <a:rect l="l" t="t" r="r" b="b"/>
              <a:pathLst>
                <a:path w="2890578" h="574004">
                  <a:moveTo>
                    <a:pt x="0" y="0"/>
                  </a:moveTo>
                  <a:lnTo>
                    <a:pt x="2890578" y="0"/>
                  </a:lnTo>
                  <a:lnTo>
                    <a:pt x="2890578" y="574004"/>
                  </a:lnTo>
                  <a:lnTo>
                    <a:pt x="0" y="574004"/>
                  </a:lnTo>
                  <a:close/>
                </a:path>
              </a:pathLst>
            </a:custGeom>
            <a:blipFill>
              <a:blip r:embed="rId6">
                <a:alphaModFix amt="0"/>
              </a:blip>
              <a:stretch>
                <a:fillRect t="-363455" r="-319588" b="-359970"/>
              </a:stretch>
            </a:blipFill>
            <a:ln cap="sq">
              <a:noFill/>
              <a:prstDash val="solid"/>
              <a:miter/>
            </a:ln>
          </p:spPr>
        </p:sp>
        <p:sp>
          <p:nvSpPr>
            <p:cNvPr id="34" name="TextBox 34"/>
            <p:cNvSpPr txBox="1"/>
            <p:nvPr/>
          </p:nvSpPr>
          <p:spPr>
            <a:xfrm>
              <a:off x="0" y="-19050"/>
              <a:ext cx="2890588" cy="593080"/>
            </a:xfrm>
            <a:prstGeom prst="rect">
              <a:avLst/>
            </a:prstGeom>
          </p:spPr>
          <p:txBody>
            <a:bodyPr lIns="50800" tIns="50800" rIns="50800" bIns="50800" rtlCol="0" anchor="t"/>
            <a:lstStyle/>
            <a:p>
              <a:pPr algn="l">
                <a:lnSpc>
                  <a:spcPts val="2160"/>
                </a:lnSpc>
              </a:pPr>
              <a:r>
                <a:rPr lang="en-US" sz="1800" dirty="0" err="1" smtClean="0">
                  <a:solidFill>
                    <a:srgbClr val="000000"/>
                  </a:solidFill>
                  <a:latin typeface="Times New Roman"/>
                  <a:ea typeface="Times New Roman"/>
                  <a:cs typeface="Times New Roman"/>
                  <a:sym typeface="Times New Roman"/>
                </a:rPr>
                <a:t>Chương</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trình</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rút</a:t>
              </a:r>
              <a:r>
                <a:rPr lang="en-US" sz="1800" dirty="0" smtClean="0">
                  <a:solidFill>
                    <a:srgbClr val="000000"/>
                  </a:solidFill>
                  <a:latin typeface="Times New Roman"/>
                  <a:ea typeface="Times New Roman"/>
                  <a:cs typeface="Times New Roman"/>
                  <a:sym typeface="Times New Roman"/>
                </a:rPr>
                <a:t> </a:t>
              </a:r>
              <a:r>
                <a:rPr lang="en-US" sz="1800" dirty="0" err="1" smtClean="0">
                  <a:solidFill>
                    <a:srgbClr val="000000"/>
                  </a:solidFill>
                  <a:latin typeface="Times New Roman"/>
                  <a:ea typeface="Times New Roman"/>
                  <a:cs typeface="Times New Roman"/>
                  <a:sym typeface="Times New Roman"/>
                </a:rPr>
                <a:t>thăm</a:t>
              </a:r>
              <a:r>
                <a:rPr lang="en-US" sz="1800" dirty="0" smtClean="0">
                  <a:solidFill>
                    <a:srgbClr val="000000"/>
                  </a:solidFill>
                  <a:latin typeface="Times New Roman"/>
                  <a:ea typeface="Times New Roman"/>
                  <a:cs typeface="Times New Roman"/>
                  <a:sym typeface="Times New Roman"/>
                </a:rPr>
                <a:t> may </a:t>
              </a:r>
              <a:r>
                <a:rPr lang="en-US" sz="1800" dirty="0" err="1" smtClean="0">
                  <a:solidFill>
                    <a:srgbClr val="000000"/>
                  </a:solidFill>
                  <a:latin typeface="Times New Roman"/>
                  <a:ea typeface="Times New Roman"/>
                  <a:cs typeface="Times New Roman"/>
                  <a:sym typeface="Times New Roman"/>
                </a:rPr>
                <a:t>mắn</a:t>
              </a:r>
              <a:endParaRPr lang="en-US" sz="1800" dirty="0">
                <a:solidFill>
                  <a:srgbClr val="000000"/>
                </a:solidFill>
                <a:latin typeface="Times New Roman"/>
                <a:ea typeface="Times New Roman"/>
                <a:cs typeface="Times New Roman"/>
                <a:sym typeface="Times New Roman"/>
              </a:endParaRPr>
            </a:p>
          </p:txBody>
        </p:sp>
      </p:grpSp>
      <p:grpSp>
        <p:nvGrpSpPr>
          <p:cNvPr id="35" name="Group 35"/>
          <p:cNvGrpSpPr/>
          <p:nvPr/>
        </p:nvGrpSpPr>
        <p:grpSpPr>
          <a:xfrm>
            <a:off x="1145417" y="1262835"/>
            <a:ext cx="4937158" cy="671874"/>
            <a:chOff x="0" y="0"/>
            <a:chExt cx="6582878" cy="895833"/>
          </a:xfrm>
        </p:grpSpPr>
        <p:sp>
          <p:nvSpPr>
            <p:cNvPr id="36" name="Freeform 36"/>
            <p:cNvSpPr/>
            <p:nvPr/>
          </p:nvSpPr>
          <p:spPr>
            <a:xfrm>
              <a:off x="0" y="0"/>
              <a:ext cx="6582877" cy="895858"/>
            </a:xfrm>
            <a:custGeom>
              <a:avLst/>
              <a:gdLst/>
              <a:ahLst/>
              <a:cxnLst/>
              <a:rect l="l" t="t" r="r" b="b"/>
              <a:pathLst>
                <a:path w="6582877" h="895858">
                  <a:moveTo>
                    <a:pt x="0" y="0"/>
                  </a:moveTo>
                  <a:lnTo>
                    <a:pt x="6582877" y="0"/>
                  </a:lnTo>
                  <a:lnTo>
                    <a:pt x="6582877" y="895858"/>
                  </a:lnTo>
                  <a:lnTo>
                    <a:pt x="0" y="895858"/>
                  </a:lnTo>
                  <a:close/>
                </a:path>
              </a:pathLst>
            </a:custGeom>
            <a:blipFill>
              <a:blip r:embed="rId6">
                <a:alphaModFix amt="0"/>
              </a:blip>
              <a:stretch>
                <a:fillRect t="-5523" r="61222" b="-5520"/>
              </a:stretch>
            </a:blipFill>
            <a:ln w="28575" cap="sq">
              <a:solidFill>
                <a:srgbClr val="FF0000"/>
              </a:solidFill>
              <a:prstDash val="solid"/>
              <a:miter/>
            </a:ln>
          </p:spPr>
        </p:sp>
      </p:grpSp>
      <p:grpSp>
        <p:nvGrpSpPr>
          <p:cNvPr id="37" name="Group 37"/>
          <p:cNvGrpSpPr/>
          <p:nvPr/>
        </p:nvGrpSpPr>
        <p:grpSpPr>
          <a:xfrm>
            <a:off x="1147688" y="2016036"/>
            <a:ext cx="4934887" cy="2550427"/>
            <a:chOff x="0" y="0"/>
            <a:chExt cx="6805495" cy="3517187"/>
          </a:xfrm>
        </p:grpSpPr>
        <p:sp>
          <p:nvSpPr>
            <p:cNvPr id="38" name="Freeform 38"/>
            <p:cNvSpPr/>
            <p:nvPr/>
          </p:nvSpPr>
          <p:spPr>
            <a:xfrm>
              <a:off x="0" y="0"/>
              <a:ext cx="6805495" cy="3517212"/>
            </a:xfrm>
            <a:custGeom>
              <a:avLst/>
              <a:gdLst/>
              <a:ahLst/>
              <a:cxnLst/>
              <a:rect l="l" t="t" r="r" b="b"/>
              <a:pathLst>
                <a:path w="6805495" h="3517212">
                  <a:moveTo>
                    <a:pt x="0" y="0"/>
                  </a:moveTo>
                  <a:lnTo>
                    <a:pt x="6805495" y="0"/>
                  </a:lnTo>
                  <a:lnTo>
                    <a:pt x="6805495" y="3517212"/>
                  </a:lnTo>
                  <a:lnTo>
                    <a:pt x="0" y="3517212"/>
                  </a:lnTo>
                  <a:close/>
                </a:path>
              </a:pathLst>
            </a:custGeom>
            <a:blipFill>
              <a:blip r:embed="rId6">
                <a:alphaModFix amt="0"/>
              </a:blip>
              <a:stretch>
                <a:fillRect t="-1406" r="62490" b="73123"/>
              </a:stretch>
            </a:blipFill>
            <a:ln w="28575" cap="sq">
              <a:solidFill>
                <a:srgbClr val="FF0000"/>
              </a:solidFill>
              <a:prstDash val="solid"/>
              <a:miter/>
            </a:ln>
          </p:spPr>
        </p:sp>
      </p:grpSp>
      <p:sp>
        <p:nvSpPr>
          <p:cNvPr id="39" name="AutoShape 39"/>
          <p:cNvSpPr/>
          <p:nvPr/>
        </p:nvSpPr>
        <p:spPr>
          <a:xfrm flipH="1">
            <a:off x="6081752" y="3207142"/>
            <a:ext cx="7088153" cy="0"/>
          </a:xfrm>
          <a:prstGeom prst="line">
            <a:avLst/>
          </a:prstGeom>
          <a:ln w="19050" cap="rnd">
            <a:solidFill>
              <a:srgbClr val="FF0000"/>
            </a:solidFill>
            <a:prstDash val="solid"/>
            <a:headEnd type="none" w="sm" len="sm"/>
            <a:tailEnd type="none" w="sm" len="sm"/>
          </a:ln>
        </p:spPr>
      </p:sp>
      <p:grpSp>
        <p:nvGrpSpPr>
          <p:cNvPr id="40" name="Group 40"/>
          <p:cNvGrpSpPr/>
          <p:nvPr/>
        </p:nvGrpSpPr>
        <p:grpSpPr>
          <a:xfrm>
            <a:off x="13327572" y="1368504"/>
            <a:ext cx="5341428" cy="434524"/>
            <a:chOff x="0" y="0"/>
            <a:chExt cx="4274945" cy="579366"/>
          </a:xfrm>
        </p:grpSpPr>
        <p:sp>
          <p:nvSpPr>
            <p:cNvPr id="41" name="Freeform 41"/>
            <p:cNvSpPr/>
            <p:nvPr/>
          </p:nvSpPr>
          <p:spPr>
            <a:xfrm>
              <a:off x="0" y="0"/>
              <a:ext cx="4274932" cy="579339"/>
            </a:xfrm>
            <a:custGeom>
              <a:avLst/>
              <a:gdLst/>
              <a:ahLst/>
              <a:cxnLst/>
              <a:rect l="l" t="t" r="r" b="b"/>
              <a:pathLst>
                <a:path w="4274932" h="579339">
                  <a:moveTo>
                    <a:pt x="0" y="0"/>
                  </a:moveTo>
                  <a:lnTo>
                    <a:pt x="4274932" y="0"/>
                  </a:lnTo>
                  <a:lnTo>
                    <a:pt x="4274932" y="579339"/>
                  </a:lnTo>
                  <a:lnTo>
                    <a:pt x="0" y="579339"/>
                  </a:lnTo>
                  <a:close/>
                </a:path>
              </a:pathLst>
            </a:custGeom>
            <a:blipFill>
              <a:blip r:embed="rId6">
                <a:alphaModFix amt="0"/>
              </a:blip>
              <a:stretch>
                <a:fillRect t="-360108" r="-183713" b="-355734"/>
              </a:stretch>
            </a:blipFill>
            <a:ln cap="sq">
              <a:noFill/>
              <a:prstDash val="solid"/>
              <a:miter/>
            </a:ln>
          </p:spPr>
        </p:sp>
        <p:sp>
          <p:nvSpPr>
            <p:cNvPr id="42" name="TextBox 42"/>
            <p:cNvSpPr txBox="1"/>
            <p:nvPr/>
          </p:nvSpPr>
          <p:spPr>
            <a:xfrm>
              <a:off x="0" y="-19050"/>
              <a:ext cx="4274945" cy="598416"/>
            </a:xfrm>
            <a:prstGeom prst="rect">
              <a:avLst/>
            </a:prstGeom>
          </p:spPr>
          <p:txBody>
            <a:bodyPr lIns="50800" tIns="50800" rIns="50800" bIns="50800" rtlCol="0" anchor="t"/>
            <a:lstStyle/>
            <a:p>
              <a:pPr>
                <a:lnSpc>
                  <a:spcPts val="2160"/>
                </a:lnSpc>
              </a:pPr>
              <a:r>
                <a:rPr lang="en-US" dirty="0" err="1">
                  <a:solidFill>
                    <a:srgbClr val="000000"/>
                  </a:solidFill>
                  <a:latin typeface="Times New Roman"/>
                  <a:ea typeface="Times New Roman"/>
                  <a:cs typeface="Times New Roman"/>
                  <a:sym typeface="Times New Roman"/>
                </a:rPr>
                <a:t>Nhiều</a:t>
              </a:r>
              <a:r>
                <a:rPr lang="en-US" dirty="0">
                  <a:solidFill>
                    <a:srgbClr val="000000"/>
                  </a:solidFill>
                  <a:latin typeface="Times New Roman"/>
                  <a:ea typeface="Times New Roman"/>
                  <a:cs typeface="Times New Roman"/>
                  <a:sym typeface="Times New Roman"/>
                </a:rPr>
                <a:t> </a:t>
              </a:r>
              <a:r>
                <a:rPr lang="en-US" dirty="0" err="1">
                  <a:solidFill>
                    <a:srgbClr val="000000"/>
                  </a:solidFill>
                  <a:latin typeface="Times New Roman"/>
                  <a:ea typeface="Times New Roman"/>
                  <a:cs typeface="Times New Roman"/>
                  <a:sym typeface="Times New Roman"/>
                </a:rPr>
                <a:t>phần</a:t>
              </a:r>
              <a:r>
                <a:rPr lang="en-US" dirty="0">
                  <a:solidFill>
                    <a:srgbClr val="000000"/>
                  </a:solidFill>
                  <a:latin typeface="Times New Roman"/>
                  <a:ea typeface="Times New Roman"/>
                  <a:cs typeface="Times New Roman"/>
                  <a:sym typeface="Times New Roman"/>
                </a:rPr>
                <a:t> </a:t>
              </a:r>
              <a:r>
                <a:rPr lang="en-US" dirty="0" err="1">
                  <a:solidFill>
                    <a:srgbClr val="000000"/>
                  </a:solidFill>
                  <a:latin typeface="Times New Roman"/>
                  <a:ea typeface="Times New Roman"/>
                  <a:cs typeface="Times New Roman"/>
                  <a:sym typeface="Times New Roman"/>
                </a:rPr>
                <a:t>quà</a:t>
              </a:r>
              <a:r>
                <a:rPr lang="en-US" dirty="0">
                  <a:solidFill>
                    <a:srgbClr val="000000"/>
                  </a:solidFill>
                  <a:latin typeface="Times New Roman"/>
                  <a:ea typeface="Times New Roman"/>
                  <a:cs typeface="Times New Roman"/>
                  <a:sym typeface="Times New Roman"/>
                </a:rPr>
                <a:t> </a:t>
              </a:r>
              <a:r>
                <a:rPr lang="en-US" dirty="0" err="1">
                  <a:solidFill>
                    <a:srgbClr val="000000"/>
                  </a:solidFill>
                  <a:latin typeface="Times New Roman"/>
                  <a:ea typeface="Times New Roman"/>
                  <a:cs typeface="Times New Roman"/>
                  <a:sym typeface="Times New Roman"/>
                </a:rPr>
                <a:t>giá</a:t>
              </a:r>
              <a:r>
                <a:rPr lang="en-US" dirty="0">
                  <a:solidFill>
                    <a:srgbClr val="000000"/>
                  </a:solidFill>
                  <a:latin typeface="Times New Roman"/>
                  <a:ea typeface="Times New Roman"/>
                  <a:cs typeface="Times New Roman"/>
                  <a:sym typeface="Times New Roman"/>
                </a:rPr>
                <a:t> </a:t>
              </a:r>
              <a:r>
                <a:rPr lang="en-US" dirty="0" err="1">
                  <a:solidFill>
                    <a:srgbClr val="000000"/>
                  </a:solidFill>
                  <a:latin typeface="Times New Roman"/>
                  <a:ea typeface="Times New Roman"/>
                  <a:cs typeface="Times New Roman"/>
                  <a:sym typeface="Times New Roman"/>
                </a:rPr>
                <a:t>trị</a:t>
              </a:r>
              <a:r>
                <a:rPr lang="en-US" dirty="0">
                  <a:solidFill>
                    <a:srgbClr val="000000"/>
                  </a:solidFill>
                  <a:latin typeface="Times New Roman"/>
                  <a:ea typeface="Times New Roman"/>
                  <a:cs typeface="Times New Roman"/>
                  <a:sym typeface="Times New Roman"/>
                </a:rPr>
                <a:t> </a:t>
              </a:r>
              <a:r>
                <a:rPr lang="en-US" dirty="0" err="1">
                  <a:solidFill>
                    <a:srgbClr val="000000"/>
                  </a:solidFill>
                  <a:latin typeface="Times New Roman"/>
                  <a:ea typeface="Times New Roman"/>
                  <a:cs typeface="Times New Roman"/>
                  <a:sym typeface="Times New Roman"/>
                </a:rPr>
                <a:t>đang</a:t>
              </a:r>
              <a:r>
                <a:rPr lang="en-US" dirty="0">
                  <a:solidFill>
                    <a:srgbClr val="000000"/>
                  </a:solidFill>
                  <a:latin typeface="Times New Roman"/>
                  <a:ea typeface="Times New Roman"/>
                  <a:cs typeface="Times New Roman"/>
                  <a:sym typeface="Times New Roman"/>
                </a:rPr>
                <a:t> </a:t>
              </a:r>
              <a:r>
                <a:rPr lang="en-US" dirty="0" err="1">
                  <a:solidFill>
                    <a:srgbClr val="000000"/>
                  </a:solidFill>
                  <a:latin typeface="Times New Roman"/>
                  <a:ea typeface="Times New Roman"/>
                  <a:cs typeface="Times New Roman"/>
                  <a:sym typeface="Times New Roman"/>
                </a:rPr>
                <a:t>chờ</a:t>
              </a:r>
              <a:r>
                <a:rPr lang="en-US" dirty="0">
                  <a:solidFill>
                    <a:srgbClr val="000000"/>
                  </a:solidFill>
                  <a:latin typeface="Times New Roman"/>
                  <a:ea typeface="Times New Roman"/>
                  <a:cs typeface="Times New Roman"/>
                  <a:sym typeface="Times New Roman"/>
                </a:rPr>
                <a:t> </a:t>
              </a:r>
              <a:r>
                <a:rPr lang="en-US" dirty="0" err="1">
                  <a:solidFill>
                    <a:srgbClr val="000000"/>
                  </a:solidFill>
                  <a:latin typeface="Times New Roman"/>
                  <a:ea typeface="Times New Roman"/>
                  <a:cs typeface="Times New Roman"/>
                  <a:sym typeface="Times New Roman"/>
                </a:rPr>
                <a:t>đón</a:t>
              </a:r>
              <a:r>
                <a:rPr lang="en-US" dirty="0">
                  <a:solidFill>
                    <a:srgbClr val="000000"/>
                  </a:solidFill>
                  <a:latin typeface="Times New Roman"/>
                  <a:ea typeface="Times New Roman"/>
                  <a:cs typeface="Times New Roman"/>
                  <a:sym typeface="Times New Roman"/>
                </a:rPr>
                <a:t> </a:t>
              </a:r>
              <a:r>
                <a:rPr lang="en-US" dirty="0" err="1">
                  <a:solidFill>
                    <a:srgbClr val="000000"/>
                  </a:solidFill>
                  <a:latin typeface="Times New Roman"/>
                  <a:ea typeface="Times New Roman"/>
                  <a:cs typeface="Times New Roman"/>
                  <a:sym typeface="Times New Roman"/>
                </a:rPr>
                <a:t>quý</a:t>
              </a:r>
              <a:r>
                <a:rPr lang="en-US" dirty="0">
                  <a:solidFill>
                    <a:srgbClr val="000000"/>
                  </a:solidFill>
                  <a:latin typeface="Times New Roman"/>
                  <a:ea typeface="Times New Roman"/>
                  <a:cs typeface="Times New Roman"/>
                  <a:sym typeface="Times New Roman"/>
                </a:rPr>
                <a:t> </a:t>
              </a:r>
              <a:r>
                <a:rPr lang="en-US" dirty="0" err="1">
                  <a:solidFill>
                    <a:srgbClr val="000000"/>
                  </a:solidFill>
                  <a:latin typeface="Times New Roman"/>
                  <a:ea typeface="Times New Roman"/>
                  <a:cs typeface="Times New Roman"/>
                  <a:sym typeface="Times New Roman"/>
                </a:rPr>
                <a:t>khách</a:t>
              </a:r>
              <a:r>
                <a:rPr lang="en-US" dirty="0">
                  <a:solidFill>
                    <a:srgbClr val="000000"/>
                  </a:solidFill>
                  <a:latin typeface="Times New Roman"/>
                  <a:ea typeface="Times New Roman"/>
                  <a:cs typeface="Times New Roman"/>
                  <a:sym typeface="Times New Roman"/>
                </a:rPr>
                <a:t>!</a:t>
              </a:r>
            </a:p>
            <a:p>
              <a:pPr>
                <a:lnSpc>
                  <a:spcPts val="2160"/>
                </a:lnSpc>
              </a:pPr>
              <a:endParaRPr lang="en-US" dirty="0">
                <a:solidFill>
                  <a:srgbClr val="000000"/>
                </a:solidFill>
                <a:latin typeface="Times New Roman"/>
                <a:ea typeface="Times New Roman"/>
                <a:cs typeface="Times New Roman"/>
                <a:sym typeface="Times New Roman"/>
              </a:endParaRPr>
            </a:p>
          </p:txBody>
        </p:sp>
      </p:grpSp>
      <p:sp>
        <p:nvSpPr>
          <p:cNvPr id="43" name="TextBox 43"/>
          <p:cNvSpPr txBox="1"/>
          <p:nvPr/>
        </p:nvSpPr>
        <p:spPr>
          <a:xfrm>
            <a:off x="6994556" y="4060860"/>
            <a:ext cx="3700033" cy="285750"/>
          </a:xfrm>
          <a:prstGeom prst="rect">
            <a:avLst/>
          </a:prstGeom>
        </p:spPr>
        <p:txBody>
          <a:bodyPr lIns="0" tIns="0" rIns="0" bIns="0" rtlCol="0" anchor="t">
            <a:spAutoFit/>
          </a:bodyPr>
          <a:lstStyle/>
          <a:p>
            <a:pPr algn="l">
              <a:lnSpc>
                <a:spcPts val="2160"/>
              </a:lnSpc>
            </a:pPr>
            <a:r>
              <a:rPr lang="en-US" sz="1800">
                <a:solidFill>
                  <a:srgbClr val="FF0000"/>
                </a:solidFill>
                <a:latin typeface="Arimo"/>
                <a:ea typeface="Arimo"/>
                <a:cs typeface="Arimo"/>
                <a:sym typeface="Arimo"/>
              </a:rPr>
              <a:t>For example, 2025:</a:t>
            </a:r>
          </a:p>
        </p:txBody>
      </p:sp>
      <p:sp>
        <p:nvSpPr>
          <p:cNvPr id="44" name="TextBox 44"/>
          <p:cNvSpPr txBox="1"/>
          <p:nvPr/>
        </p:nvSpPr>
        <p:spPr>
          <a:xfrm>
            <a:off x="15987393" y="368276"/>
            <a:ext cx="2300607" cy="409575"/>
          </a:xfrm>
          <a:prstGeom prst="rect">
            <a:avLst/>
          </a:prstGeom>
        </p:spPr>
        <p:txBody>
          <a:bodyPr lIns="0" tIns="0" rIns="0" bIns="0" rtlCol="0" anchor="t">
            <a:spAutoFit/>
          </a:bodyPr>
          <a:lstStyle/>
          <a:p>
            <a:pPr algn="l">
              <a:lnSpc>
                <a:spcPts val="3240"/>
              </a:lnSpc>
            </a:pPr>
            <a:r>
              <a:rPr lang="en-US" sz="2700" b="1">
                <a:solidFill>
                  <a:srgbClr val="000000"/>
                </a:solidFill>
                <a:latin typeface="Aptos Bold"/>
                <a:ea typeface="Aptos Bold"/>
                <a:cs typeface="Aptos Bold"/>
                <a:sym typeface="Aptos Bold"/>
              </a:rPr>
              <a:t>Vietnamese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4774" y="263604"/>
            <a:ext cx="6032630" cy="4727496"/>
            <a:chOff x="0" y="0"/>
            <a:chExt cx="8043507" cy="6303328"/>
          </a:xfrm>
        </p:grpSpPr>
        <p:sp>
          <p:nvSpPr>
            <p:cNvPr id="3" name="Freeform 3"/>
            <p:cNvSpPr/>
            <p:nvPr/>
          </p:nvSpPr>
          <p:spPr>
            <a:xfrm>
              <a:off x="0" y="0"/>
              <a:ext cx="8043545" cy="6303264"/>
            </a:xfrm>
            <a:custGeom>
              <a:avLst/>
              <a:gdLst/>
              <a:ahLst/>
              <a:cxnLst/>
              <a:rect l="l" t="t" r="r" b="b"/>
              <a:pathLst>
                <a:path w="8043545" h="6303264">
                  <a:moveTo>
                    <a:pt x="0" y="0"/>
                  </a:moveTo>
                  <a:lnTo>
                    <a:pt x="8043545" y="0"/>
                  </a:lnTo>
                  <a:lnTo>
                    <a:pt x="8043545" y="6303264"/>
                  </a:lnTo>
                  <a:lnTo>
                    <a:pt x="0" y="6303264"/>
                  </a:lnTo>
                  <a:lnTo>
                    <a:pt x="0" y="0"/>
                  </a:lnTo>
                  <a:close/>
                </a:path>
              </a:pathLst>
            </a:custGeom>
            <a:blipFill>
              <a:blip r:embed="rId2"/>
              <a:stretch>
                <a:fillRect b="-1"/>
              </a:stretch>
            </a:blipFill>
          </p:spPr>
        </p:sp>
      </p:grpSp>
      <p:grpSp>
        <p:nvGrpSpPr>
          <p:cNvPr id="4" name="Group 4"/>
          <p:cNvGrpSpPr/>
          <p:nvPr/>
        </p:nvGrpSpPr>
        <p:grpSpPr>
          <a:xfrm>
            <a:off x="554774" y="5143500"/>
            <a:ext cx="6063682" cy="4727496"/>
            <a:chOff x="0" y="0"/>
            <a:chExt cx="8084909" cy="6303328"/>
          </a:xfrm>
        </p:grpSpPr>
        <p:sp>
          <p:nvSpPr>
            <p:cNvPr id="5" name="Freeform 5"/>
            <p:cNvSpPr/>
            <p:nvPr/>
          </p:nvSpPr>
          <p:spPr>
            <a:xfrm>
              <a:off x="0" y="0"/>
              <a:ext cx="8084947" cy="6303391"/>
            </a:xfrm>
            <a:custGeom>
              <a:avLst/>
              <a:gdLst/>
              <a:ahLst/>
              <a:cxnLst/>
              <a:rect l="l" t="t" r="r" b="b"/>
              <a:pathLst>
                <a:path w="8084947" h="6303391">
                  <a:moveTo>
                    <a:pt x="0" y="0"/>
                  </a:moveTo>
                  <a:lnTo>
                    <a:pt x="8084947" y="0"/>
                  </a:lnTo>
                  <a:lnTo>
                    <a:pt x="8084947" y="6303391"/>
                  </a:lnTo>
                  <a:lnTo>
                    <a:pt x="0" y="6303391"/>
                  </a:lnTo>
                  <a:lnTo>
                    <a:pt x="0" y="0"/>
                  </a:lnTo>
                  <a:close/>
                </a:path>
              </a:pathLst>
            </a:custGeom>
            <a:blipFill>
              <a:blip r:embed="rId3"/>
              <a:stretch>
                <a:fillRect b="1"/>
              </a:stretch>
            </a:blipFill>
          </p:spPr>
        </p:sp>
      </p:grpSp>
      <p:grpSp>
        <p:nvGrpSpPr>
          <p:cNvPr id="6" name="Group 6"/>
          <p:cNvGrpSpPr/>
          <p:nvPr/>
        </p:nvGrpSpPr>
        <p:grpSpPr>
          <a:xfrm>
            <a:off x="8098682" y="8188525"/>
            <a:ext cx="9085351" cy="1435726"/>
            <a:chOff x="0" y="0"/>
            <a:chExt cx="12113801" cy="1914302"/>
          </a:xfrm>
        </p:grpSpPr>
        <p:sp>
          <p:nvSpPr>
            <p:cNvPr id="7" name="Freeform 7"/>
            <p:cNvSpPr/>
            <p:nvPr/>
          </p:nvSpPr>
          <p:spPr>
            <a:xfrm>
              <a:off x="0" y="0"/>
              <a:ext cx="12113747" cy="1914340"/>
            </a:xfrm>
            <a:custGeom>
              <a:avLst/>
              <a:gdLst/>
              <a:ahLst/>
              <a:cxnLst/>
              <a:rect l="l" t="t" r="r" b="b"/>
              <a:pathLst>
                <a:path w="12113747" h="1914340">
                  <a:moveTo>
                    <a:pt x="0" y="0"/>
                  </a:moveTo>
                  <a:lnTo>
                    <a:pt x="12113747" y="0"/>
                  </a:lnTo>
                  <a:lnTo>
                    <a:pt x="12113747" y="1914340"/>
                  </a:lnTo>
                  <a:lnTo>
                    <a:pt x="0" y="1914340"/>
                  </a:lnTo>
                  <a:close/>
                </a:path>
              </a:pathLst>
            </a:custGeom>
            <a:blipFill>
              <a:blip r:embed="rId4">
                <a:alphaModFix amt="0"/>
              </a:blip>
              <a:stretch>
                <a:fillRect t="-86781" r="7450" b="-41444"/>
              </a:stretch>
            </a:blipFill>
            <a:ln cap="sq">
              <a:noFill/>
              <a:prstDash val="solid"/>
              <a:miter/>
            </a:ln>
          </p:spPr>
        </p:sp>
        <p:sp>
          <p:nvSpPr>
            <p:cNvPr id="8" name="TextBox 8"/>
            <p:cNvSpPr txBox="1"/>
            <p:nvPr/>
          </p:nvSpPr>
          <p:spPr>
            <a:xfrm>
              <a:off x="0" y="-19050"/>
              <a:ext cx="12113801" cy="1933352"/>
            </a:xfrm>
            <a:prstGeom prst="rect">
              <a:avLst/>
            </a:prstGeom>
          </p:spPr>
          <p:txBody>
            <a:bodyPr lIns="50800" tIns="50800" rIns="50800" bIns="50800" rtlCol="0" anchor="t"/>
            <a:lstStyle/>
            <a:p>
              <a:pPr algn="l">
                <a:lnSpc>
                  <a:spcPts val="2520"/>
                </a:lnSpc>
              </a:pPr>
              <a:r>
                <a:rPr lang="en-US" sz="2100" dirty="0">
                  <a:solidFill>
                    <a:srgbClr val="000000"/>
                  </a:solidFill>
                  <a:latin typeface="Times New Roman"/>
                  <a:ea typeface="Times New Roman"/>
                  <a:cs typeface="Times New Roman"/>
                  <a:sym typeface="Times New Roman"/>
                </a:rPr>
                <a:t>InterContinental Hanoi Landmark72</a:t>
              </a:r>
            </a:p>
            <a:p>
              <a:pPr>
                <a:lnSpc>
                  <a:spcPts val="2520"/>
                </a:lnSpc>
              </a:pPr>
              <a:r>
                <a:rPr lang="en-US" sz="2100" dirty="0" err="1">
                  <a:solidFill>
                    <a:srgbClr val="000000"/>
                  </a:solidFill>
                  <a:latin typeface="Times New Roman"/>
                  <a:ea typeface="Times New Roman"/>
                  <a:cs typeface="Times New Roman"/>
                  <a:sym typeface="Times New Roman"/>
                </a:rPr>
                <a:t>Tọa</a:t>
              </a:r>
              <a:r>
                <a:rPr lang="en-US" sz="2100" dirty="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lạc</a:t>
              </a:r>
              <a:r>
                <a:rPr lang="en-US" sz="2100" dirty="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tại</a:t>
              </a:r>
              <a:r>
                <a:rPr lang="en-US" sz="2100" dirty="0">
                  <a:solidFill>
                    <a:srgbClr val="000000"/>
                  </a:solidFill>
                  <a:latin typeface="Times New Roman"/>
                  <a:ea typeface="Times New Roman"/>
                  <a:cs typeface="Times New Roman"/>
                  <a:sym typeface="Times New Roman"/>
                </a:rPr>
                <a:t> </a:t>
              </a:r>
              <a:r>
                <a:rPr lang="en-US" sz="2100" dirty="0" err="1">
                  <a:solidFill>
                    <a:srgbClr val="000000"/>
                  </a:solidFill>
                  <a:latin typeface="Times New Roman"/>
                  <a:ea typeface="Times New Roman"/>
                  <a:cs typeface="Times New Roman"/>
                  <a:sym typeface="Times New Roman"/>
                </a:rPr>
                <a:t>Keangnam</a:t>
              </a:r>
              <a:r>
                <a:rPr lang="en-US" sz="2100" dirty="0">
                  <a:solidFill>
                    <a:srgbClr val="000000"/>
                  </a:solidFill>
                  <a:latin typeface="Times New Roman"/>
                  <a:ea typeface="Times New Roman"/>
                  <a:cs typeface="Times New Roman"/>
                  <a:sym typeface="Times New Roman"/>
                </a:rPr>
                <a:t> Landmark Tower </a:t>
              </a:r>
              <a:r>
                <a:rPr lang="en-US" sz="2100" dirty="0" smtClean="0">
                  <a:solidFill>
                    <a:srgbClr val="000000"/>
                  </a:solidFill>
                  <a:latin typeface="Times New Roman"/>
                  <a:ea typeface="Times New Roman"/>
                  <a:cs typeface="Times New Roman"/>
                  <a:sym typeface="Times New Roman"/>
                </a:rPr>
                <a:t>72</a:t>
              </a:r>
              <a:br>
                <a:rPr lang="en-US" sz="2100" dirty="0" smtClean="0">
                  <a:solidFill>
                    <a:srgbClr val="000000"/>
                  </a:solidFill>
                  <a:latin typeface="Times New Roman"/>
                  <a:ea typeface="Times New Roman"/>
                  <a:cs typeface="Times New Roman"/>
                  <a:sym typeface="Times New Roman"/>
                </a:rPr>
              </a:br>
              <a:r>
                <a:rPr lang="en-US" sz="2100" dirty="0" smtClean="0">
                  <a:solidFill>
                    <a:srgbClr val="000000"/>
                  </a:solidFill>
                  <a:latin typeface="Times New Roman"/>
                  <a:ea typeface="Times New Roman"/>
                  <a:cs typeface="Times New Roman"/>
                  <a:sym typeface="Times New Roman"/>
                </a:rPr>
                <a:t>T</a:t>
              </a:r>
              <a:r>
                <a:rPr lang="vi-VN" sz="2100" dirty="0" smtClean="0">
                  <a:solidFill>
                    <a:srgbClr val="000000"/>
                  </a:solidFill>
                  <a:latin typeface="Times New Roman"/>
                  <a:ea typeface="Times New Roman"/>
                  <a:cs typeface="Times New Roman"/>
                  <a:sym typeface="Times New Roman"/>
                </a:rPr>
                <a:t>òa </a:t>
              </a:r>
              <a:r>
                <a:rPr lang="vi-VN" sz="2100" dirty="0">
                  <a:solidFill>
                    <a:srgbClr val="000000"/>
                  </a:solidFill>
                  <a:latin typeface="Times New Roman"/>
                  <a:ea typeface="Times New Roman"/>
                  <a:cs typeface="Times New Roman"/>
                  <a:sym typeface="Times New Roman"/>
                </a:rPr>
                <a:t>Keangnam Hanoi Landmark, lô E6, khu đô thị mới Cầu Giấy, phường Yên Hòa, Hà Nội, Việt Nam</a:t>
              </a:r>
              <a:endParaRPr lang="en-US" sz="2100" dirty="0">
                <a:solidFill>
                  <a:srgbClr val="000000"/>
                </a:solidFill>
                <a:latin typeface="Times New Roman"/>
                <a:ea typeface="Times New Roman"/>
                <a:cs typeface="Times New Roman"/>
                <a:sym typeface="Times New Roman"/>
              </a:endParaRPr>
            </a:p>
          </p:txBody>
        </p:sp>
      </p:grpSp>
      <p:grpSp>
        <p:nvGrpSpPr>
          <p:cNvPr id="9" name="Group 9"/>
          <p:cNvGrpSpPr/>
          <p:nvPr/>
        </p:nvGrpSpPr>
        <p:grpSpPr>
          <a:xfrm>
            <a:off x="1161364" y="5463950"/>
            <a:ext cx="4812849" cy="649434"/>
            <a:chOff x="0" y="0"/>
            <a:chExt cx="6417132" cy="865911"/>
          </a:xfrm>
        </p:grpSpPr>
        <p:sp>
          <p:nvSpPr>
            <p:cNvPr id="10" name="Freeform 10"/>
            <p:cNvSpPr/>
            <p:nvPr/>
          </p:nvSpPr>
          <p:spPr>
            <a:xfrm>
              <a:off x="0" y="0"/>
              <a:ext cx="6417183" cy="865886"/>
            </a:xfrm>
            <a:custGeom>
              <a:avLst/>
              <a:gdLst/>
              <a:ahLst/>
              <a:cxnLst/>
              <a:rect l="l" t="t" r="r" b="b"/>
              <a:pathLst>
                <a:path w="6417183" h="865886">
                  <a:moveTo>
                    <a:pt x="0" y="0"/>
                  </a:moveTo>
                  <a:lnTo>
                    <a:pt x="6417183" y="0"/>
                  </a:lnTo>
                  <a:lnTo>
                    <a:pt x="6417183" y="865886"/>
                  </a:lnTo>
                  <a:lnTo>
                    <a:pt x="0" y="865886"/>
                  </a:lnTo>
                  <a:close/>
                </a:path>
              </a:pathLst>
            </a:custGeom>
            <a:blipFill>
              <a:blip r:embed="rId4">
                <a:alphaModFix amt="0"/>
              </a:blip>
              <a:stretch>
                <a:fillRect t="-94403" b="-94406"/>
              </a:stretch>
            </a:blipFill>
            <a:ln w="28575" cap="sq">
              <a:solidFill>
                <a:srgbClr val="FF0000"/>
              </a:solidFill>
              <a:prstDash val="solid"/>
              <a:miter/>
            </a:ln>
          </p:spPr>
        </p:sp>
      </p:grpSp>
      <p:grpSp>
        <p:nvGrpSpPr>
          <p:cNvPr id="11" name="Group 11"/>
          <p:cNvGrpSpPr/>
          <p:nvPr/>
        </p:nvGrpSpPr>
        <p:grpSpPr>
          <a:xfrm>
            <a:off x="8098682" y="1228137"/>
            <a:ext cx="1508103" cy="617209"/>
            <a:chOff x="0" y="0"/>
            <a:chExt cx="2010804" cy="822945"/>
          </a:xfrm>
        </p:grpSpPr>
        <p:sp>
          <p:nvSpPr>
            <p:cNvPr id="12" name="Freeform 12"/>
            <p:cNvSpPr/>
            <p:nvPr/>
          </p:nvSpPr>
          <p:spPr>
            <a:xfrm>
              <a:off x="0" y="0"/>
              <a:ext cx="2010791" cy="822903"/>
            </a:xfrm>
            <a:custGeom>
              <a:avLst/>
              <a:gdLst/>
              <a:ahLst/>
              <a:cxnLst/>
              <a:rect l="l" t="t" r="r" b="b"/>
              <a:pathLst>
                <a:path w="2010791" h="822903">
                  <a:moveTo>
                    <a:pt x="0" y="0"/>
                  </a:moveTo>
                  <a:lnTo>
                    <a:pt x="2010791" y="0"/>
                  </a:lnTo>
                  <a:lnTo>
                    <a:pt x="2010791" y="822903"/>
                  </a:lnTo>
                  <a:lnTo>
                    <a:pt x="0" y="822903"/>
                  </a:lnTo>
                  <a:close/>
                </a:path>
              </a:pathLst>
            </a:custGeom>
            <a:blipFill>
              <a:blip r:embed="rId4">
                <a:alphaModFix amt="0"/>
              </a:blip>
              <a:stretch>
                <a:fillRect t="-2730" b="7505"/>
              </a:stretch>
            </a:blipFill>
            <a:ln cap="sq">
              <a:noFill/>
              <a:prstDash val="solid"/>
              <a:miter/>
            </a:ln>
          </p:spPr>
        </p:sp>
        <p:sp>
          <p:nvSpPr>
            <p:cNvPr id="13" name="TextBox 13"/>
            <p:cNvSpPr txBox="1"/>
            <p:nvPr/>
          </p:nvSpPr>
          <p:spPr>
            <a:xfrm>
              <a:off x="0" y="-19050"/>
              <a:ext cx="2010804" cy="841995"/>
            </a:xfrm>
            <a:prstGeom prst="rect">
              <a:avLst/>
            </a:prstGeom>
          </p:spPr>
          <p:txBody>
            <a:bodyPr lIns="50800" tIns="50800" rIns="50800" bIns="50800" rtlCol="0" anchor="t"/>
            <a:lstStyle/>
            <a:p>
              <a:pPr algn="l">
                <a:lnSpc>
                  <a:spcPts val="3240"/>
                </a:lnSpc>
              </a:pPr>
              <a:r>
                <a:rPr lang="en-US" sz="2700">
                  <a:solidFill>
                    <a:srgbClr val="000000"/>
                  </a:solidFill>
                  <a:latin typeface="Times New Roman"/>
                  <a:ea typeface="Times New Roman"/>
                  <a:cs typeface="Times New Roman"/>
                  <a:sym typeface="Times New Roman"/>
                </a:rPr>
                <a:t>Location</a:t>
              </a:r>
            </a:p>
          </p:txBody>
        </p:sp>
      </p:grpSp>
      <p:sp>
        <p:nvSpPr>
          <p:cNvPr id="14" name="AutoShape 14"/>
          <p:cNvSpPr/>
          <p:nvPr/>
        </p:nvSpPr>
        <p:spPr>
          <a:xfrm flipV="1">
            <a:off x="5974213" y="1536741"/>
            <a:ext cx="2124469" cy="4251925"/>
          </a:xfrm>
          <a:prstGeom prst="line">
            <a:avLst/>
          </a:prstGeom>
          <a:ln w="19050" cap="rnd">
            <a:solidFill>
              <a:srgbClr val="FF0000"/>
            </a:solidFill>
            <a:prstDash val="solid"/>
            <a:headEnd type="none" w="sm" len="sm"/>
            <a:tailEnd type="none" w="sm" len="sm"/>
          </a:ln>
        </p:spPr>
      </p:sp>
      <p:grpSp>
        <p:nvGrpSpPr>
          <p:cNvPr id="15" name="Group 15"/>
          <p:cNvGrpSpPr/>
          <p:nvPr/>
        </p:nvGrpSpPr>
        <p:grpSpPr>
          <a:xfrm>
            <a:off x="1161364" y="6208614"/>
            <a:ext cx="4812849" cy="2277837"/>
            <a:chOff x="0" y="0"/>
            <a:chExt cx="6417132" cy="3037116"/>
          </a:xfrm>
        </p:grpSpPr>
        <p:sp>
          <p:nvSpPr>
            <p:cNvPr id="16" name="Freeform 16"/>
            <p:cNvSpPr/>
            <p:nvPr/>
          </p:nvSpPr>
          <p:spPr>
            <a:xfrm>
              <a:off x="0" y="0"/>
              <a:ext cx="6417183" cy="3037078"/>
            </a:xfrm>
            <a:custGeom>
              <a:avLst/>
              <a:gdLst/>
              <a:ahLst/>
              <a:cxnLst/>
              <a:rect l="l" t="t" r="r" b="b"/>
              <a:pathLst>
                <a:path w="6417183" h="3037078">
                  <a:moveTo>
                    <a:pt x="0" y="0"/>
                  </a:moveTo>
                  <a:lnTo>
                    <a:pt x="6417183" y="0"/>
                  </a:lnTo>
                  <a:lnTo>
                    <a:pt x="6417183" y="3037078"/>
                  </a:lnTo>
                  <a:lnTo>
                    <a:pt x="0" y="3037078"/>
                  </a:lnTo>
                  <a:close/>
                </a:path>
              </a:pathLst>
            </a:custGeom>
            <a:blipFill>
              <a:blip r:embed="rId4">
                <a:alphaModFix amt="0"/>
              </a:blip>
              <a:stretch>
                <a:fillRect l="-10723" r="-10722" b="-1"/>
              </a:stretch>
            </a:blipFill>
            <a:ln w="28575" cap="sq">
              <a:solidFill>
                <a:srgbClr val="FF0000"/>
              </a:solidFill>
              <a:prstDash val="solid"/>
              <a:miter/>
            </a:ln>
          </p:spPr>
        </p:sp>
      </p:grpSp>
      <p:grpSp>
        <p:nvGrpSpPr>
          <p:cNvPr id="17" name="Group 17"/>
          <p:cNvGrpSpPr/>
          <p:nvPr/>
        </p:nvGrpSpPr>
        <p:grpSpPr>
          <a:xfrm>
            <a:off x="1164665" y="8581701"/>
            <a:ext cx="4812849" cy="995401"/>
            <a:chOff x="0" y="0"/>
            <a:chExt cx="6417132" cy="1327201"/>
          </a:xfrm>
        </p:grpSpPr>
        <p:sp>
          <p:nvSpPr>
            <p:cNvPr id="18" name="Freeform 18"/>
            <p:cNvSpPr/>
            <p:nvPr/>
          </p:nvSpPr>
          <p:spPr>
            <a:xfrm>
              <a:off x="0" y="0"/>
              <a:ext cx="6417183" cy="1327150"/>
            </a:xfrm>
            <a:custGeom>
              <a:avLst/>
              <a:gdLst/>
              <a:ahLst/>
              <a:cxnLst/>
              <a:rect l="l" t="t" r="r" b="b"/>
              <a:pathLst>
                <a:path w="6417183" h="1327150">
                  <a:moveTo>
                    <a:pt x="0" y="0"/>
                  </a:moveTo>
                  <a:lnTo>
                    <a:pt x="6417183" y="0"/>
                  </a:lnTo>
                  <a:lnTo>
                    <a:pt x="6417183" y="1327150"/>
                  </a:lnTo>
                  <a:lnTo>
                    <a:pt x="0" y="1327150"/>
                  </a:lnTo>
                  <a:close/>
                </a:path>
              </a:pathLst>
            </a:custGeom>
            <a:blipFill>
              <a:blip r:embed="rId4">
                <a:alphaModFix amt="0"/>
              </a:blip>
              <a:stretch>
                <a:fillRect t="-44213" b="-44217"/>
              </a:stretch>
            </a:blipFill>
            <a:ln w="28575" cap="sq">
              <a:solidFill>
                <a:srgbClr val="FF0000"/>
              </a:solidFill>
              <a:prstDash val="solid"/>
              <a:miter/>
            </a:ln>
          </p:spPr>
        </p:sp>
      </p:grpSp>
      <p:sp>
        <p:nvSpPr>
          <p:cNvPr id="19" name="AutoShape 19"/>
          <p:cNvSpPr/>
          <p:nvPr/>
        </p:nvSpPr>
        <p:spPr>
          <a:xfrm flipH="1">
            <a:off x="5977514" y="8906388"/>
            <a:ext cx="2121168" cy="173013"/>
          </a:xfrm>
          <a:prstGeom prst="line">
            <a:avLst/>
          </a:prstGeom>
          <a:ln w="19050" cap="rnd">
            <a:solidFill>
              <a:srgbClr val="FF0000"/>
            </a:solidFill>
            <a:prstDash val="solid"/>
            <a:headEnd type="none" w="sm" len="sm"/>
            <a:tailEnd type="none" w="sm" len="sm"/>
          </a:ln>
        </p:spPr>
      </p:sp>
      <p:grpSp>
        <p:nvGrpSpPr>
          <p:cNvPr id="20" name="Group 20"/>
          <p:cNvGrpSpPr/>
          <p:nvPr/>
        </p:nvGrpSpPr>
        <p:grpSpPr>
          <a:xfrm>
            <a:off x="8098682" y="2226821"/>
            <a:ext cx="9085351" cy="5514029"/>
            <a:chOff x="0" y="0"/>
            <a:chExt cx="14880120" cy="9030957"/>
          </a:xfrm>
        </p:grpSpPr>
        <p:sp>
          <p:nvSpPr>
            <p:cNvPr id="21" name="Freeform 21"/>
            <p:cNvSpPr/>
            <p:nvPr/>
          </p:nvSpPr>
          <p:spPr>
            <a:xfrm>
              <a:off x="0" y="0"/>
              <a:ext cx="14880082" cy="9030970"/>
            </a:xfrm>
            <a:custGeom>
              <a:avLst/>
              <a:gdLst/>
              <a:ahLst/>
              <a:cxnLst/>
              <a:rect l="l" t="t" r="r" b="b"/>
              <a:pathLst>
                <a:path w="14880082" h="9030970">
                  <a:moveTo>
                    <a:pt x="0" y="0"/>
                  </a:moveTo>
                  <a:lnTo>
                    <a:pt x="14880082" y="0"/>
                  </a:lnTo>
                  <a:lnTo>
                    <a:pt x="14880082" y="9030970"/>
                  </a:lnTo>
                  <a:lnTo>
                    <a:pt x="0" y="9030970"/>
                  </a:lnTo>
                  <a:lnTo>
                    <a:pt x="0" y="0"/>
                  </a:lnTo>
                  <a:close/>
                </a:path>
              </a:pathLst>
            </a:custGeom>
            <a:blipFill>
              <a:blip r:embed="rId5"/>
              <a:stretch>
                <a:fillRect l="-12247" r="-12247"/>
              </a:stretch>
            </a:blipFill>
          </p:spPr>
        </p:sp>
      </p:grpSp>
      <p:sp>
        <p:nvSpPr>
          <p:cNvPr id="22" name="AutoShape 22"/>
          <p:cNvSpPr/>
          <p:nvPr/>
        </p:nvSpPr>
        <p:spPr>
          <a:xfrm flipV="1">
            <a:off x="5974213" y="4983835"/>
            <a:ext cx="2124469" cy="2363697"/>
          </a:xfrm>
          <a:prstGeom prst="line">
            <a:avLst/>
          </a:prstGeom>
          <a:ln w="19050" cap="rnd">
            <a:solidFill>
              <a:srgbClr val="FF0000"/>
            </a:solidFill>
            <a:prstDash val="solid"/>
            <a:headEnd type="none" w="sm" len="sm"/>
            <a:tailEnd type="none" w="sm" len="sm"/>
          </a:ln>
        </p:spPr>
      </p:sp>
      <p:sp>
        <p:nvSpPr>
          <p:cNvPr id="23" name="TextBox 23"/>
          <p:cNvSpPr txBox="1"/>
          <p:nvPr/>
        </p:nvSpPr>
        <p:spPr>
          <a:xfrm>
            <a:off x="15987393" y="368276"/>
            <a:ext cx="2300607" cy="409575"/>
          </a:xfrm>
          <a:prstGeom prst="rect">
            <a:avLst/>
          </a:prstGeom>
        </p:spPr>
        <p:txBody>
          <a:bodyPr lIns="0" tIns="0" rIns="0" bIns="0" rtlCol="0" anchor="t">
            <a:spAutoFit/>
          </a:bodyPr>
          <a:lstStyle/>
          <a:p>
            <a:pPr algn="l">
              <a:lnSpc>
                <a:spcPts val="3240"/>
              </a:lnSpc>
            </a:pPr>
            <a:r>
              <a:rPr lang="en-US" sz="2700" b="1">
                <a:solidFill>
                  <a:srgbClr val="000000"/>
                </a:solidFill>
                <a:latin typeface="Aptos Bold"/>
                <a:ea typeface="Aptos Bold"/>
                <a:cs typeface="Aptos Bold"/>
                <a:sym typeface="Aptos Bold"/>
              </a:rPr>
              <a:t>Vietnamese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890798" y="3252791"/>
            <a:ext cx="5368502" cy="819150"/>
          </a:xfrm>
          <a:prstGeom prst="rect">
            <a:avLst/>
          </a:prstGeom>
        </p:spPr>
        <p:txBody>
          <a:bodyPr lIns="0" tIns="0" rIns="0" bIns="0" rtlCol="0" anchor="t">
            <a:spAutoFit/>
          </a:bodyPr>
          <a:lstStyle/>
          <a:p>
            <a:pPr algn="l">
              <a:lnSpc>
                <a:spcPts val="2160"/>
              </a:lnSpc>
            </a:pPr>
            <a:r>
              <a:rPr lang="en-US" sz="1800">
                <a:solidFill>
                  <a:srgbClr val="FF0000"/>
                </a:solidFill>
                <a:latin typeface="Arimo"/>
                <a:ea typeface="Arimo"/>
                <a:cs typeface="Arimo"/>
                <a:sym typeface="Arimo"/>
              </a:rPr>
              <a:t>Keep the same form.</a:t>
            </a:r>
          </a:p>
          <a:p>
            <a:pPr algn="l">
              <a:lnSpc>
                <a:spcPts val="2160"/>
              </a:lnSpc>
            </a:pPr>
            <a:endParaRPr lang="en-US" sz="1800">
              <a:solidFill>
                <a:srgbClr val="FF0000"/>
              </a:solidFill>
              <a:latin typeface="Arimo"/>
              <a:ea typeface="Arimo"/>
              <a:cs typeface="Arimo"/>
              <a:sym typeface="Arimo"/>
            </a:endParaRPr>
          </a:p>
          <a:p>
            <a:pPr algn="l">
              <a:lnSpc>
                <a:spcPts val="2160"/>
              </a:lnSpc>
            </a:pPr>
            <a:r>
              <a:rPr lang="en-US" sz="1800">
                <a:solidFill>
                  <a:srgbClr val="FF0000"/>
                </a:solidFill>
                <a:latin typeface="Arimo"/>
                <a:ea typeface="Arimo"/>
                <a:cs typeface="Arimo"/>
                <a:sym typeface="Arimo"/>
              </a:rPr>
              <a:t>We are also gathering participants from this page.</a:t>
            </a:r>
          </a:p>
        </p:txBody>
      </p:sp>
      <p:grpSp>
        <p:nvGrpSpPr>
          <p:cNvPr id="3" name="Group 3"/>
          <p:cNvGrpSpPr/>
          <p:nvPr/>
        </p:nvGrpSpPr>
        <p:grpSpPr>
          <a:xfrm>
            <a:off x="2591086" y="398669"/>
            <a:ext cx="8759457" cy="9888331"/>
            <a:chOff x="0" y="0"/>
            <a:chExt cx="11679276" cy="13184442"/>
          </a:xfrm>
        </p:grpSpPr>
        <p:sp>
          <p:nvSpPr>
            <p:cNvPr id="4" name="Freeform 4"/>
            <p:cNvSpPr/>
            <p:nvPr/>
          </p:nvSpPr>
          <p:spPr>
            <a:xfrm>
              <a:off x="0" y="0"/>
              <a:ext cx="11679301" cy="13184378"/>
            </a:xfrm>
            <a:custGeom>
              <a:avLst/>
              <a:gdLst/>
              <a:ahLst/>
              <a:cxnLst/>
              <a:rect l="l" t="t" r="r" b="b"/>
              <a:pathLst>
                <a:path w="11679301" h="13184378">
                  <a:moveTo>
                    <a:pt x="0" y="0"/>
                  </a:moveTo>
                  <a:lnTo>
                    <a:pt x="11679301" y="0"/>
                  </a:lnTo>
                  <a:lnTo>
                    <a:pt x="11679301" y="13184378"/>
                  </a:lnTo>
                  <a:lnTo>
                    <a:pt x="0" y="13184378"/>
                  </a:lnTo>
                  <a:lnTo>
                    <a:pt x="0" y="0"/>
                  </a:lnTo>
                  <a:close/>
                </a:path>
              </a:pathLst>
            </a:custGeom>
            <a:blipFill>
              <a:blip r:embed="rId2"/>
              <a:stretch>
                <a:fillRect/>
              </a:stretch>
            </a:blipFill>
          </p:spPr>
        </p:sp>
      </p:grpSp>
      <p:sp>
        <p:nvSpPr>
          <p:cNvPr id="5" name="TextBox 5"/>
          <p:cNvSpPr txBox="1"/>
          <p:nvPr/>
        </p:nvSpPr>
        <p:spPr>
          <a:xfrm>
            <a:off x="15987393" y="368276"/>
            <a:ext cx="2300607" cy="409575"/>
          </a:xfrm>
          <a:prstGeom prst="rect">
            <a:avLst/>
          </a:prstGeom>
        </p:spPr>
        <p:txBody>
          <a:bodyPr lIns="0" tIns="0" rIns="0" bIns="0" rtlCol="0" anchor="t">
            <a:spAutoFit/>
          </a:bodyPr>
          <a:lstStyle/>
          <a:p>
            <a:pPr algn="l">
              <a:lnSpc>
                <a:spcPts val="3240"/>
              </a:lnSpc>
            </a:pPr>
            <a:r>
              <a:rPr lang="en-US" sz="2700" b="1">
                <a:solidFill>
                  <a:srgbClr val="000000"/>
                </a:solidFill>
                <a:latin typeface="Aptos Bold"/>
                <a:ea typeface="Aptos Bold"/>
                <a:cs typeface="Aptos Bold"/>
                <a:sym typeface="Aptos Bold"/>
              </a:rPr>
              <a:t>Vietnamese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596</TotalTime>
  <Words>1429</Words>
  <Application>Microsoft Office PowerPoint</Application>
  <PresentationFormat>사용자 지정</PresentationFormat>
  <Paragraphs>184</Paragraphs>
  <Slides>14</Slides>
  <Notes>3</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14</vt:i4>
      </vt:variant>
    </vt:vector>
  </HeadingPairs>
  <TitlesOfParts>
    <vt:vector size="23" baseType="lpstr">
      <vt:lpstr>나눔바른고딕</vt:lpstr>
      <vt:lpstr>맑은 고딕</vt:lpstr>
      <vt:lpstr>Arimo</vt:lpstr>
      <vt:lpstr>Calibri</vt:lpstr>
      <vt:lpstr>Arial</vt:lpstr>
      <vt:lpstr>Aptos</vt:lpstr>
      <vt:lpstr>Times New Roman</vt:lpstr>
      <vt:lpstr>Aptos Bold</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Website - Promotional Page - Cello Square Conference 2026.pptx</dc:title>
  <dc:creator>SDS</dc:creator>
  <cp:lastModifiedBy>SDS</cp:lastModifiedBy>
  <cp:revision>36</cp:revision>
  <dcterms:created xsi:type="dcterms:W3CDTF">2006-08-16T00:00:00Z</dcterms:created>
  <dcterms:modified xsi:type="dcterms:W3CDTF">2026-06-29T09:36:32Z</dcterms:modified>
  <dc:identifier>DAHMyfIBDs8</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y fmtid="{D5CDD505-2E9C-101B-9397-08002B2CF9AE}" pid="3" name="FLCMData">
    <vt:lpwstr>3A36C6B8FA9CB51112143B4581D9A7724BED1C9C67EA967415A9B9276BD94636EA6C58718EA416F7E9FFBB49C126FAB97716221D93176CB14D3FF9D5B400E6F2</vt:lpwstr>
  </property>
</Properties>
</file>