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6" r:id="rId4"/>
    <p:sldId id="267" r:id="rId5"/>
    <p:sldId id="268" r:id="rId6"/>
    <p:sldId id="269" r:id="rId7"/>
  </p:sldIdLst>
  <p:sldSz cx="18288000" cy="10287000"/>
  <p:notesSz cx="6858000" cy="9144000"/>
  <p:embeddedFontLst>
    <p:embeddedFont>
      <p:font typeface="Aptos Bold" panose="020B0600000101010101" charset="-127"/>
      <p:regular r:id="rId9"/>
    </p:embeddedFont>
    <p:embeddedFont>
      <p:font typeface="맑은 고딕" panose="020B0503020000020004" pitchFamily="50" charset="-127"/>
      <p:regular r:id="rId10"/>
      <p:bold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281" autoAdjust="0"/>
  </p:normalViewPr>
  <p:slideViewPr>
    <p:cSldViewPr>
      <p:cViewPr varScale="1">
        <p:scale>
          <a:sx n="54" d="100"/>
          <a:sy n="54" d="100"/>
        </p:scale>
        <p:origin x="21" y="15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6C279-3A04-43AD-91D9-B4CD195C30A5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680A4-333C-4F57-AE28-8F7A608C49E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414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7680A4-333C-4F57-AE28-8F7A608C49EE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0974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7680A4-333C-4F57-AE28-8F7A608C49EE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8096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7680A4-333C-4F57-AE28-8F7A608C49EE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93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723900"/>
            <a:ext cx="7467600" cy="9334501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 rot="2700000">
            <a:off x="3898649" y="86405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0083689" y="667236"/>
            <a:ext cx="1421511" cy="461676"/>
          </a:xfrm>
          <a:custGeom>
            <a:avLst/>
            <a:gdLst/>
            <a:ahLst/>
            <a:cxnLst/>
            <a:rect l="l" t="t" r="r" b="b"/>
            <a:pathLst>
              <a:path w="1895348" h="615567">
                <a:moveTo>
                  <a:pt x="0" y="0"/>
                </a:moveTo>
                <a:lnTo>
                  <a:pt x="1895348" y="0"/>
                </a:lnTo>
                <a:lnTo>
                  <a:pt x="1895348" y="615567"/>
                </a:lnTo>
                <a:lnTo>
                  <a:pt x="0" y="615567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9997" r="-2" b="-9995"/>
            </a:stretch>
          </a:blipFill>
          <a:ln cap="sq">
            <a:noFill/>
            <a:prstDash val="solid"/>
            <a:miter/>
          </a:ln>
        </p:spPr>
      </p:sp>
      <p:sp>
        <p:nvSpPr>
          <p:cNvPr id="16" name="AutoShape 16"/>
          <p:cNvSpPr/>
          <p:nvPr/>
        </p:nvSpPr>
        <p:spPr>
          <a:xfrm rot="2700000">
            <a:off x="4184399" y="2452878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10083689" y="2154203"/>
            <a:ext cx="5256372" cy="492760"/>
          </a:xfrm>
          <a:custGeom>
            <a:avLst/>
            <a:gdLst/>
            <a:ahLst/>
            <a:cxnLst/>
            <a:rect l="l" t="t" r="r" b="b"/>
            <a:pathLst>
              <a:path w="7008495" h="657014">
                <a:moveTo>
                  <a:pt x="0" y="0"/>
                </a:moveTo>
                <a:lnTo>
                  <a:pt x="7008495" y="0"/>
                </a:lnTo>
                <a:lnTo>
                  <a:pt x="7008495" y="657014"/>
                </a:lnTo>
                <a:lnTo>
                  <a:pt x="0" y="65701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61004" b="-154694"/>
            </a:stretch>
          </a:blipFill>
          <a:ln cap="sq">
            <a:noFill/>
            <a:prstDash val="solid"/>
            <a:miter/>
          </a:ln>
        </p:spPr>
      </p:sp>
      <p:sp>
        <p:nvSpPr>
          <p:cNvPr id="23" name="AutoShape 23"/>
          <p:cNvSpPr/>
          <p:nvPr/>
        </p:nvSpPr>
        <p:spPr>
          <a:xfrm rot="2700000">
            <a:off x="5426164" y="3296393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9677400" y="2781300"/>
            <a:ext cx="7397996" cy="824468"/>
            <a:chOff x="-304761" y="-406400"/>
            <a:chExt cx="9863994" cy="10992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59233" cy="692890"/>
            </a:xfrm>
            <a:custGeom>
              <a:avLst/>
              <a:gdLst/>
              <a:ahLst/>
              <a:cxnLst/>
              <a:rect l="l" t="t" r="r" b="b"/>
              <a:pathLst>
                <a:path w="9559233" h="692890">
                  <a:moveTo>
                    <a:pt x="0" y="0"/>
                  </a:moveTo>
                  <a:lnTo>
                    <a:pt x="9559233" y="0"/>
                  </a:lnTo>
                  <a:lnTo>
                    <a:pt x="9559233" y="692890"/>
                  </a:lnTo>
                  <a:lnTo>
                    <a:pt x="0" y="692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528" r="11821" b="-21255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-304761" y="-406400"/>
              <a:ext cx="9559221" cy="7119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>
                <a:lnSpc>
                  <a:spcPts val="2520"/>
                </a:lnSpc>
              </a:pPr>
              <a:r>
                <a:rPr lang="en-SG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Digital Logistics Strategy in the Era of AI and Automation</a:t>
              </a:r>
              <a:endPara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71600" y="3314700"/>
            <a:ext cx="6723288" cy="838200"/>
            <a:chOff x="0" y="0"/>
            <a:chExt cx="8964384" cy="7707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64422" cy="770763"/>
            </a:xfrm>
            <a:custGeom>
              <a:avLst/>
              <a:gdLst/>
              <a:ahLst/>
              <a:cxnLst/>
              <a:rect l="l" t="t" r="r" b="b"/>
              <a:pathLst>
                <a:path w="8964422" h="770763">
                  <a:moveTo>
                    <a:pt x="0" y="0"/>
                  </a:moveTo>
                  <a:lnTo>
                    <a:pt x="8964422" y="0"/>
                  </a:lnTo>
                  <a:lnTo>
                    <a:pt x="8964422" y="770763"/>
                  </a:lnTo>
                  <a:lnTo>
                    <a:pt x="0" y="770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619" b="-176623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1" name="AutoShape 31"/>
          <p:cNvSpPr/>
          <p:nvPr/>
        </p:nvSpPr>
        <p:spPr>
          <a:xfrm rot="2700000">
            <a:off x="4902860" y="428582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9753600" y="3872653"/>
            <a:ext cx="8382000" cy="1025410"/>
            <a:chOff x="-236880" y="0"/>
            <a:chExt cx="11175999" cy="136721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9119" cy="1076114"/>
            </a:xfrm>
            <a:custGeom>
              <a:avLst/>
              <a:gdLst/>
              <a:ahLst/>
              <a:cxnLst/>
              <a:rect l="l" t="t" r="r" b="b"/>
              <a:pathLst>
                <a:path w="10939119" h="1076114">
                  <a:moveTo>
                    <a:pt x="0" y="0"/>
                  </a:moveTo>
                  <a:lnTo>
                    <a:pt x="10939119" y="0"/>
                  </a:lnTo>
                  <a:lnTo>
                    <a:pt x="10939119" y="1076114"/>
                  </a:lnTo>
                  <a:lnTo>
                    <a:pt x="0" y="1076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21" r="5427" b="-115923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-236880" y="272063"/>
              <a:ext cx="10939081" cy="109515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 July (Friday) 13:30 ~ 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16:40 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(local time)</a:t>
              </a:r>
            </a:p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InterContinental Hanoi Landmark 72 | 5F Ballroom 1 | Hanoi, Vietnam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flipV="1">
            <a:off x="8077200" y="3086100"/>
            <a:ext cx="1524000" cy="60960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 rot="2700000">
            <a:off x="4306862" y="7256726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AutoShape 42"/>
          <p:cNvSpPr/>
          <p:nvPr/>
        </p:nvSpPr>
        <p:spPr>
          <a:xfrm flipV="1">
            <a:off x="8153400" y="4457700"/>
            <a:ext cx="1447800" cy="162926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TextBox 43"/>
          <p:cNvSpPr txBox="1"/>
          <p:nvPr/>
        </p:nvSpPr>
        <p:spPr>
          <a:xfrm>
            <a:off x="16488485" y="368276"/>
            <a:ext cx="1541631" cy="46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ENGLISH</a:t>
            </a:r>
          </a:p>
        </p:txBody>
      </p:sp>
      <p:sp>
        <p:nvSpPr>
          <p:cNvPr id="44" name="Freeform 30"/>
          <p:cNvSpPr/>
          <p:nvPr/>
        </p:nvSpPr>
        <p:spPr>
          <a:xfrm>
            <a:off x="1371601" y="4229100"/>
            <a:ext cx="6705600" cy="838173"/>
          </a:xfrm>
          <a:custGeom>
            <a:avLst/>
            <a:gdLst/>
            <a:ahLst/>
            <a:cxnLst/>
            <a:rect l="l" t="t" r="r" b="b"/>
            <a:pathLst>
              <a:path w="8964422" h="770763">
                <a:moveTo>
                  <a:pt x="0" y="0"/>
                </a:moveTo>
                <a:lnTo>
                  <a:pt x="8964422" y="0"/>
                </a:lnTo>
                <a:lnTo>
                  <a:pt x="8964422" y="770763"/>
                </a:lnTo>
                <a:lnTo>
                  <a:pt x="0" y="770763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76619" b="-176623"/>
            </a:stretch>
          </a:blipFill>
          <a:ln w="28575" cap="sq">
            <a:solidFill>
              <a:srgbClr val="FF0000"/>
            </a:solidFill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419100"/>
            <a:ext cx="7543800" cy="9582666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830357"/>
              </p:ext>
            </p:extLst>
          </p:nvPr>
        </p:nvGraphicFramePr>
        <p:xfrm>
          <a:off x="9144000" y="1333500"/>
          <a:ext cx="8722195" cy="655652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5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55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lang="en-US" sz="110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Session / Speaker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1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13:30 ~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14:10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Registration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14:10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 14:20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Welcome &amp; Opening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Remarks</a:t>
                      </a: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14:20 ~ 14:40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SG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Can AI Improve Day-to-Day Logistics in Vietnam?</a:t>
                      </a:r>
                      <a:br>
                        <a:rPr lang="en-SG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Asia Pacific, Vice President | Mr. Kim Dong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Kyun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14:40 ~ 15:00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Ocean Freight Market Outlook and Strategy</a:t>
                      </a:r>
                      <a:endParaRPr lang="en-US" sz="1100" dirty="0" smtClean="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Asia Pacific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Ocean Logistics Team Leader | Mr. Matthew Thong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Jit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Fong</a:t>
                      </a: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249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15:00 ~ 15:20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Networking &amp; Break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15:20 ~ 15:40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Air Freight Market Outlook and Strategy</a:t>
                      </a:r>
                      <a:endParaRPr lang="en-US" sz="1100" dirty="0" smtClean="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Asia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Pacific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Air Logistics Team Leader | Mr. Bae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Kyungjin</a:t>
                      </a:r>
                      <a:endParaRPr lang="en-US" sz="1800" dirty="0" smtClean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1872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15:40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16:00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From Outsourced Function to Strategic Engine: The New Era of Contract Logistics</a:t>
                      </a:r>
                      <a:endParaRPr lang="en-US" sz="1100" dirty="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dirty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Asia Pacific, Contract </a:t>
                      </a:r>
                      <a:r>
                        <a:rPr lang="en-US" sz="1800" dirty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Logistics Team Leader | Mr. Nay </a:t>
                      </a:r>
                      <a:r>
                        <a:rPr lang="en-US" sz="1800" dirty="0" err="1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Htoo</a:t>
                      </a:r>
                      <a:r>
                        <a:rPr lang="en-US" sz="1800" dirty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Aung</a:t>
                      </a: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16:00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16:30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Lucky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Draw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16:30 ~ 16:40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Closing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42351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8991600" y="8496300"/>
            <a:ext cx="11188401" cy="585499"/>
          </a:xfrm>
          <a:prstGeom prst="rect">
            <a:avLst/>
          </a:prstGeom>
        </p:spPr>
        <p:txBody>
          <a:bodyPr lIns="50800" tIns="50800" rIns="50800" bIns="50800" rtlCol="0" anchor="t"/>
          <a:lstStyle/>
          <a:p>
            <a:pPr>
              <a:lnSpc>
                <a:spcPts val="2160"/>
              </a:lnSpc>
            </a:pPr>
            <a:r>
              <a:rPr lang="en-US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Sessions and </a:t>
            </a:r>
            <a:r>
              <a:rPr lang="en-SG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speakers 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subject to change without prior </a:t>
            </a:r>
            <a:r>
              <a:rPr lang="en-SG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notification.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conference will be presented in mainly in English and Korean with Vietnamese translation were possible.</a:t>
            </a:r>
          </a:p>
          <a:p>
            <a:pPr>
              <a:lnSpc>
                <a:spcPts val="2160"/>
              </a:lnSpc>
            </a:pPr>
            <a:r>
              <a:rPr lang="en-US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Only registered attendees who receive a confirmation email will be admitted to the conference.</a:t>
            </a:r>
            <a:endParaRPr lang="en-US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160"/>
              </a:lnSpc>
            </a:pP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447800" y="8877300"/>
            <a:ext cx="7086600" cy="838200"/>
            <a:chOff x="0" y="0"/>
            <a:chExt cx="6863448" cy="9345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63461" cy="934593"/>
            </a:xfrm>
            <a:custGeom>
              <a:avLst/>
              <a:gdLst/>
              <a:ahLst/>
              <a:cxnLst/>
              <a:rect l="l" t="t" r="r" b="b"/>
              <a:pathLst>
                <a:path w="6863461" h="934593">
                  <a:moveTo>
                    <a:pt x="0" y="0"/>
                  </a:moveTo>
                  <a:lnTo>
                    <a:pt x="6863461" y="0"/>
                  </a:lnTo>
                  <a:lnTo>
                    <a:pt x="6863461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3097" b="-9309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1" name="AutoShape 21"/>
          <p:cNvSpPr/>
          <p:nvPr/>
        </p:nvSpPr>
        <p:spPr>
          <a:xfrm flipV="1">
            <a:off x="8534400" y="8877300"/>
            <a:ext cx="457200" cy="423372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676400" y="1866900"/>
            <a:ext cx="6553200" cy="6477000"/>
            <a:chOff x="0" y="0"/>
            <a:chExt cx="6863448" cy="9345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63461" cy="934593"/>
            </a:xfrm>
            <a:custGeom>
              <a:avLst/>
              <a:gdLst/>
              <a:ahLst/>
              <a:cxnLst/>
              <a:rect l="l" t="t" r="r" b="b"/>
              <a:pathLst>
                <a:path w="6863461" h="934593">
                  <a:moveTo>
                    <a:pt x="0" y="0"/>
                  </a:moveTo>
                  <a:lnTo>
                    <a:pt x="6863461" y="0"/>
                  </a:lnTo>
                  <a:lnTo>
                    <a:pt x="6863461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3097" b="-9309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4" name="AutoShape 24"/>
          <p:cNvSpPr/>
          <p:nvPr/>
        </p:nvSpPr>
        <p:spPr>
          <a:xfrm flipV="1">
            <a:off x="8229600" y="4381501"/>
            <a:ext cx="914400" cy="45720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16482289" y="334094"/>
            <a:ext cx="1541631" cy="46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ENGLISH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19100"/>
            <a:ext cx="6934200" cy="9233985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 rot="2700000">
            <a:off x="3898649" y="86405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0083689" y="667236"/>
            <a:ext cx="1421511" cy="461676"/>
          </a:xfrm>
          <a:custGeom>
            <a:avLst/>
            <a:gdLst/>
            <a:ahLst/>
            <a:cxnLst/>
            <a:rect l="l" t="t" r="r" b="b"/>
            <a:pathLst>
              <a:path w="1895348" h="615567">
                <a:moveTo>
                  <a:pt x="0" y="0"/>
                </a:moveTo>
                <a:lnTo>
                  <a:pt x="1895348" y="0"/>
                </a:lnTo>
                <a:lnTo>
                  <a:pt x="1895348" y="615567"/>
                </a:lnTo>
                <a:lnTo>
                  <a:pt x="0" y="615567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9997" r="-2" b="-9995"/>
            </a:stretch>
          </a:blipFill>
          <a:ln cap="sq">
            <a:noFill/>
            <a:prstDash val="solid"/>
            <a:miter/>
          </a:ln>
        </p:spPr>
      </p:sp>
      <p:sp>
        <p:nvSpPr>
          <p:cNvPr id="16" name="AutoShape 16"/>
          <p:cNvSpPr/>
          <p:nvPr/>
        </p:nvSpPr>
        <p:spPr>
          <a:xfrm rot="2700000">
            <a:off x="4184399" y="2452878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10083689" y="2154203"/>
            <a:ext cx="5256372" cy="492760"/>
          </a:xfrm>
          <a:custGeom>
            <a:avLst/>
            <a:gdLst/>
            <a:ahLst/>
            <a:cxnLst/>
            <a:rect l="l" t="t" r="r" b="b"/>
            <a:pathLst>
              <a:path w="7008495" h="657014">
                <a:moveTo>
                  <a:pt x="0" y="0"/>
                </a:moveTo>
                <a:lnTo>
                  <a:pt x="7008495" y="0"/>
                </a:lnTo>
                <a:lnTo>
                  <a:pt x="7008495" y="657014"/>
                </a:lnTo>
                <a:lnTo>
                  <a:pt x="0" y="65701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61004" b="-154694"/>
            </a:stretch>
          </a:blipFill>
          <a:ln cap="sq">
            <a:noFill/>
            <a:prstDash val="solid"/>
            <a:miter/>
          </a:ln>
        </p:spPr>
      </p:sp>
      <p:grpSp>
        <p:nvGrpSpPr>
          <p:cNvPr id="21" name="Group 21"/>
          <p:cNvGrpSpPr/>
          <p:nvPr/>
        </p:nvGrpSpPr>
        <p:grpSpPr>
          <a:xfrm>
            <a:off x="1981200" y="2781300"/>
            <a:ext cx="5595833" cy="762000"/>
            <a:chOff x="0" y="0"/>
            <a:chExt cx="7461110" cy="14094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61123" cy="1409446"/>
            </a:xfrm>
            <a:custGeom>
              <a:avLst/>
              <a:gdLst/>
              <a:ahLst/>
              <a:cxnLst/>
              <a:rect l="l" t="t" r="r" b="b"/>
              <a:pathLst>
                <a:path w="7461123" h="1409446">
                  <a:moveTo>
                    <a:pt x="0" y="0"/>
                  </a:moveTo>
                  <a:lnTo>
                    <a:pt x="7461123" y="0"/>
                  </a:lnTo>
                  <a:lnTo>
                    <a:pt x="7461123" y="1409446"/>
                  </a:lnTo>
                  <a:lnTo>
                    <a:pt x="0" y="14094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46" b="-5314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3" name="AutoShape 23"/>
          <p:cNvSpPr/>
          <p:nvPr/>
        </p:nvSpPr>
        <p:spPr>
          <a:xfrm rot="2700000">
            <a:off x="5426164" y="3296393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0083689" y="3060387"/>
            <a:ext cx="7996817" cy="559640"/>
            <a:chOff x="0" y="0"/>
            <a:chExt cx="9620469" cy="74618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59233" cy="692890"/>
            </a:xfrm>
            <a:custGeom>
              <a:avLst/>
              <a:gdLst/>
              <a:ahLst/>
              <a:cxnLst/>
              <a:rect l="l" t="t" r="r" b="b"/>
              <a:pathLst>
                <a:path w="9559233" h="692890">
                  <a:moveTo>
                    <a:pt x="0" y="0"/>
                  </a:moveTo>
                  <a:lnTo>
                    <a:pt x="9559233" y="0"/>
                  </a:lnTo>
                  <a:lnTo>
                    <a:pt x="9559233" y="692890"/>
                  </a:lnTo>
                  <a:lnTo>
                    <a:pt x="0" y="692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528" r="11821" b="-21255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248" y="34284"/>
              <a:ext cx="9559221" cy="71190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>
                <a:lnSpc>
                  <a:spcPts val="2520"/>
                </a:lnSpc>
              </a:pP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Nâng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cao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tính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linh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hoạt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chuỗi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cung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ứng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Từ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nhận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thức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đến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hành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động</a:t>
              </a:r>
              <a:endPara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7" name="AutoShape 27"/>
          <p:cNvSpPr/>
          <p:nvPr/>
        </p:nvSpPr>
        <p:spPr>
          <a:xfrm flipV="1">
            <a:off x="7803023" y="3320207"/>
            <a:ext cx="2280666" cy="108703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1676400" y="3695700"/>
            <a:ext cx="6172200" cy="685800"/>
            <a:chOff x="0" y="0"/>
            <a:chExt cx="8964384" cy="7707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64422" cy="770763"/>
            </a:xfrm>
            <a:custGeom>
              <a:avLst/>
              <a:gdLst/>
              <a:ahLst/>
              <a:cxnLst/>
              <a:rect l="l" t="t" r="r" b="b"/>
              <a:pathLst>
                <a:path w="8964422" h="770763">
                  <a:moveTo>
                    <a:pt x="0" y="0"/>
                  </a:moveTo>
                  <a:lnTo>
                    <a:pt x="8964422" y="0"/>
                  </a:lnTo>
                  <a:lnTo>
                    <a:pt x="8964422" y="770763"/>
                  </a:lnTo>
                  <a:lnTo>
                    <a:pt x="0" y="770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619" b="-176623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31" name="AutoShape 31"/>
          <p:cNvSpPr/>
          <p:nvPr/>
        </p:nvSpPr>
        <p:spPr>
          <a:xfrm rot="2700000">
            <a:off x="4902860" y="4285821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10134601" y="3848100"/>
            <a:ext cx="8001000" cy="807076"/>
            <a:chOff x="0" y="0"/>
            <a:chExt cx="10939081" cy="107610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9119" cy="1076114"/>
            </a:xfrm>
            <a:custGeom>
              <a:avLst/>
              <a:gdLst/>
              <a:ahLst/>
              <a:cxnLst/>
              <a:rect l="l" t="t" r="r" b="b"/>
              <a:pathLst>
                <a:path w="10939119" h="1076114">
                  <a:moveTo>
                    <a:pt x="0" y="0"/>
                  </a:moveTo>
                  <a:lnTo>
                    <a:pt x="10939119" y="0"/>
                  </a:lnTo>
                  <a:lnTo>
                    <a:pt x="10939119" y="1076114"/>
                  </a:lnTo>
                  <a:lnTo>
                    <a:pt x="0" y="1076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21" r="5427" b="-115923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10939081" cy="10951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 July (Friday) 13:30 ~ 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16:40 </a:t>
              </a: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(local time)</a:t>
              </a:r>
            </a:p>
            <a:p>
              <a:pPr>
                <a:lnSpc>
                  <a:spcPts val="252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InterContinental Hanoi Landmark 72 | 5F Ballroom 1 |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Hà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Nội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100" dirty="0" err="1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Việt</a:t>
              </a:r>
              <a:r>
                <a:rPr lang="en-US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Nam</a:t>
              </a:r>
              <a:endPara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" name="AutoShape 35"/>
          <p:cNvSpPr/>
          <p:nvPr/>
        </p:nvSpPr>
        <p:spPr>
          <a:xfrm>
            <a:off x="8407175" y="4276192"/>
            <a:ext cx="1676514" cy="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 rot="2700000">
            <a:off x="4306862" y="7256726"/>
            <a:ext cx="40415" cy="0"/>
          </a:xfrm>
          <a:prstGeom prst="line">
            <a:avLst/>
          </a:prstGeom>
          <a:ln w="19050" cap="rnd">
            <a:solidFill>
              <a:srgbClr val="1560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TextBox 43"/>
          <p:cNvSpPr txBox="1"/>
          <p:nvPr/>
        </p:nvSpPr>
        <p:spPr>
          <a:xfrm>
            <a:off x="15987393" y="368276"/>
            <a:ext cx="230060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VIETNAMESE</a:t>
            </a:r>
            <a:endParaRPr lang="en-US" sz="2700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</p:spTree>
    <p:extLst>
      <p:ext uri="{BB962C8B-B14F-4D97-AF65-F5344CB8AC3E}">
        <p14:creationId xmlns:p14="http://schemas.microsoft.com/office/powerpoint/2010/main" val="99879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19100"/>
            <a:ext cx="6477000" cy="9268433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717404"/>
              </p:ext>
            </p:extLst>
          </p:nvPr>
        </p:nvGraphicFramePr>
        <p:xfrm>
          <a:off x="8229600" y="1333500"/>
          <a:ext cx="9067800" cy="7041236"/>
        </p:xfrm>
        <a:graphic>
          <a:graphicData uri="http://schemas.openxmlformats.org/drawingml/2006/table">
            <a:tbl>
              <a:tblPr/>
              <a:tblGrid>
                <a:gridCol w="1863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4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55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Thời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gian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Nội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dung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chương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trình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Diễn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giả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1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13:30 ~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14:10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Đăng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ký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và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đón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tiếp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14:10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14:20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Phát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biểu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khai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mạc</a:t>
                      </a:r>
                      <a:endParaRPr lang="en-US" sz="1800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14:20 ~ 14:40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 có thể tối ưu hóa các hoạt động logistics trong vận hành thực tế tại Việt Nam như thế nào?</a:t>
                      </a:r>
                      <a:r>
                        <a:rPr lang="en-SG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SG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Châu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Á –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Thái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Bình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Dương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Phó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chủ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tịch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Kim Dong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Kyun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14:40 ~ 15:00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Triển vọng và định hướng chiến lược thị trường vận tải đường biển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Châu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Á –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Thái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Bình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Dương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b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Trưởng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bộ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tải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đường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biển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Matthew Thong Jit Fong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249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15:00 ~ 15:20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Giao lưu/ Giải lao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15:20 ~ 15:40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Triển vọng và định hướng chiến lược thị trường vận tải hàng không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Châu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Á –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Thái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Bình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Dương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b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Trưởng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bộ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tải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hàng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không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Bae Kyung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Jin</a:t>
                      </a:r>
                      <a:endParaRPr lang="en-US" sz="1800" dirty="0" smtClean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1872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15:40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16:00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Từ hoạt động thuê ngoài đến trụ cột chiến lược: Kỷ nguyên mới của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ontract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lang="vi-VN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ogistics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Samsung SDS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Châu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Á –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Thái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Bình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Dương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b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Trưởng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bộ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phận</a:t>
                      </a:r>
                      <a:r>
                        <a:rPr lang="en-US" sz="1800" baseline="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Contract Logistics |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Ông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Nay </a:t>
                      </a:r>
                      <a:r>
                        <a:rPr lang="en-US" sz="1800" dirty="0" err="1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Htoo</a:t>
                      </a:r>
                      <a:r>
                        <a:rPr lang="en-US" sz="1800" dirty="0" smtClean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Aung</a:t>
                      </a:r>
                      <a:endParaRPr lang="en-US" sz="1800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16:20 ~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16:30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Rút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thăm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may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mắn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16:30 ~ 16:40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Bế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mạc</a:t>
                      </a:r>
                      <a:endParaRPr lang="en-US" sz="1100" dirty="0"/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1060247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8153400" y="8572500"/>
            <a:ext cx="9753600" cy="444811"/>
          </a:xfrm>
          <a:prstGeom prst="rect">
            <a:avLst/>
          </a:prstGeom>
        </p:spPr>
        <p:txBody>
          <a:bodyPr lIns="50800" tIns="50800" rIns="50800" bIns="50800" rtlCol="0" anchor="t"/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</a:t>
            </a:r>
            <a:r>
              <a:rPr lang="en-US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Chương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trình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lang="en-US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Diễn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vi-VN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thể thay đổi mà không cần thông báo trước.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</a:t>
            </a:r>
            <a:r>
              <a:rPr lang="en-SG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Ngôn</a:t>
            </a:r>
            <a:r>
              <a:rPr lang="en-SG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ngữ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nghị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sẽ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Hàn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Anh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kèm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phiên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dịch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Việt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kiện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S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SG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phép</a:t>
            </a:r>
            <a:r>
              <a:rPr lang="en-SG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>
              <a:lnSpc>
                <a:spcPts val="2160"/>
              </a:lnSpc>
            </a:pPr>
            <a:r>
              <a:rPr lang="en-US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</a:t>
            </a:r>
            <a:r>
              <a:rPr lang="vi-V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nghị chỉ trân trọng chào đón Quý khách đã đăng ký và nhận được email xác nhận</a:t>
            </a:r>
            <a:endParaRPr lang="en-SG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00201" y="1562100"/>
            <a:ext cx="5715000" cy="6858000"/>
            <a:chOff x="0" y="0"/>
            <a:chExt cx="10703739" cy="80282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03740" cy="8028178"/>
            </a:xfrm>
            <a:custGeom>
              <a:avLst/>
              <a:gdLst/>
              <a:ahLst/>
              <a:cxnLst/>
              <a:rect l="l" t="t" r="r" b="b"/>
              <a:pathLst>
                <a:path w="10703740" h="8028178">
                  <a:moveTo>
                    <a:pt x="0" y="0"/>
                  </a:moveTo>
                  <a:lnTo>
                    <a:pt x="10703740" y="0"/>
                  </a:lnTo>
                  <a:lnTo>
                    <a:pt x="10703740" y="8028178"/>
                  </a:lnTo>
                  <a:lnTo>
                    <a:pt x="0" y="80281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729" r="-48735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447800" y="8724900"/>
            <a:ext cx="6096000" cy="761999"/>
            <a:chOff x="0" y="0"/>
            <a:chExt cx="6863448" cy="9345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63461" cy="934593"/>
            </a:xfrm>
            <a:custGeom>
              <a:avLst/>
              <a:gdLst/>
              <a:ahLst/>
              <a:cxnLst/>
              <a:rect l="l" t="t" r="r" b="b"/>
              <a:pathLst>
                <a:path w="6863461" h="934593">
                  <a:moveTo>
                    <a:pt x="0" y="0"/>
                  </a:moveTo>
                  <a:lnTo>
                    <a:pt x="6863461" y="0"/>
                  </a:lnTo>
                  <a:lnTo>
                    <a:pt x="6863461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3097" b="-9309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1" name="AutoShape 21"/>
          <p:cNvSpPr/>
          <p:nvPr/>
        </p:nvSpPr>
        <p:spPr>
          <a:xfrm flipV="1">
            <a:off x="7543801" y="9105900"/>
            <a:ext cx="609600" cy="42372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1"/>
          <p:cNvSpPr/>
          <p:nvPr/>
        </p:nvSpPr>
        <p:spPr>
          <a:xfrm flipV="1">
            <a:off x="7315200" y="4305300"/>
            <a:ext cx="914400" cy="42372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43"/>
          <p:cNvSpPr txBox="1"/>
          <p:nvPr/>
        </p:nvSpPr>
        <p:spPr>
          <a:xfrm>
            <a:off x="15987393" y="368276"/>
            <a:ext cx="230060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VIETNAMESE</a:t>
            </a:r>
            <a:endParaRPr lang="en-US" sz="2700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</p:spTree>
    <p:extLst>
      <p:ext uri="{BB962C8B-B14F-4D97-AF65-F5344CB8AC3E}">
        <p14:creationId xmlns:p14="http://schemas.microsoft.com/office/powerpoint/2010/main" val="116252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571499"/>
            <a:ext cx="7162800" cy="8875643"/>
          </a:xfrm>
          <a:prstGeom prst="rect">
            <a:avLst/>
          </a:prstGeom>
        </p:spPr>
      </p:pic>
      <p:sp>
        <p:nvSpPr>
          <p:cNvPr id="11" name="Freeform 11"/>
          <p:cNvSpPr/>
          <p:nvPr/>
        </p:nvSpPr>
        <p:spPr>
          <a:xfrm>
            <a:off x="10083689" y="667236"/>
            <a:ext cx="1421511" cy="461676"/>
          </a:xfrm>
          <a:custGeom>
            <a:avLst/>
            <a:gdLst/>
            <a:ahLst/>
            <a:cxnLst/>
            <a:rect l="l" t="t" r="r" b="b"/>
            <a:pathLst>
              <a:path w="1895348" h="615567">
                <a:moveTo>
                  <a:pt x="0" y="0"/>
                </a:moveTo>
                <a:lnTo>
                  <a:pt x="1895348" y="0"/>
                </a:lnTo>
                <a:lnTo>
                  <a:pt x="1895348" y="615567"/>
                </a:lnTo>
                <a:lnTo>
                  <a:pt x="0" y="615567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9997" r="-2" b="-9995"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10083689" y="2154203"/>
            <a:ext cx="5256372" cy="492760"/>
          </a:xfrm>
          <a:custGeom>
            <a:avLst/>
            <a:gdLst/>
            <a:ahLst/>
            <a:cxnLst/>
            <a:rect l="l" t="t" r="r" b="b"/>
            <a:pathLst>
              <a:path w="7008495" h="657014">
                <a:moveTo>
                  <a:pt x="0" y="0"/>
                </a:moveTo>
                <a:lnTo>
                  <a:pt x="7008495" y="0"/>
                </a:lnTo>
                <a:lnTo>
                  <a:pt x="7008495" y="657014"/>
                </a:lnTo>
                <a:lnTo>
                  <a:pt x="0" y="65701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61004" b="-154694"/>
            </a:stretch>
          </a:blipFill>
          <a:ln cap="sq">
            <a:noFill/>
            <a:prstDash val="solid"/>
            <a:miter/>
          </a:ln>
        </p:spPr>
      </p:sp>
      <p:grpSp>
        <p:nvGrpSpPr>
          <p:cNvPr id="21" name="Group 21"/>
          <p:cNvGrpSpPr/>
          <p:nvPr/>
        </p:nvGrpSpPr>
        <p:grpSpPr>
          <a:xfrm>
            <a:off x="1828800" y="3086100"/>
            <a:ext cx="5595833" cy="762000"/>
            <a:chOff x="0" y="0"/>
            <a:chExt cx="7461110" cy="14094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61123" cy="1409446"/>
            </a:xfrm>
            <a:custGeom>
              <a:avLst/>
              <a:gdLst/>
              <a:ahLst/>
              <a:cxnLst/>
              <a:rect l="l" t="t" r="r" b="b"/>
              <a:pathLst>
                <a:path w="7461123" h="1409446">
                  <a:moveTo>
                    <a:pt x="0" y="0"/>
                  </a:moveTo>
                  <a:lnTo>
                    <a:pt x="7461123" y="0"/>
                  </a:lnTo>
                  <a:lnTo>
                    <a:pt x="7461123" y="1409446"/>
                  </a:lnTo>
                  <a:lnTo>
                    <a:pt x="0" y="14094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46" b="-53147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9677400" y="4076700"/>
            <a:ext cx="8174056" cy="1143000"/>
            <a:chOff x="-274461" y="0"/>
            <a:chExt cx="9833694" cy="7119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59233" cy="692890"/>
            </a:xfrm>
            <a:custGeom>
              <a:avLst/>
              <a:gdLst/>
              <a:ahLst/>
              <a:cxnLst/>
              <a:rect l="l" t="t" r="r" b="b"/>
              <a:pathLst>
                <a:path w="9559233" h="692890">
                  <a:moveTo>
                    <a:pt x="0" y="0"/>
                  </a:moveTo>
                  <a:lnTo>
                    <a:pt x="9559233" y="0"/>
                  </a:lnTo>
                  <a:lnTo>
                    <a:pt x="9559233" y="692890"/>
                  </a:lnTo>
                  <a:lnTo>
                    <a:pt x="0" y="692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528" r="11821" b="-21255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-274461" y="0"/>
              <a:ext cx="9559221" cy="71190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>
                <a:lnSpc>
                  <a:spcPts val="2520"/>
                </a:lnSpc>
              </a:pPr>
              <a:r>
                <a:rPr lang="en-US" altLang="ko-KR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2026</a:t>
              </a:r>
              <a:r>
                <a:rPr lang="ko-KR" alt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년 </a:t>
              </a:r>
              <a:r>
                <a:rPr lang="en-US" altLang="ko-KR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r>
                <a:rPr lang="ko-KR" alt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월 </a:t>
              </a:r>
              <a:r>
                <a:rPr lang="en-US" altLang="ko-KR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</a:t>
              </a:r>
              <a:r>
                <a:rPr lang="ko-KR" alt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일</a:t>
              </a:r>
              <a:r>
                <a:rPr lang="en-US" altLang="ko-KR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ko-KR" altLang="en-US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금</a:t>
              </a:r>
              <a:r>
                <a:rPr lang="en-US" altLang="ko-KR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13:30 ~ </a:t>
              </a:r>
              <a:r>
                <a:rPr lang="en-US" altLang="ko-KR" sz="21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16:40</a:t>
              </a:r>
            </a:p>
            <a:p>
              <a:pPr>
                <a:lnSpc>
                  <a:spcPts val="2520"/>
                </a:lnSpc>
              </a:pPr>
              <a:r>
                <a:rPr lang="en-US" altLang="ko-KR" sz="21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| InterContinental Hanoi Landmark 72 (5F Ballroom 1)</a:t>
              </a:r>
              <a:endParaRPr lang="en-US" altLang="ko-KR" sz="21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ts val="2520"/>
                </a:lnSpc>
              </a:pPr>
              <a:endPara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7" name="AutoShape 27"/>
          <p:cNvSpPr/>
          <p:nvPr/>
        </p:nvSpPr>
        <p:spPr>
          <a:xfrm>
            <a:off x="7467600" y="3467098"/>
            <a:ext cx="2057400" cy="2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1676400" y="3924300"/>
            <a:ext cx="6172200" cy="381000"/>
            <a:chOff x="0" y="0"/>
            <a:chExt cx="8964384" cy="7707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64422" cy="770763"/>
            </a:xfrm>
            <a:custGeom>
              <a:avLst/>
              <a:gdLst/>
              <a:ahLst/>
              <a:cxnLst/>
              <a:rect l="l" t="t" r="r" b="b"/>
              <a:pathLst>
                <a:path w="8964422" h="770763">
                  <a:moveTo>
                    <a:pt x="0" y="0"/>
                  </a:moveTo>
                  <a:lnTo>
                    <a:pt x="8964422" y="0"/>
                  </a:lnTo>
                  <a:lnTo>
                    <a:pt x="8964422" y="770763"/>
                  </a:lnTo>
                  <a:lnTo>
                    <a:pt x="0" y="770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619" b="-176623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16687800" y="368276"/>
            <a:ext cx="1600200" cy="409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KOREAN</a:t>
            </a:r>
            <a:endParaRPr lang="en-US" sz="2700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8" name="AutoShape 27"/>
          <p:cNvSpPr/>
          <p:nvPr/>
        </p:nvSpPr>
        <p:spPr>
          <a:xfrm>
            <a:off x="7848600" y="4152900"/>
            <a:ext cx="1676400" cy="228600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TextBox 26"/>
          <p:cNvSpPr txBox="1"/>
          <p:nvPr/>
        </p:nvSpPr>
        <p:spPr>
          <a:xfrm>
            <a:off x="9677400" y="3162300"/>
            <a:ext cx="7945906" cy="533927"/>
          </a:xfrm>
          <a:prstGeom prst="rect">
            <a:avLst/>
          </a:prstGeom>
        </p:spPr>
        <p:txBody>
          <a:bodyPr lIns="50800" tIns="50800" rIns="50800" bIns="50800" rtlCol="0" anchor="t"/>
          <a:lstStyle/>
          <a:p>
            <a:pPr>
              <a:lnSpc>
                <a:spcPts val="2520"/>
              </a:lnSpc>
            </a:pPr>
            <a:r>
              <a:rPr lang="en-US" altLang="ko-KR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ko-KR" alt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와 자동화 시대의 디지털 물류 전략</a:t>
            </a:r>
            <a:endParaRPr lang="en-US" sz="2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8235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00100"/>
            <a:ext cx="7023501" cy="86106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1371600" y="2171700"/>
            <a:ext cx="6095999" cy="5791200"/>
            <a:chOff x="0" y="0"/>
            <a:chExt cx="10703739" cy="80282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03740" cy="8028178"/>
            </a:xfrm>
            <a:custGeom>
              <a:avLst/>
              <a:gdLst/>
              <a:ahLst/>
              <a:cxnLst/>
              <a:rect l="l" t="t" r="r" b="b"/>
              <a:pathLst>
                <a:path w="10703740" h="8028178">
                  <a:moveTo>
                    <a:pt x="0" y="0"/>
                  </a:moveTo>
                  <a:lnTo>
                    <a:pt x="10703740" y="0"/>
                  </a:lnTo>
                  <a:lnTo>
                    <a:pt x="10703740" y="8028178"/>
                  </a:lnTo>
                  <a:lnTo>
                    <a:pt x="0" y="80281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729" r="-48735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295400" y="8267701"/>
            <a:ext cx="6096000" cy="762000"/>
            <a:chOff x="0" y="0"/>
            <a:chExt cx="6863448" cy="9345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63461" cy="934593"/>
            </a:xfrm>
            <a:custGeom>
              <a:avLst/>
              <a:gdLst/>
              <a:ahLst/>
              <a:cxnLst/>
              <a:rect l="l" t="t" r="r" b="b"/>
              <a:pathLst>
                <a:path w="6863461" h="934593">
                  <a:moveTo>
                    <a:pt x="0" y="0"/>
                  </a:moveTo>
                  <a:lnTo>
                    <a:pt x="6863461" y="0"/>
                  </a:lnTo>
                  <a:lnTo>
                    <a:pt x="6863461" y="934593"/>
                  </a:lnTo>
                  <a:lnTo>
                    <a:pt x="0" y="934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3097" b="-93090"/>
              </a:stretch>
            </a:blipFill>
            <a:ln w="28575" cap="sq">
              <a:solidFill>
                <a:srgbClr val="FF0000"/>
              </a:solidFill>
              <a:prstDash val="solid"/>
              <a:miter/>
            </a:ln>
          </p:spPr>
        </p:sp>
      </p:grpSp>
      <p:sp>
        <p:nvSpPr>
          <p:cNvPr id="21" name="AutoShape 21"/>
          <p:cNvSpPr/>
          <p:nvPr/>
        </p:nvSpPr>
        <p:spPr>
          <a:xfrm>
            <a:off x="7467600" y="8691071"/>
            <a:ext cx="470301" cy="643401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1"/>
          <p:cNvSpPr/>
          <p:nvPr/>
        </p:nvSpPr>
        <p:spPr>
          <a:xfrm flipV="1">
            <a:off x="7315200" y="1790752"/>
            <a:ext cx="1066800" cy="1794919"/>
          </a:xfrm>
          <a:prstGeom prst="line">
            <a:avLst/>
          </a:prstGeom>
          <a:ln w="19050" cap="rnd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43"/>
          <p:cNvSpPr txBox="1"/>
          <p:nvPr/>
        </p:nvSpPr>
        <p:spPr>
          <a:xfrm>
            <a:off x="16687800" y="368276"/>
            <a:ext cx="1600200" cy="409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KOREAN</a:t>
            </a:r>
            <a:endParaRPr lang="en-US" sz="2700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graphicFrame>
        <p:nvGraphicFramePr>
          <p:cNvPr id="1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359807"/>
              </p:ext>
            </p:extLst>
          </p:nvPr>
        </p:nvGraphicFramePr>
        <p:xfrm>
          <a:off x="8382000" y="1333500"/>
          <a:ext cx="9296400" cy="6556520"/>
        </p:xfrm>
        <a:graphic>
          <a:graphicData uri="http://schemas.openxmlformats.org/drawingml/2006/table">
            <a:tbl>
              <a:tblPr/>
              <a:tblGrid>
                <a:gridCol w="178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55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dirty="0" smtClean="0">
                          <a:latin typeface="+mn-ea"/>
                          <a:ea typeface="+mn-ea"/>
                        </a:rPr>
                        <a:t>시간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주제</a:t>
                      </a:r>
                      <a:r>
                        <a:rPr lang="en-US" altLang="ko-KR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/</a:t>
                      </a:r>
                      <a:r>
                        <a:rPr lang="ko-KR" altLang="en-US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발표자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1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13:30 ~ </a:t>
                      </a: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14:10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참가자 등록 및 입장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14:10 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~ 14:20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환영사</a:t>
                      </a:r>
                      <a:endParaRPr lang="en-US" altLang="ko-KR" sz="14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14:20 ~ 14:40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400" b="0" dirty="0" smtClean="0">
                          <a:latin typeface="+mn-ea"/>
                          <a:ea typeface="+mn-ea"/>
                        </a:rPr>
                        <a:t>는 베트남의 물류 운영을 어떻게 혁신할 수 있을까</a:t>
                      </a:r>
                      <a:r>
                        <a:rPr lang="en-US" altLang="ko-KR" sz="1400" b="0" dirty="0" smtClean="0">
                          <a:latin typeface="+mn-ea"/>
                          <a:ea typeface="+mn-ea"/>
                        </a:rPr>
                        <a:t>?</a:t>
                      </a:r>
                      <a:r>
                        <a:rPr lang="en-SG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/>
                      </a:r>
                      <a:br>
                        <a:rPr lang="en-SG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</a:br>
                      <a:r>
                        <a:rPr lang="ko-KR" altLang="en-US" sz="1400" b="0" dirty="0" smtClean="0">
                          <a:latin typeface="+mn-ea"/>
                          <a:ea typeface="+mn-ea"/>
                        </a:rPr>
                        <a:t>삼성</a:t>
                      </a:r>
                      <a:r>
                        <a:rPr lang="en-US" altLang="ko-KR" sz="1400" b="0" dirty="0" smtClean="0">
                          <a:latin typeface="+mn-ea"/>
                          <a:ea typeface="+mn-ea"/>
                        </a:rPr>
                        <a:t>SDS </a:t>
                      </a:r>
                      <a:r>
                        <a:rPr lang="ko-KR" altLang="en-US" sz="1400" b="0" dirty="0" smtClean="0">
                          <a:latin typeface="+mn-ea"/>
                          <a:ea typeface="+mn-ea"/>
                        </a:rPr>
                        <a:t>동남아권역장 김동균 상무</a:t>
                      </a:r>
                      <a:endParaRPr lang="en-US" sz="1400" b="0" dirty="0">
                        <a:solidFill>
                          <a:srgbClr val="00B0F0"/>
                        </a:solidFill>
                        <a:latin typeface="+mn-ea"/>
                        <a:ea typeface="+mn-ea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14:40 ~ 15:00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해상 시황 및 중동 리스크 대응</a:t>
                      </a:r>
                      <a:endParaRPr lang="en-US" altLang="ko-KR" sz="1400" b="0" i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삼성</a:t>
                      </a:r>
                      <a:r>
                        <a:rPr lang="en-US" altLang="ko-KR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SDS </a:t>
                      </a:r>
                      <a:r>
                        <a:rPr lang="ko-KR" altLang="en-US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동남아권역</a:t>
                      </a: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해상물류</a:t>
                      </a: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Matthew Thong </a:t>
                      </a:r>
                      <a:r>
                        <a:rPr lang="en-US" altLang="ko-KR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Jit</a:t>
                      </a:r>
                      <a:r>
                        <a:rPr lang="en-US" altLang="ko-KR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Fong </a:t>
                      </a: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팀장</a:t>
                      </a:r>
                      <a:endParaRPr lang="en-US" sz="1400" b="0" dirty="0" smtClean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249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15:00 ~ 15:20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네트워킹 및 휴식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99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15:20 ~ 15:40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항공 시황 및 베트남 전략</a:t>
                      </a:r>
                      <a:endParaRPr lang="en-US" altLang="ko-KR" sz="1400" b="0" i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삼성</a:t>
                      </a:r>
                      <a:r>
                        <a:rPr lang="en-US" altLang="ko-KR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SDS </a:t>
                      </a:r>
                      <a:r>
                        <a:rPr lang="ko-KR" altLang="en-US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동남아권역</a:t>
                      </a: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항공물류 </a:t>
                      </a:r>
                      <a:r>
                        <a:rPr lang="ko-KR" altLang="en-US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배경진</a:t>
                      </a: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팀장</a:t>
                      </a:r>
                      <a:endParaRPr lang="en-US" sz="1400" b="0" dirty="0" smtClean="0">
                        <a:solidFill>
                          <a:srgbClr val="00B0F0"/>
                        </a:solidFill>
                        <a:latin typeface="+mn-ea"/>
                        <a:ea typeface="+mn-ea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1872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15:40 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~ </a:t>
                      </a: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16:00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 물류의 새로운 시대 </a:t>
                      </a:r>
                      <a:r>
                        <a:rPr lang="en-US" altLang="ko-KR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아웃소싱 기능에서 전략적 엔진으로</a:t>
                      </a:r>
                      <a:endParaRPr lang="en-US" altLang="ko-KR" sz="1400" b="0" i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삼성</a:t>
                      </a:r>
                      <a:r>
                        <a:rPr lang="en-US" altLang="ko-KR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SDS </a:t>
                      </a:r>
                      <a:r>
                        <a:rPr lang="ko-KR" altLang="en-US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동남아권역</a:t>
                      </a: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계약물류</a:t>
                      </a: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Nay </a:t>
                      </a:r>
                      <a:r>
                        <a:rPr lang="en-US" altLang="ko-KR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Htoo</a:t>
                      </a:r>
                      <a:r>
                        <a:rPr lang="en-US" altLang="ko-KR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Aung </a:t>
                      </a:r>
                      <a:r>
                        <a:rPr lang="ko-KR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팀장</a:t>
                      </a:r>
                      <a:endParaRPr lang="en-US" sz="1400" b="0" dirty="0">
                        <a:solidFill>
                          <a:srgbClr val="00B0F0"/>
                        </a:solidFill>
                        <a:latin typeface="+mn-ea"/>
                        <a:ea typeface="+mn-ea"/>
                        <a:cs typeface="Times New Roman"/>
                        <a:sym typeface="Times New Roman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16:00 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~ </a:t>
                      </a: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16:30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ko-KR" altLang="en-US" sz="140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럭키드로우</a:t>
                      </a:r>
                      <a:endParaRPr lang="en-US" sz="1400" b="0" dirty="0">
                        <a:latin typeface="+mn-ea"/>
                        <a:ea typeface="+mn-ea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16:30 ~ 16:40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Times New Roman"/>
                          <a:sym typeface="Times New Roman"/>
                        </a:rPr>
                        <a:t>마무리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762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423516"/>
                  </a:ext>
                </a:extLst>
              </a:tr>
            </a:tbl>
          </a:graphicData>
        </a:graphic>
      </p:graphicFrame>
      <p:sp>
        <p:nvSpPr>
          <p:cNvPr id="15" name="TextBox 7"/>
          <p:cNvSpPr txBox="1"/>
          <p:nvPr/>
        </p:nvSpPr>
        <p:spPr>
          <a:xfrm>
            <a:off x="8077200" y="9105900"/>
            <a:ext cx="11188401" cy="585499"/>
          </a:xfrm>
          <a:prstGeom prst="rect">
            <a:avLst/>
          </a:prstGeom>
        </p:spPr>
        <p:txBody>
          <a:bodyPr lIns="50800" tIns="50800" rIns="50800" bIns="50800" rtlCol="0" anchor="t"/>
          <a:lstStyle/>
          <a:p>
            <a:pPr>
              <a:lnSpc>
                <a:spcPts val="2160"/>
              </a:lnSpc>
            </a:pPr>
            <a:r>
              <a:rPr lang="en-US" altLang="ko-KR" dirty="0"/>
              <a:t>※ </a:t>
            </a:r>
            <a:r>
              <a:rPr lang="ko-KR" altLang="en-US" dirty="0"/>
              <a:t>세션 및 연사는 사전 공지 없이 변경될 수 있습니다</a:t>
            </a:r>
            <a:r>
              <a:rPr lang="en-US" altLang="ko-KR" dirty="0"/>
              <a:t>.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altLang="ko-KR" dirty="0"/>
              <a:t>※ </a:t>
            </a:r>
            <a:r>
              <a:rPr lang="ko-KR" altLang="en-US" dirty="0" smtClean="0"/>
              <a:t>본 </a:t>
            </a:r>
            <a:r>
              <a:rPr lang="ko-KR" altLang="en-US" dirty="0"/>
              <a:t>컨퍼런스는 주로 </a:t>
            </a:r>
            <a:r>
              <a:rPr lang="ko-KR" altLang="en-US" dirty="0" smtClean="0"/>
              <a:t>영어 및 </a:t>
            </a:r>
            <a:r>
              <a:rPr lang="ko-KR" altLang="en-US" dirty="0"/>
              <a:t>한국어로 </a:t>
            </a:r>
            <a:r>
              <a:rPr lang="ko-KR" altLang="en-US" dirty="0" smtClean="0"/>
              <a:t>진행됩니다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베트남어 통역 제공 가능</a:t>
            </a:r>
            <a:r>
              <a:rPr lang="en-US" altLang="ko-KR" dirty="0" smtClean="0"/>
              <a:t>)</a:t>
            </a:r>
            <a:endParaRPr lang="en-US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2160"/>
              </a:lnSpc>
            </a:pPr>
            <a:r>
              <a:rPr lang="en-US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</a:t>
            </a:r>
            <a:r>
              <a:rPr lang="ko-KR" altLang="en-US" dirty="0" smtClean="0"/>
              <a:t>사전 </a:t>
            </a:r>
            <a:r>
              <a:rPr lang="ko-KR" altLang="en-US" dirty="0"/>
              <a:t>등록 후 참가 확정 이메일을 받으신 분에 </a:t>
            </a:r>
            <a:r>
              <a:rPr lang="ko-KR" altLang="en-US" dirty="0" smtClean="0"/>
              <a:t>한하여 </a:t>
            </a:r>
            <a:r>
              <a:rPr lang="ko-KR" altLang="en-US" dirty="0"/>
              <a:t>컨퍼런스에 입장하실 수 있습니다</a:t>
            </a:r>
            <a:r>
              <a:rPr lang="en-US" altLang="ko-KR" dirty="0"/>
              <a:t>.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0907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709</Words>
  <Application>Microsoft Office PowerPoint</Application>
  <PresentationFormat>사용자 지정</PresentationFormat>
  <Paragraphs>90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Aptos Bold</vt:lpstr>
      <vt:lpstr>맑은 고딕</vt:lpstr>
      <vt:lpstr>Calibri</vt:lpstr>
      <vt:lpstr>Arial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- Promotional Page - Cello Square Conference 2026.pptx</dc:title>
  <dc:creator>SDS</dc:creator>
  <cp:lastModifiedBy>SDS</cp:lastModifiedBy>
  <cp:revision>47</cp:revision>
  <dcterms:created xsi:type="dcterms:W3CDTF">2006-08-16T00:00:00Z</dcterms:created>
  <dcterms:modified xsi:type="dcterms:W3CDTF">2026-07-21T04:06:36Z</dcterms:modified>
  <dc:identifier>DAHMyfIBDs8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AB39E81F9A0A24F13E3F3D2DBFC90F5346DCD4D13FF7FD138F632E8AD1913D70693C46FAEBADB57442FAACC2A7DD932EC1F4027F16E0550BFF53363CCEBB6F18</vt:lpwstr>
  </property>
</Properties>
</file>