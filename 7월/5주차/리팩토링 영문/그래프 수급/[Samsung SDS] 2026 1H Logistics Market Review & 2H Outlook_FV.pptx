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4.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5.xml" ContentType="application/vnd.openxmlformats-officedocument.presentationml.notesSlide+xml"/>
  <Override PartName="/ppt/charts/chart8.xml" ContentType="application/vnd.openxmlformats-officedocument.drawingml.chart+xml"/>
  <Override PartName="/ppt/charts/style6.xml" ContentType="application/vnd.ms-office.chartstyle+xml"/>
  <Override PartName="/ppt/charts/colors6.xml" ContentType="application/vnd.ms-office.chartcolorstyle+xml"/>
  <Override PartName="/ppt/charts/chart9.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6.xml" ContentType="application/vnd.openxmlformats-officedocument.presentationml.notesSlide+xml"/>
  <Override PartName="/ppt/charts/chart10.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7.xml" ContentType="application/vnd.openxmlformats-officedocument.presentationml.notesSlide+xml"/>
  <Override PartName="/ppt/charts/chart11.xml" ContentType="application/vnd.openxmlformats-officedocument.drawingml.chart+xml"/>
  <Override PartName="/ppt/charts/style9.xml" ContentType="application/vnd.ms-office.chartstyle+xml"/>
  <Override PartName="/ppt/charts/colors9.xml" ContentType="application/vnd.ms-office.chartcolorstyle+xml"/>
  <Override PartName="/ppt/charts/chart12.xml" ContentType="application/vnd.openxmlformats-officedocument.drawingml.chart+xml"/>
  <Override PartName="/ppt/notesSlides/notesSlide8.xml" ContentType="application/vnd.openxmlformats-officedocument.presentationml.notesSlide+xml"/>
  <Override PartName="/ppt/charts/chart13.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9.xml" ContentType="application/vnd.openxmlformats-officedocument.presentationml.notesSlide+xml"/>
  <Override PartName="/ppt/charts/chart14.xml" ContentType="application/vnd.openxmlformats-officedocument.drawingml.chart+xml"/>
  <Override PartName="/ppt/theme/themeOverride1.xml" ContentType="application/vnd.openxmlformats-officedocument.themeOverride+xml"/>
  <Override PartName="/ppt/charts/chart15.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10.xml" ContentType="application/vnd.openxmlformats-officedocument.presentationml.notesSlide+xml"/>
  <Override PartName="/ppt/charts/chart16.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11.xml" ContentType="application/vnd.openxmlformats-officedocument.presentationml.notesSlide+xml"/>
  <Override PartName="/ppt/charts/chart17.xml" ContentType="application/vnd.openxmlformats-officedocument.drawingml.chart+xml"/>
  <Override PartName="/ppt/charts/chart18.xml" ContentType="application/vnd.openxmlformats-officedocument.drawingml.chart+xml"/>
  <Override PartName="/ppt/drawings/drawing1.xml" ContentType="application/vnd.openxmlformats-officedocument.drawingml.chartshapes+xml"/>
  <Override PartName="/ppt/notesSlides/notesSlide12.xml" ContentType="application/vnd.openxmlformats-officedocument.presentationml.notesSlide+xml"/>
  <Override PartName="/ppt/charts/chart19.xml" ContentType="application/vnd.openxmlformats-officedocument.drawingml.chart+xml"/>
  <Override PartName="/ppt/notesSlides/notesSlide13.xml" ContentType="application/vnd.openxmlformats-officedocument.presentationml.notesSlide+xml"/>
  <Override PartName="/ppt/charts/chart20.xml" ContentType="application/vnd.openxmlformats-officedocument.drawingml.chart+xml"/>
  <Override PartName="/ppt/notesSlides/notesSlide14.xml" ContentType="application/vnd.openxmlformats-officedocument.presentationml.notesSlide+xml"/>
  <Override PartName="/ppt/charts/chart21.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15.xml" ContentType="application/vnd.openxmlformats-officedocument.presentationml.notesSlide+xml"/>
  <Override PartName="/ppt/charts/chart22.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16.xml" ContentType="application/vnd.openxmlformats-officedocument.presentationml.notesSlide+xml"/>
  <Override PartName="/ppt/charts/chart23.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17.xml" ContentType="application/vnd.openxmlformats-officedocument.presentationml.notesSlide+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notesSlides/notesSlide18.xml" ContentType="application/vnd.openxmlformats-officedocument.presentationml.notesSlide+xml"/>
  <Override PartName="/ppt/charts/chart27.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28.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29.xml" ContentType="application/vnd.openxmlformats-officedocument.drawingml.chart+xml"/>
  <Override PartName="/ppt/charts/style18.xml" ContentType="application/vnd.ms-office.chartstyle+xml"/>
  <Override PartName="/ppt/charts/colors18.xml" ContentType="application/vnd.ms-office.chartcolorstyle+xml"/>
  <Override PartName="/ppt/notesSlides/notesSlide19.xml" ContentType="application/vnd.openxmlformats-officedocument.presentationml.notesSlide+xml"/>
  <Override PartName="/ppt/charts/chart30.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31.xml" ContentType="application/vnd.openxmlformats-officedocument.drawingml.chart+xml"/>
  <Override PartName="/ppt/charts/style20.xml" ContentType="application/vnd.ms-office.chartstyle+xml"/>
  <Override PartName="/ppt/charts/colors20.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706" r:id="rId2"/>
  </p:sldMasterIdLst>
  <p:notesMasterIdLst>
    <p:notesMasterId r:id="rId30"/>
  </p:notesMasterIdLst>
  <p:handoutMasterIdLst>
    <p:handoutMasterId r:id="rId31"/>
  </p:handoutMasterIdLst>
  <p:sldIdLst>
    <p:sldId id="385" r:id="rId3"/>
    <p:sldId id="386" r:id="rId4"/>
    <p:sldId id="429" r:id="rId5"/>
    <p:sldId id="547" r:id="rId6"/>
    <p:sldId id="415" r:id="rId7"/>
    <p:sldId id="595" r:id="rId8"/>
    <p:sldId id="423" r:id="rId9"/>
    <p:sldId id="468" r:id="rId10"/>
    <p:sldId id="599" r:id="rId11"/>
    <p:sldId id="600" r:id="rId12"/>
    <p:sldId id="601" r:id="rId13"/>
    <p:sldId id="405" r:id="rId14"/>
    <p:sldId id="404" r:id="rId15"/>
    <p:sldId id="406" r:id="rId16"/>
    <p:sldId id="543" r:id="rId17"/>
    <p:sldId id="544" r:id="rId18"/>
    <p:sldId id="545" r:id="rId19"/>
    <p:sldId id="546" r:id="rId20"/>
    <p:sldId id="602" r:id="rId21"/>
    <p:sldId id="603" r:id="rId22"/>
    <p:sldId id="604" r:id="rId23"/>
    <p:sldId id="605" r:id="rId24"/>
    <p:sldId id="606" r:id="rId25"/>
    <p:sldId id="607" r:id="rId26"/>
    <p:sldId id="596" r:id="rId27"/>
    <p:sldId id="597" r:id="rId28"/>
    <p:sldId id="598" r:id="rId29"/>
  </p:sldIdLst>
  <p:sldSz cx="12192000" cy="6858000"/>
  <p:notesSz cx="6797675" cy="9928225"/>
  <p:custShowLst>
    <p:custShow name="리스크GPT" id="0">
      <p:sldLst/>
    </p:custShow>
    <p:custShow name="MI GPT" id="1">
      <p:sldLst/>
    </p:custShow>
  </p:custShow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71A30C28-45D2-4A51-915D-2C8280835498}">
          <p14:sldIdLst>
            <p14:sldId id="385"/>
            <p14:sldId id="386"/>
            <p14:sldId id="429"/>
            <p14:sldId id="547"/>
          </p14:sldIdLst>
        </p14:section>
        <p14:section name="26 상반기" id="{817CC9C4-567D-4573-9CD5-E055AEB467CA}">
          <p14:sldIdLst>
            <p14:sldId id="415"/>
            <p14:sldId id="595"/>
            <p14:sldId id="423"/>
            <p14:sldId id="468"/>
            <p14:sldId id="599"/>
            <p14:sldId id="600"/>
            <p14:sldId id="601"/>
          </p14:sldIdLst>
        </p14:section>
        <p14:section name="26 하반기" id="{245093FE-911C-483C-ACAE-AC42F55C8B70}">
          <p14:sldIdLst>
            <p14:sldId id="405"/>
            <p14:sldId id="404"/>
            <p14:sldId id="406"/>
            <p14:sldId id="543"/>
            <p14:sldId id="544"/>
            <p14:sldId id="545"/>
            <p14:sldId id="546"/>
            <p14:sldId id="602"/>
            <p14:sldId id="603"/>
            <p14:sldId id="604"/>
            <p14:sldId id="605"/>
            <p14:sldId id="606"/>
            <p14:sldId id="607"/>
            <p14:sldId id="596"/>
            <p14:sldId id="597"/>
            <p14:sldId id="598"/>
          </p14:sldIdLst>
        </p14:section>
      </p14:sectionLst>
    </p:ext>
    <p:ext uri="{EFAFB233-063F-42B5-8137-9DF3F51BA10A}">
      <p15:sldGuideLst xmlns:p15="http://schemas.microsoft.com/office/powerpoint/2012/main">
        <p15:guide id="1" orient="horz" pos="3974" userDrawn="1">
          <p15:clr>
            <a:srgbClr val="A4A3A4"/>
          </p15:clr>
        </p15:guide>
        <p15:guide id="2" pos="325" userDrawn="1">
          <p15:clr>
            <a:srgbClr val="A4A3A4"/>
          </p15:clr>
        </p15:guide>
        <p15:guide id="3" pos="7355" userDrawn="1">
          <p15:clr>
            <a:srgbClr val="A4A3A4"/>
          </p15:clr>
        </p15:guide>
        <p15:guide id="4" orient="horz" pos="3702" userDrawn="1">
          <p15:clr>
            <a:srgbClr val="A4A3A4"/>
          </p15:clr>
        </p15:guide>
        <p15:guide id="6" orient="horz" pos="1570" userDrawn="1">
          <p15:clr>
            <a:srgbClr val="A4A3A4"/>
          </p15:clr>
        </p15:guide>
        <p15:guide id="7" pos="3840" userDrawn="1">
          <p15:clr>
            <a:srgbClr val="A4A3A4"/>
          </p15:clr>
        </p15:guide>
        <p15:guide id="8" pos="3727" userDrawn="1">
          <p15:clr>
            <a:srgbClr val="A4A3A4"/>
          </p15:clr>
        </p15:guide>
        <p15:guide id="9" pos="3953" userDrawn="1">
          <p15:clr>
            <a:srgbClr val="A4A3A4"/>
          </p15:clr>
        </p15:guide>
        <p15:guide id="10" orient="horz" pos="3067" userDrawn="1">
          <p15:clr>
            <a:srgbClr val="A4A3A4"/>
          </p15:clr>
        </p15:guide>
        <p15:guide id="11" orient="horz" pos="383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AF00"/>
    <a:srgbClr val="0000FF"/>
    <a:srgbClr val="3CD0BA"/>
    <a:srgbClr val="8B8BFF"/>
    <a:srgbClr val="002B5C"/>
    <a:srgbClr val="D6DCE5"/>
    <a:srgbClr val="9B8146"/>
    <a:srgbClr val="2FC3AE"/>
    <a:srgbClr val="2AB09D"/>
    <a:srgbClr val="16419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테마 스타일 1 - 강조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92" autoAdjust="0"/>
    <p:restoredTop sz="90459" autoAdjust="0"/>
  </p:normalViewPr>
  <p:slideViewPr>
    <p:cSldViewPr snapToGrid="0" snapToObjects="1">
      <p:cViewPr varScale="1">
        <p:scale>
          <a:sx n="85" d="100"/>
          <a:sy n="85" d="100"/>
        </p:scale>
        <p:origin x="60" y="84"/>
      </p:cViewPr>
      <p:guideLst>
        <p:guide orient="horz" pos="3974"/>
        <p:guide pos="325"/>
        <p:guide pos="7355"/>
        <p:guide orient="horz" pos="3702"/>
        <p:guide orient="horz" pos="1570"/>
        <p:guide pos="3840"/>
        <p:guide pos="3727"/>
        <p:guide pos="3953"/>
        <p:guide orient="horz" pos="3067"/>
        <p:guide orient="horz" pos="3838"/>
      </p:guideLst>
    </p:cSldViewPr>
  </p:slideViewPr>
  <p:notesTextViewPr>
    <p:cViewPr>
      <p:scale>
        <a:sx n="200" d="100"/>
        <a:sy n="200" d="100"/>
      </p:scale>
      <p:origin x="0" y="0"/>
    </p:cViewPr>
  </p:notesTextViewPr>
  <p:sorterViewPr>
    <p:cViewPr varScale="1">
      <p:scale>
        <a:sx n="1" d="1"/>
        <a:sy n="1" d="1"/>
      </p:scale>
      <p:origin x="0" y="0"/>
    </p:cViewPr>
  </p:sorterViewPr>
  <p:notesViewPr>
    <p:cSldViewPr snapToGrid="0" snapToObjects="1" showGuides="1">
      <p:cViewPr varScale="1">
        <p:scale>
          <a:sx n="63" d="100"/>
          <a:sy n="63" d="100"/>
        </p:scale>
        <p:origin x="238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6.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_.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____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____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____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____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____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____6.xlsx"/></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____7.xlsx"/><Relationship Id="rId2" Type="http://schemas.microsoft.com/office/2011/relationships/chartColorStyle" Target="colors6.xml"/><Relationship Id="rId1" Type="http://schemas.microsoft.com/office/2011/relationships/chartStyle" Target="style6.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____8.xlsx"/><Relationship Id="rId2" Type="http://schemas.microsoft.com/office/2011/relationships/chartColorStyle" Target="colors7.xml"/><Relationship Id="rId1" Type="http://schemas.microsoft.com/office/2011/relationships/chartStyle" Target="style7.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____9.xlsx"/><Relationship Id="rId2" Type="http://schemas.microsoft.com/office/2011/relationships/chartColorStyle" Target="colors8.xml"/><Relationship Id="rId1" Type="http://schemas.microsoft.com/office/2011/relationships/chartStyle" Target="style8.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____10.xlsx"/><Relationship Id="rId2" Type="http://schemas.microsoft.com/office/2011/relationships/chartColorStyle" Target="colors9.xml"/><Relationship Id="rId1" Type="http://schemas.microsoft.com/office/2011/relationships/chartStyle" Target="style9.xml"/></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____11.xlsx"/></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____12.xlsx"/><Relationship Id="rId2" Type="http://schemas.microsoft.com/office/2011/relationships/chartColorStyle" Target="colors10.xml"/><Relationship Id="rId1" Type="http://schemas.microsoft.com/office/2011/relationships/chartStyle" Target="style10.xml"/></Relationships>
</file>

<file path=ppt/charts/_rels/chart14.xml.rels><?xml version="1.0" encoding="UTF-8" standalone="yes"?>
<Relationships xmlns="http://schemas.openxmlformats.org/package/2006/relationships"><Relationship Id="rId2" Type="http://schemas.openxmlformats.org/officeDocument/2006/relationships/package" Target="../embeddings/Microsoft_Excel_____13.xlsx"/><Relationship Id="rId1" Type="http://schemas.openxmlformats.org/officeDocument/2006/relationships/themeOverride" Target="../theme/themeOverride1.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____14.xlsx"/><Relationship Id="rId2" Type="http://schemas.microsoft.com/office/2011/relationships/chartColorStyle" Target="colors11.xml"/><Relationship Id="rId1" Type="http://schemas.microsoft.com/office/2011/relationships/chartStyle" Target="style11.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____15.xlsx"/><Relationship Id="rId2" Type="http://schemas.microsoft.com/office/2011/relationships/chartColorStyle" Target="colors12.xml"/><Relationship Id="rId1" Type="http://schemas.microsoft.com/office/2011/relationships/chartStyle" Target="style12.xml"/></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____16.xlsx"/></Relationships>
</file>

<file path=ppt/charts/_rels/chart18.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____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____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____19.xlsx"/></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____20.xlsx"/><Relationship Id="rId2" Type="http://schemas.microsoft.com/office/2011/relationships/chartColorStyle" Target="colors13.xml"/><Relationship Id="rId1" Type="http://schemas.microsoft.com/office/2011/relationships/chartStyle" Target="style13.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____21.xlsx"/><Relationship Id="rId2" Type="http://schemas.microsoft.com/office/2011/relationships/chartColorStyle" Target="colors14.xml"/><Relationship Id="rId1" Type="http://schemas.microsoft.com/office/2011/relationships/chartStyle" Target="style14.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____22.xlsx"/><Relationship Id="rId2" Type="http://schemas.microsoft.com/office/2011/relationships/chartColorStyle" Target="colors15.xml"/><Relationship Id="rId1" Type="http://schemas.microsoft.com/office/2011/relationships/chartStyle" Target="style15.xml"/></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____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____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____25.xlsx"/></Relationships>
</file>

<file path=ppt/charts/_rels/chart27.xml.rels><?xml version="1.0" encoding="UTF-8" standalone="yes"?>
<Relationships xmlns="http://schemas.openxmlformats.org/package/2006/relationships"><Relationship Id="rId3" Type="http://schemas.openxmlformats.org/officeDocument/2006/relationships/oleObject" Target="file:///K:\My%20files\2.%20&#44592;&#54925;&#54016;(25.11~)\MI(2025~)\1-4.%20&#51221;&#44592;%20&#47112;&#54252;&#53944;\3.%20&#48152;&#44592;%20&#48372;&#44256;&#49436;\2026%20&#54616;&#48152;&#44592;\%231.&#50976;&#44032;&#48516;&#49437;_0616_v2.xlsx" TargetMode="External"/><Relationship Id="rId2" Type="http://schemas.microsoft.com/office/2011/relationships/chartColorStyle" Target="colors16.xml"/><Relationship Id="rId1" Type="http://schemas.microsoft.com/office/2011/relationships/chartStyle" Target="style16.xml"/></Relationships>
</file>

<file path=ppt/charts/_rels/chart28.xml.rels><?xml version="1.0" encoding="UTF-8" standalone="yes"?>
<Relationships xmlns="http://schemas.openxmlformats.org/package/2006/relationships"><Relationship Id="rId3" Type="http://schemas.openxmlformats.org/officeDocument/2006/relationships/oleObject" Target="file:///K:\My%20files\2.%20&#44592;&#54925;&#54016;(25.11~)\MI(2025~)\1-4.%20&#51221;&#44592;%20&#47112;&#54252;&#53944;\3.%20&#48152;&#44592;%20&#48372;&#44256;&#49436;\2026%20&#54616;&#48152;&#44592;\%231.&#50976;&#44032;&#48516;&#49437;_0616_v2.xlsx" TargetMode="External"/><Relationship Id="rId2" Type="http://schemas.microsoft.com/office/2011/relationships/chartColorStyle" Target="colors17.xml"/><Relationship Id="rId1" Type="http://schemas.microsoft.com/office/2011/relationships/chartStyle" Target="style17.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____26.xlsx"/><Relationship Id="rId2" Type="http://schemas.microsoft.com/office/2011/relationships/chartColorStyle" Target="colors18.xml"/><Relationship Id="rId1" Type="http://schemas.microsoft.com/office/2011/relationships/chartStyle" Target="style18.xml"/></Relationships>
</file>

<file path=ppt/charts/_rels/chart30.xml.rels><?xml version="1.0" encoding="UTF-8" standalone="yes"?>
<Relationships xmlns="http://schemas.openxmlformats.org/package/2006/relationships"><Relationship Id="rId3" Type="http://schemas.openxmlformats.org/officeDocument/2006/relationships/oleObject" Target="file:///K:\My%20files\2.%20&#44592;&#54925;&#54016;(25.11~)\MI(2025~)\1-4.%20&#51221;&#44592;%20&#47112;&#54252;&#53944;\3.%20&#48152;&#44592;%20&#48372;&#44256;&#49436;\2026%20&#54616;&#48152;&#44592;\Backup%20data_&#48152;&#44592;&#48372;&#44256;&#49436;.xlsx" TargetMode="External"/><Relationship Id="rId2" Type="http://schemas.microsoft.com/office/2011/relationships/chartColorStyle" Target="colors19.xml"/><Relationship Id="rId1" Type="http://schemas.microsoft.com/office/2011/relationships/chartStyle" Target="style19.xml"/></Relationships>
</file>

<file path=ppt/charts/_rels/chart31.xml.rels><?xml version="1.0" encoding="UTF-8" standalone="yes"?>
<Relationships xmlns="http://schemas.openxmlformats.org/package/2006/relationships"><Relationship Id="rId3" Type="http://schemas.openxmlformats.org/officeDocument/2006/relationships/oleObject" Target="file:///K:\My%20files\2.%20&#44592;&#54925;&#54016;(25.11~)\MI(2025~)\1-4.%20&#51221;&#44592;%20&#47112;&#54252;&#53944;\3.%20&#48152;&#44592;%20&#48372;&#44256;&#49436;\2026%20&#54616;&#48152;&#44592;\Backup%20data_&#48152;&#44592;&#48372;&#44256;&#49436;.xlsx" TargetMode="External"/><Relationship Id="rId2" Type="http://schemas.microsoft.com/office/2011/relationships/chartColorStyle" Target="colors20.xml"/><Relationship Id="rId1" Type="http://schemas.microsoft.com/office/2011/relationships/chartStyle" Target="style2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sz="1200" b="1" dirty="0" smtClean="0"/>
              <a:t>[China-Origin Container Volumes by Major Route (Jan–May 2026, YoY)]</a:t>
            </a:r>
          </a:p>
        </c:rich>
      </c:tx>
      <c:layout>
        <c:manualLayout>
          <c:xMode val="edge"/>
          <c:yMode val="edge"/>
          <c:x val="0.1017347483589123"/>
          <c:y val="2.4100065004464478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autoTitleDeleted val="0"/>
    <c:plotArea>
      <c:layout>
        <c:manualLayout>
          <c:layoutTarget val="inner"/>
          <c:xMode val="edge"/>
          <c:yMode val="edge"/>
          <c:x val="0.25276466380999613"/>
          <c:y val="0.15967755273369419"/>
          <c:w val="0.64218480473964223"/>
          <c:h val="0.70775390209971745"/>
        </c:manualLayout>
      </c:layout>
      <c:barChart>
        <c:barDir val="bar"/>
        <c:grouping val="clustered"/>
        <c:varyColors val="0"/>
        <c:ser>
          <c:idx val="2"/>
          <c:order val="2"/>
          <c:tx>
            <c:strRef>
              <c:f>Sheet1!$D$1</c:f>
              <c:strCache>
                <c:ptCount val="1"/>
                <c:pt idx="0">
                  <c:v>증감(TEU)</c:v>
                </c:pt>
              </c:strCache>
            </c:strRef>
          </c:tx>
          <c:spPr>
            <a:solidFill>
              <a:srgbClr val="002B5C"/>
            </a:solidFill>
            <a:ln cap="rnd">
              <a:noFill/>
            </a:ln>
            <a:effectLst/>
          </c:spPr>
          <c:invertIfNegative val="0"/>
          <c:dPt>
            <c:idx val="0"/>
            <c:invertIfNegative val="0"/>
            <c:bubble3D val="0"/>
            <c:spPr>
              <a:solidFill>
                <a:srgbClr val="3CD0BA"/>
              </a:solidFill>
              <a:ln cap="rnd">
                <a:noFill/>
              </a:ln>
              <a:effectLst/>
            </c:spPr>
            <c:extLst>
              <c:ext xmlns:c16="http://schemas.microsoft.com/office/drawing/2014/chart" uri="{C3380CC4-5D6E-409C-BE32-E72D297353CC}">
                <c16:uniqueId val="{00000005-DA64-47D7-A50D-2EFBD814D633}"/>
              </c:ext>
            </c:extLst>
          </c:dPt>
          <c:dPt>
            <c:idx val="5"/>
            <c:invertIfNegative val="0"/>
            <c:bubble3D val="0"/>
            <c:spPr>
              <a:solidFill>
                <a:srgbClr val="3CD0BA"/>
              </a:solidFill>
              <a:ln cap="rnd">
                <a:noFill/>
              </a:ln>
              <a:effectLst/>
            </c:spPr>
            <c:extLst>
              <c:ext xmlns:c16="http://schemas.microsoft.com/office/drawing/2014/chart" uri="{C3380CC4-5D6E-409C-BE32-E72D297353CC}">
                <c16:uniqueId val="{00000004-DA64-47D7-A50D-2EFBD814D633}"/>
              </c:ext>
            </c:extLst>
          </c:dPt>
          <c:cat>
            <c:strRef>
              <c:f>Sheet1!$A$2:$A$8</c:f>
              <c:strCache>
                <c:ptCount val="7"/>
                <c:pt idx="0">
                  <c:v>Middle East</c:v>
                </c:pt>
                <c:pt idx="1">
                  <c:v>ECSA</c:v>
                </c:pt>
                <c:pt idx="2">
                  <c:v>USEC</c:v>
                </c:pt>
                <c:pt idx="3">
                  <c:v>USWC</c:v>
                </c:pt>
                <c:pt idx="4">
                  <c:v>W.Med &amp; N.Africa</c:v>
                </c:pt>
                <c:pt idx="5">
                  <c:v>N.Europe</c:v>
                </c:pt>
                <c:pt idx="6">
                  <c:v>Total</c:v>
                </c:pt>
              </c:strCache>
            </c:strRef>
          </c:cat>
          <c:val>
            <c:numRef>
              <c:f>Sheet1!$D$2:$D$8</c:f>
              <c:numCache>
                <c:formatCode>_(* #,##0_);_(* \(#,##0\);_(* "-"_);_(@_)</c:formatCode>
                <c:ptCount val="7"/>
                <c:pt idx="0">
                  <c:v>-249904</c:v>
                </c:pt>
                <c:pt idx="1">
                  <c:v>203139</c:v>
                </c:pt>
                <c:pt idx="2">
                  <c:v>46500</c:v>
                </c:pt>
                <c:pt idx="3">
                  <c:v>90542</c:v>
                </c:pt>
                <c:pt idx="4">
                  <c:v>177269</c:v>
                </c:pt>
                <c:pt idx="5">
                  <c:v>453685</c:v>
                </c:pt>
                <c:pt idx="6">
                  <c:v>721231</c:v>
                </c:pt>
              </c:numCache>
            </c:numRef>
          </c:val>
          <c:extLst>
            <c:ext xmlns:c16="http://schemas.microsoft.com/office/drawing/2014/chart" uri="{C3380CC4-5D6E-409C-BE32-E72D297353CC}">
              <c16:uniqueId val="{00000002-DA64-47D7-A50D-2EFBD814D633}"/>
            </c:ext>
          </c:extLst>
        </c:ser>
        <c:dLbls>
          <c:showLegendKey val="0"/>
          <c:showVal val="0"/>
          <c:showCatName val="0"/>
          <c:showSerName val="0"/>
          <c:showPercent val="0"/>
          <c:showBubbleSize val="0"/>
        </c:dLbls>
        <c:gapWidth val="50"/>
        <c:axId val="547501631"/>
        <c:axId val="547493311"/>
        <c:extLst>
          <c:ext xmlns:c15="http://schemas.microsoft.com/office/drawing/2012/chart" uri="{02D57815-91ED-43cb-92C2-25804820EDAC}">
            <c15:filteredBarSeries>
              <c15:ser>
                <c:idx val="0"/>
                <c:order val="0"/>
                <c:tx>
                  <c:strRef>
                    <c:extLst>
                      <c:ext uri="{02D57815-91ED-43cb-92C2-25804820EDAC}">
                        <c15:formulaRef>
                          <c15:sqref>Sheet1!$B$1</c15:sqref>
                        </c15:formulaRef>
                      </c:ext>
                    </c:extLst>
                    <c:strCache>
                      <c:ptCount val="1"/>
                      <c:pt idx="0">
                        <c:v>'25.1~5</c:v>
                      </c:pt>
                    </c:strCache>
                  </c:strRef>
                </c:tx>
                <c:spPr>
                  <a:solidFill>
                    <a:schemeClr val="accent1"/>
                  </a:solidFill>
                  <a:ln>
                    <a:solidFill>
                      <a:srgbClr val="0000FF"/>
                    </a:solidFill>
                  </a:ln>
                  <a:effectLst/>
                </c:spPr>
                <c:invertIfNegative val="0"/>
                <c:cat>
                  <c:strRef>
                    <c:extLst>
                      <c:ext uri="{02D57815-91ED-43cb-92C2-25804820EDAC}">
                        <c15:formulaRef>
                          <c15:sqref>Sheet1!$A$2:$A$8</c15:sqref>
                        </c15:formulaRef>
                      </c:ext>
                    </c:extLst>
                    <c:strCache>
                      <c:ptCount val="7"/>
                      <c:pt idx="0">
                        <c:v>Middle East</c:v>
                      </c:pt>
                      <c:pt idx="1">
                        <c:v>ECSA</c:v>
                      </c:pt>
                      <c:pt idx="2">
                        <c:v>USEC</c:v>
                      </c:pt>
                      <c:pt idx="3">
                        <c:v>USWC</c:v>
                      </c:pt>
                      <c:pt idx="4">
                        <c:v>W.Med &amp; N.Africa</c:v>
                      </c:pt>
                      <c:pt idx="5">
                        <c:v>N.Europe</c:v>
                      </c:pt>
                      <c:pt idx="6">
                        <c:v>Total</c:v>
                      </c:pt>
                    </c:strCache>
                  </c:strRef>
                </c:cat>
                <c:val>
                  <c:numRef>
                    <c:extLst>
                      <c:ext uri="{02D57815-91ED-43cb-92C2-25804820EDAC}">
                        <c15:formulaRef>
                          <c15:sqref>Sheet1!$B$2:$B$8</c15:sqref>
                        </c15:formulaRef>
                      </c:ext>
                    </c:extLst>
                    <c:numCache>
                      <c:formatCode>_(* #,##0_);_(* \(#,##0\);_(* "-"_);_(@_)</c:formatCode>
                      <c:ptCount val="7"/>
                      <c:pt idx="0">
                        <c:v>1495105</c:v>
                      </c:pt>
                      <c:pt idx="1">
                        <c:v>815833</c:v>
                      </c:pt>
                      <c:pt idx="2">
                        <c:v>1209883</c:v>
                      </c:pt>
                      <c:pt idx="3">
                        <c:v>2474328</c:v>
                      </c:pt>
                      <c:pt idx="4">
                        <c:v>1200351</c:v>
                      </c:pt>
                      <c:pt idx="5">
                        <c:v>3774390</c:v>
                      </c:pt>
                      <c:pt idx="6">
                        <c:v>10969890</c:v>
                      </c:pt>
                    </c:numCache>
                  </c:numRef>
                </c:val>
                <c:extLst>
                  <c:ext xmlns:c16="http://schemas.microsoft.com/office/drawing/2014/chart" uri="{C3380CC4-5D6E-409C-BE32-E72D297353CC}">
                    <c16:uniqueId val="{00000000-DA64-47D7-A50D-2EFBD814D633}"/>
                  </c:ext>
                </c:extLst>
              </c15:ser>
            </c15:filteredBarSeries>
            <c15:filteredBarSeries>
              <c15:ser>
                <c:idx val="1"/>
                <c:order val="1"/>
                <c:tx>
                  <c:strRef>
                    <c:extLst xmlns:c15="http://schemas.microsoft.com/office/drawing/2012/chart">
                      <c:ext xmlns:c15="http://schemas.microsoft.com/office/drawing/2012/chart" uri="{02D57815-91ED-43cb-92C2-25804820EDAC}">
                        <c15:formulaRef>
                          <c15:sqref>Sheet1!$C$1</c15:sqref>
                        </c15:formulaRef>
                      </c:ext>
                    </c:extLst>
                    <c:strCache>
                      <c:ptCount val="1"/>
                      <c:pt idx="0">
                        <c:v>'26.1~5</c:v>
                      </c:pt>
                    </c:strCache>
                  </c:strRef>
                </c:tx>
                <c:spPr>
                  <a:solidFill>
                    <a:schemeClr val="accent2"/>
                  </a:solidFill>
                  <a:ln>
                    <a:solidFill>
                      <a:srgbClr val="3CD0BA"/>
                    </a:solidFill>
                  </a:ln>
                  <a:effectLst/>
                </c:spPr>
                <c:invertIfNegative val="0"/>
                <c:cat>
                  <c:strRef>
                    <c:extLst xmlns:c15="http://schemas.microsoft.com/office/drawing/2012/chart">
                      <c:ext xmlns:c15="http://schemas.microsoft.com/office/drawing/2012/chart" uri="{02D57815-91ED-43cb-92C2-25804820EDAC}">
                        <c15:formulaRef>
                          <c15:sqref>Sheet1!$A$2:$A$8</c15:sqref>
                        </c15:formulaRef>
                      </c:ext>
                    </c:extLst>
                    <c:strCache>
                      <c:ptCount val="7"/>
                      <c:pt idx="0">
                        <c:v>Middle East</c:v>
                      </c:pt>
                      <c:pt idx="1">
                        <c:v>ECSA</c:v>
                      </c:pt>
                      <c:pt idx="2">
                        <c:v>USEC</c:v>
                      </c:pt>
                      <c:pt idx="3">
                        <c:v>USWC</c:v>
                      </c:pt>
                      <c:pt idx="4">
                        <c:v>W.Med &amp; N.Africa</c:v>
                      </c:pt>
                      <c:pt idx="5">
                        <c:v>N.Europe</c:v>
                      </c:pt>
                      <c:pt idx="6">
                        <c:v>Total</c:v>
                      </c:pt>
                    </c:strCache>
                  </c:strRef>
                </c:cat>
                <c:val>
                  <c:numRef>
                    <c:extLst xmlns:c15="http://schemas.microsoft.com/office/drawing/2012/chart">
                      <c:ext xmlns:c15="http://schemas.microsoft.com/office/drawing/2012/chart" uri="{02D57815-91ED-43cb-92C2-25804820EDAC}">
                        <c15:formulaRef>
                          <c15:sqref>Sheet1!$C$2:$C$8</c15:sqref>
                        </c15:formulaRef>
                      </c:ext>
                    </c:extLst>
                    <c:numCache>
                      <c:formatCode>_(* #,##0_);_(* \(#,##0\);_(* "-"_);_(@_)</c:formatCode>
                      <c:ptCount val="7"/>
                      <c:pt idx="0">
                        <c:v>1245201</c:v>
                      </c:pt>
                      <c:pt idx="1">
                        <c:v>1018972</c:v>
                      </c:pt>
                      <c:pt idx="2">
                        <c:v>1256383</c:v>
                      </c:pt>
                      <c:pt idx="3">
                        <c:v>2564870</c:v>
                      </c:pt>
                      <c:pt idx="4">
                        <c:v>1377620</c:v>
                      </c:pt>
                      <c:pt idx="5">
                        <c:v>4228075</c:v>
                      </c:pt>
                      <c:pt idx="6">
                        <c:v>11691121</c:v>
                      </c:pt>
                    </c:numCache>
                  </c:numRef>
                </c:val>
                <c:extLst xmlns:c15="http://schemas.microsoft.com/office/drawing/2012/chart">
                  <c:ext xmlns:c16="http://schemas.microsoft.com/office/drawing/2014/chart" uri="{C3380CC4-5D6E-409C-BE32-E72D297353CC}">
                    <c16:uniqueId val="{00000001-DA64-47D7-A50D-2EFBD814D633}"/>
                  </c:ext>
                </c:extLst>
              </c15:ser>
            </c15:filteredBarSeries>
            <c15:filteredBarSeries>
              <c15:ser>
                <c:idx val="3"/>
                <c:order val="3"/>
                <c:tx>
                  <c:strRef>
                    <c:extLst xmlns:c15="http://schemas.microsoft.com/office/drawing/2012/chart">
                      <c:ext xmlns:c15="http://schemas.microsoft.com/office/drawing/2012/chart" uri="{02D57815-91ED-43cb-92C2-25804820EDAC}">
                        <c15:formulaRef>
                          <c15:sqref>Sheet1!$E$1</c15:sqref>
                        </c15:formulaRef>
                      </c:ext>
                    </c:extLst>
                    <c:strCache>
                      <c:ptCount val="1"/>
                      <c:pt idx="0">
                        <c:v>증감(%)</c:v>
                      </c:pt>
                    </c:strCache>
                  </c:strRef>
                </c:tx>
                <c:spPr>
                  <a:solidFill>
                    <a:schemeClr val="accent4"/>
                  </a:solidFill>
                  <a:ln w="25400">
                    <a:noFill/>
                  </a:ln>
                  <a:effectLst/>
                </c:spPr>
                <c:invertIfNegative val="0"/>
                <c:cat>
                  <c:strRef>
                    <c:extLst xmlns:c15="http://schemas.microsoft.com/office/drawing/2012/chart">
                      <c:ext xmlns:c15="http://schemas.microsoft.com/office/drawing/2012/chart" uri="{02D57815-91ED-43cb-92C2-25804820EDAC}">
                        <c15:formulaRef>
                          <c15:sqref>Sheet1!$A$2:$A$8</c15:sqref>
                        </c15:formulaRef>
                      </c:ext>
                    </c:extLst>
                    <c:strCache>
                      <c:ptCount val="7"/>
                      <c:pt idx="0">
                        <c:v>Middle East</c:v>
                      </c:pt>
                      <c:pt idx="1">
                        <c:v>ECSA</c:v>
                      </c:pt>
                      <c:pt idx="2">
                        <c:v>USEC</c:v>
                      </c:pt>
                      <c:pt idx="3">
                        <c:v>USWC</c:v>
                      </c:pt>
                      <c:pt idx="4">
                        <c:v>W.Med &amp; N.Africa</c:v>
                      </c:pt>
                      <c:pt idx="5">
                        <c:v>N.Europe</c:v>
                      </c:pt>
                      <c:pt idx="6">
                        <c:v>Total</c:v>
                      </c:pt>
                    </c:strCache>
                  </c:strRef>
                </c:cat>
                <c:val>
                  <c:numRef>
                    <c:extLst xmlns:c15="http://schemas.microsoft.com/office/drawing/2012/chart">
                      <c:ext xmlns:c15="http://schemas.microsoft.com/office/drawing/2012/chart" uri="{02D57815-91ED-43cb-92C2-25804820EDAC}">
                        <c15:formulaRef>
                          <c15:sqref>Sheet1!$E$2:$E$8</c15:sqref>
                        </c15:formulaRef>
                      </c:ext>
                    </c:extLst>
                    <c:numCache>
                      <c:formatCode>0.0%</c:formatCode>
                      <c:ptCount val="7"/>
                      <c:pt idx="0">
                        <c:v>-0.16714812672019691</c:v>
                      </c:pt>
                      <c:pt idx="1">
                        <c:v>0.24899581164282397</c:v>
                      </c:pt>
                      <c:pt idx="2">
                        <c:v>3.8433468360163751E-2</c:v>
                      </c:pt>
                      <c:pt idx="3">
                        <c:v>3.6592561697559901E-2</c:v>
                      </c:pt>
                      <c:pt idx="4">
                        <c:v>0.14768096998294666</c:v>
                      </c:pt>
                      <c:pt idx="5">
                        <c:v>0.12020088014222166</c:v>
                      </c:pt>
                      <c:pt idx="6">
                        <c:v>6.5746420429010688E-2</c:v>
                      </c:pt>
                    </c:numCache>
                  </c:numRef>
                </c:val>
                <c:extLst xmlns:c15="http://schemas.microsoft.com/office/drawing/2012/chart">
                  <c:ext xmlns:c16="http://schemas.microsoft.com/office/drawing/2014/chart" uri="{C3380CC4-5D6E-409C-BE32-E72D297353CC}">
                    <c16:uniqueId val="{00000003-DA64-47D7-A50D-2EFBD814D633}"/>
                  </c:ext>
                </c:extLst>
              </c15:ser>
            </c15:filteredBarSeries>
          </c:ext>
        </c:extLst>
      </c:barChart>
      <c:valAx>
        <c:axId val="547493311"/>
        <c:scaling>
          <c:orientation val="minMax"/>
          <c:max val="500000"/>
          <c:min val="-200000"/>
        </c:scaling>
        <c:delete val="0"/>
        <c:axPos val="t"/>
        <c:majorGridlines>
          <c:spPr>
            <a:ln w="3175" cap="rnd" cmpd="sng" algn="ctr">
              <a:solidFill>
                <a:schemeClr val="tx1">
                  <a:lumMod val="15000"/>
                  <a:lumOff val="85000"/>
                </a:schemeClr>
              </a:solidFill>
              <a:prstDash val="sysDot"/>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dirty="0" smtClean="0"/>
                  <a:t>(k</a:t>
                </a:r>
                <a:r>
                  <a:rPr lang="en-US" altLang="ko-KR" baseline="0" dirty="0" smtClean="0"/>
                  <a:t> TEU)</a:t>
                </a:r>
                <a:endParaRPr lang="ko-KR" altLang="en-US" dirty="0"/>
              </a:p>
            </c:rich>
          </c:tx>
          <c:layout>
            <c:manualLayout>
              <c:xMode val="edge"/>
              <c:yMode val="edge"/>
              <c:x val="0.81318394344700373"/>
              <c:y val="0.1071495489988161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numFmt formatCode="#,##0_ " sourceLinked="0"/>
        <c:majorTickMark val="none"/>
        <c:minorTickMark val="none"/>
        <c:tickLblPos val="low"/>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547501631"/>
        <c:crosses val="max"/>
        <c:crossBetween val="between"/>
        <c:majorUnit val="200000"/>
        <c:dispUnits>
          <c:builtInUnit val="thousands"/>
        </c:dispUnits>
      </c:valAx>
      <c:catAx>
        <c:axId val="547501631"/>
        <c:scaling>
          <c:orientation val="minMax"/>
        </c:scaling>
        <c:delete val="0"/>
        <c:axPos val="l"/>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547493311"/>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sz="1100">
          <a:latin typeface="나눔스퀘어" panose="020B0600000101010101" pitchFamily="50" charset="-127"/>
          <a:ea typeface="나눔스퀘어" panose="020B0600000101010101" pitchFamily="50" charset="-127"/>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sz="1200" b="1" dirty="0" smtClean="0"/>
              <a:t>[Import Volumes at Major U.S. Container Ports]</a:t>
            </a:r>
          </a:p>
        </c:rich>
      </c:tx>
      <c:layout>
        <c:manualLayout>
          <c:xMode val="edge"/>
          <c:yMode val="edge"/>
          <c:x val="0.2097528158579266"/>
          <c:y val="2.0441775886949988E-2"/>
        </c:manualLayout>
      </c:layout>
      <c:overlay val="0"/>
      <c:spPr>
        <a:noFill/>
        <a:ln>
          <a:noFill/>
        </a:ln>
        <a:effectLst/>
      </c:spPr>
      <c:txPr>
        <a:bodyPr rot="0" spcFirstLastPara="1" vertOverflow="ellipsis" vert="horz" wrap="square" anchor="ctr" anchorCtr="1"/>
        <a:lstStyle/>
        <a:p>
          <a:pPr>
            <a:defRPr sz="1440" b="0"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autoTitleDeleted val="0"/>
    <c:plotArea>
      <c:layout>
        <c:manualLayout>
          <c:layoutTarget val="inner"/>
          <c:xMode val="edge"/>
          <c:yMode val="edge"/>
          <c:x val="9.8197957858876819E-2"/>
          <c:y val="0.17048390436326732"/>
          <c:w val="0.80508877836391612"/>
          <c:h val="0.72709154764643202"/>
        </c:manualLayout>
      </c:layout>
      <c:barChart>
        <c:barDir val="col"/>
        <c:grouping val="clustered"/>
        <c:varyColors val="0"/>
        <c:ser>
          <c:idx val="1"/>
          <c:order val="1"/>
          <c:tx>
            <c:strRef>
              <c:f>Sheet1!$C$1</c:f>
              <c:strCache>
                <c:ptCount val="1"/>
                <c:pt idx="0">
                  <c:v>2025</c:v>
                </c:pt>
              </c:strCache>
            </c:strRef>
          </c:tx>
          <c:spPr>
            <a:solidFill>
              <a:srgbClr val="002B5C"/>
            </a:solidFill>
            <a:ln>
              <a:noFill/>
            </a:ln>
            <a:effectLst/>
          </c:spPr>
          <c:invertIfNegative val="0"/>
          <c:dPt>
            <c:idx val="4"/>
            <c:invertIfNegative val="0"/>
            <c:bubble3D val="0"/>
            <c:spPr>
              <a:solidFill>
                <a:srgbClr val="002B5C"/>
              </a:solidFill>
              <a:ln w="28575" cap="rnd">
                <a:noFill/>
                <a:round/>
              </a:ln>
              <a:effectLst/>
            </c:spPr>
            <c:extLst>
              <c:ext xmlns:c16="http://schemas.microsoft.com/office/drawing/2014/chart" uri="{C3380CC4-5D6E-409C-BE32-E72D297353CC}">
                <c16:uniqueId val="{00000001-4300-445B-B02E-B8AA1ABCFD04}"/>
              </c:ext>
            </c:extLst>
          </c:dPt>
          <c:dPt>
            <c:idx val="5"/>
            <c:invertIfNegative val="0"/>
            <c:bubble3D val="0"/>
            <c:spPr>
              <a:solidFill>
                <a:srgbClr val="002B5C"/>
              </a:solidFill>
              <a:ln w="28575" cap="rnd">
                <a:noFill/>
                <a:round/>
              </a:ln>
              <a:effectLst/>
            </c:spPr>
            <c:extLst>
              <c:ext xmlns:c16="http://schemas.microsoft.com/office/drawing/2014/chart" uri="{C3380CC4-5D6E-409C-BE32-E72D297353CC}">
                <c16:uniqueId val="{00000003-4300-445B-B02E-B8AA1ABCFD04}"/>
              </c:ext>
            </c:extLst>
          </c:dPt>
          <c:dPt>
            <c:idx val="6"/>
            <c:invertIfNegative val="0"/>
            <c:bubble3D val="0"/>
            <c:spPr>
              <a:solidFill>
                <a:srgbClr val="002B5C"/>
              </a:solidFill>
              <a:ln w="28575" cap="rnd">
                <a:noFill/>
                <a:round/>
              </a:ln>
              <a:effectLst/>
            </c:spPr>
            <c:extLst>
              <c:ext xmlns:c16="http://schemas.microsoft.com/office/drawing/2014/chart" uri="{C3380CC4-5D6E-409C-BE32-E72D297353CC}">
                <c16:uniqueId val="{00000005-4300-445B-B02E-B8AA1ABCFD04}"/>
              </c:ext>
            </c:extLst>
          </c:dPt>
          <c:dPt>
            <c:idx val="7"/>
            <c:invertIfNegative val="0"/>
            <c:bubble3D val="0"/>
            <c:spPr>
              <a:solidFill>
                <a:srgbClr val="002B5C"/>
              </a:solidFill>
              <a:ln w="28575" cap="rnd">
                <a:noFill/>
                <a:round/>
              </a:ln>
              <a:effectLst/>
            </c:spPr>
            <c:extLst>
              <c:ext xmlns:c16="http://schemas.microsoft.com/office/drawing/2014/chart" uri="{C3380CC4-5D6E-409C-BE32-E72D297353CC}">
                <c16:uniqueId val="{00000007-4300-445B-B02E-B8AA1ABCFD04}"/>
              </c:ext>
            </c:extLst>
          </c:dPt>
          <c:dPt>
            <c:idx val="8"/>
            <c:invertIfNegative val="0"/>
            <c:bubble3D val="0"/>
            <c:spPr>
              <a:solidFill>
                <a:srgbClr val="002B5C"/>
              </a:solidFill>
              <a:ln w="28575" cap="rnd">
                <a:noFill/>
                <a:round/>
              </a:ln>
              <a:effectLst/>
            </c:spPr>
            <c:extLst>
              <c:ext xmlns:c16="http://schemas.microsoft.com/office/drawing/2014/chart" uri="{C3380CC4-5D6E-409C-BE32-E72D297353CC}">
                <c16:uniqueId val="{00000009-4300-445B-B02E-B8AA1ABCFD04}"/>
              </c:ext>
            </c:extLst>
          </c:dPt>
          <c:dPt>
            <c:idx val="9"/>
            <c:invertIfNegative val="0"/>
            <c:bubble3D val="0"/>
            <c:spPr>
              <a:solidFill>
                <a:srgbClr val="002B5C"/>
              </a:solidFill>
              <a:ln w="28575" cap="rnd">
                <a:noFill/>
                <a:round/>
              </a:ln>
              <a:effectLst/>
            </c:spPr>
            <c:extLst>
              <c:ext xmlns:c16="http://schemas.microsoft.com/office/drawing/2014/chart" uri="{C3380CC4-5D6E-409C-BE32-E72D297353CC}">
                <c16:uniqueId val="{0000000B-4300-445B-B02E-B8AA1ABCFD04}"/>
              </c:ext>
            </c:extLst>
          </c:dPt>
          <c:dPt>
            <c:idx val="10"/>
            <c:invertIfNegative val="0"/>
            <c:bubble3D val="0"/>
            <c:spPr>
              <a:solidFill>
                <a:srgbClr val="002B5C"/>
              </a:solidFill>
              <a:ln w="28575" cap="rnd">
                <a:noFill/>
                <a:round/>
              </a:ln>
              <a:effectLst/>
            </c:spPr>
            <c:extLst>
              <c:ext xmlns:c16="http://schemas.microsoft.com/office/drawing/2014/chart" uri="{C3380CC4-5D6E-409C-BE32-E72D297353CC}">
                <c16:uniqueId val="{0000000D-4300-445B-B02E-B8AA1ABCFD04}"/>
              </c:ext>
            </c:extLst>
          </c:dPt>
          <c:dPt>
            <c:idx val="11"/>
            <c:invertIfNegative val="0"/>
            <c:bubble3D val="0"/>
            <c:spPr>
              <a:solidFill>
                <a:srgbClr val="002B5C"/>
              </a:solidFill>
              <a:ln w="28575" cap="rnd">
                <a:noFill/>
                <a:round/>
              </a:ln>
              <a:effectLst/>
            </c:spPr>
            <c:extLst>
              <c:ext xmlns:c16="http://schemas.microsoft.com/office/drawing/2014/chart" uri="{C3380CC4-5D6E-409C-BE32-E72D297353CC}">
                <c16:uniqueId val="{0000000F-4300-445B-B02E-B8AA1ABCFD04}"/>
              </c:ext>
            </c:extLst>
          </c:dPt>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0.00_);[Red]\(0.00\)</c:formatCode>
                <c:ptCount val="12"/>
                <c:pt idx="0">
                  <c:v>2.2200000000000002</c:v>
                </c:pt>
                <c:pt idx="1">
                  <c:v>2.0299999999999998</c:v>
                </c:pt>
                <c:pt idx="2">
                  <c:v>2.15</c:v>
                </c:pt>
                <c:pt idx="3">
                  <c:v>2.21</c:v>
                </c:pt>
                <c:pt idx="4">
                  <c:v>1.95</c:v>
                </c:pt>
                <c:pt idx="5">
                  <c:v>1.97</c:v>
                </c:pt>
                <c:pt idx="6">
                  <c:v>2.39</c:v>
                </c:pt>
                <c:pt idx="7">
                  <c:v>2.3199999999999998</c:v>
                </c:pt>
                <c:pt idx="8">
                  <c:v>2.1</c:v>
                </c:pt>
                <c:pt idx="9">
                  <c:v>2.0699999999999998</c:v>
                </c:pt>
                <c:pt idx="10">
                  <c:v>2.02</c:v>
                </c:pt>
                <c:pt idx="11">
                  <c:v>2.0099999999999998</c:v>
                </c:pt>
              </c:numCache>
            </c:numRef>
          </c:val>
          <c:extLst>
            <c:ext xmlns:c16="http://schemas.microsoft.com/office/drawing/2014/chart" uri="{C3380CC4-5D6E-409C-BE32-E72D297353CC}">
              <c16:uniqueId val="{00000010-4300-445B-B02E-B8AA1ABCFD04}"/>
            </c:ext>
          </c:extLst>
        </c:ser>
        <c:ser>
          <c:idx val="2"/>
          <c:order val="2"/>
          <c:tx>
            <c:strRef>
              <c:f>Sheet1!$D$1</c:f>
              <c:strCache>
                <c:ptCount val="1"/>
                <c:pt idx="0">
                  <c:v>2026</c:v>
                </c:pt>
              </c:strCache>
            </c:strRef>
          </c:tx>
          <c:spPr>
            <a:solidFill>
              <a:srgbClr val="3CD0BA"/>
            </a:solidFill>
            <a:ln>
              <a:noFill/>
            </a:ln>
            <a:effectLst/>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0.00_);[Red]\(0.00\)</c:formatCode>
                <c:ptCount val="12"/>
                <c:pt idx="0">
                  <c:v>2.11</c:v>
                </c:pt>
                <c:pt idx="1">
                  <c:v>1.9</c:v>
                </c:pt>
                <c:pt idx="2">
                  <c:v>2.16</c:v>
                </c:pt>
                <c:pt idx="3">
                  <c:v>2.0299999999999998</c:v>
                </c:pt>
                <c:pt idx="4">
                  <c:v>2.2400000000000002</c:v>
                </c:pt>
                <c:pt idx="5">
                  <c:v>2.33</c:v>
                </c:pt>
                <c:pt idx="6">
                  <c:v>2.4700000000000002</c:v>
                </c:pt>
                <c:pt idx="7">
                  <c:v>2.2200000000000002</c:v>
                </c:pt>
                <c:pt idx="8">
                  <c:v>1.99</c:v>
                </c:pt>
                <c:pt idx="9">
                  <c:v>1.99</c:v>
                </c:pt>
                <c:pt idx="10">
                  <c:v>1.92</c:v>
                </c:pt>
              </c:numCache>
            </c:numRef>
          </c:val>
          <c:extLst>
            <c:ext xmlns:c16="http://schemas.microsoft.com/office/drawing/2014/chart" uri="{C3380CC4-5D6E-409C-BE32-E72D297353CC}">
              <c16:uniqueId val="{00000011-4300-445B-B02E-B8AA1ABCFD04}"/>
            </c:ext>
          </c:extLst>
        </c:ser>
        <c:dLbls>
          <c:showLegendKey val="0"/>
          <c:showVal val="0"/>
          <c:showCatName val="0"/>
          <c:showSerName val="0"/>
          <c:showPercent val="0"/>
          <c:showBubbleSize val="0"/>
        </c:dLbls>
        <c:gapWidth val="100"/>
        <c:axId val="2110408080"/>
        <c:axId val="2110383600"/>
        <c:extLst>
          <c:ext xmlns:c15="http://schemas.microsoft.com/office/drawing/2012/chart" uri="{02D57815-91ED-43cb-92C2-25804820EDAC}">
            <c15:filteredBarSeries>
              <c15:ser>
                <c:idx val="0"/>
                <c:order val="0"/>
                <c:tx>
                  <c:strRef>
                    <c:extLst>
                      <c:ext uri="{02D57815-91ED-43cb-92C2-25804820EDAC}">
                        <c15:formulaRef>
                          <c15:sqref>Sheet1!$B$1</c15:sqref>
                        </c15:formulaRef>
                      </c:ext>
                    </c:extLst>
                    <c:strCache>
                      <c:ptCount val="1"/>
                      <c:pt idx="0">
                        <c:v>2024</c:v>
                      </c:pt>
                    </c:strCache>
                  </c:strRef>
                </c:tx>
                <c:spPr>
                  <a:solidFill>
                    <a:srgbClr val="002B5C">
                      <a:alpha val="30000"/>
                    </a:srgbClr>
                  </a:solidFill>
                  <a:ln>
                    <a:noFill/>
                  </a:ln>
                  <a:effectLst/>
                </c:spPr>
                <c:invertIfNegative val="0"/>
                <c:cat>
                  <c:strRef>
                    <c:extLst>
                      <c:ext uri="{02D57815-91ED-43cb-92C2-25804820EDAC}">
                        <c15:formulaRef>
                          <c15:sqref>Sheet1!$A$2:$A$13</c15:sqref>
                        </c15:formulaRef>
                      </c:ext>
                    </c:extLst>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extLst>
                      <c:ext uri="{02D57815-91ED-43cb-92C2-25804820EDAC}">
                        <c15:formulaRef>
                          <c15:sqref>Sheet1!$B$2:$B$13</c15:sqref>
                        </c15:formulaRef>
                      </c:ext>
                    </c:extLst>
                    <c:numCache>
                      <c:formatCode>0.00_);[Red]\(0.00\)</c:formatCode>
                      <c:ptCount val="12"/>
                      <c:pt idx="0">
                        <c:v>1.96</c:v>
                      </c:pt>
                      <c:pt idx="1">
                        <c:v>1.95</c:v>
                      </c:pt>
                      <c:pt idx="2">
                        <c:v>1.93</c:v>
                      </c:pt>
                      <c:pt idx="3">
                        <c:v>2.02</c:v>
                      </c:pt>
                      <c:pt idx="4">
                        <c:v>2.08</c:v>
                      </c:pt>
                      <c:pt idx="5">
                        <c:v>2.14</c:v>
                      </c:pt>
                      <c:pt idx="6">
                        <c:v>2.3199999999999998</c:v>
                      </c:pt>
                      <c:pt idx="7">
                        <c:v>2.3199999999999998</c:v>
                      </c:pt>
                      <c:pt idx="8">
                        <c:v>2.27</c:v>
                      </c:pt>
                      <c:pt idx="9">
                        <c:v>2.2400000000000002</c:v>
                      </c:pt>
                      <c:pt idx="10">
                        <c:v>2.16</c:v>
                      </c:pt>
                      <c:pt idx="11">
                        <c:v>2.13</c:v>
                      </c:pt>
                    </c:numCache>
                  </c:numRef>
                </c:val>
                <c:extLst>
                  <c:ext xmlns:c16="http://schemas.microsoft.com/office/drawing/2014/chart" uri="{C3380CC4-5D6E-409C-BE32-E72D297353CC}">
                    <c16:uniqueId val="{00000013-4300-445B-B02E-B8AA1ABCFD04}"/>
                  </c:ext>
                </c:extLst>
              </c15:ser>
            </c15:filteredBarSeries>
          </c:ext>
        </c:extLst>
      </c:barChart>
      <c:lineChart>
        <c:grouping val="standard"/>
        <c:varyColors val="0"/>
        <c:ser>
          <c:idx val="3"/>
          <c:order val="3"/>
          <c:tx>
            <c:strRef>
              <c:f>Sheet1!$E$1</c:f>
              <c:strCache>
                <c:ptCount val="1"/>
                <c:pt idx="0">
                  <c:v>%YoY</c:v>
                </c:pt>
              </c:strCache>
            </c:strRef>
          </c:tx>
          <c:spPr>
            <a:ln w="28575" cap="rnd">
              <a:solidFill>
                <a:srgbClr val="0000FF"/>
              </a:solidFill>
              <a:round/>
            </a:ln>
            <a:effectLst/>
          </c:spPr>
          <c:marker>
            <c:symbol val="circle"/>
            <c:size val="5"/>
            <c:spPr>
              <a:solidFill>
                <a:schemeClr val="bg1"/>
              </a:solidFill>
              <a:ln w="9525">
                <a:solidFill>
                  <a:srgbClr val="0000FF"/>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Sheet1!$E$2:$E$13</c:f>
              <c:numCache>
                <c:formatCode>0%</c:formatCode>
                <c:ptCount val="12"/>
                <c:pt idx="0">
                  <c:v>-4.9549549549549689E-2</c:v>
                </c:pt>
                <c:pt idx="1">
                  <c:v>-6.4039408866995023E-2</c:v>
                </c:pt>
                <c:pt idx="2">
                  <c:v>4.6511627906977819E-3</c:v>
                </c:pt>
                <c:pt idx="3">
                  <c:v>-8.1447963800905049E-2</c:v>
                </c:pt>
                <c:pt idx="4">
                  <c:v>0.14871794871794886</c:v>
                </c:pt>
                <c:pt idx="5">
                  <c:v>0.18274111675126908</c:v>
                </c:pt>
                <c:pt idx="6">
                  <c:v>3.347280334728036E-2</c:v>
                </c:pt>
                <c:pt idx="7">
                  <c:v>-4.3103448275861919E-2</c:v>
                </c:pt>
                <c:pt idx="8">
                  <c:v>-5.2380952380952424E-2</c:v>
                </c:pt>
                <c:pt idx="9">
                  <c:v>-3.8647342995169011E-2</c:v>
                </c:pt>
                <c:pt idx="10">
                  <c:v>-4.9504950495049549E-2</c:v>
                </c:pt>
              </c:numCache>
            </c:numRef>
          </c:val>
          <c:smooth val="0"/>
          <c:extLst>
            <c:ext xmlns:c16="http://schemas.microsoft.com/office/drawing/2014/chart" uri="{C3380CC4-5D6E-409C-BE32-E72D297353CC}">
              <c16:uniqueId val="{00000012-4300-445B-B02E-B8AA1ABCFD04}"/>
            </c:ext>
          </c:extLst>
        </c:ser>
        <c:dLbls>
          <c:showLegendKey val="0"/>
          <c:showVal val="0"/>
          <c:showCatName val="0"/>
          <c:showSerName val="0"/>
          <c:showPercent val="0"/>
          <c:showBubbleSize val="0"/>
        </c:dLbls>
        <c:marker val="1"/>
        <c:smooth val="0"/>
        <c:axId val="594472512"/>
        <c:axId val="594519520"/>
      </c:lineChart>
      <c:catAx>
        <c:axId val="2110408080"/>
        <c:scaling>
          <c:orientation val="minMax"/>
        </c:scaling>
        <c:delete val="0"/>
        <c:axPos val="b"/>
        <c:numFmt formatCode="[$-409]mmm&quot;-&quot;yy;@" sourceLinked="0"/>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383600"/>
        <c:crosses val="autoZero"/>
        <c:auto val="1"/>
        <c:lblAlgn val="ctr"/>
        <c:lblOffset val="100"/>
        <c:noMultiLvlLbl val="1"/>
      </c:catAx>
      <c:valAx>
        <c:axId val="2110383600"/>
        <c:scaling>
          <c:orientation val="minMax"/>
          <c:max val="2.6"/>
          <c:min val="1.8"/>
        </c:scaling>
        <c:delete val="0"/>
        <c:axPos val="l"/>
        <c:majorGridlines>
          <c:spPr>
            <a:ln w="3175" cap="flat" cmpd="sng" algn="ctr">
              <a:solidFill>
                <a:schemeClr val="bg1">
                  <a:lumMod val="85000"/>
                </a:schemeClr>
              </a:solidFill>
              <a:prstDash val="sysDot"/>
              <a:round/>
            </a:ln>
            <a:effectLst/>
          </c:spPr>
        </c:majorGridlines>
        <c:title>
          <c:tx>
            <c:rich>
              <a:bodyPr rot="0" spcFirstLastPara="1" vertOverflow="ellipsis"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sz="1100" dirty="0"/>
                  <a:t>(m</a:t>
                </a:r>
                <a:r>
                  <a:rPr lang="en-US" altLang="ko-KR" sz="1100" baseline="0" dirty="0"/>
                  <a:t> TEU)</a:t>
                </a:r>
                <a:endParaRPr lang="ko-KR" altLang="en-US" sz="1100" dirty="0"/>
              </a:p>
            </c:rich>
          </c:tx>
          <c:layout>
            <c:manualLayout>
              <c:xMode val="edge"/>
              <c:yMode val="edge"/>
              <c:x val="2.0613888646653319E-3"/>
              <c:y val="8.7233753121123483E-2"/>
            </c:manualLayout>
          </c:layout>
          <c:overlay val="0"/>
          <c:spPr>
            <a:noFill/>
            <a:ln>
              <a:noFill/>
            </a:ln>
            <a:effectLst/>
          </c:spPr>
          <c:txPr>
            <a:bodyPr rot="0" spcFirstLastPara="1" vertOverflow="ellipsis"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numFmt formatCode="0.00_);[Red]\(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408080"/>
        <c:crosses val="autoZero"/>
        <c:crossBetween val="between"/>
        <c:majorUnit val="0.2"/>
      </c:valAx>
      <c:valAx>
        <c:axId val="594519520"/>
        <c:scaling>
          <c:orientation val="minMax"/>
          <c:max val="0.30000000000000004"/>
          <c:min val="-0.1"/>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594472512"/>
        <c:crosses val="max"/>
        <c:crossBetween val="between"/>
        <c:majorUnit val="0.1"/>
      </c:valAx>
      <c:catAx>
        <c:axId val="594472512"/>
        <c:scaling>
          <c:orientation val="minMax"/>
        </c:scaling>
        <c:delete val="1"/>
        <c:axPos val="b"/>
        <c:numFmt formatCode="General" sourceLinked="1"/>
        <c:majorTickMark val="out"/>
        <c:minorTickMark val="none"/>
        <c:tickLblPos val="nextTo"/>
        <c:crossAx val="594519520"/>
        <c:crosses val="autoZero"/>
        <c:auto val="1"/>
        <c:lblAlgn val="ctr"/>
        <c:lblOffset val="100"/>
        <c:noMultiLvlLbl val="1"/>
      </c:catAx>
      <c:spPr>
        <a:noFill/>
        <a:ln>
          <a:noFill/>
        </a:ln>
        <a:effectLst/>
      </c:spPr>
    </c:plotArea>
    <c:legend>
      <c:legendPos val="t"/>
      <c:layout>
        <c:manualLayout>
          <c:xMode val="edge"/>
          <c:yMode val="edge"/>
          <c:x val="0.4604105852991135"/>
          <c:y val="0.10712826352086489"/>
          <c:w val="0.43227661880603901"/>
          <c:h val="5.9798415175546633E-2"/>
        </c:manualLayout>
      </c:layout>
      <c:overlay val="1"/>
      <c:spPr>
        <a:noFill/>
        <a:ln w="3175">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legend>
    <c:plotVisOnly val="1"/>
    <c:dispBlanksAs val="gap"/>
    <c:showDLblsOverMax val="0"/>
  </c:chart>
  <c:spPr>
    <a:noFill/>
    <a:ln>
      <a:noFill/>
    </a:ln>
    <a:effectLst/>
  </c:spPr>
  <c:txPr>
    <a:bodyPr/>
    <a:lstStyle/>
    <a:p>
      <a:pPr>
        <a:defRPr sz="1200">
          <a:latin typeface="나눔스퀘어" panose="020B0600000101010101" pitchFamily="50" charset="-127"/>
          <a:ea typeface="나눔스퀘어" panose="020B0600000101010101" pitchFamily="50" charset="-127"/>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sz="1200" b="1" i="0" baseline="0" dirty="0" smtClean="0">
                <a:effectLst/>
              </a:rPr>
              <a:t>[Container Ship Traffic in the Strait of Hormuz and the Red Sea]</a:t>
            </a:r>
          </a:p>
        </c:rich>
      </c:tx>
      <c:layout>
        <c:manualLayout>
          <c:xMode val="edge"/>
          <c:yMode val="edge"/>
          <c:x val="0.13825195492288306"/>
          <c:y val="2.5663201797636561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autoTitleDeleted val="0"/>
    <c:plotArea>
      <c:layout>
        <c:manualLayout>
          <c:layoutTarget val="inner"/>
          <c:xMode val="edge"/>
          <c:yMode val="edge"/>
          <c:x val="0.17842809865310505"/>
          <c:y val="0.1865636467611827"/>
          <c:w val="0.81849335518473842"/>
          <c:h val="0.62553675495885808"/>
        </c:manualLayout>
      </c:layout>
      <c:lineChart>
        <c:grouping val="standard"/>
        <c:varyColors val="0"/>
        <c:ser>
          <c:idx val="1"/>
          <c:order val="1"/>
          <c:tx>
            <c:strRef>
              <c:f>Sheet1!$C$1</c:f>
              <c:strCache>
                <c:ptCount val="1"/>
                <c:pt idx="0">
                  <c:v>Suez Canal Transits</c:v>
                </c:pt>
              </c:strCache>
            </c:strRef>
          </c:tx>
          <c:spPr>
            <a:ln w="28575" cap="rnd">
              <a:solidFill>
                <a:srgbClr val="0000FF"/>
              </a:solidFill>
              <a:round/>
            </a:ln>
            <a:effectLst/>
          </c:spPr>
          <c:marker>
            <c:symbol val="circle"/>
            <c:size val="5"/>
            <c:spPr>
              <a:solidFill>
                <a:schemeClr val="bg1"/>
              </a:solidFill>
              <a:ln w="9525">
                <a:solidFill>
                  <a:srgbClr val="0000FF"/>
                </a:solidFill>
              </a:ln>
              <a:effectLst/>
            </c:spPr>
          </c:marker>
          <c:cat>
            <c:numRef>
              <c:f>Sheet1!$A$14:$A$43</c:f>
              <c:numCache>
                <c:formatCode>mmm\-yy</c:formatCode>
                <c:ptCount val="18"/>
                <c:pt idx="0">
                  <c:v>45658</c:v>
                </c:pt>
                <c:pt idx="1">
                  <c:v>45689</c:v>
                </c:pt>
                <c:pt idx="2">
                  <c:v>45717</c:v>
                </c:pt>
                <c:pt idx="3">
                  <c:v>45748</c:v>
                </c:pt>
                <c:pt idx="4">
                  <c:v>45778</c:v>
                </c:pt>
                <c:pt idx="5">
                  <c:v>45809</c:v>
                </c:pt>
                <c:pt idx="6">
                  <c:v>45839</c:v>
                </c:pt>
                <c:pt idx="7">
                  <c:v>45870</c:v>
                </c:pt>
                <c:pt idx="8">
                  <c:v>45901</c:v>
                </c:pt>
                <c:pt idx="9">
                  <c:v>45931</c:v>
                </c:pt>
                <c:pt idx="10">
                  <c:v>45962</c:v>
                </c:pt>
                <c:pt idx="11">
                  <c:v>45992</c:v>
                </c:pt>
                <c:pt idx="12">
                  <c:v>46023</c:v>
                </c:pt>
                <c:pt idx="13">
                  <c:v>46054</c:v>
                </c:pt>
                <c:pt idx="14">
                  <c:v>46082</c:v>
                </c:pt>
                <c:pt idx="15">
                  <c:v>46113</c:v>
                </c:pt>
                <c:pt idx="16">
                  <c:v>46143</c:v>
                </c:pt>
                <c:pt idx="17">
                  <c:v>46174</c:v>
                </c:pt>
              </c:numCache>
            </c:numRef>
          </c:cat>
          <c:val>
            <c:numRef>
              <c:f>Sheet1!$C$14:$C$43</c:f>
              <c:numCache>
                <c:formatCode>_(* #,##0_);_(* \(#,##0\);_(* "-"_);_(@_)</c:formatCode>
                <c:ptCount val="18"/>
                <c:pt idx="0">
                  <c:v>620020</c:v>
                </c:pt>
                <c:pt idx="1">
                  <c:v>512330.00000000006</c:v>
                </c:pt>
                <c:pt idx="2">
                  <c:v>578950</c:v>
                </c:pt>
                <c:pt idx="3">
                  <c:v>555730</c:v>
                </c:pt>
                <c:pt idx="4">
                  <c:v>601120</c:v>
                </c:pt>
                <c:pt idx="5">
                  <c:v>584710</c:v>
                </c:pt>
                <c:pt idx="6">
                  <c:v>620170</c:v>
                </c:pt>
                <c:pt idx="7">
                  <c:v>597560</c:v>
                </c:pt>
                <c:pt idx="8">
                  <c:v>618260</c:v>
                </c:pt>
                <c:pt idx="9">
                  <c:v>600100</c:v>
                </c:pt>
                <c:pt idx="10">
                  <c:v>601690</c:v>
                </c:pt>
                <c:pt idx="11">
                  <c:v>741760</c:v>
                </c:pt>
                <c:pt idx="12">
                  <c:v>700540</c:v>
                </c:pt>
                <c:pt idx="13">
                  <c:v>665110</c:v>
                </c:pt>
                <c:pt idx="14">
                  <c:v>650100</c:v>
                </c:pt>
                <c:pt idx="15">
                  <c:v>631010</c:v>
                </c:pt>
                <c:pt idx="16">
                  <c:v>801900</c:v>
                </c:pt>
                <c:pt idx="17">
                  <c:v>959250</c:v>
                </c:pt>
              </c:numCache>
            </c:numRef>
          </c:val>
          <c:smooth val="0"/>
          <c:extLst>
            <c:ext xmlns:c16="http://schemas.microsoft.com/office/drawing/2014/chart" uri="{C3380CC4-5D6E-409C-BE32-E72D297353CC}">
              <c16:uniqueId val="{00000001-D27D-4698-9320-9AB78776B537}"/>
            </c:ext>
          </c:extLst>
        </c:ser>
        <c:ser>
          <c:idx val="3"/>
          <c:order val="3"/>
          <c:tx>
            <c:strRef>
              <c:f>Sheet1!$E$1</c:f>
              <c:strCache>
                <c:ptCount val="1"/>
                <c:pt idx="0">
                  <c:v>Strait of Hormuz Transits</c:v>
                </c:pt>
              </c:strCache>
            </c:strRef>
          </c:tx>
          <c:spPr>
            <a:ln w="28575" cap="rnd">
              <a:solidFill>
                <a:srgbClr val="3CD0BA"/>
              </a:solidFill>
              <a:round/>
            </a:ln>
            <a:effectLst/>
          </c:spPr>
          <c:marker>
            <c:symbol val="circle"/>
            <c:size val="5"/>
            <c:spPr>
              <a:solidFill>
                <a:schemeClr val="bg1"/>
              </a:solidFill>
              <a:ln w="9525">
                <a:solidFill>
                  <a:srgbClr val="3CD0BA"/>
                </a:solidFill>
              </a:ln>
              <a:effectLst/>
            </c:spPr>
          </c:marker>
          <c:cat>
            <c:numRef>
              <c:f>Sheet1!$A$14:$A$43</c:f>
              <c:numCache>
                <c:formatCode>mmm\-yy</c:formatCode>
                <c:ptCount val="18"/>
                <c:pt idx="0">
                  <c:v>45658</c:v>
                </c:pt>
                <c:pt idx="1">
                  <c:v>45689</c:v>
                </c:pt>
                <c:pt idx="2">
                  <c:v>45717</c:v>
                </c:pt>
                <c:pt idx="3">
                  <c:v>45748</c:v>
                </c:pt>
                <c:pt idx="4">
                  <c:v>45778</c:v>
                </c:pt>
                <c:pt idx="5">
                  <c:v>45809</c:v>
                </c:pt>
                <c:pt idx="6">
                  <c:v>45839</c:v>
                </c:pt>
                <c:pt idx="7">
                  <c:v>45870</c:v>
                </c:pt>
                <c:pt idx="8">
                  <c:v>45901</c:v>
                </c:pt>
                <c:pt idx="9">
                  <c:v>45931</c:v>
                </c:pt>
                <c:pt idx="10">
                  <c:v>45962</c:v>
                </c:pt>
                <c:pt idx="11">
                  <c:v>45992</c:v>
                </c:pt>
                <c:pt idx="12">
                  <c:v>46023</c:v>
                </c:pt>
                <c:pt idx="13">
                  <c:v>46054</c:v>
                </c:pt>
                <c:pt idx="14">
                  <c:v>46082</c:v>
                </c:pt>
                <c:pt idx="15">
                  <c:v>46113</c:v>
                </c:pt>
                <c:pt idx="16">
                  <c:v>46143</c:v>
                </c:pt>
                <c:pt idx="17">
                  <c:v>46174</c:v>
                </c:pt>
              </c:numCache>
            </c:numRef>
          </c:cat>
          <c:val>
            <c:numRef>
              <c:f>Sheet1!$E$14:$E$43</c:f>
              <c:numCache>
                <c:formatCode>_(* #,##0_);_(* \(#,##0\);_(* "-"_);_(@_)</c:formatCode>
                <c:ptCount val="18"/>
                <c:pt idx="0">
                  <c:v>3363810</c:v>
                </c:pt>
                <c:pt idx="1">
                  <c:v>3059810</c:v>
                </c:pt>
                <c:pt idx="2">
                  <c:v>3303500</c:v>
                </c:pt>
                <c:pt idx="3">
                  <c:v>3268680</c:v>
                </c:pt>
                <c:pt idx="4">
                  <c:v>3233960</c:v>
                </c:pt>
                <c:pt idx="5">
                  <c:v>3196080</c:v>
                </c:pt>
                <c:pt idx="6">
                  <c:v>3028070</c:v>
                </c:pt>
                <c:pt idx="7">
                  <c:v>3368590</c:v>
                </c:pt>
                <c:pt idx="8">
                  <c:v>3204100</c:v>
                </c:pt>
                <c:pt idx="9">
                  <c:v>3427980</c:v>
                </c:pt>
                <c:pt idx="10">
                  <c:v>3133040</c:v>
                </c:pt>
                <c:pt idx="11">
                  <c:v>3426120</c:v>
                </c:pt>
                <c:pt idx="12">
                  <c:v>3551650</c:v>
                </c:pt>
                <c:pt idx="13">
                  <c:v>3131380</c:v>
                </c:pt>
                <c:pt idx="14">
                  <c:v>121170</c:v>
                </c:pt>
                <c:pt idx="15">
                  <c:v>173270</c:v>
                </c:pt>
                <c:pt idx="16">
                  <c:v>32119.999999999996</c:v>
                </c:pt>
                <c:pt idx="17">
                  <c:v>264930</c:v>
                </c:pt>
              </c:numCache>
            </c:numRef>
          </c:val>
          <c:smooth val="0"/>
          <c:extLst>
            <c:ext xmlns:c16="http://schemas.microsoft.com/office/drawing/2014/chart" uri="{C3380CC4-5D6E-409C-BE32-E72D297353CC}">
              <c16:uniqueId val="{00000000-A235-4623-B1CA-7498347E708C}"/>
            </c:ext>
          </c:extLst>
        </c:ser>
        <c:dLbls>
          <c:showLegendKey val="0"/>
          <c:showVal val="0"/>
          <c:showCatName val="0"/>
          <c:showSerName val="0"/>
          <c:showPercent val="0"/>
          <c:showBubbleSize val="0"/>
        </c:dLbls>
        <c:marker val="1"/>
        <c:smooth val="0"/>
        <c:axId val="2110409712"/>
        <c:axId val="2110381968"/>
        <c:extLst>
          <c:ext xmlns:c15="http://schemas.microsoft.com/office/drawing/2012/chart" uri="{02D57815-91ED-43cb-92C2-25804820EDAC}">
            <c15:filteredLineSeries>
              <c15:ser>
                <c:idx val="0"/>
                <c:order val="0"/>
                <c:tx>
                  <c:strRef>
                    <c:extLst>
                      <c:ext uri="{02D57815-91ED-43cb-92C2-25804820EDAC}">
                        <c15:formulaRef>
                          <c15:sqref>Sheet1!$B$1</c15:sqref>
                        </c15:formulaRef>
                      </c:ext>
                    </c:extLst>
                    <c:strCache>
                      <c:ptCount val="1"/>
                      <c:pt idx="0">
                        <c:v>Re-Routing Away From Red Sea/Gulf of Aden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extLst>
                      <c:ext uri="{02D57815-91ED-43cb-92C2-25804820EDAC}">
                        <c15:formulaRef>
                          <c15:sqref>Sheet1!$A$14:$A$43</c15:sqref>
                        </c15:formulaRef>
                      </c:ext>
                    </c:extLst>
                    <c:numCache>
                      <c:formatCode>mmm\-yy</c:formatCode>
                      <c:ptCount val="18"/>
                      <c:pt idx="0">
                        <c:v>45658</c:v>
                      </c:pt>
                      <c:pt idx="1">
                        <c:v>45689</c:v>
                      </c:pt>
                      <c:pt idx="2">
                        <c:v>45717</c:v>
                      </c:pt>
                      <c:pt idx="3">
                        <c:v>45748</c:v>
                      </c:pt>
                      <c:pt idx="4">
                        <c:v>45778</c:v>
                      </c:pt>
                      <c:pt idx="5">
                        <c:v>45809</c:v>
                      </c:pt>
                      <c:pt idx="6">
                        <c:v>45839</c:v>
                      </c:pt>
                      <c:pt idx="7">
                        <c:v>45870</c:v>
                      </c:pt>
                      <c:pt idx="8">
                        <c:v>45901</c:v>
                      </c:pt>
                      <c:pt idx="9">
                        <c:v>45931</c:v>
                      </c:pt>
                      <c:pt idx="10">
                        <c:v>45962</c:v>
                      </c:pt>
                      <c:pt idx="11">
                        <c:v>45992</c:v>
                      </c:pt>
                      <c:pt idx="12">
                        <c:v>46023</c:v>
                      </c:pt>
                      <c:pt idx="13">
                        <c:v>46054</c:v>
                      </c:pt>
                      <c:pt idx="14">
                        <c:v>46082</c:v>
                      </c:pt>
                      <c:pt idx="15">
                        <c:v>46113</c:v>
                      </c:pt>
                      <c:pt idx="16">
                        <c:v>46143</c:v>
                      </c:pt>
                      <c:pt idx="17">
                        <c:v>46174</c:v>
                      </c:pt>
                    </c:numCache>
                  </c:numRef>
                </c:cat>
                <c:val>
                  <c:numRef>
                    <c:extLst>
                      <c:ext uri="{02D57815-91ED-43cb-92C2-25804820EDAC}">
                        <c15:formulaRef>
                          <c15:sqref>Sheet1!$B$14:$B$43</c15:sqref>
                        </c15:formulaRef>
                      </c:ext>
                    </c:extLst>
                    <c:numCache>
                      <c:formatCode>#,##0</c:formatCode>
                      <c:ptCount val="18"/>
                      <c:pt idx="0">
                        <c:v>9654350</c:v>
                      </c:pt>
                      <c:pt idx="1">
                        <c:v>9712907</c:v>
                      </c:pt>
                      <c:pt idx="2">
                        <c:v>9797247</c:v>
                      </c:pt>
                      <c:pt idx="3">
                        <c:v>10035141</c:v>
                      </c:pt>
                      <c:pt idx="4">
                        <c:v>9975683</c:v>
                      </c:pt>
                      <c:pt idx="5">
                        <c:v>10263555</c:v>
                      </c:pt>
                      <c:pt idx="6">
                        <c:v>10335270</c:v>
                      </c:pt>
                      <c:pt idx="7">
                        <c:v>10135849</c:v>
                      </c:pt>
                      <c:pt idx="8">
                        <c:v>10161217</c:v>
                      </c:pt>
                      <c:pt idx="9">
                        <c:v>10248031</c:v>
                      </c:pt>
                      <c:pt idx="10">
                        <c:v>10223363</c:v>
                      </c:pt>
                      <c:pt idx="11">
                        <c:v>10181114</c:v>
                      </c:pt>
                      <c:pt idx="12">
                        <c:v>10151070</c:v>
                      </c:pt>
                      <c:pt idx="13">
                        <c:v>10186340</c:v>
                      </c:pt>
                      <c:pt idx="14">
                        <c:v>10473349</c:v>
                      </c:pt>
                      <c:pt idx="15">
                        <c:v>10795351</c:v>
                      </c:pt>
                      <c:pt idx="16">
                        <c:v>10749446</c:v>
                      </c:pt>
                      <c:pt idx="17">
                        <c:v>10672609</c:v>
                      </c:pt>
                    </c:numCache>
                  </c:numRef>
                </c:val>
                <c:smooth val="0"/>
                <c:extLst>
                  <c:ext xmlns:c16="http://schemas.microsoft.com/office/drawing/2014/chart" uri="{C3380CC4-5D6E-409C-BE32-E72D297353CC}">
                    <c16:uniqueId val="{00000000-D27D-4698-9320-9AB78776B537}"/>
                  </c:ext>
                </c:extLst>
              </c15:ser>
            </c15:filteredLineSeries>
            <c15:filteredLine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Cape of Good Hope</c:v>
                      </c:pt>
                    </c:strCache>
                  </c:strRef>
                </c:tx>
                <c:spPr>
                  <a:ln w="28575" cap="rnd">
                    <a:solidFill>
                      <a:srgbClr val="3CD0BA"/>
                    </a:solidFill>
                    <a:round/>
                  </a:ln>
                  <a:effectLst/>
                </c:spPr>
                <c:marker>
                  <c:symbol val="circle"/>
                  <c:size val="5"/>
                  <c:spPr>
                    <a:solidFill>
                      <a:schemeClr val="bg1"/>
                    </a:solidFill>
                    <a:ln w="15875">
                      <a:solidFill>
                        <a:srgbClr val="3CD0BA"/>
                      </a:solidFill>
                    </a:ln>
                    <a:effectLst/>
                  </c:spPr>
                </c:marker>
                <c:cat>
                  <c:numRef>
                    <c:extLst xmlns:c15="http://schemas.microsoft.com/office/drawing/2012/chart">
                      <c:ext xmlns:c15="http://schemas.microsoft.com/office/drawing/2012/chart" uri="{02D57815-91ED-43cb-92C2-25804820EDAC}">
                        <c15:formulaRef>
                          <c15:sqref>Sheet1!$A$14:$A$43</c15:sqref>
                        </c15:formulaRef>
                      </c:ext>
                    </c:extLst>
                    <c:numCache>
                      <c:formatCode>mmm\-yy</c:formatCode>
                      <c:ptCount val="18"/>
                      <c:pt idx="0">
                        <c:v>45658</c:v>
                      </c:pt>
                      <c:pt idx="1">
                        <c:v>45689</c:v>
                      </c:pt>
                      <c:pt idx="2">
                        <c:v>45717</c:v>
                      </c:pt>
                      <c:pt idx="3">
                        <c:v>45748</c:v>
                      </c:pt>
                      <c:pt idx="4">
                        <c:v>45778</c:v>
                      </c:pt>
                      <c:pt idx="5">
                        <c:v>45809</c:v>
                      </c:pt>
                      <c:pt idx="6">
                        <c:v>45839</c:v>
                      </c:pt>
                      <c:pt idx="7">
                        <c:v>45870</c:v>
                      </c:pt>
                      <c:pt idx="8">
                        <c:v>45901</c:v>
                      </c:pt>
                      <c:pt idx="9">
                        <c:v>45931</c:v>
                      </c:pt>
                      <c:pt idx="10">
                        <c:v>45962</c:v>
                      </c:pt>
                      <c:pt idx="11">
                        <c:v>45992</c:v>
                      </c:pt>
                      <c:pt idx="12">
                        <c:v>46023</c:v>
                      </c:pt>
                      <c:pt idx="13">
                        <c:v>46054</c:v>
                      </c:pt>
                      <c:pt idx="14">
                        <c:v>46082</c:v>
                      </c:pt>
                      <c:pt idx="15">
                        <c:v>46113</c:v>
                      </c:pt>
                      <c:pt idx="16">
                        <c:v>46143</c:v>
                      </c:pt>
                      <c:pt idx="17">
                        <c:v>46174</c:v>
                      </c:pt>
                    </c:numCache>
                  </c:numRef>
                </c:cat>
                <c:val>
                  <c:numRef>
                    <c:extLst xmlns:c15="http://schemas.microsoft.com/office/drawing/2012/chart">
                      <c:ext xmlns:c15="http://schemas.microsoft.com/office/drawing/2012/chart" uri="{02D57815-91ED-43cb-92C2-25804820EDAC}">
                        <c15:formulaRef>
                          <c15:sqref>Sheet1!$D$14:$D$43</c15:sqref>
                        </c15:formulaRef>
                      </c:ext>
                    </c:extLst>
                    <c:numCache>
                      <c:formatCode>_(* #,##0_);_(* \(#,##0\);_(* "-"_);_(@_)</c:formatCode>
                      <c:ptCount val="18"/>
                      <c:pt idx="0">
                        <c:v>7072092</c:v>
                      </c:pt>
                      <c:pt idx="1">
                        <c:v>6608067</c:v>
                      </c:pt>
                      <c:pt idx="2">
                        <c:v>6818487</c:v>
                      </c:pt>
                      <c:pt idx="3">
                        <c:v>6894582</c:v>
                      </c:pt>
                      <c:pt idx="4">
                        <c:v>7388797</c:v>
                      </c:pt>
                      <c:pt idx="5">
                        <c:v>7734897</c:v>
                      </c:pt>
                      <c:pt idx="6">
                        <c:v>7375551</c:v>
                      </c:pt>
                      <c:pt idx="7">
                        <c:v>7929587</c:v>
                      </c:pt>
                      <c:pt idx="8">
                        <c:v>7455790</c:v>
                      </c:pt>
                      <c:pt idx="9">
                        <c:v>7437836</c:v>
                      </c:pt>
                      <c:pt idx="10">
                        <c:v>7172872</c:v>
                      </c:pt>
                      <c:pt idx="11">
                        <c:v>7494934</c:v>
                      </c:pt>
                      <c:pt idx="12">
                        <c:v>7583998</c:v>
                      </c:pt>
                      <c:pt idx="13">
                        <c:v>6805085</c:v>
                      </c:pt>
                      <c:pt idx="14">
                        <c:v>7595563</c:v>
                      </c:pt>
                      <c:pt idx="15">
                        <c:v>7713356</c:v>
                      </c:pt>
                      <c:pt idx="16">
                        <c:v>7783205</c:v>
                      </c:pt>
                      <c:pt idx="17">
                        <c:v>7436680</c:v>
                      </c:pt>
                    </c:numCache>
                  </c:numRef>
                </c:val>
                <c:smooth val="1"/>
                <c:extLst xmlns:c15="http://schemas.microsoft.com/office/drawing/2012/chart">
                  <c:ext xmlns:c16="http://schemas.microsoft.com/office/drawing/2014/chart" uri="{C3380CC4-5D6E-409C-BE32-E72D297353CC}">
                    <c16:uniqueId val="{00000003-D27D-4698-9320-9AB78776B537}"/>
                  </c:ext>
                </c:extLst>
              </c15:ser>
            </c15:filteredLineSeries>
          </c:ext>
        </c:extLst>
      </c:lineChart>
      <c:dateAx>
        <c:axId val="2110409712"/>
        <c:scaling>
          <c:orientation val="minMax"/>
          <c:min val="45658"/>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381968"/>
        <c:crosses val="autoZero"/>
        <c:auto val="1"/>
        <c:lblOffset val="100"/>
        <c:baseTimeUnit val="months"/>
        <c:majorUnit val="1"/>
        <c:majorTimeUnit val="months"/>
      </c:dateAx>
      <c:valAx>
        <c:axId val="2110381968"/>
        <c:scaling>
          <c:orientation val="minMax"/>
        </c:scaling>
        <c:delete val="0"/>
        <c:axPos val="l"/>
        <c:majorGridlines>
          <c:spPr>
            <a:ln w="3175" cap="flat" cmpd="sng" algn="ctr">
              <a:solidFill>
                <a:schemeClr val="tx1">
                  <a:lumMod val="15000"/>
                  <a:lumOff val="85000"/>
                </a:schemeClr>
              </a:solidFill>
              <a:prstDash val="sysDot"/>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409712"/>
        <c:crosses val="autoZero"/>
        <c:crossBetween val="between"/>
        <c:majorUnit val="1000000"/>
        <c:dispUnits>
          <c:builtInUnit val="thousands"/>
          <c:dispUnitsLbl>
            <c:layout>
              <c:manualLayout>
                <c:xMode val="edge"/>
                <c:yMode val="edge"/>
                <c:x val="7.2994360133199321E-2"/>
                <c:y val="0.10315824091886389"/>
              </c:manualLayout>
            </c:layout>
            <c:tx>
              <c:rich>
                <a:bodyPr rot="0" spcFirstLastPara="1" vertOverflow="ellipsis"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sz="1100" dirty="0" smtClean="0"/>
                    <a:t>(k</a:t>
                  </a:r>
                  <a:r>
                    <a:rPr lang="en-US" altLang="ko-KR" sz="1100" baseline="0" dirty="0" smtClean="0"/>
                    <a:t> TEU)</a:t>
                  </a:r>
                  <a:endParaRPr lang="ko-KR" altLang="en-US" sz="1100" dirty="0"/>
                </a:p>
              </c:rich>
            </c:tx>
            <c:spPr>
              <a:noFill/>
              <a:ln>
                <a:noFill/>
              </a:ln>
              <a:effectLst/>
            </c:spPr>
            <c:txPr>
              <a:bodyPr rot="0" spcFirstLastPara="1" vertOverflow="ellipsis"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dispUnitsLbl>
        </c:dispUnits>
      </c:valAx>
      <c:spPr>
        <a:noFill/>
        <a:ln>
          <a:noFill/>
        </a:ln>
        <a:effectLst/>
      </c:spPr>
    </c:plotArea>
    <c:legend>
      <c:legendPos val="t"/>
      <c:layout>
        <c:manualLayout>
          <c:xMode val="edge"/>
          <c:yMode val="edge"/>
          <c:x val="0.31446512973681023"/>
          <c:y val="0.11946220436799819"/>
          <c:w val="0.67228229369171"/>
          <c:h val="6.8387128388755075E-2"/>
        </c:manualLayout>
      </c:layout>
      <c:overlay val="0"/>
      <c:spPr>
        <a:noFill/>
        <a:ln w="3175">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legend>
    <c:plotVisOnly val="1"/>
    <c:dispBlanksAs val="gap"/>
    <c:showDLblsOverMax val="0"/>
  </c:chart>
  <c:spPr>
    <a:noFill/>
    <a:ln>
      <a:noFill/>
    </a:ln>
    <a:effectLst/>
  </c:spPr>
  <c:txPr>
    <a:bodyPr/>
    <a:lstStyle/>
    <a:p>
      <a:pPr>
        <a:defRPr sz="1100">
          <a:latin typeface="나눔스퀘어" panose="020B0600000101010101" pitchFamily="50" charset="-127"/>
          <a:ea typeface="나눔스퀘어" panose="020B0600000101010101" pitchFamily="50" charset="-127"/>
        </a:defRPr>
      </a:pPr>
      <a:endParaRPr lang="ko-K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sz="1200" b="1" dirty="0" smtClean="0"/>
              <a:t>[Container Vessel Speed</a:t>
            </a:r>
            <a:r>
              <a:rPr lang="en-US" altLang="ko-KR" sz="1200" b="1" i="0" u="none" strike="noStrike" baseline="30000" dirty="0" smtClean="0">
                <a:effectLst/>
              </a:rPr>
              <a:t>*</a:t>
            </a:r>
            <a:r>
              <a:rPr lang="en-US" sz="1200" b="1" dirty="0" smtClean="0"/>
              <a:t>]</a:t>
            </a:r>
          </a:p>
        </c:rich>
      </c:tx>
      <c:layout>
        <c:manualLayout>
          <c:xMode val="edge"/>
          <c:yMode val="edge"/>
          <c:x val="0.18023237480054552"/>
          <c:y val="2.9559183404908988E-2"/>
        </c:manualLayout>
      </c:layout>
      <c:overlay val="0"/>
      <c:spPr>
        <a:noFill/>
        <a:ln>
          <a:noFill/>
        </a:ln>
        <a:effectLst/>
      </c:spPr>
      <c:txPr>
        <a:bodyPr rot="0" spcFirstLastPara="1" vertOverflow="ellipsis" vert="horz" wrap="square" anchor="ctr" anchorCtr="1"/>
        <a:lstStyle/>
        <a:p>
          <a:pPr>
            <a:defRPr sz="1440" b="0"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autoTitleDeleted val="0"/>
    <c:plotArea>
      <c:layout>
        <c:manualLayout>
          <c:layoutTarget val="inner"/>
          <c:xMode val="edge"/>
          <c:yMode val="edge"/>
          <c:x val="0.17140457103282661"/>
          <c:y val="0.18355852037059059"/>
          <c:w val="0.56061058825896681"/>
          <c:h val="0.63218398949267751"/>
        </c:manualLayout>
      </c:layout>
      <c:barChart>
        <c:barDir val="col"/>
        <c:grouping val="clustered"/>
        <c:varyColors val="0"/>
        <c:ser>
          <c:idx val="0"/>
          <c:order val="0"/>
          <c:tx>
            <c:strRef>
              <c:f>Sheet1!$B$1</c:f>
              <c:strCache>
                <c:ptCount val="1"/>
                <c:pt idx="0">
                  <c:v>Containership Average Speed</c:v>
                </c:pt>
              </c:strCache>
            </c:strRef>
          </c:tx>
          <c:spPr>
            <a:solidFill>
              <a:srgbClr val="002B5C"/>
            </a:solidFill>
            <a:ln>
              <a:noFill/>
            </a:ln>
            <a:effectLst/>
          </c:spPr>
          <c:invertIfNegative val="0"/>
          <c:dPt>
            <c:idx val="5"/>
            <c:invertIfNegative val="0"/>
            <c:bubble3D val="0"/>
            <c:spPr>
              <a:solidFill>
                <a:srgbClr val="3CD0BA"/>
              </a:solidFill>
              <a:ln>
                <a:noFill/>
              </a:ln>
              <a:effectLst/>
            </c:spPr>
            <c:extLst>
              <c:ext xmlns:c16="http://schemas.microsoft.com/office/drawing/2014/chart" uri="{C3380CC4-5D6E-409C-BE32-E72D297353CC}">
                <c16:uniqueId val="{00000000-1E86-4AEA-8D16-A54AB687CC4B}"/>
              </c:ext>
            </c:extLst>
          </c:dPt>
          <c:dPt>
            <c:idx val="6"/>
            <c:invertIfNegative val="0"/>
            <c:bubble3D val="0"/>
            <c:spPr>
              <a:solidFill>
                <a:srgbClr val="3CD0BA"/>
              </a:solidFill>
              <a:ln>
                <a:noFill/>
              </a:ln>
              <a:effectLst/>
            </c:spPr>
            <c:extLst>
              <c:ext xmlns:c16="http://schemas.microsoft.com/office/drawing/2014/chart" uri="{C3380CC4-5D6E-409C-BE32-E72D297353CC}">
                <c16:uniqueId val="{00000001-1E86-4AEA-8D16-A54AB687CC4B}"/>
              </c:ext>
            </c:extLst>
          </c:dPt>
          <c:dPt>
            <c:idx val="7"/>
            <c:invertIfNegative val="0"/>
            <c:bubble3D val="0"/>
            <c:spPr>
              <a:solidFill>
                <a:srgbClr val="3CD0BA"/>
              </a:solidFill>
              <a:ln>
                <a:noFill/>
              </a:ln>
              <a:effectLst/>
            </c:spPr>
            <c:extLst>
              <c:ext xmlns:c16="http://schemas.microsoft.com/office/drawing/2014/chart" uri="{C3380CC4-5D6E-409C-BE32-E72D297353CC}">
                <c16:uniqueId val="{00000002-1E86-4AEA-8D16-A54AB687CC4B}"/>
              </c:ext>
            </c:extLst>
          </c:dPt>
          <c:dPt>
            <c:idx val="8"/>
            <c:invertIfNegative val="0"/>
            <c:bubble3D val="0"/>
            <c:spPr>
              <a:solidFill>
                <a:srgbClr val="3CD0BA"/>
              </a:solidFill>
              <a:ln>
                <a:noFill/>
              </a:ln>
              <a:effectLst/>
            </c:spPr>
            <c:extLst>
              <c:ext xmlns:c16="http://schemas.microsoft.com/office/drawing/2014/chart" uri="{C3380CC4-5D6E-409C-BE32-E72D297353CC}">
                <c16:uniqueId val="{00000003-1E86-4AEA-8D16-A54AB687CC4B}"/>
              </c:ext>
            </c:extLst>
          </c:dPt>
          <c:cat>
            <c:numRef>
              <c:f>Sheet1!$A$2:$A$19</c:f>
              <c:numCache>
                <c:formatCode>mmm\-yy</c:formatCode>
                <c:ptCount val="9"/>
                <c:pt idx="0">
                  <c:v>45931</c:v>
                </c:pt>
                <c:pt idx="1">
                  <c:v>45962</c:v>
                </c:pt>
                <c:pt idx="2">
                  <c:v>45992</c:v>
                </c:pt>
                <c:pt idx="3">
                  <c:v>46023</c:v>
                </c:pt>
                <c:pt idx="4">
                  <c:v>46054</c:v>
                </c:pt>
                <c:pt idx="5">
                  <c:v>46082</c:v>
                </c:pt>
                <c:pt idx="6">
                  <c:v>46113</c:v>
                </c:pt>
                <c:pt idx="7">
                  <c:v>46143</c:v>
                </c:pt>
                <c:pt idx="8">
                  <c:v>46174</c:v>
                </c:pt>
              </c:numCache>
            </c:numRef>
          </c:cat>
          <c:val>
            <c:numRef>
              <c:f>Sheet1!$B$2:$B$19</c:f>
              <c:numCache>
                <c:formatCode>#,##0.00</c:formatCode>
                <c:ptCount val="9"/>
                <c:pt idx="0">
                  <c:v>13.86</c:v>
                </c:pt>
                <c:pt idx="1">
                  <c:v>13.88</c:v>
                </c:pt>
                <c:pt idx="2">
                  <c:v>13.91</c:v>
                </c:pt>
                <c:pt idx="3">
                  <c:v>13.88</c:v>
                </c:pt>
                <c:pt idx="4">
                  <c:v>13.92</c:v>
                </c:pt>
                <c:pt idx="5">
                  <c:v>13.75</c:v>
                </c:pt>
                <c:pt idx="6">
                  <c:v>13.69</c:v>
                </c:pt>
                <c:pt idx="7">
                  <c:v>13.76</c:v>
                </c:pt>
                <c:pt idx="8" formatCode="_-* #,##0.00_-;\-* #,##0.00_-;_-* &quot;-&quot;_-;_-@_-">
                  <c:v>13.789655172413797</c:v>
                </c:pt>
              </c:numCache>
            </c:numRef>
          </c:val>
          <c:extLst xmlns:c15="http://schemas.microsoft.com/office/drawing/2012/chart">
            <c:ext xmlns:c16="http://schemas.microsoft.com/office/drawing/2014/chart" uri="{C3380CC4-5D6E-409C-BE32-E72D297353CC}">
              <c16:uniqueId val="{00000000-B5ED-4C51-A668-3C3EB7658094}"/>
            </c:ext>
          </c:extLst>
        </c:ser>
        <c:dLbls>
          <c:showLegendKey val="0"/>
          <c:showVal val="0"/>
          <c:showCatName val="0"/>
          <c:showSerName val="0"/>
          <c:showPercent val="0"/>
          <c:showBubbleSize val="0"/>
        </c:dLbls>
        <c:gapWidth val="100"/>
        <c:axId val="2110395568"/>
        <c:axId val="2110411344"/>
      </c:barChart>
      <c:dateAx>
        <c:axId val="2110395568"/>
        <c:scaling>
          <c:orientation val="minMax"/>
          <c:min val="46023"/>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411344"/>
        <c:crosses val="autoZero"/>
        <c:auto val="1"/>
        <c:lblOffset val="100"/>
        <c:baseTimeUnit val="months"/>
      </c:dateAx>
      <c:valAx>
        <c:axId val="2110411344"/>
        <c:scaling>
          <c:orientation val="minMax"/>
          <c:max val="14"/>
          <c:min val="13.6"/>
        </c:scaling>
        <c:delete val="0"/>
        <c:axPos val="l"/>
        <c:majorGridlines>
          <c:spPr>
            <a:ln w="3175" cap="flat" cmpd="sng" algn="ctr">
              <a:solidFill>
                <a:schemeClr val="tx1">
                  <a:lumMod val="15000"/>
                  <a:lumOff val="85000"/>
                </a:schemeClr>
              </a:solidFill>
              <a:prstDash val="sysDot"/>
              <a:round/>
            </a:ln>
            <a:effectLst/>
          </c:spPr>
        </c:majorGridlines>
        <c:title>
          <c:tx>
            <c:rich>
              <a:bodyPr rot="0" spcFirstLastPara="1" vertOverflow="ellipsis"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sz="1000" dirty="0" smtClean="0"/>
                  <a:t>(Knots)</a:t>
                </a:r>
                <a:endParaRPr lang="ko-KR" altLang="en-US" sz="1000" dirty="0"/>
              </a:p>
            </c:rich>
          </c:tx>
          <c:layout>
            <c:manualLayout>
              <c:xMode val="edge"/>
              <c:yMode val="edge"/>
              <c:x val="1.1442448239439686E-2"/>
              <c:y val="0.10716355437007943"/>
            </c:manualLayout>
          </c:layout>
          <c:overlay val="0"/>
          <c:spPr>
            <a:noFill/>
            <a:ln>
              <a:noFill/>
            </a:ln>
            <a:effectLst/>
          </c:spPr>
          <c:txPr>
            <a:bodyPr rot="0" spcFirstLastPara="1" vertOverflow="ellipsis"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numFmt formatCode="#,##0.0_);[Red]\(#,##0.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395568"/>
        <c:crosses val="autoZero"/>
        <c:crossBetween val="between"/>
        <c:majorUnit val="0.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나눔스퀘어" panose="020B0600000101010101" pitchFamily="50" charset="-127"/>
          <a:ea typeface="나눔스퀘어" panose="020B0600000101010101" pitchFamily="50" charset="-127"/>
        </a:defRPr>
      </a:pPr>
      <a:endParaRPr lang="ko-K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sz="1200" b="1" dirty="0" smtClean="0"/>
              <a:t>[Congestion at Major Transshipment Ports]</a:t>
            </a:r>
          </a:p>
        </c:rich>
      </c:tx>
      <c:layout>
        <c:manualLayout>
          <c:xMode val="edge"/>
          <c:yMode val="edge"/>
          <c:x val="0.23957802472810324"/>
          <c:y val="2.9559183404908988E-2"/>
        </c:manualLayout>
      </c:layout>
      <c:overlay val="0"/>
      <c:spPr>
        <a:noFill/>
        <a:ln>
          <a:noFill/>
        </a:ln>
        <a:effectLst/>
      </c:spPr>
      <c:txPr>
        <a:bodyPr rot="0" spcFirstLastPara="1" vertOverflow="ellipsis" vert="horz" wrap="square" anchor="ctr" anchorCtr="1"/>
        <a:lstStyle/>
        <a:p>
          <a:pPr>
            <a:defRPr sz="1440" b="0"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autoTitleDeleted val="0"/>
    <c:plotArea>
      <c:layout>
        <c:manualLayout>
          <c:layoutTarget val="inner"/>
          <c:xMode val="edge"/>
          <c:yMode val="edge"/>
          <c:x val="0.33708896446745379"/>
          <c:y val="0.18998641032713912"/>
          <c:w val="0.55919101814193906"/>
          <c:h val="0.62254215455785478"/>
        </c:manualLayout>
      </c:layout>
      <c:lineChart>
        <c:grouping val="standard"/>
        <c:varyColors val="0"/>
        <c:ser>
          <c:idx val="0"/>
          <c:order val="0"/>
          <c:tx>
            <c:strRef>
              <c:f>Sheet1!$B$1</c:f>
              <c:strCache>
                <c:ptCount val="1"/>
                <c:pt idx="0">
                  <c:v>Singapore</c:v>
                </c:pt>
              </c:strCache>
            </c:strRef>
          </c:tx>
          <c:spPr>
            <a:ln w="28575" cap="rnd">
              <a:solidFill>
                <a:srgbClr val="3CD0BA"/>
              </a:solidFill>
              <a:round/>
            </a:ln>
            <a:effectLst/>
          </c:spPr>
          <c:marker>
            <c:symbol val="circle"/>
            <c:size val="5"/>
            <c:spPr>
              <a:solidFill>
                <a:schemeClr val="bg1"/>
              </a:solidFill>
              <a:ln w="9525">
                <a:solidFill>
                  <a:srgbClr val="3CD0BA"/>
                </a:solidFill>
              </a:ln>
              <a:effectLst/>
            </c:spPr>
          </c:marker>
          <c:cat>
            <c:numRef>
              <c:f>Sheet1!$A$2:$A$7</c:f>
              <c:numCache>
                <c:formatCode>mmm\-yy</c:formatCode>
                <c:ptCount val="6"/>
                <c:pt idx="0">
                  <c:v>46023</c:v>
                </c:pt>
                <c:pt idx="1">
                  <c:v>46054</c:v>
                </c:pt>
                <c:pt idx="2">
                  <c:v>46082</c:v>
                </c:pt>
                <c:pt idx="3">
                  <c:v>46113</c:v>
                </c:pt>
                <c:pt idx="4">
                  <c:v>46143</c:v>
                </c:pt>
                <c:pt idx="5">
                  <c:v>46174</c:v>
                </c:pt>
              </c:numCache>
            </c:numRef>
          </c:cat>
          <c:val>
            <c:numRef>
              <c:f>Sheet1!$B$2:$B$7</c:f>
              <c:numCache>
                <c:formatCode>#,##0.0</c:formatCode>
                <c:ptCount val="6"/>
                <c:pt idx="0">
                  <c:v>382.13384000000002</c:v>
                </c:pt>
                <c:pt idx="1">
                  <c:v>349.12536999999998</c:v>
                </c:pt>
                <c:pt idx="2">
                  <c:v>374.76285999999999</c:v>
                </c:pt>
                <c:pt idx="3">
                  <c:v>384.42302000000001</c:v>
                </c:pt>
                <c:pt idx="4">
                  <c:v>416.94830000000002</c:v>
                </c:pt>
                <c:pt idx="5">
                  <c:v>389.22091</c:v>
                </c:pt>
              </c:numCache>
            </c:numRef>
          </c:val>
          <c:smooth val="0"/>
          <c:extLst xmlns:c15="http://schemas.microsoft.com/office/drawing/2012/chart">
            <c:ext xmlns:c16="http://schemas.microsoft.com/office/drawing/2014/chart" uri="{C3380CC4-5D6E-409C-BE32-E72D297353CC}">
              <c16:uniqueId val="{00000000-3732-4ACD-804B-56E209E44788}"/>
            </c:ext>
          </c:extLst>
        </c:ser>
        <c:ser>
          <c:idx val="1"/>
          <c:order val="1"/>
          <c:tx>
            <c:strRef>
              <c:f>Sheet1!$C$1</c:f>
              <c:strCache>
                <c:ptCount val="1"/>
                <c:pt idx="0">
                  <c:v>Colombo</c:v>
                </c:pt>
              </c:strCache>
            </c:strRef>
          </c:tx>
          <c:spPr>
            <a:ln w="28575" cap="rnd">
              <a:solidFill>
                <a:srgbClr val="002B5C"/>
              </a:solidFill>
              <a:round/>
            </a:ln>
            <a:effectLst/>
          </c:spPr>
          <c:marker>
            <c:symbol val="circle"/>
            <c:size val="5"/>
            <c:spPr>
              <a:solidFill>
                <a:schemeClr val="bg1"/>
              </a:solidFill>
              <a:ln w="9525">
                <a:solidFill>
                  <a:srgbClr val="002B5C"/>
                </a:solidFill>
              </a:ln>
              <a:effectLst/>
            </c:spPr>
          </c:marker>
          <c:cat>
            <c:numRef>
              <c:f>Sheet1!$A$2:$A$7</c:f>
              <c:numCache>
                <c:formatCode>mmm\-yy</c:formatCode>
                <c:ptCount val="6"/>
                <c:pt idx="0">
                  <c:v>46023</c:v>
                </c:pt>
                <c:pt idx="1">
                  <c:v>46054</c:v>
                </c:pt>
                <c:pt idx="2">
                  <c:v>46082</c:v>
                </c:pt>
                <c:pt idx="3">
                  <c:v>46113</c:v>
                </c:pt>
                <c:pt idx="4">
                  <c:v>46143</c:v>
                </c:pt>
                <c:pt idx="5">
                  <c:v>46174</c:v>
                </c:pt>
              </c:numCache>
            </c:numRef>
          </c:cat>
          <c:val>
            <c:numRef>
              <c:f>Sheet1!$C$2:$C$7</c:f>
              <c:numCache>
                <c:formatCode>#,##0.0</c:formatCode>
                <c:ptCount val="6"/>
                <c:pt idx="0">
                  <c:v>110.12117000000001</c:v>
                </c:pt>
                <c:pt idx="1">
                  <c:v>98.290319999999994</c:v>
                </c:pt>
                <c:pt idx="2">
                  <c:v>144.46254999999999</c:v>
                </c:pt>
                <c:pt idx="3">
                  <c:v>170.23477</c:v>
                </c:pt>
                <c:pt idx="4">
                  <c:v>154.56296</c:v>
                </c:pt>
                <c:pt idx="5">
                  <c:v>110.02375000000001</c:v>
                </c:pt>
              </c:numCache>
            </c:numRef>
          </c:val>
          <c:smooth val="0"/>
          <c:extLst>
            <c:ext xmlns:c16="http://schemas.microsoft.com/office/drawing/2014/chart" uri="{C3380CC4-5D6E-409C-BE32-E72D297353CC}">
              <c16:uniqueId val="{00000021-A372-4E8B-AC59-66704670D8E5}"/>
            </c:ext>
          </c:extLst>
        </c:ser>
        <c:ser>
          <c:idx val="2"/>
          <c:order val="2"/>
          <c:tx>
            <c:strRef>
              <c:f>Sheet1!$D$1</c:f>
              <c:strCache>
                <c:ptCount val="1"/>
                <c:pt idx="0">
                  <c:v> Mundra</c:v>
                </c:pt>
              </c:strCache>
            </c:strRef>
          </c:tx>
          <c:spPr>
            <a:ln w="28575" cap="rnd">
              <a:solidFill>
                <a:srgbClr val="0000FF"/>
              </a:solidFill>
              <a:round/>
            </a:ln>
            <a:effectLst/>
          </c:spPr>
          <c:marker>
            <c:symbol val="circle"/>
            <c:size val="5"/>
            <c:spPr>
              <a:solidFill>
                <a:schemeClr val="bg1"/>
              </a:solidFill>
              <a:ln w="9525">
                <a:solidFill>
                  <a:srgbClr val="0000FF"/>
                </a:solidFill>
              </a:ln>
              <a:effectLst/>
            </c:spPr>
          </c:marker>
          <c:cat>
            <c:numRef>
              <c:f>Sheet1!$A$2:$A$7</c:f>
              <c:numCache>
                <c:formatCode>mmm\-yy</c:formatCode>
                <c:ptCount val="6"/>
                <c:pt idx="0">
                  <c:v>46023</c:v>
                </c:pt>
                <c:pt idx="1">
                  <c:v>46054</c:v>
                </c:pt>
                <c:pt idx="2">
                  <c:v>46082</c:v>
                </c:pt>
                <c:pt idx="3">
                  <c:v>46113</c:v>
                </c:pt>
                <c:pt idx="4">
                  <c:v>46143</c:v>
                </c:pt>
                <c:pt idx="5">
                  <c:v>46174</c:v>
                </c:pt>
              </c:numCache>
            </c:numRef>
          </c:cat>
          <c:val>
            <c:numRef>
              <c:f>Sheet1!$D$2:$D$7</c:f>
              <c:numCache>
                <c:formatCode>#,##0.0</c:formatCode>
                <c:ptCount val="6"/>
                <c:pt idx="0">
                  <c:v>68.562880000000007</c:v>
                </c:pt>
                <c:pt idx="1">
                  <c:v>68.121880000000004</c:v>
                </c:pt>
                <c:pt idx="2">
                  <c:v>97.557670000000002</c:v>
                </c:pt>
                <c:pt idx="3">
                  <c:v>143.42274</c:v>
                </c:pt>
                <c:pt idx="4">
                  <c:v>149.97906</c:v>
                </c:pt>
                <c:pt idx="5">
                  <c:v>134.47673</c:v>
                </c:pt>
              </c:numCache>
            </c:numRef>
          </c:val>
          <c:smooth val="0"/>
          <c:extLst>
            <c:ext xmlns:c16="http://schemas.microsoft.com/office/drawing/2014/chart" uri="{C3380CC4-5D6E-409C-BE32-E72D297353CC}">
              <c16:uniqueId val="{00000022-A372-4E8B-AC59-66704670D8E5}"/>
            </c:ext>
          </c:extLst>
        </c:ser>
        <c:dLbls>
          <c:showLegendKey val="0"/>
          <c:showVal val="0"/>
          <c:showCatName val="0"/>
          <c:showSerName val="0"/>
          <c:showPercent val="0"/>
          <c:showBubbleSize val="0"/>
        </c:dLbls>
        <c:marker val="1"/>
        <c:smooth val="0"/>
        <c:axId val="2110395568"/>
        <c:axId val="2110411344"/>
      </c:lineChart>
      <c:dateAx>
        <c:axId val="2110395568"/>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411344"/>
        <c:crosses val="autoZero"/>
        <c:auto val="1"/>
        <c:lblOffset val="100"/>
        <c:baseTimeUnit val="months"/>
      </c:dateAx>
      <c:valAx>
        <c:axId val="2110411344"/>
        <c:scaling>
          <c:orientation val="minMax"/>
          <c:max val="450"/>
          <c:min val="50"/>
        </c:scaling>
        <c:delete val="0"/>
        <c:axPos val="l"/>
        <c:majorGridlines>
          <c:spPr>
            <a:ln w="3175" cap="flat" cmpd="sng" algn="ctr">
              <a:solidFill>
                <a:schemeClr val="tx1">
                  <a:lumMod val="15000"/>
                  <a:lumOff val="85000"/>
                </a:schemeClr>
              </a:solidFill>
              <a:prstDash val="sysDot"/>
              <a:round/>
            </a:ln>
            <a:effectLst/>
          </c:spPr>
        </c:majorGridlines>
        <c:title>
          <c:tx>
            <c:rich>
              <a:bodyPr rot="0" spcFirstLastPara="1" vertOverflow="ellipsis"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sz="1100" dirty="0" smtClean="0"/>
                  <a:t>(k</a:t>
                </a:r>
                <a:r>
                  <a:rPr lang="en-US" altLang="ko-KR" sz="1100" baseline="0" dirty="0" smtClean="0"/>
                  <a:t> TEU)</a:t>
                </a:r>
                <a:endParaRPr lang="ko-KR" altLang="en-US" sz="1100" dirty="0"/>
              </a:p>
            </c:rich>
          </c:tx>
          <c:layout>
            <c:manualLayout>
              <c:xMode val="edge"/>
              <c:yMode val="edge"/>
              <c:x val="0.19699153801009103"/>
              <c:y val="0.11198447183749081"/>
            </c:manualLayout>
          </c:layout>
          <c:overlay val="0"/>
          <c:spPr>
            <a:noFill/>
            <a:ln>
              <a:noFill/>
            </a:ln>
            <a:effectLst/>
          </c:spPr>
          <c:txPr>
            <a:bodyPr rot="0" spcFirstLastPara="1" vertOverflow="ellipsis"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numFmt formatCode="#,##0_);[Red]\(#,##0\)" sourceLinked="0"/>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395568"/>
        <c:crosses val="autoZero"/>
        <c:crossBetween val="between"/>
        <c:majorUnit val="100"/>
      </c:valAx>
      <c:spPr>
        <a:noFill/>
        <a:ln w="25400">
          <a:noFill/>
        </a:ln>
        <a:effectLst/>
      </c:spPr>
    </c:plotArea>
    <c:legend>
      <c:legendPos val="b"/>
      <c:layout>
        <c:manualLayout>
          <c:xMode val="edge"/>
          <c:yMode val="edge"/>
          <c:x val="0.3125871714465141"/>
          <c:y val="0.11867555098911056"/>
          <c:w val="0.63205940968549934"/>
          <c:h val="5.4442456466229534E-2"/>
        </c:manualLayout>
      </c:layout>
      <c:overlay val="0"/>
      <c:spPr>
        <a:noFill/>
        <a:ln w="3175">
          <a:noFill/>
        </a:ln>
        <a:effectLst/>
      </c:spPr>
      <c:txPr>
        <a:bodyPr rot="0" spcFirstLastPara="1" vertOverflow="ellipsis" vert="horz" wrap="square" anchor="ctr" anchorCtr="1"/>
        <a:lstStyle/>
        <a:p>
          <a:pPr>
            <a:defRPr sz="1100" b="0" i="0" u="none" strike="noStrike" kern="1200" spc="-1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나눔스퀘어" panose="020B0600000101010101" pitchFamily="50" charset="-127"/>
          <a:ea typeface="나눔스퀘어" panose="020B0600000101010101" pitchFamily="50" charset="-127"/>
        </a:defRPr>
      </a:pPr>
      <a:endParaRPr lang="ko-K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sz="1200" b="1" i="0" kern="1200" spc="0" baseline="0" dirty="0" smtClean="0">
                <a:solidFill>
                  <a:srgbClr val="595959"/>
                </a:solidFill>
                <a:effectLst/>
                <a:latin typeface="나눔스퀘어" panose="020B0600000101010101" pitchFamily="50" charset="-127"/>
                <a:ea typeface="나눔스퀘어" panose="020B0600000101010101" pitchFamily="50" charset="-127"/>
              </a:rPr>
              <a:t>[SCFI Comprehensive Index Trend (Past Five Years)]</a:t>
            </a:r>
            <a:endParaRPr lang="ko-KR" altLang="ko-KR" dirty="0">
              <a:effectLst/>
            </a:endParaRPr>
          </a:p>
        </c:rich>
      </c:tx>
      <c:layout>
        <c:manualLayout>
          <c:xMode val="edge"/>
          <c:yMode val="edge"/>
          <c:x val="0.17894096414000071"/>
          <c:y val="3.6219936348564339E-3"/>
        </c:manualLayout>
      </c:layout>
      <c:overlay val="0"/>
      <c:spPr>
        <a:noFill/>
        <a:ln>
          <a:noFill/>
        </a:ln>
        <a:effectLst/>
      </c:spPr>
    </c:title>
    <c:autoTitleDeleted val="0"/>
    <c:plotArea>
      <c:layout>
        <c:manualLayout>
          <c:layoutTarget val="inner"/>
          <c:xMode val="edge"/>
          <c:yMode val="edge"/>
          <c:x val="9.9369754486837061E-2"/>
          <c:y val="0.16079818910472429"/>
          <c:w val="0.79462052696295582"/>
          <c:h val="0.7554684665954351"/>
        </c:manualLayout>
      </c:layout>
      <c:barChart>
        <c:barDir val="col"/>
        <c:grouping val="clustered"/>
        <c:varyColors val="0"/>
        <c:ser>
          <c:idx val="1"/>
          <c:order val="1"/>
          <c:tx>
            <c:strRef>
              <c:f>Sheet1!$B$1</c:f>
              <c:strCache>
                <c:ptCount val="1"/>
                <c:pt idx="0">
                  <c:v>SCFI Comprehensive</c:v>
                </c:pt>
              </c:strCache>
            </c:strRef>
          </c:tx>
          <c:spPr>
            <a:solidFill>
              <a:srgbClr val="002B5C"/>
            </a:solidFill>
            <a:ln>
              <a:noFill/>
            </a:ln>
            <a:effectLst/>
          </c:spPr>
          <c:invertIfNegative val="0"/>
          <c:cat>
            <c:numRef>
              <c:f>Sheet1!$A$2:$A$8</c:f>
              <c:numCache>
                <c:formatCode>General</c:formatCode>
                <c:ptCount val="5"/>
                <c:pt idx="0">
                  <c:v>2022</c:v>
                </c:pt>
                <c:pt idx="1">
                  <c:v>2023</c:v>
                </c:pt>
                <c:pt idx="2">
                  <c:v>2024</c:v>
                </c:pt>
                <c:pt idx="3">
                  <c:v>2025</c:v>
                </c:pt>
                <c:pt idx="4">
                  <c:v>2026</c:v>
                </c:pt>
              </c:numCache>
            </c:numRef>
          </c:cat>
          <c:val>
            <c:numRef>
              <c:f>Sheet1!$B$2:$B$8</c:f>
              <c:numCache>
                <c:formatCode>#,##0.00</c:formatCode>
                <c:ptCount val="5"/>
                <c:pt idx="0">
                  <c:v>3410.1831999999999</c:v>
                </c:pt>
                <c:pt idx="1">
                  <c:v>1005.7868</c:v>
                </c:pt>
                <c:pt idx="2">
                  <c:v>2506.2665299999999</c:v>
                </c:pt>
                <c:pt idx="3">
                  <c:v>1581.3417999999999</c:v>
                </c:pt>
                <c:pt idx="4">
                  <c:v>1956.53208</c:v>
                </c:pt>
              </c:numCache>
            </c:numRef>
          </c:val>
          <c:extLst>
            <c:ext xmlns:c16="http://schemas.microsoft.com/office/drawing/2014/chart" uri="{C3380CC4-5D6E-409C-BE32-E72D297353CC}">
              <c16:uniqueId val="{00000001-746A-4058-B318-B4CC062F3DE9}"/>
            </c:ext>
          </c:extLst>
        </c:ser>
        <c:dLbls>
          <c:showLegendKey val="0"/>
          <c:showVal val="0"/>
          <c:showCatName val="0"/>
          <c:showSerName val="0"/>
          <c:showPercent val="0"/>
          <c:showBubbleSize val="0"/>
        </c:dLbls>
        <c:gapWidth val="100"/>
        <c:axId val="2110400464"/>
        <c:axId val="2110391216"/>
        <c:extLst>
          <c:ext xmlns:c15="http://schemas.microsoft.com/office/drawing/2012/chart" uri="{02D57815-91ED-43cb-92C2-25804820EDAC}">
            <c15:filteredBarSeries>
              <c15:ser>
                <c:idx val="0"/>
                <c:order val="0"/>
                <c:tx>
                  <c:strRef>
                    <c:extLst>
                      <c:ext uri="{02D57815-91ED-43cb-92C2-25804820EDAC}">
                        <c15:formulaRef>
                          <c15:sqref>Sheet1!$A$1</c15:sqref>
                        </c15:formulaRef>
                      </c:ext>
                    </c:extLst>
                    <c:strCache>
                      <c:ptCount val="1"/>
                      <c:pt idx="0">
                        <c:v>Year</c:v>
                      </c:pt>
                    </c:strCache>
                  </c:strRef>
                </c:tx>
                <c:invertIfNegative val="0"/>
                <c:cat>
                  <c:numRef>
                    <c:extLst>
                      <c:ext uri="{02D57815-91ED-43cb-92C2-25804820EDAC}">
                        <c15:formulaRef>
                          <c15:sqref>Sheet1!$A$2:$A$8</c15:sqref>
                        </c15:formulaRef>
                      </c:ext>
                    </c:extLst>
                    <c:numCache>
                      <c:formatCode>General</c:formatCode>
                      <c:ptCount val="5"/>
                      <c:pt idx="0">
                        <c:v>2022</c:v>
                      </c:pt>
                      <c:pt idx="1">
                        <c:v>2023</c:v>
                      </c:pt>
                      <c:pt idx="2">
                        <c:v>2024</c:v>
                      </c:pt>
                      <c:pt idx="3">
                        <c:v>2025</c:v>
                      </c:pt>
                      <c:pt idx="4">
                        <c:v>2026</c:v>
                      </c:pt>
                    </c:numCache>
                  </c:numRef>
                </c:cat>
                <c:val>
                  <c:numRef>
                    <c:extLst>
                      <c:ext uri="{02D57815-91ED-43cb-92C2-25804820EDAC}">
                        <c15:formulaRef>
                          <c15:sqref>Sheet1!$A$2:$A$8</c15:sqref>
                        </c15:formulaRef>
                      </c:ext>
                    </c:extLst>
                    <c:numCache>
                      <c:formatCode>General</c:formatCode>
                      <c:ptCount val="5"/>
                      <c:pt idx="0">
                        <c:v>2022</c:v>
                      </c:pt>
                      <c:pt idx="1">
                        <c:v>2023</c:v>
                      </c:pt>
                      <c:pt idx="2">
                        <c:v>2024</c:v>
                      </c:pt>
                      <c:pt idx="3">
                        <c:v>2025</c:v>
                      </c:pt>
                      <c:pt idx="4">
                        <c:v>2026</c:v>
                      </c:pt>
                    </c:numCache>
                  </c:numRef>
                </c:val>
                <c:extLst>
                  <c:ext xmlns:c16="http://schemas.microsoft.com/office/drawing/2014/chart" uri="{C3380CC4-5D6E-409C-BE32-E72D297353CC}">
                    <c16:uniqueId val="{00000000-746A-4058-B318-B4CC062F3DE9}"/>
                  </c:ext>
                </c:extLst>
              </c15:ser>
            </c15:filteredBarSeries>
          </c:ext>
        </c:extLst>
      </c:barChart>
      <c:lineChart>
        <c:grouping val="standard"/>
        <c:varyColors val="0"/>
        <c:ser>
          <c:idx val="2"/>
          <c:order val="2"/>
          <c:tx>
            <c:strRef>
              <c:f>Sheet1!$C$1</c:f>
              <c:strCache>
                <c:ptCount val="1"/>
                <c:pt idx="0">
                  <c:v>YoY(Right)</c:v>
                </c:pt>
              </c:strCache>
            </c:strRef>
          </c:tx>
          <c:spPr>
            <a:ln w="28575" cap="rnd">
              <a:solidFill>
                <a:srgbClr val="3CD0BA"/>
              </a:solidFill>
              <a:round/>
            </a:ln>
            <a:effectLst/>
          </c:spPr>
          <c:marker>
            <c:symbol val="circle"/>
            <c:size val="5"/>
            <c:spPr>
              <a:solidFill>
                <a:schemeClr val="bg1"/>
              </a:solidFill>
              <a:ln w="9525">
                <a:solidFill>
                  <a:srgbClr val="3CD0BA"/>
                </a:solidFill>
              </a:ln>
              <a:effectLst/>
            </c:spPr>
          </c:marker>
          <c:dLbls>
            <c:dLbl>
              <c:idx val="0"/>
              <c:layout>
                <c:manualLayout>
                  <c:x val="-5.1841668789626913E-2"/>
                  <c:y val="4.2229937701607941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4-CA28-4D19-B9E8-07456148FA5D}"/>
                </c:ext>
              </c:extLst>
            </c:dLbl>
            <c:dLbl>
              <c:idx val="1"/>
              <c:layout>
                <c:manualLayout>
                  <c:x val="-5.4198108280064501E-2"/>
                  <c:y val="5.1583200630980215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0-CA75-49A0-9E11-B378262DB011}"/>
                </c:ext>
              </c:extLst>
            </c:dLbl>
            <c:dLbl>
              <c:idx val="2"/>
              <c:layout>
                <c:manualLayout>
                  <c:x val="-5.655454777050218E-2"/>
                  <c:y val="-4.8359250591544063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CA75-49A0-9E11-B378262DB011}"/>
                </c:ext>
              </c:extLst>
            </c:dLbl>
            <c:dLbl>
              <c:idx val="3"/>
              <c:layout>
                <c:manualLayout>
                  <c:x val="-5.1841668789626913E-2"/>
                  <c:y val="4.8359250591543945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0-ED1E-412B-B5C9-3055066D52AB}"/>
                </c:ext>
              </c:extLst>
            </c:dLbl>
            <c:dLbl>
              <c:idx val="4"/>
              <c:layout>
                <c:manualLayout>
                  <c:x val="-5.4198015506856392E-2"/>
                  <c:y val="5.1583327558147242E-2"/>
                </c:manualLayout>
              </c:layout>
              <c:showLegendKey val="0"/>
              <c:showVal val="1"/>
              <c:showCatName val="0"/>
              <c:showSerName val="0"/>
              <c:showPercent val="0"/>
              <c:showBubbleSize val="0"/>
              <c:extLst>
                <c:ext xmlns:c15="http://schemas.microsoft.com/office/drawing/2012/chart" uri="{CE6537A1-D6FC-4f65-9D91-7224C49458BB}">
                  <c15:layout>
                    <c:manualLayout>
                      <c:w val="7.6699136671078333E-2"/>
                      <c:h val="6.2130340492279397E-2"/>
                    </c:manualLayout>
                  </c15:layout>
                </c:ext>
                <c:ext xmlns:c16="http://schemas.microsoft.com/office/drawing/2014/chart" uri="{C3380CC4-5D6E-409C-BE32-E72D297353CC}">
                  <c16:uniqueId val="{00000001-ED1E-412B-B5C9-3055066D52AB}"/>
                </c:ext>
              </c:extLst>
            </c:dLbl>
            <c:spPr>
              <a:solidFill>
                <a:srgbClr val="3CD0BA"/>
              </a:solidFill>
              <a:ln>
                <a:noFill/>
              </a:ln>
              <a:effectLst/>
            </c:spPr>
            <c:txPr>
              <a:bodyPr rot="0" spcFirstLastPara="1" vertOverflow="clip" horzOverflow="clip" vert="horz" wrap="square" lIns="36576" tIns="18288" rIns="36576" bIns="18288" anchor="ctr" anchorCtr="1">
                <a:spAutoFit/>
              </a:bodyPr>
              <a:lstStyle/>
              <a:p>
                <a:pPr>
                  <a:defRPr sz="1100" b="1" i="0" u="none" strike="noStrike" kern="1200" baseline="0">
                    <a:solidFill>
                      <a:schemeClr val="bg1"/>
                    </a:solidFill>
                    <a:latin typeface="나눔스퀘어" panose="020B0600000101010101" pitchFamily="50" charset="-127"/>
                    <a:ea typeface="나눔스퀘어" panose="020B0600000101010101" pitchFamily="50" charset="-127"/>
                    <a:cs typeface="+mn-cs"/>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oundRect">
                    <a:avLst/>
                  </a:prstGeom>
                </c15:spPr>
                <c15:showLeaderLines val="0"/>
              </c:ext>
            </c:extLst>
          </c:dLbls>
          <c:cat>
            <c:strLit>
              <c:ptCount val="4"/>
              <c:pt idx="0">
                <c:v>4</c:v>
              </c:pt>
              <c:pt idx="1">
                <c:v>5</c:v>
              </c:pt>
              <c:pt idx="2">
                <c:v>6</c:v>
              </c:pt>
              <c:pt idx="3">
                <c:v>7</c:v>
              </c:pt>
              <c:extLst>
                <c:ext xmlns:c15="http://schemas.microsoft.com/office/drawing/2012/chart" uri="{02D57815-91ED-43cb-92C2-25804820EDAC}">
                  <c15:autoCat val="1"/>
                </c:ext>
              </c:extLst>
            </c:strLit>
          </c:cat>
          <c:val>
            <c:numRef>
              <c:f>Sheet1!$C$2:$C$8</c:f>
              <c:numCache>
                <c:formatCode>0%</c:formatCode>
                <c:ptCount val="5"/>
                <c:pt idx="0">
                  <c:v>-0.10063503148826715</c:v>
                </c:pt>
                <c:pt idx="1">
                  <c:v>-0.70506370449540667</c:v>
                </c:pt>
                <c:pt idx="2">
                  <c:v>1.4918467114501801</c:v>
                </c:pt>
                <c:pt idx="3">
                  <c:v>-0.36904483977607921</c:v>
                </c:pt>
                <c:pt idx="4">
                  <c:v>0.23726071112519764</c:v>
                </c:pt>
              </c:numCache>
            </c:numRef>
          </c:val>
          <c:smooth val="0"/>
          <c:extLst>
            <c:ext xmlns:c16="http://schemas.microsoft.com/office/drawing/2014/chart" uri="{C3380CC4-5D6E-409C-BE32-E72D297353CC}">
              <c16:uniqueId val="{00000000-B5D7-4D91-AF9B-0C1DDF494943}"/>
            </c:ext>
          </c:extLst>
        </c:ser>
        <c:dLbls>
          <c:showLegendKey val="0"/>
          <c:showVal val="0"/>
          <c:showCatName val="0"/>
          <c:showSerName val="0"/>
          <c:showPercent val="0"/>
          <c:showBubbleSize val="0"/>
        </c:dLbls>
        <c:marker val="1"/>
        <c:smooth val="0"/>
        <c:axId val="2110388496"/>
        <c:axId val="2110401008"/>
      </c:lineChart>
      <c:catAx>
        <c:axId val="21104004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391216"/>
        <c:crosses val="autoZero"/>
        <c:auto val="1"/>
        <c:lblAlgn val="ctr"/>
        <c:lblOffset val="100"/>
        <c:noMultiLvlLbl val="0"/>
      </c:catAx>
      <c:valAx>
        <c:axId val="2110391216"/>
        <c:scaling>
          <c:orientation val="minMax"/>
        </c:scaling>
        <c:delete val="0"/>
        <c:axPos val="l"/>
        <c:majorGridlines>
          <c:spPr>
            <a:ln w="6350" cap="flat" cmpd="sng" algn="ctr">
              <a:solidFill>
                <a:schemeClr val="tx1">
                  <a:lumMod val="15000"/>
                  <a:lumOff val="85000"/>
                </a:schemeClr>
              </a:solidFill>
              <a:prstDash val="sysDot"/>
              <a:round/>
            </a:ln>
            <a:effectLst/>
          </c:spPr>
        </c:majorGridlines>
        <c:numFmt formatCode="#,##0_);[Red]\(#,##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400464"/>
        <c:crosses val="autoZero"/>
        <c:crossBetween val="between"/>
        <c:majorUnit val="1000"/>
      </c:valAx>
      <c:valAx>
        <c:axId val="2110401008"/>
        <c:scaling>
          <c:orientation val="minMax"/>
          <c:max val="2.5"/>
          <c:min val="-1.5"/>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388496"/>
        <c:crosses val="max"/>
        <c:crossBetween val="between"/>
        <c:majorUnit val="1"/>
      </c:valAx>
      <c:catAx>
        <c:axId val="2110388496"/>
        <c:scaling>
          <c:orientation val="minMax"/>
        </c:scaling>
        <c:delete val="1"/>
        <c:axPos val="b"/>
        <c:numFmt formatCode="General" sourceLinked="1"/>
        <c:majorTickMark val="out"/>
        <c:minorTickMark val="none"/>
        <c:tickLblPos val="nextTo"/>
        <c:crossAx val="2110401008"/>
        <c:crosses val="autoZero"/>
        <c:auto val="1"/>
        <c:lblAlgn val="ctr"/>
        <c:lblOffset val="100"/>
        <c:noMultiLvlLbl val="0"/>
      </c:catAx>
      <c:spPr>
        <a:noFill/>
        <a:ln>
          <a:noFill/>
        </a:ln>
        <a:effectLst/>
      </c:spPr>
    </c:plotArea>
    <c:legend>
      <c:legendPos val="t"/>
      <c:layout>
        <c:manualLayout>
          <c:xMode val="edge"/>
          <c:yMode val="edge"/>
          <c:x val="0.37319062092551664"/>
          <c:y val="0.10387693954230572"/>
          <c:w val="0.53639149700147715"/>
          <c:h val="5.4611936687713726E-2"/>
        </c:manualLayout>
      </c:layout>
      <c:overlay val="1"/>
      <c:spPr>
        <a:noFill/>
        <a:ln w="3175">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legend>
    <c:plotVisOnly val="1"/>
    <c:dispBlanksAs val="gap"/>
    <c:showDLblsOverMax val="0"/>
  </c:chart>
  <c:spPr>
    <a:noFill/>
    <a:ln>
      <a:noFill/>
    </a:ln>
    <a:effectLst/>
  </c:spPr>
  <c:txPr>
    <a:bodyPr/>
    <a:lstStyle/>
    <a:p>
      <a:pPr>
        <a:defRPr sz="1000">
          <a:latin typeface="나눔스퀘어" panose="020B0600000101010101" pitchFamily="50" charset="-127"/>
          <a:ea typeface="나눔스퀘어" panose="020B0600000101010101" pitchFamily="50" charset="-127"/>
        </a:defRPr>
      </a:pPr>
      <a:endParaRPr lang="ko-K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b="1" dirty="0" smtClean="0"/>
              <a:t>[SCFI Trends on Major Trade Routes (2026)]</a:t>
            </a:r>
          </a:p>
        </c:rich>
      </c:tx>
      <c:layout>
        <c:manualLayout>
          <c:xMode val="edge"/>
          <c:yMode val="edge"/>
          <c:x val="0.23766003602730831"/>
          <c:y val="3.9804359542016326E-4"/>
        </c:manualLayout>
      </c:layout>
      <c:overlay val="0"/>
      <c:spPr>
        <a:noFill/>
        <a:ln>
          <a:noFill/>
        </a:ln>
        <a:effectLst/>
      </c:spPr>
    </c:title>
    <c:autoTitleDeleted val="0"/>
    <c:plotArea>
      <c:layout>
        <c:manualLayout>
          <c:layoutTarget val="inner"/>
          <c:xMode val="edge"/>
          <c:yMode val="edge"/>
          <c:x val="9.4656875505961885E-2"/>
          <c:y val="0.16402213914416058"/>
          <c:w val="0.84743247035724367"/>
          <c:h val="0.68026691260074512"/>
        </c:manualLayout>
      </c:layout>
      <c:areaChart>
        <c:grouping val="standard"/>
        <c:varyColors val="0"/>
        <c:ser>
          <c:idx val="2"/>
          <c:order val="2"/>
          <c:tx>
            <c:strRef>
              <c:f>Sheet1!$C$1</c:f>
              <c:strCache>
                <c:ptCount val="1"/>
                <c:pt idx="0">
                  <c:v>Comprehensive Index</c:v>
                </c:pt>
              </c:strCache>
            </c:strRef>
          </c:tx>
          <c:spPr>
            <a:solidFill>
              <a:schemeClr val="bg1">
                <a:lumMod val="95000"/>
              </a:schemeClr>
            </a:solidFill>
            <a:ln w="28575" cap="rnd">
              <a:noFill/>
              <a:round/>
            </a:ln>
            <a:effectLst/>
          </c:spPr>
          <c:cat>
            <c:multiLvlStrRef>
              <c:f>Sheet1!$A$2:$B$26</c:f>
              <c:multiLvlStrCache>
                <c:ptCount val="25"/>
                <c:lvl>
                  <c:pt idx="0">
                    <c:v>W2</c:v>
                  </c:pt>
                  <c:pt idx="1">
                    <c:v>W3</c:v>
                  </c:pt>
                  <c:pt idx="2">
                    <c:v>W4</c:v>
                  </c:pt>
                  <c:pt idx="3">
                    <c:v>W5</c:v>
                  </c:pt>
                  <c:pt idx="4">
                    <c:v>W6</c:v>
                  </c:pt>
                  <c:pt idx="5">
                    <c:v>W7</c:v>
                  </c:pt>
                  <c:pt idx="6">
                    <c:v>W9</c:v>
                  </c:pt>
                  <c:pt idx="7">
                    <c:v>W10</c:v>
                  </c:pt>
                  <c:pt idx="8">
                    <c:v>W11</c:v>
                  </c:pt>
                  <c:pt idx="9">
                    <c:v>W12</c:v>
                  </c:pt>
                  <c:pt idx="10">
                    <c:v>W13</c:v>
                  </c:pt>
                  <c:pt idx="11">
                    <c:v>W14</c:v>
                  </c:pt>
                  <c:pt idx="12">
                    <c:v>W15</c:v>
                  </c:pt>
                  <c:pt idx="13">
                    <c:v>W16</c:v>
                  </c:pt>
                  <c:pt idx="14">
                    <c:v>W17</c:v>
                  </c:pt>
                  <c:pt idx="15">
                    <c:v>W18</c:v>
                  </c:pt>
                  <c:pt idx="16">
                    <c:v>W19</c:v>
                  </c:pt>
                  <c:pt idx="17">
                    <c:v>W20</c:v>
                  </c:pt>
                  <c:pt idx="18">
                    <c:v>W21</c:v>
                  </c:pt>
                  <c:pt idx="19">
                    <c:v>W22</c:v>
                  </c:pt>
                  <c:pt idx="20">
                    <c:v>W23</c:v>
                  </c:pt>
                  <c:pt idx="21">
                    <c:v>W24</c:v>
                  </c:pt>
                  <c:pt idx="22">
                    <c:v>W25</c:v>
                  </c:pt>
                  <c:pt idx="23">
                    <c:v>W26</c:v>
                  </c:pt>
                  <c:pt idx="24">
                    <c:v>W27</c:v>
                  </c:pt>
                </c:lvl>
                <c:lvl>
                  <c:pt idx="0">
                    <c:v>2026</c:v>
                  </c:pt>
                </c:lvl>
              </c:multiLvlStrCache>
            </c:multiLvlStrRef>
          </c:cat>
          <c:val>
            <c:numRef>
              <c:f>Sheet1!$C$2:$C$26</c:f>
              <c:numCache>
                <c:formatCode>_(* #,##0_);_(* \(#,##0\);_(* "-"_);_(@_)</c:formatCode>
                <c:ptCount val="25"/>
                <c:pt idx="0">
                  <c:v>1647.39</c:v>
                </c:pt>
                <c:pt idx="1">
                  <c:v>1574.12</c:v>
                </c:pt>
                <c:pt idx="2">
                  <c:v>1457.86</c:v>
                </c:pt>
                <c:pt idx="3">
                  <c:v>1316.75</c:v>
                </c:pt>
                <c:pt idx="4">
                  <c:v>1266.56</c:v>
                </c:pt>
                <c:pt idx="5">
                  <c:v>1251.46</c:v>
                </c:pt>
                <c:pt idx="6">
                  <c:v>1333.11</c:v>
                </c:pt>
                <c:pt idx="7">
                  <c:v>1489.19</c:v>
                </c:pt>
                <c:pt idx="8">
                  <c:v>1710.35</c:v>
                </c:pt>
                <c:pt idx="9">
                  <c:v>1706.95</c:v>
                </c:pt>
                <c:pt idx="10">
                  <c:v>1826.77</c:v>
                </c:pt>
                <c:pt idx="11">
                  <c:v>1854.96</c:v>
                </c:pt>
                <c:pt idx="12">
                  <c:v>1890.77</c:v>
                </c:pt>
                <c:pt idx="13">
                  <c:v>1886.54</c:v>
                </c:pt>
                <c:pt idx="14">
                  <c:v>1875.26</c:v>
                </c:pt>
                <c:pt idx="15">
                  <c:v>1911.4</c:v>
                </c:pt>
                <c:pt idx="16">
                  <c:v>1954.21</c:v>
                </c:pt>
                <c:pt idx="17">
                  <c:v>2140.66</c:v>
                </c:pt>
                <c:pt idx="18">
                  <c:v>2218.15</c:v>
                </c:pt>
                <c:pt idx="19">
                  <c:v>2571.73</c:v>
                </c:pt>
                <c:pt idx="20">
                  <c:v>2726.48</c:v>
                </c:pt>
                <c:pt idx="21">
                  <c:v>2985.22</c:v>
                </c:pt>
                <c:pt idx="22">
                  <c:v>3121.69</c:v>
                </c:pt>
                <c:pt idx="23">
                  <c:v>3239.64</c:v>
                </c:pt>
                <c:pt idx="24">
                  <c:v>3326.87</c:v>
                </c:pt>
              </c:numCache>
            </c:numRef>
          </c:val>
          <c:extLst>
            <c:ext xmlns:c16="http://schemas.microsoft.com/office/drawing/2014/chart" uri="{C3380CC4-5D6E-409C-BE32-E72D297353CC}">
              <c16:uniqueId val="{00000006-B419-4965-B0D0-85D4B00508AD}"/>
            </c:ext>
          </c:extLst>
        </c:ser>
        <c:dLbls>
          <c:showLegendKey val="0"/>
          <c:showVal val="0"/>
          <c:showCatName val="0"/>
          <c:showSerName val="0"/>
          <c:showPercent val="0"/>
          <c:showBubbleSize val="0"/>
        </c:dLbls>
        <c:axId val="2110400464"/>
        <c:axId val="2110391216"/>
      </c:areaChart>
      <c:lineChart>
        <c:grouping val="standard"/>
        <c:varyColors val="0"/>
        <c:ser>
          <c:idx val="4"/>
          <c:order val="4"/>
          <c:tx>
            <c:strRef>
              <c:f>Sheet1!$E$1</c:f>
              <c:strCache>
                <c:ptCount val="1"/>
                <c:pt idx="0">
                  <c:v>USEC($/FEU)</c:v>
                </c:pt>
              </c:strCache>
            </c:strRef>
          </c:tx>
          <c:spPr>
            <a:ln w="28575">
              <a:solidFill>
                <a:srgbClr val="002B5C"/>
              </a:solidFill>
            </a:ln>
          </c:spPr>
          <c:marker>
            <c:symbol val="none"/>
          </c:marker>
          <c:cat>
            <c:multiLvlStrRef>
              <c:f>Sheet1!$A$2:$B$26</c:f>
              <c:multiLvlStrCache>
                <c:ptCount val="25"/>
                <c:lvl>
                  <c:pt idx="0">
                    <c:v>W2</c:v>
                  </c:pt>
                  <c:pt idx="1">
                    <c:v>W3</c:v>
                  </c:pt>
                  <c:pt idx="2">
                    <c:v>W4</c:v>
                  </c:pt>
                  <c:pt idx="3">
                    <c:v>W5</c:v>
                  </c:pt>
                  <c:pt idx="4">
                    <c:v>W6</c:v>
                  </c:pt>
                  <c:pt idx="5">
                    <c:v>W7</c:v>
                  </c:pt>
                  <c:pt idx="6">
                    <c:v>W9</c:v>
                  </c:pt>
                  <c:pt idx="7">
                    <c:v>W10</c:v>
                  </c:pt>
                  <c:pt idx="8">
                    <c:v>W11</c:v>
                  </c:pt>
                  <c:pt idx="9">
                    <c:v>W12</c:v>
                  </c:pt>
                  <c:pt idx="10">
                    <c:v>W13</c:v>
                  </c:pt>
                  <c:pt idx="11">
                    <c:v>W14</c:v>
                  </c:pt>
                  <c:pt idx="12">
                    <c:v>W15</c:v>
                  </c:pt>
                  <c:pt idx="13">
                    <c:v>W16</c:v>
                  </c:pt>
                  <c:pt idx="14">
                    <c:v>W17</c:v>
                  </c:pt>
                  <c:pt idx="15">
                    <c:v>W18</c:v>
                  </c:pt>
                  <c:pt idx="16">
                    <c:v>W19</c:v>
                  </c:pt>
                  <c:pt idx="17">
                    <c:v>W20</c:v>
                  </c:pt>
                  <c:pt idx="18">
                    <c:v>W21</c:v>
                  </c:pt>
                  <c:pt idx="19">
                    <c:v>W22</c:v>
                  </c:pt>
                  <c:pt idx="20">
                    <c:v>W23</c:v>
                  </c:pt>
                  <c:pt idx="21">
                    <c:v>W24</c:v>
                  </c:pt>
                  <c:pt idx="22">
                    <c:v>W25</c:v>
                  </c:pt>
                  <c:pt idx="23">
                    <c:v>W26</c:v>
                  </c:pt>
                  <c:pt idx="24">
                    <c:v>W27</c:v>
                  </c:pt>
                </c:lvl>
                <c:lvl>
                  <c:pt idx="0">
                    <c:v>2026</c:v>
                  </c:pt>
                </c:lvl>
              </c:multiLvlStrCache>
            </c:multiLvlStrRef>
          </c:cat>
          <c:val>
            <c:numRef>
              <c:f>Sheet1!$E$2:$E$26</c:f>
              <c:numCache>
                <c:formatCode>_(* #,##0_);_(* \(#,##0\);_(* "-"_);_(@_)</c:formatCode>
                <c:ptCount val="25"/>
                <c:pt idx="0">
                  <c:v>3128</c:v>
                </c:pt>
                <c:pt idx="1">
                  <c:v>3165</c:v>
                </c:pt>
                <c:pt idx="2">
                  <c:v>2896</c:v>
                </c:pt>
                <c:pt idx="3">
                  <c:v>2605</c:v>
                </c:pt>
                <c:pt idx="4">
                  <c:v>2530</c:v>
                </c:pt>
                <c:pt idx="5">
                  <c:v>2524</c:v>
                </c:pt>
                <c:pt idx="6">
                  <c:v>2691</c:v>
                </c:pt>
                <c:pt idx="7">
                  <c:v>2717</c:v>
                </c:pt>
                <c:pt idx="8">
                  <c:v>3111</c:v>
                </c:pt>
                <c:pt idx="9">
                  <c:v>2922</c:v>
                </c:pt>
                <c:pt idx="10">
                  <c:v>3264</c:v>
                </c:pt>
                <c:pt idx="11">
                  <c:v>3354</c:v>
                </c:pt>
                <c:pt idx="12">
                  <c:v>3518</c:v>
                </c:pt>
                <c:pt idx="13">
                  <c:v>3584</c:v>
                </c:pt>
                <c:pt idx="14">
                  <c:v>3570</c:v>
                </c:pt>
                <c:pt idx="15">
                  <c:v>3691</c:v>
                </c:pt>
                <c:pt idx="16">
                  <c:v>3812</c:v>
                </c:pt>
                <c:pt idx="17">
                  <c:v>4224</c:v>
                </c:pt>
                <c:pt idx="18">
                  <c:v>4313</c:v>
                </c:pt>
                <c:pt idx="19">
                  <c:v>5333</c:v>
                </c:pt>
                <c:pt idx="20">
                  <c:v>5741</c:v>
                </c:pt>
                <c:pt idx="21">
                  <c:v>6321</c:v>
                </c:pt>
                <c:pt idx="22">
                  <c:v>6873</c:v>
                </c:pt>
                <c:pt idx="23">
                  <c:v>7384</c:v>
                </c:pt>
                <c:pt idx="24">
                  <c:v>8296</c:v>
                </c:pt>
              </c:numCache>
            </c:numRef>
          </c:val>
          <c:smooth val="0"/>
          <c:extLst>
            <c:ext xmlns:c16="http://schemas.microsoft.com/office/drawing/2014/chart" uri="{C3380CC4-5D6E-409C-BE32-E72D297353CC}">
              <c16:uniqueId val="{00000009-B419-4965-B0D0-85D4B00508AD}"/>
            </c:ext>
          </c:extLst>
        </c:ser>
        <c:ser>
          <c:idx val="3"/>
          <c:order val="3"/>
          <c:tx>
            <c:strRef>
              <c:f>Sheet1!$D$1</c:f>
              <c:strCache>
                <c:ptCount val="1"/>
                <c:pt idx="0">
                  <c:v>USWC($/FEU)</c:v>
                </c:pt>
              </c:strCache>
            </c:strRef>
          </c:tx>
          <c:spPr>
            <a:ln w="28575">
              <a:solidFill>
                <a:srgbClr val="9B8146"/>
              </a:solidFill>
            </a:ln>
          </c:spPr>
          <c:marker>
            <c:symbol val="none"/>
          </c:marker>
          <c:cat>
            <c:multiLvlStrRef>
              <c:f>Sheet1!$A$2:$B$26</c:f>
              <c:multiLvlStrCache>
                <c:ptCount val="25"/>
                <c:lvl>
                  <c:pt idx="0">
                    <c:v>W2</c:v>
                  </c:pt>
                  <c:pt idx="1">
                    <c:v>W3</c:v>
                  </c:pt>
                  <c:pt idx="2">
                    <c:v>W4</c:v>
                  </c:pt>
                  <c:pt idx="3">
                    <c:v>W5</c:v>
                  </c:pt>
                  <c:pt idx="4">
                    <c:v>W6</c:v>
                  </c:pt>
                  <c:pt idx="5">
                    <c:v>W7</c:v>
                  </c:pt>
                  <c:pt idx="6">
                    <c:v>W9</c:v>
                  </c:pt>
                  <c:pt idx="7">
                    <c:v>W10</c:v>
                  </c:pt>
                  <c:pt idx="8">
                    <c:v>W11</c:v>
                  </c:pt>
                  <c:pt idx="9">
                    <c:v>W12</c:v>
                  </c:pt>
                  <c:pt idx="10">
                    <c:v>W13</c:v>
                  </c:pt>
                  <c:pt idx="11">
                    <c:v>W14</c:v>
                  </c:pt>
                  <c:pt idx="12">
                    <c:v>W15</c:v>
                  </c:pt>
                  <c:pt idx="13">
                    <c:v>W16</c:v>
                  </c:pt>
                  <c:pt idx="14">
                    <c:v>W17</c:v>
                  </c:pt>
                  <c:pt idx="15">
                    <c:v>W18</c:v>
                  </c:pt>
                  <c:pt idx="16">
                    <c:v>W19</c:v>
                  </c:pt>
                  <c:pt idx="17">
                    <c:v>W20</c:v>
                  </c:pt>
                  <c:pt idx="18">
                    <c:v>W21</c:v>
                  </c:pt>
                  <c:pt idx="19">
                    <c:v>W22</c:v>
                  </c:pt>
                  <c:pt idx="20">
                    <c:v>W23</c:v>
                  </c:pt>
                  <c:pt idx="21">
                    <c:v>W24</c:v>
                  </c:pt>
                  <c:pt idx="22">
                    <c:v>W25</c:v>
                  </c:pt>
                  <c:pt idx="23">
                    <c:v>W26</c:v>
                  </c:pt>
                  <c:pt idx="24">
                    <c:v>W27</c:v>
                  </c:pt>
                </c:lvl>
                <c:lvl>
                  <c:pt idx="0">
                    <c:v>2026</c:v>
                  </c:pt>
                </c:lvl>
              </c:multiLvlStrCache>
            </c:multiLvlStrRef>
          </c:cat>
          <c:val>
            <c:numRef>
              <c:f>Sheet1!$D$2:$D$26</c:f>
              <c:numCache>
                <c:formatCode>_(* #,##0_);_(* \(#,##0\);_(* "-"_);_(@_)</c:formatCode>
                <c:ptCount val="25"/>
                <c:pt idx="0">
                  <c:v>2218</c:v>
                </c:pt>
                <c:pt idx="1">
                  <c:v>2194</c:v>
                </c:pt>
                <c:pt idx="2">
                  <c:v>2084</c:v>
                </c:pt>
                <c:pt idx="3">
                  <c:v>1867</c:v>
                </c:pt>
                <c:pt idx="4">
                  <c:v>1801</c:v>
                </c:pt>
                <c:pt idx="5">
                  <c:v>1787</c:v>
                </c:pt>
                <c:pt idx="6">
                  <c:v>1857</c:v>
                </c:pt>
                <c:pt idx="7">
                  <c:v>1940</c:v>
                </c:pt>
                <c:pt idx="8">
                  <c:v>2249</c:v>
                </c:pt>
                <c:pt idx="9">
                  <c:v>2054</c:v>
                </c:pt>
                <c:pt idx="10">
                  <c:v>2352</c:v>
                </c:pt>
                <c:pt idx="11">
                  <c:v>2359</c:v>
                </c:pt>
                <c:pt idx="12">
                  <c:v>2552</c:v>
                </c:pt>
                <c:pt idx="13">
                  <c:v>2612</c:v>
                </c:pt>
                <c:pt idx="14">
                  <c:v>2586</c:v>
                </c:pt>
                <c:pt idx="15">
                  <c:v>2722</c:v>
                </c:pt>
                <c:pt idx="16">
                  <c:v>2826</c:v>
                </c:pt>
                <c:pt idx="17">
                  <c:v>3118</c:v>
                </c:pt>
                <c:pt idx="18">
                  <c:v>3154</c:v>
                </c:pt>
                <c:pt idx="19">
                  <c:v>4149</c:v>
                </c:pt>
                <c:pt idx="20">
                  <c:v>4552</c:v>
                </c:pt>
                <c:pt idx="21">
                  <c:v>5101</c:v>
                </c:pt>
                <c:pt idx="22">
                  <c:v>5683</c:v>
                </c:pt>
                <c:pt idx="23">
                  <c:v>6067</c:v>
                </c:pt>
                <c:pt idx="24">
                  <c:v>6630</c:v>
                </c:pt>
              </c:numCache>
            </c:numRef>
          </c:val>
          <c:smooth val="0"/>
          <c:extLst>
            <c:ext xmlns:c16="http://schemas.microsoft.com/office/drawing/2014/chart" uri="{C3380CC4-5D6E-409C-BE32-E72D297353CC}">
              <c16:uniqueId val="{00000008-B419-4965-B0D0-85D4B00508AD}"/>
            </c:ext>
          </c:extLst>
        </c:ser>
        <c:ser>
          <c:idx val="5"/>
          <c:order val="5"/>
          <c:tx>
            <c:strRef>
              <c:f>Sheet1!$F$1</c:f>
              <c:strCache>
                <c:ptCount val="1"/>
                <c:pt idx="0">
                  <c:v>N.Europe($/TEU)</c:v>
                </c:pt>
              </c:strCache>
            </c:strRef>
          </c:tx>
          <c:spPr>
            <a:ln w="28575">
              <a:solidFill>
                <a:srgbClr val="0000FF"/>
              </a:solidFill>
            </a:ln>
          </c:spPr>
          <c:marker>
            <c:symbol val="none"/>
          </c:marker>
          <c:cat>
            <c:multiLvlStrRef>
              <c:f>Sheet1!$A$2:$B$26</c:f>
              <c:multiLvlStrCache>
                <c:ptCount val="25"/>
                <c:lvl>
                  <c:pt idx="0">
                    <c:v>W2</c:v>
                  </c:pt>
                  <c:pt idx="1">
                    <c:v>W3</c:v>
                  </c:pt>
                  <c:pt idx="2">
                    <c:v>W4</c:v>
                  </c:pt>
                  <c:pt idx="3">
                    <c:v>W5</c:v>
                  </c:pt>
                  <c:pt idx="4">
                    <c:v>W6</c:v>
                  </c:pt>
                  <c:pt idx="5">
                    <c:v>W7</c:v>
                  </c:pt>
                  <c:pt idx="6">
                    <c:v>W9</c:v>
                  </c:pt>
                  <c:pt idx="7">
                    <c:v>W10</c:v>
                  </c:pt>
                  <c:pt idx="8">
                    <c:v>W11</c:v>
                  </c:pt>
                  <c:pt idx="9">
                    <c:v>W12</c:v>
                  </c:pt>
                  <c:pt idx="10">
                    <c:v>W13</c:v>
                  </c:pt>
                  <c:pt idx="11">
                    <c:v>W14</c:v>
                  </c:pt>
                  <c:pt idx="12">
                    <c:v>W15</c:v>
                  </c:pt>
                  <c:pt idx="13">
                    <c:v>W16</c:v>
                  </c:pt>
                  <c:pt idx="14">
                    <c:v>W17</c:v>
                  </c:pt>
                  <c:pt idx="15">
                    <c:v>W18</c:v>
                  </c:pt>
                  <c:pt idx="16">
                    <c:v>W19</c:v>
                  </c:pt>
                  <c:pt idx="17">
                    <c:v>W20</c:v>
                  </c:pt>
                  <c:pt idx="18">
                    <c:v>W21</c:v>
                  </c:pt>
                  <c:pt idx="19">
                    <c:v>W22</c:v>
                  </c:pt>
                  <c:pt idx="20">
                    <c:v>W23</c:v>
                  </c:pt>
                  <c:pt idx="21">
                    <c:v>W24</c:v>
                  </c:pt>
                  <c:pt idx="22">
                    <c:v>W25</c:v>
                  </c:pt>
                  <c:pt idx="23">
                    <c:v>W26</c:v>
                  </c:pt>
                  <c:pt idx="24">
                    <c:v>W27</c:v>
                  </c:pt>
                </c:lvl>
                <c:lvl>
                  <c:pt idx="0">
                    <c:v>2026</c:v>
                  </c:pt>
                </c:lvl>
              </c:multiLvlStrCache>
            </c:multiLvlStrRef>
          </c:cat>
          <c:val>
            <c:numRef>
              <c:f>Sheet1!$F$2:$F$26</c:f>
              <c:numCache>
                <c:formatCode>_(* #,##0_);_(* \(#,##0\);_(* "-"_);_(@_)</c:formatCode>
                <c:ptCount val="25"/>
                <c:pt idx="0">
                  <c:v>1719</c:v>
                </c:pt>
                <c:pt idx="1">
                  <c:v>1676</c:v>
                </c:pt>
                <c:pt idx="2">
                  <c:v>1595</c:v>
                </c:pt>
                <c:pt idx="3">
                  <c:v>1418</c:v>
                </c:pt>
                <c:pt idx="4">
                  <c:v>1403</c:v>
                </c:pt>
                <c:pt idx="5">
                  <c:v>1361</c:v>
                </c:pt>
                <c:pt idx="6">
                  <c:v>1420</c:v>
                </c:pt>
                <c:pt idx="7">
                  <c:v>1452</c:v>
                </c:pt>
                <c:pt idx="8">
                  <c:v>1618</c:v>
                </c:pt>
                <c:pt idx="9">
                  <c:v>1636</c:v>
                </c:pt>
                <c:pt idx="10">
                  <c:v>1703</c:v>
                </c:pt>
                <c:pt idx="11">
                  <c:v>1650</c:v>
                </c:pt>
                <c:pt idx="12">
                  <c:v>1547</c:v>
                </c:pt>
                <c:pt idx="13">
                  <c:v>1501</c:v>
                </c:pt>
                <c:pt idx="14">
                  <c:v>1497</c:v>
                </c:pt>
                <c:pt idx="15">
                  <c:v>1521</c:v>
                </c:pt>
                <c:pt idx="16">
                  <c:v>1596</c:v>
                </c:pt>
                <c:pt idx="17">
                  <c:v>1816</c:v>
                </c:pt>
                <c:pt idx="18">
                  <c:v>1905</c:v>
                </c:pt>
                <c:pt idx="19">
                  <c:v>2475</c:v>
                </c:pt>
                <c:pt idx="20">
                  <c:v>2605</c:v>
                </c:pt>
                <c:pt idx="21">
                  <c:v>3064</c:v>
                </c:pt>
                <c:pt idx="22">
                  <c:v>3158</c:v>
                </c:pt>
                <c:pt idx="23">
                  <c:v>3342</c:v>
                </c:pt>
                <c:pt idx="24">
                  <c:v>3418</c:v>
                </c:pt>
              </c:numCache>
            </c:numRef>
          </c:val>
          <c:smooth val="0"/>
          <c:extLst>
            <c:ext xmlns:c16="http://schemas.microsoft.com/office/drawing/2014/chart" uri="{C3380CC4-5D6E-409C-BE32-E72D297353CC}">
              <c16:uniqueId val="{0000000A-B419-4965-B0D0-85D4B00508AD}"/>
            </c:ext>
          </c:extLst>
        </c:ser>
        <c:ser>
          <c:idx val="7"/>
          <c:order val="7"/>
          <c:tx>
            <c:strRef>
              <c:f>Sheet1!$H$1</c:f>
              <c:strCache>
                <c:ptCount val="1"/>
                <c:pt idx="0">
                  <c:v>Middle East($/TEU)</c:v>
                </c:pt>
              </c:strCache>
            </c:strRef>
          </c:tx>
          <c:spPr>
            <a:ln w="28575">
              <a:solidFill>
                <a:srgbClr val="3CD0BA"/>
              </a:solidFill>
            </a:ln>
          </c:spPr>
          <c:marker>
            <c:symbol val="none"/>
          </c:marker>
          <c:cat>
            <c:multiLvlStrRef>
              <c:f>Sheet1!$A$2:$B$26</c:f>
              <c:multiLvlStrCache>
                <c:ptCount val="25"/>
                <c:lvl>
                  <c:pt idx="0">
                    <c:v>W2</c:v>
                  </c:pt>
                  <c:pt idx="1">
                    <c:v>W3</c:v>
                  </c:pt>
                  <c:pt idx="2">
                    <c:v>W4</c:v>
                  </c:pt>
                  <c:pt idx="3">
                    <c:v>W5</c:v>
                  </c:pt>
                  <c:pt idx="4">
                    <c:v>W6</c:v>
                  </c:pt>
                  <c:pt idx="5">
                    <c:v>W7</c:v>
                  </c:pt>
                  <c:pt idx="6">
                    <c:v>W9</c:v>
                  </c:pt>
                  <c:pt idx="7">
                    <c:v>W10</c:v>
                  </c:pt>
                  <c:pt idx="8">
                    <c:v>W11</c:v>
                  </c:pt>
                  <c:pt idx="9">
                    <c:v>W12</c:v>
                  </c:pt>
                  <c:pt idx="10">
                    <c:v>W13</c:v>
                  </c:pt>
                  <c:pt idx="11">
                    <c:v>W14</c:v>
                  </c:pt>
                  <c:pt idx="12">
                    <c:v>W15</c:v>
                  </c:pt>
                  <c:pt idx="13">
                    <c:v>W16</c:v>
                  </c:pt>
                  <c:pt idx="14">
                    <c:v>W17</c:v>
                  </c:pt>
                  <c:pt idx="15">
                    <c:v>W18</c:v>
                  </c:pt>
                  <c:pt idx="16">
                    <c:v>W19</c:v>
                  </c:pt>
                  <c:pt idx="17">
                    <c:v>W20</c:v>
                  </c:pt>
                  <c:pt idx="18">
                    <c:v>W21</c:v>
                  </c:pt>
                  <c:pt idx="19">
                    <c:v>W22</c:v>
                  </c:pt>
                  <c:pt idx="20">
                    <c:v>W23</c:v>
                  </c:pt>
                  <c:pt idx="21">
                    <c:v>W24</c:v>
                  </c:pt>
                  <c:pt idx="22">
                    <c:v>W25</c:v>
                  </c:pt>
                  <c:pt idx="23">
                    <c:v>W26</c:v>
                  </c:pt>
                  <c:pt idx="24">
                    <c:v>W27</c:v>
                  </c:pt>
                </c:lvl>
                <c:lvl>
                  <c:pt idx="0">
                    <c:v>2026</c:v>
                  </c:pt>
                </c:lvl>
              </c:multiLvlStrCache>
            </c:multiLvlStrRef>
          </c:cat>
          <c:val>
            <c:numRef>
              <c:f>Sheet1!$H$2:$H$26</c:f>
              <c:numCache>
                <c:formatCode>_(* #,##0_);_(* \(#,##0\);_(* "-"_);_(@_)</c:formatCode>
                <c:ptCount val="25"/>
                <c:pt idx="0">
                  <c:v>1981</c:v>
                </c:pt>
                <c:pt idx="1">
                  <c:v>1694</c:v>
                </c:pt>
                <c:pt idx="2">
                  <c:v>1288</c:v>
                </c:pt>
                <c:pt idx="3">
                  <c:v>997</c:v>
                </c:pt>
                <c:pt idx="4">
                  <c:v>917</c:v>
                </c:pt>
                <c:pt idx="5">
                  <c:v>980</c:v>
                </c:pt>
                <c:pt idx="6">
                  <c:v>1327</c:v>
                </c:pt>
                <c:pt idx="7">
                  <c:v>2287</c:v>
                </c:pt>
                <c:pt idx="8">
                  <c:v>3220</c:v>
                </c:pt>
                <c:pt idx="9">
                  <c:v>3324</c:v>
                </c:pt>
                <c:pt idx="10">
                  <c:v>3728</c:v>
                </c:pt>
                <c:pt idx="11">
                  <c:v>3977</c:v>
                </c:pt>
                <c:pt idx="12">
                  <c:v>4167</c:v>
                </c:pt>
                <c:pt idx="13">
                  <c:v>4031</c:v>
                </c:pt>
                <c:pt idx="14">
                  <c:v>3951</c:v>
                </c:pt>
                <c:pt idx="15">
                  <c:v>3937</c:v>
                </c:pt>
                <c:pt idx="16">
                  <c:v>3925</c:v>
                </c:pt>
                <c:pt idx="17">
                  <c:v>4131</c:v>
                </c:pt>
                <c:pt idx="18">
                  <c:v>4306</c:v>
                </c:pt>
                <c:pt idx="19">
                  <c:v>4462</c:v>
                </c:pt>
                <c:pt idx="20">
                  <c:v>4615</c:v>
                </c:pt>
                <c:pt idx="21">
                  <c:v>4816</c:v>
                </c:pt>
                <c:pt idx="22">
                  <c:v>4753</c:v>
                </c:pt>
                <c:pt idx="23">
                  <c:v>4592</c:v>
                </c:pt>
                <c:pt idx="24">
                  <c:v>4392</c:v>
                </c:pt>
              </c:numCache>
            </c:numRef>
          </c:val>
          <c:smooth val="0"/>
          <c:extLst>
            <c:ext xmlns:c16="http://schemas.microsoft.com/office/drawing/2014/chart" uri="{C3380CC4-5D6E-409C-BE32-E72D297353CC}">
              <c16:uniqueId val="{0000000C-B419-4965-B0D0-85D4B00508AD}"/>
            </c:ext>
          </c:extLst>
        </c:ser>
        <c:dLbls>
          <c:showLegendKey val="0"/>
          <c:showVal val="0"/>
          <c:showCatName val="0"/>
          <c:showSerName val="0"/>
          <c:showPercent val="0"/>
          <c:showBubbleSize val="0"/>
        </c:dLbls>
        <c:marker val="1"/>
        <c:smooth val="0"/>
        <c:axId val="2110400464"/>
        <c:axId val="2110391216"/>
        <c:extLst>
          <c:ext xmlns:c15="http://schemas.microsoft.com/office/drawing/2012/chart" uri="{02D57815-91ED-43cb-92C2-25804820EDAC}">
            <c15:filteredLineSeries>
              <c15:ser>
                <c:idx val="0"/>
                <c:order val="0"/>
                <c:tx>
                  <c:strRef>
                    <c:extLst>
                      <c:ext uri="{02D57815-91ED-43cb-92C2-25804820EDAC}">
                        <c15:formulaRef>
                          <c15:sqref>Sheet1!$A$1</c15:sqref>
                        </c15:formulaRef>
                      </c:ext>
                    </c:extLst>
                    <c:strCache>
                      <c:ptCount val="1"/>
                      <c:pt idx="0">
                        <c:v>yyyy</c:v>
                      </c:pt>
                    </c:strCache>
                  </c:strRef>
                </c:tx>
                <c:cat>
                  <c:multiLvlStrRef>
                    <c:extLst>
                      <c:ext uri="{02D57815-91ED-43cb-92C2-25804820EDAC}">
                        <c15:formulaRef>
                          <c15:sqref>Sheet1!$A$2:$B$26</c15:sqref>
                        </c15:formulaRef>
                      </c:ext>
                    </c:extLst>
                    <c:multiLvlStrCache>
                      <c:ptCount val="25"/>
                      <c:lvl>
                        <c:pt idx="0">
                          <c:v>W2</c:v>
                        </c:pt>
                        <c:pt idx="1">
                          <c:v>W3</c:v>
                        </c:pt>
                        <c:pt idx="2">
                          <c:v>W4</c:v>
                        </c:pt>
                        <c:pt idx="3">
                          <c:v>W5</c:v>
                        </c:pt>
                        <c:pt idx="4">
                          <c:v>W6</c:v>
                        </c:pt>
                        <c:pt idx="5">
                          <c:v>W7</c:v>
                        </c:pt>
                        <c:pt idx="6">
                          <c:v>W9</c:v>
                        </c:pt>
                        <c:pt idx="7">
                          <c:v>W10</c:v>
                        </c:pt>
                        <c:pt idx="8">
                          <c:v>W11</c:v>
                        </c:pt>
                        <c:pt idx="9">
                          <c:v>W12</c:v>
                        </c:pt>
                        <c:pt idx="10">
                          <c:v>W13</c:v>
                        </c:pt>
                        <c:pt idx="11">
                          <c:v>W14</c:v>
                        </c:pt>
                        <c:pt idx="12">
                          <c:v>W15</c:v>
                        </c:pt>
                        <c:pt idx="13">
                          <c:v>W16</c:v>
                        </c:pt>
                        <c:pt idx="14">
                          <c:v>W17</c:v>
                        </c:pt>
                        <c:pt idx="15">
                          <c:v>W18</c:v>
                        </c:pt>
                        <c:pt idx="16">
                          <c:v>W19</c:v>
                        </c:pt>
                        <c:pt idx="17">
                          <c:v>W20</c:v>
                        </c:pt>
                        <c:pt idx="18">
                          <c:v>W21</c:v>
                        </c:pt>
                        <c:pt idx="19">
                          <c:v>W22</c:v>
                        </c:pt>
                        <c:pt idx="20">
                          <c:v>W23</c:v>
                        </c:pt>
                        <c:pt idx="21">
                          <c:v>W24</c:v>
                        </c:pt>
                        <c:pt idx="22">
                          <c:v>W25</c:v>
                        </c:pt>
                        <c:pt idx="23">
                          <c:v>W26</c:v>
                        </c:pt>
                        <c:pt idx="24">
                          <c:v>W27</c:v>
                        </c:pt>
                      </c:lvl>
                      <c:lvl>
                        <c:pt idx="0">
                          <c:v>2026</c:v>
                        </c:pt>
                      </c:lvl>
                    </c:multiLvlStrCache>
                  </c:multiLvlStrRef>
                </c:cat>
                <c:val>
                  <c:numRef>
                    <c:extLst>
                      <c:ext uri="{02D57815-91ED-43cb-92C2-25804820EDAC}">
                        <c15:formulaRef>
                          <c15:sqref>Sheet1!$A$2:$A$26</c15:sqref>
                        </c15:formulaRef>
                      </c:ext>
                    </c:extLst>
                    <c:numCache>
                      <c:formatCode>General</c:formatCode>
                      <c:ptCount val="25"/>
                      <c:pt idx="0">
                        <c:v>2026</c:v>
                      </c:pt>
                    </c:numCache>
                  </c:numRef>
                </c:val>
                <c:smooth val="0"/>
                <c:extLst>
                  <c:ext xmlns:c16="http://schemas.microsoft.com/office/drawing/2014/chart" uri="{C3380CC4-5D6E-409C-BE32-E72D297353CC}">
                    <c16:uniqueId val="{00000007-B419-4965-B0D0-85D4B00508AD}"/>
                  </c:ext>
                </c:extLst>
              </c15:ser>
            </c15:filteredLineSeries>
            <c15:filteredLineSeries>
              <c15:ser>
                <c:idx val="1"/>
                <c:order val="1"/>
                <c:tx>
                  <c:strRef>
                    <c:extLst xmlns:c15="http://schemas.microsoft.com/office/drawing/2012/chart">
                      <c:ext xmlns:c15="http://schemas.microsoft.com/office/drawing/2012/chart" uri="{02D57815-91ED-43cb-92C2-25804820EDAC}">
                        <c15:formulaRef>
                          <c15:sqref>Sheet1!$B$1</c15:sqref>
                        </c15:formulaRef>
                      </c:ext>
                    </c:extLst>
                    <c:strCache>
                      <c:ptCount val="1"/>
                      <c:pt idx="0">
                        <c:v>ww</c:v>
                      </c:pt>
                    </c:strCache>
                  </c:strRef>
                </c:tx>
                <c:spPr>
                  <a:effectLst/>
                </c:spPr>
                <c:cat>
                  <c:multiLvlStrRef>
                    <c:extLst xmlns:c15="http://schemas.microsoft.com/office/drawing/2012/chart">
                      <c:ext xmlns:c15="http://schemas.microsoft.com/office/drawing/2012/chart" uri="{02D57815-91ED-43cb-92C2-25804820EDAC}">
                        <c15:formulaRef>
                          <c15:sqref>Sheet1!$A$2:$B$26</c15:sqref>
                        </c15:formulaRef>
                      </c:ext>
                    </c:extLst>
                    <c:multiLvlStrCache>
                      <c:ptCount val="25"/>
                      <c:lvl>
                        <c:pt idx="0">
                          <c:v>W2</c:v>
                        </c:pt>
                        <c:pt idx="1">
                          <c:v>W3</c:v>
                        </c:pt>
                        <c:pt idx="2">
                          <c:v>W4</c:v>
                        </c:pt>
                        <c:pt idx="3">
                          <c:v>W5</c:v>
                        </c:pt>
                        <c:pt idx="4">
                          <c:v>W6</c:v>
                        </c:pt>
                        <c:pt idx="5">
                          <c:v>W7</c:v>
                        </c:pt>
                        <c:pt idx="6">
                          <c:v>W9</c:v>
                        </c:pt>
                        <c:pt idx="7">
                          <c:v>W10</c:v>
                        </c:pt>
                        <c:pt idx="8">
                          <c:v>W11</c:v>
                        </c:pt>
                        <c:pt idx="9">
                          <c:v>W12</c:v>
                        </c:pt>
                        <c:pt idx="10">
                          <c:v>W13</c:v>
                        </c:pt>
                        <c:pt idx="11">
                          <c:v>W14</c:v>
                        </c:pt>
                        <c:pt idx="12">
                          <c:v>W15</c:v>
                        </c:pt>
                        <c:pt idx="13">
                          <c:v>W16</c:v>
                        </c:pt>
                        <c:pt idx="14">
                          <c:v>W17</c:v>
                        </c:pt>
                        <c:pt idx="15">
                          <c:v>W18</c:v>
                        </c:pt>
                        <c:pt idx="16">
                          <c:v>W19</c:v>
                        </c:pt>
                        <c:pt idx="17">
                          <c:v>W20</c:v>
                        </c:pt>
                        <c:pt idx="18">
                          <c:v>W21</c:v>
                        </c:pt>
                        <c:pt idx="19">
                          <c:v>W22</c:v>
                        </c:pt>
                        <c:pt idx="20">
                          <c:v>W23</c:v>
                        </c:pt>
                        <c:pt idx="21">
                          <c:v>W24</c:v>
                        </c:pt>
                        <c:pt idx="22">
                          <c:v>W25</c:v>
                        </c:pt>
                        <c:pt idx="23">
                          <c:v>W26</c:v>
                        </c:pt>
                        <c:pt idx="24">
                          <c:v>W27</c:v>
                        </c:pt>
                      </c:lvl>
                      <c:lvl>
                        <c:pt idx="0">
                          <c:v>2026</c:v>
                        </c:pt>
                      </c:lvl>
                    </c:multiLvlStrCache>
                  </c:multiLvlStrRef>
                </c:cat>
                <c:val>
                  <c:numRef>
                    <c:extLst xmlns:c15="http://schemas.microsoft.com/office/drawing/2012/chart">
                      <c:ext xmlns:c15="http://schemas.microsoft.com/office/drawing/2012/chart" uri="{02D57815-91ED-43cb-92C2-25804820EDAC}">
                        <c15:formulaRef>
                          <c15:sqref>Sheet1!$B$2:$B$26</c15:sqref>
                        </c15:formulaRef>
                      </c:ext>
                    </c:extLst>
                    <c:numCache>
                      <c:formatCode>_(* #,##0_);_(* \(#,##0\);_(* "-"_);_(@_)</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numCache>
                  </c:numRef>
                </c:val>
                <c:smooth val="0"/>
                <c:extLst xmlns:c15="http://schemas.microsoft.com/office/drawing/2012/chart">
                  <c:ext xmlns:c16="http://schemas.microsoft.com/office/drawing/2014/chart" uri="{C3380CC4-5D6E-409C-BE32-E72D297353CC}">
                    <c16:uniqueId val="{00000000-B419-4965-B0D0-85D4B00508AD}"/>
                  </c:ext>
                </c:extLst>
              </c15:ser>
            </c15:filteredLineSeries>
            <c15:filteredLineSeries>
              <c15:ser>
                <c:idx val="6"/>
                <c:order val="6"/>
                <c:tx>
                  <c:strRef>
                    <c:extLst xmlns:c15="http://schemas.microsoft.com/office/drawing/2012/chart">
                      <c:ext xmlns:c15="http://schemas.microsoft.com/office/drawing/2012/chart" uri="{02D57815-91ED-43cb-92C2-25804820EDAC}">
                        <c15:formulaRef>
                          <c15:sqref>Sheet1!$G$1</c15:sqref>
                        </c15:formulaRef>
                      </c:ext>
                    </c:extLst>
                    <c:strCache>
                      <c:ptCount val="1"/>
                      <c:pt idx="0">
                        <c:v>Med</c:v>
                      </c:pt>
                    </c:strCache>
                  </c:strRef>
                </c:tx>
                <c:marker>
                  <c:symbol val="none"/>
                </c:marker>
                <c:cat>
                  <c:multiLvlStrRef>
                    <c:extLst xmlns:c15="http://schemas.microsoft.com/office/drawing/2012/chart">
                      <c:ext xmlns:c15="http://schemas.microsoft.com/office/drawing/2012/chart" uri="{02D57815-91ED-43cb-92C2-25804820EDAC}">
                        <c15:formulaRef>
                          <c15:sqref>Sheet1!$A$2:$B$26</c15:sqref>
                        </c15:formulaRef>
                      </c:ext>
                    </c:extLst>
                    <c:multiLvlStrCache>
                      <c:ptCount val="25"/>
                      <c:lvl>
                        <c:pt idx="0">
                          <c:v>W2</c:v>
                        </c:pt>
                        <c:pt idx="1">
                          <c:v>W3</c:v>
                        </c:pt>
                        <c:pt idx="2">
                          <c:v>W4</c:v>
                        </c:pt>
                        <c:pt idx="3">
                          <c:v>W5</c:v>
                        </c:pt>
                        <c:pt idx="4">
                          <c:v>W6</c:v>
                        </c:pt>
                        <c:pt idx="5">
                          <c:v>W7</c:v>
                        </c:pt>
                        <c:pt idx="6">
                          <c:v>W9</c:v>
                        </c:pt>
                        <c:pt idx="7">
                          <c:v>W10</c:v>
                        </c:pt>
                        <c:pt idx="8">
                          <c:v>W11</c:v>
                        </c:pt>
                        <c:pt idx="9">
                          <c:v>W12</c:v>
                        </c:pt>
                        <c:pt idx="10">
                          <c:v>W13</c:v>
                        </c:pt>
                        <c:pt idx="11">
                          <c:v>W14</c:v>
                        </c:pt>
                        <c:pt idx="12">
                          <c:v>W15</c:v>
                        </c:pt>
                        <c:pt idx="13">
                          <c:v>W16</c:v>
                        </c:pt>
                        <c:pt idx="14">
                          <c:v>W17</c:v>
                        </c:pt>
                        <c:pt idx="15">
                          <c:v>W18</c:v>
                        </c:pt>
                        <c:pt idx="16">
                          <c:v>W19</c:v>
                        </c:pt>
                        <c:pt idx="17">
                          <c:v>W20</c:v>
                        </c:pt>
                        <c:pt idx="18">
                          <c:v>W21</c:v>
                        </c:pt>
                        <c:pt idx="19">
                          <c:v>W22</c:v>
                        </c:pt>
                        <c:pt idx="20">
                          <c:v>W23</c:v>
                        </c:pt>
                        <c:pt idx="21">
                          <c:v>W24</c:v>
                        </c:pt>
                        <c:pt idx="22">
                          <c:v>W25</c:v>
                        </c:pt>
                        <c:pt idx="23">
                          <c:v>W26</c:v>
                        </c:pt>
                        <c:pt idx="24">
                          <c:v>W27</c:v>
                        </c:pt>
                      </c:lvl>
                      <c:lvl>
                        <c:pt idx="0">
                          <c:v>2026</c:v>
                        </c:pt>
                      </c:lvl>
                    </c:multiLvlStrCache>
                  </c:multiLvlStrRef>
                </c:cat>
                <c:val>
                  <c:numRef>
                    <c:extLst xmlns:c15="http://schemas.microsoft.com/office/drawing/2012/chart">
                      <c:ext xmlns:c15="http://schemas.microsoft.com/office/drawing/2012/chart" uri="{02D57815-91ED-43cb-92C2-25804820EDAC}">
                        <c15:formulaRef>
                          <c15:sqref>Sheet1!$G$2:$G$26</c15:sqref>
                        </c15:formulaRef>
                      </c:ext>
                    </c:extLst>
                    <c:numCache>
                      <c:formatCode>_(* #,##0_);_(* \(#,##0\);_(* "-"_);_(@_)</c:formatCode>
                      <c:ptCount val="25"/>
                      <c:pt idx="0">
                        <c:v>3232</c:v>
                      </c:pt>
                      <c:pt idx="1">
                        <c:v>2983</c:v>
                      </c:pt>
                      <c:pt idx="2">
                        <c:v>2756</c:v>
                      </c:pt>
                      <c:pt idx="3">
                        <c:v>2424</c:v>
                      </c:pt>
                      <c:pt idx="4">
                        <c:v>2291</c:v>
                      </c:pt>
                      <c:pt idx="5">
                        <c:v>2177</c:v>
                      </c:pt>
                      <c:pt idx="6">
                        <c:v>2305</c:v>
                      </c:pt>
                      <c:pt idx="7">
                        <c:v>2360</c:v>
                      </c:pt>
                      <c:pt idx="8">
                        <c:v>2666</c:v>
                      </c:pt>
                      <c:pt idx="9">
                        <c:v>2784</c:v>
                      </c:pt>
                      <c:pt idx="10">
                        <c:v>2764</c:v>
                      </c:pt>
                      <c:pt idx="11">
                        <c:v>2684</c:v>
                      </c:pt>
                      <c:pt idx="12">
                        <c:v>2590</c:v>
                      </c:pt>
                      <c:pt idx="13">
                        <c:v>2491</c:v>
                      </c:pt>
                      <c:pt idx="14">
                        <c:v>2420</c:v>
                      </c:pt>
                      <c:pt idx="15">
                        <c:v>2430</c:v>
                      </c:pt>
                      <c:pt idx="16">
                        <c:v>2463</c:v>
                      </c:pt>
                      <c:pt idx="17">
                        <c:v>3145</c:v>
                      </c:pt>
                      <c:pt idx="18">
                        <c:v>3207</c:v>
                      </c:pt>
                      <c:pt idx="19">
                        <c:v>3750</c:v>
                      </c:pt>
                      <c:pt idx="20">
                        <c:v>3832</c:v>
                      </c:pt>
                      <c:pt idx="21">
                        <c:v>4172</c:v>
                      </c:pt>
                      <c:pt idx="22">
                        <c:v>4260</c:v>
                      </c:pt>
                      <c:pt idx="23">
                        <c:v>4666</c:v>
                      </c:pt>
                      <c:pt idx="24">
                        <c:v>4717</c:v>
                      </c:pt>
                    </c:numCache>
                  </c:numRef>
                </c:val>
                <c:smooth val="0"/>
                <c:extLst xmlns:c15="http://schemas.microsoft.com/office/drawing/2012/chart">
                  <c:ext xmlns:c16="http://schemas.microsoft.com/office/drawing/2014/chart" uri="{C3380CC4-5D6E-409C-BE32-E72D297353CC}">
                    <c16:uniqueId val="{0000000B-B419-4965-B0D0-85D4B00508AD}"/>
                  </c:ext>
                </c:extLst>
              </c15:ser>
            </c15:filteredLineSeries>
          </c:ext>
        </c:extLst>
      </c:lineChart>
      <c:catAx>
        <c:axId val="2110400464"/>
        <c:scaling>
          <c:orientation val="minMax"/>
        </c:scaling>
        <c:delete val="0"/>
        <c:axPos val="b"/>
        <c:numFmt formatCode="General" sourceLinked="0"/>
        <c:majorTickMark val="none"/>
        <c:minorTickMark val="none"/>
        <c:tickLblPos val="low"/>
        <c:spPr>
          <a:noFill/>
          <a:ln w="9525" cap="flat" cmpd="sng" algn="ctr">
            <a:solidFill>
              <a:schemeClr val="tx1">
                <a:lumMod val="15000"/>
                <a:lumOff val="85000"/>
              </a:schemeClr>
            </a:solidFill>
            <a:round/>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391216"/>
        <c:crosses val="autoZero"/>
        <c:auto val="1"/>
        <c:lblAlgn val="ctr"/>
        <c:lblOffset val="100"/>
        <c:tickMarkSkip val="1"/>
        <c:noMultiLvlLbl val="0"/>
      </c:catAx>
      <c:valAx>
        <c:axId val="2110391216"/>
        <c:scaling>
          <c:orientation val="minMax"/>
          <c:max val="9000"/>
          <c:min val="0"/>
        </c:scaling>
        <c:delete val="0"/>
        <c:axPos val="l"/>
        <c:majorGridlines>
          <c:spPr>
            <a:ln w="6350" cap="flat" cmpd="sng" algn="ctr">
              <a:solidFill>
                <a:schemeClr val="tx1">
                  <a:lumMod val="15000"/>
                  <a:lumOff val="85000"/>
                </a:schemeClr>
              </a:solidFill>
              <a:prstDash val="sysDot"/>
              <a:round/>
            </a:ln>
            <a:effectLst/>
          </c:spPr>
        </c:majorGridlines>
        <c:numFmt formatCode="#,##0_);[Red]\(#,##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400464"/>
        <c:crosses val="autoZero"/>
        <c:crossBetween val="between"/>
        <c:majorUnit val="3000"/>
      </c:valAx>
      <c:spPr>
        <a:noFill/>
        <a:ln>
          <a:noFill/>
        </a:ln>
        <a:effectLst/>
      </c:spPr>
    </c:plotArea>
    <c:legend>
      <c:legendPos val="t"/>
      <c:layout>
        <c:manualLayout>
          <c:xMode val="edge"/>
          <c:yMode val="edge"/>
          <c:x val="8.6441823586927105E-2"/>
          <c:y val="7.1637439147942988E-2"/>
          <c:w val="0.91355817641307291"/>
          <c:h val="8.5044248079655424E-2"/>
        </c:manualLayout>
      </c:layout>
      <c:overlay val="1"/>
      <c:spPr>
        <a:noFill/>
        <a:ln w="3175">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legend>
    <c:plotVisOnly val="1"/>
    <c:dispBlanksAs val="gap"/>
    <c:showDLblsOverMax val="0"/>
  </c:chart>
  <c:spPr>
    <a:noFill/>
    <a:ln>
      <a:noFill/>
    </a:ln>
    <a:effectLst/>
  </c:spPr>
  <c:txPr>
    <a:bodyPr/>
    <a:lstStyle/>
    <a:p>
      <a:pPr>
        <a:defRPr sz="1000">
          <a:latin typeface="나눔스퀘어" panose="020B0600000101010101" pitchFamily="50" charset="-127"/>
          <a:ea typeface="나눔스퀘어" panose="020B0600000101010101" pitchFamily="50" charset="-127"/>
        </a:defRPr>
      </a:pPr>
      <a:endParaRPr lang="ko-K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ko-KR" altLang="en-US" sz="1200" b="1" i="0" u="none" strike="noStrike" kern="1200" spc="0" baseline="0">
                <a:solidFill>
                  <a:prstClr val="black">
                    <a:lumMod val="65000"/>
                    <a:lumOff val="35000"/>
                  </a:prstClr>
                </a:solidFill>
                <a:latin typeface="나눔스퀘어" panose="020B0600000101010101" pitchFamily="50" charset="-127"/>
                <a:ea typeface="나눔스퀘어" panose="020B0600000101010101" pitchFamily="50" charset="-127"/>
                <a:cs typeface="+mn-cs"/>
              </a:defRPr>
            </a:pPr>
            <a:r>
              <a:rPr lang="en-US" altLang="ko-KR" sz="1200" b="1" i="0" u="none" strike="noStrike" kern="1200" spc="0" baseline="0" dirty="0">
                <a:solidFill>
                  <a:prstClr val="black">
                    <a:lumMod val="65000"/>
                    <a:lumOff val="35000"/>
                  </a:prstClr>
                </a:solidFill>
                <a:latin typeface="나눔스퀘어" panose="020B0600000101010101" pitchFamily="50" charset="-127"/>
                <a:ea typeface="나눔스퀘어" panose="020B0600000101010101" pitchFamily="50" charset="-127"/>
                <a:cs typeface="+mn-cs"/>
              </a:rPr>
              <a:t>[</a:t>
            </a:r>
            <a:r>
              <a:rPr lang="en-US" altLang="ko-KR" sz="1200" b="1" i="0" u="none" strike="noStrike" kern="1200" spc="0" baseline="0" dirty="0" smtClean="0">
                <a:solidFill>
                  <a:prstClr val="black">
                    <a:lumMod val="65000"/>
                    <a:lumOff val="35000"/>
                  </a:prstClr>
                </a:solidFill>
                <a:latin typeface="나눔스퀘어" panose="020B0600000101010101" pitchFamily="50" charset="-127"/>
                <a:ea typeface="나눔스퀘어" panose="020B0600000101010101" pitchFamily="50" charset="-127"/>
                <a:cs typeface="+mn-cs"/>
              </a:rPr>
              <a:t>'25-</a:t>
            </a:r>
            <a:r>
              <a:rPr lang="en-US" altLang="ko-KR" sz="1200" b="1" i="0" u="none" strike="noStrike" baseline="0" dirty="0" smtClean="0">
                <a:effectLst/>
              </a:rPr>
              <a:t>'26</a:t>
            </a:r>
            <a:r>
              <a:rPr lang="ko-KR" altLang="en-US" sz="1200" b="1" i="0" u="none" strike="noStrike" kern="1200" spc="0" baseline="0" dirty="0" smtClean="0">
                <a:solidFill>
                  <a:prstClr val="black">
                    <a:lumMod val="65000"/>
                    <a:lumOff val="35000"/>
                  </a:prstClr>
                </a:solidFill>
                <a:latin typeface="나눔스퀘어" panose="020B0600000101010101" pitchFamily="50" charset="-127"/>
                <a:ea typeface="나눔스퀘어" panose="020B0600000101010101" pitchFamily="50" charset="-127"/>
                <a:cs typeface="+mn-cs"/>
              </a:rPr>
              <a:t> </a:t>
            </a:r>
            <a:r>
              <a:rPr lang="en-US" altLang="ko-KR" sz="1200" b="1" i="0" u="none" strike="noStrike" kern="1200" spc="0" baseline="0" dirty="0" smtClean="0">
                <a:solidFill>
                  <a:prstClr val="black">
                    <a:lumMod val="65000"/>
                    <a:lumOff val="35000"/>
                  </a:prstClr>
                </a:solidFill>
                <a:latin typeface="나눔스퀘어" panose="020B0600000101010101" pitchFamily="50" charset="-127"/>
                <a:ea typeface="나눔스퀘어" panose="020B0600000101010101" pitchFamily="50" charset="-127"/>
                <a:cs typeface="+mn-cs"/>
              </a:rPr>
              <a:t>Global Cargo Load Factor &amp; Demand]</a:t>
            </a:r>
            <a:endParaRPr lang="ko-KR" altLang="en-US" sz="1200" b="1" i="0" u="none" strike="noStrike" kern="1200" spc="0" baseline="0" dirty="0">
              <a:solidFill>
                <a:prstClr val="black">
                  <a:lumMod val="65000"/>
                  <a:lumOff val="35000"/>
                </a:prstClr>
              </a:solidFill>
              <a:latin typeface="나눔스퀘어" panose="020B0600000101010101" pitchFamily="50" charset="-127"/>
              <a:ea typeface="나눔스퀘어" panose="020B0600000101010101" pitchFamily="50" charset="-127"/>
              <a:cs typeface="+mn-cs"/>
            </a:endParaRPr>
          </a:p>
        </c:rich>
      </c:tx>
      <c:layout>
        <c:manualLayout>
          <c:xMode val="edge"/>
          <c:yMode val="edge"/>
          <c:x val="0.1582157450644924"/>
          <c:y val="1.7122105374973447E-2"/>
        </c:manualLayout>
      </c:layout>
      <c:overlay val="0"/>
      <c:spPr>
        <a:noFill/>
        <a:ln>
          <a:noFill/>
        </a:ln>
        <a:effectLst/>
      </c:spPr>
      <c:txPr>
        <a:bodyPr rot="0" spcFirstLastPara="1" vertOverflow="ellipsis" vert="horz" wrap="square" anchor="ctr" anchorCtr="1"/>
        <a:lstStyle/>
        <a:p>
          <a:pPr algn="ctr" rtl="0">
            <a:defRPr lang="ko-KR" altLang="en-US" sz="1200" b="1" i="0" u="none" strike="noStrike" kern="1200" spc="0" baseline="0">
              <a:solidFill>
                <a:prstClr val="black">
                  <a:lumMod val="65000"/>
                  <a:lumOff val="35000"/>
                </a:prstClr>
              </a:solidFill>
              <a:latin typeface="나눔스퀘어" panose="020B0600000101010101" pitchFamily="50" charset="-127"/>
              <a:ea typeface="나눔스퀘어" panose="020B0600000101010101" pitchFamily="50" charset="-127"/>
              <a:cs typeface="+mn-cs"/>
            </a:defRPr>
          </a:pPr>
          <a:endParaRPr lang="ko-KR"/>
        </a:p>
      </c:txPr>
    </c:title>
    <c:autoTitleDeleted val="0"/>
    <c:plotArea>
      <c:layout>
        <c:manualLayout>
          <c:layoutTarget val="inner"/>
          <c:xMode val="edge"/>
          <c:yMode val="edge"/>
          <c:x val="7.3021044488738071E-2"/>
          <c:y val="0.15874057438793168"/>
          <c:w val="0.91034287402856751"/>
          <c:h val="0.7327534170955381"/>
        </c:manualLayout>
      </c:layout>
      <c:barChart>
        <c:barDir val="col"/>
        <c:grouping val="clustered"/>
        <c:varyColors val="0"/>
        <c:ser>
          <c:idx val="0"/>
          <c:order val="0"/>
          <c:tx>
            <c:strRef>
              <c:f>Sheet1!$B$1</c:f>
              <c:strCache>
                <c:ptCount val="1"/>
                <c:pt idx="0">
                  <c:v>CLF</c:v>
                </c:pt>
              </c:strCache>
            </c:strRef>
          </c:tx>
          <c:spPr>
            <a:solidFill>
              <a:srgbClr val="002B5C"/>
            </a:solidFill>
            <a:ln>
              <a:noFill/>
            </a:ln>
            <a:effectLst/>
          </c:spPr>
          <c:invertIfNegative val="0"/>
          <c:cat>
            <c:strRef>
              <c:f>Sheet1!$A$74:$A$90</c:f>
              <c:strCache>
                <c:ptCount val="17"/>
                <c:pt idx="0">
                  <c:v>Jan-'25</c:v>
                </c:pt>
                <c:pt idx="1">
                  <c:v>Feb-'25</c:v>
                </c:pt>
                <c:pt idx="2">
                  <c:v>Mar-'25</c:v>
                </c:pt>
                <c:pt idx="3">
                  <c:v>Apr-'25</c:v>
                </c:pt>
                <c:pt idx="4">
                  <c:v>May-'25</c:v>
                </c:pt>
                <c:pt idx="5">
                  <c:v>Jun-'25</c:v>
                </c:pt>
                <c:pt idx="6">
                  <c:v>Jul-25</c:v>
                </c:pt>
                <c:pt idx="7">
                  <c:v>Aug-25</c:v>
                </c:pt>
                <c:pt idx="8">
                  <c:v>Sep-'25</c:v>
                </c:pt>
                <c:pt idx="9">
                  <c:v>Oct-25</c:v>
                </c:pt>
                <c:pt idx="10">
                  <c:v>Nov-25</c:v>
                </c:pt>
                <c:pt idx="11">
                  <c:v>Dec-25</c:v>
                </c:pt>
                <c:pt idx="12">
                  <c:v>Jan-26</c:v>
                </c:pt>
                <c:pt idx="13">
                  <c:v>Feb-26</c:v>
                </c:pt>
                <c:pt idx="14">
                  <c:v>Mar-26</c:v>
                </c:pt>
                <c:pt idx="15">
                  <c:v>Apr-26</c:v>
                </c:pt>
                <c:pt idx="16">
                  <c:v>May-26</c:v>
                </c:pt>
              </c:strCache>
            </c:strRef>
          </c:cat>
          <c:val>
            <c:numRef>
              <c:f>Sheet1!$B$74:$B$90</c:f>
              <c:numCache>
                <c:formatCode>0.0%</c:formatCode>
                <c:ptCount val="17"/>
                <c:pt idx="0">
                  <c:v>0.47799999999999998</c:v>
                </c:pt>
                <c:pt idx="1">
                  <c:v>0.50600000000000001</c:v>
                </c:pt>
                <c:pt idx="2">
                  <c:v>0.54</c:v>
                </c:pt>
                <c:pt idx="3">
                  <c:v>0.5</c:v>
                </c:pt>
                <c:pt idx="4">
                  <c:v>0.505</c:v>
                </c:pt>
                <c:pt idx="5">
                  <c:v>0.499</c:v>
                </c:pt>
                <c:pt idx="6">
                  <c:v>0.501</c:v>
                </c:pt>
                <c:pt idx="7">
                  <c:v>0.48699999999999999</c:v>
                </c:pt>
                <c:pt idx="8">
                  <c:v>0.503</c:v>
                </c:pt>
                <c:pt idx="9">
                  <c:v>0.52100000000000002</c:v>
                </c:pt>
                <c:pt idx="10">
                  <c:v>0.54300000000000004</c:v>
                </c:pt>
                <c:pt idx="11">
                  <c:v>0.51500000000000001</c:v>
                </c:pt>
                <c:pt idx="12">
                  <c:v>0.48399999999999999</c:v>
                </c:pt>
                <c:pt idx="13">
                  <c:v>0.51700000000000002</c:v>
                </c:pt>
                <c:pt idx="14">
                  <c:v>0.54500000000000004</c:v>
                </c:pt>
                <c:pt idx="15">
                  <c:v>0.52500000000000002</c:v>
                </c:pt>
                <c:pt idx="16">
                  <c:v>0.52400000000000002</c:v>
                </c:pt>
              </c:numCache>
            </c:numRef>
          </c:val>
          <c:extLst>
            <c:ext xmlns:c16="http://schemas.microsoft.com/office/drawing/2014/chart" uri="{C3380CC4-5D6E-409C-BE32-E72D297353CC}">
              <c16:uniqueId val="{00000000-C3FC-4D9B-B80A-9B931AA033CB}"/>
            </c:ext>
          </c:extLst>
        </c:ser>
        <c:dLbls>
          <c:showLegendKey val="0"/>
          <c:showVal val="0"/>
          <c:showCatName val="0"/>
          <c:showSerName val="0"/>
          <c:showPercent val="0"/>
          <c:showBubbleSize val="0"/>
        </c:dLbls>
        <c:gapWidth val="150"/>
        <c:axId val="2110401552"/>
        <c:axId val="2110402096"/>
      </c:barChart>
      <c:lineChart>
        <c:grouping val="standard"/>
        <c:varyColors val="0"/>
        <c:ser>
          <c:idx val="1"/>
          <c:order val="1"/>
          <c:tx>
            <c:strRef>
              <c:f>Sheet1!$C$1</c:f>
              <c:strCache>
                <c:ptCount val="1"/>
                <c:pt idx="0">
                  <c:v>Demand(Right)</c:v>
                </c:pt>
              </c:strCache>
            </c:strRef>
          </c:tx>
          <c:spPr>
            <a:ln w="25400" cap="rnd">
              <a:solidFill>
                <a:srgbClr val="00D2B4"/>
              </a:solidFill>
              <a:round/>
            </a:ln>
            <a:effectLst/>
          </c:spPr>
          <c:marker>
            <c:symbol val="circle"/>
            <c:size val="5"/>
            <c:spPr>
              <a:solidFill>
                <a:schemeClr val="bg1"/>
              </a:solidFill>
              <a:ln w="9525">
                <a:solidFill>
                  <a:srgbClr val="3CD0BA"/>
                </a:solid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1-C3FC-4D9B-B80A-9B931AA033CB}"/>
                </c:ext>
              </c:extLst>
            </c:dLbl>
            <c:dLbl>
              <c:idx val="1"/>
              <c:delete val="1"/>
              <c:extLst>
                <c:ext xmlns:c15="http://schemas.microsoft.com/office/drawing/2012/chart" uri="{CE6537A1-D6FC-4f65-9D91-7224C49458BB}"/>
                <c:ext xmlns:c16="http://schemas.microsoft.com/office/drawing/2014/chart" uri="{C3380CC4-5D6E-409C-BE32-E72D297353CC}">
                  <c16:uniqueId val="{00000002-C3FC-4D9B-B80A-9B931AA033CB}"/>
                </c:ext>
              </c:extLst>
            </c:dLbl>
            <c:dLbl>
              <c:idx val="2"/>
              <c:delete val="1"/>
              <c:extLst>
                <c:ext xmlns:c15="http://schemas.microsoft.com/office/drawing/2012/chart" uri="{CE6537A1-D6FC-4f65-9D91-7224C49458BB}"/>
                <c:ext xmlns:c16="http://schemas.microsoft.com/office/drawing/2014/chart" uri="{C3380CC4-5D6E-409C-BE32-E72D297353CC}">
                  <c16:uniqueId val="{00000003-C3FC-4D9B-B80A-9B931AA033CB}"/>
                </c:ext>
              </c:extLst>
            </c:dLbl>
            <c:dLbl>
              <c:idx val="3"/>
              <c:delete val="1"/>
              <c:extLst>
                <c:ext xmlns:c15="http://schemas.microsoft.com/office/drawing/2012/chart" uri="{CE6537A1-D6FC-4f65-9D91-7224C49458BB}"/>
                <c:ext xmlns:c16="http://schemas.microsoft.com/office/drawing/2014/chart" uri="{C3380CC4-5D6E-409C-BE32-E72D297353CC}">
                  <c16:uniqueId val="{00000004-C3FC-4D9B-B80A-9B931AA033CB}"/>
                </c:ext>
              </c:extLst>
            </c:dLbl>
            <c:dLbl>
              <c:idx val="4"/>
              <c:delete val="1"/>
              <c:extLst>
                <c:ext xmlns:c15="http://schemas.microsoft.com/office/drawing/2012/chart" uri="{CE6537A1-D6FC-4f65-9D91-7224C49458BB}"/>
                <c:ext xmlns:c16="http://schemas.microsoft.com/office/drawing/2014/chart" uri="{C3380CC4-5D6E-409C-BE32-E72D297353CC}">
                  <c16:uniqueId val="{00000005-C3FC-4D9B-B80A-9B931AA033CB}"/>
                </c:ext>
              </c:extLst>
            </c:dLbl>
            <c:dLbl>
              <c:idx val="5"/>
              <c:delete val="1"/>
              <c:extLst>
                <c:ext xmlns:c15="http://schemas.microsoft.com/office/drawing/2012/chart" uri="{CE6537A1-D6FC-4f65-9D91-7224C49458BB}"/>
                <c:ext xmlns:c16="http://schemas.microsoft.com/office/drawing/2014/chart" uri="{C3380CC4-5D6E-409C-BE32-E72D297353CC}">
                  <c16:uniqueId val="{00000006-C3FC-4D9B-B80A-9B931AA033CB}"/>
                </c:ext>
              </c:extLst>
            </c:dLbl>
            <c:dLbl>
              <c:idx val="6"/>
              <c:delete val="1"/>
              <c:extLst>
                <c:ext xmlns:c15="http://schemas.microsoft.com/office/drawing/2012/chart" uri="{CE6537A1-D6FC-4f65-9D91-7224C49458BB}"/>
                <c:ext xmlns:c16="http://schemas.microsoft.com/office/drawing/2014/chart" uri="{C3380CC4-5D6E-409C-BE32-E72D297353CC}">
                  <c16:uniqueId val="{00000007-C3FC-4D9B-B80A-9B931AA033CB}"/>
                </c:ext>
              </c:extLst>
            </c:dLbl>
            <c:dLbl>
              <c:idx val="7"/>
              <c:delete val="1"/>
              <c:extLst>
                <c:ext xmlns:c15="http://schemas.microsoft.com/office/drawing/2012/chart" uri="{CE6537A1-D6FC-4f65-9D91-7224C49458BB}"/>
                <c:ext xmlns:c16="http://schemas.microsoft.com/office/drawing/2014/chart" uri="{C3380CC4-5D6E-409C-BE32-E72D297353CC}">
                  <c16:uniqueId val="{00000008-C3FC-4D9B-B80A-9B931AA033CB}"/>
                </c:ext>
              </c:extLst>
            </c:dLbl>
            <c:dLbl>
              <c:idx val="8"/>
              <c:delete val="1"/>
              <c:extLst>
                <c:ext xmlns:c15="http://schemas.microsoft.com/office/drawing/2012/chart" uri="{CE6537A1-D6FC-4f65-9D91-7224C49458BB}"/>
                <c:ext xmlns:c16="http://schemas.microsoft.com/office/drawing/2014/chart" uri="{C3380CC4-5D6E-409C-BE32-E72D297353CC}">
                  <c16:uniqueId val="{00000009-C3FC-4D9B-B80A-9B931AA033CB}"/>
                </c:ext>
              </c:extLst>
            </c:dLbl>
            <c:dLbl>
              <c:idx val="9"/>
              <c:delete val="1"/>
              <c:extLst>
                <c:ext xmlns:c15="http://schemas.microsoft.com/office/drawing/2012/chart" uri="{CE6537A1-D6FC-4f65-9D91-7224C49458BB}"/>
                <c:ext xmlns:c16="http://schemas.microsoft.com/office/drawing/2014/chart" uri="{C3380CC4-5D6E-409C-BE32-E72D297353CC}">
                  <c16:uniqueId val="{0000000A-C3FC-4D9B-B80A-9B931AA033CB}"/>
                </c:ext>
              </c:extLst>
            </c:dLbl>
            <c:dLbl>
              <c:idx val="10"/>
              <c:delete val="1"/>
              <c:extLst>
                <c:ext xmlns:c15="http://schemas.microsoft.com/office/drawing/2012/chart" uri="{CE6537A1-D6FC-4f65-9D91-7224C49458BB}"/>
                <c:ext xmlns:c16="http://schemas.microsoft.com/office/drawing/2014/chart" uri="{C3380CC4-5D6E-409C-BE32-E72D297353CC}">
                  <c16:uniqueId val="{00000006-FC27-4488-9FE3-53BF42742BD8}"/>
                </c:ext>
              </c:extLst>
            </c:dLbl>
            <c:dLbl>
              <c:idx val="11"/>
              <c:delete val="1"/>
              <c:extLst>
                <c:ext xmlns:c15="http://schemas.microsoft.com/office/drawing/2012/chart" uri="{CE6537A1-D6FC-4f65-9D91-7224C49458BB}"/>
                <c:ext xmlns:c16="http://schemas.microsoft.com/office/drawing/2014/chart" uri="{C3380CC4-5D6E-409C-BE32-E72D297353CC}">
                  <c16:uniqueId val="{00000000-A60B-4056-AEC2-9D6510F064DE}"/>
                </c:ext>
              </c:extLst>
            </c:dLbl>
            <c:dLbl>
              <c:idx val="12"/>
              <c:layout>
                <c:manualLayout>
                  <c:x val="-5.2587694780567865E-2"/>
                  <c:y val="0.10038692373061398"/>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A60B-4056-AEC2-9D6510F064DE}"/>
                </c:ext>
              </c:extLst>
            </c:dLbl>
            <c:dLbl>
              <c:idx val="13"/>
              <c:layout>
                <c:manualLayout>
                  <c:x val="-4.7806995255061525E-2"/>
                  <c:y val="0.13421287444231994"/>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2-A60B-4056-AEC2-9D6510F064DE}"/>
                </c:ext>
              </c:extLst>
            </c:dLbl>
            <c:dLbl>
              <c:idx val="14"/>
              <c:layout>
                <c:manualLayout>
                  <c:x val="-4.6611820373684984E-2"/>
                  <c:y val="0.12290445081793062"/>
                </c:manualLayout>
              </c:layout>
              <c:showLegendKey val="0"/>
              <c:showVal val="1"/>
              <c:showCatName val="0"/>
              <c:showSerName val="0"/>
              <c:showPercent val="0"/>
              <c:showBubbleSize val="0"/>
              <c:extLst>
                <c:ext xmlns:c15="http://schemas.microsoft.com/office/drawing/2012/chart" uri="{CE6537A1-D6FC-4f65-9D91-7224C49458BB}">
                  <c15:layout>
                    <c:manualLayout>
                      <c:w val="7.0395800513078227E-2"/>
                      <c:h val="6.9051412789462502E-2"/>
                    </c:manualLayout>
                  </c15:layout>
                </c:ext>
                <c:ext xmlns:c16="http://schemas.microsoft.com/office/drawing/2014/chart" uri="{C3380CC4-5D6E-409C-BE32-E72D297353CC}">
                  <c16:uniqueId val="{00000003-A60B-4056-AEC2-9D6510F064DE}"/>
                </c:ext>
              </c:extLst>
            </c:dLbl>
            <c:dLbl>
              <c:idx val="15"/>
              <c:layout>
                <c:manualLayout>
                  <c:x val="-4.302629572955545E-2"/>
                  <c:y val="8.1242033142128689E-2"/>
                </c:manualLayout>
              </c:layout>
              <c:tx>
                <c:rich>
                  <a:bodyPr/>
                  <a:lstStyle/>
                  <a:p>
                    <a:fld id="{998871E7-68B7-480A-BBB0-E977DEBB0873}" type="VALUE">
                      <a:rPr lang="en-US" altLang="ko-KR" smtClean="0"/>
                      <a:pPr/>
                      <a:t>[값]</a:t>
                    </a:fld>
                    <a:r>
                      <a:rPr lang="en-US" altLang="ko-KR" dirty="0" smtClean="0"/>
                      <a:t>.0</a:t>
                    </a:r>
                  </a:p>
                </c:rich>
              </c:tx>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4-A60B-4056-AEC2-9D6510F064DE}"/>
                </c:ext>
              </c:extLst>
            </c:dLbl>
            <c:dLbl>
              <c:idx val="16"/>
              <c:layout>
                <c:manualLayout>
                  <c:x val="-4.3026295729555623E-2"/>
                  <c:y val="4.8706447843637077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A60B-4056-AEC2-9D6510F064DE}"/>
                </c:ext>
              </c:extLst>
            </c:dLbl>
            <c:spPr>
              <a:solidFill>
                <a:srgbClr val="3CD0BA"/>
              </a:solidFill>
              <a:ln>
                <a:noFill/>
              </a:ln>
              <a:effectLst/>
            </c:spPr>
            <c:txPr>
              <a:bodyPr rot="0" spcFirstLastPara="1" vertOverflow="clip" horzOverflow="clip" vert="horz" wrap="square" lIns="36576" tIns="18288" rIns="36576" bIns="18288" anchor="ctr" anchorCtr="1">
                <a:spAutoFit/>
              </a:bodyPr>
              <a:lstStyle/>
              <a:p>
                <a:pPr>
                  <a:defRPr sz="1000" b="1" i="0" u="none" strike="noStrike" kern="1200" baseline="0">
                    <a:solidFill>
                      <a:schemeClr val="bg1"/>
                    </a:solidFill>
                    <a:latin typeface="나눔스퀘어" panose="020B0600000101010101" pitchFamily="50" charset="-127"/>
                    <a:ea typeface="나눔스퀘어" panose="020B0600000101010101" pitchFamily="50" charset="-127"/>
                    <a:cs typeface="+mn-cs"/>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oundRect">
                    <a:avLst/>
                  </a:prstGeom>
                  <a:noFill/>
                  <a:ln>
                    <a:noFill/>
                  </a:ln>
                </c15:spPr>
                <c15:showLeaderLines val="0"/>
              </c:ext>
            </c:extLst>
          </c:dLbls>
          <c:cat>
            <c:strRef>
              <c:f>Sheet1!$A$74:$A$90</c:f>
              <c:strCache>
                <c:ptCount val="17"/>
                <c:pt idx="0">
                  <c:v>Jan-'25</c:v>
                </c:pt>
                <c:pt idx="1">
                  <c:v>Feb-'25</c:v>
                </c:pt>
                <c:pt idx="2">
                  <c:v>Mar-'25</c:v>
                </c:pt>
                <c:pt idx="3">
                  <c:v>Apr-'25</c:v>
                </c:pt>
                <c:pt idx="4">
                  <c:v>May-'25</c:v>
                </c:pt>
                <c:pt idx="5">
                  <c:v>Jun-'25</c:v>
                </c:pt>
                <c:pt idx="6">
                  <c:v>Jul-25</c:v>
                </c:pt>
                <c:pt idx="7">
                  <c:v>Aug-25</c:v>
                </c:pt>
                <c:pt idx="8">
                  <c:v>Sep-'25</c:v>
                </c:pt>
                <c:pt idx="9">
                  <c:v>Oct-25</c:v>
                </c:pt>
                <c:pt idx="10">
                  <c:v>Nov-25</c:v>
                </c:pt>
                <c:pt idx="11">
                  <c:v>Dec-25</c:v>
                </c:pt>
                <c:pt idx="12">
                  <c:v>Jan-26</c:v>
                </c:pt>
                <c:pt idx="13">
                  <c:v>Feb-26</c:v>
                </c:pt>
                <c:pt idx="14">
                  <c:v>Mar-26</c:v>
                </c:pt>
                <c:pt idx="15">
                  <c:v>Apr-26</c:v>
                </c:pt>
                <c:pt idx="16">
                  <c:v>May-26</c:v>
                </c:pt>
              </c:strCache>
            </c:strRef>
          </c:cat>
          <c:val>
            <c:numRef>
              <c:f>Sheet1!$C$74:$C$90</c:f>
              <c:numCache>
                <c:formatCode>General</c:formatCode>
                <c:ptCount val="17"/>
                <c:pt idx="0">
                  <c:v>18.5</c:v>
                </c:pt>
                <c:pt idx="1">
                  <c:v>17.2</c:v>
                </c:pt>
                <c:pt idx="2">
                  <c:v>21.7</c:v>
                </c:pt>
                <c:pt idx="3">
                  <c:v>20.2</c:v>
                </c:pt>
                <c:pt idx="4">
                  <c:v>20.6</c:v>
                </c:pt>
                <c:pt idx="5">
                  <c:v>20.399999999999999</c:v>
                </c:pt>
                <c:pt idx="6">
                  <c:v>21.4</c:v>
                </c:pt>
                <c:pt idx="7">
                  <c:v>21</c:v>
                </c:pt>
                <c:pt idx="8">
                  <c:v>20.6</c:v>
                </c:pt>
                <c:pt idx="9">
                  <c:v>22.1</c:v>
                </c:pt>
                <c:pt idx="10">
                  <c:v>22.8</c:v>
                </c:pt>
                <c:pt idx="11">
                  <c:v>22.1</c:v>
                </c:pt>
                <c:pt idx="12">
                  <c:v>19.899999999999999</c:v>
                </c:pt>
                <c:pt idx="13">
                  <c:v>19.100000000000001</c:v>
                </c:pt>
                <c:pt idx="14">
                  <c:v>20.5</c:v>
                </c:pt>
                <c:pt idx="15">
                  <c:v>21</c:v>
                </c:pt>
                <c:pt idx="16">
                  <c:v>21.9</c:v>
                </c:pt>
              </c:numCache>
            </c:numRef>
          </c:val>
          <c:smooth val="0"/>
          <c:extLst>
            <c:ext xmlns:c16="http://schemas.microsoft.com/office/drawing/2014/chart" uri="{C3380CC4-5D6E-409C-BE32-E72D297353CC}">
              <c16:uniqueId val="{0000000B-C3FC-4D9B-B80A-9B931AA033CB}"/>
            </c:ext>
          </c:extLst>
        </c:ser>
        <c:dLbls>
          <c:showLegendKey val="0"/>
          <c:showVal val="0"/>
          <c:showCatName val="0"/>
          <c:showSerName val="0"/>
          <c:showPercent val="0"/>
          <c:showBubbleSize val="0"/>
        </c:dLbls>
        <c:marker val="1"/>
        <c:smooth val="0"/>
        <c:axId val="2110399376"/>
        <c:axId val="2110382512"/>
      </c:lineChart>
      <c:catAx>
        <c:axId val="2110401552"/>
        <c:scaling>
          <c:orientation val="minMax"/>
        </c:scaling>
        <c:delete val="0"/>
        <c:axPos val="b"/>
        <c:numFmt formatCode="mmm\-yy" sourceLinked="0"/>
        <c:majorTickMark val="in"/>
        <c:minorTickMark val="none"/>
        <c:tickLblPos val="nextTo"/>
        <c:spPr>
          <a:noFill/>
          <a:ln w="9525" cap="flat" cmpd="sng" algn="ctr">
            <a:solidFill>
              <a:schemeClr val="bg1">
                <a:lumMod val="75000"/>
              </a:schemeClr>
            </a:solidFill>
            <a:round/>
          </a:ln>
          <a:effectLst/>
        </c:spPr>
        <c:txPr>
          <a:bodyPr rot="0" spcFirstLastPara="1" vertOverflow="ellipsis" wrap="square" anchor="t" anchorCtr="0"/>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402096"/>
        <c:crosses val="autoZero"/>
        <c:auto val="1"/>
        <c:lblAlgn val="ctr"/>
        <c:lblOffset val="100"/>
        <c:noMultiLvlLbl val="1"/>
      </c:catAx>
      <c:valAx>
        <c:axId val="2110402096"/>
        <c:scaling>
          <c:orientation val="minMax"/>
          <c:max val="0.70000000000000007"/>
          <c:min val="0.1"/>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401552"/>
        <c:crosses val="autoZero"/>
        <c:crossBetween val="between"/>
      </c:valAx>
      <c:valAx>
        <c:axId val="2110382512"/>
        <c:scaling>
          <c:orientation val="minMax"/>
          <c:max val="30"/>
          <c:min val="10"/>
        </c:scaling>
        <c:delete val="0"/>
        <c:axPos val="r"/>
        <c:title>
          <c:tx>
            <c:rich>
              <a:bodyPr rot="0" spcFirstLastPara="1" vertOverflow="ellipsis"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ko-KR" altLang="en-US" dirty="0" smtClean="0"/>
                  <a:t> </a:t>
                </a:r>
                <a:r>
                  <a:rPr lang="en-US" altLang="ko-KR" dirty="0"/>
                  <a:t>(B</a:t>
                </a:r>
                <a:r>
                  <a:rPr lang="en-US" altLang="ko-KR" baseline="0" dirty="0"/>
                  <a:t> ton kilo)</a:t>
                </a:r>
                <a:endParaRPr lang="ko-KR" altLang="en-US" dirty="0"/>
              </a:p>
            </c:rich>
          </c:tx>
          <c:layout>
            <c:manualLayout>
              <c:xMode val="edge"/>
              <c:yMode val="edge"/>
              <c:x val="0.85851519754264516"/>
              <c:y val="4.5744901210962398E-2"/>
            </c:manualLayout>
          </c:layout>
          <c:overlay val="0"/>
          <c:spPr>
            <a:noFill/>
            <a:ln>
              <a:noFill/>
            </a:ln>
            <a:effectLst/>
          </c:spPr>
          <c:txPr>
            <a:bodyPr rot="0" spcFirstLastPara="1" vertOverflow="ellipsis"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399376"/>
        <c:crosses val="max"/>
        <c:crossBetween val="between"/>
      </c:valAx>
      <c:catAx>
        <c:axId val="2110399376"/>
        <c:scaling>
          <c:orientation val="minMax"/>
        </c:scaling>
        <c:delete val="1"/>
        <c:axPos val="t"/>
        <c:numFmt formatCode="General" sourceLinked="1"/>
        <c:majorTickMark val="out"/>
        <c:minorTickMark val="none"/>
        <c:tickLblPos val="nextTo"/>
        <c:crossAx val="2110382512"/>
        <c:crosses val="max"/>
        <c:auto val="1"/>
        <c:lblAlgn val="ctr"/>
        <c:lblOffset val="100"/>
        <c:noMultiLvlLbl val="1"/>
      </c:catAx>
      <c:spPr>
        <a:noFill/>
        <a:ln>
          <a:noFill/>
        </a:ln>
        <a:effectLst/>
      </c:spPr>
    </c:plotArea>
    <c:legend>
      <c:legendPos val="r"/>
      <c:layout>
        <c:manualLayout>
          <c:xMode val="edge"/>
          <c:yMode val="edge"/>
          <c:x val="0.5614903360229474"/>
          <c:y val="0.11561652012112004"/>
          <c:w val="0.3644088213317071"/>
          <c:h val="4.5650892288081578E-2"/>
        </c:manualLayout>
      </c:layout>
      <c:overlay val="0"/>
      <c:spPr>
        <a:solidFill>
          <a:schemeClr val="bg1"/>
        </a:solid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legend>
    <c:plotVisOnly val="1"/>
    <c:dispBlanksAs val="gap"/>
    <c:showDLblsOverMax val="0"/>
  </c:chart>
  <c:spPr>
    <a:noFill/>
    <a:ln>
      <a:noFill/>
    </a:ln>
    <a:effectLst/>
  </c:spPr>
  <c:txPr>
    <a:bodyPr/>
    <a:lstStyle/>
    <a:p>
      <a:pPr>
        <a:defRPr sz="1000" baseline="0">
          <a:latin typeface="나눔스퀘어" panose="020B0600000101010101" pitchFamily="50" charset="-127"/>
          <a:ea typeface="나눔스퀘어" panose="020B0600000101010101" pitchFamily="50" charset="-127"/>
        </a:defRPr>
      </a:pPr>
      <a:endParaRPr lang="ko-KR"/>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b="1" dirty="0"/>
              <a:t>[</a:t>
            </a:r>
            <a:r>
              <a:rPr lang="en-US" altLang="ko-KR" b="1" dirty="0" smtClean="0"/>
              <a:t>'24-</a:t>
            </a:r>
            <a:r>
              <a:rPr lang="en-US" altLang="ko-KR" sz="1200" b="1" i="0" u="none" strike="noStrike" baseline="0" dirty="0" smtClean="0">
                <a:effectLst/>
              </a:rPr>
              <a:t>'</a:t>
            </a:r>
            <a:r>
              <a:rPr lang="en-US" altLang="ko-KR" b="1" dirty="0" smtClean="0"/>
              <a:t>26</a:t>
            </a:r>
            <a:r>
              <a:rPr lang="ko-KR" altLang="en-US" b="1" dirty="0" smtClean="0"/>
              <a:t> </a:t>
            </a:r>
            <a:r>
              <a:rPr lang="en-US" altLang="ko-KR" b="1" dirty="0" smtClean="0"/>
              <a:t>Regional Air Cargo CTK Growth</a:t>
            </a:r>
            <a:r>
              <a:rPr lang="en-US" altLang="ko-KR" b="1" baseline="0" dirty="0" smtClean="0"/>
              <a:t> Rate</a:t>
            </a:r>
            <a:r>
              <a:rPr lang="en-US" altLang="ko-KR" b="1" dirty="0" smtClean="0"/>
              <a:t>]</a:t>
            </a:r>
            <a:endParaRPr lang="ko-KR" b="1" dirty="0"/>
          </a:p>
        </c:rich>
      </c:tx>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autoTitleDeleted val="0"/>
    <c:plotArea>
      <c:layout>
        <c:manualLayout>
          <c:layoutTarget val="inner"/>
          <c:xMode val="edge"/>
          <c:yMode val="edge"/>
          <c:x val="9.2948790684364666E-2"/>
          <c:y val="0.22505858806092063"/>
          <c:w val="0.8812765345848349"/>
          <c:h val="0.66169042336723272"/>
        </c:manualLayout>
      </c:layout>
      <c:barChart>
        <c:barDir val="col"/>
        <c:grouping val="clustered"/>
        <c:varyColors val="0"/>
        <c:ser>
          <c:idx val="0"/>
          <c:order val="0"/>
          <c:tx>
            <c:strRef>
              <c:f>Sheet1!$A$2</c:f>
              <c:strCache>
                <c:ptCount val="1"/>
                <c:pt idx="0">
                  <c:v>2024</c:v>
                </c:pt>
              </c:strCache>
            </c:strRef>
          </c:tx>
          <c:spPr>
            <a:solidFill>
              <a:srgbClr val="002B5C"/>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나눔스퀘어" panose="020B0600000101010101" pitchFamily="50" charset="-127"/>
                    <a:ea typeface="나눔스퀘어" panose="020B0600000101010101" pitchFamily="50" charset="-127"/>
                    <a:cs typeface="+mn-cs"/>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Sheet1!$B$1:$G$1</c:f>
              <c:strCache>
                <c:ptCount val="6"/>
                <c:pt idx="0">
                  <c:v>Asia Pacific</c:v>
                </c:pt>
                <c:pt idx="1">
                  <c:v>Europe</c:v>
                </c:pt>
                <c:pt idx="2">
                  <c:v>Latin America</c:v>
                </c:pt>
                <c:pt idx="3">
                  <c:v>Middle East</c:v>
                </c:pt>
                <c:pt idx="4">
                  <c:v>North America</c:v>
                </c:pt>
                <c:pt idx="5">
                  <c:v>Global</c:v>
                </c:pt>
              </c:strCache>
            </c:strRef>
          </c:cat>
          <c:val>
            <c:numRef>
              <c:f>Sheet1!$B$2:$G$2</c:f>
              <c:numCache>
                <c:formatCode>0.0%</c:formatCode>
                <c:ptCount val="6"/>
                <c:pt idx="0">
                  <c:v>0.14599999999999999</c:v>
                </c:pt>
                <c:pt idx="1">
                  <c:v>0.112</c:v>
                </c:pt>
                <c:pt idx="2">
                  <c:v>0.13300000000000001</c:v>
                </c:pt>
                <c:pt idx="3">
                  <c:v>0.13</c:v>
                </c:pt>
                <c:pt idx="4">
                  <c:v>6.4000000000000001E-2</c:v>
                </c:pt>
                <c:pt idx="5">
                  <c:v>0.114</c:v>
                </c:pt>
              </c:numCache>
            </c:numRef>
          </c:val>
          <c:extLst>
            <c:ext xmlns:c16="http://schemas.microsoft.com/office/drawing/2014/chart" uri="{C3380CC4-5D6E-409C-BE32-E72D297353CC}">
              <c16:uniqueId val="{00000000-18B4-413D-B17F-119759584A1D}"/>
            </c:ext>
          </c:extLst>
        </c:ser>
        <c:ser>
          <c:idx val="1"/>
          <c:order val="1"/>
          <c:tx>
            <c:strRef>
              <c:f>Sheet1!$A$3</c:f>
              <c:strCache>
                <c:ptCount val="1"/>
                <c:pt idx="0">
                  <c:v>2025</c:v>
                </c:pt>
              </c:strCache>
            </c:strRef>
          </c:tx>
          <c:spPr>
            <a:solidFill>
              <a:srgbClr val="3CD0BA"/>
            </a:solidFill>
            <a:ln>
              <a:noFill/>
            </a:ln>
            <a:effectLst/>
          </c:spPr>
          <c:invertIfNegative val="0"/>
          <c:dLbls>
            <c:dLbl>
              <c:idx val="0"/>
              <c:layout>
                <c:manualLayout>
                  <c:x val="2.3854831890115981E-2"/>
                  <c:y val="-1.9835211561273294E-2"/>
                </c:manualLayout>
              </c:layout>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4-3548-452D-A877-67C59486A637}"/>
                </c:ext>
              </c:extLst>
            </c:dLbl>
            <c:dLbl>
              <c:idx val="1"/>
              <c:layout>
                <c:manualLayout>
                  <c:x val="1.9083865512092804E-2"/>
                  <c:y val="-4.2976291716092005E-2"/>
                </c:manualLayout>
              </c:layout>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8-3548-452D-A877-67C59486A637}"/>
                </c:ext>
              </c:extLst>
            </c:dLbl>
            <c:dLbl>
              <c:idx val="2"/>
              <c:layout>
                <c:manualLayout>
                  <c:x val="2.3854831890116005E-2"/>
                  <c:y val="-1.9835211561273235E-2"/>
                </c:manualLayout>
              </c:layout>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6-3548-452D-A877-67C59486A637}"/>
                </c:ext>
              </c:extLst>
            </c:dLbl>
            <c:dLbl>
              <c:idx val="3"/>
              <c:layout>
                <c:manualLayout>
                  <c:x val="2.1469348701104403E-2"/>
                  <c:y val="-9.917605780636678E-3"/>
                </c:manualLayout>
              </c:layout>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3548-452D-A877-67C59486A637}"/>
                </c:ext>
              </c:extLst>
            </c:dLbl>
            <c:dLbl>
              <c:idx val="5"/>
              <c:layout>
                <c:manualLayout>
                  <c:x val="1.1927415945057827E-2"/>
                  <c:y val="-9.9176057806366173E-3"/>
                </c:manualLayout>
              </c:layout>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3548-452D-A877-67C59486A637}"/>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나눔스퀘어" panose="020B0600000101010101" pitchFamily="50" charset="-127"/>
                    <a:ea typeface="나눔스퀘어" panose="020B0600000101010101" pitchFamily="50" charset="-127"/>
                    <a:cs typeface="+mn-cs"/>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Sheet1!$B$1:$G$1</c:f>
              <c:strCache>
                <c:ptCount val="6"/>
                <c:pt idx="0">
                  <c:v>Asia Pacific</c:v>
                </c:pt>
                <c:pt idx="1">
                  <c:v>Europe</c:v>
                </c:pt>
                <c:pt idx="2">
                  <c:v>Latin America</c:v>
                </c:pt>
                <c:pt idx="3">
                  <c:v>Middle East</c:v>
                </c:pt>
                <c:pt idx="4">
                  <c:v>North America</c:v>
                </c:pt>
                <c:pt idx="5">
                  <c:v>Global</c:v>
                </c:pt>
              </c:strCache>
            </c:strRef>
          </c:cat>
          <c:val>
            <c:numRef>
              <c:f>Sheet1!$B$3:$G$3</c:f>
              <c:numCache>
                <c:formatCode>0.0%</c:formatCode>
                <c:ptCount val="6"/>
                <c:pt idx="0">
                  <c:v>8.5000000000000006E-2</c:v>
                </c:pt>
                <c:pt idx="1">
                  <c:v>2.9000000000000001E-2</c:v>
                </c:pt>
                <c:pt idx="2">
                  <c:v>1.0999999999999999E-2</c:v>
                </c:pt>
                <c:pt idx="3">
                  <c:v>3.0000000000000001E-3</c:v>
                </c:pt>
                <c:pt idx="4">
                  <c:v>-1.2999999999999999E-2</c:v>
                </c:pt>
                <c:pt idx="5">
                  <c:v>3.4000000000000002E-2</c:v>
                </c:pt>
              </c:numCache>
            </c:numRef>
          </c:val>
          <c:extLst>
            <c:ext xmlns:c16="http://schemas.microsoft.com/office/drawing/2014/chart" uri="{C3380CC4-5D6E-409C-BE32-E72D297353CC}">
              <c16:uniqueId val="{00000001-18B4-413D-B17F-119759584A1D}"/>
            </c:ext>
          </c:extLst>
        </c:ser>
        <c:ser>
          <c:idx val="2"/>
          <c:order val="2"/>
          <c:tx>
            <c:strRef>
              <c:f>Sheet1!$A$4</c:f>
              <c:strCache>
                <c:ptCount val="1"/>
                <c:pt idx="0">
                  <c:v>Q1 2026</c:v>
                </c:pt>
              </c:strCache>
            </c:strRef>
          </c:tx>
          <c:spPr>
            <a:solidFill>
              <a:srgbClr val="0000FF"/>
            </a:solidFill>
            <a:ln>
              <a:noFill/>
            </a:ln>
            <a:effectLst/>
          </c:spPr>
          <c:invertIfNegative val="0"/>
          <c:dLbls>
            <c:dLbl>
              <c:idx val="0"/>
              <c:layout>
                <c:manualLayout>
                  <c:x val="2.385483189011596E-2"/>
                  <c:y val="-0.11570540077409386"/>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나눔스퀘어" panose="020B0600000101010101" pitchFamily="50" charset="-127"/>
                      <a:ea typeface="나눔스퀘어" panose="020B0600000101010101" pitchFamily="50" charset="-127"/>
                      <a:cs typeface="+mn-cs"/>
                    </a:defRPr>
                  </a:pPr>
                  <a:endParaRPr lang="ko-KR"/>
                </a:p>
              </c:txPr>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3548-452D-A877-67C59486A637}"/>
                </c:ext>
              </c:extLst>
            </c:dLbl>
            <c:dLbl>
              <c:idx val="1"/>
              <c:layout>
                <c:manualLayout>
                  <c:x val="1.6698382323081202E-2"/>
                  <c:y val="-6.6117371870910773E-3"/>
                </c:manualLayout>
              </c:layout>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3548-452D-A877-67C59486A637}"/>
                </c:ext>
              </c:extLst>
            </c:dLbl>
            <c:dLbl>
              <c:idx val="3"/>
              <c:layout>
                <c:manualLayout>
                  <c:x val="-7.1564495670348015E-3"/>
                  <c:y val="6.611737187091077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나눔스퀘어" panose="020B0600000101010101" pitchFamily="50" charset="-127"/>
                      <a:ea typeface="나눔스퀘어" panose="020B0600000101010101" pitchFamily="50" charset="-127"/>
                      <a:cs typeface="+mn-cs"/>
                    </a:defRPr>
                  </a:pPr>
                  <a:endParaRPr lang="ko-KR"/>
                </a:p>
              </c:txPr>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2-3548-452D-A877-67C59486A637}"/>
                </c:ext>
              </c:extLst>
            </c:dLbl>
            <c:dLbl>
              <c:idx val="5"/>
              <c:layout>
                <c:manualLayout>
                  <c:x val="1.1927415945058003E-2"/>
                  <c:y val="0"/>
                </c:manualLayout>
              </c:layout>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0-3548-452D-A877-67C59486A637}"/>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나눔스퀘어" panose="020B0600000101010101" pitchFamily="50" charset="-127"/>
                    <a:ea typeface="나눔스퀘어" panose="020B0600000101010101" pitchFamily="50" charset="-127"/>
                    <a:cs typeface="+mn-cs"/>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Sheet1!$B$1:$G$1</c:f>
              <c:strCache>
                <c:ptCount val="6"/>
                <c:pt idx="0">
                  <c:v>Asia Pacific</c:v>
                </c:pt>
                <c:pt idx="1">
                  <c:v>Europe</c:v>
                </c:pt>
                <c:pt idx="2">
                  <c:v>Latin America</c:v>
                </c:pt>
                <c:pt idx="3">
                  <c:v>Middle East</c:v>
                </c:pt>
                <c:pt idx="4">
                  <c:v>North America</c:v>
                </c:pt>
                <c:pt idx="5">
                  <c:v>Global</c:v>
                </c:pt>
              </c:strCache>
            </c:strRef>
          </c:cat>
          <c:val>
            <c:numRef>
              <c:f>Sheet1!$B$4:$G$4</c:f>
              <c:numCache>
                <c:formatCode>0.0%</c:formatCode>
                <c:ptCount val="6"/>
                <c:pt idx="0">
                  <c:v>5.6000000000000001E-2</c:v>
                </c:pt>
                <c:pt idx="1">
                  <c:v>2.4E-2</c:v>
                </c:pt>
                <c:pt idx="2">
                  <c:v>-2.5000000000000001E-2</c:v>
                </c:pt>
                <c:pt idx="3">
                  <c:v>-0.152</c:v>
                </c:pt>
                <c:pt idx="4">
                  <c:v>7.0000000000000001E-3</c:v>
                </c:pt>
                <c:pt idx="5">
                  <c:v>7.0000000000000001E-3</c:v>
                </c:pt>
              </c:numCache>
            </c:numRef>
          </c:val>
          <c:extLst>
            <c:ext xmlns:c16="http://schemas.microsoft.com/office/drawing/2014/chart" uri="{C3380CC4-5D6E-409C-BE32-E72D297353CC}">
              <c16:uniqueId val="{00000002-18B4-413D-B17F-119759584A1D}"/>
            </c:ext>
          </c:extLst>
        </c:ser>
        <c:dLbls>
          <c:dLblPos val="outEnd"/>
          <c:showLegendKey val="0"/>
          <c:showVal val="1"/>
          <c:showCatName val="0"/>
          <c:showSerName val="0"/>
          <c:showPercent val="0"/>
          <c:showBubbleSize val="0"/>
        </c:dLbls>
        <c:gapWidth val="81"/>
        <c:axId val="2110386320"/>
        <c:axId val="2110391760"/>
      </c:barChart>
      <c:catAx>
        <c:axId val="2110386320"/>
        <c:scaling>
          <c:orientation val="minMax"/>
        </c:scaling>
        <c:delete val="0"/>
        <c:axPos val="b"/>
        <c:numFmt formatCode="mmm\-yy"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391760"/>
        <c:crosses val="autoZero"/>
        <c:auto val="1"/>
        <c:lblAlgn val="ctr"/>
        <c:lblOffset val="100"/>
        <c:noMultiLvlLbl val="0"/>
      </c:catAx>
      <c:valAx>
        <c:axId val="2110391760"/>
        <c:scaling>
          <c:orientation val="minMax"/>
          <c:max val="0.30000000000000004"/>
          <c:min val="-0.2"/>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386320"/>
        <c:crosses val="autoZero"/>
        <c:crossBetween val="between"/>
        <c:majorUnit val="0.1"/>
      </c:valAx>
      <c:spPr>
        <a:noFill/>
        <a:ln>
          <a:noFill/>
        </a:ln>
        <a:effectLst/>
      </c:spPr>
    </c:plotArea>
    <c:legend>
      <c:legendPos val="b"/>
      <c:layout>
        <c:manualLayout>
          <c:xMode val="edge"/>
          <c:yMode val="edge"/>
          <c:x val="0.56935642105393658"/>
          <c:y val="0.11772770731765725"/>
          <c:w val="0.40952998655676914"/>
          <c:h val="7.20141795560732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legend>
    <c:plotVisOnly val="1"/>
    <c:dispBlanksAs val="gap"/>
    <c:showDLblsOverMax val="0"/>
  </c:chart>
  <c:spPr>
    <a:noFill/>
    <a:ln>
      <a:noFill/>
    </a:ln>
    <a:effectLst/>
  </c:spPr>
  <c:txPr>
    <a:bodyPr/>
    <a:lstStyle/>
    <a:p>
      <a:pPr>
        <a:defRPr sz="1000">
          <a:latin typeface="나눔스퀘어" panose="020B0600000101010101" pitchFamily="50" charset="-127"/>
          <a:ea typeface="나눔스퀘어" panose="020B0600000101010101" pitchFamily="50" charset="-127"/>
        </a:defRPr>
      </a:pPr>
      <a:endParaRPr lang="ko-KR"/>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ko-KR" altLang="en-US" sz="1200" b="1" i="0" u="none" strike="noStrike" kern="1200" spc="0" baseline="0">
                <a:solidFill>
                  <a:prstClr val="black">
                    <a:lumMod val="65000"/>
                    <a:lumOff val="35000"/>
                  </a:prstClr>
                </a:solidFill>
                <a:latin typeface="나눔스퀘어" panose="020B0600000101010101" pitchFamily="50" charset="-127"/>
                <a:ea typeface="나눔스퀘어" panose="020B0600000101010101" pitchFamily="50" charset="-127"/>
                <a:cs typeface="+mn-cs"/>
              </a:defRPr>
            </a:pPr>
            <a:r>
              <a:rPr lang="en-US" altLang="ko-KR" sz="1200" b="1" i="0" u="none" strike="noStrike" kern="1200" spc="0" baseline="0" dirty="0" smtClean="0">
                <a:solidFill>
                  <a:prstClr val="black">
                    <a:lumMod val="65000"/>
                    <a:lumOff val="35000"/>
                  </a:prstClr>
                </a:solidFill>
                <a:latin typeface="나눔스퀘어" panose="020B0600000101010101" pitchFamily="50" charset="-127"/>
                <a:ea typeface="나눔스퀘어" panose="020B0600000101010101" pitchFamily="50" charset="-127"/>
                <a:cs typeface="+mn-cs"/>
              </a:rPr>
              <a:t>[</a:t>
            </a:r>
            <a:r>
              <a:rPr lang="en-US" altLang="ko-KR" sz="1200" b="1" i="0" u="none" strike="noStrike" baseline="0" dirty="0" smtClean="0">
                <a:effectLst/>
              </a:rPr>
              <a:t>'25-'26</a:t>
            </a:r>
            <a:r>
              <a:rPr lang="ko-KR" altLang="en-US" sz="1200" b="1" i="0" u="none" strike="noStrike" kern="1200" spc="0" baseline="0" dirty="0" smtClean="0">
                <a:solidFill>
                  <a:prstClr val="black">
                    <a:lumMod val="65000"/>
                    <a:lumOff val="35000"/>
                  </a:prstClr>
                </a:solidFill>
                <a:latin typeface="나눔스퀘어" panose="020B0600000101010101" pitchFamily="50" charset="-127"/>
                <a:ea typeface="나눔스퀘어" panose="020B0600000101010101" pitchFamily="50" charset="-127"/>
                <a:cs typeface="+mn-cs"/>
              </a:rPr>
              <a:t> </a:t>
            </a:r>
            <a:r>
              <a:rPr lang="en-US" altLang="ko-KR" sz="1200" b="1" i="0" u="none" strike="noStrike" kern="1200" spc="0" baseline="0" dirty="0" smtClean="0">
                <a:solidFill>
                  <a:prstClr val="black">
                    <a:lumMod val="65000"/>
                    <a:lumOff val="35000"/>
                  </a:prstClr>
                </a:solidFill>
                <a:latin typeface="나눔스퀘어" panose="020B0600000101010101" pitchFamily="50" charset="-127"/>
                <a:ea typeface="나눔스퀘어" panose="020B0600000101010101" pitchFamily="50" charset="-127"/>
                <a:cs typeface="+mn-cs"/>
              </a:rPr>
              <a:t>Global Cargo Load Factor &amp; Supply]</a:t>
            </a:r>
            <a:endParaRPr lang="ko-KR" altLang="en-US" sz="1200" b="1" i="0" u="none" strike="noStrike" kern="1200" spc="0" baseline="0" dirty="0">
              <a:solidFill>
                <a:prstClr val="black">
                  <a:lumMod val="65000"/>
                  <a:lumOff val="35000"/>
                </a:prstClr>
              </a:solidFill>
              <a:latin typeface="나눔스퀘어" panose="020B0600000101010101" pitchFamily="50" charset="-127"/>
              <a:ea typeface="나눔스퀘어" panose="020B0600000101010101" pitchFamily="50" charset="-127"/>
              <a:cs typeface="+mn-cs"/>
            </a:endParaRPr>
          </a:p>
        </c:rich>
      </c:tx>
      <c:layout>
        <c:manualLayout>
          <c:xMode val="edge"/>
          <c:yMode val="edge"/>
          <c:x val="0.21558413937056634"/>
          <c:y val="1.7122105374973447E-2"/>
        </c:manualLayout>
      </c:layout>
      <c:overlay val="0"/>
      <c:spPr>
        <a:noFill/>
        <a:ln>
          <a:noFill/>
        </a:ln>
        <a:effectLst/>
      </c:spPr>
      <c:txPr>
        <a:bodyPr rot="0" spcFirstLastPara="1" vertOverflow="ellipsis" vert="horz" wrap="square" anchor="ctr" anchorCtr="1"/>
        <a:lstStyle/>
        <a:p>
          <a:pPr algn="ctr" rtl="0">
            <a:defRPr lang="ko-KR" altLang="en-US" sz="1200" b="1" i="0" u="none" strike="noStrike" kern="1200" spc="0" baseline="0">
              <a:solidFill>
                <a:prstClr val="black">
                  <a:lumMod val="65000"/>
                  <a:lumOff val="35000"/>
                </a:prstClr>
              </a:solidFill>
              <a:latin typeface="나눔스퀘어" panose="020B0600000101010101" pitchFamily="50" charset="-127"/>
              <a:ea typeface="나눔스퀘어" panose="020B0600000101010101" pitchFamily="50" charset="-127"/>
              <a:cs typeface="+mn-cs"/>
            </a:defRPr>
          </a:pPr>
          <a:endParaRPr lang="ko-KR"/>
        </a:p>
      </c:txPr>
    </c:title>
    <c:autoTitleDeleted val="0"/>
    <c:plotArea>
      <c:layout>
        <c:manualLayout>
          <c:layoutTarget val="inner"/>
          <c:xMode val="edge"/>
          <c:yMode val="edge"/>
          <c:x val="7.3021044488738071E-2"/>
          <c:y val="0.15874057438793168"/>
          <c:w val="0.91034287402856751"/>
          <c:h val="0.7327534170955381"/>
        </c:manualLayout>
      </c:layout>
      <c:barChart>
        <c:barDir val="col"/>
        <c:grouping val="clustered"/>
        <c:varyColors val="0"/>
        <c:ser>
          <c:idx val="0"/>
          <c:order val="0"/>
          <c:tx>
            <c:strRef>
              <c:f>Sheet1!$B$1</c:f>
              <c:strCache>
                <c:ptCount val="1"/>
                <c:pt idx="0">
                  <c:v>CLF</c:v>
                </c:pt>
              </c:strCache>
            </c:strRef>
          </c:tx>
          <c:spPr>
            <a:solidFill>
              <a:srgbClr val="002B5C"/>
            </a:solidFill>
            <a:ln>
              <a:noFill/>
            </a:ln>
            <a:effectLst/>
          </c:spPr>
          <c:invertIfNegative val="0"/>
          <c:cat>
            <c:strRef>
              <c:f>Sheet1!$A$74:$A$90</c:f>
              <c:strCache>
                <c:ptCount val="17"/>
                <c:pt idx="0">
                  <c:v>Jan-25</c:v>
                </c:pt>
                <c:pt idx="1">
                  <c:v>Feb-25</c:v>
                </c:pt>
                <c:pt idx="2">
                  <c:v>Mar-25</c:v>
                </c:pt>
                <c:pt idx="3">
                  <c:v>Apr-25</c:v>
                </c:pt>
                <c:pt idx="4">
                  <c:v>May-25</c:v>
                </c:pt>
                <c:pt idx="5">
                  <c:v>Jun-25</c:v>
                </c:pt>
                <c:pt idx="6">
                  <c:v>Jul-25</c:v>
                </c:pt>
                <c:pt idx="7">
                  <c:v>Aug-25</c:v>
                </c:pt>
                <c:pt idx="8">
                  <c:v>Sep-25</c:v>
                </c:pt>
                <c:pt idx="9">
                  <c:v>Oct-25</c:v>
                </c:pt>
                <c:pt idx="10">
                  <c:v>Nov-25</c:v>
                </c:pt>
                <c:pt idx="11">
                  <c:v>Dec-25</c:v>
                </c:pt>
                <c:pt idx="12">
                  <c:v>Jan-26</c:v>
                </c:pt>
                <c:pt idx="13">
                  <c:v>Feb-26</c:v>
                </c:pt>
                <c:pt idx="14">
                  <c:v>Mar-26</c:v>
                </c:pt>
                <c:pt idx="15">
                  <c:v>Apr-26</c:v>
                </c:pt>
                <c:pt idx="16">
                  <c:v>May-26</c:v>
                </c:pt>
              </c:strCache>
            </c:strRef>
          </c:cat>
          <c:val>
            <c:numRef>
              <c:f>Sheet1!$B$74:$B$90</c:f>
              <c:numCache>
                <c:formatCode>0.0%</c:formatCode>
                <c:ptCount val="17"/>
                <c:pt idx="0">
                  <c:v>0.47799999999999998</c:v>
                </c:pt>
                <c:pt idx="1">
                  <c:v>0.50600000000000001</c:v>
                </c:pt>
                <c:pt idx="2">
                  <c:v>0.54</c:v>
                </c:pt>
                <c:pt idx="3">
                  <c:v>0.5</c:v>
                </c:pt>
                <c:pt idx="4">
                  <c:v>0.505</c:v>
                </c:pt>
                <c:pt idx="5">
                  <c:v>0.499</c:v>
                </c:pt>
                <c:pt idx="6">
                  <c:v>0.501</c:v>
                </c:pt>
                <c:pt idx="7">
                  <c:v>0.48699999999999999</c:v>
                </c:pt>
                <c:pt idx="8">
                  <c:v>0.503</c:v>
                </c:pt>
                <c:pt idx="9">
                  <c:v>0.52100000000000002</c:v>
                </c:pt>
                <c:pt idx="10">
                  <c:v>0.54300000000000004</c:v>
                </c:pt>
                <c:pt idx="11">
                  <c:v>0.51500000000000001</c:v>
                </c:pt>
                <c:pt idx="12">
                  <c:v>0.48399999999999999</c:v>
                </c:pt>
                <c:pt idx="13">
                  <c:v>0.51700000000000002</c:v>
                </c:pt>
                <c:pt idx="14">
                  <c:v>0.54500000000000004</c:v>
                </c:pt>
                <c:pt idx="15">
                  <c:v>0.52500000000000002</c:v>
                </c:pt>
                <c:pt idx="16">
                  <c:v>0.52400000000000002</c:v>
                </c:pt>
              </c:numCache>
            </c:numRef>
          </c:val>
          <c:extLst>
            <c:ext xmlns:c16="http://schemas.microsoft.com/office/drawing/2014/chart" uri="{C3380CC4-5D6E-409C-BE32-E72D297353CC}">
              <c16:uniqueId val="{0000000B-52C2-46D0-BF31-B7B0B8A3BF47}"/>
            </c:ext>
          </c:extLst>
        </c:ser>
        <c:dLbls>
          <c:showLegendKey val="0"/>
          <c:showVal val="0"/>
          <c:showCatName val="0"/>
          <c:showSerName val="0"/>
          <c:showPercent val="0"/>
          <c:showBubbleSize val="0"/>
        </c:dLbls>
        <c:gapWidth val="150"/>
        <c:axId val="2110401552"/>
        <c:axId val="2110402096"/>
      </c:barChart>
      <c:lineChart>
        <c:grouping val="standard"/>
        <c:varyColors val="0"/>
        <c:ser>
          <c:idx val="2"/>
          <c:order val="1"/>
          <c:tx>
            <c:strRef>
              <c:f>Sheet1!$D$1</c:f>
              <c:strCache>
                <c:ptCount val="1"/>
                <c:pt idx="0">
                  <c:v>Supply (Right)</c:v>
                </c:pt>
              </c:strCache>
            </c:strRef>
          </c:tx>
          <c:spPr>
            <a:ln w="28575" cap="rnd">
              <a:solidFill>
                <a:srgbClr val="3CD0BA"/>
              </a:solidFill>
              <a:round/>
            </a:ln>
            <a:effectLst/>
          </c:spPr>
          <c:marker>
            <c:symbol val="circle"/>
            <c:size val="5"/>
            <c:spPr>
              <a:solidFill>
                <a:schemeClr val="bg1"/>
              </a:solidFill>
              <a:ln w="9525">
                <a:solidFill>
                  <a:srgbClr val="3CD0BA"/>
                </a:solid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25-52C2-46D0-BF31-B7B0B8A3BF47}"/>
                </c:ext>
              </c:extLst>
            </c:dLbl>
            <c:dLbl>
              <c:idx val="1"/>
              <c:delete val="1"/>
              <c:extLst>
                <c:ext xmlns:c15="http://schemas.microsoft.com/office/drawing/2012/chart" uri="{CE6537A1-D6FC-4f65-9D91-7224C49458BB}"/>
                <c:ext xmlns:c16="http://schemas.microsoft.com/office/drawing/2014/chart" uri="{C3380CC4-5D6E-409C-BE32-E72D297353CC}">
                  <c16:uniqueId val="{00000024-52C2-46D0-BF31-B7B0B8A3BF47}"/>
                </c:ext>
              </c:extLst>
            </c:dLbl>
            <c:dLbl>
              <c:idx val="2"/>
              <c:delete val="1"/>
              <c:extLst>
                <c:ext xmlns:c15="http://schemas.microsoft.com/office/drawing/2012/chart" uri="{CE6537A1-D6FC-4f65-9D91-7224C49458BB}"/>
                <c:ext xmlns:c16="http://schemas.microsoft.com/office/drawing/2014/chart" uri="{C3380CC4-5D6E-409C-BE32-E72D297353CC}">
                  <c16:uniqueId val="{00000026-52C2-46D0-BF31-B7B0B8A3BF47}"/>
                </c:ext>
              </c:extLst>
            </c:dLbl>
            <c:dLbl>
              <c:idx val="3"/>
              <c:delete val="1"/>
              <c:extLst>
                <c:ext xmlns:c15="http://schemas.microsoft.com/office/drawing/2012/chart" uri="{CE6537A1-D6FC-4f65-9D91-7224C49458BB}"/>
                <c:ext xmlns:c16="http://schemas.microsoft.com/office/drawing/2014/chart" uri="{C3380CC4-5D6E-409C-BE32-E72D297353CC}">
                  <c16:uniqueId val="{00000027-52C2-46D0-BF31-B7B0B8A3BF47}"/>
                </c:ext>
              </c:extLst>
            </c:dLbl>
            <c:dLbl>
              <c:idx val="4"/>
              <c:delete val="1"/>
              <c:extLst>
                <c:ext xmlns:c15="http://schemas.microsoft.com/office/drawing/2012/chart" uri="{CE6537A1-D6FC-4f65-9D91-7224C49458BB}"/>
                <c:ext xmlns:c16="http://schemas.microsoft.com/office/drawing/2014/chart" uri="{C3380CC4-5D6E-409C-BE32-E72D297353CC}">
                  <c16:uniqueId val="{00000028-52C2-46D0-BF31-B7B0B8A3BF47}"/>
                </c:ext>
              </c:extLst>
            </c:dLbl>
            <c:dLbl>
              <c:idx val="5"/>
              <c:delete val="1"/>
              <c:extLst>
                <c:ext xmlns:c15="http://schemas.microsoft.com/office/drawing/2012/chart" uri="{CE6537A1-D6FC-4f65-9D91-7224C49458BB}"/>
                <c:ext xmlns:c16="http://schemas.microsoft.com/office/drawing/2014/chart" uri="{C3380CC4-5D6E-409C-BE32-E72D297353CC}">
                  <c16:uniqueId val="{00000029-52C2-46D0-BF31-B7B0B8A3BF47}"/>
                </c:ext>
              </c:extLst>
            </c:dLbl>
            <c:dLbl>
              <c:idx val="6"/>
              <c:delete val="1"/>
              <c:extLst>
                <c:ext xmlns:c15="http://schemas.microsoft.com/office/drawing/2012/chart" uri="{CE6537A1-D6FC-4f65-9D91-7224C49458BB}"/>
                <c:ext xmlns:c16="http://schemas.microsoft.com/office/drawing/2014/chart" uri="{C3380CC4-5D6E-409C-BE32-E72D297353CC}">
                  <c16:uniqueId val="{00000023-52C2-46D0-BF31-B7B0B8A3BF47}"/>
                </c:ext>
              </c:extLst>
            </c:dLbl>
            <c:dLbl>
              <c:idx val="7"/>
              <c:delete val="1"/>
              <c:extLst>
                <c:ext xmlns:c15="http://schemas.microsoft.com/office/drawing/2012/chart" uri="{CE6537A1-D6FC-4f65-9D91-7224C49458BB}"/>
                <c:ext xmlns:c16="http://schemas.microsoft.com/office/drawing/2014/chart" uri="{C3380CC4-5D6E-409C-BE32-E72D297353CC}">
                  <c16:uniqueId val="{00000000-7A91-465C-9BFD-FADB1189BEBA}"/>
                </c:ext>
              </c:extLst>
            </c:dLbl>
            <c:dLbl>
              <c:idx val="8"/>
              <c:delete val="1"/>
              <c:extLst>
                <c:ext xmlns:c15="http://schemas.microsoft.com/office/drawing/2012/chart" uri="{CE6537A1-D6FC-4f65-9D91-7224C49458BB}"/>
                <c:ext xmlns:c16="http://schemas.microsoft.com/office/drawing/2014/chart" uri="{C3380CC4-5D6E-409C-BE32-E72D297353CC}">
                  <c16:uniqueId val="{00000001-7A91-465C-9BFD-FADB1189BEBA}"/>
                </c:ext>
              </c:extLst>
            </c:dLbl>
            <c:dLbl>
              <c:idx val="9"/>
              <c:delete val="1"/>
              <c:extLst>
                <c:ext xmlns:c15="http://schemas.microsoft.com/office/drawing/2012/chart" uri="{CE6537A1-D6FC-4f65-9D91-7224C49458BB}"/>
                <c:ext xmlns:c16="http://schemas.microsoft.com/office/drawing/2014/chart" uri="{C3380CC4-5D6E-409C-BE32-E72D297353CC}">
                  <c16:uniqueId val="{00000002-7A91-465C-9BFD-FADB1189BEBA}"/>
                </c:ext>
              </c:extLst>
            </c:dLbl>
            <c:dLbl>
              <c:idx val="10"/>
              <c:delete val="1"/>
              <c:extLst>
                <c:ext xmlns:c15="http://schemas.microsoft.com/office/drawing/2012/chart" uri="{CE6537A1-D6FC-4f65-9D91-7224C49458BB}"/>
                <c:ext xmlns:c16="http://schemas.microsoft.com/office/drawing/2014/chart" uri="{C3380CC4-5D6E-409C-BE32-E72D297353CC}">
                  <c16:uniqueId val="{00000003-7A91-465C-9BFD-FADB1189BEBA}"/>
                </c:ext>
              </c:extLst>
            </c:dLbl>
            <c:dLbl>
              <c:idx val="11"/>
              <c:delete val="1"/>
              <c:extLst>
                <c:ext xmlns:c15="http://schemas.microsoft.com/office/drawing/2012/chart" uri="{CE6537A1-D6FC-4f65-9D91-7224C49458BB}"/>
                <c:ext xmlns:c16="http://schemas.microsoft.com/office/drawing/2014/chart" uri="{C3380CC4-5D6E-409C-BE32-E72D297353CC}">
                  <c16:uniqueId val="{00000004-7A91-465C-9BFD-FADB1189BEBA}"/>
                </c:ext>
              </c:extLst>
            </c:dLbl>
            <c:dLbl>
              <c:idx val="12"/>
              <c:layout>
                <c:manualLayout>
                  <c:x val="-5.8149492850595695E-2"/>
                  <c:y val="5.9645342043764545E-2"/>
                </c:manualLayout>
              </c:layout>
              <c:tx>
                <c:rich>
                  <a:bodyPr/>
                  <a:lstStyle/>
                  <a:p>
                    <a:fld id="{38C1CD65-10D5-4F09-9DBA-8499023BF29D}" type="VALUE">
                      <a:rPr lang="en-US" altLang="ko-KR" smtClean="0"/>
                      <a:pPr/>
                      <a:t>[값]</a:t>
                    </a:fld>
                    <a:r>
                      <a:rPr lang="en-US" altLang="ko-KR" dirty="0" smtClean="0"/>
                      <a:t>.0</a:t>
                    </a:r>
                  </a:p>
                </c:rich>
              </c:tx>
              <c:dLblPos val="r"/>
              <c:showLegendKey val="0"/>
              <c:showVal val="1"/>
              <c:showCatName val="0"/>
              <c:showSerName val="0"/>
              <c:showPercent val="0"/>
              <c:showBubbleSize val="0"/>
              <c:extLst>
                <c:ext xmlns:c15="http://schemas.microsoft.com/office/drawing/2012/chart" uri="{CE6537A1-D6FC-4f65-9D91-7224C49458BB}">
                  <c15:layout>
                    <c:manualLayout>
                      <c:w val="6.775794603079599E-2"/>
                      <c:h val="5.5210059485872098E-2"/>
                    </c:manualLayout>
                  </c15:layout>
                  <c15:dlblFieldTable/>
                  <c15:showDataLabelsRange val="0"/>
                </c:ext>
                <c:ext xmlns:c16="http://schemas.microsoft.com/office/drawing/2014/chart" uri="{C3380CC4-5D6E-409C-BE32-E72D297353CC}">
                  <c16:uniqueId val="{0000002E-52C2-46D0-BF31-B7B0B8A3BF47}"/>
                </c:ext>
              </c:extLst>
            </c:dLbl>
            <c:dLbl>
              <c:idx val="13"/>
              <c:layout>
                <c:manualLayout>
                  <c:x val="-6.2559688162875132E-2"/>
                  <c:y val="9.5058025281495651E-2"/>
                </c:manualLayout>
              </c:layout>
              <c:tx>
                <c:rich>
                  <a:bodyPr/>
                  <a:lstStyle/>
                  <a:p>
                    <a:fld id="{DD551CA7-DBB7-4FAD-8FAC-8BC6BD5C985D}" type="VALUE">
                      <a:rPr lang="en-US" altLang="ko-KR" smtClean="0"/>
                      <a:pPr/>
                      <a:t>[값]</a:t>
                    </a:fld>
                    <a:r>
                      <a:rPr lang="en-US" altLang="ko-KR" dirty="0" smtClean="0"/>
                      <a:t>.0</a:t>
                    </a:r>
                  </a:p>
                </c:rich>
              </c:tx>
              <c:dLblPos val="r"/>
              <c:showLegendKey val="0"/>
              <c:showVal val="1"/>
              <c:showCatName val="0"/>
              <c:showSerName val="0"/>
              <c:showPercent val="0"/>
              <c:showBubbleSize val="0"/>
              <c:extLst>
                <c:ext xmlns:c15="http://schemas.microsoft.com/office/drawing/2012/chart" uri="{CE6537A1-D6FC-4f65-9D91-7224C49458BB}">
                  <c15:layout>
                    <c:manualLayout>
                      <c:w val="6.7757946030795976E-2"/>
                      <c:h val="6.4995485447206278E-2"/>
                    </c:manualLayout>
                  </c15:layout>
                  <c15:dlblFieldTable/>
                  <c15:showDataLabelsRange val="0"/>
                </c:ext>
                <c:ext xmlns:c16="http://schemas.microsoft.com/office/drawing/2014/chart" uri="{C3380CC4-5D6E-409C-BE32-E72D297353CC}">
                  <c16:uniqueId val="{0000002D-52C2-46D0-BF31-B7B0B8A3BF47}"/>
                </c:ext>
              </c:extLst>
            </c:dLbl>
            <c:dLbl>
              <c:idx val="14"/>
              <c:layout>
                <c:manualLayout>
                  <c:x val="-4.4759393415809902E-2"/>
                  <c:y val="5.795889101338432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2C-52C2-46D0-BF31-B7B0B8A3BF47}"/>
                </c:ext>
              </c:extLst>
            </c:dLbl>
            <c:dLbl>
              <c:idx val="15"/>
              <c:layout>
                <c:manualLayout>
                  <c:x val="-3.9978693890303826E-2"/>
                  <c:y val="6.8076800509878785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2B-52C2-46D0-BF31-B7B0B8A3BF47}"/>
                </c:ext>
              </c:extLst>
            </c:dLbl>
            <c:dLbl>
              <c:idx val="16"/>
              <c:layout>
                <c:manualLayout>
                  <c:x val="-4.2369043653056729E-2"/>
                  <c:y val="5.4586254514552797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2A-52C2-46D0-BF31-B7B0B8A3BF47}"/>
                </c:ext>
              </c:extLst>
            </c:dLbl>
            <c:spPr>
              <a:solidFill>
                <a:srgbClr val="3CD0BA"/>
              </a:solidFill>
              <a:ln>
                <a:noFill/>
              </a:ln>
              <a:effectLst/>
            </c:spPr>
            <c:txPr>
              <a:bodyPr rot="0" spcFirstLastPara="1" vertOverflow="clip" horzOverflow="clip" vert="horz" wrap="square" lIns="36576" tIns="18288" rIns="36576" bIns="18288" anchor="ctr" anchorCtr="1">
                <a:spAutoFit/>
              </a:bodyPr>
              <a:lstStyle/>
              <a:p>
                <a:pPr>
                  <a:defRPr sz="1000" b="1" i="0" u="none" strike="noStrike" kern="1200" baseline="0">
                    <a:solidFill>
                      <a:schemeClr val="bg1"/>
                    </a:solidFill>
                    <a:latin typeface="나눔스퀘어" panose="020B0600000101010101" pitchFamily="50" charset="-127"/>
                    <a:ea typeface="나눔스퀘어" panose="020B0600000101010101" pitchFamily="50" charset="-127"/>
                    <a:cs typeface="+mn-cs"/>
                  </a:defRPr>
                </a:pPr>
                <a:endParaRPr lang="ko-KR"/>
              </a:p>
            </c:txPr>
            <c:dLblPos val="b"/>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oundRec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Sheet1!$A$74:$A$90</c:f>
              <c:strCache>
                <c:ptCount val="17"/>
                <c:pt idx="0">
                  <c:v>Jan-25</c:v>
                </c:pt>
                <c:pt idx="1">
                  <c:v>Feb-25</c:v>
                </c:pt>
                <c:pt idx="2">
                  <c:v>Mar-25</c:v>
                </c:pt>
                <c:pt idx="3">
                  <c:v>Apr-25</c:v>
                </c:pt>
                <c:pt idx="4">
                  <c:v>May-25</c:v>
                </c:pt>
                <c:pt idx="5">
                  <c:v>Jun-25</c:v>
                </c:pt>
                <c:pt idx="6">
                  <c:v>Jul-25</c:v>
                </c:pt>
                <c:pt idx="7">
                  <c:v>Aug-25</c:v>
                </c:pt>
                <c:pt idx="8">
                  <c:v>Sep-25</c:v>
                </c:pt>
                <c:pt idx="9">
                  <c:v>Oct-25</c:v>
                </c:pt>
                <c:pt idx="10">
                  <c:v>Nov-25</c:v>
                </c:pt>
                <c:pt idx="11">
                  <c:v>Dec-25</c:v>
                </c:pt>
                <c:pt idx="12">
                  <c:v>Jan-26</c:v>
                </c:pt>
                <c:pt idx="13">
                  <c:v>Feb-26</c:v>
                </c:pt>
                <c:pt idx="14">
                  <c:v>Mar-26</c:v>
                </c:pt>
                <c:pt idx="15">
                  <c:v>Apr-26</c:v>
                </c:pt>
                <c:pt idx="16">
                  <c:v>May-26</c:v>
                </c:pt>
              </c:strCache>
            </c:strRef>
          </c:cat>
          <c:val>
            <c:numRef>
              <c:f>Sheet1!$D$74:$D$90</c:f>
              <c:numCache>
                <c:formatCode>General</c:formatCode>
                <c:ptCount val="17"/>
                <c:pt idx="0">
                  <c:v>38.799999999999997</c:v>
                </c:pt>
                <c:pt idx="1">
                  <c:v>33.9</c:v>
                </c:pt>
                <c:pt idx="2">
                  <c:v>40.1</c:v>
                </c:pt>
                <c:pt idx="3">
                  <c:v>40.4</c:v>
                </c:pt>
                <c:pt idx="4">
                  <c:v>40.799999999999997</c:v>
                </c:pt>
                <c:pt idx="5">
                  <c:v>40.9</c:v>
                </c:pt>
                <c:pt idx="6">
                  <c:v>42.8</c:v>
                </c:pt>
                <c:pt idx="7">
                  <c:v>43.1</c:v>
                </c:pt>
                <c:pt idx="8">
                  <c:v>40.9</c:v>
                </c:pt>
                <c:pt idx="9">
                  <c:v>42.5</c:v>
                </c:pt>
                <c:pt idx="10">
                  <c:v>42.1</c:v>
                </c:pt>
                <c:pt idx="11">
                  <c:v>43</c:v>
                </c:pt>
                <c:pt idx="12">
                  <c:v>41</c:v>
                </c:pt>
                <c:pt idx="13">
                  <c:v>37</c:v>
                </c:pt>
                <c:pt idx="14">
                  <c:v>37.700000000000003</c:v>
                </c:pt>
                <c:pt idx="15">
                  <c:v>39.9</c:v>
                </c:pt>
                <c:pt idx="16">
                  <c:v>41.9</c:v>
                </c:pt>
              </c:numCache>
            </c:numRef>
          </c:val>
          <c:smooth val="0"/>
          <c:extLst>
            <c:ext xmlns:c16="http://schemas.microsoft.com/office/drawing/2014/chart" uri="{C3380CC4-5D6E-409C-BE32-E72D297353CC}">
              <c16:uniqueId val="{00000019-52C2-46D0-BF31-B7B0B8A3BF47}"/>
            </c:ext>
          </c:extLst>
        </c:ser>
        <c:dLbls>
          <c:showLegendKey val="0"/>
          <c:showVal val="0"/>
          <c:showCatName val="0"/>
          <c:showSerName val="0"/>
          <c:showPercent val="0"/>
          <c:showBubbleSize val="0"/>
        </c:dLbls>
        <c:marker val="1"/>
        <c:smooth val="0"/>
        <c:axId val="2110399376"/>
        <c:axId val="2110382512"/>
      </c:lineChart>
      <c:catAx>
        <c:axId val="2110401552"/>
        <c:scaling>
          <c:orientation val="minMax"/>
        </c:scaling>
        <c:delete val="0"/>
        <c:axPos val="b"/>
        <c:numFmt formatCode="mmm\-yy" sourceLinked="0"/>
        <c:majorTickMark val="in"/>
        <c:minorTickMark val="none"/>
        <c:tickLblPos val="nextTo"/>
        <c:spPr>
          <a:noFill/>
          <a:ln w="9525" cap="flat" cmpd="sng" algn="ctr">
            <a:solidFill>
              <a:schemeClr val="bg1">
                <a:lumMod val="75000"/>
              </a:schemeClr>
            </a:solidFill>
            <a:round/>
          </a:ln>
          <a:effectLst/>
        </c:spPr>
        <c:txPr>
          <a:bodyPr rot="0" spcFirstLastPara="1" vertOverflow="ellipsis" wrap="square" anchor="t" anchorCtr="0"/>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402096"/>
        <c:crosses val="autoZero"/>
        <c:auto val="1"/>
        <c:lblAlgn val="ctr"/>
        <c:lblOffset val="100"/>
        <c:noMultiLvlLbl val="1"/>
      </c:catAx>
      <c:valAx>
        <c:axId val="2110402096"/>
        <c:scaling>
          <c:orientation val="minMax"/>
          <c:max val="0.70000000000000007"/>
          <c:min val="0.1"/>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401552"/>
        <c:crosses val="autoZero"/>
        <c:crossBetween val="between"/>
      </c:valAx>
      <c:valAx>
        <c:axId val="2110382512"/>
        <c:scaling>
          <c:orientation val="minMax"/>
          <c:max val="50"/>
          <c:min val="30"/>
        </c:scaling>
        <c:delete val="0"/>
        <c:axPos val="r"/>
        <c:title>
          <c:tx>
            <c:rich>
              <a:bodyPr rot="0" spcFirstLastPara="1" vertOverflow="ellipsis"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dirty="0" smtClean="0"/>
                  <a:t>(</a:t>
                </a:r>
                <a:r>
                  <a:rPr lang="en-US" altLang="ko-KR" dirty="0"/>
                  <a:t>B</a:t>
                </a:r>
                <a:r>
                  <a:rPr lang="en-US" altLang="ko-KR" baseline="0" dirty="0"/>
                  <a:t> ton kilo)</a:t>
                </a:r>
                <a:endParaRPr lang="ko-KR" altLang="en-US" dirty="0"/>
              </a:p>
            </c:rich>
          </c:tx>
          <c:layout>
            <c:manualLayout>
              <c:xMode val="edge"/>
              <c:yMode val="edge"/>
              <c:x val="0.85851519754264516"/>
              <c:y val="3.2254355215636292E-2"/>
            </c:manualLayout>
          </c:layout>
          <c:overlay val="0"/>
          <c:spPr>
            <a:noFill/>
            <a:ln>
              <a:noFill/>
            </a:ln>
            <a:effectLst/>
          </c:spPr>
          <c:txPr>
            <a:bodyPr rot="0" spcFirstLastPara="1" vertOverflow="ellipsis"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399376"/>
        <c:crosses val="max"/>
        <c:crossBetween val="between"/>
        <c:majorUnit val="2"/>
      </c:valAx>
      <c:catAx>
        <c:axId val="2110399376"/>
        <c:scaling>
          <c:orientation val="minMax"/>
        </c:scaling>
        <c:delete val="1"/>
        <c:axPos val="t"/>
        <c:numFmt formatCode="General" sourceLinked="1"/>
        <c:majorTickMark val="out"/>
        <c:minorTickMark val="none"/>
        <c:tickLblPos val="nextTo"/>
        <c:crossAx val="2110382512"/>
        <c:crosses val="max"/>
        <c:auto val="1"/>
        <c:lblAlgn val="ctr"/>
        <c:lblOffset val="100"/>
        <c:noMultiLvlLbl val="1"/>
      </c:catAx>
      <c:spPr>
        <a:noFill/>
        <a:ln>
          <a:noFill/>
        </a:ln>
        <a:effectLst/>
      </c:spPr>
    </c:plotArea>
    <c:legend>
      <c:legendPos val="r"/>
      <c:layout>
        <c:manualLayout>
          <c:xMode val="edge"/>
          <c:yMode val="edge"/>
          <c:x val="0.57344208483671277"/>
          <c:y val="0.11561663479923519"/>
          <c:w val="0.36405026886729425"/>
          <c:h val="5.0181113235606555E-2"/>
        </c:manualLayout>
      </c:layout>
      <c:overlay val="0"/>
      <c:spPr>
        <a:solidFill>
          <a:schemeClr val="bg1"/>
        </a:solid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legend>
    <c:plotVisOnly val="1"/>
    <c:dispBlanksAs val="gap"/>
    <c:showDLblsOverMax val="0"/>
  </c:chart>
  <c:spPr>
    <a:noFill/>
    <a:ln>
      <a:noFill/>
    </a:ln>
    <a:effectLst/>
  </c:spPr>
  <c:txPr>
    <a:bodyPr/>
    <a:lstStyle/>
    <a:p>
      <a:pPr>
        <a:defRPr sz="1000" baseline="0">
          <a:latin typeface="나눔스퀘어" panose="020B0600000101010101" pitchFamily="50" charset="-127"/>
          <a:ea typeface="나눔스퀘어" panose="020B0600000101010101" pitchFamily="50" charset="-127"/>
        </a:defRPr>
      </a:pPr>
      <a:endParaRPr lang="ko-KR"/>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b="1" dirty="0" smtClean="0"/>
              <a:t>[Latest 5-year BAI</a:t>
            </a:r>
            <a:r>
              <a:rPr lang="en-US" altLang="ko-KR" sz="1200" b="1" i="0" u="none" strike="noStrike" baseline="0" dirty="0" smtClean="0">
                <a:effectLst/>
              </a:rPr>
              <a:t>00 Trend</a:t>
            </a:r>
            <a:r>
              <a:rPr lang="en-US" altLang="ko-KR" b="1" dirty="0" smtClean="0"/>
              <a:t>]</a:t>
            </a:r>
            <a:endParaRPr lang="ko-KR" altLang="en-US" b="1" dirty="0"/>
          </a:p>
        </c:rich>
      </c:tx>
      <c:layout>
        <c:manualLayout>
          <c:xMode val="edge"/>
          <c:yMode val="edge"/>
          <c:x val="0.31511366480705866"/>
          <c:y val="7.0093944021930761E-3"/>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autoTitleDeleted val="0"/>
    <c:plotArea>
      <c:layout>
        <c:manualLayout>
          <c:layoutTarget val="inner"/>
          <c:xMode val="edge"/>
          <c:yMode val="edge"/>
          <c:x val="9.9369754486837061E-2"/>
          <c:y val="0.16461248024273628"/>
          <c:w val="0.79462052696295582"/>
          <c:h val="0.76454969441920984"/>
        </c:manualLayout>
      </c:layout>
      <c:barChart>
        <c:barDir val="col"/>
        <c:grouping val="clustered"/>
        <c:varyColors val="0"/>
        <c:ser>
          <c:idx val="0"/>
          <c:order val="0"/>
          <c:tx>
            <c:strRef>
              <c:f>Sheet1!$B$1</c:f>
              <c:strCache>
                <c:ptCount val="1"/>
                <c:pt idx="0">
                  <c:v>BAI00</c:v>
                </c:pt>
              </c:strCache>
            </c:strRef>
          </c:tx>
          <c:spPr>
            <a:solidFill>
              <a:srgbClr val="002B5C"/>
            </a:solidFill>
            <a:ln>
              <a:noFill/>
            </a:ln>
            <a:effectLst/>
          </c:spPr>
          <c:invertIfNegative val="0"/>
          <c:dLbls>
            <c:delete val="1"/>
          </c:dLbls>
          <c:cat>
            <c:strRef>
              <c:f>Sheet1!$A$2:$A$7</c:f>
              <c:strCache>
                <c:ptCount val="6"/>
                <c:pt idx="0">
                  <c:v>2021</c:v>
                </c:pt>
                <c:pt idx="1">
                  <c:v>2022</c:v>
                </c:pt>
                <c:pt idx="2">
                  <c:v>2023</c:v>
                </c:pt>
                <c:pt idx="3">
                  <c:v>2024</c:v>
                </c:pt>
                <c:pt idx="4">
                  <c:v>2025</c:v>
                </c:pt>
                <c:pt idx="5">
                  <c:v>2026
(~June)</c:v>
                </c:pt>
              </c:strCache>
            </c:strRef>
          </c:cat>
          <c:val>
            <c:numRef>
              <c:f>Sheet1!$B$2:$B$7</c:f>
              <c:numCache>
                <c:formatCode>_(* #,##0_);_(* \(#,##0\);_(* "-"_);_(@_)</c:formatCode>
                <c:ptCount val="6"/>
                <c:pt idx="0">
                  <c:v>3473.0576923076924</c:v>
                </c:pt>
                <c:pt idx="1">
                  <c:v>3586.4423076923076</c:v>
                </c:pt>
                <c:pt idx="2">
                  <c:v>2225.4901960784314</c:v>
                </c:pt>
                <c:pt idx="3">
                  <c:v>2130.9615384615386</c:v>
                </c:pt>
                <c:pt idx="4">
                  <c:v>2132</c:v>
                </c:pt>
                <c:pt idx="5">
                  <c:v>2390</c:v>
                </c:pt>
              </c:numCache>
            </c:numRef>
          </c:val>
          <c:extLst>
            <c:ext xmlns:c16="http://schemas.microsoft.com/office/drawing/2014/chart" uri="{C3380CC4-5D6E-409C-BE32-E72D297353CC}">
              <c16:uniqueId val="{00000000-FB08-40A7-A2CF-47B1CEB7DA70}"/>
            </c:ext>
          </c:extLst>
        </c:ser>
        <c:dLbls>
          <c:showLegendKey val="0"/>
          <c:showVal val="1"/>
          <c:showCatName val="0"/>
          <c:showSerName val="0"/>
          <c:showPercent val="0"/>
          <c:showBubbleSize val="0"/>
        </c:dLbls>
        <c:gapWidth val="219"/>
        <c:overlap val="-27"/>
        <c:axId val="2110380880"/>
        <c:axId val="2110383056"/>
      </c:barChart>
      <c:lineChart>
        <c:grouping val="standard"/>
        <c:varyColors val="0"/>
        <c:ser>
          <c:idx val="1"/>
          <c:order val="1"/>
          <c:tx>
            <c:strRef>
              <c:f>Sheet1!$C$1</c:f>
              <c:strCache>
                <c:ptCount val="1"/>
                <c:pt idx="0">
                  <c:v>YoY(Right)</c:v>
                </c:pt>
              </c:strCache>
            </c:strRef>
          </c:tx>
          <c:spPr>
            <a:ln w="28575" cap="rnd">
              <a:solidFill>
                <a:srgbClr val="04C3A6"/>
              </a:solidFill>
              <a:round/>
            </a:ln>
            <a:effectLst/>
          </c:spPr>
          <c:marker>
            <c:symbol val="circle"/>
            <c:size val="5"/>
            <c:spPr>
              <a:solidFill>
                <a:schemeClr val="bg1"/>
              </a:solidFill>
              <a:ln w="9525">
                <a:solidFill>
                  <a:srgbClr val="04C3A6"/>
                </a:solidFill>
              </a:ln>
              <a:effectLst/>
            </c:spPr>
          </c:marker>
          <c:dLbls>
            <c:dLbl>
              <c:idx val="0"/>
              <c:layout>
                <c:manualLayout>
                  <c:x val="-5.4195696176649093E-2"/>
                  <c:y val="-4.2972101045868509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FB08-40A7-A2CF-47B1CEB7DA70}"/>
                </c:ext>
              </c:extLst>
            </c:dLbl>
            <c:spPr>
              <a:solidFill>
                <a:srgbClr val="3CD0BA"/>
              </a:solidFill>
              <a:ln>
                <a:noFill/>
              </a:ln>
              <a:effectLst/>
            </c:spPr>
            <c:txPr>
              <a:bodyPr rot="0" spcFirstLastPara="1" vertOverflow="clip" horzOverflow="clip" vert="horz" wrap="square" lIns="36576" tIns="18288" rIns="36576" bIns="18288" anchor="ctr" anchorCtr="1">
                <a:spAutoFit/>
              </a:bodyPr>
              <a:lstStyle/>
              <a:p>
                <a:pPr>
                  <a:defRPr sz="1000" b="1" i="0" u="none" strike="noStrike" kern="1200" baseline="0">
                    <a:solidFill>
                      <a:schemeClr val="bg1"/>
                    </a:solidFill>
                    <a:latin typeface="나눔스퀘어" panose="020B0600000101010101" pitchFamily="50" charset="-127"/>
                    <a:ea typeface="나눔스퀘어" panose="020B0600000101010101" pitchFamily="50" charset="-127"/>
                    <a:cs typeface="+mn-cs"/>
                  </a:defRPr>
                </a:pPr>
                <a:endParaRPr lang="ko-KR"/>
              </a:p>
            </c:txPr>
            <c:dLblPos val="b"/>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oundRect">
                    <a:avLst/>
                  </a:prstGeom>
                  <a:noFill/>
                  <a:ln>
                    <a:noFill/>
                  </a:ln>
                </c15:spPr>
                <c15:layout/>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2021</c:v>
                </c:pt>
                <c:pt idx="1">
                  <c:v>2022</c:v>
                </c:pt>
                <c:pt idx="2">
                  <c:v>2023</c:v>
                </c:pt>
                <c:pt idx="3">
                  <c:v>2024</c:v>
                </c:pt>
                <c:pt idx="4">
                  <c:v>2025</c:v>
                </c:pt>
                <c:pt idx="5">
                  <c:v>2026
(~June)</c:v>
                </c:pt>
              </c:strCache>
            </c:strRef>
          </c:cat>
          <c:val>
            <c:numRef>
              <c:f>Sheet1!$C$2:$C$7</c:f>
              <c:numCache>
                <c:formatCode>0.0%</c:formatCode>
                <c:ptCount val="6"/>
                <c:pt idx="0">
                  <c:v>0.35814250799022362</c:v>
                </c:pt>
                <c:pt idx="1">
                  <c:v>3.2646913881029249E-2</c:v>
                </c:pt>
                <c:pt idx="2">
                  <c:v>-0.37947135206799953</c:v>
                </c:pt>
                <c:pt idx="3">
                  <c:v>-4.2475432056929829E-2</c:v>
                </c:pt>
                <c:pt idx="4">
                  <c:v>4.873206389315321E-4</c:v>
                </c:pt>
                <c:pt idx="5">
                  <c:v>0.12101313320825513</c:v>
                </c:pt>
              </c:numCache>
            </c:numRef>
          </c:val>
          <c:smooth val="0"/>
          <c:extLst>
            <c:ext xmlns:c16="http://schemas.microsoft.com/office/drawing/2014/chart" uri="{C3380CC4-5D6E-409C-BE32-E72D297353CC}">
              <c16:uniqueId val="{00000002-FB08-40A7-A2CF-47B1CEB7DA70}"/>
            </c:ext>
          </c:extLst>
        </c:ser>
        <c:dLbls>
          <c:showLegendKey val="0"/>
          <c:showVal val="1"/>
          <c:showCatName val="0"/>
          <c:showSerName val="0"/>
          <c:showPercent val="0"/>
          <c:showBubbleSize val="0"/>
        </c:dLbls>
        <c:marker val="1"/>
        <c:smooth val="0"/>
        <c:axId val="2110384144"/>
        <c:axId val="2110390128"/>
      </c:lineChart>
      <c:catAx>
        <c:axId val="21103808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383056"/>
        <c:crosses val="autoZero"/>
        <c:auto val="1"/>
        <c:lblAlgn val="ctr"/>
        <c:lblOffset val="100"/>
        <c:noMultiLvlLbl val="0"/>
      </c:catAx>
      <c:valAx>
        <c:axId val="2110383056"/>
        <c:scaling>
          <c:orientation val="minMax"/>
          <c:max val="4000"/>
          <c:min val="0"/>
        </c:scaling>
        <c:delete val="0"/>
        <c:axPos val="l"/>
        <c:majorGridlines>
          <c:spPr>
            <a:ln w="6350" cap="flat" cmpd="sng" algn="ctr">
              <a:solidFill>
                <a:schemeClr val="tx1">
                  <a:lumMod val="15000"/>
                  <a:lumOff val="85000"/>
                </a:schemeClr>
              </a:solidFill>
              <a:prstDash val="sysDot"/>
              <a:round/>
            </a:ln>
            <a:effectLst/>
          </c:spPr>
        </c:majorGridlines>
        <c:numFmt formatCode="#,##0_ ;[Red]\-#,##0\ "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380880"/>
        <c:crosses val="autoZero"/>
        <c:crossBetween val="between"/>
      </c:valAx>
      <c:valAx>
        <c:axId val="2110390128"/>
        <c:scaling>
          <c:orientation val="minMax"/>
          <c:max val="1"/>
          <c:min val="-0.8"/>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384144"/>
        <c:crosses val="max"/>
        <c:crossBetween val="between"/>
        <c:minorUnit val="0.30000000000000004"/>
      </c:valAx>
      <c:catAx>
        <c:axId val="2110384144"/>
        <c:scaling>
          <c:orientation val="minMax"/>
        </c:scaling>
        <c:delete val="1"/>
        <c:axPos val="b"/>
        <c:numFmt formatCode="General" sourceLinked="1"/>
        <c:majorTickMark val="out"/>
        <c:minorTickMark val="none"/>
        <c:tickLblPos val="nextTo"/>
        <c:crossAx val="2110390128"/>
        <c:crosses val="autoZero"/>
        <c:auto val="1"/>
        <c:lblAlgn val="ctr"/>
        <c:lblOffset val="100"/>
        <c:noMultiLvlLbl val="0"/>
      </c:catAx>
      <c:spPr>
        <a:noFill/>
        <a:ln>
          <a:noFill/>
        </a:ln>
        <a:effectLst/>
      </c:spPr>
    </c:plotArea>
    <c:legend>
      <c:legendPos val="t"/>
      <c:layout>
        <c:manualLayout>
          <c:xMode val="edge"/>
          <c:yMode val="edge"/>
          <c:x val="0.5901762078654238"/>
          <c:y val="8.5182812367473631E-2"/>
          <c:w val="0.38990575540863165"/>
          <c:h val="5.7966998234848861E-2"/>
        </c:manualLayout>
      </c:layout>
      <c:overlay val="1"/>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legend>
    <c:plotVisOnly val="1"/>
    <c:dispBlanksAs val="gap"/>
    <c:showDLblsOverMax val="0"/>
  </c:chart>
  <c:spPr>
    <a:noFill/>
    <a:ln>
      <a:noFill/>
    </a:ln>
    <a:effectLst/>
  </c:spPr>
  <c:txPr>
    <a:bodyPr/>
    <a:lstStyle/>
    <a:p>
      <a:pPr>
        <a:defRPr sz="1000">
          <a:latin typeface="나눔스퀘어" panose="020B0600000101010101" pitchFamily="50" charset="-127"/>
          <a:ea typeface="나눔스퀘어" panose="020B0600000101010101" pitchFamily="50" charset="-127"/>
        </a:defRPr>
      </a:pPr>
      <a:endParaRPr lang="ko-KR"/>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b="1" dirty="0" smtClean="0"/>
              <a:t>['26</a:t>
            </a:r>
            <a:r>
              <a:rPr lang="ko-KR" altLang="en-US" b="1" baseline="0" dirty="0" smtClean="0"/>
              <a:t> </a:t>
            </a:r>
            <a:r>
              <a:rPr lang="en-US" altLang="ko-KR" b="1" dirty="0" smtClean="0"/>
              <a:t>TAC</a:t>
            </a:r>
            <a:r>
              <a:rPr lang="en-US" altLang="ko-KR" b="1" baseline="0" dirty="0" smtClean="0"/>
              <a:t> Index Trend at Key Routes]</a:t>
            </a:r>
            <a:endParaRPr lang="ko-KR" altLang="en-US" b="1" dirty="0"/>
          </a:p>
        </c:rich>
      </c:tx>
      <c:layout>
        <c:manualLayout>
          <c:xMode val="edge"/>
          <c:yMode val="edge"/>
          <c:x val="0.3038322571331929"/>
          <c:y val="3.9804359542016331E-4"/>
        </c:manualLayout>
      </c:layout>
      <c:overlay val="0"/>
      <c:spPr>
        <a:noFill/>
        <a:ln>
          <a:noFill/>
        </a:ln>
        <a:effectLst/>
      </c:spPr>
    </c:title>
    <c:autoTitleDeleted val="0"/>
    <c:plotArea>
      <c:layout>
        <c:manualLayout>
          <c:layoutTarget val="inner"/>
          <c:xMode val="edge"/>
          <c:yMode val="edge"/>
          <c:x val="9.4656875505961885E-2"/>
          <c:y val="0.16402213914416058"/>
          <c:w val="0.8770959091282714"/>
          <c:h val="0.6963866627979266"/>
        </c:manualLayout>
      </c:layout>
      <c:lineChart>
        <c:grouping val="standard"/>
        <c:varyColors val="0"/>
        <c:ser>
          <c:idx val="4"/>
          <c:order val="3"/>
          <c:tx>
            <c:strRef>
              <c:f>Sheet1!$D$1</c:f>
              <c:strCache>
                <c:ptCount val="1"/>
                <c:pt idx="0">
                  <c:v>HK-EU</c:v>
                </c:pt>
              </c:strCache>
            </c:strRef>
          </c:tx>
          <c:spPr>
            <a:ln w="28575">
              <a:solidFill>
                <a:srgbClr val="002B5C"/>
              </a:solidFill>
            </a:ln>
          </c:spPr>
          <c:marker>
            <c:symbol val="none"/>
          </c:marker>
          <c:cat>
            <c:multiLvlStrRef>
              <c:f>Sheet1!$A$2:$B$27</c:f>
              <c:multiLvlStrCache>
                <c:ptCount val="26"/>
                <c:lvl>
                  <c:pt idx="0">
                    <c:v>W2</c:v>
                  </c:pt>
                  <c:pt idx="1">
                    <c:v>W3</c:v>
                  </c:pt>
                  <c:pt idx="2">
                    <c:v>W4</c:v>
                  </c:pt>
                  <c:pt idx="3">
                    <c:v>W5</c:v>
                  </c:pt>
                  <c:pt idx="4">
                    <c:v>W6</c:v>
                  </c:pt>
                  <c:pt idx="5">
                    <c:v>W7</c:v>
                  </c:pt>
                  <c:pt idx="6">
                    <c:v>W8</c:v>
                  </c:pt>
                  <c:pt idx="7">
                    <c:v>W9</c:v>
                  </c:pt>
                  <c:pt idx="8">
                    <c:v>W10</c:v>
                  </c:pt>
                  <c:pt idx="9">
                    <c:v>W11</c:v>
                  </c:pt>
                  <c:pt idx="10">
                    <c:v>W12</c:v>
                  </c:pt>
                  <c:pt idx="11">
                    <c:v>W13</c:v>
                  </c:pt>
                  <c:pt idx="12">
                    <c:v>W14</c:v>
                  </c:pt>
                  <c:pt idx="13">
                    <c:v>W15</c:v>
                  </c:pt>
                  <c:pt idx="14">
                    <c:v>W16</c:v>
                  </c:pt>
                  <c:pt idx="15">
                    <c:v>W17</c:v>
                  </c:pt>
                  <c:pt idx="16">
                    <c:v>W18</c:v>
                  </c:pt>
                  <c:pt idx="17">
                    <c:v>W19</c:v>
                  </c:pt>
                  <c:pt idx="18">
                    <c:v>W20</c:v>
                  </c:pt>
                  <c:pt idx="19">
                    <c:v>W21</c:v>
                  </c:pt>
                  <c:pt idx="20">
                    <c:v>W22</c:v>
                  </c:pt>
                  <c:pt idx="21">
                    <c:v>W23</c:v>
                  </c:pt>
                  <c:pt idx="22">
                    <c:v>W24</c:v>
                  </c:pt>
                  <c:pt idx="23">
                    <c:v>W25</c:v>
                  </c:pt>
                  <c:pt idx="24">
                    <c:v>W26</c:v>
                  </c:pt>
                  <c:pt idx="25">
                    <c:v>W27</c:v>
                  </c:pt>
                </c:lvl>
                <c:lvl>
                  <c:pt idx="0">
                    <c:v>2026</c:v>
                  </c:pt>
                </c:lvl>
              </c:multiLvlStrCache>
            </c:multiLvlStrRef>
          </c:cat>
          <c:val>
            <c:numRef>
              <c:f>Sheet1!$D$2:$D$27</c:f>
              <c:numCache>
                <c:formatCode>0.00</c:formatCode>
                <c:ptCount val="26"/>
                <c:pt idx="0">
                  <c:v>4.6425000000000001</c:v>
                </c:pt>
                <c:pt idx="1">
                  <c:v>4.4400000000000004</c:v>
                </c:pt>
                <c:pt idx="2">
                  <c:v>4.5025000000000004</c:v>
                </c:pt>
                <c:pt idx="3">
                  <c:v>4.4325000000000001</c:v>
                </c:pt>
                <c:pt idx="4">
                  <c:v>4.5650000000000004</c:v>
                </c:pt>
                <c:pt idx="5">
                  <c:v>4.5350000000000001</c:v>
                </c:pt>
                <c:pt idx="6">
                  <c:v>4.4800000000000004</c:v>
                </c:pt>
                <c:pt idx="7">
                  <c:v>4.45</c:v>
                </c:pt>
                <c:pt idx="8">
                  <c:v>4.3775000000000004</c:v>
                </c:pt>
                <c:pt idx="9">
                  <c:v>4.7200000000000006</c:v>
                </c:pt>
                <c:pt idx="10">
                  <c:v>4.9050000000000002</c:v>
                </c:pt>
                <c:pt idx="11">
                  <c:v>5.1150000000000002</c:v>
                </c:pt>
                <c:pt idx="12">
                  <c:v>5.7450000000000001</c:v>
                </c:pt>
                <c:pt idx="13">
                  <c:v>5.8125</c:v>
                </c:pt>
                <c:pt idx="14">
                  <c:v>6.0374999999999996</c:v>
                </c:pt>
                <c:pt idx="15">
                  <c:v>5.9924999999999997</c:v>
                </c:pt>
                <c:pt idx="16">
                  <c:v>5.9124999999999996</c:v>
                </c:pt>
                <c:pt idx="17">
                  <c:v>5.9175000000000004</c:v>
                </c:pt>
                <c:pt idx="18">
                  <c:v>5.8624999999999998</c:v>
                </c:pt>
                <c:pt idx="19">
                  <c:v>5.8724999999999996</c:v>
                </c:pt>
                <c:pt idx="20">
                  <c:v>5.6025</c:v>
                </c:pt>
                <c:pt idx="21">
                  <c:v>5.7675000000000001</c:v>
                </c:pt>
                <c:pt idx="22">
                  <c:v>5.375</c:v>
                </c:pt>
                <c:pt idx="23">
                  <c:v>5.5650000000000004</c:v>
                </c:pt>
                <c:pt idx="24">
                  <c:v>5.4924999999999997</c:v>
                </c:pt>
                <c:pt idx="25">
                  <c:v>5.2750000000000004</c:v>
                </c:pt>
              </c:numCache>
            </c:numRef>
          </c:val>
          <c:smooth val="0"/>
          <c:extLst>
            <c:ext xmlns:c16="http://schemas.microsoft.com/office/drawing/2014/chart" uri="{C3380CC4-5D6E-409C-BE32-E72D297353CC}">
              <c16:uniqueId val="{00000001-9447-4038-A272-AAD83D735C7C}"/>
            </c:ext>
          </c:extLst>
        </c:ser>
        <c:ser>
          <c:idx val="3"/>
          <c:order val="2"/>
          <c:tx>
            <c:strRef>
              <c:f>Sheet1!$C$1</c:f>
              <c:strCache>
                <c:ptCount val="1"/>
                <c:pt idx="0">
                  <c:v>HK-US</c:v>
                </c:pt>
              </c:strCache>
            </c:strRef>
          </c:tx>
          <c:spPr>
            <a:ln w="28575">
              <a:solidFill>
                <a:srgbClr val="3CD0BA"/>
              </a:solidFill>
            </a:ln>
          </c:spPr>
          <c:marker>
            <c:symbol val="none"/>
          </c:marker>
          <c:cat>
            <c:multiLvlStrRef>
              <c:f>Sheet1!$A$2:$B$27</c:f>
              <c:multiLvlStrCache>
                <c:ptCount val="26"/>
                <c:lvl>
                  <c:pt idx="0">
                    <c:v>W2</c:v>
                  </c:pt>
                  <c:pt idx="1">
                    <c:v>W3</c:v>
                  </c:pt>
                  <c:pt idx="2">
                    <c:v>W4</c:v>
                  </c:pt>
                  <c:pt idx="3">
                    <c:v>W5</c:v>
                  </c:pt>
                  <c:pt idx="4">
                    <c:v>W6</c:v>
                  </c:pt>
                  <c:pt idx="5">
                    <c:v>W7</c:v>
                  </c:pt>
                  <c:pt idx="6">
                    <c:v>W8</c:v>
                  </c:pt>
                  <c:pt idx="7">
                    <c:v>W9</c:v>
                  </c:pt>
                  <c:pt idx="8">
                    <c:v>W10</c:v>
                  </c:pt>
                  <c:pt idx="9">
                    <c:v>W11</c:v>
                  </c:pt>
                  <c:pt idx="10">
                    <c:v>W12</c:v>
                  </c:pt>
                  <c:pt idx="11">
                    <c:v>W13</c:v>
                  </c:pt>
                  <c:pt idx="12">
                    <c:v>W14</c:v>
                  </c:pt>
                  <c:pt idx="13">
                    <c:v>W15</c:v>
                  </c:pt>
                  <c:pt idx="14">
                    <c:v>W16</c:v>
                  </c:pt>
                  <c:pt idx="15">
                    <c:v>W17</c:v>
                  </c:pt>
                  <c:pt idx="16">
                    <c:v>W18</c:v>
                  </c:pt>
                  <c:pt idx="17">
                    <c:v>W19</c:v>
                  </c:pt>
                  <c:pt idx="18">
                    <c:v>W20</c:v>
                  </c:pt>
                  <c:pt idx="19">
                    <c:v>W21</c:v>
                  </c:pt>
                  <c:pt idx="20">
                    <c:v>W22</c:v>
                  </c:pt>
                  <c:pt idx="21">
                    <c:v>W23</c:v>
                  </c:pt>
                  <c:pt idx="22">
                    <c:v>W24</c:v>
                  </c:pt>
                  <c:pt idx="23">
                    <c:v>W25</c:v>
                  </c:pt>
                  <c:pt idx="24">
                    <c:v>W26</c:v>
                  </c:pt>
                  <c:pt idx="25">
                    <c:v>W27</c:v>
                  </c:pt>
                </c:lvl>
                <c:lvl>
                  <c:pt idx="0">
                    <c:v>2026</c:v>
                  </c:pt>
                </c:lvl>
              </c:multiLvlStrCache>
            </c:multiLvlStrRef>
          </c:cat>
          <c:val>
            <c:numRef>
              <c:f>Sheet1!$C$2:$C$27</c:f>
              <c:numCache>
                <c:formatCode>0.00</c:formatCode>
                <c:ptCount val="26"/>
                <c:pt idx="0">
                  <c:v>5.6366666666666667</c:v>
                </c:pt>
                <c:pt idx="1">
                  <c:v>5.7066666666666661</c:v>
                </c:pt>
                <c:pt idx="2">
                  <c:v>5.5233333333333334</c:v>
                </c:pt>
                <c:pt idx="3">
                  <c:v>5.3033333333333328</c:v>
                </c:pt>
                <c:pt idx="4">
                  <c:v>5.4866666666666672</c:v>
                </c:pt>
                <c:pt idx="5">
                  <c:v>5.32</c:v>
                </c:pt>
                <c:pt idx="6">
                  <c:v>5.2533333333333339</c:v>
                </c:pt>
                <c:pt idx="7">
                  <c:v>4.84</c:v>
                </c:pt>
                <c:pt idx="8">
                  <c:v>4.6399999999999997</c:v>
                </c:pt>
                <c:pt idx="9">
                  <c:v>4.9866666666666672</c:v>
                </c:pt>
                <c:pt idx="10">
                  <c:v>5.0866666666666669</c:v>
                </c:pt>
                <c:pt idx="11">
                  <c:v>5.1433333333333344</c:v>
                </c:pt>
                <c:pt idx="12">
                  <c:v>5.626666666666666</c:v>
                </c:pt>
                <c:pt idx="13">
                  <c:v>6.2333333333333334</c:v>
                </c:pt>
                <c:pt idx="14">
                  <c:v>6.29</c:v>
                </c:pt>
                <c:pt idx="15">
                  <c:v>6.7566666666666668</c:v>
                </c:pt>
                <c:pt idx="16">
                  <c:v>7.36</c:v>
                </c:pt>
                <c:pt idx="17">
                  <c:v>7.2366666666666672</c:v>
                </c:pt>
                <c:pt idx="18">
                  <c:v>7.253333333333333</c:v>
                </c:pt>
                <c:pt idx="19">
                  <c:v>7.0866666666666669</c:v>
                </c:pt>
                <c:pt idx="20">
                  <c:v>7.0666666666666664</c:v>
                </c:pt>
                <c:pt idx="21">
                  <c:v>7.3866666666666667</c:v>
                </c:pt>
                <c:pt idx="22">
                  <c:v>7.4600000000000009</c:v>
                </c:pt>
                <c:pt idx="23">
                  <c:v>7.5</c:v>
                </c:pt>
                <c:pt idx="24">
                  <c:v>7.3866666666666667</c:v>
                </c:pt>
                <c:pt idx="25">
                  <c:v>6.8133333333333326</c:v>
                </c:pt>
              </c:numCache>
            </c:numRef>
          </c:val>
          <c:smooth val="0"/>
          <c:extLst>
            <c:ext xmlns:c16="http://schemas.microsoft.com/office/drawing/2014/chart" uri="{C3380CC4-5D6E-409C-BE32-E72D297353CC}">
              <c16:uniqueId val="{00000002-9447-4038-A272-AAD83D735C7C}"/>
            </c:ext>
          </c:extLst>
        </c:ser>
        <c:ser>
          <c:idx val="5"/>
          <c:order val="4"/>
          <c:tx>
            <c:strRef>
              <c:f>Sheet1!$E$1</c:f>
              <c:strCache>
                <c:ptCount val="1"/>
                <c:pt idx="0">
                  <c:v>CN-US</c:v>
                </c:pt>
              </c:strCache>
            </c:strRef>
          </c:tx>
          <c:spPr>
            <a:ln w="28575">
              <a:solidFill>
                <a:srgbClr val="0000FF"/>
              </a:solidFill>
            </a:ln>
          </c:spPr>
          <c:marker>
            <c:symbol val="none"/>
          </c:marker>
          <c:cat>
            <c:multiLvlStrRef>
              <c:f>Sheet1!$A$2:$B$27</c:f>
              <c:multiLvlStrCache>
                <c:ptCount val="26"/>
                <c:lvl>
                  <c:pt idx="0">
                    <c:v>W2</c:v>
                  </c:pt>
                  <c:pt idx="1">
                    <c:v>W3</c:v>
                  </c:pt>
                  <c:pt idx="2">
                    <c:v>W4</c:v>
                  </c:pt>
                  <c:pt idx="3">
                    <c:v>W5</c:v>
                  </c:pt>
                  <c:pt idx="4">
                    <c:v>W6</c:v>
                  </c:pt>
                  <c:pt idx="5">
                    <c:v>W7</c:v>
                  </c:pt>
                  <c:pt idx="6">
                    <c:v>W8</c:v>
                  </c:pt>
                  <c:pt idx="7">
                    <c:v>W9</c:v>
                  </c:pt>
                  <c:pt idx="8">
                    <c:v>W10</c:v>
                  </c:pt>
                  <c:pt idx="9">
                    <c:v>W11</c:v>
                  </c:pt>
                  <c:pt idx="10">
                    <c:v>W12</c:v>
                  </c:pt>
                  <c:pt idx="11">
                    <c:v>W13</c:v>
                  </c:pt>
                  <c:pt idx="12">
                    <c:v>W14</c:v>
                  </c:pt>
                  <c:pt idx="13">
                    <c:v>W15</c:v>
                  </c:pt>
                  <c:pt idx="14">
                    <c:v>W16</c:v>
                  </c:pt>
                  <c:pt idx="15">
                    <c:v>W17</c:v>
                  </c:pt>
                  <c:pt idx="16">
                    <c:v>W18</c:v>
                  </c:pt>
                  <c:pt idx="17">
                    <c:v>W19</c:v>
                  </c:pt>
                  <c:pt idx="18">
                    <c:v>W20</c:v>
                  </c:pt>
                  <c:pt idx="19">
                    <c:v>W21</c:v>
                  </c:pt>
                  <c:pt idx="20">
                    <c:v>W22</c:v>
                  </c:pt>
                  <c:pt idx="21">
                    <c:v>W23</c:v>
                  </c:pt>
                  <c:pt idx="22">
                    <c:v>W24</c:v>
                  </c:pt>
                  <c:pt idx="23">
                    <c:v>W25</c:v>
                  </c:pt>
                  <c:pt idx="24">
                    <c:v>W26</c:v>
                  </c:pt>
                  <c:pt idx="25">
                    <c:v>W27</c:v>
                  </c:pt>
                </c:lvl>
                <c:lvl>
                  <c:pt idx="0">
                    <c:v>2026</c:v>
                  </c:pt>
                </c:lvl>
              </c:multiLvlStrCache>
            </c:multiLvlStrRef>
          </c:cat>
          <c:val>
            <c:numRef>
              <c:f>Sheet1!$E$2:$E$27</c:f>
              <c:numCache>
                <c:formatCode>0.00</c:formatCode>
                <c:ptCount val="26"/>
                <c:pt idx="0">
                  <c:v>5.3066666666666658</c:v>
                </c:pt>
                <c:pt idx="1">
                  <c:v>5.4533333333333331</c:v>
                </c:pt>
                <c:pt idx="2">
                  <c:v>5.1566666666666663</c:v>
                </c:pt>
                <c:pt idx="3">
                  <c:v>5.0466666666666669</c:v>
                </c:pt>
                <c:pt idx="4">
                  <c:v>5.1400000000000006</c:v>
                </c:pt>
                <c:pt idx="5">
                  <c:v>5.2166666666666659</c:v>
                </c:pt>
                <c:pt idx="6">
                  <c:v>5.3066666666666658</c:v>
                </c:pt>
                <c:pt idx="7">
                  <c:v>5.1800000000000006</c:v>
                </c:pt>
                <c:pt idx="8">
                  <c:v>4.9833333333333334</c:v>
                </c:pt>
                <c:pt idx="9">
                  <c:v>4.42</c:v>
                </c:pt>
                <c:pt idx="10">
                  <c:v>5.0166666666666666</c:v>
                </c:pt>
                <c:pt idx="11">
                  <c:v>5.2566666666666668</c:v>
                </c:pt>
                <c:pt idx="12">
                  <c:v>6.0766666666666671</c:v>
                </c:pt>
                <c:pt idx="13">
                  <c:v>6.5533333333333337</c:v>
                </c:pt>
                <c:pt idx="14">
                  <c:v>6.169999999999999</c:v>
                </c:pt>
                <c:pt idx="15">
                  <c:v>6.48</c:v>
                </c:pt>
                <c:pt idx="16">
                  <c:v>6.543333333333333</c:v>
                </c:pt>
                <c:pt idx="17">
                  <c:v>6.836666666666666</c:v>
                </c:pt>
                <c:pt idx="18">
                  <c:v>6.6499999999999986</c:v>
                </c:pt>
                <c:pt idx="19">
                  <c:v>6.3966666666666674</c:v>
                </c:pt>
                <c:pt idx="20">
                  <c:v>6.5133333333333328</c:v>
                </c:pt>
                <c:pt idx="21">
                  <c:v>6.5166666666666666</c:v>
                </c:pt>
                <c:pt idx="22">
                  <c:v>7.1766666666666667</c:v>
                </c:pt>
                <c:pt idx="23">
                  <c:v>7.03</c:v>
                </c:pt>
                <c:pt idx="24">
                  <c:v>6.8166666666666664</c:v>
                </c:pt>
                <c:pt idx="25">
                  <c:v>6.9766666666666666</c:v>
                </c:pt>
              </c:numCache>
            </c:numRef>
          </c:val>
          <c:smooth val="0"/>
          <c:extLst>
            <c:ext xmlns:c16="http://schemas.microsoft.com/office/drawing/2014/chart" uri="{C3380CC4-5D6E-409C-BE32-E72D297353CC}">
              <c16:uniqueId val="{00000003-9447-4038-A272-AAD83D735C7C}"/>
            </c:ext>
          </c:extLst>
        </c:ser>
        <c:ser>
          <c:idx val="6"/>
          <c:order val="5"/>
          <c:tx>
            <c:strRef>
              <c:f>Sheet1!$F$1</c:f>
              <c:strCache>
                <c:ptCount val="1"/>
                <c:pt idx="0">
                  <c:v>CN-EU</c:v>
                </c:pt>
              </c:strCache>
              <c:extLst xmlns:c15="http://schemas.microsoft.com/office/drawing/2012/chart"/>
            </c:strRef>
          </c:tx>
          <c:spPr>
            <a:ln w="28575">
              <a:solidFill>
                <a:srgbClr val="9B8146"/>
              </a:solidFill>
            </a:ln>
          </c:spPr>
          <c:marker>
            <c:symbol val="none"/>
          </c:marker>
          <c:cat>
            <c:multiLvlStrRef>
              <c:f>Sheet1!$A$2:$B$27</c:f>
              <c:multiLvlStrCache>
                <c:ptCount val="26"/>
                <c:lvl>
                  <c:pt idx="0">
                    <c:v>W2</c:v>
                  </c:pt>
                  <c:pt idx="1">
                    <c:v>W3</c:v>
                  </c:pt>
                  <c:pt idx="2">
                    <c:v>W4</c:v>
                  </c:pt>
                  <c:pt idx="3">
                    <c:v>W5</c:v>
                  </c:pt>
                  <c:pt idx="4">
                    <c:v>W6</c:v>
                  </c:pt>
                  <c:pt idx="5">
                    <c:v>W7</c:v>
                  </c:pt>
                  <c:pt idx="6">
                    <c:v>W8</c:v>
                  </c:pt>
                  <c:pt idx="7">
                    <c:v>W9</c:v>
                  </c:pt>
                  <c:pt idx="8">
                    <c:v>W10</c:v>
                  </c:pt>
                  <c:pt idx="9">
                    <c:v>W11</c:v>
                  </c:pt>
                  <c:pt idx="10">
                    <c:v>W12</c:v>
                  </c:pt>
                  <c:pt idx="11">
                    <c:v>W13</c:v>
                  </c:pt>
                  <c:pt idx="12">
                    <c:v>W14</c:v>
                  </c:pt>
                  <c:pt idx="13">
                    <c:v>W15</c:v>
                  </c:pt>
                  <c:pt idx="14">
                    <c:v>W16</c:v>
                  </c:pt>
                  <c:pt idx="15">
                    <c:v>W17</c:v>
                  </c:pt>
                  <c:pt idx="16">
                    <c:v>W18</c:v>
                  </c:pt>
                  <c:pt idx="17">
                    <c:v>W19</c:v>
                  </c:pt>
                  <c:pt idx="18">
                    <c:v>W20</c:v>
                  </c:pt>
                  <c:pt idx="19">
                    <c:v>W21</c:v>
                  </c:pt>
                  <c:pt idx="20">
                    <c:v>W22</c:v>
                  </c:pt>
                  <c:pt idx="21">
                    <c:v>W23</c:v>
                  </c:pt>
                  <c:pt idx="22">
                    <c:v>W24</c:v>
                  </c:pt>
                  <c:pt idx="23">
                    <c:v>W25</c:v>
                  </c:pt>
                  <c:pt idx="24">
                    <c:v>W26</c:v>
                  </c:pt>
                  <c:pt idx="25">
                    <c:v>W27</c:v>
                  </c:pt>
                </c:lvl>
                <c:lvl>
                  <c:pt idx="0">
                    <c:v>2026</c:v>
                  </c:pt>
                </c:lvl>
              </c:multiLvlStrCache>
            </c:multiLvlStrRef>
          </c:cat>
          <c:val>
            <c:numRef>
              <c:f>Sheet1!$F$2:$F$27</c:f>
              <c:numCache>
                <c:formatCode>0.00</c:formatCode>
                <c:ptCount val="26"/>
                <c:pt idx="0">
                  <c:v>4.4974999999999996</c:v>
                </c:pt>
                <c:pt idx="1">
                  <c:v>4.3</c:v>
                </c:pt>
                <c:pt idx="2">
                  <c:v>4.3499999999999996</c:v>
                </c:pt>
                <c:pt idx="3">
                  <c:v>4.5075000000000003</c:v>
                </c:pt>
                <c:pt idx="4">
                  <c:v>4.5149999999999997</c:v>
                </c:pt>
                <c:pt idx="5">
                  <c:v>4.5650000000000004</c:v>
                </c:pt>
                <c:pt idx="6">
                  <c:v>4.72</c:v>
                </c:pt>
                <c:pt idx="7">
                  <c:v>4.4225000000000003</c:v>
                </c:pt>
                <c:pt idx="8">
                  <c:v>4.0125000000000002</c:v>
                </c:pt>
                <c:pt idx="9">
                  <c:v>4.2525000000000004</c:v>
                </c:pt>
                <c:pt idx="10">
                  <c:v>4.5525000000000002</c:v>
                </c:pt>
                <c:pt idx="11">
                  <c:v>4.915</c:v>
                </c:pt>
                <c:pt idx="12">
                  <c:v>5.2050000000000001</c:v>
                </c:pt>
                <c:pt idx="13">
                  <c:v>5.4974999999999996</c:v>
                </c:pt>
                <c:pt idx="14">
                  <c:v>5.8374999999999986</c:v>
                </c:pt>
                <c:pt idx="15">
                  <c:v>5.7799999999999994</c:v>
                </c:pt>
                <c:pt idx="16">
                  <c:v>5.8900000000000006</c:v>
                </c:pt>
                <c:pt idx="17">
                  <c:v>6.0949999999999998</c:v>
                </c:pt>
                <c:pt idx="18">
                  <c:v>5.5075000000000003</c:v>
                </c:pt>
                <c:pt idx="19">
                  <c:v>5.5449999999999999</c:v>
                </c:pt>
                <c:pt idx="20">
                  <c:v>5.7649999999999997</c:v>
                </c:pt>
                <c:pt idx="21">
                  <c:v>5.7774999999999999</c:v>
                </c:pt>
                <c:pt idx="22">
                  <c:v>5.7099999999999991</c:v>
                </c:pt>
                <c:pt idx="23">
                  <c:v>5.62</c:v>
                </c:pt>
                <c:pt idx="24">
                  <c:v>5.83</c:v>
                </c:pt>
                <c:pt idx="25">
                  <c:v>5.63</c:v>
                </c:pt>
              </c:numCache>
            </c:numRef>
          </c:val>
          <c:smooth val="0"/>
          <c:extLst xmlns:c15="http://schemas.microsoft.com/office/drawing/2012/chart">
            <c:ext xmlns:c16="http://schemas.microsoft.com/office/drawing/2014/chart" uri="{C3380CC4-5D6E-409C-BE32-E72D297353CC}">
              <c16:uniqueId val="{00000007-9447-4038-A272-AAD83D735C7C}"/>
            </c:ext>
          </c:extLst>
        </c:ser>
        <c:dLbls>
          <c:showLegendKey val="0"/>
          <c:showVal val="0"/>
          <c:showCatName val="0"/>
          <c:showSerName val="0"/>
          <c:showPercent val="0"/>
          <c:showBubbleSize val="0"/>
        </c:dLbls>
        <c:smooth val="0"/>
        <c:axId val="2110400464"/>
        <c:axId val="2110391216"/>
        <c:extLst>
          <c:ext xmlns:c15="http://schemas.microsoft.com/office/drawing/2012/chart" uri="{02D57815-91ED-43cb-92C2-25804820EDAC}">
            <c15:filteredLineSeries>
              <c15:ser>
                <c:idx val="0"/>
                <c:order val="0"/>
                <c:tx>
                  <c:strRef>
                    <c:extLst>
                      <c:ext uri="{02D57815-91ED-43cb-92C2-25804820EDAC}">
                        <c15:formulaRef>
                          <c15:sqref>Sheet1!$A$1</c15:sqref>
                        </c15:formulaRef>
                      </c:ext>
                    </c:extLst>
                    <c:strCache>
                      <c:ptCount val="1"/>
                      <c:pt idx="0">
                        <c:v>yyyy</c:v>
                      </c:pt>
                    </c:strCache>
                  </c:strRef>
                </c:tx>
                <c:cat>
                  <c:multiLvlStrRef>
                    <c:extLst>
                      <c:ext uri="{02D57815-91ED-43cb-92C2-25804820EDAC}">
                        <c15:formulaRef>
                          <c15:sqref>Sheet1!$A$2:$B$27</c15:sqref>
                        </c15:formulaRef>
                      </c:ext>
                    </c:extLst>
                    <c:multiLvlStrCache>
                      <c:ptCount val="26"/>
                      <c:lvl>
                        <c:pt idx="0">
                          <c:v>W2</c:v>
                        </c:pt>
                        <c:pt idx="1">
                          <c:v>W3</c:v>
                        </c:pt>
                        <c:pt idx="2">
                          <c:v>W4</c:v>
                        </c:pt>
                        <c:pt idx="3">
                          <c:v>W5</c:v>
                        </c:pt>
                        <c:pt idx="4">
                          <c:v>W6</c:v>
                        </c:pt>
                        <c:pt idx="5">
                          <c:v>W7</c:v>
                        </c:pt>
                        <c:pt idx="6">
                          <c:v>W8</c:v>
                        </c:pt>
                        <c:pt idx="7">
                          <c:v>W9</c:v>
                        </c:pt>
                        <c:pt idx="8">
                          <c:v>W10</c:v>
                        </c:pt>
                        <c:pt idx="9">
                          <c:v>W11</c:v>
                        </c:pt>
                        <c:pt idx="10">
                          <c:v>W12</c:v>
                        </c:pt>
                        <c:pt idx="11">
                          <c:v>W13</c:v>
                        </c:pt>
                        <c:pt idx="12">
                          <c:v>W14</c:v>
                        </c:pt>
                        <c:pt idx="13">
                          <c:v>W15</c:v>
                        </c:pt>
                        <c:pt idx="14">
                          <c:v>W16</c:v>
                        </c:pt>
                        <c:pt idx="15">
                          <c:v>W17</c:v>
                        </c:pt>
                        <c:pt idx="16">
                          <c:v>W18</c:v>
                        </c:pt>
                        <c:pt idx="17">
                          <c:v>W19</c:v>
                        </c:pt>
                        <c:pt idx="18">
                          <c:v>W20</c:v>
                        </c:pt>
                        <c:pt idx="19">
                          <c:v>W21</c:v>
                        </c:pt>
                        <c:pt idx="20">
                          <c:v>W22</c:v>
                        </c:pt>
                        <c:pt idx="21">
                          <c:v>W23</c:v>
                        </c:pt>
                        <c:pt idx="22">
                          <c:v>W24</c:v>
                        </c:pt>
                        <c:pt idx="23">
                          <c:v>W25</c:v>
                        </c:pt>
                        <c:pt idx="24">
                          <c:v>W26</c:v>
                        </c:pt>
                        <c:pt idx="25">
                          <c:v>W27</c:v>
                        </c:pt>
                      </c:lvl>
                      <c:lvl>
                        <c:pt idx="0">
                          <c:v>2026</c:v>
                        </c:pt>
                      </c:lvl>
                    </c:multiLvlStrCache>
                  </c:multiLvlStrRef>
                </c:cat>
                <c:val>
                  <c:numRef>
                    <c:extLst>
                      <c:ext uri="{02D57815-91ED-43cb-92C2-25804820EDAC}">
                        <c15:formulaRef>
                          <c15:sqref>Sheet1!$A$2:$A$28</c15:sqref>
                        </c15:formulaRef>
                      </c:ext>
                    </c:extLst>
                    <c:numCache>
                      <c:formatCode>General</c:formatCode>
                      <c:ptCount val="27"/>
                      <c:pt idx="0">
                        <c:v>2026</c:v>
                      </c:pt>
                    </c:numCache>
                  </c:numRef>
                </c:val>
                <c:smooth val="0"/>
                <c:extLst>
                  <c:ext xmlns:c16="http://schemas.microsoft.com/office/drawing/2014/chart" uri="{C3380CC4-5D6E-409C-BE32-E72D297353CC}">
                    <c16:uniqueId val="{00000005-9447-4038-A272-AAD83D735C7C}"/>
                  </c:ext>
                </c:extLst>
              </c15:ser>
            </c15:filteredLineSeries>
            <c15:filteredLineSeries>
              <c15:ser>
                <c:idx val="1"/>
                <c:order val="1"/>
                <c:tx>
                  <c:strRef>
                    <c:extLst xmlns:c15="http://schemas.microsoft.com/office/drawing/2012/chart">
                      <c:ext xmlns:c15="http://schemas.microsoft.com/office/drawing/2012/chart" uri="{02D57815-91ED-43cb-92C2-25804820EDAC}">
                        <c15:formulaRef>
                          <c15:sqref>Sheet1!$B$1</c15:sqref>
                        </c15:formulaRef>
                      </c:ext>
                    </c:extLst>
                    <c:strCache>
                      <c:ptCount val="1"/>
                      <c:pt idx="0">
                        <c:v>ww</c:v>
                      </c:pt>
                    </c:strCache>
                  </c:strRef>
                </c:tx>
                <c:spPr>
                  <a:effectLst/>
                </c:spPr>
                <c:cat>
                  <c:multiLvlStrRef>
                    <c:extLst xmlns:c15="http://schemas.microsoft.com/office/drawing/2012/chart">
                      <c:ext xmlns:c15="http://schemas.microsoft.com/office/drawing/2012/chart" uri="{02D57815-91ED-43cb-92C2-25804820EDAC}">
                        <c15:formulaRef>
                          <c15:sqref>Sheet1!$A$2:$B$27</c15:sqref>
                        </c15:formulaRef>
                      </c:ext>
                    </c:extLst>
                    <c:multiLvlStrCache>
                      <c:ptCount val="26"/>
                      <c:lvl>
                        <c:pt idx="0">
                          <c:v>W2</c:v>
                        </c:pt>
                        <c:pt idx="1">
                          <c:v>W3</c:v>
                        </c:pt>
                        <c:pt idx="2">
                          <c:v>W4</c:v>
                        </c:pt>
                        <c:pt idx="3">
                          <c:v>W5</c:v>
                        </c:pt>
                        <c:pt idx="4">
                          <c:v>W6</c:v>
                        </c:pt>
                        <c:pt idx="5">
                          <c:v>W7</c:v>
                        </c:pt>
                        <c:pt idx="6">
                          <c:v>W8</c:v>
                        </c:pt>
                        <c:pt idx="7">
                          <c:v>W9</c:v>
                        </c:pt>
                        <c:pt idx="8">
                          <c:v>W10</c:v>
                        </c:pt>
                        <c:pt idx="9">
                          <c:v>W11</c:v>
                        </c:pt>
                        <c:pt idx="10">
                          <c:v>W12</c:v>
                        </c:pt>
                        <c:pt idx="11">
                          <c:v>W13</c:v>
                        </c:pt>
                        <c:pt idx="12">
                          <c:v>W14</c:v>
                        </c:pt>
                        <c:pt idx="13">
                          <c:v>W15</c:v>
                        </c:pt>
                        <c:pt idx="14">
                          <c:v>W16</c:v>
                        </c:pt>
                        <c:pt idx="15">
                          <c:v>W17</c:v>
                        </c:pt>
                        <c:pt idx="16">
                          <c:v>W18</c:v>
                        </c:pt>
                        <c:pt idx="17">
                          <c:v>W19</c:v>
                        </c:pt>
                        <c:pt idx="18">
                          <c:v>W20</c:v>
                        </c:pt>
                        <c:pt idx="19">
                          <c:v>W21</c:v>
                        </c:pt>
                        <c:pt idx="20">
                          <c:v>W22</c:v>
                        </c:pt>
                        <c:pt idx="21">
                          <c:v>W23</c:v>
                        </c:pt>
                        <c:pt idx="22">
                          <c:v>W24</c:v>
                        </c:pt>
                        <c:pt idx="23">
                          <c:v>W25</c:v>
                        </c:pt>
                        <c:pt idx="24">
                          <c:v>W26</c:v>
                        </c:pt>
                        <c:pt idx="25">
                          <c:v>W27</c:v>
                        </c:pt>
                      </c:lvl>
                      <c:lvl>
                        <c:pt idx="0">
                          <c:v>2026</c:v>
                        </c:pt>
                      </c:lvl>
                    </c:multiLvlStrCache>
                  </c:multiLvlStrRef>
                </c:cat>
                <c:val>
                  <c:numRef>
                    <c:extLst xmlns:c15="http://schemas.microsoft.com/office/drawing/2012/chart">
                      <c:ext xmlns:c15="http://schemas.microsoft.com/office/drawing/2012/chart" uri="{02D57815-91ED-43cb-92C2-25804820EDAC}">
                        <c15:formulaRef>
                          <c15:sqref>Sheet1!$B$2:$B$28</c15:sqref>
                        </c15:formulaRef>
                      </c:ext>
                    </c:extLst>
                    <c:numCache>
                      <c:formatCode>_(* #,##0_);_(* \(#,##0\);_(* "-"_);_(@_)</c:formatCode>
                      <c:ptCount val="2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numCache>
                  </c:numRef>
                </c:val>
                <c:smooth val="0"/>
                <c:extLst xmlns:c15="http://schemas.microsoft.com/office/drawing/2012/chart">
                  <c:ext xmlns:c16="http://schemas.microsoft.com/office/drawing/2014/chart" uri="{C3380CC4-5D6E-409C-BE32-E72D297353CC}">
                    <c16:uniqueId val="{00000006-9447-4038-A272-AAD83D735C7C}"/>
                  </c:ext>
                </c:extLst>
              </c15:ser>
            </c15:filteredLineSeries>
          </c:ext>
        </c:extLst>
      </c:lineChart>
      <c:catAx>
        <c:axId val="2110400464"/>
        <c:scaling>
          <c:orientation val="minMax"/>
        </c:scaling>
        <c:delete val="0"/>
        <c:axPos val="b"/>
        <c:title>
          <c:tx>
            <c:rich>
              <a:bodyPr/>
              <a:lstStyle/>
              <a:p>
                <a:pPr>
                  <a:defRPr b="0">
                    <a:solidFill>
                      <a:srgbClr val="6A6A6A"/>
                    </a:solidFill>
                  </a:defRPr>
                </a:pPr>
                <a:r>
                  <a:rPr lang="en-US" altLang="ko-KR" b="0" dirty="0" smtClean="0">
                    <a:solidFill>
                      <a:srgbClr val="6A6A6A"/>
                    </a:solidFill>
                  </a:rPr>
                  <a:t>($/kg)</a:t>
                </a:r>
                <a:endParaRPr lang="ko-KR" altLang="en-US" b="0" dirty="0">
                  <a:solidFill>
                    <a:srgbClr val="6A6A6A"/>
                  </a:solidFill>
                </a:endParaRPr>
              </a:p>
            </c:rich>
          </c:tx>
          <c:layout>
            <c:manualLayout>
              <c:xMode val="edge"/>
              <c:yMode val="edge"/>
              <c:x val="1.4976564559855157E-2"/>
              <c:y val="6.063767700945373E-2"/>
            </c:manualLayout>
          </c:layout>
          <c:overlay val="0"/>
        </c:title>
        <c:numFmt formatCode="General" sourceLinked="0"/>
        <c:majorTickMark val="none"/>
        <c:minorTickMark val="none"/>
        <c:tickLblPos val="low"/>
        <c:spPr>
          <a:noFill/>
          <a:ln w="9525" cap="flat" cmpd="sng" algn="ctr">
            <a:solidFill>
              <a:schemeClr val="tx1">
                <a:lumMod val="15000"/>
                <a:lumOff val="85000"/>
              </a:schemeClr>
            </a:solidFill>
            <a:round/>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391216"/>
        <c:crosses val="autoZero"/>
        <c:auto val="1"/>
        <c:lblAlgn val="ctr"/>
        <c:lblOffset val="0"/>
        <c:tickMarkSkip val="1"/>
        <c:noMultiLvlLbl val="0"/>
      </c:catAx>
      <c:valAx>
        <c:axId val="2110391216"/>
        <c:scaling>
          <c:orientation val="minMax"/>
          <c:max val="10"/>
          <c:min val="3"/>
        </c:scaling>
        <c:delete val="0"/>
        <c:axPos val="l"/>
        <c:majorGridlines>
          <c:spPr>
            <a:ln w="6350" cap="flat" cmpd="sng" algn="ctr">
              <a:solidFill>
                <a:schemeClr val="tx1">
                  <a:lumMod val="15000"/>
                  <a:lumOff val="85000"/>
                </a:schemeClr>
              </a:solidFill>
              <a:prstDash val="sysDot"/>
              <a:round/>
            </a:ln>
            <a:effectLst/>
          </c:spPr>
        </c:majorGridlines>
        <c:numFmt formatCode="#,##0.0_);[Red]\(#,##0.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400464"/>
        <c:crosses val="autoZero"/>
        <c:crossBetween val="between"/>
      </c:valAx>
      <c:spPr>
        <a:noFill/>
        <a:ln>
          <a:noFill/>
        </a:ln>
        <a:effectLst/>
      </c:spPr>
    </c:plotArea>
    <c:legend>
      <c:legendPos val="t"/>
      <c:layout>
        <c:manualLayout>
          <c:xMode val="edge"/>
          <c:yMode val="edge"/>
          <c:x val="9.4257579617503487E-2"/>
          <c:y val="7.1637439147942988E-2"/>
          <c:w val="0.90574242038249653"/>
          <c:h val="8.5044248079655424E-2"/>
        </c:manualLayout>
      </c:layout>
      <c:overlay val="1"/>
      <c:spPr>
        <a:noFill/>
        <a:ln w="3175">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legend>
    <c:plotVisOnly val="1"/>
    <c:dispBlanksAs val="gap"/>
    <c:showDLblsOverMax val="0"/>
  </c:chart>
  <c:spPr>
    <a:noFill/>
    <a:ln>
      <a:noFill/>
    </a:ln>
    <a:effectLst/>
  </c:spPr>
  <c:txPr>
    <a:bodyPr/>
    <a:lstStyle/>
    <a:p>
      <a:pPr>
        <a:defRPr sz="1000">
          <a:latin typeface="나눔스퀘어" panose="020B0600000101010101" pitchFamily="50" charset="-127"/>
          <a:ea typeface="나눔스퀘어" panose="020B0600000101010101" pitchFamily="50" charset="-127"/>
        </a:defRPr>
      </a:pPr>
      <a:endParaRPr lang="ko-K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b="1" dirty="0" smtClean="0"/>
              <a:t>[Global Container Demand Outlook]</a:t>
            </a:r>
          </a:p>
        </c:rich>
      </c:tx>
      <c:layout>
        <c:manualLayout>
          <c:xMode val="edge"/>
          <c:yMode val="edge"/>
          <c:x val="0.30335401292683634"/>
          <c:y val="1.9011147310572588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autoTitleDeleted val="0"/>
    <c:plotArea>
      <c:layout>
        <c:manualLayout>
          <c:layoutTarget val="inner"/>
          <c:xMode val="edge"/>
          <c:yMode val="edge"/>
          <c:x val="0.11217337687638834"/>
          <c:y val="0.33749444187435718"/>
          <c:w val="0.82521078614495336"/>
          <c:h val="0.49646694094238863"/>
        </c:manualLayout>
      </c:layout>
      <c:barChart>
        <c:barDir val="col"/>
        <c:grouping val="clustered"/>
        <c:varyColors val="0"/>
        <c:ser>
          <c:idx val="0"/>
          <c:order val="0"/>
          <c:tx>
            <c:strRef>
              <c:f>Sheet1!$B$1</c:f>
              <c:strCache>
                <c:ptCount val="1"/>
                <c:pt idx="0">
                  <c:v>Global Container Volume</c:v>
                </c:pt>
              </c:strCache>
            </c:strRef>
          </c:tx>
          <c:spPr>
            <a:solidFill>
              <a:srgbClr val="3CD0BA"/>
            </a:solidFill>
            <a:ln>
              <a:noFill/>
            </a:ln>
            <a:effectLst/>
          </c:spPr>
          <c:invertIfNegative val="0"/>
          <c:dLbls>
            <c:delete val="1"/>
          </c:dLbls>
          <c:cat>
            <c:strRef>
              <c:f>Sheet1!$A$2:$A$7</c:f>
              <c:strCache>
                <c:ptCount val="3"/>
                <c:pt idx="0">
                  <c:v>2025</c:v>
                </c:pt>
                <c:pt idx="1">
                  <c:v>2026(f)</c:v>
                </c:pt>
                <c:pt idx="2">
                  <c:v>2027(f)</c:v>
                </c:pt>
              </c:strCache>
            </c:strRef>
          </c:cat>
          <c:val>
            <c:numRef>
              <c:f>Sheet1!$B$2:$B$7</c:f>
              <c:numCache>
                <c:formatCode>0_ </c:formatCode>
                <c:ptCount val="3"/>
                <c:pt idx="0">
                  <c:v>223.7</c:v>
                </c:pt>
                <c:pt idx="1">
                  <c:v>231</c:v>
                </c:pt>
                <c:pt idx="2">
                  <c:v>238.4</c:v>
                </c:pt>
              </c:numCache>
            </c:numRef>
          </c:val>
          <c:extLst>
            <c:ext xmlns:c16="http://schemas.microsoft.com/office/drawing/2014/chart" uri="{C3380CC4-5D6E-409C-BE32-E72D297353CC}">
              <c16:uniqueId val="{00000000-7FF8-41C2-A99B-883D4F90FB3A}"/>
            </c:ext>
          </c:extLst>
        </c:ser>
        <c:dLbls>
          <c:showLegendKey val="0"/>
          <c:showVal val="1"/>
          <c:showCatName val="0"/>
          <c:showSerName val="0"/>
          <c:showPercent val="0"/>
          <c:showBubbleSize val="0"/>
        </c:dLbls>
        <c:gapWidth val="150"/>
        <c:axId val="166633456"/>
        <c:axId val="166632368"/>
      </c:barChart>
      <c:lineChart>
        <c:grouping val="standard"/>
        <c:varyColors val="0"/>
        <c:ser>
          <c:idx val="1"/>
          <c:order val="1"/>
          <c:tx>
            <c:strRef>
              <c:f>Sheet1!$C$1</c:f>
              <c:strCache>
                <c:ptCount val="1"/>
                <c:pt idx="0">
                  <c:v>%YoY(Right)</c:v>
                </c:pt>
              </c:strCache>
            </c:strRef>
          </c:tx>
          <c:spPr>
            <a:ln w="28575" cap="rnd">
              <a:solidFill>
                <a:srgbClr val="0000FF"/>
              </a:solidFill>
              <a:prstDash val="solid"/>
              <a:round/>
            </a:ln>
            <a:effectLst/>
          </c:spPr>
          <c:marker>
            <c:symbol val="circle"/>
            <c:size val="5"/>
            <c:spPr>
              <a:solidFill>
                <a:schemeClr val="bg1"/>
              </a:solidFill>
              <a:ln w="9525">
                <a:solidFill>
                  <a:srgbClr val="0000FF"/>
                </a:solidFill>
              </a:ln>
              <a:effectLst/>
            </c:spPr>
          </c:marker>
          <c:dLbls>
            <c:dLbl>
              <c:idx val="0"/>
              <c:layout/>
              <c:dLblPos val="t"/>
              <c:showLegendKey val="0"/>
              <c:showVal val="1"/>
              <c:showCatName val="0"/>
              <c:showSerName val="0"/>
              <c:showPercent val="0"/>
              <c:showBubbleSize val="0"/>
              <c:extLst>
                <c:ext xmlns:c15="http://schemas.microsoft.com/office/drawing/2012/chart" uri="{CE6537A1-D6FC-4f65-9D91-7224C49458BB}">
                  <c15:layout>
                    <c:manualLayout>
                      <c:w val="9.6676523529168931E-2"/>
                      <c:h val="0.15870479659022044"/>
                    </c:manualLayout>
                  </c15:layout>
                </c:ext>
                <c:ext xmlns:c16="http://schemas.microsoft.com/office/drawing/2014/chart" uri="{C3380CC4-5D6E-409C-BE32-E72D297353CC}">
                  <c16:uniqueId val="{00000000-1DBF-4F57-ABD6-28ECF754EFE6}"/>
                </c:ext>
              </c:extLst>
            </c:dLbl>
            <c:dLbl>
              <c:idx val="1"/>
              <c:layout>
                <c:manualLayout>
                  <c:x val="-5.4609493835527018E-2"/>
                  <c:y val="-0.10573533610200848"/>
                </c:manualLayout>
              </c:layout>
              <c:dLblPos val="r"/>
              <c:showLegendKey val="0"/>
              <c:showVal val="1"/>
              <c:showCatName val="0"/>
              <c:showSerName val="0"/>
              <c:showPercent val="0"/>
              <c:showBubbleSize val="0"/>
              <c:extLst>
                <c:ext xmlns:c15="http://schemas.microsoft.com/office/drawing/2012/chart" uri="{CE6537A1-D6FC-4f65-9D91-7224C49458BB}">
                  <c15:layout>
                    <c:manualLayout>
                      <c:w val="9.165953787241489E-2"/>
                      <c:h val="0.14362883212913574"/>
                    </c:manualLayout>
                  </c15:layout>
                </c:ext>
                <c:ext xmlns:c16="http://schemas.microsoft.com/office/drawing/2014/chart" uri="{C3380CC4-5D6E-409C-BE32-E72D297353CC}">
                  <c16:uniqueId val="{00000001-1DBF-4F57-ABD6-28ECF754EFE6}"/>
                </c:ext>
              </c:extLst>
            </c:dLbl>
            <c:dLbl>
              <c:idx val="2"/>
              <c:layout/>
              <c:dLblPos val="t"/>
              <c:showLegendKey val="0"/>
              <c:showVal val="1"/>
              <c:showCatName val="0"/>
              <c:showSerName val="0"/>
              <c:showPercent val="0"/>
              <c:showBubbleSize val="0"/>
              <c:extLst>
                <c:ext xmlns:c15="http://schemas.microsoft.com/office/drawing/2012/chart" uri="{CE6537A1-D6FC-4f65-9D91-7224C49458BB}">
                  <c15:layout>
                    <c:manualLayout>
                      <c:w val="9.416803070079191E-2"/>
                      <c:h val="0.1511668143596781"/>
                    </c:manualLayout>
                  </c15:layout>
                </c:ext>
                <c:ext xmlns:c16="http://schemas.microsoft.com/office/drawing/2014/chart" uri="{C3380CC4-5D6E-409C-BE32-E72D297353CC}">
                  <c16:uniqueId val="{00000002-1DBF-4F57-ABD6-28ECF754EFE6}"/>
                </c:ext>
              </c:extLst>
            </c:dLbl>
            <c:spPr>
              <a:solidFill>
                <a:srgbClr val="0000FF"/>
              </a:solidFill>
              <a:ln>
                <a:noFill/>
              </a:ln>
              <a:effectLst/>
            </c:spPr>
            <c:txPr>
              <a:bodyPr rot="0" spcFirstLastPara="1" vertOverflow="clip" horzOverflow="clip" vert="horz" wrap="square" lIns="36000" tIns="0" rIns="36000" bIns="0" anchor="ctr" anchorCtr="1">
                <a:spAutoFit/>
              </a:bodyPr>
              <a:lstStyle/>
              <a:p>
                <a:pPr>
                  <a:defRPr sz="1100" b="1" i="0" u="none" strike="noStrike" kern="1200" baseline="0">
                    <a:solidFill>
                      <a:schemeClr val="bg1"/>
                    </a:solidFill>
                    <a:latin typeface="나눔스퀘어" panose="020B0600000101010101" pitchFamily="50" charset="-127"/>
                    <a:ea typeface="나눔스퀘어" panose="020B0600000101010101" pitchFamily="50" charset="-127"/>
                    <a:cs typeface="+mn-cs"/>
                  </a:defRPr>
                </a:pPr>
                <a:endParaRPr lang="ko-KR"/>
              </a:p>
            </c:txPr>
            <c:dLblPos val="t"/>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oundRec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Sheet1!$A$2:$A$7</c:f>
              <c:strCache>
                <c:ptCount val="3"/>
                <c:pt idx="0">
                  <c:v>2025</c:v>
                </c:pt>
                <c:pt idx="1">
                  <c:v>2026(f)</c:v>
                </c:pt>
                <c:pt idx="2">
                  <c:v>2027(f)</c:v>
                </c:pt>
              </c:strCache>
            </c:strRef>
          </c:cat>
          <c:val>
            <c:numRef>
              <c:f>Sheet1!$C$2:$C$7</c:f>
              <c:numCache>
                <c:formatCode>0.0%</c:formatCode>
                <c:ptCount val="3"/>
                <c:pt idx="0">
                  <c:v>4.5999999999999999E-2</c:v>
                </c:pt>
                <c:pt idx="1">
                  <c:v>3.3000000000000002E-2</c:v>
                </c:pt>
                <c:pt idx="2">
                  <c:v>3.2000000000000001E-2</c:v>
                </c:pt>
              </c:numCache>
            </c:numRef>
          </c:val>
          <c:smooth val="0"/>
          <c:extLst>
            <c:ext xmlns:c16="http://schemas.microsoft.com/office/drawing/2014/chart" uri="{C3380CC4-5D6E-409C-BE32-E72D297353CC}">
              <c16:uniqueId val="{00000001-7FF8-41C2-A99B-883D4F90FB3A}"/>
            </c:ext>
          </c:extLst>
        </c:ser>
        <c:dLbls>
          <c:showLegendKey val="0"/>
          <c:showVal val="1"/>
          <c:showCatName val="0"/>
          <c:showSerName val="0"/>
          <c:showPercent val="0"/>
          <c:showBubbleSize val="0"/>
        </c:dLbls>
        <c:marker val="1"/>
        <c:smooth val="0"/>
        <c:axId val="166641072"/>
        <c:axId val="166630736"/>
      </c:lineChart>
      <c:catAx>
        <c:axId val="1666334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166632368"/>
        <c:crosses val="autoZero"/>
        <c:auto val="1"/>
        <c:lblAlgn val="ctr"/>
        <c:lblOffset val="100"/>
        <c:noMultiLvlLbl val="0"/>
      </c:catAx>
      <c:valAx>
        <c:axId val="166632368"/>
        <c:scaling>
          <c:orientation val="minMax"/>
          <c:max val="240"/>
          <c:min val="200"/>
        </c:scaling>
        <c:delete val="0"/>
        <c:axPos val="l"/>
        <c:majorGridlines>
          <c:spPr>
            <a:ln w="3175" cap="flat" cmpd="sng" algn="ctr">
              <a:noFill/>
              <a:prstDash val="sysDot"/>
              <a:round/>
            </a:ln>
            <a:effectLst/>
          </c:spPr>
        </c:majorGridlines>
        <c:title>
          <c:tx>
            <c:rich>
              <a:bodyPr rot="0" spcFirstLastPara="1" vertOverflow="ellipsis"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sz="1100"/>
                  <a:t>(m TEU)</a:t>
                </a:r>
                <a:endParaRPr lang="ko-KR" sz="1100"/>
              </a:p>
            </c:rich>
          </c:tx>
          <c:layout>
            <c:manualLayout>
              <c:xMode val="edge"/>
              <c:yMode val="edge"/>
              <c:x val="1.4884384103870656E-3"/>
              <c:y val="0.14493640495227628"/>
            </c:manualLayout>
          </c:layout>
          <c:overlay val="0"/>
          <c:spPr>
            <a:noFill/>
            <a:ln>
              <a:noFill/>
            </a:ln>
            <a:effectLst/>
          </c:spPr>
          <c:txPr>
            <a:bodyPr rot="0" spcFirstLastPara="1" vertOverflow="ellipsis"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numFmt formatCode="0_ "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166633456"/>
        <c:crosses val="autoZero"/>
        <c:crossBetween val="between"/>
        <c:majorUnit val="10"/>
      </c:valAx>
      <c:valAx>
        <c:axId val="166630736"/>
        <c:scaling>
          <c:orientation val="minMax"/>
          <c:max val="8.0000000000000016E-2"/>
          <c:min val="0"/>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166641072"/>
        <c:crosses val="max"/>
        <c:crossBetween val="between"/>
        <c:majorUnit val="2.0000000000000004E-2"/>
      </c:valAx>
      <c:catAx>
        <c:axId val="166641072"/>
        <c:scaling>
          <c:orientation val="minMax"/>
        </c:scaling>
        <c:delete val="1"/>
        <c:axPos val="b"/>
        <c:numFmt formatCode="General" sourceLinked="1"/>
        <c:majorTickMark val="out"/>
        <c:minorTickMark val="none"/>
        <c:tickLblPos val="nextTo"/>
        <c:crossAx val="166630736"/>
        <c:crosses val="autoZero"/>
        <c:auto val="1"/>
        <c:lblAlgn val="ctr"/>
        <c:lblOffset val="100"/>
        <c:noMultiLvlLbl val="0"/>
      </c:catAx>
      <c:spPr>
        <a:noFill/>
        <a:ln>
          <a:noFill/>
        </a:ln>
        <a:effectLst/>
      </c:spPr>
    </c:plotArea>
    <c:legend>
      <c:legendPos val="r"/>
      <c:layout>
        <c:manualLayout>
          <c:xMode val="edge"/>
          <c:yMode val="edge"/>
          <c:x val="0.2930836112262758"/>
          <c:y val="0.21773788120970963"/>
          <c:w val="0.60994810518761911"/>
          <c:h val="9.1387308271659751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legend>
    <c:plotVisOnly val="1"/>
    <c:dispBlanksAs val="gap"/>
    <c:showDLblsOverMax val="0"/>
  </c:chart>
  <c:spPr>
    <a:noFill/>
    <a:ln>
      <a:noFill/>
    </a:ln>
    <a:effectLst/>
  </c:spPr>
  <c:txPr>
    <a:bodyPr/>
    <a:lstStyle/>
    <a:p>
      <a:pPr>
        <a:defRPr sz="1000">
          <a:latin typeface="나눔스퀘어" panose="020B0600000101010101" pitchFamily="50" charset="-127"/>
          <a:ea typeface="나눔스퀘어" panose="020B0600000101010101" pitchFamily="50" charset="-127"/>
        </a:defRPr>
      </a:pPr>
      <a:endParaRPr lang="ko-KR"/>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Segoe UI" panose="020B0502040204020203" pitchFamily="34" charset="0"/>
              </a:defRPr>
            </a:pPr>
            <a:r>
              <a:rPr lang="en-US" altLang="ko-KR" sz="1200" b="1" i="0" kern="1200" spc="0" baseline="0" dirty="0" smtClean="0">
                <a:solidFill>
                  <a:srgbClr val="595959"/>
                </a:solidFill>
                <a:effectLst/>
                <a:latin typeface="나눔스퀘어" panose="020B0600000101010101" pitchFamily="50" charset="-127"/>
                <a:ea typeface="나눔스퀘어" panose="020B0600000101010101" pitchFamily="50" charset="-127"/>
                <a:cs typeface="Segoe UI" panose="020B0502040204020203" pitchFamily="34" charset="0"/>
              </a:rPr>
              <a:t>[Global Containership Supply Outlook]</a:t>
            </a:r>
            <a:endParaRPr lang="ko-KR" altLang="ko-KR" sz="1200" dirty="0">
              <a:effectLst/>
            </a:endParaRPr>
          </a:p>
        </c:rich>
      </c:tx>
      <c:layout>
        <c:manualLayout>
          <c:xMode val="edge"/>
          <c:yMode val="edge"/>
          <c:x val="0.25866061681312652"/>
          <c:y val="0"/>
        </c:manualLayout>
      </c:layout>
      <c:overlay val="0"/>
      <c:spPr>
        <a:noFill/>
        <a:ln>
          <a:noFill/>
        </a:ln>
        <a:effectLst/>
      </c:spPr>
    </c:title>
    <c:autoTitleDeleted val="0"/>
    <c:plotArea>
      <c:layout>
        <c:manualLayout>
          <c:layoutTarget val="inner"/>
          <c:xMode val="edge"/>
          <c:yMode val="edge"/>
          <c:x val="0.10477484326569306"/>
          <c:y val="0.30316380887017719"/>
          <c:w val="0.80195423778191788"/>
          <c:h val="0.54358278016183736"/>
        </c:manualLayout>
      </c:layout>
      <c:barChart>
        <c:barDir val="col"/>
        <c:grouping val="clustered"/>
        <c:varyColors val="0"/>
        <c:ser>
          <c:idx val="0"/>
          <c:order val="0"/>
          <c:tx>
            <c:strRef>
              <c:f>Sheet1!$B$1</c:f>
              <c:strCache>
                <c:ptCount val="1"/>
                <c:pt idx="0">
                  <c:v>Global Containership Fleet</c:v>
                </c:pt>
              </c:strCache>
            </c:strRef>
          </c:tx>
          <c:spPr>
            <a:solidFill>
              <a:srgbClr val="3CD0BA"/>
            </a:solidFill>
            <a:ln w="25400">
              <a:noFill/>
            </a:ln>
            <a:effectLst/>
          </c:spPr>
          <c:invertIfNegative val="0"/>
          <c:dLbls>
            <c:delete val="1"/>
          </c:dLbls>
          <c:cat>
            <c:strRef>
              <c:f>Sheet1!$A$2:$A$6</c:f>
              <c:strCache>
                <c:ptCount val="3"/>
                <c:pt idx="0">
                  <c:v>2025</c:v>
                </c:pt>
                <c:pt idx="1">
                  <c:v>2026(f)</c:v>
                </c:pt>
                <c:pt idx="2">
                  <c:v>2027(f)</c:v>
                </c:pt>
              </c:strCache>
            </c:strRef>
          </c:cat>
          <c:val>
            <c:numRef>
              <c:f>Sheet1!$B$2:$B$6</c:f>
              <c:numCache>
                <c:formatCode>#,##0.0</c:formatCode>
                <c:ptCount val="3"/>
                <c:pt idx="0">
                  <c:v>33.1</c:v>
                </c:pt>
                <c:pt idx="1">
                  <c:v>34.6</c:v>
                </c:pt>
                <c:pt idx="2" formatCode="0_ ">
                  <c:v>37.299999999999997</c:v>
                </c:pt>
              </c:numCache>
            </c:numRef>
          </c:val>
          <c:extLst>
            <c:ext xmlns:c16="http://schemas.microsoft.com/office/drawing/2014/chart" uri="{C3380CC4-5D6E-409C-BE32-E72D297353CC}">
              <c16:uniqueId val="{00000004-7DEF-449E-894B-771365088BB7}"/>
            </c:ext>
          </c:extLst>
        </c:ser>
        <c:dLbls>
          <c:showLegendKey val="0"/>
          <c:showVal val="1"/>
          <c:showCatName val="0"/>
          <c:showSerName val="0"/>
          <c:showPercent val="0"/>
          <c:showBubbleSize val="0"/>
        </c:dLbls>
        <c:gapWidth val="150"/>
        <c:axId val="166629104"/>
        <c:axId val="166614416"/>
      </c:barChart>
      <c:lineChart>
        <c:grouping val="standard"/>
        <c:varyColors val="0"/>
        <c:ser>
          <c:idx val="1"/>
          <c:order val="1"/>
          <c:tx>
            <c:strRef>
              <c:f>Sheet1!$C$1</c:f>
              <c:strCache>
                <c:ptCount val="1"/>
                <c:pt idx="0">
                  <c:v>%YoY(Right)</c:v>
                </c:pt>
              </c:strCache>
            </c:strRef>
          </c:tx>
          <c:spPr>
            <a:ln w="28575" cap="rnd">
              <a:solidFill>
                <a:srgbClr val="0000FF"/>
              </a:solidFill>
              <a:prstDash val="solid"/>
              <a:round/>
            </a:ln>
            <a:effectLst/>
          </c:spPr>
          <c:marker>
            <c:symbol val="circle"/>
            <c:size val="5"/>
            <c:spPr>
              <a:solidFill>
                <a:sysClr val="window" lastClr="FFFFFF"/>
              </a:solidFill>
              <a:ln>
                <a:solidFill>
                  <a:srgbClr val="0000FF"/>
                </a:solidFill>
              </a:ln>
            </c:spPr>
          </c:marker>
          <c:dLbls>
            <c:dLbl>
              <c:idx val="0"/>
              <c:layout>
                <c:manualLayout>
                  <c:x val="-6.3502558614233512E-2"/>
                  <c:y val="-0.10072764037149509"/>
                </c:manualLayout>
              </c:layout>
              <c:spPr>
                <a:solidFill>
                  <a:srgbClr val="0000FF"/>
                </a:solidFill>
                <a:ln>
                  <a:noFill/>
                </a:ln>
              </c:spPr>
              <c:txPr>
                <a:bodyPr/>
                <a:lstStyle/>
                <a:p>
                  <a:pPr>
                    <a:defRPr sz="1100" b="1">
                      <a:solidFill>
                        <a:schemeClr val="bg1"/>
                      </a:solidFill>
                    </a:defRPr>
                  </a:pPr>
                  <a:endParaRPr lang="ko-KR"/>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oundRect">
                      <a:avLst/>
                    </a:prstGeom>
                  </c15:spPr>
                  <c15:layout>
                    <c:manualLayout>
                      <c:w val="9.1218227299254759E-2"/>
                      <c:h val="0.16083730300760479"/>
                    </c:manualLayout>
                  </c15:layout>
                </c:ext>
                <c:ext xmlns:c16="http://schemas.microsoft.com/office/drawing/2014/chart" uri="{C3380CC4-5D6E-409C-BE32-E72D297353CC}">
                  <c16:uniqueId val="{0000000A-B27F-4C94-9404-CD54B1A3217A}"/>
                </c:ext>
              </c:extLst>
            </c:dLbl>
            <c:dLbl>
              <c:idx val="1"/>
              <c:layout>
                <c:manualLayout>
                  <c:x val="-6.6966522858981414E-2"/>
                  <c:y val="-0.15620406893150268"/>
                </c:manualLayout>
              </c:layout>
              <c:showLegendKey val="0"/>
              <c:showVal val="1"/>
              <c:showCatName val="0"/>
              <c:showSerName val="0"/>
              <c:showPercent val="0"/>
              <c:showBubbleSize val="0"/>
              <c:extLst>
                <c:ext xmlns:c15="http://schemas.microsoft.com/office/drawing/2012/chart" uri="{CE6537A1-D6FC-4f65-9D91-7224C49458BB}">
                  <c15:layout>
                    <c:manualLayout>
                      <c:w val="9.3692944823460036E-2"/>
                      <c:h val="0.15156099522901115"/>
                    </c:manualLayout>
                  </c15:layout>
                </c:ext>
                <c:ext xmlns:c16="http://schemas.microsoft.com/office/drawing/2014/chart" uri="{C3380CC4-5D6E-409C-BE32-E72D297353CC}">
                  <c16:uniqueId val="{00000000-34F9-4163-A7C4-CA605D287667}"/>
                </c:ext>
              </c:extLst>
            </c:dLbl>
            <c:dLbl>
              <c:idx val="2"/>
              <c:layout>
                <c:manualLayout>
                  <c:x val="-6.2183280506340741E-2"/>
                  <c:y val="0.14058366203835243"/>
                </c:manualLayout>
              </c:layout>
              <c:spPr>
                <a:solidFill>
                  <a:srgbClr val="0000FF"/>
                </a:solidFill>
                <a:ln>
                  <a:noFill/>
                </a:ln>
              </c:spPr>
              <c:txPr>
                <a:bodyPr wrap="square" lIns="38100" tIns="19050" rIns="38100" bIns="19050" anchor="ctr">
                  <a:noAutofit/>
                </a:bodyPr>
                <a:lstStyle/>
                <a:p>
                  <a:pPr>
                    <a:defRPr sz="1100" b="1">
                      <a:solidFill>
                        <a:schemeClr val="bg1"/>
                      </a:solidFill>
                    </a:defRPr>
                  </a:pPr>
                  <a:endParaRPr lang="ko-KR"/>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oundRect">
                      <a:avLst/>
                    </a:prstGeom>
                  </c15:spPr>
                  <c15:layout>
                    <c:manualLayout>
                      <c:w val="9.3692944823460036E-2"/>
                      <c:h val="0.16718140212216143"/>
                    </c:manualLayout>
                  </c15:layout>
                </c:ext>
                <c:ext xmlns:c16="http://schemas.microsoft.com/office/drawing/2014/chart" uri="{C3380CC4-5D6E-409C-BE32-E72D297353CC}">
                  <c16:uniqueId val="{00000001-34F9-4163-A7C4-CA605D287667}"/>
                </c:ext>
              </c:extLst>
            </c:dLbl>
            <c:spPr>
              <a:solidFill>
                <a:srgbClr val="0000FF"/>
              </a:solidFill>
              <a:ln>
                <a:noFill/>
              </a:ln>
            </c:spPr>
            <c:txPr>
              <a:bodyPr wrap="square" lIns="38100" tIns="19050" rIns="38100" bIns="19050" anchor="ctr">
                <a:spAutoFit/>
              </a:bodyPr>
              <a:lstStyle/>
              <a:p>
                <a:pPr>
                  <a:defRPr sz="1100" b="1">
                    <a:solidFill>
                      <a:schemeClr val="bg1"/>
                    </a:solidFill>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oundRect">
                    <a:avLst/>
                  </a:prstGeom>
                </c15:spPr>
                <c15:showLeaderLines val="1"/>
                <c15:leaderLines>
                  <c:spPr>
                    <a:ln w="3175">
                      <a:solidFill>
                        <a:sysClr val="window" lastClr="FFFFFF">
                          <a:lumMod val="65000"/>
                        </a:sysClr>
                      </a:solidFill>
                    </a:ln>
                  </c:spPr>
                </c15:leaderLines>
              </c:ext>
            </c:extLst>
          </c:dLbls>
          <c:cat>
            <c:strRef>
              <c:f>Sheet1!$A$2:$A$6</c:f>
              <c:strCache>
                <c:ptCount val="3"/>
                <c:pt idx="0">
                  <c:v>2025</c:v>
                </c:pt>
                <c:pt idx="1">
                  <c:v>2026(f)</c:v>
                </c:pt>
                <c:pt idx="2">
                  <c:v>2027(f)</c:v>
                </c:pt>
              </c:strCache>
            </c:strRef>
          </c:cat>
          <c:val>
            <c:numRef>
              <c:f>Sheet1!$C$2:$C$6</c:f>
              <c:numCache>
                <c:formatCode>0.0%</c:formatCode>
                <c:ptCount val="3"/>
                <c:pt idx="0">
                  <c:v>7.0999999999999994E-2</c:v>
                </c:pt>
                <c:pt idx="1">
                  <c:v>4.5999999999999999E-2</c:v>
                </c:pt>
                <c:pt idx="2">
                  <c:v>7.9000000000000001E-2</c:v>
                </c:pt>
              </c:numCache>
            </c:numRef>
          </c:val>
          <c:smooth val="0"/>
          <c:extLst>
            <c:ext xmlns:c16="http://schemas.microsoft.com/office/drawing/2014/chart" uri="{C3380CC4-5D6E-409C-BE32-E72D297353CC}">
              <c16:uniqueId val="{00000009-B27F-4C94-9404-CD54B1A3217A}"/>
            </c:ext>
          </c:extLst>
        </c:ser>
        <c:dLbls>
          <c:showLegendKey val="0"/>
          <c:showVal val="0"/>
          <c:showCatName val="0"/>
          <c:showSerName val="0"/>
          <c:showPercent val="0"/>
          <c:showBubbleSize val="0"/>
        </c:dLbls>
        <c:marker val="1"/>
        <c:smooth val="0"/>
        <c:axId val="761385504"/>
        <c:axId val="761379680"/>
      </c:lineChart>
      <c:catAx>
        <c:axId val="166629104"/>
        <c:scaling>
          <c:orientation val="minMax"/>
        </c:scaling>
        <c:delete val="0"/>
        <c:axPos val="b"/>
        <c:minorGridlines>
          <c:spPr>
            <a:ln w="9525" cap="flat" cmpd="sng" algn="ctr">
              <a:noFill/>
              <a:round/>
            </a:ln>
            <a:effectLst/>
          </c:spPr>
        </c:minorGridlines>
        <c:numFmt formatCode="General" sourceLinked="1"/>
        <c:majorTickMark val="none"/>
        <c:minorTickMark val="none"/>
        <c:tickLblPos val="low"/>
        <c:spPr>
          <a:noFill/>
          <a:ln w="9525" cap="flat" cmpd="sng" algn="ctr">
            <a:solidFill>
              <a:sysClr val="window" lastClr="FFFFFF">
                <a:lumMod val="85000"/>
              </a:sysClr>
            </a:solidFill>
            <a:round/>
          </a:ln>
          <a:effectLst/>
        </c:spPr>
        <c:txPr>
          <a:bodyPr rot="0" spcFirstLastPara="1" vertOverflow="ellipsis"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Segoe UI" panose="020B0502040204020203" pitchFamily="34" charset="0"/>
              </a:defRPr>
            </a:pPr>
            <a:endParaRPr lang="ko-KR"/>
          </a:p>
        </c:txPr>
        <c:crossAx val="166614416"/>
        <c:crosses val="autoZero"/>
        <c:auto val="1"/>
        <c:lblAlgn val="ctr"/>
        <c:lblOffset val="100"/>
        <c:noMultiLvlLbl val="0"/>
      </c:catAx>
      <c:valAx>
        <c:axId val="166614416"/>
        <c:scaling>
          <c:orientation val="minMax"/>
        </c:scaling>
        <c:delete val="0"/>
        <c:axPos val="l"/>
        <c:majorGridlines>
          <c:spPr>
            <a:ln w="3175" cap="flat" cmpd="sng" algn="ctr">
              <a:noFill/>
              <a:prstDash val="sysDot"/>
              <a:round/>
            </a:ln>
            <a:effectLst/>
          </c:spPr>
        </c:majorGridlines>
        <c:title>
          <c:tx>
            <c:rich>
              <a:bodyPr rot="0" spcFirstLastPara="1" vertOverflow="ellipsis"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Segoe UI" panose="020B0502040204020203" pitchFamily="34" charset="0"/>
                  </a:defRPr>
                </a:pPr>
                <a:r>
                  <a:rPr lang="en-US" sz="1100" dirty="0" smtClean="0"/>
                  <a:t>(m </a:t>
                </a:r>
                <a:r>
                  <a:rPr lang="en-US" sz="1100" dirty="0"/>
                  <a:t>TEU)</a:t>
                </a:r>
                <a:endParaRPr lang="ko-KR" sz="1100" dirty="0"/>
              </a:p>
            </c:rich>
          </c:tx>
          <c:layout>
            <c:manualLayout>
              <c:xMode val="edge"/>
              <c:yMode val="edge"/>
              <c:x val="4.7833365128083253E-3"/>
              <c:y val="0.1143825818933655"/>
            </c:manualLayout>
          </c:layout>
          <c:overlay val="0"/>
          <c:spPr>
            <a:noFill/>
            <a:ln>
              <a:noFill/>
            </a:ln>
            <a:effectLst/>
          </c:spPr>
        </c:title>
        <c:numFmt formatCode="#,##0_ " sourceLinked="0"/>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Segoe UI" panose="020B0502040204020203" pitchFamily="34" charset="0"/>
              </a:defRPr>
            </a:pPr>
            <a:endParaRPr lang="ko-KR"/>
          </a:p>
        </c:txPr>
        <c:crossAx val="166629104"/>
        <c:crosses val="autoZero"/>
        <c:crossBetween val="between"/>
        <c:majorUnit val="2"/>
      </c:valAx>
      <c:valAx>
        <c:axId val="761379680"/>
        <c:scaling>
          <c:orientation val="minMax"/>
        </c:scaling>
        <c:delete val="0"/>
        <c:axPos val="r"/>
        <c:numFmt formatCode="0.0%" sourceLinked="1"/>
        <c:majorTickMark val="out"/>
        <c:minorTickMark val="none"/>
        <c:tickLblPos val="nextTo"/>
        <c:spPr>
          <a:ln>
            <a:noFill/>
          </a:ln>
        </c:spPr>
        <c:txPr>
          <a:bodyPr/>
          <a:lstStyle/>
          <a:p>
            <a:pPr>
              <a:defRPr>
                <a:solidFill>
                  <a:schemeClr val="tx1">
                    <a:lumMod val="65000"/>
                    <a:lumOff val="35000"/>
                  </a:schemeClr>
                </a:solidFill>
              </a:defRPr>
            </a:pPr>
            <a:endParaRPr lang="ko-KR"/>
          </a:p>
        </c:txPr>
        <c:crossAx val="761385504"/>
        <c:crosses val="max"/>
        <c:crossBetween val="between"/>
        <c:majorUnit val="2.5000000000000005E-2"/>
      </c:valAx>
      <c:catAx>
        <c:axId val="761385504"/>
        <c:scaling>
          <c:orientation val="minMax"/>
        </c:scaling>
        <c:delete val="1"/>
        <c:axPos val="b"/>
        <c:numFmt formatCode="General" sourceLinked="1"/>
        <c:majorTickMark val="out"/>
        <c:minorTickMark val="none"/>
        <c:tickLblPos val="nextTo"/>
        <c:crossAx val="761379680"/>
        <c:crosses val="autoZero"/>
        <c:auto val="1"/>
        <c:lblAlgn val="ctr"/>
        <c:lblOffset val="100"/>
        <c:noMultiLvlLbl val="0"/>
      </c:catAx>
      <c:spPr>
        <a:noFill/>
        <a:ln>
          <a:noFill/>
        </a:ln>
        <a:effectLst/>
      </c:spPr>
    </c:plotArea>
    <c:legend>
      <c:legendPos val="b"/>
      <c:layout>
        <c:manualLayout>
          <c:xMode val="edge"/>
          <c:yMode val="edge"/>
          <c:x val="0.31688003674506382"/>
          <c:y val="0.19730664826656533"/>
          <c:w val="0.61158780219057984"/>
          <c:h val="9.5917858704952189E-2"/>
        </c:manualLayout>
      </c:layout>
      <c:overlay val="0"/>
      <c:spPr>
        <a:solidFill>
          <a:sysClr val="window" lastClr="FFFFFF"/>
        </a:solidFill>
        <a:ln w="3175">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Segoe UI" panose="020B0502040204020203" pitchFamily="34" charset="0"/>
            </a:defRPr>
          </a:pPr>
          <a:endParaRPr lang="ko-KR"/>
        </a:p>
      </c:txPr>
    </c:legend>
    <c:plotVisOnly val="1"/>
    <c:dispBlanksAs val="gap"/>
    <c:showDLblsOverMax val="0"/>
  </c:chart>
  <c:spPr>
    <a:noFill/>
    <a:ln>
      <a:noFill/>
    </a:ln>
    <a:effectLst/>
  </c:spPr>
  <c:txPr>
    <a:bodyPr/>
    <a:lstStyle/>
    <a:p>
      <a:pPr>
        <a:defRPr sz="1000">
          <a:latin typeface="나눔스퀘어" panose="020B0600000101010101" pitchFamily="50" charset="-127"/>
          <a:ea typeface="나눔스퀘어" panose="020B0600000101010101" pitchFamily="50" charset="-127"/>
          <a:cs typeface="Segoe UI" panose="020B0502040204020203" pitchFamily="34" charset="0"/>
        </a:defRPr>
      </a:pPr>
      <a:endParaRPr lang="ko-KR"/>
    </a:p>
  </c:txPr>
  <c:externalData r:id="rId2">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sz="1200" b="1" i="0" kern="1200" spc="0" baseline="0" dirty="0" smtClean="0">
                <a:solidFill>
                  <a:srgbClr val="595959"/>
                </a:solidFill>
                <a:effectLst/>
                <a:latin typeface="나눔스퀘어" panose="020B0600000101010101" pitchFamily="50" charset="-127"/>
                <a:ea typeface="나눔스퀘어" panose="020B0600000101010101" pitchFamily="50" charset="-127"/>
              </a:rPr>
              <a:t>[Containership </a:t>
            </a:r>
            <a:r>
              <a:rPr lang="en-US" altLang="ko-KR" sz="1200" b="1" i="0" kern="1200" spc="0" baseline="0" dirty="0" err="1" smtClean="0">
                <a:solidFill>
                  <a:srgbClr val="595959"/>
                </a:solidFill>
                <a:effectLst/>
                <a:latin typeface="나눔스퀘어" panose="020B0600000101010101" pitchFamily="50" charset="-127"/>
                <a:ea typeface="나눔스퀘어" panose="020B0600000101010101" pitchFamily="50" charset="-127"/>
              </a:rPr>
              <a:t>Newbuild</a:t>
            </a:r>
            <a:r>
              <a:rPr lang="en-US" altLang="ko-KR" sz="1200" b="1" i="0" kern="1200" spc="0" baseline="0" dirty="0" smtClean="0">
                <a:solidFill>
                  <a:srgbClr val="595959"/>
                </a:solidFill>
                <a:effectLst/>
                <a:latin typeface="나눔스퀘어" panose="020B0600000101010101" pitchFamily="50" charset="-127"/>
                <a:ea typeface="나눔스퀘어" panose="020B0600000101010101" pitchFamily="50" charset="-127"/>
              </a:rPr>
              <a:t> Deliveries Outlook]</a:t>
            </a:r>
            <a:endParaRPr lang="ko-KR" altLang="ko-KR" dirty="0">
              <a:effectLst/>
            </a:endParaRPr>
          </a:p>
        </c:rich>
      </c:tx>
      <c:layout>
        <c:manualLayout>
          <c:xMode val="edge"/>
          <c:yMode val="edge"/>
          <c:x val="0.22512131417751632"/>
          <c:y val="3.4900066880051379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autoTitleDeleted val="0"/>
    <c:plotArea>
      <c:layout>
        <c:manualLayout>
          <c:layoutTarget val="inner"/>
          <c:xMode val="edge"/>
          <c:yMode val="edge"/>
          <c:x val="0.12034795893086547"/>
          <c:y val="0.28214457903524998"/>
          <c:w val="0.83327929086870667"/>
          <c:h val="0.55181643109492506"/>
        </c:manualLayout>
      </c:layout>
      <c:barChart>
        <c:barDir val="col"/>
        <c:grouping val="stacked"/>
        <c:varyColors val="0"/>
        <c:ser>
          <c:idx val="0"/>
          <c:order val="0"/>
          <c:tx>
            <c:strRef>
              <c:f>Sheet1!$B$1</c:f>
              <c:strCache>
                <c:ptCount val="1"/>
                <c:pt idx="0">
                  <c:v>Total</c:v>
                </c:pt>
              </c:strCache>
            </c:strRef>
          </c:tx>
          <c:spPr>
            <a:solidFill>
              <a:srgbClr val="3CD0BA"/>
            </a:solidFill>
            <a:ln>
              <a:noFill/>
            </a:ln>
            <a:effectLst/>
          </c:spPr>
          <c:invertIfNegative val="0"/>
          <c:dPt>
            <c:idx val="0"/>
            <c:invertIfNegative val="0"/>
            <c:bubble3D val="0"/>
            <c:spPr>
              <a:solidFill>
                <a:srgbClr val="002B5C"/>
              </a:solidFill>
              <a:ln>
                <a:noFill/>
              </a:ln>
              <a:effectLst/>
            </c:spPr>
            <c:extLst>
              <c:ext xmlns:c16="http://schemas.microsoft.com/office/drawing/2014/chart" uri="{C3380CC4-5D6E-409C-BE32-E72D297353CC}">
                <c16:uniqueId val="{00000000-18F8-49DD-AAF6-3D92FB64791D}"/>
              </c:ext>
            </c:extLst>
          </c:dPt>
          <c:dLbls>
            <c:delete val="1"/>
          </c:dLbls>
          <c:cat>
            <c:strRef>
              <c:f>Sheet1!$A$2:$A$5</c:f>
              <c:strCache>
                <c:ptCount val="4"/>
                <c:pt idx="0">
                  <c:v>2026(f)</c:v>
                </c:pt>
                <c:pt idx="1">
                  <c:v>2027(f)</c:v>
                </c:pt>
                <c:pt idx="2">
                  <c:v>2028(f)</c:v>
                </c:pt>
                <c:pt idx="3">
                  <c:v>2029(f)</c:v>
                </c:pt>
              </c:strCache>
            </c:strRef>
          </c:cat>
          <c:val>
            <c:numRef>
              <c:f>Sheet1!$B$2:$B$5</c:f>
              <c:numCache>
                <c:formatCode>_(* #,##0_);_(* \(#,##0\);_(* "-"_);_(@_)</c:formatCode>
                <c:ptCount val="4"/>
                <c:pt idx="0">
                  <c:v>1574.1</c:v>
                </c:pt>
                <c:pt idx="1">
                  <c:v>3059</c:v>
                </c:pt>
                <c:pt idx="2">
                  <c:v>4893.7</c:v>
                </c:pt>
                <c:pt idx="3">
                  <c:v>3299.9</c:v>
                </c:pt>
              </c:numCache>
            </c:numRef>
          </c:val>
          <c:extLst>
            <c:ext xmlns:c16="http://schemas.microsoft.com/office/drawing/2014/chart" uri="{C3380CC4-5D6E-409C-BE32-E72D297353CC}">
              <c16:uniqueId val="{00000002-FB3C-49C7-829B-30698EEA1363}"/>
            </c:ext>
          </c:extLst>
        </c:ser>
        <c:dLbls>
          <c:showLegendKey val="0"/>
          <c:showVal val="1"/>
          <c:showCatName val="0"/>
          <c:showSerName val="0"/>
          <c:showPercent val="0"/>
          <c:showBubbleSize val="0"/>
        </c:dLbls>
        <c:gapWidth val="150"/>
        <c:axId val="166633456"/>
        <c:axId val="166632368"/>
      </c:barChart>
      <c:catAx>
        <c:axId val="1666334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166632368"/>
        <c:crosses val="autoZero"/>
        <c:auto val="1"/>
        <c:lblAlgn val="ctr"/>
        <c:lblOffset val="100"/>
        <c:noMultiLvlLbl val="0"/>
      </c:catAx>
      <c:valAx>
        <c:axId val="166632368"/>
        <c:scaling>
          <c:orientation val="minMax"/>
          <c:min val="0"/>
        </c:scaling>
        <c:delete val="0"/>
        <c:axPos val="l"/>
        <c:majorGridlines>
          <c:spPr>
            <a:ln w="3175" cap="flat" cmpd="sng" algn="ctr">
              <a:noFill/>
              <a:prstDash val="sysDot"/>
              <a:round/>
            </a:ln>
            <a:effectLst/>
          </c:spPr>
        </c:majorGridlines>
        <c:title>
          <c:tx>
            <c:rich>
              <a:bodyPr rot="0" spcFirstLastPara="1" vertOverflow="ellipsis"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sz="1100" dirty="0" smtClean="0"/>
                  <a:t>(k </a:t>
                </a:r>
                <a:r>
                  <a:rPr lang="en-US" sz="1100" dirty="0"/>
                  <a:t>TEU)</a:t>
                </a:r>
                <a:endParaRPr lang="ko-KR" sz="1100" dirty="0"/>
              </a:p>
            </c:rich>
          </c:tx>
          <c:layout>
            <c:manualLayout>
              <c:xMode val="edge"/>
              <c:yMode val="edge"/>
              <c:x val="6.1379641028295497E-3"/>
              <c:y val="0.10506925377340946"/>
            </c:manualLayout>
          </c:layout>
          <c:overlay val="0"/>
          <c:spPr>
            <a:noFill/>
            <a:ln>
              <a:noFill/>
            </a:ln>
            <a:effectLst/>
          </c:spPr>
          <c:txPr>
            <a:bodyPr rot="0" spcFirstLastPara="1" vertOverflow="ellipsis"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166633456"/>
        <c:crosses val="autoZero"/>
        <c:crossBetween val="between"/>
      </c:valAx>
      <c:spPr>
        <a:noFill/>
        <a:ln>
          <a:noFill/>
        </a:ln>
        <a:effectLst/>
      </c:spPr>
    </c:plotArea>
    <c:plotVisOnly val="1"/>
    <c:dispBlanksAs val="gap"/>
    <c:showDLblsOverMax val="0"/>
  </c:chart>
  <c:spPr>
    <a:noFill/>
    <a:ln>
      <a:noFill/>
    </a:ln>
    <a:effectLst/>
  </c:spPr>
  <c:txPr>
    <a:bodyPr/>
    <a:lstStyle/>
    <a:p>
      <a:pPr>
        <a:defRPr sz="1000">
          <a:latin typeface="나눔스퀘어" panose="020B0600000101010101" pitchFamily="50" charset="-127"/>
          <a:ea typeface="나눔스퀘어" panose="020B0600000101010101" pitchFamily="50" charset="-127"/>
        </a:defRPr>
      </a:pPr>
      <a:endParaRPr lang="ko-KR"/>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6737497108368179E-3"/>
          <c:y val="5.5059864092330928E-2"/>
          <c:w val="0.98686514336404629"/>
          <c:h val="0.75855510689752048"/>
        </c:manualLayout>
      </c:layout>
      <c:barChart>
        <c:barDir val="col"/>
        <c:grouping val="stacked"/>
        <c:varyColors val="0"/>
        <c:ser>
          <c:idx val="0"/>
          <c:order val="0"/>
          <c:tx>
            <c:strRef>
              <c:f>Sheet1!$B$1</c:f>
              <c:strCache>
                <c:ptCount val="1"/>
                <c:pt idx="0">
                  <c:v>상승요소</c:v>
                </c:pt>
              </c:strCache>
            </c:strRef>
          </c:tx>
          <c:spPr>
            <a:solidFill>
              <a:srgbClr val="002B5C"/>
            </a:solidFill>
            <a:ln>
              <a:noFill/>
            </a:ln>
            <a:effectLst/>
          </c:spPr>
          <c:invertIfNegative val="0"/>
          <c:dPt>
            <c:idx val="0"/>
            <c:invertIfNegative val="0"/>
            <c:bubble3D val="0"/>
            <c:spPr>
              <a:solidFill>
                <a:srgbClr val="002B5C">
                  <a:alpha val="40000"/>
                </a:srgbClr>
              </a:solidFill>
              <a:ln>
                <a:noFill/>
              </a:ln>
              <a:effectLst/>
            </c:spPr>
            <c:extLst>
              <c:ext xmlns:c16="http://schemas.microsoft.com/office/drawing/2014/chart" uri="{C3380CC4-5D6E-409C-BE32-E72D297353CC}">
                <c16:uniqueId val="{00000005-6931-44DB-A08C-B5937CCD25F2}"/>
              </c:ext>
            </c:extLst>
          </c:dPt>
          <c:dPt>
            <c:idx val="1"/>
            <c:invertIfNegative val="0"/>
            <c:bubble3D val="0"/>
            <c:spPr>
              <a:solidFill>
                <a:srgbClr val="002B5C">
                  <a:alpha val="40000"/>
                </a:srgbClr>
              </a:solidFill>
              <a:ln>
                <a:noFill/>
              </a:ln>
              <a:effectLst/>
            </c:spPr>
            <c:extLst>
              <c:ext xmlns:c16="http://schemas.microsoft.com/office/drawing/2014/chart" uri="{C3380CC4-5D6E-409C-BE32-E72D297353CC}">
                <c16:uniqueId val="{00000004-6931-44DB-A08C-B5937CCD25F2}"/>
              </c:ext>
            </c:extLst>
          </c:dPt>
          <c:dPt>
            <c:idx val="2"/>
            <c:invertIfNegative val="0"/>
            <c:bubble3D val="0"/>
            <c:spPr>
              <a:solidFill>
                <a:srgbClr val="002B5C">
                  <a:alpha val="40000"/>
                </a:srgbClr>
              </a:solidFill>
              <a:ln>
                <a:noFill/>
              </a:ln>
              <a:effectLst/>
            </c:spPr>
            <c:extLst>
              <c:ext xmlns:c16="http://schemas.microsoft.com/office/drawing/2014/chart" uri="{C3380CC4-5D6E-409C-BE32-E72D297353CC}">
                <c16:uniqueId val="{00000003-6931-44DB-A08C-B5937CCD25F2}"/>
              </c:ext>
            </c:extLst>
          </c:dPt>
          <c:dPt>
            <c:idx val="3"/>
            <c:invertIfNegative val="0"/>
            <c:bubble3D val="0"/>
            <c:spPr>
              <a:solidFill>
                <a:srgbClr val="002B5C">
                  <a:alpha val="40000"/>
                </a:srgbClr>
              </a:solidFill>
              <a:ln>
                <a:noFill/>
              </a:ln>
              <a:effectLst/>
            </c:spPr>
            <c:extLst>
              <c:ext xmlns:c16="http://schemas.microsoft.com/office/drawing/2014/chart" uri="{C3380CC4-5D6E-409C-BE32-E72D297353CC}">
                <c16:uniqueId val="{00000002-6931-44DB-A08C-B5937CCD25F2}"/>
              </c:ext>
            </c:extLst>
          </c:dPt>
          <c:dPt>
            <c:idx val="4"/>
            <c:invertIfNegative val="0"/>
            <c:bubble3D val="0"/>
            <c:spPr>
              <a:solidFill>
                <a:srgbClr val="002B5C">
                  <a:alpha val="40000"/>
                </a:srgbClr>
              </a:solidFill>
              <a:ln>
                <a:noFill/>
              </a:ln>
              <a:effectLst/>
            </c:spPr>
            <c:extLst>
              <c:ext xmlns:c16="http://schemas.microsoft.com/office/drawing/2014/chart" uri="{C3380CC4-5D6E-409C-BE32-E72D297353CC}">
                <c16:uniqueId val="{00000001-6931-44DB-A08C-B5937CCD25F2}"/>
              </c:ext>
            </c:extLst>
          </c:dPt>
          <c:dPt>
            <c:idx val="5"/>
            <c:invertIfNegative val="0"/>
            <c:bubble3D val="0"/>
            <c:spPr>
              <a:solidFill>
                <a:srgbClr val="002B5C">
                  <a:alpha val="40000"/>
                </a:srgbClr>
              </a:solidFill>
              <a:ln>
                <a:noFill/>
              </a:ln>
              <a:effectLst/>
            </c:spPr>
            <c:extLst>
              <c:ext xmlns:c16="http://schemas.microsoft.com/office/drawing/2014/chart" uri="{C3380CC4-5D6E-409C-BE32-E72D297353CC}">
                <c16:uniqueId val="{00000014-7161-4C6A-80D3-88442833385D}"/>
              </c:ext>
            </c:extLst>
          </c:dPt>
          <c:cat>
            <c:numRef>
              <c:f>Sheet1!$A$2:$A$13</c:f>
              <c:numCache>
                <c:formatCode>mmm/\'yy</c:formatCode>
                <c:ptCount val="12"/>
                <c:pt idx="0">
                  <c:v>46023</c:v>
                </c:pt>
                <c:pt idx="1">
                  <c:v>46054</c:v>
                </c:pt>
                <c:pt idx="2">
                  <c:v>46082</c:v>
                </c:pt>
                <c:pt idx="3">
                  <c:v>46113</c:v>
                </c:pt>
                <c:pt idx="4">
                  <c:v>46143</c:v>
                </c:pt>
                <c:pt idx="5">
                  <c:v>46174</c:v>
                </c:pt>
                <c:pt idx="6">
                  <c:v>46204</c:v>
                </c:pt>
                <c:pt idx="7">
                  <c:v>46235</c:v>
                </c:pt>
                <c:pt idx="8">
                  <c:v>46266</c:v>
                </c:pt>
                <c:pt idx="9">
                  <c:v>46296</c:v>
                </c:pt>
                <c:pt idx="10">
                  <c:v>46327</c:v>
                </c:pt>
                <c:pt idx="11">
                  <c:v>46357</c:v>
                </c:pt>
              </c:numCache>
            </c:numRef>
          </c:cat>
          <c:val>
            <c:numRef>
              <c:f>Sheet1!$B$2:$B$13</c:f>
              <c:numCache>
                <c:formatCode>General</c:formatCode>
                <c:ptCount val="12"/>
                <c:pt idx="0">
                  <c:v>3</c:v>
                </c:pt>
                <c:pt idx="1">
                  <c:v>2.5</c:v>
                </c:pt>
                <c:pt idx="2">
                  <c:v>3.5</c:v>
                </c:pt>
                <c:pt idx="3">
                  <c:v>4.5</c:v>
                </c:pt>
                <c:pt idx="4">
                  <c:v>5.5</c:v>
                </c:pt>
                <c:pt idx="5">
                  <c:v>6.5</c:v>
                </c:pt>
                <c:pt idx="6">
                  <c:v>7</c:v>
                </c:pt>
                <c:pt idx="7">
                  <c:v>6.5</c:v>
                </c:pt>
                <c:pt idx="8">
                  <c:v>6</c:v>
                </c:pt>
                <c:pt idx="9">
                  <c:v>5.3</c:v>
                </c:pt>
                <c:pt idx="10">
                  <c:v>4.8</c:v>
                </c:pt>
                <c:pt idx="11">
                  <c:v>4.3</c:v>
                </c:pt>
              </c:numCache>
            </c:numRef>
          </c:val>
          <c:extLst>
            <c:ext xmlns:c16="http://schemas.microsoft.com/office/drawing/2014/chart" uri="{C3380CC4-5D6E-409C-BE32-E72D297353CC}">
              <c16:uniqueId val="{00000000-7DDE-4CA3-9631-FEAD2B369018}"/>
            </c:ext>
          </c:extLst>
        </c:ser>
        <c:ser>
          <c:idx val="1"/>
          <c:order val="1"/>
          <c:tx>
            <c:strRef>
              <c:f>Sheet1!$C$1</c:f>
              <c:strCache>
                <c:ptCount val="1"/>
                <c:pt idx="0">
                  <c:v>열1</c:v>
                </c:pt>
              </c:strCache>
            </c:strRef>
          </c:tx>
          <c:spPr>
            <a:solidFill>
              <a:srgbClr val="002B5C"/>
            </a:solidFill>
            <a:ln>
              <a:noFill/>
            </a:ln>
            <a:effectLst/>
          </c:spPr>
          <c:invertIfNegative val="0"/>
          <c:dPt>
            <c:idx val="0"/>
            <c:invertIfNegative val="0"/>
            <c:bubble3D val="0"/>
            <c:spPr>
              <a:solidFill>
                <a:srgbClr val="002B5C">
                  <a:alpha val="40000"/>
                </a:srgbClr>
              </a:solidFill>
              <a:ln>
                <a:noFill/>
              </a:ln>
              <a:effectLst/>
            </c:spPr>
            <c:extLst>
              <c:ext xmlns:c16="http://schemas.microsoft.com/office/drawing/2014/chart" uri="{C3380CC4-5D6E-409C-BE32-E72D297353CC}">
                <c16:uniqueId val="{0000000A-6931-44DB-A08C-B5937CCD25F2}"/>
              </c:ext>
            </c:extLst>
          </c:dPt>
          <c:dPt>
            <c:idx val="1"/>
            <c:invertIfNegative val="0"/>
            <c:bubble3D val="0"/>
            <c:spPr>
              <a:solidFill>
                <a:srgbClr val="002B5C">
                  <a:alpha val="40000"/>
                </a:srgbClr>
              </a:solidFill>
              <a:ln>
                <a:noFill/>
              </a:ln>
              <a:effectLst/>
            </c:spPr>
            <c:extLst>
              <c:ext xmlns:c16="http://schemas.microsoft.com/office/drawing/2014/chart" uri="{C3380CC4-5D6E-409C-BE32-E72D297353CC}">
                <c16:uniqueId val="{00000009-6931-44DB-A08C-B5937CCD25F2}"/>
              </c:ext>
            </c:extLst>
          </c:dPt>
          <c:dPt>
            <c:idx val="2"/>
            <c:invertIfNegative val="0"/>
            <c:bubble3D val="0"/>
            <c:spPr>
              <a:solidFill>
                <a:srgbClr val="002B5C">
                  <a:alpha val="40000"/>
                </a:srgbClr>
              </a:solidFill>
              <a:ln>
                <a:noFill/>
              </a:ln>
              <a:effectLst/>
            </c:spPr>
            <c:extLst>
              <c:ext xmlns:c16="http://schemas.microsoft.com/office/drawing/2014/chart" uri="{C3380CC4-5D6E-409C-BE32-E72D297353CC}">
                <c16:uniqueId val="{00000008-6931-44DB-A08C-B5937CCD25F2}"/>
              </c:ext>
            </c:extLst>
          </c:dPt>
          <c:dPt>
            <c:idx val="3"/>
            <c:invertIfNegative val="0"/>
            <c:bubble3D val="0"/>
            <c:spPr>
              <a:solidFill>
                <a:srgbClr val="002B5C">
                  <a:alpha val="40000"/>
                </a:srgbClr>
              </a:solidFill>
              <a:ln>
                <a:noFill/>
              </a:ln>
              <a:effectLst/>
            </c:spPr>
            <c:extLst>
              <c:ext xmlns:c16="http://schemas.microsoft.com/office/drawing/2014/chart" uri="{C3380CC4-5D6E-409C-BE32-E72D297353CC}">
                <c16:uniqueId val="{00000007-6931-44DB-A08C-B5937CCD25F2}"/>
              </c:ext>
            </c:extLst>
          </c:dPt>
          <c:dPt>
            <c:idx val="4"/>
            <c:invertIfNegative val="0"/>
            <c:bubble3D val="0"/>
            <c:spPr>
              <a:solidFill>
                <a:srgbClr val="002B5C">
                  <a:alpha val="40000"/>
                </a:srgbClr>
              </a:solidFill>
              <a:ln>
                <a:noFill/>
              </a:ln>
              <a:effectLst/>
            </c:spPr>
            <c:extLst>
              <c:ext xmlns:c16="http://schemas.microsoft.com/office/drawing/2014/chart" uri="{C3380CC4-5D6E-409C-BE32-E72D297353CC}">
                <c16:uniqueId val="{00000006-6931-44DB-A08C-B5937CCD25F2}"/>
              </c:ext>
            </c:extLst>
          </c:dPt>
          <c:dPt>
            <c:idx val="5"/>
            <c:invertIfNegative val="0"/>
            <c:bubble3D val="0"/>
            <c:spPr>
              <a:solidFill>
                <a:srgbClr val="002B5C">
                  <a:alpha val="40000"/>
                </a:srgbClr>
              </a:solidFill>
              <a:ln>
                <a:noFill/>
              </a:ln>
              <a:effectLst/>
            </c:spPr>
            <c:extLst>
              <c:ext xmlns:c16="http://schemas.microsoft.com/office/drawing/2014/chart" uri="{C3380CC4-5D6E-409C-BE32-E72D297353CC}">
                <c16:uniqueId val="{00000015-7161-4C6A-80D3-88442833385D}"/>
              </c:ext>
            </c:extLst>
          </c:dPt>
          <c:cat>
            <c:numRef>
              <c:f>Sheet1!$A$2:$A$13</c:f>
              <c:numCache>
                <c:formatCode>mmm/\'yy</c:formatCode>
                <c:ptCount val="12"/>
                <c:pt idx="0">
                  <c:v>46023</c:v>
                </c:pt>
                <c:pt idx="1">
                  <c:v>46054</c:v>
                </c:pt>
                <c:pt idx="2">
                  <c:v>46082</c:v>
                </c:pt>
                <c:pt idx="3">
                  <c:v>46113</c:v>
                </c:pt>
                <c:pt idx="4">
                  <c:v>46143</c:v>
                </c:pt>
                <c:pt idx="5">
                  <c:v>46174</c:v>
                </c:pt>
                <c:pt idx="6">
                  <c:v>46204</c:v>
                </c:pt>
                <c:pt idx="7">
                  <c:v>46235</c:v>
                </c:pt>
                <c:pt idx="8">
                  <c:v>46266</c:v>
                </c:pt>
                <c:pt idx="9">
                  <c:v>46296</c:v>
                </c:pt>
                <c:pt idx="10">
                  <c:v>46327</c:v>
                </c:pt>
                <c:pt idx="11">
                  <c:v>46357</c:v>
                </c:pt>
              </c:numCache>
            </c:numRef>
          </c:cat>
          <c:val>
            <c:numRef>
              <c:f>Sheet1!$C$2:$C$13</c:f>
              <c:numCache>
                <c:formatCode>General</c:formatCode>
                <c:ptCount val="12"/>
              </c:numCache>
            </c:numRef>
          </c:val>
          <c:extLst>
            <c:ext xmlns:c16="http://schemas.microsoft.com/office/drawing/2014/chart" uri="{C3380CC4-5D6E-409C-BE32-E72D297353CC}">
              <c16:uniqueId val="{00000001-7DDE-4CA3-9631-FEAD2B369018}"/>
            </c:ext>
          </c:extLst>
        </c:ser>
        <c:dLbls>
          <c:showLegendKey val="0"/>
          <c:showVal val="0"/>
          <c:showCatName val="0"/>
          <c:showSerName val="0"/>
          <c:showPercent val="0"/>
          <c:showBubbleSize val="0"/>
        </c:dLbls>
        <c:gapWidth val="50"/>
        <c:overlap val="100"/>
        <c:axId val="166642160"/>
        <c:axId val="166636176"/>
      </c:barChart>
      <c:dateAx>
        <c:axId val="166642160"/>
        <c:scaling>
          <c:orientation val="minMax"/>
        </c:scaling>
        <c:delete val="0"/>
        <c:axPos val="b"/>
        <c:numFmt formatCode="[$-409]mmm/yy;@" sourceLinked="0"/>
        <c:majorTickMark val="none"/>
        <c:minorTickMark val="none"/>
        <c:tickLblPos val="low"/>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100" b="0" i="0" u="none" strike="noStrike" kern="1200" baseline="0">
                <a:solidFill>
                  <a:schemeClr val="tx1">
                    <a:lumMod val="65000"/>
                    <a:lumOff val="35000"/>
                  </a:schemeClr>
                </a:solidFill>
                <a:latin typeface="나눔스퀘어" panose="020B0600000101010101" pitchFamily="34" charset="-127"/>
                <a:ea typeface="나눔스퀘어" panose="020B0600000101010101" pitchFamily="34" charset="-127"/>
                <a:cs typeface="+mn-cs"/>
              </a:defRPr>
            </a:pPr>
            <a:endParaRPr lang="ko-KR"/>
          </a:p>
        </c:txPr>
        <c:crossAx val="166636176"/>
        <c:crosses val="autoZero"/>
        <c:auto val="1"/>
        <c:lblOffset val="100"/>
        <c:baseTimeUnit val="months"/>
      </c:dateAx>
      <c:valAx>
        <c:axId val="166636176"/>
        <c:scaling>
          <c:orientation val="minMax"/>
          <c:max val="7"/>
          <c:min val="0"/>
        </c:scaling>
        <c:delete val="1"/>
        <c:axPos val="l"/>
        <c:majorGridlines>
          <c:spPr>
            <a:ln w="3175" cap="flat" cmpd="sng" algn="ctr">
              <a:solidFill>
                <a:schemeClr val="bg1">
                  <a:lumMod val="85000"/>
                </a:schemeClr>
              </a:solidFill>
              <a:prstDash val="sysDot"/>
              <a:round/>
            </a:ln>
            <a:effectLst/>
          </c:spPr>
        </c:majorGridlines>
        <c:numFmt formatCode="General" sourceLinked="1"/>
        <c:majorTickMark val="out"/>
        <c:minorTickMark val="none"/>
        <c:tickLblPos val="nextTo"/>
        <c:crossAx val="166642160"/>
        <c:crosses val="autoZero"/>
        <c:crossBetween val="between"/>
      </c:valAx>
      <c:spPr>
        <a:noFill/>
        <a:ln w="25400">
          <a:noFill/>
        </a:ln>
        <a:effectLst/>
      </c:spPr>
    </c:plotArea>
    <c:plotVisOnly val="1"/>
    <c:dispBlanksAs val="gap"/>
    <c:showDLblsOverMax val="0"/>
  </c:chart>
  <c:spPr>
    <a:noFill/>
    <a:ln>
      <a:noFill/>
    </a:ln>
    <a:effectLst/>
  </c:spPr>
  <c:txPr>
    <a:bodyPr/>
    <a:lstStyle/>
    <a:p>
      <a:pPr>
        <a:defRPr sz="1100" b="0" i="0">
          <a:latin typeface="나눔스퀘어" panose="020B0600000101010101" pitchFamily="34" charset="-127"/>
          <a:ea typeface="나눔스퀘어" panose="020B0600000101010101" pitchFamily="34" charset="-127"/>
        </a:defRPr>
      </a:pPr>
      <a:endParaRPr lang="ko-KR"/>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sz="1200" b="1" dirty="0" smtClean="0"/>
              <a:t>[Brent and VLSFO Price Trends (Past Year)]</a:t>
            </a:r>
          </a:p>
        </c:rich>
      </c:tx>
      <c:layout>
        <c:manualLayout>
          <c:xMode val="edge"/>
          <c:yMode val="edge"/>
          <c:x val="0.16957767982438926"/>
          <c:y val="5.9689034231426132E-3"/>
        </c:manualLayout>
      </c:layout>
      <c:overlay val="0"/>
      <c:spPr>
        <a:noFill/>
        <a:ln>
          <a:noFill/>
        </a:ln>
        <a:effectLst/>
      </c:spPr>
    </c:title>
    <c:autoTitleDeleted val="0"/>
    <c:plotArea>
      <c:layout>
        <c:manualLayout>
          <c:layoutTarget val="inner"/>
          <c:xMode val="edge"/>
          <c:yMode val="edge"/>
          <c:x val="0.2967952318371932"/>
          <c:y val="0.20962365828920887"/>
          <c:w val="0.60103921233204149"/>
          <c:h val="0.47711325030761009"/>
        </c:manualLayout>
      </c:layout>
      <c:lineChart>
        <c:grouping val="standard"/>
        <c:varyColors val="0"/>
        <c:ser>
          <c:idx val="0"/>
          <c:order val="0"/>
          <c:tx>
            <c:strRef>
              <c:f>Sheet1!$B$1</c:f>
              <c:strCache>
                <c:ptCount val="1"/>
                <c:pt idx="0">
                  <c:v>Bunker Price*</c:v>
                </c:pt>
              </c:strCache>
            </c:strRef>
          </c:tx>
          <c:spPr>
            <a:ln w="19050" cap="rnd">
              <a:solidFill>
                <a:srgbClr val="0000FF"/>
              </a:solidFill>
              <a:round/>
            </a:ln>
            <a:effectLst/>
          </c:spPr>
          <c:marker>
            <c:symbol val="none"/>
          </c:marker>
          <c:dLbls>
            <c:dLbl>
              <c:idx val="202"/>
              <c:layout>
                <c:manualLayout>
                  <c:x val="-4.8477776020678036E-2"/>
                  <c:y val="-5.96887992352284E-2"/>
                </c:manualLayout>
              </c:layout>
              <c:numFmt formatCode="#,##0_);[Red]\(#,##0\)" sourceLinked="0"/>
              <c:spPr>
                <a:noFill/>
                <a:ln>
                  <a:noFill/>
                </a:ln>
                <a:effectLst/>
              </c:spPr>
              <c:txPr>
                <a:bodyPr rot="0" spcFirstLastPara="1" vertOverflow="ellipsis" vert="horz" wrap="square" lIns="0" tIns="0" rIns="0" bIns="0" anchor="ctr" anchorCtr="1">
                  <a:noAutofit/>
                </a:bodyPr>
                <a:lstStyle/>
                <a:p>
                  <a:pPr>
                    <a:defRPr sz="900" b="0" i="0" u="none" strike="noStrike" kern="1200" baseline="0">
                      <a:solidFill>
                        <a:schemeClr val="tx1">
                          <a:lumMod val="75000"/>
                          <a:lumOff val="25000"/>
                        </a:schemeClr>
                      </a:solidFill>
                      <a:latin typeface="나눔스퀘어" panose="020B0600000101010101" pitchFamily="50" charset="-127"/>
                      <a:ea typeface="나눔스퀘어" panose="020B0600000101010101" pitchFamily="50" charset="-127"/>
                      <a:cs typeface="+mn-cs"/>
                    </a:defRPr>
                  </a:pPr>
                  <a:endParaRPr lang="ko-KR"/>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layout>
                    <c:manualLayout>
                      <c:w val="8.3234269261600033E-2"/>
                      <c:h val="5.4026095857769005E-2"/>
                    </c:manualLayout>
                  </c15:layout>
                </c:ext>
                <c:ext xmlns:c16="http://schemas.microsoft.com/office/drawing/2014/chart" uri="{C3380CC4-5D6E-409C-BE32-E72D297353CC}">
                  <c16:uniqueId val="{00000000-AE3E-4D7F-A874-E8BA4C996F39}"/>
                </c:ext>
              </c:extLst>
            </c:dLbl>
            <c:numFmt formatCode="#,##0_);[Red]\(#,##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나눔스퀘어" panose="020B0600000101010101" pitchFamily="50" charset="-127"/>
                    <a:ea typeface="나눔스퀘어" panose="020B0600000101010101" pitchFamily="50" charset="-127"/>
                    <a:cs typeface="+mn-cs"/>
                  </a:defRPr>
                </a:pPr>
                <a:endParaRPr lang="ko-KR"/>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Sheet1!$A$2:$A$274</c:f>
              <c:numCache>
                <c:formatCode>m/d/yyyy</c:formatCode>
                <c:ptCount val="273"/>
                <c:pt idx="0">
                  <c:v>45819</c:v>
                </c:pt>
                <c:pt idx="1">
                  <c:v>45820</c:v>
                </c:pt>
                <c:pt idx="2">
                  <c:v>45821</c:v>
                </c:pt>
                <c:pt idx="3">
                  <c:v>45824</c:v>
                </c:pt>
                <c:pt idx="4">
                  <c:v>45825</c:v>
                </c:pt>
                <c:pt idx="5">
                  <c:v>45826</c:v>
                </c:pt>
                <c:pt idx="6">
                  <c:v>45827</c:v>
                </c:pt>
                <c:pt idx="7">
                  <c:v>45828</c:v>
                </c:pt>
                <c:pt idx="8">
                  <c:v>45831</c:v>
                </c:pt>
                <c:pt idx="9">
                  <c:v>45832</c:v>
                </c:pt>
                <c:pt idx="10">
                  <c:v>45833</c:v>
                </c:pt>
                <c:pt idx="11">
                  <c:v>45834</c:v>
                </c:pt>
                <c:pt idx="12">
                  <c:v>45835</c:v>
                </c:pt>
                <c:pt idx="13">
                  <c:v>45838</c:v>
                </c:pt>
                <c:pt idx="14">
                  <c:v>45839</c:v>
                </c:pt>
                <c:pt idx="15">
                  <c:v>45840</c:v>
                </c:pt>
                <c:pt idx="16">
                  <c:v>45841</c:v>
                </c:pt>
                <c:pt idx="17">
                  <c:v>45842</c:v>
                </c:pt>
                <c:pt idx="18">
                  <c:v>45845</c:v>
                </c:pt>
                <c:pt idx="19">
                  <c:v>45846</c:v>
                </c:pt>
                <c:pt idx="20">
                  <c:v>45847</c:v>
                </c:pt>
                <c:pt idx="21">
                  <c:v>45848</c:v>
                </c:pt>
                <c:pt idx="22">
                  <c:v>45849</c:v>
                </c:pt>
                <c:pt idx="23">
                  <c:v>45852</c:v>
                </c:pt>
                <c:pt idx="24">
                  <c:v>45853</c:v>
                </c:pt>
                <c:pt idx="25">
                  <c:v>45854</c:v>
                </c:pt>
                <c:pt idx="26">
                  <c:v>45855</c:v>
                </c:pt>
                <c:pt idx="27">
                  <c:v>45856</c:v>
                </c:pt>
                <c:pt idx="28">
                  <c:v>45859</c:v>
                </c:pt>
                <c:pt idx="29">
                  <c:v>45860</c:v>
                </c:pt>
                <c:pt idx="30">
                  <c:v>45861</c:v>
                </c:pt>
                <c:pt idx="31">
                  <c:v>45862</c:v>
                </c:pt>
                <c:pt idx="32">
                  <c:v>45863</c:v>
                </c:pt>
                <c:pt idx="33">
                  <c:v>45866</c:v>
                </c:pt>
                <c:pt idx="34">
                  <c:v>45867</c:v>
                </c:pt>
                <c:pt idx="35">
                  <c:v>45868</c:v>
                </c:pt>
                <c:pt idx="36">
                  <c:v>45869</c:v>
                </c:pt>
                <c:pt idx="37">
                  <c:v>45870</c:v>
                </c:pt>
                <c:pt idx="38">
                  <c:v>45873</c:v>
                </c:pt>
                <c:pt idx="39">
                  <c:v>45874</c:v>
                </c:pt>
                <c:pt idx="40">
                  <c:v>45875</c:v>
                </c:pt>
                <c:pt idx="41">
                  <c:v>45876</c:v>
                </c:pt>
                <c:pt idx="42">
                  <c:v>45877</c:v>
                </c:pt>
                <c:pt idx="43">
                  <c:v>45880</c:v>
                </c:pt>
                <c:pt idx="44">
                  <c:v>45881</c:v>
                </c:pt>
                <c:pt idx="45">
                  <c:v>45882</c:v>
                </c:pt>
                <c:pt idx="46">
                  <c:v>45883</c:v>
                </c:pt>
                <c:pt idx="47">
                  <c:v>45884</c:v>
                </c:pt>
                <c:pt idx="48">
                  <c:v>45887</c:v>
                </c:pt>
                <c:pt idx="49">
                  <c:v>45888</c:v>
                </c:pt>
                <c:pt idx="50">
                  <c:v>45889</c:v>
                </c:pt>
                <c:pt idx="51">
                  <c:v>45890</c:v>
                </c:pt>
                <c:pt idx="52">
                  <c:v>45891</c:v>
                </c:pt>
                <c:pt idx="53">
                  <c:v>45894</c:v>
                </c:pt>
                <c:pt idx="54">
                  <c:v>45895</c:v>
                </c:pt>
                <c:pt idx="55">
                  <c:v>45896</c:v>
                </c:pt>
                <c:pt idx="56">
                  <c:v>45897</c:v>
                </c:pt>
                <c:pt idx="57">
                  <c:v>45898</c:v>
                </c:pt>
                <c:pt idx="58">
                  <c:v>45901</c:v>
                </c:pt>
                <c:pt idx="59">
                  <c:v>45902</c:v>
                </c:pt>
                <c:pt idx="60">
                  <c:v>45903</c:v>
                </c:pt>
                <c:pt idx="61">
                  <c:v>45904</c:v>
                </c:pt>
                <c:pt idx="62">
                  <c:v>45905</c:v>
                </c:pt>
                <c:pt idx="63">
                  <c:v>45908</c:v>
                </c:pt>
                <c:pt idx="64">
                  <c:v>45909</c:v>
                </c:pt>
                <c:pt idx="65">
                  <c:v>45910</c:v>
                </c:pt>
                <c:pt idx="66">
                  <c:v>45911</c:v>
                </c:pt>
                <c:pt idx="67">
                  <c:v>45912</c:v>
                </c:pt>
                <c:pt idx="68">
                  <c:v>45915</c:v>
                </c:pt>
                <c:pt idx="69">
                  <c:v>45916</c:v>
                </c:pt>
                <c:pt idx="70">
                  <c:v>45917</c:v>
                </c:pt>
                <c:pt idx="71">
                  <c:v>45918</c:v>
                </c:pt>
                <c:pt idx="72">
                  <c:v>45919</c:v>
                </c:pt>
                <c:pt idx="73">
                  <c:v>45922</c:v>
                </c:pt>
                <c:pt idx="74">
                  <c:v>45923</c:v>
                </c:pt>
                <c:pt idx="75">
                  <c:v>45924</c:v>
                </c:pt>
                <c:pt idx="76">
                  <c:v>45925</c:v>
                </c:pt>
                <c:pt idx="77">
                  <c:v>45926</c:v>
                </c:pt>
                <c:pt idx="78">
                  <c:v>45929</c:v>
                </c:pt>
                <c:pt idx="79">
                  <c:v>45930</c:v>
                </c:pt>
                <c:pt idx="80">
                  <c:v>45931</c:v>
                </c:pt>
                <c:pt idx="81">
                  <c:v>45932</c:v>
                </c:pt>
                <c:pt idx="82">
                  <c:v>45933</c:v>
                </c:pt>
                <c:pt idx="83">
                  <c:v>45936</c:v>
                </c:pt>
                <c:pt idx="84">
                  <c:v>45937</c:v>
                </c:pt>
                <c:pt idx="85">
                  <c:v>45938</c:v>
                </c:pt>
                <c:pt idx="86">
                  <c:v>45939</c:v>
                </c:pt>
                <c:pt idx="87">
                  <c:v>45940</c:v>
                </c:pt>
                <c:pt idx="88">
                  <c:v>45943</c:v>
                </c:pt>
                <c:pt idx="89">
                  <c:v>45944</c:v>
                </c:pt>
                <c:pt idx="90">
                  <c:v>45945</c:v>
                </c:pt>
                <c:pt idx="91">
                  <c:v>45946</c:v>
                </c:pt>
                <c:pt idx="92">
                  <c:v>45947</c:v>
                </c:pt>
                <c:pt idx="93">
                  <c:v>45950</c:v>
                </c:pt>
                <c:pt idx="94">
                  <c:v>45951</c:v>
                </c:pt>
                <c:pt idx="95">
                  <c:v>45952</c:v>
                </c:pt>
                <c:pt idx="96">
                  <c:v>45953</c:v>
                </c:pt>
                <c:pt idx="97">
                  <c:v>45954</c:v>
                </c:pt>
                <c:pt idx="98">
                  <c:v>45957</c:v>
                </c:pt>
                <c:pt idx="99">
                  <c:v>45958</c:v>
                </c:pt>
                <c:pt idx="100">
                  <c:v>45959</c:v>
                </c:pt>
                <c:pt idx="101">
                  <c:v>45960</c:v>
                </c:pt>
                <c:pt idx="102">
                  <c:v>45961</c:v>
                </c:pt>
                <c:pt idx="103">
                  <c:v>45964</c:v>
                </c:pt>
                <c:pt idx="104">
                  <c:v>45965</c:v>
                </c:pt>
                <c:pt idx="105">
                  <c:v>45966</c:v>
                </c:pt>
                <c:pt idx="106">
                  <c:v>45967</c:v>
                </c:pt>
                <c:pt idx="107">
                  <c:v>45968</c:v>
                </c:pt>
                <c:pt idx="108">
                  <c:v>45971</c:v>
                </c:pt>
                <c:pt idx="109">
                  <c:v>45972</c:v>
                </c:pt>
                <c:pt idx="110">
                  <c:v>45973</c:v>
                </c:pt>
                <c:pt idx="111">
                  <c:v>45974</c:v>
                </c:pt>
                <c:pt idx="112">
                  <c:v>45975</c:v>
                </c:pt>
                <c:pt idx="113">
                  <c:v>45978</c:v>
                </c:pt>
                <c:pt idx="114">
                  <c:v>45979</c:v>
                </c:pt>
                <c:pt idx="115">
                  <c:v>45980</c:v>
                </c:pt>
                <c:pt idx="116">
                  <c:v>45981</c:v>
                </c:pt>
                <c:pt idx="117">
                  <c:v>45982</c:v>
                </c:pt>
                <c:pt idx="118">
                  <c:v>45985</c:v>
                </c:pt>
                <c:pt idx="119">
                  <c:v>45986</c:v>
                </c:pt>
                <c:pt idx="120">
                  <c:v>45987</c:v>
                </c:pt>
                <c:pt idx="121">
                  <c:v>45988</c:v>
                </c:pt>
                <c:pt idx="122">
                  <c:v>45989</c:v>
                </c:pt>
                <c:pt idx="123">
                  <c:v>45992</c:v>
                </c:pt>
                <c:pt idx="124">
                  <c:v>45993</c:v>
                </c:pt>
                <c:pt idx="125">
                  <c:v>45994</c:v>
                </c:pt>
                <c:pt idx="126">
                  <c:v>45995</c:v>
                </c:pt>
                <c:pt idx="127">
                  <c:v>45996</c:v>
                </c:pt>
                <c:pt idx="128">
                  <c:v>45999</c:v>
                </c:pt>
                <c:pt idx="129">
                  <c:v>46000</c:v>
                </c:pt>
                <c:pt idx="130">
                  <c:v>46001</c:v>
                </c:pt>
                <c:pt idx="131">
                  <c:v>46002</c:v>
                </c:pt>
                <c:pt idx="132">
                  <c:v>46003</c:v>
                </c:pt>
                <c:pt idx="133">
                  <c:v>46006</c:v>
                </c:pt>
                <c:pt idx="134">
                  <c:v>46007</c:v>
                </c:pt>
                <c:pt idx="135">
                  <c:v>46008</c:v>
                </c:pt>
                <c:pt idx="136">
                  <c:v>46009</c:v>
                </c:pt>
                <c:pt idx="137">
                  <c:v>46010</c:v>
                </c:pt>
                <c:pt idx="138">
                  <c:v>46013</c:v>
                </c:pt>
                <c:pt idx="139">
                  <c:v>46014</c:v>
                </c:pt>
                <c:pt idx="140">
                  <c:v>46015</c:v>
                </c:pt>
                <c:pt idx="141">
                  <c:v>46016</c:v>
                </c:pt>
                <c:pt idx="142">
                  <c:v>46017</c:v>
                </c:pt>
                <c:pt idx="143">
                  <c:v>46020</c:v>
                </c:pt>
                <c:pt idx="144">
                  <c:v>46021</c:v>
                </c:pt>
                <c:pt idx="145">
                  <c:v>46022</c:v>
                </c:pt>
                <c:pt idx="146">
                  <c:v>46023</c:v>
                </c:pt>
                <c:pt idx="147">
                  <c:v>46024</c:v>
                </c:pt>
                <c:pt idx="148">
                  <c:v>46027</c:v>
                </c:pt>
                <c:pt idx="149">
                  <c:v>46028</c:v>
                </c:pt>
                <c:pt idx="150">
                  <c:v>46029</c:v>
                </c:pt>
                <c:pt idx="151">
                  <c:v>46030</c:v>
                </c:pt>
                <c:pt idx="152">
                  <c:v>46031</c:v>
                </c:pt>
                <c:pt idx="153">
                  <c:v>46034</c:v>
                </c:pt>
                <c:pt idx="154">
                  <c:v>46035</c:v>
                </c:pt>
                <c:pt idx="155">
                  <c:v>46036</c:v>
                </c:pt>
                <c:pt idx="156">
                  <c:v>46037</c:v>
                </c:pt>
                <c:pt idx="157">
                  <c:v>46038</c:v>
                </c:pt>
                <c:pt idx="158">
                  <c:v>46041</c:v>
                </c:pt>
                <c:pt idx="159">
                  <c:v>46042</c:v>
                </c:pt>
                <c:pt idx="160">
                  <c:v>46043</c:v>
                </c:pt>
                <c:pt idx="161">
                  <c:v>46044</c:v>
                </c:pt>
                <c:pt idx="162">
                  <c:v>46045</c:v>
                </c:pt>
                <c:pt idx="163">
                  <c:v>46048</c:v>
                </c:pt>
                <c:pt idx="164">
                  <c:v>46049</c:v>
                </c:pt>
                <c:pt idx="165">
                  <c:v>46050</c:v>
                </c:pt>
                <c:pt idx="166">
                  <c:v>46051</c:v>
                </c:pt>
                <c:pt idx="167">
                  <c:v>46052</c:v>
                </c:pt>
                <c:pt idx="168">
                  <c:v>46055</c:v>
                </c:pt>
                <c:pt idx="169">
                  <c:v>46056</c:v>
                </c:pt>
                <c:pt idx="170">
                  <c:v>46057</c:v>
                </c:pt>
                <c:pt idx="171">
                  <c:v>46058</c:v>
                </c:pt>
                <c:pt idx="172">
                  <c:v>46059</c:v>
                </c:pt>
                <c:pt idx="173">
                  <c:v>46062</c:v>
                </c:pt>
                <c:pt idx="174">
                  <c:v>46063</c:v>
                </c:pt>
                <c:pt idx="175">
                  <c:v>46064</c:v>
                </c:pt>
                <c:pt idx="176">
                  <c:v>46065</c:v>
                </c:pt>
                <c:pt idx="177">
                  <c:v>46066</c:v>
                </c:pt>
                <c:pt idx="178">
                  <c:v>46069</c:v>
                </c:pt>
                <c:pt idx="179">
                  <c:v>46070</c:v>
                </c:pt>
                <c:pt idx="180">
                  <c:v>46071</c:v>
                </c:pt>
                <c:pt idx="181">
                  <c:v>46072</c:v>
                </c:pt>
                <c:pt idx="182">
                  <c:v>46073</c:v>
                </c:pt>
                <c:pt idx="183">
                  <c:v>46076</c:v>
                </c:pt>
                <c:pt idx="184">
                  <c:v>46077</c:v>
                </c:pt>
                <c:pt idx="185">
                  <c:v>46078</c:v>
                </c:pt>
                <c:pt idx="186">
                  <c:v>46079</c:v>
                </c:pt>
                <c:pt idx="187">
                  <c:v>46080</c:v>
                </c:pt>
                <c:pt idx="188">
                  <c:v>46083</c:v>
                </c:pt>
                <c:pt idx="189">
                  <c:v>46084</c:v>
                </c:pt>
                <c:pt idx="190">
                  <c:v>46085</c:v>
                </c:pt>
                <c:pt idx="191">
                  <c:v>46086</c:v>
                </c:pt>
                <c:pt idx="192">
                  <c:v>46087</c:v>
                </c:pt>
                <c:pt idx="193">
                  <c:v>46090</c:v>
                </c:pt>
                <c:pt idx="194">
                  <c:v>46091</c:v>
                </c:pt>
                <c:pt idx="195">
                  <c:v>46092</c:v>
                </c:pt>
                <c:pt idx="196">
                  <c:v>46093</c:v>
                </c:pt>
                <c:pt idx="197">
                  <c:v>46094</c:v>
                </c:pt>
                <c:pt idx="198">
                  <c:v>46097</c:v>
                </c:pt>
                <c:pt idx="199">
                  <c:v>46098</c:v>
                </c:pt>
                <c:pt idx="200">
                  <c:v>46099</c:v>
                </c:pt>
                <c:pt idx="201">
                  <c:v>46100</c:v>
                </c:pt>
                <c:pt idx="202">
                  <c:v>46101</c:v>
                </c:pt>
                <c:pt idx="203">
                  <c:v>46104</c:v>
                </c:pt>
                <c:pt idx="204">
                  <c:v>46105</c:v>
                </c:pt>
                <c:pt idx="205">
                  <c:v>46106</c:v>
                </c:pt>
                <c:pt idx="206">
                  <c:v>46107</c:v>
                </c:pt>
                <c:pt idx="207">
                  <c:v>46108</c:v>
                </c:pt>
                <c:pt idx="208">
                  <c:v>46111</c:v>
                </c:pt>
                <c:pt idx="209">
                  <c:v>46112</c:v>
                </c:pt>
                <c:pt idx="210">
                  <c:v>46113</c:v>
                </c:pt>
                <c:pt idx="211">
                  <c:v>46114</c:v>
                </c:pt>
                <c:pt idx="212">
                  <c:v>46115</c:v>
                </c:pt>
                <c:pt idx="213">
                  <c:v>46118</c:v>
                </c:pt>
                <c:pt idx="214">
                  <c:v>46119</c:v>
                </c:pt>
                <c:pt idx="215">
                  <c:v>46120</c:v>
                </c:pt>
                <c:pt idx="216">
                  <c:v>46121</c:v>
                </c:pt>
                <c:pt idx="217">
                  <c:v>46122</c:v>
                </c:pt>
                <c:pt idx="218">
                  <c:v>46125</c:v>
                </c:pt>
                <c:pt idx="219">
                  <c:v>46126</c:v>
                </c:pt>
                <c:pt idx="220">
                  <c:v>46127</c:v>
                </c:pt>
                <c:pt idx="221">
                  <c:v>46128</c:v>
                </c:pt>
                <c:pt idx="222">
                  <c:v>46129</c:v>
                </c:pt>
                <c:pt idx="223">
                  <c:v>46132</c:v>
                </c:pt>
                <c:pt idx="224">
                  <c:v>46133</c:v>
                </c:pt>
                <c:pt idx="225">
                  <c:v>46134</c:v>
                </c:pt>
                <c:pt idx="226">
                  <c:v>46135</c:v>
                </c:pt>
                <c:pt idx="227">
                  <c:v>46136</c:v>
                </c:pt>
                <c:pt idx="228">
                  <c:v>46139</c:v>
                </c:pt>
                <c:pt idx="229">
                  <c:v>46140</c:v>
                </c:pt>
                <c:pt idx="230">
                  <c:v>46141</c:v>
                </c:pt>
                <c:pt idx="231">
                  <c:v>46142</c:v>
                </c:pt>
                <c:pt idx="232">
                  <c:v>46143</c:v>
                </c:pt>
                <c:pt idx="233">
                  <c:v>46146</c:v>
                </c:pt>
                <c:pt idx="234">
                  <c:v>46147</c:v>
                </c:pt>
                <c:pt idx="235">
                  <c:v>46148</c:v>
                </c:pt>
                <c:pt idx="236">
                  <c:v>46149</c:v>
                </c:pt>
                <c:pt idx="237">
                  <c:v>46150</c:v>
                </c:pt>
                <c:pt idx="238">
                  <c:v>46153</c:v>
                </c:pt>
                <c:pt idx="239">
                  <c:v>46154</c:v>
                </c:pt>
                <c:pt idx="240">
                  <c:v>46155</c:v>
                </c:pt>
                <c:pt idx="241">
                  <c:v>46156</c:v>
                </c:pt>
                <c:pt idx="242">
                  <c:v>46157</c:v>
                </c:pt>
                <c:pt idx="243">
                  <c:v>46160</c:v>
                </c:pt>
                <c:pt idx="244">
                  <c:v>46161</c:v>
                </c:pt>
                <c:pt idx="245">
                  <c:v>46162</c:v>
                </c:pt>
                <c:pt idx="246">
                  <c:v>46163</c:v>
                </c:pt>
                <c:pt idx="247">
                  <c:v>46164</c:v>
                </c:pt>
                <c:pt idx="248">
                  <c:v>46167</c:v>
                </c:pt>
                <c:pt idx="249">
                  <c:v>46168</c:v>
                </c:pt>
                <c:pt idx="250">
                  <c:v>46169</c:v>
                </c:pt>
                <c:pt idx="251">
                  <c:v>46170</c:v>
                </c:pt>
                <c:pt idx="252">
                  <c:v>46171</c:v>
                </c:pt>
                <c:pt idx="253">
                  <c:v>46174</c:v>
                </c:pt>
                <c:pt idx="254">
                  <c:v>46175</c:v>
                </c:pt>
                <c:pt idx="255">
                  <c:v>46176</c:v>
                </c:pt>
                <c:pt idx="256">
                  <c:v>46177</c:v>
                </c:pt>
                <c:pt idx="257">
                  <c:v>46178</c:v>
                </c:pt>
                <c:pt idx="258">
                  <c:v>46181</c:v>
                </c:pt>
                <c:pt idx="259">
                  <c:v>46182</c:v>
                </c:pt>
                <c:pt idx="260">
                  <c:v>46183</c:v>
                </c:pt>
                <c:pt idx="261">
                  <c:v>46184</c:v>
                </c:pt>
                <c:pt idx="262">
                  <c:v>46185</c:v>
                </c:pt>
                <c:pt idx="263">
                  <c:v>46188</c:v>
                </c:pt>
                <c:pt idx="264">
                  <c:v>46189</c:v>
                </c:pt>
                <c:pt idx="265">
                  <c:v>46190</c:v>
                </c:pt>
                <c:pt idx="266">
                  <c:v>46191</c:v>
                </c:pt>
                <c:pt idx="267">
                  <c:v>46192</c:v>
                </c:pt>
                <c:pt idx="268">
                  <c:v>46195</c:v>
                </c:pt>
                <c:pt idx="269">
                  <c:v>46196</c:v>
                </c:pt>
                <c:pt idx="270">
                  <c:v>46197</c:v>
                </c:pt>
                <c:pt idx="271">
                  <c:v>46198</c:v>
                </c:pt>
                <c:pt idx="272">
                  <c:v>46199</c:v>
                </c:pt>
              </c:numCache>
            </c:numRef>
          </c:cat>
          <c:val>
            <c:numRef>
              <c:f>Sheet1!$B$2:$B$274</c:f>
              <c:numCache>
                <c:formatCode>_-* #,##0.00_-;\-* #,##0.00_-;_-* "-"_-;_-@_-</c:formatCode>
                <c:ptCount val="273"/>
                <c:pt idx="0">
                  <c:v>537.5</c:v>
                </c:pt>
                <c:pt idx="1">
                  <c:v>541.5</c:v>
                </c:pt>
                <c:pt idx="2">
                  <c:v>559.5</c:v>
                </c:pt>
                <c:pt idx="3">
                  <c:v>566</c:v>
                </c:pt>
                <c:pt idx="4">
                  <c:v>571</c:v>
                </c:pt>
                <c:pt idx="5">
                  <c:v>581.5</c:v>
                </c:pt>
                <c:pt idx="6">
                  <c:v>588</c:v>
                </c:pt>
                <c:pt idx="7">
                  <c:v>589</c:v>
                </c:pt>
                <c:pt idx="8">
                  <c:v>588</c:v>
                </c:pt>
                <c:pt idx="9">
                  <c:v>562.5</c:v>
                </c:pt>
                <c:pt idx="10">
                  <c:v>557.5</c:v>
                </c:pt>
                <c:pt idx="11">
                  <c:v>556</c:v>
                </c:pt>
                <c:pt idx="12">
                  <c:v>554</c:v>
                </c:pt>
                <c:pt idx="13">
                  <c:v>553</c:v>
                </c:pt>
                <c:pt idx="14">
                  <c:v>553</c:v>
                </c:pt>
                <c:pt idx="15">
                  <c:v>552</c:v>
                </c:pt>
                <c:pt idx="16">
                  <c:v>555.5</c:v>
                </c:pt>
                <c:pt idx="17">
                  <c:v>555.5</c:v>
                </c:pt>
                <c:pt idx="18">
                  <c:v>553</c:v>
                </c:pt>
                <c:pt idx="19">
                  <c:v>555.5</c:v>
                </c:pt>
                <c:pt idx="20">
                  <c:v>559.5</c:v>
                </c:pt>
                <c:pt idx="21">
                  <c:v>557.5</c:v>
                </c:pt>
                <c:pt idx="22">
                  <c:v>554</c:v>
                </c:pt>
                <c:pt idx="23">
                  <c:v>557.5</c:v>
                </c:pt>
                <c:pt idx="24">
                  <c:v>557</c:v>
                </c:pt>
                <c:pt idx="25">
                  <c:v>552</c:v>
                </c:pt>
                <c:pt idx="26">
                  <c:v>550.5</c:v>
                </c:pt>
                <c:pt idx="27">
                  <c:v>550.5</c:v>
                </c:pt>
                <c:pt idx="28">
                  <c:v>550</c:v>
                </c:pt>
                <c:pt idx="29">
                  <c:v>549.5</c:v>
                </c:pt>
                <c:pt idx="30">
                  <c:v>547</c:v>
                </c:pt>
                <c:pt idx="31">
                  <c:v>548.5</c:v>
                </c:pt>
                <c:pt idx="32">
                  <c:v>548</c:v>
                </c:pt>
                <c:pt idx="33">
                  <c:v>547</c:v>
                </c:pt>
                <c:pt idx="34">
                  <c:v>550</c:v>
                </c:pt>
                <c:pt idx="35">
                  <c:v>555.5</c:v>
                </c:pt>
                <c:pt idx="36">
                  <c:v>556.5</c:v>
                </c:pt>
                <c:pt idx="37">
                  <c:v>556</c:v>
                </c:pt>
                <c:pt idx="38">
                  <c:v>549</c:v>
                </c:pt>
                <c:pt idx="39">
                  <c:v>546</c:v>
                </c:pt>
                <c:pt idx="40">
                  <c:v>543.5</c:v>
                </c:pt>
                <c:pt idx="41">
                  <c:v>541</c:v>
                </c:pt>
                <c:pt idx="42">
                  <c:v>537</c:v>
                </c:pt>
                <c:pt idx="43">
                  <c:v>533.5</c:v>
                </c:pt>
                <c:pt idx="44">
                  <c:v>532</c:v>
                </c:pt>
                <c:pt idx="45">
                  <c:v>531</c:v>
                </c:pt>
                <c:pt idx="46">
                  <c:v>529.5</c:v>
                </c:pt>
                <c:pt idx="47">
                  <c:v>531.5</c:v>
                </c:pt>
                <c:pt idx="48">
                  <c:v>528.5</c:v>
                </c:pt>
                <c:pt idx="49">
                  <c:v>527</c:v>
                </c:pt>
                <c:pt idx="50">
                  <c:v>527</c:v>
                </c:pt>
                <c:pt idx="51">
                  <c:v>529</c:v>
                </c:pt>
                <c:pt idx="52">
                  <c:v>527.5</c:v>
                </c:pt>
                <c:pt idx="53">
                  <c:v>531</c:v>
                </c:pt>
                <c:pt idx="54">
                  <c:v>532.5</c:v>
                </c:pt>
                <c:pt idx="55">
                  <c:v>530</c:v>
                </c:pt>
                <c:pt idx="56">
                  <c:v>529</c:v>
                </c:pt>
                <c:pt idx="57">
                  <c:v>531</c:v>
                </c:pt>
                <c:pt idx="58">
                  <c:v>533.5</c:v>
                </c:pt>
                <c:pt idx="59">
                  <c:v>534.5</c:v>
                </c:pt>
                <c:pt idx="60">
                  <c:v>536</c:v>
                </c:pt>
                <c:pt idx="61">
                  <c:v>530.5</c:v>
                </c:pt>
                <c:pt idx="62">
                  <c:v>525.5</c:v>
                </c:pt>
                <c:pt idx="63">
                  <c:v>524.5</c:v>
                </c:pt>
                <c:pt idx="64">
                  <c:v>524</c:v>
                </c:pt>
                <c:pt idx="65">
                  <c:v>521</c:v>
                </c:pt>
                <c:pt idx="66">
                  <c:v>517.5</c:v>
                </c:pt>
                <c:pt idx="67">
                  <c:v>516.5</c:v>
                </c:pt>
                <c:pt idx="68">
                  <c:v>516.5</c:v>
                </c:pt>
                <c:pt idx="69">
                  <c:v>521.5</c:v>
                </c:pt>
                <c:pt idx="70">
                  <c:v>524</c:v>
                </c:pt>
                <c:pt idx="71">
                  <c:v>524</c:v>
                </c:pt>
                <c:pt idx="72">
                  <c:v>520.5</c:v>
                </c:pt>
                <c:pt idx="73">
                  <c:v>515</c:v>
                </c:pt>
                <c:pt idx="74">
                  <c:v>514.5</c:v>
                </c:pt>
                <c:pt idx="75">
                  <c:v>518</c:v>
                </c:pt>
                <c:pt idx="76">
                  <c:v>520.5</c:v>
                </c:pt>
                <c:pt idx="77">
                  <c:v>524.5</c:v>
                </c:pt>
                <c:pt idx="78">
                  <c:v>523</c:v>
                </c:pt>
                <c:pt idx="79">
                  <c:v>518.5</c:v>
                </c:pt>
                <c:pt idx="80">
                  <c:v>516.5</c:v>
                </c:pt>
                <c:pt idx="81">
                  <c:v>514</c:v>
                </c:pt>
                <c:pt idx="82">
                  <c:v>511.5</c:v>
                </c:pt>
                <c:pt idx="83">
                  <c:v>513</c:v>
                </c:pt>
                <c:pt idx="84">
                  <c:v>515</c:v>
                </c:pt>
                <c:pt idx="85">
                  <c:v>513.5</c:v>
                </c:pt>
                <c:pt idx="86">
                  <c:v>513.5</c:v>
                </c:pt>
                <c:pt idx="87">
                  <c:v>506</c:v>
                </c:pt>
                <c:pt idx="88">
                  <c:v>501.5</c:v>
                </c:pt>
                <c:pt idx="89">
                  <c:v>495.5</c:v>
                </c:pt>
                <c:pt idx="90">
                  <c:v>490</c:v>
                </c:pt>
                <c:pt idx="91">
                  <c:v>489</c:v>
                </c:pt>
                <c:pt idx="92">
                  <c:v>483</c:v>
                </c:pt>
                <c:pt idx="93">
                  <c:v>482.5</c:v>
                </c:pt>
                <c:pt idx="94">
                  <c:v>483.5</c:v>
                </c:pt>
                <c:pt idx="95">
                  <c:v>485</c:v>
                </c:pt>
                <c:pt idx="96">
                  <c:v>493</c:v>
                </c:pt>
                <c:pt idx="97">
                  <c:v>498.5</c:v>
                </c:pt>
                <c:pt idx="98">
                  <c:v>499</c:v>
                </c:pt>
                <c:pt idx="99">
                  <c:v>495</c:v>
                </c:pt>
                <c:pt idx="100">
                  <c:v>493</c:v>
                </c:pt>
                <c:pt idx="101">
                  <c:v>491</c:v>
                </c:pt>
                <c:pt idx="102">
                  <c:v>491</c:v>
                </c:pt>
                <c:pt idx="103">
                  <c:v>495</c:v>
                </c:pt>
                <c:pt idx="104">
                  <c:v>494.5</c:v>
                </c:pt>
                <c:pt idx="105">
                  <c:v>494</c:v>
                </c:pt>
                <c:pt idx="106">
                  <c:v>492.5</c:v>
                </c:pt>
                <c:pt idx="107">
                  <c:v>492.5</c:v>
                </c:pt>
                <c:pt idx="108">
                  <c:v>495.5</c:v>
                </c:pt>
                <c:pt idx="109">
                  <c:v>495</c:v>
                </c:pt>
                <c:pt idx="110">
                  <c:v>496</c:v>
                </c:pt>
                <c:pt idx="111">
                  <c:v>490</c:v>
                </c:pt>
                <c:pt idx="112">
                  <c:v>490</c:v>
                </c:pt>
                <c:pt idx="113">
                  <c:v>492</c:v>
                </c:pt>
                <c:pt idx="114">
                  <c:v>493</c:v>
                </c:pt>
                <c:pt idx="115">
                  <c:v>490</c:v>
                </c:pt>
                <c:pt idx="116">
                  <c:v>486.5</c:v>
                </c:pt>
                <c:pt idx="117">
                  <c:v>482</c:v>
                </c:pt>
                <c:pt idx="118">
                  <c:v>477</c:v>
                </c:pt>
                <c:pt idx="119">
                  <c:v>473</c:v>
                </c:pt>
                <c:pt idx="120">
                  <c:v>470.5</c:v>
                </c:pt>
                <c:pt idx="121">
                  <c:v>471.5</c:v>
                </c:pt>
                <c:pt idx="122">
                  <c:v>472</c:v>
                </c:pt>
                <c:pt idx="123">
                  <c:v>473.5</c:v>
                </c:pt>
                <c:pt idx="124">
                  <c:v>473</c:v>
                </c:pt>
                <c:pt idx="125">
                  <c:v>469.5</c:v>
                </c:pt>
                <c:pt idx="126">
                  <c:v>470.5</c:v>
                </c:pt>
                <c:pt idx="127">
                  <c:v>472.5</c:v>
                </c:pt>
                <c:pt idx="128">
                  <c:v>470.5</c:v>
                </c:pt>
                <c:pt idx="129">
                  <c:v>469.5</c:v>
                </c:pt>
                <c:pt idx="130">
                  <c:v>466</c:v>
                </c:pt>
                <c:pt idx="131">
                  <c:v>464</c:v>
                </c:pt>
                <c:pt idx="132">
                  <c:v>462</c:v>
                </c:pt>
                <c:pt idx="133">
                  <c:v>461</c:v>
                </c:pt>
                <c:pt idx="134">
                  <c:v>457.5</c:v>
                </c:pt>
                <c:pt idx="135">
                  <c:v>456</c:v>
                </c:pt>
                <c:pt idx="136">
                  <c:v>455.5</c:v>
                </c:pt>
                <c:pt idx="137">
                  <c:v>457</c:v>
                </c:pt>
                <c:pt idx="138">
                  <c:v>458</c:v>
                </c:pt>
                <c:pt idx="139">
                  <c:v>462</c:v>
                </c:pt>
                <c:pt idx="140">
                  <c:v>463</c:v>
                </c:pt>
                <c:pt idx="141">
                  <c:v>463</c:v>
                </c:pt>
                <c:pt idx="142">
                  <c:v>462</c:v>
                </c:pt>
                <c:pt idx="143">
                  <c:v>464.5</c:v>
                </c:pt>
                <c:pt idx="144">
                  <c:v>463</c:v>
                </c:pt>
                <c:pt idx="145">
                  <c:v>463.5</c:v>
                </c:pt>
                <c:pt idx="146">
                  <c:v>464</c:v>
                </c:pt>
                <c:pt idx="147">
                  <c:v>462</c:v>
                </c:pt>
                <c:pt idx="148">
                  <c:v>460</c:v>
                </c:pt>
                <c:pt idx="149">
                  <c:v>460</c:v>
                </c:pt>
                <c:pt idx="150">
                  <c:v>458.5</c:v>
                </c:pt>
                <c:pt idx="151">
                  <c:v>458</c:v>
                </c:pt>
                <c:pt idx="152">
                  <c:v>462</c:v>
                </c:pt>
                <c:pt idx="153">
                  <c:v>466</c:v>
                </c:pt>
                <c:pt idx="154">
                  <c:v>472</c:v>
                </c:pt>
                <c:pt idx="155">
                  <c:v>477.5</c:v>
                </c:pt>
                <c:pt idx="156">
                  <c:v>477</c:v>
                </c:pt>
                <c:pt idx="157">
                  <c:v>476</c:v>
                </c:pt>
                <c:pt idx="158">
                  <c:v>476</c:v>
                </c:pt>
                <c:pt idx="159">
                  <c:v>476</c:v>
                </c:pt>
                <c:pt idx="160">
                  <c:v>480</c:v>
                </c:pt>
                <c:pt idx="161">
                  <c:v>484.5</c:v>
                </c:pt>
                <c:pt idx="162">
                  <c:v>485</c:v>
                </c:pt>
                <c:pt idx="163">
                  <c:v>488</c:v>
                </c:pt>
                <c:pt idx="164">
                  <c:v>487</c:v>
                </c:pt>
                <c:pt idx="165">
                  <c:v>493.5</c:v>
                </c:pt>
                <c:pt idx="166">
                  <c:v>502</c:v>
                </c:pt>
                <c:pt idx="167">
                  <c:v>503</c:v>
                </c:pt>
                <c:pt idx="168">
                  <c:v>495</c:v>
                </c:pt>
                <c:pt idx="169">
                  <c:v>494.5</c:v>
                </c:pt>
                <c:pt idx="170">
                  <c:v>503.5</c:v>
                </c:pt>
                <c:pt idx="171">
                  <c:v>507.5</c:v>
                </c:pt>
                <c:pt idx="172">
                  <c:v>508.5</c:v>
                </c:pt>
                <c:pt idx="173">
                  <c:v>507.5</c:v>
                </c:pt>
                <c:pt idx="174">
                  <c:v>510.5</c:v>
                </c:pt>
                <c:pt idx="175">
                  <c:v>516.5</c:v>
                </c:pt>
                <c:pt idx="176">
                  <c:v>517</c:v>
                </c:pt>
                <c:pt idx="177">
                  <c:v>509.5</c:v>
                </c:pt>
                <c:pt idx="178">
                  <c:v>510</c:v>
                </c:pt>
                <c:pt idx="179">
                  <c:v>512.5</c:v>
                </c:pt>
                <c:pt idx="180">
                  <c:v>516</c:v>
                </c:pt>
                <c:pt idx="181">
                  <c:v>532</c:v>
                </c:pt>
                <c:pt idx="182">
                  <c:v>535.5</c:v>
                </c:pt>
                <c:pt idx="183">
                  <c:v>536</c:v>
                </c:pt>
                <c:pt idx="184">
                  <c:v>538</c:v>
                </c:pt>
                <c:pt idx="185">
                  <c:v>537.5</c:v>
                </c:pt>
                <c:pt idx="186">
                  <c:v>536.5</c:v>
                </c:pt>
                <c:pt idx="187">
                  <c:v>543.5</c:v>
                </c:pt>
                <c:pt idx="188">
                  <c:v>587.5</c:v>
                </c:pt>
                <c:pt idx="189">
                  <c:v>629</c:v>
                </c:pt>
                <c:pt idx="190">
                  <c:v>659</c:v>
                </c:pt>
                <c:pt idx="191">
                  <c:v>681.5</c:v>
                </c:pt>
                <c:pt idx="192">
                  <c:v>735</c:v>
                </c:pt>
                <c:pt idx="193">
                  <c:v>929</c:v>
                </c:pt>
                <c:pt idx="194">
                  <c:v>907</c:v>
                </c:pt>
                <c:pt idx="195">
                  <c:v>960</c:v>
                </c:pt>
                <c:pt idx="196">
                  <c:v>1005</c:v>
                </c:pt>
                <c:pt idx="197">
                  <c:v>1022.5</c:v>
                </c:pt>
                <c:pt idx="198">
                  <c:v>1036.5</c:v>
                </c:pt>
                <c:pt idx="199">
                  <c:v>1017</c:v>
                </c:pt>
                <c:pt idx="200">
                  <c:v>1014</c:v>
                </c:pt>
                <c:pt idx="201">
                  <c:v>1048.5</c:v>
                </c:pt>
                <c:pt idx="202">
                  <c:v>1053</c:v>
                </c:pt>
                <c:pt idx="203">
                  <c:v>1035.5</c:v>
                </c:pt>
                <c:pt idx="204">
                  <c:v>974.5</c:v>
                </c:pt>
                <c:pt idx="205">
                  <c:v>936.5</c:v>
                </c:pt>
                <c:pt idx="206">
                  <c:v>939.5</c:v>
                </c:pt>
                <c:pt idx="207">
                  <c:v>940.5</c:v>
                </c:pt>
                <c:pt idx="208">
                  <c:v>971.5</c:v>
                </c:pt>
                <c:pt idx="209">
                  <c:v>965</c:v>
                </c:pt>
                <c:pt idx="210">
                  <c:v>957.5</c:v>
                </c:pt>
                <c:pt idx="211">
                  <c:v>958</c:v>
                </c:pt>
                <c:pt idx="212">
                  <c:v>958.5</c:v>
                </c:pt>
                <c:pt idx="213">
                  <c:v>977.5</c:v>
                </c:pt>
                <c:pt idx="214">
                  <c:v>972</c:v>
                </c:pt>
                <c:pt idx="215">
                  <c:v>919</c:v>
                </c:pt>
                <c:pt idx="216">
                  <c:v>893.5</c:v>
                </c:pt>
                <c:pt idx="217">
                  <c:v>886</c:v>
                </c:pt>
                <c:pt idx="218">
                  <c:v>891.5</c:v>
                </c:pt>
                <c:pt idx="219">
                  <c:v>889</c:v>
                </c:pt>
                <c:pt idx="220">
                  <c:v>861.5</c:v>
                </c:pt>
                <c:pt idx="221">
                  <c:v>856</c:v>
                </c:pt>
                <c:pt idx="222">
                  <c:v>838.5</c:v>
                </c:pt>
                <c:pt idx="223">
                  <c:v>828.5</c:v>
                </c:pt>
                <c:pt idx="224">
                  <c:v>819.5</c:v>
                </c:pt>
                <c:pt idx="225">
                  <c:v>828</c:v>
                </c:pt>
                <c:pt idx="226">
                  <c:v>849</c:v>
                </c:pt>
                <c:pt idx="227">
                  <c:v>864</c:v>
                </c:pt>
                <c:pt idx="228">
                  <c:v>859.5</c:v>
                </c:pt>
                <c:pt idx="229">
                  <c:v>871</c:v>
                </c:pt>
                <c:pt idx="230">
                  <c:v>889</c:v>
                </c:pt>
                <c:pt idx="231">
                  <c:v>906.5</c:v>
                </c:pt>
                <c:pt idx="232">
                  <c:v>901</c:v>
                </c:pt>
                <c:pt idx="233">
                  <c:v>907.5</c:v>
                </c:pt>
                <c:pt idx="234">
                  <c:v>939.5</c:v>
                </c:pt>
                <c:pt idx="235">
                  <c:v>925.5</c:v>
                </c:pt>
                <c:pt idx="236">
                  <c:v>902.5</c:v>
                </c:pt>
                <c:pt idx="237">
                  <c:v>906</c:v>
                </c:pt>
                <c:pt idx="238">
                  <c:v>909.5</c:v>
                </c:pt>
                <c:pt idx="239">
                  <c:v>913.5</c:v>
                </c:pt>
                <c:pt idx="240">
                  <c:v>912</c:v>
                </c:pt>
                <c:pt idx="241">
                  <c:v>911</c:v>
                </c:pt>
                <c:pt idx="242">
                  <c:v>919</c:v>
                </c:pt>
                <c:pt idx="243">
                  <c:v>926</c:v>
                </c:pt>
                <c:pt idx="244">
                  <c:v>927.5</c:v>
                </c:pt>
                <c:pt idx="245">
                  <c:v>923</c:v>
                </c:pt>
                <c:pt idx="246">
                  <c:v>903.5</c:v>
                </c:pt>
                <c:pt idx="247">
                  <c:v>890</c:v>
                </c:pt>
                <c:pt idx="248">
                  <c:v>860</c:v>
                </c:pt>
                <c:pt idx="249">
                  <c:v>866</c:v>
                </c:pt>
                <c:pt idx="250">
                  <c:v>855.5</c:v>
                </c:pt>
                <c:pt idx="251">
                  <c:v>856</c:v>
                </c:pt>
                <c:pt idx="252">
                  <c:v>843.5</c:v>
                </c:pt>
                <c:pt idx="253">
                  <c:v>850</c:v>
                </c:pt>
                <c:pt idx="254">
                  <c:v>849.5</c:v>
                </c:pt>
                <c:pt idx="255">
                  <c:v>864.5</c:v>
                </c:pt>
                <c:pt idx="256">
                  <c:v>859</c:v>
                </c:pt>
                <c:pt idx="257">
                  <c:v>855.5</c:v>
                </c:pt>
                <c:pt idx="258">
                  <c:v>857.5</c:v>
                </c:pt>
                <c:pt idx="259">
                  <c:v>845</c:v>
                </c:pt>
                <c:pt idx="260">
                  <c:v>834</c:v>
                </c:pt>
                <c:pt idx="261">
                  <c:v>820</c:v>
                </c:pt>
                <c:pt idx="262">
                  <c:v>805</c:v>
                </c:pt>
                <c:pt idx="263">
                  <c:v>784.5</c:v>
                </c:pt>
                <c:pt idx="264">
                  <c:v>757.5</c:v>
                </c:pt>
                <c:pt idx="265">
                  <c:v>742</c:v>
                </c:pt>
                <c:pt idx="266">
                  <c:v>738.5</c:v>
                </c:pt>
                <c:pt idx="267">
                  <c:v>736</c:v>
                </c:pt>
                <c:pt idx="268">
                  <c:v>734.5</c:v>
                </c:pt>
                <c:pt idx="269">
                  <c:v>723.5</c:v>
                </c:pt>
                <c:pt idx="270">
                  <c:v>722</c:v>
                </c:pt>
                <c:pt idx="271">
                  <c:v>709</c:v>
                </c:pt>
                <c:pt idx="272">
                  <c:v>707</c:v>
                </c:pt>
              </c:numCache>
            </c:numRef>
          </c:val>
          <c:smooth val="0"/>
          <c:extLst>
            <c:ext xmlns:c16="http://schemas.microsoft.com/office/drawing/2014/chart" uri="{C3380CC4-5D6E-409C-BE32-E72D297353CC}">
              <c16:uniqueId val="{00000001-AE3E-4D7F-A874-E8BA4C996F39}"/>
            </c:ext>
          </c:extLst>
        </c:ser>
        <c:ser>
          <c:idx val="1"/>
          <c:order val="1"/>
          <c:tx>
            <c:strRef>
              <c:f>Sheet1!$C$1</c:f>
              <c:strCache>
                <c:ptCount val="1"/>
                <c:pt idx="0">
                  <c:v>Brent</c:v>
                </c:pt>
              </c:strCache>
            </c:strRef>
          </c:tx>
          <c:spPr>
            <a:ln w="19050" cap="rnd">
              <a:solidFill>
                <a:srgbClr val="002B5C"/>
              </a:solidFill>
              <a:round/>
            </a:ln>
            <a:effectLst/>
          </c:spPr>
          <c:marker>
            <c:symbol val="none"/>
          </c:marker>
          <c:cat>
            <c:numRef>
              <c:f>Sheet1!$A$2:$A$274</c:f>
              <c:numCache>
                <c:formatCode>m/d/yyyy</c:formatCode>
                <c:ptCount val="273"/>
                <c:pt idx="0">
                  <c:v>45819</c:v>
                </c:pt>
                <c:pt idx="1">
                  <c:v>45820</c:v>
                </c:pt>
                <c:pt idx="2">
                  <c:v>45821</c:v>
                </c:pt>
                <c:pt idx="3">
                  <c:v>45824</c:v>
                </c:pt>
                <c:pt idx="4">
                  <c:v>45825</c:v>
                </c:pt>
                <c:pt idx="5">
                  <c:v>45826</c:v>
                </c:pt>
                <c:pt idx="6">
                  <c:v>45827</c:v>
                </c:pt>
                <c:pt idx="7">
                  <c:v>45828</c:v>
                </c:pt>
                <c:pt idx="8">
                  <c:v>45831</c:v>
                </c:pt>
                <c:pt idx="9">
                  <c:v>45832</c:v>
                </c:pt>
                <c:pt idx="10">
                  <c:v>45833</c:v>
                </c:pt>
                <c:pt idx="11">
                  <c:v>45834</c:v>
                </c:pt>
                <c:pt idx="12">
                  <c:v>45835</c:v>
                </c:pt>
                <c:pt idx="13">
                  <c:v>45838</c:v>
                </c:pt>
                <c:pt idx="14">
                  <c:v>45839</c:v>
                </c:pt>
                <c:pt idx="15">
                  <c:v>45840</c:v>
                </c:pt>
                <c:pt idx="16">
                  <c:v>45841</c:v>
                </c:pt>
                <c:pt idx="17">
                  <c:v>45842</c:v>
                </c:pt>
                <c:pt idx="18">
                  <c:v>45845</c:v>
                </c:pt>
                <c:pt idx="19">
                  <c:v>45846</c:v>
                </c:pt>
                <c:pt idx="20">
                  <c:v>45847</c:v>
                </c:pt>
                <c:pt idx="21">
                  <c:v>45848</c:v>
                </c:pt>
                <c:pt idx="22">
                  <c:v>45849</c:v>
                </c:pt>
                <c:pt idx="23">
                  <c:v>45852</c:v>
                </c:pt>
                <c:pt idx="24">
                  <c:v>45853</c:v>
                </c:pt>
                <c:pt idx="25">
                  <c:v>45854</c:v>
                </c:pt>
                <c:pt idx="26">
                  <c:v>45855</c:v>
                </c:pt>
                <c:pt idx="27">
                  <c:v>45856</c:v>
                </c:pt>
                <c:pt idx="28">
                  <c:v>45859</c:v>
                </c:pt>
                <c:pt idx="29">
                  <c:v>45860</c:v>
                </c:pt>
                <c:pt idx="30">
                  <c:v>45861</c:v>
                </c:pt>
                <c:pt idx="31">
                  <c:v>45862</c:v>
                </c:pt>
                <c:pt idx="32">
                  <c:v>45863</c:v>
                </c:pt>
                <c:pt idx="33">
                  <c:v>45866</c:v>
                </c:pt>
                <c:pt idx="34">
                  <c:v>45867</c:v>
                </c:pt>
                <c:pt idx="35">
                  <c:v>45868</c:v>
                </c:pt>
                <c:pt idx="36">
                  <c:v>45869</c:v>
                </c:pt>
                <c:pt idx="37">
                  <c:v>45870</c:v>
                </c:pt>
                <c:pt idx="38">
                  <c:v>45873</c:v>
                </c:pt>
                <c:pt idx="39">
                  <c:v>45874</c:v>
                </c:pt>
                <c:pt idx="40">
                  <c:v>45875</c:v>
                </c:pt>
                <c:pt idx="41">
                  <c:v>45876</c:v>
                </c:pt>
                <c:pt idx="42">
                  <c:v>45877</c:v>
                </c:pt>
                <c:pt idx="43">
                  <c:v>45880</c:v>
                </c:pt>
                <c:pt idx="44">
                  <c:v>45881</c:v>
                </c:pt>
                <c:pt idx="45">
                  <c:v>45882</c:v>
                </c:pt>
                <c:pt idx="46">
                  <c:v>45883</c:v>
                </c:pt>
                <c:pt idx="47">
                  <c:v>45884</c:v>
                </c:pt>
                <c:pt idx="48">
                  <c:v>45887</c:v>
                </c:pt>
                <c:pt idx="49">
                  <c:v>45888</c:v>
                </c:pt>
                <c:pt idx="50">
                  <c:v>45889</c:v>
                </c:pt>
                <c:pt idx="51">
                  <c:v>45890</c:v>
                </c:pt>
                <c:pt idx="52">
                  <c:v>45891</c:v>
                </c:pt>
                <c:pt idx="53">
                  <c:v>45894</c:v>
                </c:pt>
                <c:pt idx="54">
                  <c:v>45895</c:v>
                </c:pt>
                <c:pt idx="55">
                  <c:v>45896</c:v>
                </c:pt>
                <c:pt idx="56">
                  <c:v>45897</c:v>
                </c:pt>
                <c:pt idx="57">
                  <c:v>45898</c:v>
                </c:pt>
                <c:pt idx="58">
                  <c:v>45901</c:v>
                </c:pt>
                <c:pt idx="59">
                  <c:v>45902</c:v>
                </c:pt>
                <c:pt idx="60">
                  <c:v>45903</c:v>
                </c:pt>
                <c:pt idx="61">
                  <c:v>45904</c:v>
                </c:pt>
                <c:pt idx="62">
                  <c:v>45905</c:v>
                </c:pt>
                <c:pt idx="63">
                  <c:v>45908</c:v>
                </c:pt>
                <c:pt idx="64">
                  <c:v>45909</c:v>
                </c:pt>
                <c:pt idx="65">
                  <c:v>45910</c:v>
                </c:pt>
                <c:pt idx="66">
                  <c:v>45911</c:v>
                </c:pt>
                <c:pt idx="67">
                  <c:v>45912</c:v>
                </c:pt>
                <c:pt idx="68">
                  <c:v>45915</c:v>
                </c:pt>
                <c:pt idx="69">
                  <c:v>45916</c:v>
                </c:pt>
                <c:pt idx="70">
                  <c:v>45917</c:v>
                </c:pt>
                <c:pt idx="71">
                  <c:v>45918</c:v>
                </c:pt>
                <c:pt idx="72">
                  <c:v>45919</c:v>
                </c:pt>
                <c:pt idx="73">
                  <c:v>45922</c:v>
                </c:pt>
                <c:pt idx="74">
                  <c:v>45923</c:v>
                </c:pt>
                <c:pt idx="75">
                  <c:v>45924</c:v>
                </c:pt>
                <c:pt idx="76">
                  <c:v>45925</c:v>
                </c:pt>
                <c:pt idx="77">
                  <c:v>45926</c:v>
                </c:pt>
                <c:pt idx="78">
                  <c:v>45929</c:v>
                </c:pt>
                <c:pt idx="79">
                  <c:v>45930</c:v>
                </c:pt>
                <c:pt idx="80">
                  <c:v>45931</c:v>
                </c:pt>
                <c:pt idx="81">
                  <c:v>45932</c:v>
                </c:pt>
                <c:pt idx="82">
                  <c:v>45933</c:v>
                </c:pt>
                <c:pt idx="83">
                  <c:v>45936</c:v>
                </c:pt>
                <c:pt idx="84">
                  <c:v>45937</c:v>
                </c:pt>
                <c:pt idx="85">
                  <c:v>45938</c:v>
                </c:pt>
                <c:pt idx="86">
                  <c:v>45939</c:v>
                </c:pt>
                <c:pt idx="87">
                  <c:v>45940</c:v>
                </c:pt>
                <c:pt idx="88">
                  <c:v>45943</c:v>
                </c:pt>
                <c:pt idx="89">
                  <c:v>45944</c:v>
                </c:pt>
                <c:pt idx="90">
                  <c:v>45945</c:v>
                </c:pt>
                <c:pt idx="91">
                  <c:v>45946</c:v>
                </c:pt>
                <c:pt idx="92">
                  <c:v>45947</c:v>
                </c:pt>
                <c:pt idx="93">
                  <c:v>45950</c:v>
                </c:pt>
                <c:pt idx="94">
                  <c:v>45951</c:v>
                </c:pt>
                <c:pt idx="95">
                  <c:v>45952</c:v>
                </c:pt>
                <c:pt idx="96">
                  <c:v>45953</c:v>
                </c:pt>
                <c:pt idx="97">
                  <c:v>45954</c:v>
                </c:pt>
                <c:pt idx="98">
                  <c:v>45957</c:v>
                </c:pt>
                <c:pt idx="99">
                  <c:v>45958</c:v>
                </c:pt>
                <c:pt idx="100">
                  <c:v>45959</c:v>
                </c:pt>
                <c:pt idx="101">
                  <c:v>45960</c:v>
                </c:pt>
                <c:pt idx="102">
                  <c:v>45961</c:v>
                </c:pt>
                <c:pt idx="103">
                  <c:v>45964</c:v>
                </c:pt>
                <c:pt idx="104">
                  <c:v>45965</c:v>
                </c:pt>
                <c:pt idx="105">
                  <c:v>45966</c:v>
                </c:pt>
                <c:pt idx="106">
                  <c:v>45967</c:v>
                </c:pt>
                <c:pt idx="107">
                  <c:v>45968</c:v>
                </c:pt>
                <c:pt idx="108">
                  <c:v>45971</c:v>
                </c:pt>
                <c:pt idx="109">
                  <c:v>45972</c:v>
                </c:pt>
                <c:pt idx="110">
                  <c:v>45973</c:v>
                </c:pt>
                <c:pt idx="111">
                  <c:v>45974</c:v>
                </c:pt>
                <c:pt idx="112">
                  <c:v>45975</c:v>
                </c:pt>
                <c:pt idx="113">
                  <c:v>45978</c:v>
                </c:pt>
                <c:pt idx="114">
                  <c:v>45979</c:v>
                </c:pt>
                <c:pt idx="115">
                  <c:v>45980</c:v>
                </c:pt>
                <c:pt idx="116">
                  <c:v>45981</c:v>
                </c:pt>
                <c:pt idx="117">
                  <c:v>45982</c:v>
                </c:pt>
                <c:pt idx="118">
                  <c:v>45985</c:v>
                </c:pt>
                <c:pt idx="119">
                  <c:v>45986</c:v>
                </c:pt>
                <c:pt idx="120">
                  <c:v>45987</c:v>
                </c:pt>
                <c:pt idx="121">
                  <c:v>45988</c:v>
                </c:pt>
                <c:pt idx="122">
                  <c:v>45989</c:v>
                </c:pt>
                <c:pt idx="123">
                  <c:v>45992</c:v>
                </c:pt>
                <c:pt idx="124">
                  <c:v>45993</c:v>
                </c:pt>
                <c:pt idx="125">
                  <c:v>45994</c:v>
                </c:pt>
                <c:pt idx="126">
                  <c:v>45995</c:v>
                </c:pt>
                <c:pt idx="127">
                  <c:v>45996</c:v>
                </c:pt>
                <c:pt idx="128">
                  <c:v>45999</c:v>
                </c:pt>
                <c:pt idx="129">
                  <c:v>46000</c:v>
                </c:pt>
                <c:pt idx="130">
                  <c:v>46001</c:v>
                </c:pt>
                <c:pt idx="131">
                  <c:v>46002</c:v>
                </c:pt>
                <c:pt idx="132">
                  <c:v>46003</c:v>
                </c:pt>
                <c:pt idx="133">
                  <c:v>46006</c:v>
                </c:pt>
                <c:pt idx="134">
                  <c:v>46007</c:v>
                </c:pt>
                <c:pt idx="135">
                  <c:v>46008</c:v>
                </c:pt>
                <c:pt idx="136">
                  <c:v>46009</c:v>
                </c:pt>
                <c:pt idx="137">
                  <c:v>46010</c:v>
                </c:pt>
                <c:pt idx="138">
                  <c:v>46013</c:v>
                </c:pt>
                <c:pt idx="139">
                  <c:v>46014</c:v>
                </c:pt>
                <c:pt idx="140">
                  <c:v>46015</c:v>
                </c:pt>
                <c:pt idx="141">
                  <c:v>46016</c:v>
                </c:pt>
                <c:pt idx="142">
                  <c:v>46017</c:v>
                </c:pt>
                <c:pt idx="143">
                  <c:v>46020</c:v>
                </c:pt>
                <c:pt idx="144">
                  <c:v>46021</c:v>
                </c:pt>
                <c:pt idx="145">
                  <c:v>46022</c:v>
                </c:pt>
                <c:pt idx="146">
                  <c:v>46023</c:v>
                </c:pt>
                <c:pt idx="147">
                  <c:v>46024</c:v>
                </c:pt>
                <c:pt idx="148">
                  <c:v>46027</c:v>
                </c:pt>
                <c:pt idx="149">
                  <c:v>46028</c:v>
                </c:pt>
                <c:pt idx="150">
                  <c:v>46029</c:v>
                </c:pt>
                <c:pt idx="151">
                  <c:v>46030</c:v>
                </c:pt>
                <c:pt idx="152">
                  <c:v>46031</c:v>
                </c:pt>
                <c:pt idx="153">
                  <c:v>46034</c:v>
                </c:pt>
                <c:pt idx="154">
                  <c:v>46035</c:v>
                </c:pt>
                <c:pt idx="155">
                  <c:v>46036</c:v>
                </c:pt>
                <c:pt idx="156">
                  <c:v>46037</c:v>
                </c:pt>
                <c:pt idx="157">
                  <c:v>46038</c:v>
                </c:pt>
                <c:pt idx="158">
                  <c:v>46041</c:v>
                </c:pt>
                <c:pt idx="159">
                  <c:v>46042</c:v>
                </c:pt>
                <c:pt idx="160">
                  <c:v>46043</c:v>
                </c:pt>
                <c:pt idx="161">
                  <c:v>46044</c:v>
                </c:pt>
                <c:pt idx="162">
                  <c:v>46045</c:v>
                </c:pt>
                <c:pt idx="163">
                  <c:v>46048</c:v>
                </c:pt>
                <c:pt idx="164">
                  <c:v>46049</c:v>
                </c:pt>
                <c:pt idx="165">
                  <c:v>46050</c:v>
                </c:pt>
                <c:pt idx="166">
                  <c:v>46051</c:v>
                </c:pt>
                <c:pt idx="167">
                  <c:v>46052</c:v>
                </c:pt>
                <c:pt idx="168">
                  <c:v>46055</c:v>
                </c:pt>
                <c:pt idx="169">
                  <c:v>46056</c:v>
                </c:pt>
                <c:pt idx="170">
                  <c:v>46057</c:v>
                </c:pt>
                <c:pt idx="171">
                  <c:v>46058</c:v>
                </c:pt>
                <c:pt idx="172">
                  <c:v>46059</c:v>
                </c:pt>
                <c:pt idx="173">
                  <c:v>46062</c:v>
                </c:pt>
                <c:pt idx="174">
                  <c:v>46063</c:v>
                </c:pt>
                <c:pt idx="175">
                  <c:v>46064</c:v>
                </c:pt>
                <c:pt idx="176">
                  <c:v>46065</c:v>
                </c:pt>
                <c:pt idx="177">
                  <c:v>46066</c:v>
                </c:pt>
                <c:pt idx="178">
                  <c:v>46069</c:v>
                </c:pt>
                <c:pt idx="179">
                  <c:v>46070</c:v>
                </c:pt>
                <c:pt idx="180">
                  <c:v>46071</c:v>
                </c:pt>
                <c:pt idx="181">
                  <c:v>46072</c:v>
                </c:pt>
                <c:pt idx="182">
                  <c:v>46073</c:v>
                </c:pt>
                <c:pt idx="183">
                  <c:v>46076</c:v>
                </c:pt>
                <c:pt idx="184">
                  <c:v>46077</c:v>
                </c:pt>
                <c:pt idx="185">
                  <c:v>46078</c:v>
                </c:pt>
                <c:pt idx="186">
                  <c:v>46079</c:v>
                </c:pt>
                <c:pt idx="187">
                  <c:v>46080</c:v>
                </c:pt>
                <c:pt idx="188">
                  <c:v>46083</c:v>
                </c:pt>
                <c:pt idx="189">
                  <c:v>46084</c:v>
                </c:pt>
                <c:pt idx="190">
                  <c:v>46085</c:v>
                </c:pt>
                <c:pt idx="191">
                  <c:v>46086</c:v>
                </c:pt>
                <c:pt idx="192">
                  <c:v>46087</c:v>
                </c:pt>
                <c:pt idx="193">
                  <c:v>46090</c:v>
                </c:pt>
                <c:pt idx="194">
                  <c:v>46091</c:v>
                </c:pt>
                <c:pt idx="195">
                  <c:v>46092</c:v>
                </c:pt>
                <c:pt idx="196">
                  <c:v>46093</c:v>
                </c:pt>
                <c:pt idx="197">
                  <c:v>46094</c:v>
                </c:pt>
                <c:pt idx="198">
                  <c:v>46097</c:v>
                </c:pt>
                <c:pt idx="199">
                  <c:v>46098</c:v>
                </c:pt>
                <c:pt idx="200">
                  <c:v>46099</c:v>
                </c:pt>
                <c:pt idx="201">
                  <c:v>46100</c:v>
                </c:pt>
                <c:pt idx="202">
                  <c:v>46101</c:v>
                </c:pt>
                <c:pt idx="203">
                  <c:v>46104</c:v>
                </c:pt>
                <c:pt idx="204">
                  <c:v>46105</c:v>
                </c:pt>
                <c:pt idx="205">
                  <c:v>46106</c:v>
                </c:pt>
                <c:pt idx="206">
                  <c:v>46107</c:v>
                </c:pt>
                <c:pt idx="207">
                  <c:v>46108</c:v>
                </c:pt>
                <c:pt idx="208">
                  <c:v>46111</c:v>
                </c:pt>
                <c:pt idx="209">
                  <c:v>46112</c:v>
                </c:pt>
                <c:pt idx="210">
                  <c:v>46113</c:v>
                </c:pt>
                <c:pt idx="211">
                  <c:v>46114</c:v>
                </c:pt>
                <c:pt idx="212">
                  <c:v>46115</c:v>
                </c:pt>
                <c:pt idx="213">
                  <c:v>46118</c:v>
                </c:pt>
                <c:pt idx="214">
                  <c:v>46119</c:v>
                </c:pt>
                <c:pt idx="215">
                  <c:v>46120</c:v>
                </c:pt>
                <c:pt idx="216">
                  <c:v>46121</c:v>
                </c:pt>
                <c:pt idx="217">
                  <c:v>46122</c:v>
                </c:pt>
                <c:pt idx="218">
                  <c:v>46125</c:v>
                </c:pt>
                <c:pt idx="219">
                  <c:v>46126</c:v>
                </c:pt>
                <c:pt idx="220">
                  <c:v>46127</c:v>
                </c:pt>
                <c:pt idx="221">
                  <c:v>46128</c:v>
                </c:pt>
                <c:pt idx="222">
                  <c:v>46129</c:v>
                </c:pt>
                <c:pt idx="223">
                  <c:v>46132</c:v>
                </c:pt>
                <c:pt idx="224">
                  <c:v>46133</c:v>
                </c:pt>
                <c:pt idx="225">
                  <c:v>46134</c:v>
                </c:pt>
                <c:pt idx="226">
                  <c:v>46135</c:v>
                </c:pt>
                <c:pt idx="227">
                  <c:v>46136</c:v>
                </c:pt>
                <c:pt idx="228">
                  <c:v>46139</c:v>
                </c:pt>
                <c:pt idx="229">
                  <c:v>46140</c:v>
                </c:pt>
                <c:pt idx="230">
                  <c:v>46141</c:v>
                </c:pt>
                <c:pt idx="231">
                  <c:v>46142</c:v>
                </c:pt>
                <c:pt idx="232">
                  <c:v>46143</c:v>
                </c:pt>
                <c:pt idx="233">
                  <c:v>46146</c:v>
                </c:pt>
                <c:pt idx="234">
                  <c:v>46147</c:v>
                </c:pt>
                <c:pt idx="235">
                  <c:v>46148</c:v>
                </c:pt>
                <c:pt idx="236">
                  <c:v>46149</c:v>
                </c:pt>
                <c:pt idx="237">
                  <c:v>46150</c:v>
                </c:pt>
                <c:pt idx="238">
                  <c:v>46153</c:v>
                </c:pt>
                <c:pt idx="239">
                  <c:v>46154</c:v>
                </c:pt>
                <c:pt idx="240">
                  <c:v>46155</c:v>
                </c:pt>
                <c:pt idx="241">
                  <c:v>46156</c:v>
                </c:pt>
                <c:pt idx="242">
                  <c:v>46157</c:v>
                </c:pt>
                <c:pt idx="243">
                  <c:v>46160</c:v>
                </c:pt>
                <c:pt idx="244">
                  <c:v>46161</c:v>
                </c:pt>
                <c:pt idx="245">
                  <c:v>46162</c:v>
                </c:pt>
                <c:pt idx="246">
                  <c:v>46163</c:v>
                </c:pt>
                <c:pt idx="247">
                  <c:v>46164</c:v>
                </c:pt>
                <c:pt idx="248">
                  <c:v>46167</c:v>
                </c:pt>
                <c:pt idx="249">
                  <c:v>46168</c:v>
                </c:pt>
                <c:pt idx="250">
                  <c:v>46169</c:v>
                </c:pt>
                <c:pt idx="251">
                  <c:v>46170</c:v>
                </c:pt>
                <c:pt idx="252">
                  <c:v>46171</c:v>
                </c:pt>
                <c:pt idx="253">
                  <c:v>46174</c:v>
                </c:pt>
                <c:pt idx="254">
                  <c:v>46175</c:v>
                </c:pt>
                <c:pt idx="255">
                  <c:v>46176</c:v>
                </c:pt>
                <c:pt idx="256">
                  <c:v>46177</c:v>
                </c:pt>
                <c:pt idx="257">
                  <c:v>46178</c:v>
                </c:pt>
                <c:pt idx="258">
                  <c:v>46181</c:v>
                </c:pt>
                <c:pt idx="259">
                  <c:v>46182</c:v>
                </c:pt>
                <c:pt idx="260">
                  <c:v>46183</c:v>
                </c:pt>
                <c:pt idx="261">
                  <c:v>46184</c:v>
                </c:pt>
                <c:pt idx="262">
                  <c:v>46185</c:v>
                </c:pt>
                <c:pt idx="263">
                  <c:v>46188</c:v>
                </c:pt>
                <c:pt idx="264">
                  <c:v>46189</c:v>
                </c:pt>
                <c:pt idx="265">
                  <c:v>46190</c:v>
                </c:pt>
                <c:pt idx="266">
                  <c:v>46191</c:v>
                </c:pt>
                <c:pt idx="267">
                  <c:v>46192</c:v>
                </c:pt>
                <c:pt idx="268">
                  <c:v>46195</c:v>
                </c:pt>
                <c:pt idx="269">
                  <c:v>46196</c:v>
                </c:pt>
                <c:pt idx="270">
                  <c:v>46197</c:v>
                </c:pt>
                <c:pt idx="271">
                  <c:v>46198</c:v>
                </c:pt>
                <c:pt idx="272">
                  <c:v>46199</c:v>
                </c:pt>
              </c:numCache>
            </c:numRef>
          </c:cat>
          <c:val>
            <c:numRef>
              <c:f>Sheet1!$C$2:$C$274</c:f>
              <c:numCache>
                <c:formatCode>_-* #,##0.00_-;\-* #,##0.00_-;_-* "-"_-;_-@_-</c:formatCode>
                <c:ptCount val="273"/>
                <c:pt idx="0">
                  <c:v>525.37</c:v>
                </c:pt>
                <c:pt idx="1">
                  <c:v>529.42999999999995</c:v>
                </c:pt>
                <c:pt idx="2">
                  <c:v>558.95000000000005</c:v>
                </c:pt>
                <c:pt idx="3">
                  <c:v>551.41999999999996</c:v>
                </c:pt>
                <c:pt idx="4">
                  <c:v>575.66999999999996</c:v>
                </c:pt>
                <c:pt idx="5">
                  <c:v>577.54999999999995</c:v>
                </c:pt>
                <c:pt idx="6">
                  <c:v>592.91</c:v>
                </c:pt>
                <c:pt idx="7">
                  <c:v>579.89</c:v>
                </c:pt>
                <c:pt idx="8">
                  <c:v>521.08000000000004</c:v>
                </c:pt>
                <c:pt idx="9">
                  <c:v>498.26</c:v>
                </c:pt>
                <c:pt idx="10">
                  <c:v>500.37</c:v>
                </c:pt>
                <c:pt idx="11">
                  <c:v>502.55</c:v>
                </c:pt>
                <c:pt idx="12">
                  <c:v>500.07</c:v>
                </c:pt>
                <c:pt idx="13">
                  <c:v>501.72</c:v>
                </c:pt>
                <c:pt idx="14">
                  <c:v>506.09</c:v>
                </c:pt>
                <c:pt idx="15">
                  <c:v>519.72</c:v>
                </c:pt>
                <c:pt idx="16">
                  <c:v>518.44000000000005</c:v>
                </c:pt>
                <c:pt idx="17">
                  <c:v>515.88</c:v>
                </c:pt>
                <c:pt idx="18">
                  <c:v>524.09</c:v>
                </c:pt>
                <c:pt idx="19">
                  <c:v>527.25</c:v>
                </c:pt>
                <c:pt idx="20">
                  <c:v>528.29999999999995</c:v>
                </c:pt>
                <c:pt idx="21">
                  <c:v>518.59</c:v>
                </c:pt>
                <c:pt idx="22">
                  <c:v>531.84</c:v>
                </c:pt>
                <c:pt idx="23">
                  <c:v>519.87</c:v>
                </c:pt>
                <c:pt idx="24">
                  <c:v>518.44000000000005</c:v>
                </c:pt>
                <c:pt idx="25">
                  <c:v>515.96</c:v>
                </c:pt>
                <c:pt idx="26">
                  <c:v>523.49</c:v>
                </c:pt>
                <c:pt idx="27">
                  <c:v>521.67999999999995</c:v>
                </c:pt>
                <c:pt idx="28">
                  <c:v>521.15</c:v>
                </c:pt>
                <c:pt idx="29">
                  <c:v>516.48</c:v>
                </c:pt>
                <c:pt idx="30">
                  <c:v>515.88</c:v>
                </c:pt>
                <c:pt idx="31">
                  <c:v>522.04999999999995</c:v>
                </c:pt>
                <c:pt idx="32">
                  <c:v>514.6</c:v>
                </c:pt>
                <c:pt idx="33">
                  <c:v>521.98</c:v>
                </c:pt>
                <c:pt idx="34">
                  <c:v>540.42999999999995</c:v>
                </c:pt>
                <c:pt idx="35">
                  <c:v>545.70000000000005</c:v>
                </c:pt>
                <c:pt idx="36">
                  <c:v>540.5</c:v>
                </c:pt>
                <c:pt idx="37">
                  <c:v>522.88</c:v>
                </c:pt>
                <c:pt idx="38">
                  <c:v>517.16</c:v>
                </c:pt>
                <c:pt idx="39">
                  <c:v>509.33</c:v>
                </c:pt>
                <c:pt idx="40">
                  <c:v>503.68</c:v>
                </c:pt>
                <c:pt idx="41">
                  <c:v>500.22</c:v>
                </c:pt>
                <c:pt idx="42">
                  <c:v>498.03</c:v>
                </c:pt>
                <c:pt idx="43">
                  <c:v>502.33</c:v>
                </c:pt>
                <c:pt idx="44">
                  <c:v>497.88</c:v>
                </c:pt>
                <c:pt idx="45">
                  <c:v>494.19</c:v>
                </c:pt>
                <c:pt idx="46">
                  <c:v>503.68</c:v>
                </c:pt>
                <c:pt idx="47">
                  <c:v>495.85</c:v>
                </c:pt>
                <c:pt idx="48">
                  <c:v>501.5</c:v>
                </c:pt>
                <c:pt idx="49">
                  <c:v>496.68</c:v>
                </c:pt>
                <c:pt idx="50">
                  <c:v>504.66</c:v>
                </c:pt>
                <c:pt idx="51">
                  <c:v>509.25</c:v>
                </c:pt>
                <c:pt idx="52">
                  <c:v>510.46</c:v>
                </c:pt>
                <c:pt idx="53">
                  <c:v>513.70000000000005</c:v>
                </c:pt>
                <c:pt idx="54">
                  <c:v>502.18</c:v>
                </c:pt>
                <c:pt idx="55">
                  <c:v>507.82</c:v>
                </c:pt>
                <c:pt idx="56">
                  <c:v>509.25</c:v>
                </c:pt>
                <c:pt idx="57">
                  <c:v>508.12</c:v>
                </c:pt>
                <c:pt idx="58">
                  <c:v>513.24</c:v>
                </c:pt>
                <c:pt idx="59">
                  <c:v>520.62</c:v>
                </c:pt>
                <c:pt idx="60">
                  <c:v>507.45</c:v>
                </c:pt>
                <c:pt idx="61">
                  <c:v>494.27</c:v>
                </c:pt>
                <c:pt idx="62">
                  <c:v>494.27</c:v>
                </c:pt>
                <c:pt idx="63">
                  <c:v>497.13</c:v>
                </c:pt>
                <c:pt idx="64">
                  <c:v>499.92</c:v>
                </c:pt>
                <c:pt idx="65">
                  <c:v>508.2</c:v>
                </c:pt>
                <c:pt idx="66">
                  <c:v>499.16</c:v>
                </c:pt>
                <c:pt idx="67">
                  <c:v>504.43</c:v>
                </c:pt>
                <c:pt idx="68">
                  <c:v>507.82</c:v>
                </c:pt>
                <c:pt idx="69">
                  <c:v>515.58000000000004</c:v>
                </c:pt>
                <c:pt idx="70">
                  <c:v>511.66</c:v>
                </c:pt>
                <c:pt idx="71">
                  <c:v>507.82</c:v>
                </c:pt>
                <c:pt idx="72">
                  <c:v>501.8</c:v>
                </c:pt>
                <c:pt idx="73">
                  <c:v>501.27</c:v>
                </c:pt>
                <c:pt idx="74">
                  <c:v>509.25</c:v>
                </c:pt>
                <c:pt idx="75">
                  <c:v>521.9</c:v>
                </c:pt>
                <c:pt idx="76">
                  <c:v>524.39</c:v>
                </c:pt>
                <c:pt idx="77">
                  <c:v>524.62</c:v>
                </c:pt>
                <c:pt idx="78">
                  <c:v>505.19</c:v>
                </c:pt>
                <c:pt idx="79">
                  <c:v>497.21</c:v>
                </c:pt>
                <c:pt idx="80">
                  <c:v>492.84</c:v>
                </c:pt>
                <c:pt idx="81">
                  <c:v>482.75</c:v>
                </c:pt>
                <c:pt idx="82">
                  <c:v>484.63</c:v>
                </c:pt>
                <c:pt idx="83">
                  <c:v>492.99</c:v>
                </c:pt>
                <c:pt idx="84">
                  <c:v>495.02</c:v>
                </c:pt>
                <c:pt idx="85">
                  <c:v>498.86</c:v>
                </c:pt>
                <c:pt idx="86">
                  <c:v>491.18</c:v>
                </c:pt>
                <c:pt idx="87">
                  <c:v>468.44</c:v>
                </c:pt>
                <c:pt idx="88">
                  <c:v>476.8</c:v>
                </c:pt>
                <c:pt idx="89">
                  <c:v>468.97</c:v>
                </c:pt>
                <c:pt idx="90">
                  <c:v>466.18</c:v>
                </c:pt>
                <c:pt idx="91">
                  <c:v>459.78</c:v>
                </c:pt>
                <c:pt idx="92">
                  <c:v>462.19</c:v>
                </c:pt>
                <c:pt idx="93">
                  <c:v>459.41</c:v>
                </c:pt>
                <c:pt idx="94">
                  <c:v>461.74</c:v>
                </c:pt>
                <c:pt idx="95">
                  <c:v>471.3</c:v>
                </c:pt>
                <c:pt idx="96">
                  <c:v>496.9</c:v>
                </c:pt>
                <c:pt idx="97">
                  <c:v>496.53</c:v>
                </c:pt>
                <c:pt idx="98">
                  <c:v>488.7</c:v>
                </c:pt>
                <c:pt idx="99">
                  <c:v>480.64</c:v>
                </c:pt>
                <c:pt idx="100">
                  <c:v>484.33</c:v>
                </c:pt>
                <c:pt idx="101">
                  <c:v>482.3</c:v>
                </c:pt>
                <c:pt idx="102">
                  <c:v>487.04</c:v>
                </c:pt>
                <c:pt idx="103">
                  <c:v>488.62</c:v>
                </c:pt>
                <c:pt idx="104">
                  <c:v>485.23</c:v>
                </c:pt>
                <c:pt idx="105">
                  <c:v>478.31</c:v>
                </c:pt>
                <c:pt idx="106">
                  <c:v>477.25</c:v>
                </c:pt>
                <c:pt idx="107">
                  <c:v>479.59</c:v>
                </c:pt>
                <c:pt idx="108">
                  <c:v>482.37</c:v>
                </c:pt>
                <c:pt idx="109">
                  <c:v>490.65</c:v>
                </c:pt>
                <c:pt idx="110">
                  <c:v>472.21</c:v>
                </c:pt>
                <c:pt idx="111">
                  <c:v>474.47</c:v>
                </c:pt>
                <c:pt idx="112">
                  <c:v>484.86</c:v>
                </c:pt>
                <c:pt idx="113">
                  <c:v>450.75</c:v>
                </c:pt>
                <c:pt idx="114">
                  <c:v>488.09</c:v>
                </c:pt>
                <c:pt idx="115">
                  <c:v>478.23</c:v>
                </c:pt>
                <c:pt idx="116">
                  <c:v>477.25</c:v>
                </c:pt>
                <c:pt idx="117">
                  <c:v>471.08</c:v>
                </c:pt>
                <c:pt idx="118">
                  <c:v>471.53</c:v>
                </c:pt>
                <c:pt idx="119">
                  <c:v>465.35</c:v>
                </c:pt>
                <c:pt idx="120">
                  <c:v>470.93</c:v>
                </c:pt>
                <c:pt idx="121">
                  <c:v>473.41</c:v>
                </c:pt>
                <c:pt idx="122">
                  <c:v>469.27</c:v>
                </c:pt>
                <c:pt idx="123">
                  <c:v>475.67</c:v>
                </c:pt>
                <c:pt idx="124">
                  <c:v>470.25</c:v>
                </c:pt>
                <c:pt idx="125">
                  <c:v>471.91</c:v>
                </c:pt>
                <c:pt idx="126">
                  <c:v>476.35</c:v>
                </c:pt>
                <c:pt idx="127">
                  <c:v>480.19</c:v>
                </c:pt>
                <c:pt idx="128">
                  <c:v>470.55</c:v>
                </c:pt>
                <c:pt idx="129">
                  <c:v>466.41</c:v>
                </c:pt>
                <c:pt idx="130">
                  <c:v>471.3</c:v>
                </c:pt>
                <c:pt idx="131">
                  <c:v>461.44</c:v>
                </c:pt>
                <c:pt idx="132">
                  <c:v>460.23</c:v>
                </c:pt>
                <c:pt idx="133">
                  <c:v>456.02</c:v>
                </c:pt>
                <c:pt idx="134">
                  <c:v>443.67</c:v>
                </c:pt>
                <c:pt idx="135">
                  <c:v>449.39</c:v>
                </c:pt>
                <c:pt idx="136">
                  <c:v>455.34</c:v>
                </c:pt>
                <c:pt idx="137">
                  <c:v>458.13</c:v>
                </c:pt>
                <c:pt idx="138">
                  <c:v>467.39</c:v>
                </c:pt>
                <c:pt idx="139">
                  <c:v>470.55</c:v>
                </c:pt>
                <c:pt idx="140">
                  <c:v>468.67</c:v>
                </c:pt>
                <c:pt idx="141">
                  <c:v>468.67</c:v>
                </c:pt>
                <c:pt idx="142">
                  <c:v>456.62</c:v>
                </c:pt>
                <c:pt idx="143">
                  <c:v>463.02</c:v>
                </c:pt>
                <c:pt idx="144">
                  <c:v>459.93</c:v>
                </c:pt>
                <c:pt idx="145">
                  <c:v>458.65</c:v>
                </c:pt>
                <c:pt idx="146">
                  <c:v>458.65</c:v>
                </c:pt>
                <c:pt idx="147">
                  <c:v>457.45</c:v>
                </c:pt>
                <c:pt idx="148">
                  <c:v>465.43</c:v>
                </c:pt>
                <c:pt idx="149">
                  <c:v>455.64</c:v>
                </c:pt>
                <c:pt idx="150">
                  <c:v>454.66</c:v>
                </c:pt>
                <c:pt idx="151">
                  <c:v>466.78</c:v>
                </c:pt>
                <c:pt idx="152">
                  <c:v>474.47</c:v>
                </c:pt>
                <c:pt idx="153">
                  <c:v>483.28</c:v>
                </c:pt>
                <c:pt idx="154">
                  <c:v>492.91</c:v>
                </c:pt>
                <c:pt idx="155">
                  <c:v>488.09</c:v>
                </c:pt>
                <c:pt idx="156">
                  <c:v>480.94</c:v>
                </c:pt>
                <c:pt idx="157">
                  <c:v>481.84</c:v>
                </c:pt>
                <c:pt idx="158">
                  <c:v>481.47</c:v>
                </c:pt>
                <c:pt idx="159">
                  <c:v>488.85</c:v>
                </c:pt>
                <c:pt idx="160">
                  <c:v>492.09</c:v>
                </c:pt>
                <c:pt idx="161">
                  <c:v>485.46</c:v>
                </c:pt>
                <c:pt idx="162">
                  <c:v>496.08</c:v>
                </c:pt>
                <c:pt idx="163">
                  <c:v>487.72</c:v>
                </c:pt>
                <c:pt idx="164">
                  <c:v>501.42</c:v>
                </c:pt>
                <c:pt idx="165">
                  <c:v>507.3</c:v>
                </c:pt>
                <c:pt idx="166">
                  <c:v>524.01</c:v>
                </c:pt>
                <c:pt idx="167">
                  <c:v>525.74</c:v>
                </c:pt>
                <c:pt idx="168">
                  <c:v>499.24</c:v>
                </c:pt>
                <c:pt idx="169">
                  <c:v>510.68</c:v>
                </c:pt>
                <c:pt idx="170">
                  <c:v>523.03</c:v>
                </c:pt>
                <c:pt idx="171">
                  <c:v>506.92</c:v>
                </c:pt>
                <c:pt idx="172">
                  <c:v>512.41999999999996</c:v>
                </c:pt>
                <c:pt idx="173">
                  <c:v>520.62</c:v>
                </c:pt>
                <c:pt idx="174">
                  <c:v>520.16999999999996</c:v>
                </c:pt>
                <c:pt idx="175">
                  <c:v>524.46</c:v>
                </c:pt>
                <c:pt idx="176">
                  <c:v>508.43</c:v>
                </c:pt>
                <c:pt idx="177">
                  <c:v>510.16</c:v>
                </c:pt>
                <c:pt idx="178">
                  <c:v>516.78</c:v>
                </c:pt>
                <c:pt idx="179">
                  <c:v>507.22</c:v>
                </c:pt>
                <c:pt idx="180">
                  <c:v>528.61</c:v>
                </c:pt>
                <c:pt idx="181">
                  <c:v>539.6</c:v>
                </c:pt>
                <c:pt idx="182">
                  <c:v>539.22</c:v>
                </c:pt>
                <c:pt idx="183">
                  <c:v>535.61</c:v>
                </c:pt>
                <c:pt idx="184">
                  <c:v>534.86</c:v>
                </c:pt>
                <c:pt idx="185">
                  <c:v>533.5</c:v>
                </c:pt>
                <c:pt idx="186">
                  <c:v>533.04999999999995</c:v>
                </c:pt>
                <c:pt idx="187">
                  <c:v>548.71</c:v>
                </c:pt>
                <c:pt idx="188">
                  <c:v>587.79</c:v>
                </c:pt>
                <c:pt idx="189">
                  <c:v>612.94000000000005</c:v>
                </c:pt>
                <c:pt idx="190">
                  <c:v>621.83000000000004</c:v>
                </c:pt>
                <c:pt idx="191">
                  <c:v>643.14</c:v>
                </c:pt>
                <c:pt idx="192">
                  <c:v>700.59</c:v>
                </c:pt>
                <c:pt idx="193">
                  <c:v>680.18</c:v>
                </c:pt>
                <c:pt idx="194">
                  <c:v>661.13</c:v>
                </c:pt>
                <c:pt idx="195">
                  <c:v>705.03</c:v>
                </c:pt>
                <c:pt idx="196">
                  <c:v>752.4</c:v>
                </c:pt>
                <c:pt idx="197">
                  <c:v>782.29</c:v>
                </c:pt>
                <c:pt idx="198">
                  <c:v>759.48</c:v>
                </c:pt>
                <c:pt idx="199">
                  <c:v>777.62</c:v>
                </c:pt>
                <c:pt idx="200">
                  <c:v>824.31</c:v>
                </c:pt>
                <c:pt idx="201">
                  <c:v>808.95</c:v>
                </c:pt>
                <c:pt idx="202">
                  <c:v>814.75</c:v>
                </c:pt>
                <c:pt idx="203">
                  <c:v>722.28</c:v>
                </c:pt>
                <c:pt idx="204">
                  <c:v>722.2</c:v>
                </c:pt>
                <c:pt idx="205">
                  <c:v>738.92</c:v>
                </c:pt>
                <c:pt idx="206">
                  <c:v>767.23</c:v>
                </c:pt>
                <c:pt idx="207">
                  <c:v>804.88</c:v>
                </c:pt>
                <c:pt idx="208">
                  <c:v>808.65</c:v>
                </c:pt>
                <c:pt idx="209">
                  <c:v>782.89</c:v>
                </c:pt>
                <c:pt idx="210">
                  <c:v>761.73</c:v>
                </c:pt>
                <c:pt idx="211">
                  <c:v>822.58</c:v>
                </c:pt>
                <c:pt idx="212">
                  <c:v>822.58</c:v>
                </c:pt>
                <c:pt idx="213">
                  <c:v>826.57</c:v>
                </c:pt>
                <c:pt idx="214">
                  <c:v>778.75</c:v>
                </c:pt>
                <c:pt idx="215">
                  <c:v>713.47</c:v>
                </c:pt>
                <c:pt idx="216">
                  <c:v>722.28</c:v>
                </c:pt>
                <c:pt idx="217">
                  <c:v>716.86</c:v>
                </c:pt>
                <c:pt idx="218">
                  <c:v>748.18</c:v>
                </c:pt>
                <c:pt idx="219">
                  <c:v>713.77</c:v>
                </c:pt>
                <c:pt idx="220">
                  <c:v>714.75</c:v>
                </c:pt>
                <c:pt idx="221">
                  <c:v>748.41</c:v>
                </c:pt>
                <c:pt idx="222">
                  <c:v>689.52</c:v>
                </c:pt>
                <c:pt idx="223">
                  <c:v>718.96</c:v>
                </c:pt>
                <c:pt idx="224">
                  <c:v>745.7</c:v>
                </c:pt>
                <c:pt idx="225">
                  <c:v>766.7</c:v>
                </c:pt>
                <c:pt idx="226">
                  <c:v>798.86</c:v>
                </c:pt>
                <c:pt idx="227">
                  <c:v>797.43</c:v>
                </c:pt>
                <c:pt idx="228">
                  <c:v>767.53</c:v>
                </c:pt>
                <c:pt idx="229">
                  <c:v>786.73</c:v>
                </c:pt>
                <c:pt idx="230">
                  <c:v>831.61</c:v>
                </c:pt>
                <c:pt idx="231">
                  <c:v>831.31</c:v>
                </c:pt>
                <c:pt idx="232">
                  <c:v>814.52</c:v>
                </c:pt>
                <c:pt idx="233">
                  <c:v>858.87</c:v>
                </c:pt>
                <c:pt idx="234">
                  <c:v>830.63</c:v>
                </c:pt>
                <c:pt idx="235">
                  <c:v>767.76</c:v>
                </c:pt>
                <c:pt idx="236">
                  <c:v>777.62</c:v>
                </c:pt>
                <c:pt idx="237">
                  <c:v>757.29</c:v>
                </c:pt>
                <c:pt idx="238">
                  <c:v>787.49</c:v>
                </c:pt>
                <c:pt idx="239">
                  <c:v>811.51</c:v>
                </c:pt>
                <c:pt idx="240">
                  <c:v>796.07</c:v>
                </c:pt>
                <c:pt idx="241">
                  <c:v>796.07</c:v>
                </c:pt>
                <c:pt idx="242">
                  <c:v>822.2</c:v>
                </c:pt>
                <c:pt idx="243">
                  <c:v>823.18</c:v>
                </c:pt>
                <c:pt idx="244">
                  <c:v>837.94</c:v>
                </c:pt>
                <c:pt idx="245">
                  <c:v>790.8</c:v>
                </c:pt>
                <c:pt idx="246">
                  <c:v>789.9</c:v>
                </c:pt>
                <c:pt idx="247">
                  <c:v>783.5</c:v>
                </c:pt>
                <c:pt idx="248">
                  <c:v>705.18</c:v>
                </c:pt>
                <c:pt idx="249">
                  <c:v>724.99</c:v>
                </c:pt>
                <c:pt idx="250">
                  <c:v>694.64</c:v>
                </c:pt>
                <c:pt idx="251">
                  <c:v>697.96</c:v>
                </c:pt>
                <c:pt idx="252">
                  <c:v>686.13</c:v>
                </c:pt>
                <c:pt idx="253">
                  <c:v>715.2</c:v>
                </c:pt>
                <c:pt idx="254">
                  <c:v>722.88</c:v>
                </c:pt>
                <c:pt idx="255">
                  <c:v>736.51</c:v>
                </c:pt>
                <c:pt idx="256">
                  <c:v>715.58</c:v>
                </c:pt>
                <c:pt idx="257">
                  <c:v>699.46</c:v>
                </c:pt>
                <c:pt idx="258">
                  <c:v>708.65</c:v>
                </c:pt>
                <c:pt idx="259">
                  <c:v>695.32</c:v>
                </c:pt>
                <c:pt idx="260">
                  <c:v>715.35</c:v>
                </c:pt>
                <c:pt idx="261">
                  <c:v>680.56</c:v>
                </c:pt>
                <c:pt idx="262">
                  <c:v>653.15</c:v>
                </c:pt>
                <c:pt idx="263">
                  <c:v>626.27</c:v>
                </c:pt>
                <c:pt idx="264">
                  <c:v>597.42999999999995</c:v>
                </c:pt>
                <c:pt idx="265">
                  <c:v>592.54</c:v>
                </c:pt>
                <c:pt idx="266">
                  <c:v>596.83000000000004</c:v>
                </c:pt>
                <c:pt idx="267">
                  <c:v>605.26</c:v>
                </c:pt>
                <c:pt idx="268">
                  <c:v>583.73</c:v>
                </c:pt>
                <c:pt idx="269">
                  <c:v>578.29999999999995</c:v>
                </c:pt>
                <c:pt idx="270">
                  <c:v>556.24</c:v>
                </c:pt>
                <c:pt idx="271">
                  <c:v>568.52</c:v>
                </c:pt>
                <c:pt idx="272">
                  <c:v>546.67999999999995</c:v>
                </c:pt>
              </c:numCache>
            </c:numRef>
          </c:val>
          <c:smooth val="0"/>
          <c:extLst>
            <c:ext xmlns:c16="http://schemas.microsoft.com/office/drawing/2014/chart" uri="{C3380CC4-5D6E-409C-BE32-E72D297353CC}">
              <c16:uniqueId val="{00000002-AE3E-4D7F-A874-E8BA4C996F39}"/>
            </c:ext>
          </c:extLst>
        </c:ser>
        <c:dLbls>
          <c:showLegendKey val="0"/>
          <c:showVal val="0"/>
          <c:showCatName val="0"/>
          <c:showSerName val="0"/>
          <c:showPercent val="0"/>
          <c:showBubbleSize val="0"/>
        </c:dLbls>
        <c:smooth val="0"/>
        <c:axId val="1634175472"/>
        <c:axId val="1634174640"/>
      </c:lineChart>
      <c:dateAx>
        <c:axId val="1634175472"/>
        <c:scaling>
          <c:orientation val="minMax"/>
          <c:min val="45839"/>
        </c:scaling>
        <c:delete val="0"/>
        <c:axPos val="b"/>
        <c:numFmt formatCode="[$-409]mmm&quot;-&quot;yy;@" sourceLinked="0"/>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1634174640"/>
        <c:crosses val="autoZero"/>
        <c:auto val="1"/>
        <c:lblOffset val="100"/>
        <c:baseTimeUnit val="days"/>
      </c:dateAx>
      <c:valAx>
        <c:axId val="1634174640"/>
        <c:scaling>
          <c:orientation val="minMax"/>
          <c:max val="1100"/>
          <c:min val="400"/>
        </c:scaling>
        <c:delete val="0"/>
        <c:axPos val="l"/>
        <c:majorGridlines>
          <c:spPr>
            <a:ln w="9525" cap="flat" cmpd="sng" algn="ctr">
              <a:noFill/>
              <a:round/>
            </a:ln>
            <a:effectLst/>
          </c:spPr>
        </c:majorGridlines>
        <c:title>
          <c:tx>
            <c:rich>
              <a:bodyPr rot="0" spcFirstLastPara="1" vertOverflow="ellipsis"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sz="1100" dirty="0" smtClean="0"/>
                  <a:t>($/</a:t>
                </a:r>
                <a:r>
                  <a:rPr lang="en-US" altLang="ko-KR" sz="1100" dirty="0" err="1" smtClean="0"/>
                  <a:t>mt</a:t>
                </a:r>
                <a:r>
                  <a:rPr lang="en-US" altLang="ko-KR" sz="1100" dirty="0" smtClean="0"/>
                  <a:t>)</a:t>
                </a:r>
                <a:endParaRPr lang="ko-KR" altLang="en-US" sz="1100" dirty="0"/>
              </a:p>
            </c:rich>
          </c:tx>
          <c:layout>
            <c:manualLayout>
              <c:xMode val="edge"/>
              <c:yMode val="edge"/>
              <c:x val="0.14816967255095412"/>
              <c:y val="0.1365544105496373"/>
            </c:manualLayout>
          </c:layout>
          <c:overlay val="0"/>
          <c:spPr>
            <a:noFill/>
            <a:ln>
              <a:noFill/>
            </a:ln>
            <a:effectLst/>
          </c:spPr>
        </c:title>
        <c:numFmt formatCode="#,##0_);[Red]\(#,##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1634175472"/>
        <c:crosses val="autoZero"/>
        <c:crossBetween val="between"/>
        <c:majorUnit val="200"/>
      </c:valAx>
      <c:spPr>
        <a:noFill/>
        <a:ln>
          <a:noFill/>
        </a:ln>
        <a:effectLst/>
      </c:spPr>
    </c:plotArea>
    <c:legend>
      <c:legendPos val="t"/>
      <c:layout>
        <c:manualLayout>
          <c:xMode val="edge"/>
          <c:yMode val="edge"/>
          <c:x val="0.27387189652257848"/>
          <c:y val="0.17646945472422257"/>
          <c:w val="0.34737761951762158"/>
          <c:h val="0.146943122460278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legend>
    <c:plotVisOnly val="1"/>
    <c:dispBlanksAs val="gap"/>
    <c:showDLblsOverMax val="0"/>
  </c:chart>
  <c:spPr>
    <a:noFill/>
    <a:ln>
      <a:noFill/>
    </a:ln>
    <a:effectLst/>
  </c:spPr>
  <c:txPr>
    <a:bodyPr/>
    <a:lstStyle/>
    <a:p>
      <a:pPr>
        <a:defRPr sz="1100">
          <a:latin typeface="나눔스퀘어" panose="020B0600000101010101" pitchFamily="50" charset="-127"/>
          <a:ea typeface="나눔스퀘어" panose="020B0600000101010101" pitchFamily="50" charset="-127"/>
        </a:defRPr>
      </a:pPr>
      <a:endParaRPr lang="ko-KR"/>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sz="1200" b="1" dirty="0" smtClean="0"/>
              <a:t>[Pre-/Post-War Comparison]</a:t>
            </a:r>
          </a:p>
        </c:rich>
      </c:tx>
      <c:layout>
        <c:manualLayout>
          <c:xMode val="edge"/>
          <c:yMode val="edge"/>
          <c:x val="0.11667390104893451"/>
          <c:y val="4.8608805839624493E-2"/>
        </c:manualLayout>
      </c:layout>
      <c:overlay val="0"/>
      <c:spPr>
        <a:noFill/>
        <a:ln>
          <a:noFill/>
        </a:ln>
        <a:effectLst/>
      </c:spPr>
    </c:title>
    <c:autoTitleDeleted val="0"/>
    <c:plotArea>
      <c:layout>
        <c:manualLayout>
          <c:layoutTarget val="inner"/>
          <c:xMode val="edge"/>
          <c:yMode val="edge"/>
          <c:x val="5.8204501536982152E-2"/>
          <c:y val="0.35499143331370137"/>
          <c:w val="0.78168544804006834"/>
          <c:h val="0.43397761953204483"/>
        </c:manualLayout>
      </c:layout>
      <c:barChart>
        <c:barDir val="col"/>
        <c:grouping val="clustered"/>
        <c:varyColors val="0"/>
        <c:ser>
          <c:idx val="0"/>
          <c:order val="0"/>
          <c:tx>
            <c:strRef>
              <c:f>Sheet1!$B$1</c:f>
              <c:strCache>
                <c:ptCount val="1"/>
                <c:pt idx="0">
                  <c:v>'25(Avg.)</c:v>
                </c:pt>
              </c:strCache>
            </c:strRef>
          </c:tx>
          <c:spPr>
            <a:solidFill>
              <a:srgbClr val="002B5C"/>
            </a:solidFill>
            <a:ln>
              <a:noFill/>
            </a:ln>
            <a:effectLst/>
          </c:spPr>
          <c:invertIfNegative val="0"/>
          <c:dLbls>
            <c:dLbl>
              <c:idx val="0"/>
              <c:layout>
                <c:manualLayout>
                  <c:x val="-1.0564616354691605E-2"/>
                  <c:y val="2.2666024165194268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0-9AEF-47B1-90D1-2193633D6414}"/>
                </c:ext>
              </c:extLst>
            </c:dLbl>
            <c:numFmt formatCode="#,##0_);[Red]\(#,##0\)" sourceLinked="0"/>
            <c:spPr>
              <a:noFill/>
              <a:ln>
                <a:noFill/>
              </a:ln>
              <a:effectLst/>
            </c:spPr>
            <c:txPr>
              <a:bodyPr rot="0" spcFirstLastPara="1" vertOverflow="ellipsis" vert="horz" wrap="square" lIns="0" tIns="0" rIns="0" bIns="0" anchor="ctr" anchorCtr="1">
                <a:spAutoFit/>
              </a:bodyPr>
              <a:lstStyle/>
              <a:p>
                <a:pPr>
                  <a:defRPr sz="1100" b="0" i="0" u="none" strike="noStrike" kern="1200" baseline="0">
                    <a:solidFill>
                      <a:schemeClr val="tx1">
                        <a:lumMod val="75000"/>
                        <a:lumOff val="25000"/>
                      </a:schemeClr>
                    </a:solidFill>
                    <a:latin typeface="나눔스퀘어" panose="020B0600000101010101" pitchFamily="50" charset="-127"/>
                    <a:ea typeface="나눔스퀘어" panose="020B0600000101010101" pitchFamily="50" charset="-127"/>
                    <a:cs typeface="+mn-cs"/>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2"/>
                <c:pt idx="0">
                  <c:v>Bunker Price
($/mt)</c:v>
                </c:pt>
                <c:pt idx="1">
                  <c:v>SCFI</c:v>
                </c:pt>
              </c:strCache>
            </c:strRef>
          </c:cat>
          <c:val>
            <c:numRef>
              <c:f>Sheet1!$B$2:$B$4</c:f>
              <c:numCache>
                <c:formatCode>_(* #,##0_);_(* \(#,##0\);_(* "-"_);_(@_)</c:formatCode>
                <c:ptCount val="2"/>
                <c:pt idx="0" formatCode="\$#,##0.00_);[Red]\(\$#,##0.00\)">
                  <c:v>535.5</c:v>
                </c:pt>
                <c:pt idx="1">
                  <c:v>1581.3418000000006</c:v>
                </c:pt>
              </c:numCache>
            </c:numRef>
          </c:val>
          <c:extLst>
            <c:ext xmlns:c16="http://schemas.microsoft.com/office/drawing/2014/chart" uri="{C3380CC4-5D6E-409C-BE32-E72D297353CC}">
              <c16:uniqueId val="{00000001-9AEF-47B1-90D1-2193633D6414}"/>
            </c:ext>
          </c:extLst>
        </c:ser>
        <c:ser>
          <c:idx val="1"/>
          <c:order val="1"/>
          <c:tx>
            <c:strRef>
              <c:f>Sheet1!$C$1</c:f>
              <c:strCache>
                <c:ptCount val="1"/>
                <c:pt idx="0">
                  <c:v>'26.3~6(Avg.)</c:v>
                </c:pt>
              </c:strCache>
            </c:strRef>
          </c:tx>
          <c:spPr>
            <a:solidFill>
              <a:srgbClr val="3CD0BA"/>
            </a:solidFill>
            <a:ln>
              <a:noFill/>
            </a:ln>
            <a:effectLst/>
          </c:spPr>
          <c:invertIfNegative val="0"/>
          <c:dLbls>
            <c:dLbl>
              <c:idx val="0"/>
              <c:layout>
                <c:manualLayout>
                  <c:x val="-9.6841197866891497E-17"/>
                  <c:y val="1.6999518123895753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2-9AEF-47B1-90D1-2193633D6414}"/>
                </c:ext>
              </c:extLst>
            </c:dLbl>
            <c:numFmt formatCode="#,##0_);[Red]\(#,##0\)" sourceLinked="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나눔스퀘어" panose="020B0600000101010101" pitchFamily="50" charset="-127"/>
                    <a:ea typeface="나눔스퀘어" panose="020B0600000101010101" pitchFamily="50" charset="-127"/>
                    <a:cs typeface="+mn-cs"/>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2"/>
                <c:pt idx="0">
                  <c:v>Bunker Price
($/mt)</c:v>
                </c:pt>
                <c:pt idx="1">
                  <c:v>SCFI</c:v>
                </c:pt>
              </c:strCache>
            </c:strRef>
          </c:cat>
          <c:val>
            <c:numRef>
              <c:f>Sheet1!$C$2:$C$4</c:f>
              <c:numCache>
                <c:formatCode>_(* #,##0_);_(* \(#,##0\);_(* "-"_);_(@_)</c:formatCode>
                <c:ptCount val="2"/>
                <c:pt idx="0" formatCode="\$#,##0.00_);[Red]\(\$#,##0.00\)">
                  <c:v>874.5</c:v>
                </c:pt>
                <c:pt idx="1">
                  <c:v>1957</c:v>
                </c:pt>
              </c:numCache>
            </c:numRef>
          </c:val>
          <c:extLst>
            <c:ext xmlns:c16="http://schemas.microsoft.com/office/drawing/2014/chart" uri="{C3380CC4-5D6E-409C-BE32-E72D297353CC}">
              <c16:uniqueId val="{00000003-9AEF-47B1-90D1-2193633D6414}"/>
            </c:ext>
          </c:extLst>
        </c:ser>
        <c:dLbls>
          <c:showLegendKey val="0"/>
          <c:showVal val="0"/>
          <c:showCatName val="0"/>
          <c:showSerName val="0"/>
          <c:showPercent val="0"/>
          <c:showBubbleSize val="0"/>
        </c:dLbls>
        <c:gapWidth val="100"/>
        <c:overlap val="-30"/>
        <c:axId val="1242118511"/>
        <c:axId val="1242123503"/>
      </c:barChart>
      <c:catAx>
        <c:axId val="12421185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nSpc>
                <a:spcPts val="1200"/>
              </a:lnSpc>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1242123503"/>
        <c:crosses val="autoZero"/>
        <c:auto val="1"/>
        <c:lblAlgn val="ctr"/>
        <c:lblOffset val="0"/>
        <c:noMultiLvlLbl val="0"/>
      </c:catAx>
      <c:valAx>
        <c:axId val="1242123503"/>
        <c:scaling>
          <c:orientation val="minMax"/>
        </c:scaling>
        <c:delete val="1"/>
        <c:axPos val="l"/>
        <c:majorGridlines>
          <c:spPr>
            <a:ln w="9525" cap="flat" cmpd="sng" algn="ctr">
              <a:noFill/>
              <a:round/>
            </a:ln>
            <a:effectLst/>
          </c:spPr>
        </c:majorGridlines>
        <c:numFmt formatCode="#,##0_);[Red]\(#,##0\)" sourceLinked="0"/>
        <c:majorTickMark val="none"/>
        <c:minorTickMark val="none"/>
        <c:tickLblPos val="nextTo"/>
        <c:crossAx val="1242118511"/>
        <c:crosses val="autoZero"/>
        <c:crossBetween val="between"/>
      </c:valAx>
      <c:spPr>
        <a:noFill/>
        <a:ln>
          <a:noFill/>
        </a:ln>
        <a:effectLst/>
      </c:spPr>
    </c:plotArea>
    <c:legend>
      <c:legendPos val="t"/>
      <c:layout>
        <c:manualLayout>
          <c:xMode val="edge"/>
          <c:yMode val="edge"/>
          <c:x val="7.9848950941914576E-2"/>
          <c:y val="0.15867109278792096"/>
          <c:w val="0.84460489166693009"/>
          <c:h val="0.10218673591404757"/>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legend>
    <c:plotVisOnly val="1"/>
    <c:dispBlanksAs val="gap"/>
    <c:showDLblsOverMax val="0"/>
  </c:chart>
  <c:spPr>
    <a:noFill/>
    <a:ln>
      <a:noFill/>
    </a:ln>
    <a:effectLst/>
  </c:spPr>
  <c:txPr>
    <a:bodyPr/>
    <a:lstStyle/>
    <a:p>
      <a:pPr>
        <a:defRPr sz="1100">
          <a:latin typeface="나눔스퀘어" panose="020B0600000101010101" pitchFamily="50" charset="-127"/>
          <a:ea typeface="나눔스퀘어" panose="020B0600000101010101" pitchFamily="50" charset="-127"/>
        </a:defRPr>
      </a:pPr>
      <a:endParaRPr lang="ko-KR"/>
    </a:p>
  </c:txPr>
  <c:externalData r:id="rId1">
    <c:autoUpdate val="0"/>
  </c:externalData>
  <c:userShapes r:id="rId2"/>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sz="1200" b="1" dirty="0" smtClean="0"/>
              <a:t>[Global 20-Port Average Bunker Fuel Prices]</a:t>
            </a:r>
          </a:p>
        </c:rich>
      </c:tx>
      <c:layout>
        <c:manualLayout>
          <c:xMode val="edge"/>
          <c:yMode val="edge"/>
          <c:x val="0.21086165519298439"/>
          <c:y val="8.9511982114761322E-3"/>
        </c:manualLayout>
      </c:layout>
      <c:overlay val="0"/>
      <c:spPr>
        <a:noFill/>
        <a:ln>
          <a:noFill/>
        </a:ln>
        <a:effectLst/>
      </c:spPr>
    </c:title>
    <c:autoTitleDeleted val="0"/>
    <c:plotArea>
      <c:layout>
        <c:manualLayout>
          <c:layoutTarget val="inner"/>
          <c:xMode val="edge"/>
          <c:yMode val="edge"/>
          <c:x val="9.3876826812656522E-2"/>
          <c:y val="0.29466023284293891"/>
          <c:w val="0.81806524017334925"/>
          <c:h val="0.44051249537765902"/>
        </c:manualLayout>
      </c:layout>
      <c:barChart>
        <c:barDir val="col"/>
        <c:grouping val="clustered"/>
        <c:varyColors val="0"/>
        <c:ser>
          <c:idx val="0"/>
          <c:order val="0"/>
          <c:tx>
            <c:strRef>
              <c:f>Sheet1!$C$1</c:f>
              <c:strCache>
                <c:ptCount val="1"/>
                <c:pt idx="0">
                  <c:v>VLSFO</c:v>
                </c:pt>
              </c:strCache>
            </c:strRef>
          </c:tx>
          <c:spPr>
            <a:solidFill>
              <a:srgbClr val="3CD0BA"/>
            </a:solidFill>
            <a:ln>
              <a:noFill/>
            </a:ln>
            <a:effectLst/>
          </c:spPr>
          <c:invertIfNegative val="0"/>
          <c:dPt>
            <c:idx val="5"/>
            <c:invertIfNegative val="0"/>
            <c:bubble3D val="0"/>
            <c:extLst>
              <c:ext xmlns:c16="http://schemas.microsoft.com/office/drawing/2014/chart" uri="{C3380CC4-5D6E-409C-BE32-E72D297353CC}">
                <c16:uniqueId val="{00000003-0A50-4DC2-9D92-34D30416EA27}"/>
              </c:ext>
            </c:extLst>
          </c:dPt>
          <c:dPt>
            <c:idx val="6"/>
            <c:invertIfNegative val="0"/>
            <c:bubble3D val="0"/>
            <c:extLst>
              <c:ext xmlns:c16="http://schemas.microsoft.com/office/drawing/2014/chart" uri="{C3380CC4-5D6E-409C-BE32-E72D297353CC}">
                <c16:uniqueId val="{00000004-0A50-4DC2-9D92-34D30416EA27}"/>
              </c:ext>
            </c:extLst>
          </c:dPt>
          <c:dPt>
            <c:idx val="7"/>
            <c:invertIfNegative val="0"/>
            <c:bubble3D val="0"/>
            <c:extLst>
              <c:ext xmlns:c16="http://schemas.microsoft.com/office/drawing/2014/chart" uri="{C3380CC4-5D6E-409C-BE32-E72D297353CC}">
                <c16:uniqueId val="{00000005-0A50-4DC2-9D92-34D30416EA27}"/>
              </c:ext>
            </c:extLst>
          </c:dPt>
          <c:cat>
            <c:multiLvlStrRef>
              <c:f>Sheet1!$A$2:$B$9</c:f>
              <c:multiLvlStrCache>
                <c:ptCount val="8"/>
                <c:lvl>
                  <c:pt idx="0">
                    <c:v>Q1</c:v>
                  </c:pt>
                  <c:pt idx="1">
                    <c:v>Q2</c:v>
                  </c:pt>
                  <c:pt idx="2">
                    <c:v>Q3</c:v>
                  </c:pt>
                  <c:pt idx="3">
                    <c:v>Q4</c:v>
                  </c:pt>
                  <c:pt idx="4">
                    <c:v>Q1</c:v>
                  </c:pt>
                  <c:pt idx="5">
                    <c:v>Q2</c:v>
                  </c:pt>
                  <c:pt idx="6">
                    <c:v>Q3</c:v>
                  </c:pt>
                  <c:pt idx="7">
                    <c:v>Q4</c:v>
                  </c:pt>
                </c:lvl>
                <c:lvl>
                  <c:pt idx="0">
                    <c:v>2025</c:v>
                  </c:pt>
                  <c:pt idx="4">
                    <c:v>2026</c:v>
                  </c:pt>
                </c:lvl>
              </c:multiLvlStrCache>
            </c:multiLvlStrRef>
          </c:cat>
          <c:val>
            <c:numRef>
              <c:f>Sheet1!$C$2:$C$9</c:f>
              <c:numCache>
                <c:formatCode>General</c:formatCode>
                <c:ptCount val="8"/>
                <c:pt idx="0">
                  <c:v>585</c:v>
                </c:pt>
                <c:pt idx="1">
                  <c:v>538</c:v>
                </c:pt>
                <c:pt idx="2">
                  <c:v>537</c:v>
                </c:pt>
                <c:pt idx="3">
                  <c:v>483</c:v>
                </c:pt>
                <c:pt idx="4">
                  <c:v>639</c:v>
                </c:pt>
                <c:pt idx="5">
                  <c:v>857</c:v>
                </c:pt>
                <c:pt idx="6">
                  <c:v>683</c:v>
                </c:pt>
                <c:pt idx="7" formatCode="_(* #,##0_);_(* \(#,##0\);_(* &quot;-&quot;_);_(@_)">
                  <c:v>601.61056511056506</c:v>
                </c:pt>
              </c:numCache>
            </c:numRef>
          </c:val>
          <c:extLst>
            <c:ext xmlns:c16="http://schemas.microsoft.com/office/drawing/2014/chart" uri="{C3380CC4-5D6E-409C-BE32-E72D297353CC}">
              <c16:uniqueId val="{00000000-0A50-4DC2-9D92-34D30416EA27}"/>
            </c:ext>
          </c:extLst>
        </c:ser>
        <c:dLbls>
          <c:showLegendKey val="0"/>
          <c:showVal val="0"/>
          <c:showCatName val="0"/>
          <c:showSerName val="0"/>
          <c:showPercent val="0"/>
          <c:showBubbleSize val="0"/>
        </c:dLbls>
        <c:gapWidth val="100"/>
        <c:axId val="2107708368"/>
        <c:axId val="2107702544"/>
      </c:barChart>
      <c:lineChart>
        <c:grouping val="standard"/>
        <c:varyColors val="0"/>
        <c:ser>
          <c:idx val="1"/>
          <c:order val="1"/>
          <c:tx>
            <c:strRef>
              <c:f>Sheet1!$D$1</c:f>
              <c:strCache>
                <c:ptCount val="1"/>
                <c:pt idx="0">
                  <c:v>%QoQ (Right)</c:v>
                </c:pt>
              </c:strCache>
            </c:strRef>
          </c:tx>
          <c:spPr>
            <a:ln w="28575" cap="rnd">
              <a:solidFill>
                <a:srgbClr val="0000FF"/>
              </a:solidFill>
              <a:round/>
            </a:ln>
            <a:effectLst/>
          </c:spPr>
          <c:marker>
            <c:symbol val="circle"/>
            <c:size val="5"/>
            <c:spPr>
              <a:solidFill>
                <a:schemeClr val="bg1">
                  <a:lumMod val="95000"/>
                </a:schemeClr>
              </a:solidFill>
              <a:ln w="9525">
                <a:solidFill>
                  <a:srgbClr val="0000FF"/>
                </a:solidFill>
              </a:ln>
              <a:effectLst/>
            </c:spPr>
          </c:marker>
          <c:dPt>
            <c:idx val="7"/>
            <c:bubble3D val="0"/>
            <c:spPr>
              <a:ln w="28575" cap="rnd">
                <a:solidFill>
                  <a:srgbClr val="0000FF"/>
                </a:solidFill>
                <a:prstDash val="solid"/>
                <a:round/>
              </a:ln>
              <a:effectLst/>
            </c:spPr>
            <c:extLst>
              <c:ext xmlns:c16="http://schemas.microsoft.com/office/drawing/2014/chart" uri="{C3380CC4-5D6E-409C-BE32-E72D297353CC}">
                <c16:uniqueId val="{00000012-AB4C-4FDA-9A7F-81462E9D0578}"/>
              </c:ext>
            </c:extLst>
          </c:dPt>
          <c:dLbls>
            <c:dLbl>
              <c:idx val="0"/>
              <c:layout/>
              <c:dLblPos val="b"/>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E-AB4C-4FDA-9A7F-81462E9D0578}"/>
                </c:ext>
              </c:extLst>
            </c:dLbl>
            <c:dLbl>
              <c:idx val="1"/>
              <c:layout>
                <c:manualLayout>
                  <c:x val="-3.9326682595288334E-2"/>
                  <c:y val="6.8855194880584919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F-AB4C-4FDA-9A7F-81462E9D0578}"/>
                </c:ext>
              </c:extLst>
            </c:dLbl>
            <c:dLbl>
              <c:idx val="2"/>
              <c:layout>
                <c:manualLayout>
                  <c:x val="-3.168875699615329E-2"/>
                  <c:y val="7.6413755711385922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0-9A95-4CB4-9DE1-5994386DFE99}"/>
                </c:ext>
              </c:extLst>
            </c:dLbl>
            <c:dLbl>
              <c:idx val="3"/>
              <c:layout>
                <c:manualLayout>
                  <c:x val="-4.2426794694378017E-2"/>
                  <c:y val="6.1591747350986235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0-AB4C-4FDA-9A7F-81462E9D0578}"/>
                </c:ext>
              </c:extLst>
            </c:dLbl>
            <c:dLbl>
              <c:idx val="4"/>
              <c:layout>
                <c:manualLayout>
                  <c:x val="-6.4926566060426169E-2"/>
                  <c:y val="-6.5436805556005284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E-9A95-4CB4-9DE1-5994386DFE99}"/>
                </c:ext>
              </c:extLst>
            </c:dLbl>
            <c:dLbl>
              <c:idx val="5"/>
              <c:layout>
                <c:manualLayout>
                  <c:x val="-6.2608281678489003E-2"/>
                  <c:y val="0.1092044651651964"/>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F-9A95-4CB4-9DE1-5994386DFE99}"/>
                </c:ext>
              </c:extLst>
            </c:dLbl>
            <c:dLbl>
              <c:idx val="6"/>
              <c:layout>
                <c:manualLayout>
                  <c:x val="-5.3656783290974445E-2"/>
                  <c:y val="4.8117140566296394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1-AB4C-4FDA-9A7F-81462E9D0578}"/>
                </c:ext>
              </c:extLst>
            </c:dLbl>
            <c:dLbl>
              <c:idx val="7"/>
              <c:layout>
                <c:manualLayout>
                  <c:x val="-4.4383645763225767E-2"/>
                  <c:y val="6.4566413082827886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2-AB4C-4FDA-9A7F-81462E9D0578}"/>
                </c:ext>
              </c:extLst>
            </c:dLbl>
            <c:spPr>
              <a:noFill/>
              <a:ln>
                <a:noFill/>
              </a:ln>
              <a:effectLst/>
            </c:spPr>
            <c:txPr>
              <a:bodyPr rot="0" spcFirstLastPara="1" vertOverflow="ellipsis" vert="horz" wrap="square" lIns="0" tIns="0" rIns="0" bIns="0" anchor="ctr" anchorCtr="1">
                <a:spAutoFit/>
              </a:bodyPr>
              <a:lstStyle/>
              <a:p>
                <a:pPr>
                  <a:defRPr sz="1100" b="1" i="0" u="none" strike="noStrike" kern="1200" baseline="0">
                    <a:solidFill>
                      <a:srgbClr val="0000FF"/>
                    </a:solidFill>
                    <a:latin typeface="나눔스퀘어" panose="020B0600000101010101" pitchFamily="50" charset="-127"/>
                    <a:ea typeface="나눔스퀘어" panose="020B0600000101010101" pitchFamily="50" charset="-127"/>
                    <a:cs typeface="+mn-cs"/>
                  </a:defRPr>
                </a:pPr>
                <a:endParaRPr lang="ko-KR"/>
              </a:p>
            </c:txPr>
            <c:dLblPos val="t"/>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multiLvlStrRef>
              <c:f>Sheet1!$A$2:$B$9</c:f>
              <c:multiLvlStrCache>
                <c:ptCount val="8"/>
                <c:lvl>
                  <c:pt idx="0">
                    <c:v>Q1</c:v>
                  </c:pt>
                  <c:pt idx="1">
                    <c:v>Q2</c:v>
                  </c:pt>
                  <c:pt idx="2">
                    <c:v>Q3</c:v>
                  </c:pt>
                  <c:pt idx="3">
                    <c:v>Q4</c:v>
                  </c:pt>
                  <c:pt idx="4">
                    <c:v>Q1</c:v>
                  </c:pt>
                  <c:pt idx="5">
                    <c:v>Q2</c:v>
                  </c:pt>
                  <c:pt idx="6">
                    <c:v>Q3</c:v>
                  </c:pt>
                  <c:pt idx="7">
                    <c:v>Q4</c:v>
                  </c:pt>
                </c:lvl>
                <c:lvl>
                  <c:pt idx="0">
                    <c:v>2025</c:v>
                  </c:pt>
                  <c:pt idx="4">
                    <c:v>2026</c:v>
                  </c:pt>
                </c:lvl>
              </c:multiLvlStrCache>
            </c:multiLvlStrRef>
          </c:cat>
          <c:val>
            <c:numRef>
              <c:f>Sheet1!$D$2:$D$9</c:f>
              <c:numCache>
                <c:formatCode>0%</c:formatCode>
                <c:ptCount val="8"/>
                <c:pt idx="0">
                  <c:v>-8.4745762711864406E-3</c:v>
                </c:pt>
                <c:pt idx="1">
                  <c:v>-8.0341880341880348E-2</c:v>
                </c:pt>
                <c:pt idx="2">
                  <c:v>-1.8587360594795538E-3</c:v>
                </c:pt>
                <c:pt idx="3">
                  <c:v>-0.1005586592178771</c:v>
                </c:pt>
                <c:pt idx="4">
                  <c:v>0.32298136645962733</c:v>
                </c:pt>
                <c:pt idx="5">
                  <c:v>0.34115805946791861</c:v>
                </c:pt>
                <c:pt idx="6">
                  <c:v>-0.20303383897316218</c:v>
                </c:pt>
                <c:pt idx="7">
                  <c:v>-0.11916461916461923</c:v>
                </c:pt>
              </c:numCache>
            </c:numRef>
          </c:val>
          <c:smooth val="0"/>
          <c:extLst>
            <c:ext xmlns:c16="http://schemas.microsoft.com/office/drawing/2014/chart" uri="{C3380CC4-5D6E-409C-BE32-E72D297353CC}">
              <c16:uniqueId val="{0000000A-0A50-4DC2-9D92-34D30416EA27}"/>
            </c:ext>
          </c:extLst>
        </c:ser>
        <c:dLbls>
          <c:showLegendKey val="0"/>
          <c:showVal val="0"/>
          <c:showCatName val="0"/>
          <c:showSerName val="0"/>
          <c:showPercent val="0"/>
          <c:showBubbleSize val="0"/>
        </c:dLbls>
        <c:marker val="1"/>
        <c:smooth val="0"/>
        <c:axId val="910543039"/>
        <c:axId val="910542623"/>
      </c:lineChart>
      <c:catAx>
        <c:axId val="21077083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07702544"/>
        <c:crosses val="autoZero"/>
        <c:auto val="1"/>
        <c:lblAlgn val="ctr"/>
        <c:lblOffset val="0"/>
        <c:noMultiLvlLbl val="0"/>
      </c:catAx>
      <c:valAx>
        <c:axId val="2107702544"/>
        <c:scaling>
          <c:orientation val="minMax"/>
          <c:min val="200"/>
        </c:scaling>
        <c:delete val="0"/>
        <c:axPos val="l"/>
        <c:majorGridlines>
          <c:spPr>
            <a:ln w="9525" cap="flat" cmpd="sng" algn="ctr">
              <a:noFill/>
              <a:round/>
            </a:ln>
            <a:effectLst/>
          </c:spPr>
        </c:majorGridlines>
        <c:title>
          <c:tx>
            <c:rich>
              <a:bodyPr rot="0" spcFirstLastPara="1" vertOverflow="ellipsis"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dirty="0" smtClean="0"/>
                  <a:t>($/</a:t>
                </a:r>
                <a:r>
                  <a:rPr lang="en-US" altLang="ko-KR" dirty="0" err="1" smtClean="0"/>
                  <a:t>mt</a:t>
                </a:r>
                <a:r>
                  <a:rPr lang="en-US" altLang="ko-KR" dirty="0" smtClean="0"/>
                  <a:t>)</a:t>
                </a:r>
                <a:endParaRPr lang="ko-KR" altLang="en-US" dirty="0"/>
              </a:p>
            </c:rich>
          </c:tx>
          <c:layout>
            <c:manualLayout>
              <c:xMode val="edge"/>
              <c:yMode val="edge"/>
              <c:x val="0"/>
              <c:y val="9.8196331787911775E-2"/>
            </c:manualLayout>
          </c:layout>
          <c:overlay val="0"/>
          <c:spPr>
            <a:noFill/>
            <a:ln>
              <a:noFill/>
            </a:ln>
            <a:effectLst/>
          </c:spPr>
        </c:title>
        <c:numFmt formatCode="#,##0_);[Red]\(#,##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07708368"/>
        <c:crosses val="autoZero"/>
        <c:crossBetween val="between"/>
        <c:majorUnit val="200"/>
      </c:valAx>
      <c:valAx>
        <c:axId val="910542623"/>
        <c:scaling>
          <c:orientation val="minMax"/>
          <c:max val="0.4"/>
          <c:min val="-0.4"/>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910543039"/>
        <c:crosses val="max"/>
        <c:crossBetween val="between"/>
        <c:majorUnit val="0.2"/>
      </c:valAx>
      <c:catAx>
        <c:axId val="910543039"/>
        <c:scaling>
          <c:orientation val="minMax"/>
        </c:scaling>
        <c:delete val="1"/>
        <c:axPos val="b"/>
        <c:numFmt formatCode="General" sourceLinked="1"/>
        <c:majorTickMark val="out"/>
        <c:minorTickMark val="none"/>
        <c:tickLblPos val="nextTo"/>
        <c:crossAx val="910542623"/>
        <c:crosses val="autoZero"/>
        <c:auto val="1"/>
        <c:lblAlgn val="ctr"/>
        <c:lblOffset val="100"/>
        <c:noMultiLvlLbl val="0"/>
      </c:catAx>
      <c:spPr>
        <a:noFill/>
        <a:ln>
          <a:noFill/>
        </a:ln>
        <a:effectLst/>
      </c:spPr>
    </c:plotArea>
    <c:legend>
      <c:legendPos val="r"/>
      <c:layout>
        <c:manualLayout>
          <c:xMode val="edge"/>
          <c:yMode val="edge"/>
          <c:x val="0.55990382953198581"/>
          <c:y val="0.14380450881434281"/>
          <c:w val="0.36883904516620364"/>
          <c:h val="0.13668607208199574"/>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legend>
    <c:plotVisOnly val="1"/>
    <c:dispBlanksAs val="gap"/>
    <c:showDLblsOverMax val="0"/>
  </c:chart>
  <c:spPr>
    <a:noFill/>
    <a:ln>
      <a:noFill/>
    </a:ln>
    <a:effectLst/>
  </c:spPr>
  <c:txPr>
    <a:bodyPr/>
    <a:lstStyle/>
    <a:p>
      <a:pPr>
        <a:defRPr sz="1100">
          <a:latin typeface="나눔스퀘어" panose="020B0600000101010101" pitchFamily="50" charset="-127"/>
          <a:ea typeface="나눔스퀘어" panose="020B0600000101010101" pitchFamily="50" charset="-127"/>
        </a:defRPr>
      </a:pPr>
      <a:endParaRPr lang="ko-KR"/>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dirty="0" smtClean="0"/>
              <a:t>[Estimated Capacity Reduction from the Middle East Conflict]</a:t>
            </a:r>
          </a:p>
        </c:rich>
      </c:tx>
      <c:layout/>
      <c:overlay val="0"/>
      <c:spPr>
        <a:noFill/>
        <a:ln>
          <a:noFill/>
        </a:ln>
        <a:effectLst/>
      </c:spPr>
    </c:title>
    <c:autoTitleDeleted val="0"/>
    <c:plotArea>
      <c:layout>
        <c:manualLayout>
          <c:layoutTarget val="inner"/>
          <c:xMode val="edge"/>
          <c:yMode val="edge"/>
          <c:x val="0.12013208491673233"/>
          <c:y val="0.36679500462613573"/>
          <c:w val="0.79617658136030545"/>
          <c:h val="0.38412580652824196"/>
        </c:manualLayout>
      </c:layout>
      <c:barChart>
        <c:barDir val="col"/>
        <c:grouping val="stacked"/>
        <c:varyColors val="0"/>
        <c:ser>
          <c:idx val="0"/>
          <c:order val="0"/>
          <c:tx>
            <c:strRef>
              <c:f>Sheet1!$C$1</c:f>
              <c:strCache>
                <c:ptCount val="1"/>
                <c:pt idx="0">
                  <c:v>Effective Supply</c:v>
                </c:pt>
              </c:strCache>
            </c:strRef>
          </c:tx>
          <c:spPr>
            <a:solidFill>
              <a:srgbClr val="002B5C"/>
            </a:solidFill>
            <a:ln>
              <a:noFill/>
            </a:ln>
            <a:effectLst/>
          </c:spPr>
          <c:invertIfNegative val="0"/>
          <c:cat>
            <c:multiLvlStrRef>
              <c:f>Sheet1!$A$2:$B$13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lvl>
                  <c:pt idx="0">
                    <c:v>2026</c:v>
                  </c:pt>
                </c:lvl>
              </c:multiLvlStrCache>
            </c:multiLvlStrRef>
          </c:cat>
          <c:val>
            <c:numRef>
              <c:f>Sheet1!$C$2:$C$13</c:f>
              <c:numCache>
                <c:formatCode>_(* #,##0_);_(* \(#,##0\);_(* "-"_);_(@_)</c:formatCode>
                <c:ptCount val="12"/>
                <c:pt idx="0">
                  <c:v>33068.976000000002</c:v>
                </c:pt>
                <c:pt idx="1">
                  <c:v>33151.966999999997</c:v>
                </c:pt>
                <c:pt idx="2">
                  <c:v>32393.7781856</c:v>
                </c:pt>
                <c:pt idx="3">
                  <c:v>32503.508486400002</c:v>
                </c:pt>
                <c:pt idx="4">
                  <c:v>32783.020468800001</c:v>
                </c:pt>
                <c:pt idx="5">
                  <c:v>32965.806318399991</c:v>
                </c:pt>
                <c:pt idx="6">
                  <c:v>33362.654238800002</c:v>
                </c:pt>
                <c:pt idx="7">
                  <c:v>33759.502159200005</c:v>
                </c:pt>
                <c:pt idx="8">
                  <c:v>34006.350079600008</c:v>
                </c:pt>
                <c:pt idx="9">
                  <c:v>34253.197999999997</c:v>
                </c:pt>
                <c:pt idx="10">
                  <c:v>34424.813999999998</c:v>
                </c:pt>
                <c:pt idx="11">
                  <c:v>34596.43</c:v>
                </c:pt>
              </c:numCache>
            </c:numRef>
          </c:val>
          <c:extLst>
            <c:ext xmlns:c16="http://schemas.microsoft.com/office/drawing/2014/chart" uri="{C3380CC4-5D6E-409C-BE32-E72D297353CC}">
              <c16:uniqueId val="{00000000-62D1-47C3-B40D-2506241CFC38}"/>
            </c:ext>
          </c:extLst>
        </c:ser>
        <c:ser>
          <c:idx val="1"/>
          <c:order val="1"/>
          <c:tx>
            <c:strRef>
              <c:f>Sheet1!$D$1</c:f>
              <c:strCache>
                <c:ptCount val="1"/>
                <c:pt idx="0">
                  <c:v>Supply Absorption</c:v>
                </c:pt>
              </c:strCache>
            </c:strRef>
          </c:tx>
          <c:spPr>
            <a:solidFill>
              <a:srgbClr val="0000FF"/>
            </a:solidFill>
            <a:ln>
              <a:noFill/>
            </a:ln>
            <a:effectLst/>
          </c:spPr>
          <c:invertIfNegative val="0"/>
          <c:cat>
            <c:multiLvlStrRef>
              <c:f>Sheet1!$A$2:$B$13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lvl>
                  <c:pt idx="0">
                    <c:v>2026</c:v>
                  </c:pt>
                </c:lvl>
              </c:multiLvlStrCache>
            </c:multiLvlStrRef>
          </c:cat>
          <c:val>
            <c:numRef>
              <c:f>Sheet1!$D$2:$D$13</c:f>
              <c:numCache>
                <c:formatCode>_(* #,##0_);_(* \(#,##0\);_(* "-"_);_(@_)</c:formatCode>
                <c:ptCount val="12"/>
                <c:pt idx="0">
                  <c:v>0</c:v>
                </c:pt>
                <c:pt idx="1">
                  <c:v>0</c:v>
                </c:pt>
                <c:pt idx="2">
                  <c:v>851.52081439999995</c:v>
                </c:pt>
                <c:pt idx="3">
                  <c:v>855.41051360000108</c:v>
                </c:pt>
                <c:pt idx="4">
                  <c:v>683.18453120000049</c:v>
                </c:pt>
                <c:pt idx="5">
                  <c:v>600.92768160000196</c:v>
                </c:pt>
                <c:pt idx="6">
                  <c:v>375.69576120000039</c:v>
                </c:pt>
                <c:pt idx="7">
                  <c:v>150.46384079999888</c:v>
                </c:pt>
                <c:pt idx="8">
                  <c:v>75.231920399997392</c:v>
                </c:pt>
                <c:pt idx="9">
                  <c:v>0</c:v>
                </c:pt>
                <c:pt idx="10">
                  <c:v>0</c:v>
                </c:pt>
                <c:pt idx="11">
                  <c:v>0</c:v>
                </c:pt>
              </c:numCache>
            </c:numRef>
          </c:val>
          <c:extLst>
            <c:ext xmlns:c16="http://schemas.microsoft.com/office/drawing/2014/chart" uri="{C3380CC4-5D6E-409C-BE32-E72D297353CC}">
              <c16:uniqueId val="{00000001-62D1-47C3-B40D-2506241CFC38}"/>
            </c:ext>
          </c:extLst>
        </c:ser>
        <c:dLbls>
          <c:showLegendKey val="0"/>
          <c:showVal val="0"/>
          <c:showCatName val="0"/>
          <c:showSerName val="0"/>
          <c:showPercent val="0"/>
          <c:showBubbleSize val="0"/>
        </c:dLbls>
        <c:gapWidth val="100"/>
        <c:overlap val="100"/>
        <c:axId val="1643294623"/>
        <c:axId val="1643285471"/>
      </c:barChart>
      <c:lineChart>
        <c:grouping val="standard"/>
        <c:varyColors val="0"/>
        <c:ser>
          <c:idx val="2"/>
          <c:order val="2"/>
          <c:tx>
            <c:strRef>
              <c:f>Sheet1!$E$1</c:f>
              <c:strCache>
                <c:ptCount val="1"/>
                <c:pt idx="0">
                  <c:v>Absorption Ratio(Right) </c:v>
                </c:pt>
              </c:strCache>
            </c:strRef>
          </c:tx>
          <c:spPr>
            <a:ln w="28575" cap="rnd">
              <a:solidFill>
                <a:srgbClr val="3CD0BA"/>
              </a:solidFill>
              <a:round/>
            </a:ln>
            <a:effectLst/>
          </c:spPr>
          <c:marker>
            <c:symbol val="circle"/>
            <c:size val="5"/>
            <c:spPr>
              <a:solidFill>
                <a:schemeClr val="bg1"/>
              </a:solidFill>
              <a:ln>
                <a:solidFill>
                  <a:srgbClr val="3CD0BA"/>
                </a:solidFill>
              </a:ln>
            </c:spPr>
          </c:marker>
          <c:dLbls>
            <c:dLbl>
              <c:idx val="0"/>
              <c:delete val="1"/>
              <c:extLst>
                <c:ext xmlns:c15="http://schemas.microsoft.com/office/drawing/2012/chart" uri="{CE6537A1-D6FC-4f65-9D91-7224C49458BB}"/>
                <c:ext xmlns:c16="http://schemas.microsoft.com/office/drawing/2014/chart" uri="{C3380CC4-5D6E-409C-BE32-E72D297353CC}">
                  <c16:uniqueId val="{00000002-62D1-47C3-B40D-2506241CFC38}"/>
                </c:ext>
              </c:extLst>
            </c:dLbl>
            <c:dLbl>
              <c:idx val="1"/>
              <c:delete val="1"/>
              <c:extLst>
                <c:ext xmlns:c15="http://schemas.microsoft.com/office/drawing/2012/chart" uri="{CE6537A1-D6FC-4f65-9D91-7224C49458BB}"/>
                <c:ext xmlns:c16="http://schemas.microsoft.com/office/drawing/2014/chart" uri="{C3380CC4-5D6E-409C-BE32-E72D297353CC}">
                  <c16:uniqueId val="{00000003-62D1-47C3-B40D-2506241CFC38}"/>
                </c:ext>
              </c:extLst>
            </c:dLbl>
            <c:dLbl>
              <c:idx val="2"/>
              <c:layout>
                <c:manualLayout>
                  <c:x val="-3.9682169301887435E-2"/>
                  <c:y val="-5.94518321578257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4-62D1-47C3-B40D-2506241CFC38}"/>
                </c:ext>
              </c:extLst>
            </c:dLbl>
            <c:dLbl>
              <c:idx val="3"/>
              <c:layout>
                <c:manualLayout>
                  <c:x val="-3.9682169301887435E-2"/>
                  <c:y val="-5.94518321578257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62D1-47C3-B40D-2506241CFC38}"/>
                </c:ext>
              </c:extLst>
            </c:dLbl>
            <c:dLbl>
              <c:idx val="4"/>
              <c:layout>
                <c:manualLayout>
                  <c:x val="-3.7367000865180265E-2"/>
                  <c:y val="-7.3474011491562463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6-62D1-47C3-B40D-2506241CFC38}"/>
                </c:ext>
              </c:extLst>
            </c:dLbl>
            <c:dLbl>
              <c:idx val="5"/>
              <c:layout>
                <c:manualLayout>
                  <c:x val="-3.7367000865180265E-2"/>
                  <c:y val="-8.0485101158430758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62D1-47C3-B40D-2506241CFC38}"/>
                </c:ext>
              </c:extLst>
            </c:dLbl>
            <c:dLbl>
              <c:idx val="6"/>
              <c:layout>
                <c:manualLayout>
                  <c:x val="-3.7857196764889446E-2"/>
                  <c:y val="-7.9526288572196041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8-62D1-47C3-B40D-2506241CFC38}"/>
                </c:ext>
              </c:extLst>
            </c:dLbl>
            <c:dLbl>
              <c:idx val="7"/>
              <c:layout>
                <c:manualLayout>
                  <c:x val="-3.7857196764889356E-2"/>
                  <c:y val="-7.7119114315803969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9-62D1-47C3-B40D-2506241CFC38}"/>
                </c:ext>
              </c:extLst>
            </c:dLbl>
            <c:dLbl>
              <c:idx val="8"/>
              <c:layout>
                <c:manualLayout>
                  <c:x val="-3.7857196764889356E-2"/>
                  <c:y val="-7.2047115319605379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A-62D1-47C3-B40D-2506241CFC38}"/>
                </c:ext>
              </c:extLst>
            </c:dLbl>
            <c:dLbl>
              <c:idx val="9"/>
              <c:delete val="1"/>
              <c:extLst>
                <c:ext xmlns:c15="http://schemas.microsoft.com/office/drawing/2012/chart" uri="{CE6537A1-D6FC-4f65-9D91-7224C49458BB}"/>
                <c:ext xmlns:c16="http://schemas.microsoft.com/office/drawing/2014/chart" uri="{C3380CC4-5D6E-409C-BE32-E72D297353CC}">
                  <c16:uniqueId val="{0000000B-62D1-47C3-B40D-2506241CFC38}"/>
                </c:ext>
              </c:extLst>
            </c:dLbl>
            <c:dLbl>
              <c:idx val="10"/>
              <c:delete val="1"/>
              <c:extLst>
                <c:ext xmlns:c15="http://schemas.microsoft.com/office/drawing/2012/chart" uri="{CE6537A1-D6FC-4f65-9D91-7224C49458BB}"/>
                <c:ext xmlns:c16="http://schemas.microsoft.com/office/drawing/2014/chart" uri="{C3380CC4-5D6E-409C-BE32-E72D297353CC}">
                  <c16:uniqueId val="{0000000C-62D1-47C3-B40D-2506241CFC38}"/>
                </c:ext>
              </c:extLst>
            </c:dLbl>
            <c:dLbl>
              <c:idx val="11"/>
              <c:delete val="1"/>
              <c:extLst>
                <c:ext xmlns:c15="http://schemas.microsoft.com/office/drawing/2012/chart" uri="{CE6537A1-D6FC-4f65-9D91-7224C49458BB}"/>
                <c:ext xmlns:c16="http://schemas.microsoft.com/office/drawing/2014/chart" uri="{C3380CC4-5D6E-409C-BE32-E72D297353CC}">
                  <c16:uniqueId val="{0000000D-62D1-47C3-B40D-2506241CFC38}"/>
                </c:ext>
              </c:extLst>
            </c:dLbl>
            <c:spPr>
              <a:noFill/>
              <a:ln>
                <a:noFill/>
              </a:ln>
              <a:effectLst/>
            </c:spPr>
            <c:txPr>
              <a:bodyPr rot="0" spcFirstLastPara="1" vertOverflow="ellipsis" vert="horz" wrap="square" lIns="0" tIns="0" rIns="0" bIns="0" anchor="ctr" anchorCtr="1">
                <a:spAutoFit/>
              </a:bodyPr>
              <a:lstStyle/>
              <a:p>
                <a:pPr>
                  <a:defRPr sz="1100" b="1" i="0" u="none" strike="noStrike" kern="1200" spc="-100" baseline="0">
                    <a:solidFill>
                      <a:srgbClr val="3CD0BA"/>
                    </a:solidFill>
                    <a:latin typeface="나눔스퀘어" panose="020B0600000101010101" pitchFamily="50" charset="-127"/>
                    <a:ea typeface="나눔스퀘어" panose="020B0600000101010101" pitchFamily="50" charset="-127"/>
                    <a:cs typeface="+mn-cs"/>
                  </a:defRPr>
                </a:pPr>
                <a:endParaRPr lang="ko-KR"/>
              </a:p>
            </c:txPr>
            <c:dLblPos val="t"/>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Sheet1!$B$2:$B$13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Sheet1!$E$2:$E$13</c:f>
              <c:numCache>
                <c:formatCode>0.0%</c:formatCode>
                <c:ptCount val="12"/>
                <c:pt idx="0">
                  <c:v>0</c:v>
                </c:pt>
                <c:pt idx="1">
                  <c:v>0</c:v>
                </c:pt>
                <c:pt idx="2">
                  <c:v>2.5613269846061545E-2</c:v>
                </c:pt>
                <c:pt idx="3">
                  <c:v>2.5642632892270912E-2</c:v>
                </c:pt>
                <c:pt idx="4">
                  <c:v>2.0414162024047857E-2</c:v>
                </c:pt>
                <c:pt idx="5">
                  <c:v>1.7902476946372026E-2</c:v>
                </c:pt>
                <c:pt idx="6">
                  <c:v>1.1360973536041768E-2</c:v>
                </c:pt>
                <c:pt idx="7">
                  <c:v>4.5499999999999655E-3</c:v>
                </c:pt>
                <c:pt idx="8">
                  <c:v>2.2749999999999212E-3</c:v>
                </c:pt>
                <c:pt idx="9">
                  <c:v>0</c:v>
                </c:pt>
                <c:pt idx="10">
                  <c:v>0</c:v>
                </c:pt>
                <c:pt idx="11">
                  <c:v>0</c:v>
                </c:pt>
              </c:numCache>
            </c:numRef>
          </c:val>
          <c:smooth val="0"/>
          <c:extLst>
            <c:ext xmlns:c16="http://schemas.microsoft.com/office/drawing/2014/chart" uri="{C3380CC4-5D6E-409C-BE32-E72D297353CC}">
              <c16:uniqueId val="{0000000E-62D1-47C3-B40D-2506241CFC38}"/>
            </c:ext>
          </c:extLst>
        </c:ser>
        <c:dLbls>
          <c:showLegendKey val="0"/>
          <c:showVal val="0"/>
          <c:showCatName val="0"/>
          <c:showSerName val="0"/>
          <c:showPercent val="0"/>
          <c:showBubbleSize val="0"/>
        </c:dLbls>
        <c:marker val="1"/>
        <c:smooth val="0"/>
        <c:axId val="1034087855"/>
        <c:axId val="1034094095"/>
      </c:lineChart>
      <c:catAx>
        <c:axId val="16432946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1643285471"/>
        <c:crosses val="autoZero"/>
        <c:auto val="1"/>
        <c:lblAlgn val="ctr"/>
        <c:lblOffset val="0"/>
        <c:noMultiLvlLbl val="0"/>
      </c:catAx>
      <c:valAx>
        <c:axId val="1643285471"/>
        <c:scaling>
          <c:orientation val="minMax"/>
          <c:max val="35000"/>
          <c:min val="31000"/>
        </c:scaling>
        <c:delete val="0"/>
        <c:axPos val="l"/>
        <c:majorGridlines>
          <c:spPr>
            <a:ln w="9525" cap="flat" cmpd="sng" algn="ctr">
              <a:noFill/>
              <a:round/>
            </a:ln>
            <a:effectLst/>
          </c:spPr>
        </c:majorGridlines>
        <c:title>
          <c:tx>
            <c:rich>
              <a:bodyPr rot="0" vert="horz"/>
              <a:lstStyle/>
              <a:p>
                <a:pPr>
                  <a:defRPr b="0">
                    <a:solidFill>
                      <a:schemeClr val="tx1">
                        <a:lumMod val="65000"/>
                        <a:lumOff val="35000"/>
                      </a:schemeClr>
                    </a:solidFill>
                  </a:defRPr>
                </a:pPr>
                <a:r>
                  <a:rPr lang="en-US" altLang="ko-KR" b="0" dirty="0" smtClean="0">
                    <a:solidFill>
                      <a:schemeClr val="tx1">
                        <a:lumMod val="65000"/>
                        <a:lumOff val="35000"/>
                      </a:schemeClr>
                    </a:solidFill>
                  </a:rPr>
                  <a:t>(k TEU)</a:t>
                </a:r>
                <a:endParaRPr lang="ko-KR" altLang="en-US" b="0" dirty="0">
                  <a:solidFill>
                    <a:schemeClr val="tx1">
                      <a:lumMod val="65000"/>
                      <a:lumOff val="35000"/>
                    </a:schemeClr>
                  </a:solidFill>
                </a:endParaRPr>
              </a:p>
            </c:rich>
          </c:tx>
          <c:layout>
            <c:manualLayout>
              <c:xMode val="edge"/>
              <c:yMode val="edge"/>
              <c:x val="2.315168436707123E-3"/>
              <c:y val="0.17669950339848906"/>
            </c:manualLayout>
          </c:layout>
          <c:overlay val="0"/>
        </c:title>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1643294623"/>
        <c:crosses val="autoZero"/>
        <c:crossBetween val="between"/>
        <c:majorUnit val="2000"/>
      </c:valAx>
      <c:valAx>
        <c:axId val="1034094095"/>
        <c:scaling>
          <c:orientation val="minMax"/>
          <c:max val="4.0000000000000008E-2"/>
          <c:min val="0"/>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1034087855"/>
        <c:crosses val="max"/>
        <c:crossBetween val="between"/>
        <c:majorUnit val="2.0000000000000004E-2"/>
      </c:valAx>
      <c:catAx>
        <c:axId val="1034087855"/>
        <c:scaling>
          <c:orientation val="minMax"/>
        </c:scaling>
        <c:delete val="1"/>
        <c:axPos val="b"/>
        <c:numFmt formatCode="General" sourceLinked="1"/>
        <c:majorTickMark val="out"/>
        <c:minorTickMark val="none"/>
        <c:tickLblPos val="nextTo"/>
        <c:crossAx val="1034094095"/>
        <c:crosses val="autoZero"/>
        <c:auto val="1"/>
        <c:lblAlgn val="ctr"/>
        <c:lblOffset val="100"/>
        <c:noMultiLvlLbl val="0"/>
      </c:catAx>
      <c:spPr>
        <a:noFill/>
        <a:ln>
          <a:noFill/>
        </a:ln>
        <a:effectLst/>
      </c:spPr>
    </c:plotArea>
    <c:legend>
      <c:legendPos val="t"/>
      <c:layout>
        <c:manualLayout>
          <c:xMode val="edge"/>
          <c:yMode val="edge"/>
          <c:x val="0.11155716473406778"/>
          <c:y val="0.20159718935605042"/>
          <c:w val="0.85450026147350044"/>
          <c:h val="9.2747188269323239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legend>
    <c:plotVisOnly val="1"/>
    <c:dispBlanksAs val="gap"/>
    <c:showDLblsOverMax val="0"/>
  </c:chart>
  <c:spPr>
    <a:noFill/>
    <a:ln>
      <a:noFill/>
    </a:ln>
    <a:effectLst/>
  </c:spPr>
  <c:txPr>
    <a:bodyPr/>
    <a:lstStyle/>
    <a:p>
      <a:pPr>
        <a:defRPr sz="1100">
          <a:latin typeface="나눔스퀘어" panose="020B0600000101010101" pitchFamily="50" charset="-127"/>
          <a:ea typeface="나눔스퀘어" panose="020B0600000101010101" pitchFamily="50" charset="-127"/>
        </a:defRPr>
      </a:pPr>
      <a:endParaRPr lang="ko-KR"/>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r>
              <a:rPr lang="en-US" altLang="ko-KR" sz="1200" b="1" dirty="0" smtClean="0">
                <a:solidFill>
                  <a:schemeClr val="tx1">
                    <a:lumMod val="65000"/>
                    <a:lumOff val="35000"/>
                  </a:schemeClr>
                </a:solidFill>
                <a:latin typeface="나눔스퀘어" panose="020B0600000101010101" pitchFamily="50" charset="-127"/>
                <a:ea typeface="나눔스퀘어" panose="020B0600000101010101" pitchFamily="50" charset="-127"/>
              </a:rPr>
              <a:t>[5-Year Trend in Demand Volume Growth]</a:t>
            </a:r>
            <a:endParaRPr lang="en-US" altLang="ko-KR" sz="1200" b="1" dirty="0">
              <a:solidFill>
                <a:schemeClr val="tx1">
                  <a:lumMod val="65000"/>
                  <a:lumOff val="35000"/>
                </a:schemeClr>
              </a:solidFill>
              <a:latin typeface="나눔스퀘어" panose="020B0600000101010101" pitchFamily="50" charset="-127"/>
              <a:ea typeface="나눔스퀘어" panose="020B0600000101010101" pitchFamily="50" charset="-127"/>
            </a:endParaRPr>
          </a:p>
        </c:rich>
      </c:tx>
      <c:layout>
        <c:manualLayout>
          <c:xMode val="edge"/>
          <c:yMode val="edge"/>
          <c:x val="0.24457609246842729"/>
          <c:y val="3.5107870259378879E-2"/>
        </c:manualLayout>
      </c:layout>
      <c:overlay val="0"/>
      <c:spPr>
        <a:noFill/>
        <a:ln>
          <a:noFill/>
        </a:ln>
        <a:effectLst/>
      </c:spPr>
      <c:txPr>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endParaRPr lang="ko-KR"/>
        </a:p>
      </c:txPr>
    </c:title>
    <c:autoTitleDeleted val="0"/>
    <c:plotArea>
      <c:layout>
        <c:manualLayout>
          <c:layoutTarget val="inner"/>
          <c:xMode val="edge"/>
          <c:yMode val="edge"/>
          <c:x val="0.15335993124252661"/>
          <c:y val="0.26195408274587656"/>
          <c:w val="0.78795188050079912"/>
          <c:h val="0.59257662977159908"/>
        </c:manualLayout>
      </c:layout>
      <c:barChart>
        <c:barDir val="col"/>
        <c:grouping val="clustered"/>
        <c:varyColors val="0"/>
        <c:ser>
          <c:idx val="0"/>
          <c:order val="0"/>
          <c:tx>
            <c:strRef>
              <c:f>Sheet1!$B$1</c:f>
              <c:strCache>
                <c:ptCount val="1"/>
                <c:pt idx="0">
                  <c:v>Demand Growth</c:v>
                </c:pt>
              </c:strCache>
            </c:strRef>
          </c:tx>
          <c:spPr>
            <a:solidFill>
              <a:srgbClr val="3CD0BA"/>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0-1A68-407E-AFC5-6651D9CE0567}"/>
                </c:ext>
              </c:extLst>
            </c:dLbl>
            <c:dLbl>
              <c:idx val="1"/>
              <c:delete val="1"/>
              <c:extLst>
                <c:ext xmlns:c15="http://schemas.microsoft.com/office/drawing/2012/chart" uri="{CE6537A1-D6FC-4f65-9D91-7224C49458BB}"/>
                <c:ext xmlns:c16="http://schemas.microsoft.com/office/drawing/2014/chart" uri="{C3380CC4-5D6E-409C-BE32-E72D297353CC}">
                  <c16:uniqueId val="{00000001-1A68-407E-AFC5-6651D9CE0567}"/>
                </c:ext>
              </c:extLst>
            </c:dLbl>
            <c:dLbl>
              <c:idx val="2"/>
              <c:delete val="1"/>
              <c:extLst>
                <c:ext xmlns:c15="http://schemas.microsoft.com/office/drawing/2012/chart" uri="{CE6537A1-D6FC-4f65-9D91-7224C49458BB}"/>
                <c:ext xmlns:c16="http://schemas.microsoft.com/office/drawing/2014/chart" uri="{C3380CC4-5D6E-409C-BE32-E72D297353CC}">
                  <c16:uniqueId val="{00000002-1A68-407E-AFC5-6651D9CE0567}"/>
                </c:ext>
              </c:extLst>
            </c:dLbl>
            <c:dLbl>
              <c:idx val="3"/>
              <c:layout/>
              <c:tx>
                <c:rich>
                  <a:bodyPr/>
                  <a:lstStyle/>
                  <a:p>
                    <a:r>
                      <a:rPr lang="en-US" altLang="ko-KR" smtClean="0"/>
                      <a:t>4%</a:t>
                    </a:r>
                    <a:endParaRPr lang="en-US" altLang="ko-KR" dirty="0"/>
                  </a:p>
                </c:rich>
              </c:tx>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1A68-407E-AFC5-6651D9CE0567}"/>
                </c:ext>
              </c:extLst>
            </c:dLbl>
            <c:dLbl>
              <c:idx val="4"/>
              <c:layout/>
              <c:tx>
                <c:rich>
                  <a:bodyPr/>
                  <a:lstStyle/>
                  <a:p>
                    <a:r>
                      <a:rPr lang="en-US" altLang="ko-KR" smtClean="0"/>
                      <a:t>2~3%</a:t>
                    </a:r>
                    <a:endParaRPr lang="en-US" altLang="ko-KR" dirty="0"/>
                  </a:p>
                </c:rich>
              </c:tx>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4-1A68-407E-AFC5-6651D9CE0567}"/>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나눔스퀘어" panose="020B0600000101010101" pitchFamily="50" charset="-127"/>
                    <a:ea typeface="나눔스퀘어" panose="020B0600000101010101" pitchFamily="50" charset="-127"/>
                    <a:cs typeface="+mn-cs"/>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2022</c:v>
                </c:pt>
                <c:pt idx="1">
                  <c:v>2023</c:v>
                </c:pt>
                <c:pt idx="2">
                  <c:v>2024</c:v>
                </c:pt>
                <c:pt idx="3">
                  <c:v>2025</c:v>
                </c:pt>
                <c:pt idx="4">
                  <c:v>2026(f)</c:v>
                </c:pt>
              </c:strCache>
            </c:strRef>
          </c:cat>
          <c:val>
            <c:numRef>
              <c:f>Sheet1!$B$2:$B$6</c:f>
              <c:numCache>
                <c:formatCode>0.0%</c:formatCode>
                <c:ptCount val="5"/>
                <c:pt idx="0">
                  <c:v>-0.04</c:v>
                </c:pt>
                <c:pt idx="1">
                  <c:v>0.01</c:v>
                </c:pt>
                <c:pt idx="2">
                  <c:v>0.11</c:v>
                </c:pt>
                <c:pt idx="3">
                  <c:v>0.04</c:v>
                </c:pt>
                <c:pt idx="4">
                  <c:v>2.5000000000000001E-2</c:v>
                </c:pt>
              </c:numCache>
            </c:numRef>
          </c:val>
          <c:extLst>
            <c:ext xmlns:c16="http://schemas.microsoft.com/office/drawing/2014/chart" uri="{C3380CC4-5D6E-409C-BE32-E72D297353CC}">
              <c16:uniqueId val="{00000005-1A68-407E-AFC5-6651D9CE0567}"/>
            </c:ext>
          </c:extLst>
        </c:ser>
        <c:dLbls>
          <c:dLblPos val="outEnd"/>
          <c:showLegendKey val="0"/>
          <c:showVal val="1"/>
          <c:showCatName val="0"/>
          <c:showSerName val="0"/>
          <c:showPercent val="0"/>
          <c:showBubbleSize val="0"/>
        </c:dLbls>
        <c:gapWidth val="42"/>
        <c:axId val="2110385232"/>
        <c:axId val="2110386864"/>
      </c:barChart>
      <c:catAx>
        <c:axId val="211038523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sz="1000" dirty="0" smtClean="0">
                    <a:latin typeface="나눔스퀘어" panose="020B0600000101010101" pitchFamily="50" charset="-127"/>
                    <a:ea typeface="나눔스퀘어" panose="020B0600000101010101" pitchFamily="50" charset="-127"/>
                  </a:rPr>
                  <a:t>(Chargeable Weight)</a:t>
                </a:r>
                <a:endParaRPr lang="ko-KR" altLang="en-US" sz="1000" dirty="0">
                  <a:latin typeface="나눔스퀘어" panose="020B0600000101010101" pitchFamily="50" charset="-127"/>
                  <a:ea typeface="나눔스퀘어" panose="020B0600000101010101" pitchFamily="50" charset="-127"/>
                </a:endParaRPr>
              </a:p>
            </c:rich>
          </c:tx>
          <c:layout>
            <c:manualLayout>
              <c:xMode val="edge"/>
              <c:yMode val="edge"/>
              <c:x val="2.3068812028622713E-2"/>
              <c:y val="6.5381579762574984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386864"/>
        <c:crosses val="autoZero"/>
        <c:auto val="1"/>
        <c:lblAlgn val="ctr"/>
        <c:lblOffset val="100"/>
        <c:noMultiLvlLbl val="0"/>
      </c:catAx>
      <c:valAx>
        <c:axId val="2110386864"/>
        <c:scaling>
          <c:orientation val="minMax"/>
          <c:min val="-0.15000000000000002"/>
        </c:scaling>
        <c:delete val="0"/>
        <c:axPos val="l"/>
        <c:majorGridlines>
          <c:spPr>
            <a:ln w="6350" cap="flat" cmpd="sng" algn="ctr">
              <a:solidFill>
                <a:schemeClr val="tx1">
                  <a:lumMod val="15000"/>
                  <a:lumOff val="85000"/>
                </a:schemeClr>
              </a:solidFill>
              <a:prstDash val="sysDot"/>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2110385232"/>
        <c:crosses val="autoZero"/>
        <c:crossBetween val="between"/>
      </c:valAx>
      <c:spPr>
        <a:noFill/>
        <a:ln>
          <a:noFill/>
        </a:ln>
        <a:effectLst/>
      </c:spPr>
    </c:plotArea>
    <c:legend>
      <c:legendPos val="r"/>
      <c:layout>
        <c:manualLayout>
          <c:xMode val="edge"/>
          <c:yMode val="edge"/>
          <c:x val="0.73661433836582946"/>
          <c:y val="0.15919005045348875"/>
          <c:w val="0.25202744217369488"/>
          <c:h val="0.10832496033488404"/>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legend>
    <c:plotVisOnly val="1"/>
    <c:dispBlanksAs val="gap"/>
    <c:showDLblsOverMax val="0"/>
  </c:chart>
  <c:spPr>
    <a:noFill/>
    <a:ln>
      <a:noFill/>
    </a:ln>
    <a:effectLst/>
  </c:spPr>
  <c:txPr>
    <a:bodyPr/>
    <a:lstStyle/>
    <a:p>
      <a:pPr>
        <a:defRPr/>
      </a:pPr>
      <a:endParaRPr lang="ko-KR"/>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b="1" dirty="0" smtClean="0"/>
              <a:t>[Annual Delivery Status]</a:t>
            </a:r>
            <a:endParaRPr lang="ko-KR" altLang="en-US" b="1" dirty="0"/>
          </a:p>
        </c:rich>
      </c:tx>
      <c:layout>
        <c:manualLayout>
          <c:xMode val="edge"/>
          <c:yMode val="edge"/>
          <c:x val="0.34673866810929033"/>
          <c:y val="7.8449927462215067E-3"/>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autoTitleDeleted val="0"/>
    <c:plotArea>
      <c:layout>
        <c:manualLayout>
          <c:layoutTarget val="inner"/>
          <c:xMode val="edge"/>
          <c:yMode val="edge"/>
          <c:x val="7.8088057055741553E-2"/>
          <c:y val="0.23904389229675307"/>
          <c:w val="0.89577031444992083"/>
          <c:h val="0.56839575714481816"/>
        </c:manualLayout>
      </c:layout>
      <c:barChart>
        <c:barDir val="col"/>
        <c:grouping val="stacked"/>
        <c:varyColors val="0"/>
        <c:ser>
          <c:idx val="0"/>
          <c:order val="0"/>
          <c:tx>
            <c:strRef>
              <c:f>Sheet1!$B$1</c:f>
              <c:strCache>
                <c:ptCount val="1"/>
                <c:pt idx="0">
                  <c:v>Airbus</c:v>
                </c:pt>
              </c:strCache>
            </c:strRef>
          </c:tx>
          <c:spPr>
            <a:solidFill>
              <a:srgbClr val="3CD0BA"/>
            </a:solidFill>
            <a:ln>
              <a:noFill/>
            </a:ln>
            <a:effectLst/>
          </c:spPr>
          <c:invertIfNegative val="0"/>
          <c:cat>
            <c:strRef>
              <c:f>Sheet1!$A$2:$A$8</c:f>
              <c:strCache>
                <c:ptCount val="7"/>
                <c:pt idx="0">
                  <c:v>2020</c:v>
                </c:pt>
                <c:pt idx="1">
                  <c:v>2021</c:v>
                </c:pt>
                <c:pt idx="2">
                  <c:v>2022</c:v>
                </c:pt>
                <c:pt idx="3">
                  <c:v>2023</c:v>
                </c:pt>
                <c:pt idx="4">
                  <c:v>2024</c:v>
                </c:pt>
                <c:pt idx="5">
                  <c:v>2025</c:v>
                </c:pt>
                <c:pt idx="6">
                  <c:v>2026(~5)</c:v>
                </c:pt>
              </c:strCache>
            </c:strRef>
          </c:cat>
          <c:val>
            <c:numRef>
              <c:f>Sheet1!$B$2:$B$8</c:f>
              <c:numCache>
                <c:formatCode>General</c:formatCode>
                <c:ptCount val="7"/>
                <c:pt idx="0">
                  <c:v>566</c:v>
                </c:pt>
                <c:pt idx="1">
                  <c:v>611</c:v>
                </c:pt>
                <c:pt idx="2">
                  <c:v>661</c:v>
                </c:pt>
                <c:pt idx="3">
                  <c:v>735</c:v>
                </c:pt>
                <c:pt idx="4">
                  <c:v>766</c:v>
                </c:pt>
                <c:pt idx="5">
                  <c:v>793</c:v>
                </c:pt>
                <c:pt idx="6">
                  <c:v>262</c:v>
                </c:pt>
              </c:numCache>
            </c:numRef>
          </c:val>
          <c:extLst>
            <c:ext xmlns:c16="http://schemas.microsoft.com/office/drawing/2014/chart" uri="{C3380CC4-5D6E-409C-BE32-E72D297353CC}">
              <c16:uniqueId val="{00000000-82B9-4D73-8D3D-77CD117A9077}"/>
            </c:ext>
          </c:extLst>
        </c:ser>
        <c:ser>
          <c:idx val="1"/>
          <c:order val="1"/>
          <c:tx>
            <c:strRef>
              <c:f>Sheet1!$C$1</c:f>
              <c:strCache>
                <c:ptCount val="1"/>
                <c:pt idx="0">
                  <c:v>Boeing</c:v>
                </c:pt>
              </c:strCache>
            </c:strRef>
          </c:tx>
          <c:spPr>
            <a:solidFill>
              <a:srgbClr val="0000FF"/>
            </a:solidFill>
            <a:ln>
              <a:noFill/>
            </a:ln>
            <a:effectLst/>
          </c:spPr>
          <c:invertIfNegative val="0"/>
          <c:cat>
            <c:strRef>
              <c:f>Sheet1!$A$2:$A$8</c:f>
              <c:strCache>
                <c:ptCount val="7"/>
                <c:pt idx="0">
                  <c:v>2020</c:v>
                </c:pt>
                <c:pt idx="1">
                  <c:v>2021</c:v>
                </c:pt>
                <c:pt idx="2">
                  <c:v>2022</c:v>
                </c:pt>
                <c:pt idx="3">
                  <c:v>2023</c:v>
                </c:pt>
                <c:pt idx="4">
                  <c:v>2024</c:v>
                </c:pt>
                <c:pt idx="5">
                  <c:v>2025</c:v>
                </c:pt>
                <c:pt idx="6">
                  <c:v>2026(~5)</c:v>
                </c:pt>
              </c:strCache>
            </c:strRef>
          </c:cat>
          <c:val>
            <c:numRef>
              <c:f>Sheet1!$C$2:$C$8</c:f>
              <c:numCache>
                <c:formatCode>General</c:formatCode>
                <c:ptCount val="7"/>
                <c:pt idx="0">
                  <c:v>157</c:v>
                </c:pt>
                <c:pt idx="1">
                  <c:v>340</c:v>
                </c:pt>
                <c:pt idx="2">
                  <c:v>480</c:v>
                </c:pt>
                <c:pt idx="3">
                  <c:v>528</c:v>
                </c:pt>
                <c:pt idx="4">
                  <c:v>348</c:v>
                </c:pt>
                <c:pt idx="5">
                  <c:v>600</c:v>
                </c:pt>
                <c:pt idx="6">
                  <c:v>250</c:v>
                </c:pt>
              </c:numCache>
            </c:numRef>
          </c:val>
          <c:extLst>
            <c:ext xmlns:c16="http://schemas.microsoft.com/office/drawing/2014/chart" uri="{C3380CC4-5D6E-409C-BE32-E72D297353CC}">
              <c16:uniqueId val="{00000001-82B9-4D73-8D3D-77CD117A9077}"/>
            </c:ext>
          </c:extLst>
        </c:ser>
        <c:dLbls>
          <c:showLegendKey val="0"/>
          <c:showVal val="0"/>
          <c:showCatName val="0"/>
          <c:showSerName val="0"/>
          <c:showPercent val="0"/>
          <c:showBubbleSize val="0"/>
        </c:dLbls>
        <c:gapWidth val="150"/>
        <c:overlap val="100"/>
        <c:axId val="166628016"/>
        <c:axId val="166618224"/>
      </c:barChart>
      <c:catAx>
        <c:axId val="166628016"/>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sz="900" dirty="0" smtClean="0"/>
                  <a:t>(Delivery</a:t>
                </a:r>
                <a:r>
                  <a:rPr lang="en-US" altLang="ko-KR" sz="900" baseline="0" dirty="0" smtClean="0"/>
                  <a:t> unit</a:t>
                </a:r>
                <a:r>
                  <a:rPr lang="en-US" altLang="ko-KR" sz="900" dirty="0" smtClean="0"/>
                  <a:t>)</a:t>
                </a:r>
                <a:endParaRPr lang="ko-KR" altLang="en-US" sz="900" dirty="0"/>
              </a:p>
            </c:rich>
          </c:tx>
          <c:layout>
            <c:manualLayout>
              <c:xMode val="edge"/>
              <c:yMode val="edge"/>
              <c:x val="1.1285623582630655E-3"/>
              <c:y val="0"/>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166618224"/>
        <c:crosses val="autoZero"/>
        <c:auto val="1"/>
        <c:lblAlgn val="ctr"/>
        <c:lblOffset val="100"/>
        <c:noMultiLvlLbl val="0"/>
      </c:catAx>
      <c:valAx>
        <c:axId val="166618224"/>
        <c:scaling>
          <c:orientation val="minMax"/>
          <c:max val="1500"/>
          <c:min val="0"/>
        </c:scaling>
        <c:delete val="0"/>
        <c:axPos val="l"/>
        <c:majorGridlines>
          <c:spPr>
            <a:ln w="9525" cap="flat" cmpd="sng" algn="ctr">
              <a:solidFill>
                <a:schemeClr val="tx1">
                  <a:lumMod val="15000"/>
                  <a:lumOff val="85000"/>
                </a:schemeClr>
              </a:solidFill>
              <a:round/>
            </a:ln>
            <a:effectLst/>
          </c:spPr>
        </c:majorGridlines>
        <c:numFmt formatCode="#,##0_);[Red]\(#,##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166628016"/>
        <c:crosses val="autoZero"/>
        <c:crossBetween val="between"/>
        <c:majorUnit val="300"/>
      </c:valAx>
      <c:spPr>
        <a:noFill/>
        <a:ln>
          <a:noFill/>
        </a:ln>
        <a:effectLst/>
      </c:spPr>
    </c:plotArea>
    <c:legend>
      <c:legendPos val="r"/>
      <c:layout>
        <c:manualLayout>
          <c:xMode val="edge"/>
          <c:yMode val="edge"/>
          <c:x val="0.76906257093279207"/>
          <c:y val="6.4155243381709748E-2"/>
          <c:w val="0.20717231225417373"/>
          <c:h val="0.15552251375442094"/>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legend>
    <c:plotVisOnly val="1"/>
    <c:dispBlanksAs val="gap"/>
    <c:showDLblsOverMax val="0"/>
  </c:chart>
  <c:spPr>
    <a:noFill/>
    <a:ln>
      <a:noFill/>
    </a:ln>
    <a:effectLst/>
  </c:spPr>
  <c:txPr>
    <a:bodyPr/>
    <a:lstStyle/>
    <a:p>
      <a:pPr>
        <a:defRPr sz="1000">
          <a:latin typeface="나눔스퀘어" panose="020B0600000101010101" pitchFamily="50" charset="-127"/>
          <a:ea typeface="나눔스퀘어" panose="020B0600000101010101" pitchFamily="50" charset="-127"/>
        </a:defRPr>
      </a:pPr>
      <a:endParaRPr lang="ko-KR"/>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737497108368179E-3"/>
          <c:y val="0"/>
          <c:w val="0.98686514336404629"/>
          <c:h val="0.81452412562180132"/>
        </c:manualLayout>
      </c:layout>
      <c:barChart>
        <c:barDir val="col"/>
        <c:grouping val="stacked"/>
        <c:varyColors val="0"/>
        <c:ser>
          <c:idx val="0"/>
          <c:order val="0"/>
          <c:tx>
            <c:strRef>
              <c:f>Sheet1!$B$1</c:f>
              <c:strCache>
                <c:ptCount val="1"/>
                <c:pt idx="0">
                  <c:v>상승요소</c:v>
                </c:pt>
              </c:strCache>
            </c:strRef>
          </c:tx>
          <c:spPr>
            <a:solidFill>
              <a:srgbClr val="002B5C"/>
            </a:solidFill>
            <a:ln>
              <a:noFill/>
            </a:ln>
            <a:effectLst/>
          </c:spPr>
          <c:invertIfNegative val="0"/>
          <c:dPt>
            <c:idx val="0"/>
            <c:invertIfNegative val="0"/>
            <c:bubble3D val="0"/>
            <c:spPr>
              <a:solidFill>
                <a:srgbClr val="002B5C">
                  <a:alpha val="40000"/>
                </a:srgbClr>
              </a:solidFill>
              <a:ln>
                <a:noFill/>
              </a:ln>
              <a:effectLst/>
            </c:spPr>
            <c:extLst>
              <c:ext xmlns:c16="http://schemas.microsoft.com/office/drawing/2014/chart" uri="{C3380CC4-5D6E-409C-BE32-E72D297353CC}">
                <c16:uniqueId val="{00000005-6931-44DB-A08C-B5937CCD25F2}"/>
              </c:ext>
            </c:extLst>
          </c:dPt>
          <c:dPt>
            <c:idx val="1"/>
            <c:invertIfNegative val="0"/>
            <c:bubble3D val="0"/>
            <c:spPr>
              <a:solidFill>
                <a:srgbClr val="002B5C">
                  <a:alpha val="40000"/>
                </a:srgbClr>
              </a:solidFill>
              <a:ln>
                <a:noFill/>
              </a:ln>
              <a:effectLst/>
            </c:spPr>
            <c:extLst>
              <c:ext xmlns:c16="http://schemas.microsoft.com/office/drawing/2014/chart" uri="{C3380CC4-5D6E-409C-BE32-E72D297353CC}">
                <c16:uniqueId val="{00000004-6931-44DB-A08C-B5937CCD25F2}"/>
              </c:ext>
            </c:extLst>
          </c:dPt>
          <c:dPt>
            <c:idx val="2"/>
            <c:invertIfNegative val="0"/>
            <c:bubble3D val="0"/>
            <c:spPr>
              <a:solidFill>
                <a:srgbClr val="002B5C">
                  <a:alpha val="40000"/>
                </a:srgbClr>
              </a:solidFill>
              <a:ln>
                <a:noFill/>
              </a:ln>
              <a:effectLst/>
            </c:spPr>
            <c:extLst>
              <c:ext xmlns:c16="http://schemas.microsoft.com/office/drawing/2014/chart" uri="{C3380CC4-5D6E-409C-BE32-E72D297353CC}">
                <c16:uniqueId val="{00000003-6931-44DB-A08C-B5937CCD25F2}"/>
              </c:ext>
            </c:extLst>
          </c:dPt>
          <c:dPt>
            <c:idx val="3"/>
            <c:invertIfNegative val="0"/>
            <c:bubble3D val="0"/>
            <c:spPr>
              <a:solidFill>
                <a:srgbClr val="002B5C">
                  <a:alpha val="40000"/>
                </a:srgbClr>
              </a:solidFill>
              <a:ln>
                <a:noFill/>
              </a:ln>
              <a:effectLst/>
            </c:spPr>
            <c:extLst>
              <c:ext xmlns:c16="http://schemas.microsoft.com/office/drawing/2014/chart" uri="{C3380CC4-5D6E-409C-BE32-E72D297353CC}">
                <c16:uniqueId val="{00000002-6931-44DB-A08C-B5937CCD25F2}"/>
              </c:ext>
            </c:extLst>
          </c:dPt>
          <c:dPt>
            <c:idx val="4"/>
            <c:invertIfNegative val="0"/>
            <c:bubble3D val="0"/>
            <c:spPr>
              <a:solidFill>
                <a:srgbClr val="002B5C">
                  <a:alpha val="40000"/>
                </a:srgbClr>
              </a:solidFill>
              <a:ln>
                <a:noFill/>
              </a:ln>
              <a:effectLst/>
            </c:spPr>
            <c:extLst>
              <c:ext xmlns:c16="http://schemas.microsoft.com/office/drawing/2014/chart" uri="{C3380CC4-5D6E-409C-BE32-E72D297353CC}">
                <c16:uniqueId val="{00000001-6931-44DB-A08C-B5937CCD25F2}"/>
              </c:ext>
            </c:extLst>
          </c:dPt>
          <c:dPt>
            <c:idx val="5"/>
            <c:invertIfNegative val="0"/>
            <c:bubble3D val="0"/>
            <c:spPr>
              <a:solidFill>
                <a:srgbClr val="002B5C">
                  <a:alpha val="40000"/>
                </a:srgbClr>
              </a:solidFill>
              <a:ln>
                <a:noFill/>
              </a:ln>
              <a:effectLst/>
            </c:spPr>
            <c:extLst>
              <c:ext xmlns:c16="http://schemas.microsoft.com/office/drawing/2014/chart" uri="{C3380CC4-5D6E-409C-BE32-E72D297353CC}">
                <c16:uniqueId val="{00000014-7161-4C6A-80D3-88442833385D}"/>
              </c:ext>
            </c:extLst>
          </c:dPt>
          <c:cat>
            <c:numRef>
              <c:f>Sheet1!$A$2:$A$13</c:f>
              <c:numCache>
                <c:formatCode>mmm/\'yy</c:formatCode>
                <c:ptCount val="12"/>
                <c:pt idx="0">
                  <c:v>46023</c:v>
                </c:pt>
                <c:pt idx="1">
                  <c:v>46054</c:v>
                </c:pt>
                <c:pt idx="2">
                  <c:v>46082</c:v>
                </c:pt>
                <c:pt idx="3">
                  <c:v>46113</c:v>
                </c:pt>
                <c:pt idx="4">
                  <c:v>46143</c:v>
                </c:pt>
                <c:pt idx="5">
                  <c:v>46174</c:v>
                </c:pt>
                <c:pt idx="6">
                  <c:v>46204</c:v>
                </c:pt>
                <c:pt idx="7">
                  <c:v>46235</c:v>
                </c:pt>
                <c:pt idx="8">
                  <c:v>46266</c:v>
                </c:pt>
                <c:pt idx="9">
                  <c:v>46296</c:v>
                </c:pt>
                <c:pt idx="10">
                  <c:v>46327</c:v>
                </c:pt>
                <c:pt idx="11">
                  <c:v>46357</c:v>
                </c:pt>
              </c:numCache>
            </c:numRef>
          </c:cat>
          <c:val>
            <c:numRef>
              <c:f>Sheet1!$B$2:$B$13</c:f>
              <c:numCache>
                <c:formatCode>General</c:formatCode>
                <c:ptCount val="12"/>
                <c:pt idx="0">
                  <c:v>2</c:v>
                </c:pt>
                <c:pt idx="1">
                  <c:v>2</c:v>
                </c:pt>
                <c:pt idx="2">
                  <c:v>2.25</c:v>
                </c:pt>
                <c:pt idx="3">
                  <c:v>6.5</c:v>
                </c:pt>
                <c:pt idx="4">
                  <c:v>6.75</c:v>
                </c:pt>
                <c:pt idx="5">
                  <c:v>7</c:v>
                </c:pt>
                <c:pt idx="6">
                  <c:v>6.75</c:v>
                </c:pt>
                <c:pt idx="7">
                  <c:v>6.5</c:v>
                </c:pt>
                <c:pt idx="8">
                  <c:v>6.4</c:v>
                </c:pt>
                <c:pt idx="9">
                  <c:v>6.5</c:v>
                </c:pt>
                <c:pt idx="10">
                  <c:v>6.5</c:v>
                </c:pt>
                <c:pt idx="11">
                  <c:v>6.75</c:v>
                </c:pt>
              </c:numCache>
            </c:numRef>
          </c:val>
          <c:extLst>
            <c:ext xmlns:c16="http://schemas.microsoft.com/office/drawing/2014/chart" uri="{C3380CC4-5D6E-409C-BE32-E72D297353CC}">
              <c16:uniqueId val="{00000000-7DDE-4CA3-9631-FEAD2B369018}"/>
            </c:ext>
          </c:extLst>
        </c:ser>
        <c:dLbls>
          <c:showLegendKey val="0"/>
          <c:showVal val="0"/>
          <c:showCatName val="0"/>
          <c:showSerName val="0"/>
          <c:showPercent val="0"/>
          <c:showBubbleSize val="0"/>
        </c:dLbls>
        <c:gapWidth val="50"/>
        <c:overlap val="100"/>
        <c:axId val="166642160"/>
        <c:axId val="166636176"/>
      </c:barChart>
      <c:dateAx>
        <c:axId val="166642160"/>
        <c:scaling>
          <c:orientation val="minMax"/>
        </c:scaling>
        <c:delete val="0"/>
        <c:axPos val="b"/>
        <c:numFmt formatCode="[$-409]mmm/yy;@" sourceLinked="0"/>
        <c:majorTickMark val="none"/>
        <c:minorTickMark val="none"/>
        <c:tickLblPos val="low"/>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100" b="0" i="0" u="none" strike="noStrike" kern="1200" baseline="0">
                <a:solidFill>
                  <a:schemeClr val="tx1">
                    <a:lumMod val="65000"/>
                    <a:lumOff val="35000"/>
                  </a:schemeClr>
                </a:solidFill>
                <a:latin typeface="나눔스퀘어" panose="020B0600000101010101" pitchFamily="34" charset="-127"/>
                <a:ea typeface="나눔스퀘어" panose="020B0600000101010101" pitchFamily="34" charset="-127"/>
                <a:cs typeface="+mn-cs"/>
              </a:defRPr>
            </a:pPr>
            <a:endParaRPr lang="ko-KR"/>
          </a:p>
        </c:txPr>
        <c:crossAx val="166636176"/>
        <c:crosses val="autoZero"/>
        <c:auto val="1"/>
        <c:lblOffset val="100"/>
        <c:baseTimeUnit val="months"/>
      </c:dateAx>
      <c:valAx>
        <c:axId val="166636176"/>
        <c:scaling>
          <c:orientation val="minMax"/>
          <c:max val="7"/>
          <c:min val="0"/>
        </c:scaling>
        <c:delete val="1"/>
        <c:axPos val="l"/>
        <c:majorGridlines>
          <c:spPr>
            <a:ln w="3175" cap="flat" cmpd="sng" algn="ctr">
              <a:solidFill>
                <a:schemeClr val="bg1">
                  <a:lumMod val="85000"/>
                </a:schemeClr>
              </a:solidFill>
              <a:prstDash val="sysDot"/>
              <a:round/>
            </a:ln>
            <a:effectLst/>
          </c:spPr>
        </c:majorGridlines>
        <c:numFmt formatCode="General" sourceLinked="1"/>
        <c:majorTickMark val="out"/>
        <c:minorTickMark val="none"/>
        <c:tickLblPos val="nextTo"/>
        <c:crossAx val="166642160"/>
        <c:crosses val="autoZero"/>
        <c:crossBetween val="between"/>
      </c:valAx>
      <c:spPr>
        <a:noFill/>
        <a:ln w="25400">
          <a:noFill/>
        </a:ln>
        <a:effectLst/>
      </c:spPr>
    </c:plotArea>
    <c:plotVisOnly val="1"/>
    <c:dispBlanksAs val="gap"/>
    <c:showDLblsOverMax val="0"/>
  </c:chart>
  <c:spPr>
    <a:noFill/>
    <a:ln>
      <a:noFill/>
    </a:ln>
    <a:effectLst/>
  </c:spPr>
  <c:txPr>
    <a:bodyPr/>
    <a:lstStyle/>
    <a:p>
      <a:pPr>
        <a:defRPr sz="1100" b="0" i="0">
          <a:latin typeface="나눔스퀘어" panose="020B0600000101010101" pitchFamily="34" charset="-127"/>
          <a:ea typeface="나눔스퀘어" panose="020B0600000101010101" pitchFamily="34" charset="-127"/>
        </a:defRPr>
      </a:pPr>
      <a:endParaRPr lang="ko-KR"/>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00">
                <a:solidFill>
                  <a:srgbClr val="595959"/>
                </a:solidFill>
              </a:defRPr>
            </a:pPr>
            <a:r>
              <a:rPr lang="en-US" altLang="ko-KR" sz="1000" baseline="0" dirty="0" smtClean="0">
                <a:solidFill>
                  <a:srgbClr val="595959"/>
                </a:solidFill>
                <a:latin typeface="나눔스퀘어" panose="020B0600000101010101" pitchFamily="50" charset="-127"/>
                <a:ea typeface="나눔스퀘어" panose="020B0600000101010101" pitchFamily="50" charset="-127"/>
              </a:rPr>
              <a:t>[Global Oil Price Trend in 1H ’26]</a:t>
            </a:r>
            <a:endParaRPr lang="ko-KR" altLang="en-US" sz="1000" dirty="0">
              <a:solidFill>
                <a:srgbClr val="595959"/>
              </a:solidFill>
              <a:latin typeface="나눔스퀘어" panose="020B0600000101010101" pitchFamily="50" charset="-127"/>
              <a:ea typeface="나눔스퀘어" panose="020B0600000101010101" pitchFamily="50" charset="-127"/>
            </a:endParaRPr>
          </a:p>
        </c:rich>
      </c:tx>
      <c:layout>
        <c:manualLayout>
          <c:xMode val="edge"/>
          <c:yMode val="edge"/>
          <c:x val="0.15989749979585349"/>
          <c:y val="0.15672510742211504"/>
        </c:manualLayout>
      </c:layout>
      <c:overlay val="0"/>
    </c:title>
    <c:autoTitleDeleted val="0"/>
    <c:plotArea>
      <c:layout>
        <c:manualLayout>
          <c:layoutTarget val="inner"/>
          <c:xMode val="edge"/>
          <c:yMode val="edge"/>
          <c:x val="0.1373419004403347"/>
          <c:y val="0.37832648434583832"/>
          <c:w val="0.74815057573142973"/>
          <c:h val="0.31820554050601146"/>
        </c:manualLayout>
      </c:layout>
      <c:lineChart>
        <c:grouping val="standard"/>
        <c:varyColors val="0"/>
        <c:ser>
          <c:idx val="0"/>
          <c:order val="0"/>
          <c:tx>
            <c:strRef>
              <c:f>Sheet1!$B$1</c:f>
              <c:strCache>
                <c:ptCount val="1"/>
                <c:pt idx="0">
                  <c:v>Brent</c:v>
                </c:pt>
              </c:strCache>
            </c:strRef>
          </c:tx>
          <c:spPr>
            <a:ln w="22225">
              <a:solidFill>
                <a:srgbClr val="0000FF"/>
              </a:solidFill>
            </a:ln>
          </c:spPr>
          <c:marker>
            <c:symbol val="none"/>
          </c:marker>
          <c:cat>
            <c:strRef>
              <c:f>Sheet1!$A$3:$A$7</c:f>
              <c:strCache>
                <c:ptCount val="5"/>
                <c:pt idx="0">
                  <c:v>Feb</c:v>
                </c:pt>
                <c:pt idx="1">
                  <c:v>Mar</c:v>
                </c:pt>
                <c:pt idx="2">
                  <c:v>Apr</c:v>
                </c:pt>
                <c:pt idx="3">
                  <c:v>May</c:v>
                </c:pt>
                <c:pt idx="4">
                  <c:v>Jun</c:v>
                </c:pt>
              </c:strCache>
            </c:strRef>
          </c:cat>
          <c:val>
            <c:numRef>
              <c:f>Sheet1!$B$3:$B$7</c:f>
              <c:numCache>
                <c:formatCode>0.0_ </c:formatCode>
                <c:ptCount val="5"/>
                <c:pt idx="0">
                  <c:v>69.23599999999999</c:v>
                </c:pt>
                <c:pt idx="1">
                  <c:v>98.163636363636357</c:v>
                </c:pt>
                <c:pt idx="2">
                  <c:v>101.42904761904762</c:v>
                </c:pt>
                <c:pt idx="3">
                  <c:v>102.78095238095239</c:v>
                </c:pt>
                <c:pt idx="4">
                  <c:v>86.85</c:v>
                </c:pt>
              </c:numCache>
            </c:numRef>
          </c:val>
          <c:smooth val="0"/>
          <c:extLst>
            <c:ext xmlns:c16="http://schemas.microsoft.com/office/drawing/2014/chart" uri="{C3380CC4-5D6E-409C-BE32-E72D297353CC}">
              <c16:uniqueId val="{00000006-C800-4218-BD71-826B19E60EA9}"/>
            </c:ext>
          </c:extLst>
        </c:ser>
        <c:ser>
          <c:idx val="1"/>
          <c:order val="1"/>
          <c:tx>
            <c:strRef>
              <c:f>Sheet1!$C$1</c:f>
              <c:strCache>
                <c:ptCount val="1"/>
                <c:pt idx="0">
                  <c:v>Jet Fuel</c:v>
                </c:pt>
              </c:strCache>
            </c:strRef>
          </c:tx>
          <c:spPr>
            <a:ln w="22225" cap="flat">
              <a:solidFill>
                <a:srgbClr val="3CD0BA"/>
              </a:solidFill>
              <a:prstDash val="solid"/>
              <a:round/>
            </a:ln>
            <a:effectLst/>
          </c:spPr>
          <c:marker>
            <c:symbol val="none"/>
          </c:marker>
          <c:dLbls>
            <c:dLbl>
              <c:idx val="0"/>
              <c:layout>
                <c:manualLayout>
                  <c:x val="-8.6087238749454398E-2"/>
                  <c:y val="-7.9855631079560105E-2"/>
                </c:manualLayout>
              </c:layout>
              <c:spPr>
                <a:noFill/>
                <a:ln>
                  <a:noFill/>
                </a:ln>
                <a:effectLst/>
              </c:spPr>
              <c:txPr>
                <a:bodyPr wrap="square" lIns="38100" tIns="19050" rIns="38100" bIns="19050" anchor="ctr">
                  <a:spAutoFit/>
                </a:bodyPr>
                <a:lstStyle/>
                <a:p>
                  <a:pPr>
                    <a:defRPr sz="800" b="1">
                      <a:latin typeface="나눔스퀘어" panose="020B0600000101010101" pitchFamily="50" charset="-127"/>
                      <a:ea typeface="나눔스퀘어" panose="020B0600000101010101" pitchFamily="50" charset="-127"/>
                    </a:defRPr>
                  </a:pPr>
                  <a:endParaRPr lang="ko-KR"/>
                </a:p>
              </c:txP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C800-4218-BD71-826B19E60EA9}"/>
                </c:ext>
              </c:extLst>
            </c:dLbl>
            <c:dLbl>
              <c:idx val="1"/>
              <c:delete val="1"/>
              <c:extLst>
                <c:ext xmlns:c15="http://schemas.microsoft.com/office/drawing/2012/chart" uri="{CE6537A1-D6FC-4f65-9D91-7224C49458BB}"/>
                <c:ext xmlns:c16="http://schemas.microsoft.com/office/drawing/2014/chart" uri="{C3380CC4-5D6E-409C-BE32-E72D297353CC}">
                  <c16:uniqueId val="{00000000-C800-4218-BD71-826B19E60EA9}"/>
                </c:ext>
              </c:extLst>
            </c:dLbl>
            <c:dLbl>
              <c:idx val="2"/>
              <c:layout>
                <c:manualLayout>
                  <c:x val="-0.10289248411454245"/>
                  <c:y val="-5.2696142178463905E-2"/>
                </c:manualLayout>
              </c:layout>
              <c:spPr>
                <a:noFill/>
                <a:ln>
                  <a:noFill/>
                </a:ln>
                <a:effectLst/>
              </c:spPr>
              <c:txPr>
                <a:bodyPr wrap="square" lIns="38100" tIns="19050" rIns="38100" bIns="19050" anchor="ctr">
                  <a:spAutoFit/>
                </a:bodyPr>
                <a:lstStyle/>
                <a:p>
                  <a:pPr>
                    <a:defRPr sz="800" b="1">
                      <a:latin typeface="나눔스퀘어" panose="020B0600000101010101" pitchFamily="50" charset="-127"/>
                      <a:ea typeface="나눔스퀘어" panose="020B0600000101010101" pitchFamily="50" charset="-127"/>
                    </a:defRPr>
                  </a:pPr>
                  <a:endParaRPr lang="ko-KR"/>
                </a:p>
              </c:txPr>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C800-4218-BD71-826B19E60EA9}"/>
                </c:ext>
              </c:extLst>
            </c:dLbl>
            <c:dLbl>
              <c:idx val="3"/>
              <c:delete val="1"/>
              <c:extLst>
                <c:ext xmlns:c15="http://schemas.microsoft.com/office/drawing/2012/chart" uri="{CE6537A1-D6FC-4f65-9D91-7224C49458BB}"/>
                <c:ext xmlns:c16="http://schemas.microsoft.com/office/drawing/2014/chart" uri="{C3380CC4-5D6E-409C-BE32-E72D297353CC}">
                  <c16:uniqueId val="{00000002-C800-4218-BD71-826B19E60EA9}"/>
                </c:ext>
              </c:extLst>
            </c:dLbl>
            <c:dLbl>
              <c:idx val="4"/>
              <c:layout>
                <c:manualLayout>
                  <c:x val="-0.1224923436636445"/>
                  <c:y val="-6.0679990419610828E-2"/>
                </c:manualLayout>
              </c:layout>
              <c:spPr>
                <a:noFill/>
                <a:ln>
                  <a:noFill/>
                </a:ln>
                <a:effectLst/>
              </c:spPr>
              <c:txPr>
                <a:bodyPr wrap="square" lIns="38100" tIns="19050" rIns="38100" bIns="19050" anchor="ctr">
                  <a:spAutoFit/>
                </a:bodyPr>
                <a:lstStyle/>
                <a:p>
                  <a:pPr>
                    <a:defRPr sz="800" b="1">
                      <a:latin typeface="나눔스퀘어" panose="020B0600000101010101" pitchFamily="50" charset="-127"/>
                      <a:ea typeface="나눔스퀘어" panose="020B0600000101010101" pitchFamily="50" charset="-127"/>
                    </a:defRPr>
                  </a:pPr>
                  <a:endParaRPr lang="ko-KR"/>
                </a:p>
              </c:txPr>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C800-4218-BD71-826B19E60EA9}"/>
                </c:ext>
              </c:extLst>
            </c:dLbl>
            <c:spPr>
              <a:noFill/>
              <a:ln>
                <a:noFill/>
              </a:ln>
              <a:effectLst/>
            </c:spPr>
            <c:txPr>
              <a:bodyPr wrap="square" lIns="38100" tIns="19050" rIns="38100" bIns="19050" anchor="ctr">
                <a:spAutoFit/>
              </a:bodyPr>
              <a:lstStyle/>
              <a:p>
                <a:pPr>
                  <a:defRPr sz="800">
                    <a:latin typeface="나눔스퀘어" panose="020B0600000101010101" pitchFamily="50" charset="-127"/>
                    <a:ea typeface="나눔스퀘어" panose="020B0600000101010101" pitchFamily="50" charset="-127"/>
                  </a:defRPr>
                </a:pPr>
                <a:endParaRPr lang="ko-K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Sheet1!$A$3:$A$7</c:f>
              <c:strCache>
                <c:ptCount val="5"/>
                <c:pt idx="0">
                  <c:v>Feb</c:v>
                </c:pt>
                <c:pt idx="1">
                  <c:v>Mar</c:v>
                </c:pt>
                <c:pt idx="2">
                  <c:v>Apr</c:v>
                </c:pt>
                <c:pt idx="3">
                  <c:v>May</c:v>
                </c:pt>
                <c:pt idx="4">
                  <c:v>Jun</c:v>
                </c:pt>
              </c:strCache>
            </c:strRef>
          </c:cat>
          <c:val>
            <c:numRef>
              <c:f>Sheet1!$C$3:$C$7</c:f>
              <c:numCache>
                <c:formatCode>0.0_ </c:formatCode>
                <c:ptCount val="5"/>
                <c:pt idx="0">
                  <c:v>95.742500000000007</c:v>
                </c:pt>
                <c:pt idx="1">
                  <c:v>181.15</c:v>
                </c:pt>
                <c:pt idx="2">
                  <c:v>192.73000000000002</c:v>
                </c:pt>
                <c:pt idx="3">
                  <c:v>161.63000000000002</c:v>
                </c:pt>
                <c:pt idx="4">
                  <c:v>134.69</c:v>
                </c:pt>
              </c:numCache>
            </c:numRef>
          </c:val>
          <c:smooth val="0"/>
          <c:extLst>
            <c:ext xmlns:c16="http://schemas.microsoft.com/office/drawing/2014/chart" uri="{C3380CC4-5D6E-409C-BE32-E72D297353CC}">
              <c16:uniqueId val="{00000005-C800-4218-BD71-826B19E60EA9}"/>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800" b="0">
                    <a:solidFill>
                      <a:schemeClr val="bg1">
                        <a:lumMod val="50000"/>
                      </a:schemeClr>
                    </a:solidFill>
                    <a:latin typeface="나눔스퀘어" panose="020B0600000101010101" pitchFamily="50" charset="-127"/>
                    <a:ea typeface="나눔스퀘어" panose="020B0600000101010101" pitchFamily="50" charset="-127"/>
                  </a:defRPr>
                </a:pPr>
                <a:r>
                  <a:rPr lang="en-US" altLang="ko-KR" sz="800" b="0" dirty="0" smtClean="0">
                    <a:solidFill>
                      <a:schemeClr val="bg1">
                        <a:lumMod val="50000"/>
                      </a:schemeClr>
                    </a:solidFill>
                    <a:latin typeface="나눔스퀘어" panose="020B0600000101010101" pitchFamily="50" charset="-127"/>
                    <a:ea typeface="나눔스퀘어" panose="020B0600000101010101" pitchFamily="50" charset="-127"/>
                  </a:rPr>
                  <a:t>($/</a:t>
                </a:r>
                <a:r>
                  <a:rPr lang="en-US" altLang="ko-KR" sz="800" b="0" dirty="0" err="1" smtClean="0">
                    <a:solidFill>
                      <a:schemeClr val="bg1">
                        <a:lumMod val="50000"/>
                      </a:schemeClr>
                    </a:solidFill>
                    <a:latin typeface="나눔스퀘어" panose="020B0600000101010101" pitchFamily="50" charset="-127"/>
                    <a:ea typeface="나눔스퀘어" panose="020B0600000101010101" pitchFamily="50" charset="-127"/>
                  </a:rPr>
                  <a:t>bbl</a:t>
                </a:r>
                <a:r>
                  <a:rPr lang="en-US" altLang="ko-KR" sz="800" b="0" dirty="0" smtClean="0">
                    <a:solidFill>
                      <a:schemeClr val="bg1">
                        <a:lumMod val="50000"/>
                      </a:schemeClr>
                    </a:solidFill>
                    <a:latin typeface="나눔스퀘어" panose="020B0600000101010101" pitchFamily="50" charset="-127"/>
                    <a:ea typeface="나눔스퀘어" panose="020B0600000101010101" pitchFamily="50" charset="-127"/>
                  </a:rPr>
                  <a:t>)</a:t>
                </a:r>
                <a:endParaRPr lang="en-US" altLang="ko-KR" sz="800" b="0" dirty="0">
                  <a:solidFill>
                    <a:schemeClr val="bg1">
                      <a:lumMod val="50000"/>
                    </a:schemeClr>
                  </a:solidFill>
                  <a:latin typeface="나눔스퀘어" panose="020B0600000101010101" pitchFamily="50" charset="-127"/>
                  <a:ea typeface="나눔스퀘어" panose="020B0600000101010101" pitchFamily="50" charset="-127"/>
                </a:endParaRPr>
              </a:p>
            </c:rich>
          </c:tx>
          <c:layout>
            <c:manualLayout>
              <c:xMode val="edge"/>
              <c:yMode val="edge"/>
              <c:x val="1.2824960839102283E-3"/>
              <c:y val="0.18743951521858548"/>
            </c:manualLayout>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66666"/>
                </a:solidFill>
                <a:latin typeface="나눔스퀘어" panose="020B0600000101010101" pitchFamily="50" charset="-127"/>
                <a:ea typeface="나눔스퀘어" panose="020B0600000101010101" pitchFamily="50" charset="-127"/>
              </a:defRPr>
            </a:pPr>
            <a:endParaRPr lang="ko-KR"/>
          </a:p>
        </c:txPr>
        <c:crossAx val="2094734552"/>
        <c:crosses val="autoZero"/>
        <c:auto val="1"/>
        <c:lblAlgn val="ctr"/>
        <c:lblOffset val="100"/>
        <c:noMultiLvlLbl val="1"/>
      </c:catAx>
      <c:valAx>
        <c:axId val="2094734552"/>
        <c:scaling>
          <c:orientation val="minMax"/>
          <c:max val="200"/>
          <c:min val="0"/>
        </c:scaling>
        <c:delete val="0"/>
        <c:axPos val="l"/>
        <c:majorGridlines>
          <c:spPr>
            <a:ln w="12700" cap="flat">
              <a:no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66666"/>
                </a:solidFill>
                <a:latin typeface="나눔스퀘어" panose="020B0600000101010101" pitchFamily="50" charset="-127"/>
                <a:ea typeface="나눔스퀘어" panose="020B0600000101010101" pitchFamily="50" charset="-127"/>
              </a:defRPr>
            </a:pPr>
            <a:endParaRPr lang="ko-KR"/>
          </a:p>
        </c:txPr>
        <c:crossAx val="2094734554"/>
        <c:crosses val="autoZero"/>
        <c:crossBetween val="between"/>
        <c:majorUnit val="50"/>
      </c:valAx>
      <c:spPr>
        <a:noFill/>
        <a:ln>
          <a:noFill/>
        </a:ln>
        <a:effectLst/>
      </c:spPr>
    </c:plotArea>
    <c:legend>
      <c:legendPos val="b"/>
      <c:layout>
        <c:manualLayout>
          <c:xMode val="edge"/>
          <c:yMode val="edge"/>
          <c:x val="0.19780213324488119"/>
          <c:y val="0.54578608637098169"/>
          <c:w val="0.62843687821217031"/>
          <c:h val="0.11431302149814195"/>
        </c:manualLayout>
      </c:layout>
      <c:overlay val="0"/>
      <c:txPr>
        <a:bodyPr/>
        <a:lstStyle/>
        <a:p>
          <a:pPr>
            <a:defRPr sz="740">
              <a:latin typeface="Malgun Gothic"/>
              <a:cs typeface="Malgun Gothic"/>
            </a:defRPr>
          </a:pPr>
          <a:endParaRPr lang="ko-KR"/>
        </a:p>
      </c:txPr>
    </c:legend>
    <c:plotVisOnly val="1"/>
    <c:dispBlanksAs val="span"/>
    <c:showDLblsOverMax val="1"/>
  </c:chart>
  <c:spPr>
    <a:no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ltLang="ko-KR" sz="1000" dirty="0" smtClean="0">
                <a:solidFill>
                  <a:srgbClr val="595959"/>
                </a:solidFill>
                <a:latin typeface="나눔스퀘어" panose="020B0600000101010101" pitchFamily="50" charset="-127"/>
                <a:ea typeface="나눔스퀘어" panose="020B0600000101010101" pitchFamily="50" charset="-127"/>
              </a:rPr>
              <a:t>[Change in FSC ratio]</a:t>
            </a:r>
            <a:endParaRPr lang="ko-KR" altLang="en-US" sz="1000" dirty="0">
              <a:solidFill>
                <a:srgbClr val="595959"/>
              </a:solidFill>
              <a:latin typeface="나눔스퀘어" panose="020B0600000101010101" pitchFamily="50" charset="-127"/>
              <a:ea typeface="나눔스퀘어" panose="020B0600000101010101" pitchFamily="50" charset="-127"/>
            </a:endParaRPr>
          </a:p>
        </c:rich>
      </c:tx>
      <c:layout>
        <c:manualLayout>
          <c:xMode val="edge"/>
          <c:yMode val="edge"/>
          <c:x val="0.19909935354296115"/>
          <c:y val="0.10433418268334996"/>
        </c:manualLayout>
      </c:layout>
      <c:overlay val="0"/>
    </c:title>
    <c:autoTitleDeleted val="0"/>
    <c:plotArea>
      <c:layout>
        <c:manualLayout>
          <c:layoutTarget val="inner"/>
          <c:xMode val="edge"/>
          <c:yMode val="edge"/>
          <c:x val="0.15738225246792373"/>
          <c:y val="0.29319259531960012"/>
          <c:w val="0.74815057573142973"/>
          <c:h val="0.36866053355767209"/>
        </c:manualLayout>
      </c:layout>
      <c:areaChart>
        <c:grouping val="standard"/>
        <c:varyColors val="0"/>
        <c:ser>
          <c:idx val="2"/>
          <c:order val="0"/>
          <c:tx>
            <c:strRef>
              <c:f>Sheet1!$D$1</c:f>
              <c:strCache>
                <c:ptCount val="1"/>
                <c:pt idx="0">
                  <c:v>Average Ratio</c:v>
                </c:pt>
              </c:strCache>
            </c:strRef>
          </c:tx>
          <c:spPr>
            <a:solidFill>
              <a:srgbClr val="D6DCE5"/>
            </a:solidFill>
            <a:ln w="3175" cap="flat">
              <a:solidFill>
                <a:schemeClr val="tx1"/>
              </a:solidFill>
              <a:prstDash val="sysDot"/>
              <a:round/>
            </a:ln>
            <a:effectLst/>
          </c:spPr>
          <c:dLbls>
            <c:dLbl>
              <c:idx val="0"/>
              <c:delete val="1"/>
              <c:extLst>
                <c:ext xmlns:c15="http://schemas.microsoft.com/office/drawing/2012/chart" uri="{CE6537A1-D6FC-4f65-9D91-7224C49458BB}"/>
                <c:ext xmlns:c16="http://schemas.microsoft.com/office/drawing/2014/chart" uri="{C3380CC4-5D6E-409C-BE32-E72D297353CC}">
                  <c16:uniqueId val="{00000005-B392-4E5C-BFEA-429AA2F574C9}"/>
                </c:ext>
              </c:extLst>
            </c:dLbl>
            <c:dLbl>
              <c:idx val="1"/>
              <c:layout>
                <c:manualLayout>
                  <c:x val="-4.5547874581954792E-2"/>
                  <c:y val="-1.3794878841317075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B392-4E5C-BFEA-429AA2F574C9}"/>
                </c:ext>
              </c:extLst>
            </c:dLbl>
            <c:dLbl>
              <c:idx val="2"/>
              <c:delete val="1"/>
              <c:extLst>
                <c:ext xmlns:c15="http://schemas.microsoft.com/office/drawing/2012/chart" uri="{CE6537A1-D6FC-4f65-9D91-7224C49458BB}"/>
                <c:ext xmlns:c16="http://schemas.microsoft.com/office/drawing/2014/chart" uri="{C3380CC4-5D6E-409C-BE32-E72D297353CC}">
                  <c16:uniqueId val="{00000006-B392-4E5C-BFEA-429AA2F574C9}"/>
                </c:ext>
              </c:extLst>
            </c:dLbl>
            <c:dLbl>
              <c:idx val="3"/>
              <c:delete val="1"/>
              <c:extLst>
                <c:ext xmlns:c15="http://schemas.microsoft.com/office/drawing/2012/chart" uri="{CE6537A1-D6FC-4f65-9D91-7224C49458BB}"/>
                <c:ext xmlns:c16="http://schemas.microsoft.com/office/drawing/2014/chart" uri="{C3380CC4-5D6E-409C-BE32-E72D297353CC}">
                  <c16:uniqueId val="{00000000-A3D1-466B-B769-01FF2F79DF6F}"/>
                </c:ext>
              </c:extLst>
            </c:dLbl>
            <c:dLbl>
              <c:idx val="4"/>
              <c:layout>
                <c:manualLayout>
                  <c:x val="-7.9708780518420994E-2"/>
                  <c:y val="-0.20219608846094486"/>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B392-4E5C-BFEA-429AA2F574C9}"/>
                </c:ext>
              </c:extLst>
            </c:dLbl>
            <c:spPr>
              <a:noFill/>
              <a:ln>
                <a:noFill/>
              </a:ln>
              <a:effectLst/>
            </c:spPr>
            <c:txPr>
              <a:bodyPr wrap="square" lIns="38100" tIns="19050" rIns="38100" bIns="19050" anchor="ctr">
                <a:spAutoFit/>
              </a:bodyPr>
              <a:lstStyle/>
              <a:p>
                <a:pPr>
                  <a:defRPr sz="900" b="1">
                    <a:latin typeface="나눔스퀘어" panose="020B0600000101010101" pitchFamily="50" charset="-127"/>
                    <a:ea typeface="나눔스퀘어" panose="020B0600000101010101" pitchFamily="50" charset="-127"/>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Sheet1!$A$2:$A$6</c:f>
              <c:strCache>
                <c:ptCount val="5"/>
                <c:pt idx="0">
                  <c:v>Feb</c:v>
                </c:pt>
                <c:pt idx="1">
                  <c:v>Mar</c:v>
                </c:pt>
                <c:pt idx="2">
                  <c:v>Apr</c:v>
                </c:pt>
                <c:pt idx="3">
                  <c:v>May</c:v>
                </c:pt>
                <c:pt idx="4">
                  <c:v>Jun</c:v>
                </c:pt>
              </c:strCache>
            </c:strRef>
          </c:cat>
          <c:val>
            <c:numRef>
              <c:f>Sheet1!$D$2:$D$6</c:f>
              <c:numCache>
                <c:formatCode>0.0%</c:formatCode>
                <c:ptCount val="5"/>
                <c:pt idx="0">
                  <c:v>5.9113300492610835E-2</c:v>
                </c:pt>
                <c:pt idx="1">
                  <c:v>5.10204081632653E-2</c:v>
                </c:pt>
                <c:pt idx="2">
                  <c:v>5.4074932406334486E-2</c:v>
                </c:pt>
                <c:pt idx="3">
                  <c:v>0.21753607103218647</c:v>
                </c:pt>
                <c:pt idx="4">
                  <c:v>0.21947674418604651</c:v>
                </c:pt>
              </c:numCache>
            </c:numRef>
          </c:val>
          <c:extLst>
            <c:ext xmlns:c16="http://schemas.microsoft.com/office/drawing/2014/chart" uri="{C3380CC4-5D6E-409C-BE32-E72D297353CC}">
              <c16:uniqueId val="{00000000-B392-4E5C-BFEA-429AA2F574C9}"/>
            </c:ext>
          </c:extLst>
        </c:ser>
        <c:dLbls>
          <c:showLegendKey val="0"/>
          <c:showVal val="0"/>
          <c:showCatName val="0"/>
          <c:showSerName val="0"/>
          <c:showPercent val="0"/>
          <c:showBubbleSize val="0"/>
        </c:dLbls>
        <c:axId val="2094734554"/>
        <c:axId val="2094734552"/>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66666"/>
                </a:solidFill>
                <a:latin typeface="나눔스퀘어" panose="020B0600000101010101" pitchFamily="50" charset="-127"/>
                <a:ea typeface="나눔스퀘어" panose="020B0600000101010101" pitchFamily="50" charset="-127"/>
              </a:defRPr>
            </a:pPr>
            <a:endParaRPr lang="ko-KR"/>
          </a:p>
        </c:txPr>
        <c:crossAx val="2094734552"/>
        <c:crosses val="autoZero"/>
        <c:auto val="1"/>
        <c:lblAlgn val="ctr"/>
        <c:lblOffset val="100"/>
        <c:noMultiLvlLbl val="1"/>
      </c:catAx>
      <c:valAx>
        <c:axId val="2094734552"/>
        <c:scaling>
          <c:orientation val="minMax"/>
        </c:scaling>
        <c:delete val="0"/>
        <c:axPos val="l"/>
        <c:majorGridlines>
          <c:spPr>
            <a:ln w="12700" cap="flat">
              <a:no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66666"/>
                </a:solidFill>
                <a:latin typeface="나눔스퀘어" panose="020B0600000101010101" pitchFamily="50" charset="-127"/>
                <a:ea typeface="나눔스퀘어" panose="020B0600000101010101" pitchFamily="50" charset="-127"/>
              </a:defRPr>
            </a:pPr>
            <a:endParaRPr lang="ko-KR"/>
          </a:p>
        </c:txPr>
        <c:crossAx val="2094734554"/>
        <c:crosses val="autoZero"/>
        <c:crossBetween val="between"/>
      </c:valAx>
      <c:spPr>
        <a:noFill/>
        <a:ln>
          <a:noFill/>
        </a:ln>
        <a:effectLst/>
      </c:spPr>
    </c:plotArea>
    <c:legend>
      <c:legendPos val="b"/>
      <c:layout>
        <c:manualLayout>
          <c:xMode val="edge"/>
          <c:yMode val="edge"/>
          <c:x val="0.20399799158978224"/>
          <c:y val="0.24745107579062731"/>
          <c:w val="0.35748760434318716"/>
          <c:h val="7.2385096534281088E-2"/>
        </c:manualLayout>
      </c:layout>
      <c:overlay val="0"/>
      <c:txPr>
        <a:bodyPr/>
        <a:lstStyle/>
        <a:p>
          <a:pPr>
            <a:defRPr sz="800">
              <a:latin typeface="나눔스퀘어" panose="020B0600000101010101" pitchFamily="50" charset="-127"/>
              <a:ea typeface="나눔스퀘어" panose="020B0600000101010101" pitchFamily="50" charset="-127"/>
              <a:cs typeface="Malgun Gothic"/>
            </a:defRPr>
          </a:pPr>
          <a:endParaRPr lang="ko-KR"/>
        </a:p>
      </c:txPr>
    </c:legend>
    <c:plotVisOnly val="1"/>
    <c:dispBlanksAs val="span"/>
    <c:showDLblsOverMax val="1"/>
  </c:chart>
  <c:spPr>
    <a:no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ctr">
              <a:defRPr/>
            </a:pPr>
            <a:r>
              <a:rPr lang="en-US" altLang="ko-KR" sz="1000" dirty="0" smtClean="0">
                <a:solidFill>
                  <a:srgbClr val="595959"/>
                </a:solidFill>
                <a:latin typeface="나눔스퀘어" panose="020B0600000101010101" pitchFamily="50" charset="-127"/>
                <a:ea typeface="나눔스퀘어" panose="020B0600000101010101" pitchFamily="50" charset="-127"/>
              </a:rPr>
              <a:t>[TAC</a:t>
            </a:r>
            <a:r>
              <a:rPr lang="en-US" altLang="ko-KR" sz="1000" baseline="0" dirty="0" smtClean="0">
                <a:solidFill>
                  <a:srgbClr val="595959"/>
                </a:solidFill>
                <a:latin typeface="나눔스퀘어" panose="020B0600000101010101" pitchFamily="50" charset="-127"/>
                <a:ea typeface="나눔스퀘어" panose="020B0600000101010101" pitchFamily="50" charset="-127"/>
              </a:rPr>
              <a:t>-KE FSC</a:t>
            </a:r>
            <a:r>
              <a:rPr lang="ko-KR" altLang="en-US" sz="1000" baseline="0" dirty="0" smtClean="0">
                <a:solidFill>
                  <a:srgbClr val="595959"/>
                </a:solidFill>
                <a:latin typeface="나눔스퀘어" panose="020B0600000101010101" pitchFamily="50" charset="-127"/>
                <a:ea typeface="나눔스퀘어" panose="020B0600000101010101" pitchFamily="50" charset="-127"/>
              </a:rPr>
              <a:t> </a:t>
            </a:r>
            <a:r>
              <a:rPr lang="en-US" altLang="ko-KR" sz="1000" baseline="0" dirty="0" smtClean="0">
                <a:solidFill>
                  <a:srgbClr val="595959"/>
                </a:solidFill>
                <a:latin typeface="나눔스퀘어" panose="020B0600000101010101" pitchFamily="50" charset="-127"/>
                <a:ea typeface="나눔스퀘어" panose="020B0600000101010101" pitchFamily="50" charset="-127"/>
              </a:rPr>
              <a:t>Trend of past 1 year</a:t>
            </a:r>
            <a:r>
              <a:rPr lang="en-US" altLang="ko-KR" sz="1000" dirty="0" smtClean="0">
                <a:solidFill>
                  <a:srgbClr val="595959"/>
                </a:solidFill>
                <a:latin typeface="나눔스퀘어" panose="020B0600000101010101" pitchFamily="50" charset="-127"/>
                <a:ea typeface="나눔스퀘어" panose="020B0600000101010101" pitchFamily="50" charset="-127"/>
              </a:rPr>
              <a:t>]</a:t>
            </a:r>
            <a:endParaRPr lang="ko-KR" altLang="en-US" sz="1000" dirty="0">
              <a:solidFill>
                <a:srgbClr val="595959"/>
              </a:solidFill>
              <a:latin typeface="나눔스퀘어" panose="020B0600000101010101" pitchFamily="50" charset="-127"/>
              <a:ea typeface="나눔스퀘어" panose="020B0600000101010101" pitchFamily="50" charset="-127"/>
            </a:endParaRPr>
          </a:p>
        </c:rich>
      </c:tx>
      <c:layout>
        <c:manualLayout>
          <c:xMode val="edge"/>
          <c:yMode val="edge"/>
          <c:x val="0.17717947100194312"/>
          <c:y val="3.4279245391339919E-2"/>
        </c:manualLayout>
      </c:layout>
      <c:overlay val="0"/>
    </c:title>
    <c:autoTitleDeleted val="0"/>
    <c:plotArea>
      <c:layout>
        <c:manualLayout>
          <c:layoutTarget val="inner"/>
          <c:xMode val="edge"/>
          <c:yMode val="edge"/>
          <c:x val="9.1248878670143627E-2"/>
          <c:y val="0.33721858015072426"/>
          <c:w val="0.76033881449267793"/>
          <c:h val="0.33031330430236899"/>
        </c:manualLayout>
      </c:layout>
      <c:lineChart>
        <c:grouping val="standard"/>
        <c:varyColors val="0"/>
        <c:ser>
          <c:idx val="0"/>
          <c:order val="0"/>
          <c:tx>
            <c:strRef>
              <c:f>Sheet1!$D$1</c:f>
              <c:strCache>
                <c:ptCount val="1"/>
                <c:pt idx="0">
                  <c:v>TAC(CN-US)</c:v>
                </c:pt>
              </c:strCache>
            </c:strRef>
          </c:tx>
          <c:spPr>
            <a:ln w="22225" cap="flat">
              <a:solidFill>
                <a:srgbClr val="0000FF"/>
              </a:solidFill>
              <a:prstDash val="solid"/>
              <a:round/>
            </a:ln>
            <a:effectLst/>
          </c:spPr>
          <c:marker>
            <c:symbol val="none"/>
          </c:marker>
          <c:dLbls>
            <c:delete val="1"/>
          </c:dLbls>
          <c:cat>
            <c:numRef>
              <c:f>Sheet1!$B$2:$B$13</c:f>
              <c:numCache>
                <c:formatCode>mmm\-yy</c:formatCode>
                <c:ptCount val="12"/>
                <c:pt idx="0">
                  <c:v>45839</c:v>
                </c:pt>
                <c:pt idx="1">
                  <c:v>45870</c:v>
                </c:pt>
                <c:pt idx="2">
                  <c:v>45901</c:v>
                </c:pt>
                <c:pt idx="3">
                  <c:v>45931</c:v>
                </c:pt>
                <c:pt idx="4">
                  <c:v>45962</c:v>
                </c:pt>
                <c:pt idx="5">
                  <c:v>45992</c:v>
                </c:pt>
                <c:pt idx="6">
                  <c:v>46023</c:v>
                </c:pt>
                <c:pt idx="7">
                  <c:v>46054</c:v>
                </c:pt>
                <c:pt idx="8">
                  <c:v>46082</c:v>
                </c:pt>
                <c:pt idx="9">
                  <c:v>46113</c:v>
                </c:pt>
                <c:pt idx="10">
                  <c:v>46143</c:v>
                </c:pt>
                <c:pt idx="11">
                  <c:v>46174</c:v>
                </c:pt>
              </c:numCache>
            </c:numRef>
          </c:cat>
          <c:val>
            <c:numRef>
              <c:f>Sheet1!$D$2:$D$13</c:f>
              <c:numCache>
                <c:formatCode>_-* #,##0.00_-;\-* #,##0.00_-;_-* "-"_-;_-@_-</c:formatCode>
                <c:ptCount val="12"/>
                <c:pt idx="0">
                  <c:v>5.0175000000000001</c:v>
                </c:pt>
                <c:pt idx="1">
                  <c:v>4.9474999999999998</c:v>
                </c:pt>
                <c:pt idx="2">
                  <c:v>4.93</c:v>
                </c:pt>
                <c:pt idx="3">
                  <c:v>5.0674999999999999</c:v>
                </c:pt>
                <c:pt idx="4">
                  <c:v>5.5950000000000006</c:v>
                </c:pt>
                <c:pt idx="5">
                  <c:v>5.9420000000000002</c:v>
                </c:pt>
                <c:pt idx="6">
                  <c:v>5.24</c:v>
                </c:pt>
                <c:pt idx="7">
                  <c:v>5.0750000000000002</c:v>
                </c:pt>
                <c:pt idx="8">
                  <c:v>4.9000000000000004</c:v>
                </c:pt>
                <c:pt idx="9">
                  <c:v>6.4725000000000001</c:v>
                </c:pt>
                <c:pt idx="10">
                  <c:v>6.7574999999999994</c:v>
                </c:pt>
                <c:pt idx="11">
                  <c:v>6.88</c:v>
                </c:pt>
              </c:numCache>
            </c:numRef>
          </c:val>
          <c:smooth val="0"/>
          <c:extLst>
            <c:ext xmlns:c16="http://schemas.microsoft.com/office/drawing/2014/chart" uri="{C3380CC4-5D6E-409C-BE32-E72D297353CC}">
              <c16:uniqueId val="{00000000-4028-474A-B264-768B573A3EBB}"/>
            </c:ext>
          </c:extLst>
        </c:ser>
        <c:dLbls>
          <c:dLblPos val="t"/>
          <c:showLegendKey val="0"/>
          <c:showVal val="1"/>
          <c:showCatName val="0"/>
          <c:showSerName val="0"/>
          <c:showPercent val="0"/>
          <c:showBubbleSize val="0"/>
        </c:dLbls>
        <c:marker val="1"/>
        <c:smooth val="0"/>
        <c:axId val="2094734554"/>
        <c:axId val="2094734552"/>
      </c:lineChart>
      <c:lineChart>
        <c:grouping val="standard"/>
        <c:varyColors val="0"/>
        <c:ser>
          <c:idx val="1"/>
          <c:order val="1"/>
          <c:tx>
            <c:strRef>
              <c:f>Sheet1!$F$1</c:f>
              <c:strCache>
                <c:ptCount val="1"/>
                <c:pt idx="0">
                  <c:v>FSC</c:v>
                </c:pt>
              </c:strCache>
            </c:strRef>
          </c:tx>
          <c:spPr>
            <a:ln w="22225" cap="flat">
              <a:solidFill>
                <a:srgbClr val="3CD0BA"/>
              </a:solidFill>
              <a:prstDash val="solid"/>
              <a:round/>
            </a:ln>
            <a:effectLst/>
          </c:spPr>
          <c:marker>
            <c:symbol val="none"/>
          </c:marker>
          <c:dLbls>
            <c:dLbl>
              <c:idx val="8"/>
              <c:layout>
                <c:manualLayout>
                  <c:x val="-0.13782575007319439"/>
                  <c:y val="-0.10215120639070728"/>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9763-46F5-9A43-E22B55EDEC32}"/>
                </c:ext>
              </c:extLst>
            </c:dLbl>
            <c:dLbl>
              <c:idx val="11"/>
              <c:layout>
                <c:manualLayout>
                  <c:x val="-0.15133036397238395"/>
                  <c:y val="-0.10041883127440264"/>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0-9763-46F5-9A43-E22B55EDEC32}"/>
                </c:ext>
              </c:extLst>
            </c:dLbl>
            <c:spPr>
              <a:noFill/>
              <a:ln>
                <a:noFill/>
              </a:ln>
              <a:effectLst/>
            </c:spPr>
            <c:txPr>
              <a:bodyPr wrap="square" lIns="38100" tIns="19050" rIns="38100" bIns="19050" anchor="ctr">
                <a:spAutoFit/>
              </a:bodyPr>
              <a:lstStyle/>
              <a:p>
                <a:pPr>
                  <a:defRPr b="1">
                    <a:latin typeface="나눔스퀘어" panose="020B0600000101010101" pitchFamily="50" charset="-127"/>
                    <a:ea typeface="나눔스퀘어" panose="020B0600000101010101" pitchFamily="50" charset="-127"/>
                  </a:defRPr>
                </a:pPr>
                <a:endParaRPr lang="ko-KR"/>
              </a:p>
            </c:txPr>
            <c:dLblPos val="t"/>
            <c:showLegendKey val="0"/>
            <c:showVal val="0"/>
            <c:showCatName val="0"/>
            <c:showSerName val="0"/>
            <c:showPercent val="0"/>
            <c:showBubbleSize val="0"/>
            <c:extLst>
              <c:ext xmlns:c15="http://schemas.microsoft.com/office/drawing/2012/chart" uri="{CE6537A1-D6FC-4f65-9D91-7224C49458BB}">
                <c15:showLeaderLines val="1"/>
              </c:ext>
            </c:extLst>
          </c:dLbls>
          <c:cat>
            <c:numRef>
              <c:f>Sheet1!$B$2:$B$13</c:f>
              <c:numCache>
                <c:formatCode>mmm\-yy</c:formatCode>
                <c:ptCount val="12"/>
                <c:pt idx="0">
                  <c:v>45839</c:v>
                </c:pt>
                <c:pt idx="1">
                  <c:v>45870</c:v>
                </c:pt>
                <c:pt idx="2">
                  <c:v>45901</c:v>
                </c:pt>
                <c:pt idx="3">
                  <c:v>45931</c:v>
                </c:pt>
                <c:pt idx="4">
                  <c:v>45962</c:v>
                </c:pt>
                <c:pt idx="5">
                  <c:v>45992</c:v>
                </c:pt>
                <c:pt idx="6">
                  <c:v>46023</c:v>
                </c:pt>
                <c:pt idx="7">
                  <c:v>46054</c:v>
                </c:pt>
                <c:pt idx="8">
                  <c:v>46082</c:v>
                </c:pt>
                <c:pt idx="9">
                  <c:v>46113</c:v>
                </c:pt>
                <c:pt idx="10">
                  <c:v>46143</c:v>
                </c:pt>
                <c:pt idx="11">
                  <c:v>46174</c:v>
                </c:pt>
              </c:numCache>
            </c:numRef>
          </c:cat>
          <c:val>
            <c:numRef>
              <c:f>Sheet1!$F$2:$F$13</c:f>
              <c:numCache>
                <c:formatCode>_-* #,##0.00_-;\-* #,##0.00_-;_-* "-"_-;_-@_-</c:formatCode>
                <c:ptCount val="12"/>
                <c:pt idx="0">
                  <c:v>0.22</c:v>
                </c:pt>
                <c:pt idx="1">
                  <c:v>0.32</c:v>
                </c:pt>
                <c:pt idx="2">
                  <c:v>0.32</c:v>
                </c:pt>
                <c:pt idx="3">
                  <c:v>0.32</c:v>
                </c:pt>
                <c:pt idx="4">
                  <c:v>0.31</c:v>
                </c:pt>
                <c:pt idx="5">
                  <c:v>0.3</c:v>
                </c:pt>
                <c:pt idx="6">
                  <c:v>0.39</c:v>
                </c:pt>
                <c:pt idx="7">
                  <c:v>0.3</c:v>
                </c:pt>
                <c:pt idx="8">
                  <c:v>0.25</c:v>
                </c:pt>
                <c:pt idx="9">
                  <c:v>0.35</c:v>
                </c:pt>
                <c:pt idx="10">
                  <c:v>1.47</c:v>
                </c:pt>
                <c:pt idx="11">
                  <c:v>1.51</c:v>
                </c:pt>
              </c:numCache>
            </c:numRef>
          </c:val>
          <c:smooth val="0"/>
          <c:extLst>
            <c:ext xmlns:c16="http://schemas.microsoft.com/office/drawing/2014/chart" uri="{C3380CC4-5D6E-409C-BE32-E72D297353CC}">
              <c16:uniqueId val="{00000001-4028-474A-B264-768B573A3EBB}"/>
            </c:ext>
          </c:extLst>
        </c:ser>
        <c:dLbls>
          <c:dLblPos val="t"/>
          <c:showLegendKey val="0"/>
          <c:showVal val="1"/>
          <c:showCatName val="0"/>
          <c:showSerName val="0"/>
          <c:showPercent val="0"/>
          <c:showBubbleSize val="0"/>
        </c:dLbls>
        <c:marker val="1"/>
        <c:smooth val="0"/>
        <c:axId val="2071231"/>
        <c:axId val="2058335"/>
      </c:lineChart>
      <c:dateAx>
        <c:axId val="2094734554"/>
        <c:scaling>
          <c:orientation val="minMax"/>
        </c:scaling>
        <c:delete val="0"/>
        <c:axPos val="b"/>
        <c:title>
          <c:tx>
            <c:rich>
              <a:bodyPr/>
              <a:lstStyle/>
              <a:p>
                <a:pPr>
                  <a:defRPr sz="900" b="0">
                    <a:solidFill>
                      <a:srgbClr val="595959"/>
                    </a:solidFill>
                    <a:latin typeface="나눔스퀘어" panose="020B0600000101010101" pitchFamily="50" charset="-127"/>
                    <a:ea typeface="나눔스퀘어" panose="020B0600000101010101" pitchFamily="50" charset="-127"/>
                  </a:defRPr>
                </a:pPr>
                <a:r>
                  <a:rPr lang="en-US" altLang="ko-KR" sz="900" b="0" dirty="0" smtClean="0">
                    <a:solidFill>
                      <a:srgbClr val="595959"/>
                    </a:solidFill>
                    <a:latin typeface="나눔스퀘어" panose="020B0600000101010101" pitchFamily="50" charset="-127"/>
                    <a:ea typeface="나눔스퀘어" panose="020B0600000101010101" pitchFamily="50" charset="-127"/>
                  </a:rPr>
                  <a:t>($/kg)</a:t>
                </a:r>
                <a:endParaRPr lang="ko-KR" altLang="en-US" sz="900" b="0" dirty="0">
                  <a:solidFill>
                    <a:srgbClr val="595959"/>
                  </a:solidFill>
                  <a:latin typeface="나눔스퀘어" panose="020B0600000101010101" pitchFamily="50" charset="-127"/>
                  <a:ea typeface="나눔스퀘어" panose="020B0600000101010101" pitchFamily="50" charset="-127"/>
                </a:endParaRPr>
              </a:p>
            </c:rich>
          </c:tx>
          <c:layout>
            <c:manualLayout>
              <c:xMode val="edge"/>
              <c:yMode val="edge"/>
              <c:x val="4.5015379663965504E-3"/>
              <c:y val="0.1569468082943323"/>
            </c:manualLayout>
          </c:layout>
          <c:overlay val="0"/>
        </c:title>
        <c:numFmt formatCode="mmm\-yy" sourceLinked="1"/>
        <c:majorTickMark val="out"/>
        <c:minorTickMark val="none"/>
        <c:tickLblPos val="low"/>
        <c:spPr>
          <a:ln w="12700" cap="flat">
            <a:solidFill>
              <a:srgbClr val="888888"/>
            </a:solidFill>
            <a:prstDash val="solid"/>
            <a:round/>
          </a:ln>
        </c:spPr>
        <c:txPr>
          <a:bodyPr/>
          <a:lstStyle/>
          <a:p>
            <a:pPr>
              <a:defRPr sz="900" b="0" i="0" u="none" strike="noStrike">
                <a:solidFill>
                  <a:srgbClr val="666666"/>
                </a:solidFill>
                <a:latin typeface="나눔스퀘어" panose="020B0600000101010101" pitchFamily="50" charset="-127"/>
                <a:ea typeface="나눔스퀘어" panose="020B0600000101010101" pitchFamily="50" charset="-127"/>
              </a:defRPr>
            </a:pPr>
            <a:endParaRPr lang="ko-KR"/>
          </a:p>
        </c:txPr>
        <c:crossAx val="2094734552"/>
        <c:crosses val="autoZero"/>
        <c:auto val="1"/>
        <c:lblOffset val="100"/>
        <c:baseTimeUnit val="months"/>
      </c:dateAx>
      <c:valAx>
        <c:axId val="2094734552"/>
        <c:scaling>
          <c:orientation val="minMax"/>
          <c:min val="4"/>
        </c:scaling>
        <c:delete val="0"/>
        <c:axPos val="l"/>
        <c:majorGridlines>
          <c:spPr>
            <a:ln w="12700" cap="flat">
              <a:no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66666"/>
                </a:solidFill>
                <a:latin typeface="나눔스퀘어" panose="020B0600000101010101" pitchFamily="50" charset="-127"/>
                <a:ea typeface="나눔스퀘어" panose="020B0600000101010101" pitchFamily="50" charset="-127"/>
              </a:defRPr>
            </a:pPr>
            <a:endParaRPr lang="ko-KR"/>
          </a:p>
        </c:txPr>
        <c:crossAx val="2094734554"/>
        <c:crosses val="autoZero"/>
        <c:crossBetween val="between"/>
        <c:majorUnit val="1"/>
      </c:valAx>
      <c:valAx>
        <c:axId val="2058335"/>
        <c:scaling>
          <c:orientation val="minMax"/>
        </c:scaling>
        <c:delete val="0"/>
        <c:axPos val="r"/>
        <c:numFmt formatCode="General" sourceLinked="0"/>
        <c:majorTickMark val="out"/>
        <c:minorTickMark val="none"/>
        <c:tickLblPos val="nextTo"/>
        <c:txPr>
          <a:bodyPr/>
          <a:lstStyle/>
          <a:p>
            <a:pPr>
              <a:defRPr sz="900">
                <a:solidFill>
                  <a:schemeClr val="tx1">
                    <a:lumMod val="75000"/>
                    <a:lumOff val="25000"/>
                  </a:schemeClr>
                </a:solidFill>
                <a:latin typeface="나눔스퀘어" panose="020B0600000101010101" pitchFamily="50" charset="-127"/>
                <a:ea typeface="나눔스퀘어" panose="020B0600000101010101" pitchFamily="50" charset="-127"/>
              </a:defRPr>
            </a:pPr>
            <a:endParaRPr lang="ko-KR"/>
          </a:p>
        </c:txPr>
        <c:crossAx val="2071231"/>
        <c:crosses val="max"/>
        <c:crossBetween val="between"/>
        <c:majorUnit val="0.5"/>
      </c:valAx>
      <c:dateAx>
        <c:axId val="2071231"/>
        <c:scaling>
          <c:orientation val="minMax"/>
        </c:scaling>
        <c:delete val="1"/>
        <c:axPos val="b"/>
        <c:numFmt formatCode="mmm\-yy" sourceLinked="1"/>
        <c:majorTickMark val="out"/>
        <c:minorTickMark val="none"/>
        <c:tickLblPos val="nextTo"/>
        <c:crossAx val="2058335"/>
        <c:crosses val="autoZero"/>
        <c:auto val="1"/>
        <c:lblOffset val="100"/>
        <c:baseTimeUnit val="months"/>
        <c:majorUnit val="1"/>
        <c:minorUnit val="1"/>
      </c:dateAx>
      <c:spPr>
        <a:noFill/>
        <a:ln>
          <a:noFill/>
        </a:ln>
        <a:effectLst/>
      </c:spPr>
    </c:plotArea>
    <c:legend>
      <c:legendPos val="b"/>
      <c:layout>
        <c:manualLayout>
          <c:xMode val="edge"/>
          <c:yMode val="edge"/>
          <c:x val="0.32831275976886909"/>
          <c:y val="0.17815447876960466"/>
          <c:w val="0.51927105296775178"/>
          <c:h val="7.9901293633117279E-2"/>
        </c:manualLayout>
      </c:layout>
      <c:overlay val="0"/>
      <c:txPr>
        <a:bodyPr/>
        <a:lstStyle/>
        <a:p>
          <a:pPr>
            <a:defRPr sz="900">
              <a:solidFill>
                <a:schemeClr val="bg1">
                  <a:lumMod val="50000"/>
                </a:schemeClr>
              </a:solidFill>
              <a:latin typeface="나눔스퀘어" panose="020B0600000101010101" pitchFamily="50" charset="-127"/>
              <a:ea typeface="나눔스퀘어" panose="020B0600000101010101" pitchFamily="50" charset="-127"/>
              <a:cs typeface="Malgun Gothic"/>
            </a:defRPr>
          </a:pPr>
          <a:endParaRPr lang="ko-KR"/>
        </a:p>
      </c:txPr>
    </c:legend>
    <c:plotVisOnly val="1"/>
    <c:dispBlanksAs val="span"/>
    <c:showDLblsOverMax val="1"/>
  </c:chart>
  <c:spPr>
    <a:no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00" b="1"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sz="1050" b="1" dirty="0" smtClean="0">
                <a:latin typeface="나눔스퀘어" panose="020B0600000101010101" pitchFamily="50" charset="-127"/>
                <a:ea typeface="나눔스퀘어" panose="020B0600000101010101" pitchFamily="50" charset="-127"/>
              </a:rPr>
              <a:t>[IATA</a:t>
            </a:r>
            <a:r>
              <a:rPr lang="en-US" altLang="ko-KR" sz="1050" b="1" baseline="0" dirty="0" smtClean="0">
                <a:latin typeface="나눔스퀘어" panose="020B0600000101010101" pitchFamily="50" charset="-127"/>
                <a:ea typeface="나눔스퀘어" panose="020B0600000101010101" pitchFamily="50" charset="-127"/>
              </a:rPr>
              <a:t> </a:t>
            </a:r>
            <a:r>
              <a:rPr lang="en-US" altLang="ko-KR" sz="1050" b="1" i="0" u="none" strike="noStrike" baseline="0" dirty="0" smtClean="0">
                <a:effectLst/>
              </a:rPr>
              <a:t>Jet fuel Weekly Trends</a:t>
            </a:r>
            <a:r>
              <a:rPr lang="en-US" altLang="ko-KR" sz="1050" b="1" baseline="0" dirty="0" smtClean="0">
                <a:latin typeface="나눔스퀘어" panose="020B0600000101010101" pitchFamily="50" charset="-127"/>
                <a:ea typeface="나눔스퀘어" panose="020B0600000101010101" pitchFamily="50" charset="-127"/>
              </a:rPr>
              <a:t>]</a:t>
            </a:r>
            <a:endParaRPr lang="en-US" altLang="ko-KR" sz="1050" b="1" dirty="0">
              <a:latin typeface="나눔스퀘어" panose="020B0600000101010101" pitchFamily="50" charset="-127"/>
              <a:ea typeface="나눔스퀘어" panose="020B0600000101010101" pitchFamily="50" charset="-127"/>
            </a:endParaRPr>
          </a:p>
        </c:rich>
      </c:tx>
      <c:layout>
        <c:manualLayout>
          <c:xMode val="edge"/>
          <c:yMode val="edge"/>
          <c:x val="0.18100145356951597"/>
          <c:y val="3.6465753961478282E-2"/>
        </c:manualLayout>
      </c:layout>
      <c:overlay val="0"/>
      <c:spPr>
        <a:noFill/>
        <a:ln>
          <a:noFill/>
        </a:ln>
        <a:effectLst/>
      </c:spPr>
      <c:txPr>
        <a:bodyPr rot="0" spcFirstLastPara="1" vertOverflow="ellipsis" vert="horz" wrap="square" anchor="ctr" anchorCtr="1"/>
        <a:lstStyle/>
        <a:p>
          <a:pPr>
            <a:defRPr sz="1100" b="1"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autoTitleDeleted val="0"/>
    <c:plotArea>
      <c:layout>
        <c:manualLayout>
          <c:layoutTarget val="inner"/>
          <c:xMode val="edge"/>
          <c:yMode val="edge"/>
          <c:x val="0.20795031694873728"/>
          <c:y val="0.35626265296960491"/>
          <c:w val="0.74541497070102325"/>
          <c:h val="0.41609981104381816"/>
        </c:manualLayout>
      </c:layout>
      <c:lineChart>
        <c:grouping val="standard"/>
        <c:varyColors val="0"/>
        <c:ser>
          <c:idx val="0"/>
          <c:order val="0"/>
          <c:tx>
            <c:strRef>
              <c:f>'Jet Fuel(IATA)'!$C$1</c:f>
              <c:strCache>
                <c:ptCount val="1"/>
                <c:pt idx="0">
                  <c:v>Weekly Avg.</c:v>
                </c:pt>
              </c:strCache>
            </c:strRef>
          </c:tx>
          <c:spPr>
            <a:ln w="22225" cap="rnd">
              <a:solidFill>
                <a:srgbClr val="3CD0BA"/>
              </a:solidFill>
              <a:round/>
            </a:ln>
            <a:effectLst/>
          </c:spPr>
          <c:marker>
            <c:symbol val="circle"/>
            <c:size val="5"/>
            <c:spPr>
              <a:solidFill>
                <a:srgbClr val="3CD0BA"/>
              </a:solidFill>
              <a:ln w="12700">
                <a:solidFill>
                  <a:srgbClr val="3CD0BA"/>
                </a:solidFill>
              </a:ln>
              <a:effectLst/>
            </c:spPr>
          </c:marker>
          <c:dLbls>
            <c:dLbl>
              <c:idx val="8"/>
              <c:layout>
                <c:manualLayout>
                  <c:x val="-5.6172045787535936E-2"/>
                  <c:y val="-0.10977989745037089"/>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43AD-4306-A3C4-2AE7B5ED4330}"/>
                </c:ext>
              </c:extLst>
            </c:dLbl>
            <c:dLbl>
              <c:idx val="19"/>
              <c:layout/>
              <c:dLblPos val="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2-43AD-4306-A3C4-2AE7B5ED4330}"/>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나눔스퀘어" panose="020B0600000101010101" pitchFamily="50" charset="-127"/>
                    <a:ea typeface="나눔스퀘어" panose="020B0600000101010101" pitchFamily="50" charset="-127"/>
                    <a:cs typeface="+mn-cs"/>
                  </a:defRPr>
                </a:pPr>
                <a:endParaRPr lang="ko-KR"/>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'Jet Fuel(IATA)'!$A$2:$A$21</c:f>
              <c:numCache>
                <c:formatCode>m/d/yyyy</c:formatCode>
                <c:ptCount val="20"/>
                <c:pt idx="0">
                  <c:v>46192</c:v>
                </c:pt>
                <c:pt idx="1">
                  <c:v>46185</c:v>
                </c:pt>
                <c:pt idx="2">
                  <c:v>46178</c:v>
                </c:pt>
                <c:pt idx="3">
                  <c:v>46171</c:v>
                </c:pt>
                <c:pt idx="4">
                  <c:v>46164</c:v>
                </c:pt>
                <c:pt idx="5">
                  <c:v>46157</c:v>
                </c:pt>
                <c:pt idx="6">
                  <c:v>46150</c:v>
                </c:pt>
                <c:pt idx="7">
                  <c:v>46143</c:v>
                </c:pt>
                <c:pt idx="8">
                  <c:v>46136</c:v>
                </c:pt>
                <c:pt idx="9">
                  <c:v>46129</c:v>
                </c:pt>
                <c:pt idx="10">
                  <c:v>46122</c:v>
                </c:pt>
                <c:pt idx="11">
                  <c:v>46115</c:v>
                </c:pt>
                <c:pt idx="12">
                  <c:v>46108</c:v>
                </c:pt>
                <c:pt idx="13">
                  <c:v>46101</c:v>
                </c:pt>
                <c:pt idx="14">
                  <c:v>46094</c:v>
                </c:pt>
                <c:pt idx="15">
                  <c:v>46087</c:v>
                </c:pt>
                <c:pt idx="16">
                  <c:v>46080</c:v>
                </c:pt>
                <c:pt idx="17">
                  <c:v>46073</c:v>
                </c:pt>
                <c:pt idx="18">
                  <c:v>46066</c:v>
                </c:pt>
                <c:pt idx="19">
                  <c:v>46059</c:v>
                </c:pt>
              </c:numCache>
            </c:numRef>
          </c:cat>
          <c:val>
            <c:numRef>
              <c:f>'Jet Fuel(IATA)'!$C$2:$C$21</c:f>
              <c:numCache>
                <c:formatCode>0.00_ </c:formatCode>
                <c:ptCount val="20"/>
                <c:pt idx="0">
                  <c:v>119.17</c:v>
                </c:pt>
                <c:pt idx="1">
                  <c:v>138.66</c:v>
                </c:pt>
                <c:pt idx="2">
                  <c:v>146.25</c:v>
                </c:pt>
                <c:pt idx="3">
                  <c:v>141.63999999999999</c:v>
                </c:pt>
                <c:pt idx="4">
                  <c:v>159.85</c:v>
                </c:pt>
                <c:pt idx="5">
                  <c:v>162.55000000000001</c:v>
                </c:pt>
                <c:pt idx="6">
                  <c:v>162.88999999999999</c:v>
                </c:pt>
                <c:pt idx="7">
                  <c:v>181.22</c:v>
                </c:pt>
                <c:pt idx="8">
                  <c:v>179.46</c:v>
                </c:pt>
                <c:pt idx="9">
                  <c:v>184.63</c:v>
                </c:pt>
                <c:pt idx="10">
                  <c:v>197.83</c:v>
                </c:pt>
                <c:pt idx="11">
                  <c:v>209</c:v>
                </c:pt>
                <c:pt idx="12">
                  <c:v>195.19</c:v>
                </c:pt>
                <c:pt idx="13">
                  <c:v>197</c:v>
                </c:pt>
                <c:pt idx="14">
                  <c:v>175</c:v>
                </c:pt>
                <c:pt idx="15">
                  <c:v>157.41</c:v>
                </c:pt>
                <c:pt idx="16">
                  <c:v>99.4</c:v>
                </c:pt>
                <c:pt idx="17">
                  <c:v>95.95</c:v>
                </c:pt>
                <c:pt idx="18">
                  <c:v>93.88</c:v>
                </c:pt>
                <c:pt idx="19">
                  <c:v>93.74</c:v>
                </c:pt>
              </c:numCache>
            </c:numRef>
          </c:val>
          <c:smooth val="0"/>
          <c:extLst>
            <c:ext xmlns:c16="http://schemas.microsoft.com/office/drawing/2014/chart" uri="{C3380CC4-5D6E-409C-BE32-E72D297353CC}">
              <c16:uniqueId val="{00000000-43AD-4306-A3C4-2AE7B5ED4330}"/>
            </c:ext>
          </c:extLst>
        </c:ser>
        <c:dLbls>
          <c:showLegendKey val="0"/>
          <c:showVal val="0"/>
          <c:showCatName val="0"/>
          <c:showSerName val="0"/>
          <c:showPercent val="0"/>
          <c:showBubbleSize val="0"/>
        </c:dLbls>
        <c:marker val="1"/>
        <c:smooth val="0"/>
        <c:axId val="1440260864"/>
        <c:axId val="1440261280"/>
      </c:lineChart>
      <c:dateAx>
        <c:axId val="1440260864"/>
        <c:scaling>
          <c:orientation val="minMax"/>
        </c:scaling>
        <c:delete val="0"/>
        <c:axPos val="b"/>
        <c:numFmt formatCode="[$-409]mmm&quot;-&quot;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crossAx val="1440261280"/>
        <c:crosses val="autoZero"/>
        <c:auto val="1"/>
        <c:lblOffset val="100"/>
        <c:baseTimeUnit val="days"/>
      </c:dateAx>
      <c:valAx>
        <c:axId val="1440261280"/>
        <c:scaling>
          <c:orientation val="minMax"/>
          <c:max val="250"/>
          <c:min val="50"/>
        </c:scaling>
        <c:delete val="0"/>
        <c:axPos val="l"/>
        <c:majorGridlines>
          <c:spPr>
            <a:ln w="9525" cap="flat" cmpd="sng" algn="ctr">
              <a:solidFill>
                <a:schemeClr val="tx1">
                  <a:lumMod val="15000"/>
                  <a:lumOff val="85000"/>
                </a:schemeClr>
              </a:solidFill>
              <a:round/>
            </a:ln>
            <a:effectLst/>
          </c:spPr>
        </c:majorGridlines>
        <c:numFmt formatCode="0.00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crossAx val="1440260864"/>
        <c:crosses val="autoZero"/>
        <c:crossBetween val="between"/>
        <c:majorUnit val="50"/>
      </c:valAx>
      <c:spPr>
        <a:noFill/>
        <a:ln>
          <a:noFill/>
        </a:ln>
        <a:effectLst/>
      </c:spPr>
    </c:plotArea>
    <c:legend>
      <c:legendPos val="b"/>
      <c:layout>
        <c:manualLayout>
          <c:xMode val="edge"/>
          <c:yMode val="edge"/>
          <c:x val="0.647730977296333"/>
          <c:y val="0.1952278917181941"/>
          <c:w val="0.31603626962646225"/>
          <c:h val="0.10156879377413806"/>
        </c:manualLayout>
      </c:layout>
      <c:overlay val="0"/>
      <c:spPr>
        <a:noFill/>
        <a:ln>
          <a:noFill/>
        </a:ln>
        <a:effectLst/>
      </c:spPr>
      <c:txPr>
        <a:bodyPr rot="0" spcFirstLastPara="1" vertOverflow="ellipsis" vert="horz" wrap="square" anchor="ctr" anchorCtr="1"/>
        <a:lstStyle/>
        <a:p>
          <a:pPr rtl="0">
            <a:defRPr sz="8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legend>
    <c:plotVisOnly val="1"/>
    <c:dispBlanksAs val="gap"/>
    <c:showDLblsOverMax val="0"/>
  </c:chart>
  <c:spPr>
    <a:noFill/>
    <a:ln>
      <a:noFill/>
    </a:ln>
    <a:effectLst/>
  </c:spPr>
  <c:txPr>
    <a:bodyPr/>
    <a:lstStyle/>
    <a:p>
      <a:pPr>
        <a:defRPr/>
      </a:pPr>
      <a:endParaRPr lang="ko-KR"/>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00" b="1"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sz="1100" b="1" baseline="0" dirty="0" smtClean="0">
                <a:latin typeface="나눔스퀘어" panose="020B0600000101010101" pitchFamily="50" charset="-127"/>
                <a:ea typeface="나눔스퀘어" panose="020B0600000101010101" pitchFamily="50" charset="-127"/>
              </a:rPr>
              <a:t>[2H FSC Stage Estimates</a:t>
            </a:r>
            <a:r>
              <a:rPr lang="ko-KR" altLang="en-US" sz="1100" b="1" baseline="0" dirty="0" smtClean="0">
                <a:latin typeface="나눔스퀘어" panose="020B0600000101010101" pitchFamily="50" charset="-127"/>
                <a:ea typeface="나눔스퀘어" panose="020B0600000101010101" pitchFamily="50" charset="-127"/>
              </a:rPr>
              <a:t> </a:t>
            </a:r>
            <a:r>
              <a:rPr lang="en-US" altLang="ko-KR" sz="1100" b="1" baseline="0" dirty="0" smtClean="0">
                <a:latin typeface="나눔스퀘어" panose="020B0600000101010101" pitchFamily="50" charset="-127"/>
                <a:ea typeface="나눔스퀘어" panose="020B0600000101010101" pitchFamily="50" charset="-127"/>
              </a:rPr>
              <a:t>(KE)]</a:t>
            </a:r>
            <a:endParaRPr lang="ko-KR" altLang="en-US" sz="1100" b="1" dirty="0">
              <a:latin typeface="나눔스퀘어" panose="020B0600000101010101" pitchFamily="50" charset="-127"/>
              <a:ea typeface="나눔스퀘어" panose="020B0600000101010101" pitchFamily="50" charset="-127"/>
            </a:endParaRPr>
          </a:p>
        </c:rich>
      </c:tx>
      <c:layout>
        <c:manualLayout>
          <c:xMode val="edge"/>
          <c:yMode val="edge"/>
          <c:x val="0.21385414905373698"/>
          <c:y val="0.15095592665219809"/>
        </c:manualLayout>
      </c:layout>
      <c:overlay val="0"/>
      <c:spPr>
        <a:noFill/>
        <a:ln>
          <a:noFill/>
        </a:ln>
        <a:effectLst/>
      </c:spPr>
      <c:txPr>
        <a:bodyPr rot="0" spcFirstLastPara="1" vertOverflow="ellipsis" vert="horz" wrap="square" anchor="ctr" anchorCtr="1"/>
        <a:lstStyle/>
        <a:p>
          <a:pPr>
            <a:defRPr sz="1100" b="1"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autoTitleDeleted val="0"/>
    <c:plotArea>
      <c:layout>
        <c:manualLayout>
          <c:layoutTarget val="inner"/>
          <c:xMode val="edge"/>
          <c:yMode val="edge"/>
          <c:x val="0.19724310491807265"/>
          <c:y val="0.35149946924758041"/>
          <c:w val="0.64988287687811863"/>
          <c:h val="0.4027654074305338"/>
        </c:manualLayout>
      </c:layout>
      <c:lineChart>
        <c:grouping val="standard"/>
        <c:varyColors val="0"/>
        <c:ser>
          <c:idx val="0"/>
          <c:order val="0"/>
          <c:tx>
            <c:strRef>
              <c:f>비교!$B$3</c:f>
              <c:strCache>
                <c:ptCount val="1"/>
                <c:pt idx="0">
                  <c:v>적용기간</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ko-K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비교!$A$29:$A$37</c:f>
              <c:strCache>
                <c:ptCount val="9"/>
                <c:pt idx="0">
                  <c:v>Jan-26</c:v>
                </c:pt>
                <c:pt idx="1">
                  <c:v>Feb-26</c:v>
                </c:pt>
                <c:pt idx="2">
                  <c:v>Mar-26</c:v>
                </c:pt>
                <c:pt idx="3">
                  <c:v>Apr-26</c:v>
                </c:pt>
                <c:pt idx="4">
                  <c:v>May-26</c:v>
                </c:pt>
                <c:pt idx="5">
                  <c:v>Jun-26</c:v>
                </c:pt>
                <c:pt idx="6">
                  <c:v>Jul-26</c:v>
                </c:pt>
                <c:pt idx="7">
                  <c:v>3Q</c:v>
                </c:pt>
                <c:pt idx="8">
                  <c:v>4Q</c:v>
                </c:pt>
              </c:strCache>
            </c:strRef>
          </c:cat>
          <c:val>
            <c:numRef>
              <c:f>비교!$B$29:$B$37</c:f>
            </c:numRef>
          </c:val>
          <c:smooth val="0"/>
          <c:extLst>
            <c:ext xmlns:c16="http://schemas.microsoft.com/office/drawing/2014/chart" uri="{C3380CC4-5D6E-409C-BE32-E72D297353CC}">
              <c16:uniqueId val="{00000000-9596-464B-AD0D-02CA956CA7BF}"/>
            </c:ext>
          </c:extLst>
        </c:ser>
        <c:ser>
          <c:idx val="1"/>
          <c:order val="1"/>
          <c:tx>
            <c:strRef>
              <c:f>비교!$C$3</c:f>
              <c:strCache>
                <c:ptCount val="1"/>
                <c:pt idx="0">
                  <c:v>단계</c:v>
                </c:pt>
              </c:strCache>
            </c:strRef>
          </c:tx>
          <c:spPr>
            <a:ln w="28575" cap="rnd">
              <a:solidFill>
                <a:srgbClr val="002B5C"/>
              </a:solidFill>
              <a:round/>
            </a:ln>
            <a:effectLst/>
          </c:spPr>
          <c:marker>
            <c:symbol val="none"/>
          </c:marker>
          <c:dLbls>
            <c:dLbl>
              <c:idx val="4"/>
              <c:layout>
                <c:manualLayout>
                  <c:x val="-8.0240988591112852E-2"/>
                  <c:y val="-6.590390316217154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0-93D0-464A-9BF1-A22355A7FE7E}"/>
                </c:ext>
              </c:extLst>
            </c:dLbl>
            <c:dLbl>
              <c:idx val="5"/>
              <c:layout>
                <c:manualLayout>
                  <c:x val="-6.5784709224343249E-2"/>
                  <c:y val="-6.6661316547917251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93D0-464A-9BF1-A22355A7FE7E}"/>
                </c:ext>
              </c:extLst>
            </c:dLbl>
            <c:dLbl>
              <c:idx val="6"/>
              <c:layout>
                <c:manualLayout>
                  <c:x val="-7.7001538234000758E-2"/>
                  <c:y val="-0.1091575423880604"/>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0-4808-485F-ACF7-602B9AA4E2C5}"/>
                </c:ext>
              </c:extLst>
            </c:dLbl>
            <c:dLbl>
              <c:idx val="7"/>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ko-KR"/>
                </a:p>
              </c:txPr>
              <c:dLblPos val="t"/>
              <c:showLegendKey val="0"/>
              <c:showVal val="1"/>
              <c:showCatName val="0"/>
              <c:showSerName val="0"/>
              <c:showPercent val="0"/>
              <c:showBubbleSize val="0"/>
              <c:extLst>
                <c:ext xmlns:c16="http://schemas.microsoft.com/office/drawing/2014/chart" uri="{C3380CC4-5D6E-409C-BE32-E72D297353CC}">
                  <c16:uniqueId val="{00000002-93D0-464A-9BF1-A22355A7FE7E}"/>
                </c:ext>
              </c:extLst>
            </c:dLbl>
            <c:dLbl>
              <c:idx val="8"/>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ko-KR"/>
                </a:p>
              </c:txPr>
              <c:dLblPos val="t"/>
              <c:showLegendKey val="0"/>
              <c:showVal val="1"/>
              <c:showCatName val="0"/>
              <c:showSerName val="0"/>
              <c:showPercent val="0"/>
              <c:showBubbleSize val="0"/>
              <c:extLst>
                <c:ext xmlns:c16="http://schemas.microsoft.com/office/drawing/2014/chart" uri="{C3380CC4-5D6E-409C-BE32-E72D297353CC}">
                  <c16:uniqueId val="{00000003-93D0-464A-9BF1-A22355A7FE7E}"/>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ko-K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비교!$A$29:$A$37</c:f>
              <c:strCache>
                <c:ptCount val="9"/>
                <c:pt idx="0">
                  <c:v>Jan-26</c:v>
                </c:pt>
                <c:pt idx="1">
                  <c:v>Feb-26</c:v>
                </c:pt>
                <c:pt idx="2">
                  <c:v>Mar-26</c:v>
                </c:pt>
                <c:pt idx="3">
                  <c:v>Apr-26</c:v>
                </c:pt>
                <c:pt idx="4">
                  <c:v>May-26</c:v>
                </c:pt>
                <c:pt idx="5">
                  <c:v>Jun-26</c:v>
                </c:pt>
                <c:pt idx="6">
                  <c:v>Jul-26</c:v>
                </c:pt>
                <c:pt idx="7">
                  <c:v>3Q</c:v>
                </c:pt>
                <c:pt idx="8">
                  <c:v>4Q</c:v>
                </c:pt>
              </c:strCache>
            </c:strRef>
          </c:cat>
          <c:val>
            <c:numRef>
              <c:f>비교!$C$29:$C$37</c:f>
              <c:numCache>
                <c:formatCode>General</c:formatCode>
                <c:ptCount val="9"/>
                <c:pt idx="0">
                  <c:v>9</c:v>
                </c:pt>
                <c:pt idx="1">
                  <c:v>7</c:v>
                </c:pt>
                <c:pt idx="2">
                  <c:v>6</c:v>
                </c:pt>
                <c:pt idx="3">
                  <c:v>8</c:v>
                </c:pt>
                <c:pt idx="4">
                  <c:v>33</c:v>
                </c:pt>
                <c:pt idx="5">
                  <c:v>34</c:v>
                </c:pt>
                <c:pt idx="6">
                  <c:v>23</c:v>
                </c:pt>
                <c:pt idx="7">
                  <c:v>13</c:v>
                </c:pt>
                <c:pt idx="8">
                  <c:v>10</c:v>
                </c:pt>
              </c:numCache>
            </c:numRef>
          </c:val>
          <c:smooth val="0"/>
          <c:extLst>
            <c:ext xmlns:c16="http://schemas.microsoft.com/office/drawing/2014/chart" uri="{C3380CC4-5D6E-409C-BE32-E72D297353CC}">
              <c16:uniqueId val="{00000000-C606-4F7B-9A10-2E5665FE1BA1}"/>
            </c:ext>
          </c:extLst>
        </c:ser>
        <c:dLbls>
          <c:showLegendKey val="0"/>
          <c:showVal val="0"/>
          <c:showCatName val="0"/>
          <c:showSerName val="0"/>
          <c:showPercent val="0"/>
          <c:showBubbleSize val="0"/>
        </c:dLbls>
        <c:smooth val="0"/>
        <c:axId val="1318323616"/>
        <c:axId val="1318314464"/>
      </c:lineChart>
      <c:catAx>
        <c:axId val="13183236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1318314464"/>
        <c:crosses val="autoZero"/>
        <c:auto val="1"/>
        <c:lblAlgn val="ctr"/>
        <c:lblOffset val="100"/>
        <c:noMultiLvlLbl val="1"/>
      </c:catAx>
      <c:valAx>
        <c:axId val="1318314464"/>
        <c:scaling>
          <c:orientation val="minMax"/>
          <c:max val="34"/>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high"/>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crossAx val="1318323616"/>
        <c:crosses val="autoZero"/>
        <c:crossBetween val="between"/>
        <c:majorUnit val="5"/>
      </c:valAx>
      <c:spPr>
        <a:noFill/>
        <a:ln>
          <a:noFill/>
        </a:ln>
        <a:effectLst/>
      </c:spPr>
    </c:plotArea>
    <c:plotVisOnly val="1"/>
    <c:dispBlanksAs val="gap"/>
    <c:showDLblsOverMax val="0"/>
  </c:chart>
  <c:spPr>
    <a:noFill/>
    <a:ln>
      <a:noFill/>
    </a:ln>
    <a:effectLst/>
  </c:spPr>
  <c:txPr>
    <a:bodyPr/>
    <a:lstStyle/>
    <a:p>
      <a:pPr>
        <a:defRPr/>
      </a:pPr>
      <a:endParaRPr lang="ko-KR"/>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050" b="1"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sz="1000" b="1" baseline="0" dirty="0" smtClean="0"/>
              <a:t>[Brent Trends and Outlook]</a:t>
            </a:r>
            <a:endParaRPr lang="ko-KR" sz="1000" b="1" dirty="0"/>
          </a:p>
        </c:rich>
      </c:tx>
      <c:layout>
        <c:manualLayout>
          <c:xMode val="edge"/>
          <c:yMode val="edge"/>
          <c:x val="0.22470186355776936"/>
          <c:y val="4.6868618080350546E-2"/>
        </c:manualLayout>
      </c:layout>
      <c:overlay val="0"/>
      <c:spPr>
        <a:noFill/>
        <a:ln>
          <a:noFill/>
        </a:ln>
        <a:effectLst/>
      </c:spPr>
      <c:txPr>
        <a:bodyPr rot="0" spcFirstLastPara="1" vertOverflow="ellipsis" vert="horz" wrap="square" anchor="ctr" anchorCtr="1"/>
        <a:lstStyle/>
        <a:p>
          <a:pPr algn="ctr">
            <a:defRPr sz="1050" b="1" i="0" u="none" strike="noStrike" kern="1200" spc="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autoTitleDeleted val="0"/>
    <c:plotArea>
      <c:layout>
        <c:manualLayout>
          <c:layoutTarget val="inner"/>
          <c:xMode val="edge"/>
          <c:yMode val="edge"/>
          <c:x val="0.10426519444987295"/>
          <c:y val="0.41431126704039528"/>
          <c:w val="0.88177960719171389"/>
          <c:h val="0.39312913076739781"/>
        </c:manualLayout>
      </c:layout>
      <c:barChart>
        <c:barDir val="col"/>
        <c:grouping val="clustered"/>
        <c:varyColors val="0"/>
        <c:ser>
          <c:idx val="0"/>
          <c:order val="0"/>
          <c:tx>
            <c:strRef>
              <c:f>Sheet1!$B$1</c:f>
              <c:strCache>
                <c:ptCount val="1"/>
                <c:pt idx="0">
                  <c:v>Brent</c:v>
                </c:pt>
              </c:strCache>
            </c:strRef>
          </c:tx>
          <c:spPr>
            <a:solidFill>
              <a:srgbClr val="0000FF"/>
            </a:solidFill>
            <a:ln>
              <a:noFill/>
            </a:ln>
            <a:effectLst/>
          </c:spPr>
          <c:invertIfNegative val="0"/>
          <c:dPt>
            <c:idx val="3"/>
            <c:invertIfNegative val="0"/>
            <c:bubble3D val="0"/>
            <c:spPr>
              <a:solidFill>
                <a:srgbClr val="0000FF"/>
              </a:solidFill>
              <a:ln>
                <a:noFill/>
                <a:prstDash val="sysDash"/>
              </a:ln>
              <a:effectLst/>
            </c:spPr>
            <c:extLst>
              <c:ext xmlns:c16="http://schemas.microsoft.com/office/drawing/2014/chart" uri="{C3380CC4-5D6E-409C-BE32-E72D297353CC}">
                <c16:uniqueId val="{00000002-BE5B-485C-A62B-4EEEA32C3B59}"/>
              </c:ext>
            </c:extLst>
          </c:dPt>
          <c:dPt>
            <c:idx val="4"/>
            <c:invertIfNegative val="0"/>
            <c:bubble3D val="0"/>
            <c:spPr>
              <a:solidFill>
                <a:srgbClr val="0000FF"/>
              </a:solidFill>
              <a:ln>
                <a:noFill/>
                <a:prstDash val="sysDash"/>
              </a:ln>
              <a:effectLst/>
            </c:spPr>
            <c:extLst>
              <c:ext xmlns:c16="http://schemas.microsoft.com/office/drawing/2014/chart" uri="{C3380CC4-5D6E-409C-BE32-E72D297353CC}">
                <c16:uniqueId val="{00000005-BE5B-485C-A62B-4EEEA32C3B59}"/>
              </c:ext>
            </c:extLst>
          </c:dPt>
          <c:dLbls>
            <c:dLbl>
              <c:idx val="0"/>
              <c:layout>
                <c:manualLayout>
                  <c:x val="0"/>
                  <c:y val="-4.0604495429196759E-2"/>
                </c:manualLayout>
              </c:layout>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6-BE5B-485C-A62B-4EEEA32C3B59}"/>
                </c:ext>
              </c:extLst>
            </c:dLbl>
            <c:dLbl>
              <c:idx val="1"/>
              <c:delete val="1"/>
              <c:extLst>
                <c:ext xmlns:c15="http://schemas.microsoft.com/office/drawing/2012/chart" uri="{CE6537A1-D6FC-4f65-9D91-7224C49458BB}"/>
                <c:ext xmlns:c16="http://schemas.microsoft.com/office/drawing/2014/chart" uri="{C3380CC4-5D6E-409C-BE32-E72D297353CC}">
                  <c16:uniqueId val="{00000004-BE5B-485C-A62B-4EEEA32C3B59}"/>
                </c:ext>
              </c:extLst>
            </c:dLbl>
            <c:dLbl>
              <c:idx val="2"/>
              <c:layout>
                <c:manualLayout>
                  <c:x val="0"/>
                  <c:y val="5.0755619286495794E-2"/>
                </c:manualLayout>
              </c:layout>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BE5B-485C-A62B-4EEEA32C3B59}"/>
                </c:ext>
              </c:extLst>
            </c:dLbl>
            <c:dLbl>
              <c:idx val="3"/>
              <c:layout>
                <c:manualLayout>
                  <c:x val="-1.1281789752844528E-16"/>
                  <c:y val="4.060449542919671E-2"/>
                </c:manualLayout>
              </c:layout>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2-BE5B-485C-A62B-4EEEA32C3B59}"/>
                </c:ext>
              </c:extLst>
            </c:dLbl>
            <c:dLbl>
              <c:idx val="4"/>
              <c:layout>
                <c:manualLayout>
                  <c:x val="-1.1281789752844528E-16"/>
                  <c:y val="5.0755619286495891E-2"/>
                </c:manualLayout>
              </c:layout>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BE5B-485C-A62B-4EEEA32C3B59}"/>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나눔스퀘어" panose="020B0600000101010101" pitchFamily="50" charset="-127"/>
                    <a:ea typeface="나눔스퀘어" panose="020B0600000101010101" pitchFamily="50" charset="-127"/>
                    <a:cs typeface="+mn-cs"/>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Sheet1!$A$4:$A$8</c:f>
              <c:strCache>
                <c:ptCount val="5"/>
                <c:pt idx="0">
                  <c:v>Apr</c:v>
                </c:pt>
                <c:pt idx="1">
                  <c:v>May</c:v>
                </c:pt>
                <c:pt idx="2">
                  <c:v>Jun</c:v>
                </c:pt>
                <c:pt idx="3">
                  <c:v>3Q</c:v>
                </c:pt>
                <c:pt idx="4">
                  <c:v>4Q</c:v>
                </c:pt>
              </c:strCache>
            </c:strRef>
          </c:cat>
          <c:val>
            <c:numRef>
              <c:f>Sheet1!$B$4:$B$8</c:f>
              <c:numCache>
                <c:formatCode>General</c:formatCode>
                <c:ptCount val="5"/>
                <c:pt idx="0">
                  <c:v>101.4</c:v>
                </c:pt>
                <c:pt idx="1">
                  <c:v>102.8</c:v>
                </c:pt>
                <c:pt idx="2">
                  <c:v>86.9</c:v>
                </c:pt>
                <c:pt idx="3">
                  <c:v>75</c:v>
                </c:pt>
                <c:pt idx="4">
                  <c:v>70</c:v>
                </c:pt>
              </c:numCache>
            </c:numRef>
          </c:val>
          <c:extLst>
            <c:ext xmlns:c16="http://schemas.microsoft.com/office/drawing/2014/chart" uri="{C3380CC4-5D6E-409C-BE32-E72D297353CC}">
              <c16:uniqueId val="{00000000-BE5B-485C-A62B-4EEEA32C3B59}"/>
            </c:ext>
          </c:extLst>
        </c:ser>
        <c:dLbls>
          <c:dLblPos val="outEnd"/>
          <c:showLegendKey val="0"/>
          <c:showVal val="1"/>
          <c:showCatName val="0"/>
          <c:showSerName val="0"/>
          <c:showPercent val="0"/>
          <c:showBubbleSize val="0"/>
        </c:dLbls>
        <c:gapWidth val="150"/>
        <c:axId val="166619856"/>
        <c:axId val="166625840"/>
      </c:barChart>
      <c:catAx>
        <c:axId val="166619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166625840"/>
        <c:crosses val="autoZero"/>
        <c:auto val="1"/>
        <c:lblAlgn val="ctr"/>
        <c:lblOffset val="100"/>
        <c:noMultiLvlLbl val="0"/>
      </c:catAx>
      <c:valAx>
        <c:axId val="16662584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9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r>
                  <a:rPr lang="en-US" altLang="ko-KR" sz="900" dirty="0" smtClean="0"/>
                  <a:t>($/</a:t>
                </a:r>
                <a:r>
                  <a:rPr lang="en-US" altLang="ko-KR" sz="900" dirty="0" err="1" smtClean="0"/>
                  <a:t>bbl</a:t>
                </a:r>
                <a:r>
                  <a:rPr lang="en-US" altLang="ko-KR" sz="900" dirty="0" smtClean="0"/>
                  <a:t>)</a:t>
                </a:r>
                <a:endParaRPr lang="ko-KR" altLang="en-US" sz="900" dirty="0"/>
              </a:p>
            </c:rich>
          </c:tx>
          <c:layout>
            <c:manualLayout>
              <c:xMode val="edge"/>
              <c:yMode val="edge"/>
              <c:x val="8.8654417827212471E-3"/>
              <c:y val="0.16347604516297715"/>
            </c:manualLayout>
          </c:layout>
          <c:overlay val="0"/>
          <c:spPr>
            <a:noFill/>
            <a:ln>
              <a:noFill/>
            </a:ln>
            <a:effectLst/>
          </c:spPr>
          <c:txPr>
            <a:bodyPr rot="0" spcFirstLastPara="1" vertOverflow="ellipsis" wrap="square" anchor="ctr" anchorCtr="1"/>
            <a:lstStyle/>
            <a:p>
              <a:pPr>
                <a:defRPr sz="9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166619856"/>
        <c:crosses val="autoZero"/>
        <c:crossBetween val="between"/>
        <c:majorUnit val="50"/>
      </c:valAx>
      <c:spPr>
        <a:noFill/>
        <a:ln>
          <a:noFill/>
        </a:ln>
        <a:effectLst/>
      </c:spPr>
    </c:plotArea>
    <c:plotVisOnly val="1"/>
    <c:dispBlanksAs val="gap"/>
    <c:showDLblsOverMax val="0"/>
  </c:chart>
  <c:spPr>
    <a:noFill/>
    <a:ln>
      <a:noFill/>
    </a:ln>
    <a:effectLst/>
  </c:spPr>
  <c:txPr>
    <a:bodyPr/>
    <a:lstStyle/>
    <a:p>
      <a:pPr>
        <a:defRPr sz="1000">
          <a:latin typeface="나눔스퀘어" panose="020B0600000101010101" pitchFamily="50" charset="-127"/>
          <a:ea typeface="나눔스퀘어" panose="020B0600000101010101" pitchFamily="50" charset="-127"/>
        </a:defRPr>
      </a:pPr>
      <a:endParaRPr lang="ko-KR"/>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73281132682613"/>
          <c:y val="0.31752008139684912"/>
          <c:w val="0.83267188673173875"/>
          <c:h val="0.49142204999507227"/>
        </c:manualLayout>
      </c:layout>
      <c:barChart>
        <c:barDir val="col"/>
        <c:grouping val="clustered"/>
        <c:varyColors val="0"/>
        <c:ser>
          <c:idx val="0"/>
          <c:order val="0"/>
          <c:tx>
            <c:strRef>
              <c:f>'ASIA-US'!$N$65</c:f>
              <c:strCache>
                <c:ptCount val="1"/>
                <c:pt idx="0">
                  <c:v>25.1Q</c:v>
                </c:pt>
              </c:strCache>
            </c:strRef>
          </c:tx>
          <c:spPr>
            <a:solidFill>
              <a:srgbClr val="0000FF"/>
            </a:solidFill>
            <a:ln>
              <a:noFill/>
            </a:ln>
            <a:effectLst/>
          </c:spPr>
          <c:invertIfNegative val="0"/>
          <c:dLbls>
            <c:dLbl>
              <c:idx val="1"/>
              <c:layout>
                <c:manualLayout>
                  <c:x val="-1.7545424613345052E-2"/>
                  <c:y val="1.9464541776640441E-2"/>
                </c:manualLayout>
              </c:layout>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0-DF04-49B9-91DA-B71DB5AF699F}"/>
                </c:ext>
              </c:extLst>
            </c:dLbl>
            <c:dLbl>
              <c:idx val="2"/>
              <c:layout>
                <c:manualLayout>
                  <c:x val="-2.3025967489509504E-2"/>
                  <c:y val="3.2847732677706345E-4"/>
                </c:manualLayout>
              </c:layout>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DF04-49B9-91DA-B71DB5AF699F}"/>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나눔스퀘어" panose="020B0600000101010101" pitchFamily="50" charset="-127"/>
                    <a:ea typeface="나눔스퀘어" panose="020B0600000101010101" pitchFamily="50" charset="-127"/>
                    <a:cs typeface="+mn-cs"/>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'ASIA-US'!$O$63:$Q$63</c:f>
              <c:strCache>
                <c:ptCount val="3"/>
                <c:pt idx="0">
                  <c:v>Consumer/Fashion</c:v>
                </c:pt>
                <c:pt idx="1">
                  <c:v>Others</c:v>
                </c:pt>
                <c:pt idx="2">
                  <c:v>AI</c:v>
                </c:pt>
              </c:strCache>
            </c:strRef>
          </c:cat>
          <c:val>
            <c:numRef>
              <c:f>'ASIA-US'!$O$65:$Q$65</c:f>
              <c:numCache>
                <c:formatCode>0%</c:formatCode>
                <c:ptCount val="3"/>
                <c:pt idx="0">
                  <c:v>9.0901497872842851E-2</c:v>
                </c:pt>
                <c:pt idx="1">
                  <c:v>4.46156420320869E-2</c:v>
                </c:pt>
                <c:pt idx="2">
                  <c:v>0.17675996547182948</c:v>
                </c:pt>
              </c:numCache>
            </c:numRef>
          </c:val>
          <c:extLst>
            <c:ext xmlns:c16="http://schemas.microsoft.com/office/drawing/2014/chart" uri="{C3380CC4-5D6E-409C-BE32-E72D297353CC}">
              <c16:uniqueId val="{00000002-DF04-49B9-91DA-B71DB5AF699F}"/>
            </c:ext>
          </c:extLst>
        </c:ser>
        <c:ser>
          <c:idx val="1"/>
          <c:order val="1"/>
          <c:tx>
            <c:strRef>
              <c:f>'ASIA-US'!$N$66</c:f>
              <c:strCache>
                <c:ptCount val="1"/>
                <c:pt idx="0">
                  <c:v>26.1Q</c:v>
                </c:pt>
              </c:strCache>
            </c:strRef>
          </c:tx>
          <c:spPr>
            <a:solidFill>
              <a:srgbClr val="3CD0BA"/>
            </a:solidFill>
            <a:ln>
              <a:noFill/>
            </a:ln>
            <a:effectLst/>
          </c:spPr>
          <c:invertIfNegative val="0"/>
          <c:dLbls>
            <c:dLbl>
              <c:idx val="0"/>
              <c:layout>
                <c:manualLayout>
                  <c:x val="4.1446741481117211E-2"/>
                  <c:y val="-6.37868814995442E-3"/>
                </c:manualLayout>
              </c:layout>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9-DF04-49B9-91DA-B71DB5AF699F}"/>
                </c:ext>
              </c:extLst>
            </c:dLbl>
            <c:dLbl>
              <c:idx val="1"/>
              <c:layout>
                <c:manualLayout>
                  <c:x val="-7.0822275765157971E-4"/>
                  <c:y val="-2.7062084778286165E-2"/>
                </c:manualLayout>
              </c:layout>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DF04-49B9-91DA-B71DB5AF699F}"/>
                </c:ext>
              </c:extLst>
            </c:dLbl>
            <c:dLbl>
              <c:idx val="2"/>
              <c:layout>
                <c:manualLayout>
                  <c:x val="1.4856281701499335E-3"/>
                  <c:y val="1.9245556892122262E-2"/>
                </c:manualLayout>
              </c:layout>
              <c:spPr>
                <a:noFill/>
                <a:ln>
                  <a:noFill/>
                </a:ln>
                <a:effectLst/>
              </c:spPr>
              <c:txPr>
                <a:bodyPr rot="0" spcFirstLastPara="1" vertOverflow="ellipsis" vert="horz" wrap="square" anchor="ctr" anchorCtr="1"/>
                <a:lstStyle/>
                <a:p>
                  <a:pPr>
                    <a:defRPr sz="900" b="1" i="0" u="none" strike="noStrike" kern="1200" baseline="0">
                      <a:solidFill>
                        <a:srgbClr val="FF0000"/>
                      </a:solidFill>
                      <a:latin typeface="나눔스퀘어" panose="020B0600000101010101" pitchFamily="50" charset="-127"/>
                      <a:ea typeface="나눔스퀘어" panose="020B0600000101010101" pitchFamily="50" charset="-127"/>
                      <a:cs typeface="+mn-cs"/>
                    </a:defRPr>
                  </a:pPr>
                  <a:endParaRPr lang="ko-KR"/>
                </a:p>
              </c:txPr>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4-DF04-49B9-91DA-B71DB5AF699F}"/>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나눔스퀘어" panose="020B0600000101010101" pitchFamily="50" charset="-127"/>
                    <a:ea typeface="나눔스퀘어" panose="020B0600000101010101" pitchFamily="50" charset="-127"/>
                    <a:cs typeface="+mn-cs"/>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'ASIA-US'!$O$63:$Q$63</c:f>
              <c:strCache>
                <c:ptCount val="3"/>
                <c:pt idx="0">
                  <c:v>Consumer/Fashion</c:v>
                </c:pt>
                <c:pt idx="1">
                  <c:v>Others</c:v>
                </c:pt>
                <c:pt idx="2">
                  <c:v>AI</c:v>
                </c:pt>
              </c:strCache>
            </c:strRef>
          </c:cat>
          <c:val>
            <c:numRef>
              <c:f>'ASIA-US'!$O$66:$Q$66</c:f>
              <c:numCache>
                <c:formatCode>0%</c:formatCode>
                <c:ptCount val="3"/>
                <c:pt idx="0">
                  <c:v>0.12040110723917086</c:v>
                </c:pt>
                <c:pt idx="1">
                  <c:v>9.06104011465656E-2</c:v>
                </c:pt>
                <c:pt idx="2">
                  <c:v>0.84</c:v>
                </c:pt>
              </c:numCache>
            </c:numRef>
          </c:val>
          <c:extLst>
            <c:ext xmlns:c16="http://schemas.microsoft.com/office/drawing/2014/chart" uri="{C3380CC4-5D6E-409C-BE32-E72D297353CC}">
              <c16:uniqueId val="{00000005-DF04-49B9-91DA-B71DB5AF699F}"/>
            </c:ext>
          </c:extLst>
        </c:ser>
        <c:dLbls>
          <c:dLblPos val="outEnd"/>
          <c:showLegendKey val="0"/>
          <c:showVal val="1"/>
          <c:showCatName val="0"/>
          <c:showSerName val="0"/>
          <c:showPercent val="0"/>
          <c:showBubbleSize val="0"/>
        </c:dLbls>
        <c:gapWidth val="219"/>
        <c:overlap val="-27"/>
        <c:axId val="116446384"/>
        <c:axId val="116446800"/>
      </c:barChart>
      <c:catAx>
        <c:axId val="116446384"/>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0" spcFirstLastPara="1" vertOverflow="ellipsis" wrap="square" anchor="t" anchorCtr="0"/>
          <a:lstStyle/>
          <a:p>
            <a:pPr>
              <a:defRPr sz="75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116446800"/>
        <c:crosses val="autoZero"/>
        <c:auto val="1"/>
        <c:lblAlgn val="ctr"/>
        <c:lblOffset val="100"/>
        <c:noMultiLvlLbl val="0"/>
      </c:catAx>
      <c:valAx>
        <c:axId val="11644680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116446384"/>
        <c:crosses val="autoZero"/>
        <c:crossBetween val="between"/>
      </c:valAx>
      <c:spPr>
        <a:noFill/>
        <a:ln>
          <a:noFill/>
        </a:ln>
        <a:effectLst/>
      </c:spPr>
    </c:plotArea>
    <c:legend>
      <c:legendPos val="b"/>
      <c:layout>
        <c:manualLayout>
          <c:xMode val="edge"/>
          <c:yMode val="edge"/>
          <c:x val="0.24793581209998697"/>
          <c:y val="0.32766373997953657"/>
          <c:w val="0.41587399320316953"/>
          <c:h val="0.1010735784189391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legend>
    <c:plotVisOnly val="1"/>
    <c:dispBlanksAs val="gap"/>
    <c:showDLblsOverMax val="0"/>
  </c:chart>
  <c:spPr>
    <a:solidFill>
      <a:schemeClr val="bg1"/>
    </a:solidFill>
    <a:ln w="9525" cap="flat" cmpd="sng" algn="ctr">
      <a:noFill/>
      <a:round/>
    </a:ln>
    <a:effectLst/>
  </c:spPr>
  <c:txPr>
    <a:bodyPr/>
    <a:lstStyle/>
    <a:p>
      <a:pPr>
        <a:defRPr>
          <a:latin typeface="나눔스퀘어" panose="020B0600000101010101" pitchFamily="50" charset="-127"/>
          <a:ea typeface="나눔스퀘어" panose="020B0600000101010101" pitchFamily="50" charset="-127"/>
        </a:defRPr>
      </a:pPr>
      <a:endParaRPr lang="ko-KR"/>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372349328108079"/>
          <c:y val="0.17206426745029191"/>
          <c:w val="0.77661964459880584"/>
          <c:h val="0.63886689177263989"/>
        </c:manualLayout>
      </c:layout>
      <c:barChart>
        <c:barDir val="col"/>
        <c:grouping val="stacked"/>
        <c:varyColors val="0"/>
        <c:ser>
          <c:idx val="1"/>
          <c:order val="0"/>
          <c:tx>
            <c:strRef>
              <c:f>'ASIA-US'!$O$28</c:f>
              <c:strCache>
                <c:ptCount val="1"/>
                <c:pt idx="0">
                  <c:v>Consumer/Fashion</c:v>
                </c:pt>
              </c:strCache>
            </c:strRef>
          </c:tx>
          <c:spPr>
            <a:solidFill>
              <a:srgbClr val="002B5C"/>
            </a:solidFill>
            <a:ln>
              <a:noFill/>
            </a:ln>
            <a:effectLst/>
          </c:spPr>
          <c:invertIfNegative val="0"/>
          <c:dPt>
            <c:idx val="2"/>
            <c:invertIfNegative val="0"/>
            <c:bubble3D val="0"/>
            <c:spPr>
              <a:solidFill>
                <a:srgbClr val="002B5C"/>
              </a:solidFill>
              <a:ln>
                <a:noFill/>
              </a:ln>
              <a:effectLst/>
            </c:spPr>
            <c:extLst>
              <c:ext xmlns:c16="http://schemas.microsoft.com/office/drawing/2014/chart" uri="{C3380CC4-5D6E-409C-BE32-E72D297353CC}">
                <c16:uniqueId val="{00000004-1708-4D5E-8EDD-C5F848853FAA}"/>
              </c:ext>
            </c:extLst>
          </c:dPt>
          <c:dLbls>
            <c:delete val="1"/>
          </c:dLbls>
          <c:cat>
            <c:strRef>
              <c:f>'ASIA-US'!$Q$26:$S$26</c:f>
              <c:strCache>
                <c:ptCount val="3"/>
                <c:pt idx="0">
                  <c:v>2024</c:v>
                </c:pt>
                <c:pt idx="1">
                  <c:v>2025</c:v>
                </c:pt>
                <c:pt idx="2">
                  <c:v>2026.1~4</c:v>
                </c:pt>
              </c:strCache>
            </c:strRef>
          </c:cat>
          <c:val>
            <c:numRef>
              <c:f>'ASIA-US'!$Q$28:$S$28</c:f>
              <c:numCache>
                <c:formatCode>#,##0</c:formatCode>
                <c:ptCount val="3"/>
                <c:pt idx="0">
                  <c:v>427.66804151000002</c:v>
                </c:pt>
                <c:pt idx="1">
                  <c:v>424.34611138999799</c:v>
                </c:pt>
                <c:pt idx="2">
                  <c:v>144.68153745000001</c:v>
                </c:pt>
              </c:numCache>
            </c:numRef>
          </c:val>
          <c:extLst>
            <c:ext xmlns:c16="http://schemas.microsoft.com/office/drawing/2014/chart" uri="{C3380CC4-5D6E-409C-BE32-E72D297353CC}">
              <c16:uniqueId val="{00000000-9041-4FB3-AD71-4940558506E6}"/>
            </c:ext>
          </c:extLst>
        </c:ser>
        <c:ser>
          <c:idx val="2"/>
          <c:order val="1"/>
          <c:tx>
            <c:strRef>
              <c:f>'ASIA-US'!$O$29</c:f>
              <c:strCache>
                <c:ptCount val="1"/>
                <c:pt idx="0">
                  <c:v>Others</c:v>
                </c:pt>
              </c:strCache>
            </c:strRef>
          </c:tx>
          <c:spPr>
            <a:solidFill>
              <a:srgbClr val="0000FF"/>
            </a:solidFill>
            <a:ln>
              <a:noFill/>
            </a:ln>
            <a:effectLst/>
          </c:spPr>
          <c:invertIfNegative val="0"/>
          <c:dPt>
            <c:idx val="2"/>
            <c:invertIfNegative val="0"/>
            <c:bubble3D val="0"/>
            <c:spPr>
              <a:pattFill prst="dkUpDiag">
                <a:fgClr>
                  <a:srgbClr val="0000FF"/>
                </a:fgClr>
                <a:bgClr>
                  <a:schemeClr val="bg1"/>
                </a:bgClr>
              </a:pattFill>
              <a:ln>
                <a:noFill/>
              </a:ln>
              <a:effectLst/>
            </c:spPr>
            <c:extLst>
              <c:ext xmlns:c16="http://schemas.microsoft.com/office/drawing/2014/chart" uri="{C3380CC4-5D6E-409C-BE32-E72D297353CC}">
                <c16:uniqueId val="{00000000-2CBB-40B8-8D89-40CD990F1887}"/>
              </c:ext>
            </c:extLst>
          </c:dPt>
          <c:dLbls>
            <c:delete val="1"/>
          </c:dLbls>
          <c:cat>
            <c:strRef>
              <c:f>'ASIA-US'!$Q$26:$S$26</c:f>
              <c:strCache>
                <c:ptCount val="3"/>
                <c:pt idx="0">
                  <c:v>2024</c:v>
                </c:pt>
                <c:pt idx="1">
                  <c:v>2025</c:v>
                </c:pt>
                <c:pt idx="2">
                  <c:v>2026.1~4</c:v>
                </c:pt>
              </c:strCache>
            </c:strRef>
          </c:cat>
          <c:val>
            <c:numRef>
              <c:f>'ASIA-US'!$Q$29:$S$29</c:f>
              <c:numCache>
                <c:formatCode>#,##0</c:formatCode>
                <c:ptCount val="3"/>
                <c:pt idx="0">
                  <c:v>1034.4961343099999</c:v>
                </c:pt>
                <c:pt idx="1">
                  <c:v>1099.679934910002</c:v>
                </c:pt>
                <c:pt idx="2">
                  <c:v>321.98564549000059</c:v>
                </c:pt>
              </c:numCache>
            </c:numRef>
          </c:val>
          <c:extLst>
            <c:ext xmlns:c16="http://schemas.microsoft.com/office/drawing/2014/chart" uri="{C3380CC4-5D6E-409C-BE32-E72D297353CC}">
              <c16:uniqueId val="{00000001-9041-4FB3-AD71-4940558506E6}"/>
            </c:ext>
          </c:extLst>
        </c:ser>
        <c:ser>
          <c:idx val="0"/>
          <c:order val="2"/>
          <c:tx>
            <c:strRef>
              <c:f>'ASIA-US'!$O$27</c:f>
              <c:strCache>
                <c:ptCount val="1"/>
                <c:pt idx="0">
                  <c:v>AI</c:v>
                </c:pt>
              </c:strCache>
            </c:strRef>
          </c:tx>
          <c:spPr>
            <a:solidFill>
              <a:srgbClr val="3CD0BA"/>
            </a:solidFill>
            <a:ln>
              <a:noFill/>
            </a:ln>
            <a:effectLst/>
          </c:spPr>
          <c:invertIfNegative val="0"/>
          <c:dPt>
            <c:idx val="0"/>
            <c:invertIfNegative val="0"/>
            <c:bubble3D val="0"/>
            <c:spPr>
              <a:solidFill>
                <a:srgbClr val="3CD0BA"/>
              </a:solidFill>
              <a:ln>
                <a:noFill/>
              </a:ln>
              <a:effectLst/>
            </c:spPr>
            <c:extLst>
              <c:ext xmlns:c16="http://schemas.microsoft.com/office/drawing/2014/chart" uri="{C3380CC4-5D6E-409C-BE32-E72D297353CC}">
                <c16:uniqueId val="{00000002-9041-4FB3-AD71-4940558506E6}"/>
              </c:ext>
            </c:extLst>
          </c:dPt>
          <c:dPt>
            <c:idx val="1"/>
            <c:invertIfNegative val="0"/>
            <c:bubble3D val="0"/>
            <c:spPr>
              <a:solidFill>
                <a:srgbClr val="3CD0BA"/>
              </a:solidFill>
              <a:ln>
                <a:noFill/>
              </a:ln>
              <a:effectLst/>
            </c:spPr>
            <c:extLst>
              <c:ext xmlns:c16="http://schemas.microsoft.com/office/drawing/2014/chart" uri="{C3380CC4-5D6E-409C-BE32-E72D297353CC}">
                <c16:uniqueId val="{00000003-9041-4FB3-AD71-4940558506E6}"/>
              </c:ext>
            </c:extLst>
          </c:dPt>
          <c:dPt>
            <c:idx val="2"/>
            <c:invertIfNegative val="0"/>
            <c:bubble3D val="0"/>
            <c:spPr>
              <a:solidFill>
                <a:srgbClr val="3CD0BA"/>
              </a:solidFill>
              <a:ln>
                <a:noFill/>
              </a:ln>
              <a:effectLst/>
            </c:spPr>
            <c:extLst>
              <c:ext xmlns:c16="http://schemas.microsoft.com/office/drawing/2014/chart" uri="{C3380CC4-5D6E-409C-BE32-E72D297353CC}">
                <c16:uniqueId val="{00000004-9041-4FB3-AD71-4940558506E6}"/>
              </c:ext>
            </c:extLst>
          </c:dPt>
          <c:dLbls>
            <c:dLbl>
              <c:idx val="0"/>
              <c:layout>
                <c:manualLayout>
                  <c:x val="-4.6531941429842714E-3"/>
                  <c:y val="-0.10455891092077789"/>
                </c:manualLayout>
              </c:layout>
              <c:tx>
                <c:rich>
                  <a:bodyPr/>
                  <a:lstStyle/>
                  <a:p>
                    <a:r>
                      <a:rPr lang="en-US" altLang="ko-KR" dirty="0" smtClean="0"/>
                      <a:t>1,952</a:t>
                    </a:r>
                    <a:endParaRPr lang="en-US" altLang="ko-KR" dirty="0"/>
                  </a:p>
                </c:rich>
              </c:tx>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2-9041-4FB3-AD71-4940558506E6}"/>
                </c:ext>
              </c:extLst>
            </c:dLbl>
            <c:dLbl>
              <c:idx val="1"/>
              <c:layout>
                <c:manualLayout>
                  <c:x val="-5.0111603380783697E-3"/>
                  <c:y val="-0.11840683455002426"/>
                </c:manualLayout>
              </c:layout>
              <c:tx>
                <c:rich>
                  <a:bodyPr/>
                  <a:lstStyle/>
                  <a:p>
                    <a:r>
                      <a:rPr lang="en-US" altLang="ko-KR" dirty="0" smtClean="0"/>
                      <a:t>2,252</a:t>
                    </a:r>
                    <a:endParaRPr lang="en-US" altLang="ko-KR" dirty="0"/>
                  </a:p>
                </c:rich>
              </c:tx>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9041-4FB3-AD71-4940558506E6}"/>
                </c:ext>
              </c:extLst>
            </c:dLbl>
            <c:dLbl>
              <c:idx val="2"/>
              <c:delete val="1"/>
              <c:extLst>
                <c:ext xmlns:c15="http://schemas.microsoft.com/office/drawing/2012/chart" uri="{CE6537A1-D6FC-4f65-9D91-7224C49458BB}"/>
                <c:ext xmlns:c16="http://schemas.microsoft.com/office/drawing/2014/chart" uri="{C3380CC4-5D6E-409C-BE32-E72D297353CC}">
                  <c16:uniqueId val="{00000004-9041-4FB3-AD71-4940558506E6}"/>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나눔스퀘어" panose="020B0600000101010101" pitchFamily="50" charset="-127"/>
                    <a:ea typeface="나눔스퀘어" panose="020B0600000101010101" pitchFamily="50" charset="-127"/>
                    <a:cs typeface="+mn-cs"/>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'ASIA-US'!$Q$26:$S$26</c:f>
              <c:strCache>
                <c:ptCount val="3"/>
                <c:pt idx="0">
                  <c:v>2024</c:v>
                </c:pt>
                <c:pt idx="1">
                  <c:v>2025</c:v>
                </c:pt>
                <c:pt idx="2">
                  <c:v>2026.1~4</c:v>
                </c:pt>
              </c:strCache>
            </c:strRef>
          </c:cat>
          <c:val>
            <c:numRef>
              <c:f>'ASIA-US'!$Q$27:$S$27</c:f>
              <c:numCache>
                <c:formatCode>#,##0</c:formatCode>
                <c:ptCount val="3"/>
                <c:pt idx="0">
                  <c:v>490.37200000000001</c:v>
                </c:pt>
                <c:pt idx="1">
                  <c:v>728.45699999999999</c:v>
                </c:pt>
                <c:pt idx="2">
                  <c:v>394.47037903999944</c:v>
                </c:pt>
              </c:numCache>
            </c:numRef>
          </c:val>
          <c:extLst>
            <c:ext xmlns:c16="http://schemas.microsoft.com/office/drawing/2014/chart" uri="{C3380CC4-5D6E-409C-BE32-E72D297353CC}">
              <c16:uniqueId val="{00000005-9041-4FB3-AD71-4940558506E6}"/>
            </c:ext>
          </c:extLst>
        </c:ser>
        <c:dLbls>
          <c:dLblPos val="ctr"/>
          <c:showLegendKey val="0"/>
          <c:showVal val="1"/>
          <c:showCatName val="0"/>
          <c:showSerName val="0"/>
          <c:showPercent val="0"/>
          <c:showBubbleSize val="0"/>
        </c:dLbls>
        <c:gapWidth val="219"/>
        <c:overlap val="100"/>
        <c:axId val="116445968"/>
        <c:axId val="116443056"/>
      </c:barChart>
      <c:catAx>
        <c:axId val="116445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116443056"/>
        <c:crosses val="autoZero"/>
        <c:auto val="1"/>
        <c:lblAlgn val="ctr"/>
        <c:lblOffset val="100"/>
        <c:noMultiLvlLbl val="0"/>
      </c:catAx>
      <c:valAx>
        <c:axId val="116443056"/>
        <c:scaling>
          <c:orientation val="minMax"/>
          <c:max val="2750"/>
          <c:min val="0"/>
        </c:scaling>
        <c:delete val="0"/>
        <c:axPos val="l"/>
        <c:majorGridlines>
          <c:spPr>
            <a:ln w="9525" cap="flat" cmpd="sng" algn="ctr">
              <a:solidFill>
                <a:schemeClr val="tx1">
                  <a:lumMod val="15000"/>
                  <a:lumOff val="85000"/>
                </a:schemeClr>
              </a:solidFill>
              <a:round/>
            </a:ln>
            <a:effectLst/>
          </c:spPr>
        </c:majorGridlines>
        <c:numFmt formatCode="0_ "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crossAx val="116445968"/>
        <c:crosses val="autoZero"/>
        <c:crossBetween val="between"/>
        <c:majorUnit val="500"/>
      </c:valAx>
      <c:spPr>
        <a:noFill/>
        <a:ln>
          <a:noFill/>
        </a:ln>
        <a:effectLst/>
      </c:spPr>
    </c:plotArea>
    <c:legend>
      <c:legendPos val="b"/>
      <c:layout>
        <c:manualLayout>
          <c:xMode val="edge"/>
          <c:yMode val="edge"/>
          <c:x val="0.17682137743340071"/>
          <c:y val="0.13414385484759106"/>
          <c:w val="0.82317862256659935"/>
          <c:h val="5.9668740220585423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나눔스퀘어" panose="020B0600000101010101" pitchFamily="50" charset="-127"/>
              <a:ea typeface="나눔스퀘어" panose="020B0600000101010101" pitchFamily="50" charset="-127"/>
              <a:cs typeface="+mn-cs"/>
            </a:defRPr>
          </a:pPr>
          <a:endParaRPr lang="ko-KR"/>
        </a:p>
      </c:txPr>
    </c:legend>
    <c:plotVisOnly val="1"/>
    <c:dispBlanksAs val="gap"/>
    <c:showDLblsOverMax val="0"/>
  </c:chart>
  <c:spPr>
    <a:solidFill>
      <a:schemeClr val="bg1"/>
    </a:solidFill>
    <a:ln w="9525" cap="flat" cmpd="sng" algn="ctr">
      <a:noFill/>
      <a:round/>
    </a:ln>
    <a:effectLst/>
  </c:spPr>
  <c:txPr>
    <a:bodyPr/>
    <a:lstStyle/>
    <a:p>
      <a:pPr>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0.19941</cdr:x>
      <cdr:y>0.65184</cdr:y>
    </cdr:from>
    <cdr:to>
      <cdr:x>0.23414</cdr:x>
      <cdr:y>0.68567</cdr:y>
    </cdr:to>
    <cdr:sp macro="" textlink="">
      <cdr:nvSpPr>
        <cdr:cNvPr id="12" name="타원 11"/>
        <cdr:cNvSpPr/>
      </cdr:nvSpPr>
      <cdr:spPr>
        <a:xfrm xmlns:a="http://schemas.openxmlformats.org/drawingml/2006/main">
          <a:off x="478618" y="1514146"/>
          <a:ext cx="83344" cy="78581"/>
        </a:xfrm>
        <a:prstGeom xmlns:a="http://schemas.openxmlformats.org/drawingml/2006/main" prst="ellipse">
          <a:avLst/>
        </a:prstGeom>
        <a:noFill xmlns:a="http://schemas.openxmlformats.org/drawingml/2006/main"/>
        <a:ln xmlns:a="http://schemas.openxmlformats.org/drawingml/2006/main">
          <a:noFill/>
        </a:ln>
        <a:effectLst xmlns:a="http://schemas.openxmlformats.org/drawingml/2006/main"/>
      </cdr:spPr>
      <cdr:txBody>
        <a:bodyPr xmlns:a="http://schemas.openxmlformats.org/drawingml/2006/main" vertOverflow="clip" vert="horz" wrap="square" lIns="91440" tIns="45720" rIns="91440" bIns="45720" numCol="1" rtlCol="0" anchor="ctr" anchorCtr="0" compatLnSpc="1">
          <a:prstTxWarp prst="textNoShape">
            <a:avLst/>
          </a:prstTxWarp>
        </a:bodyPr>
        <a:lstStyle xmlns:a="http://schemas.openxmlformats.org/drawingml/2006/main"/>
        <a:p xmlns:a="http://schemas.openxmlformats.org/drawingml/2006/main">
          <a:endParaRPr lang="ko-K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03827C81-7AF4-92FA-4213-40BB9F65D081}"/>
              </a:ext>
            </a:extLst>
          </p:cNvPr>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15806F76-63A1-5718-DD0A-409628F0DA9F}"/>
              </a:ext>
            </a:extLst>
          </p:cNvPr>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681C968E-A163-4B61-A659-51C231A39B73}" type="datetimeFigureOut">
              <a:rPr lang="ko-KR" altLang="en-US" smtClean="0"/>
              <a:t>2026-07-31</a:t>
            </a:fld>
            <a:endParaRPr lang="ko-KR" altLang="en-US"/>
          </a:p>
        </p:txBody>
      </p:sp>
      <p:sp>
        <p:nvSpPr>
          <p:cNvPr id="4" name="바닥글 개체 틀 3">
            <a:extLst>
              <a:ext uri="{FF2B5EF4-FFF2-40B4-BE49-F238E27FC236}">
                <a16:creationId xmlns:a16="http://schemas.microsoft.com/office/drawing/2014/main" id="{36BEC12F-6F19-2C70-177A-39EFECE23D54}"/>
              </a:ext>
            </a:extLst>
          </p:cNvPr>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51A7B7F3-E987-3B18-8CEC-331B6EF52974}"/>
              </a:ext>
            </a:extLst>
          </p:cNvPr>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FC9678D3-4E8F-490D-9C31-1BC47B162616}" type="slidenum">
              <a:rPr lang="ko-KR" altLang="en-US" smtClean="0"/>
              <a:t>‹#›</a:t>
            </a:fld>
            <a:endParaRPr lang="ko-KR" altLang="en-US"/>
          </a:p>
        </p:txBody>
      </p:sp>
    </p:spTree>
    <p:extLst>
      <p:ext uri="{BB962C8B-B14F-4D97-AF65-F5344CB8AC3E}">
        <p14:creationId xmlns:p14="http://schemas.microsoft.com/office/powerpoint/2010/main" val="27838949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4F5F8936-76A6-494E-A698-3A5329D2D778}" type="datetimeFigureOut">
              <a:rPr lang="ko-KR" altLang="en-US" smtClean="0"/>
              <a:t>2026-07-31</a:t>
            </a:fld>
            <a:endParaRPr lang="ko-KR" altLang="en-US"/>
          </a:p>
        </p:txBody>
      </p:sp>
      <p:sp>
        <p:nvSpPr>
          <p:cNvPr id="4" name="슬라이드 이미지 개체 틀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C1A29F3F-3AF3-4A2D-A216-96D56185334E}" type="slidenum">
              <a:rPr lang="ko-KR" altLang="en-US" smtClean="0"/>
              <a:t>‹#›</a:t>
            </a:fld>
            <a:endParaRPr lang="ko-KR" altLang="en-US"/>
          </a:p>
        </p:txBody>
      </p:sp>
    </p:spTree>
    <p:extLst>
      <p:ext uri="{BB962C8B-B14F-4D97-AF65-F5344CB8AC3E}">
        <p14:creationId xmlns:p14="http://schemas.microsoft.com/office/powerpoint/2010/main" val="244128856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1A29F3F-3AF3-4A2D-A216-96D56185334E}" type="slidenum">
              <a:rPr lang="ko-KR" altLang="en-US" smtClean="0"/>
              <a:t>4</a:t>
            </a:fld>
            <a:endParaRPr lang="ko-KR" altLang="en-US"/>
          </a:p>
        </p:txBody>
      </p:sp>
    </p:spTree>
    <p:extLst>
      <p:ext uri="{BB962C8B-B14F-4D97-AF65-F5344CB8AC3E}">
        <p14:creationId xmlns:p14="http://schemas.microsoft.com/office/powerpoint/2010/main" val="30544634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1A29F3F-3AF3-4A2D-A216-96D56185334E}" type="slidenum">
              <a:rPr lang="ko-KR" altLang="en-US" smtClean="0"/>
              <a:t>6</a:t>
            </a:fld>
            <a:endParaRPr lang="ko-KR" altLang="en-US"/>
          </a:p>
        </p:txBody>
      </p:sp>
    </p:spTree>
    <p:extLst>
      <p:ext uri="{BB962C8B-B14F-4D97-AF65-F5344CB8AC3E}">
        <p14:creationId xmlns:p14="http://schemas.microsoft.com/office/powerpoint/2010/main" val="2986445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1A29F3F-3AF3-4A2D-A216-96D56185334E}" type="slidenum">
              <a:rPr lang="ko-KR" altLang="en-US" smtClean="0"/>
              <a:t>7</a:t>
            </a:fld>
            <a:endParaRPr lang="ko-KR" altLang="en-US"/>
          </a:p>
        </p:txBody>
      </p:sp>
    </p:spTree>
    <p:extLst>
      <p:ext uri="{BB962C8B-B14F-4D97-AF65-F5344CB8AC3E}">
        <p14:creationId xmlns:p14="http://schemas.microsoft.com/office/powerpoint/2010/main" val="1098973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1A29F3F-3AF3-4A2D-A216-96D56185334E}" type="slidenum">
              <a:rPr lang="ko-KR" altLang="en-US" smtClean="0"/>
              <a:t>8</a:t>
            </a:fld>
            <a:endParaRPr lang="ko-KR" altLang="en-US"/>
          </a:p>
        </p:txBody>
      </p:sp>
    </p:spTree>
    <p:extLst>
      <p:ext uri="{BB962C8B-B14F-4D97-AF65-F5344CB8AC3E}">
        <p14:creationId xmlns:p14="http://schemas.microsoft.com/office/powerpoint/2010/main" val="39556580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1A29F3F-3AF3-4A2D-A216-96D56185334E}" type="slidenum">
              <a:rPr lang="ko-KR" altLang="en-US" smtClean="0"/>
              <a:t>9</a:t>
            </a:fld>
            <a:endParaRPr lang="ko-KR" altLang="en-US"/>
          </a:p>
        </p:txBody>
      </p:sp>
    </p:spTree>
    <p:extLst>
      <p:ext uri="{BB962C8B-B14F-4D97-AF65-F5344CB8AC3E}">
        <p14:creationId xmlns:p14="http://schemas.microsoft.com/office/powerpoint/2010/main" val="4245477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1A29F3F-3AF3-4A2D-A216-96D56185334E}" type="slidenum">
              <a:rPr lang="ko-KR" altLang="en-US" smtClean="0"/>
              <a:t>10</a:t>
            </a:fld>
            <a:endParaRPr lang="ko-KR" altLang="en-US"/>
          </a:p>
        </p:txBody>
      </p:sp>
    </p:spTree>
    <p:extLst>
      <p:ext uri="{BB962C8B-B14F-4D97-AF65-F5344CB8AC3E}">
        <p14:creationId xmlns:p14="http://schemas.microsoft.com/office/powerpoint/2010/main" val="2658954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baseline="0" dirty="0" smtClean="0"/>
          </a:p>
        </p:txBody>
      </p:sp>
      <p:sp>
        <p:nvSpPr>
          <p:cNvPr id="4" name="슬라이드 번호 개체 틀 3"/>
          <p:cNvSpPr>
            <a:spLocks noGrp="1"/>
          </p:cNvSpPr>
          <p:nvPr>
            <p:ph type="sldNum" sz="quarter" idx="10"/>
          </p:nvPr>
        </p:nvSpPr>
        <p:spPr/>
        <p:txBody>
          <a:bodyPr/>
          <a:lstStyle/>
          <a:p>
            <a:fld id="{C1A29F3F-3AF3-4A2D-A216-96D56185334E}" type="slidenum">
              <a:rPr lang="ko-KR" altLang="en-US" smtClean="0"/>
              <a:t>11</a:t>
            </a:fld>
            <a:endParaRPr lang="ko-KR" altLang="en-US"/>
          </a:p>
        </p:txBody>
      </p:sp>
    </p:spTree>
    <p:extLst>
      <p:ext uri="{BB962C8B-B14F-4D97-AF65-F5344CB8AC3E}">
        <p14:creationId xmlns:p14="http://schemas.microsoft.com/office/powerpoint/2010/main" val="16822133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1A29F3F-3AF3-4A2D-A216-96D56185334E}" type="slidenum">
              <a:rPr lang="ko-KR" altLang="en-US" smtClean="0"/>
              <a:t>13</a:t>
            </a:fld>
            <a:endParaRPr lang="ko-KR" altLang="en-US"/>
          </a:p>
        </p:txBody>
      </p:sp>
    </p:spTree>
    <p:extLst>
      <p:ext uri="{BB962C8B-B14F-4D97-AF65-F5344CB8AC3E}">
        <p14:creationId xmlns:p14="http://schemas.microsoft.com/office/powerpoint/2010/main" val="14477635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1A29F3F-3AF3-4A2D-A216-96D56185334E}" type="slidenum">
              <a:rPr lang="ko-KR" altLang="en-US" smtClean="0"/>
              <a:t>14</a:t>
            </a:fld>
            <a:endParaRPr lang="ko-KR" altLang="en-US"/>
          </a:p>
        </p:txBody>
      </p:sp>
    </p:spTree>
    <p:extLst>
      <p:ext uri="{BB962C8B-B14F-4D97-AF65-F5344CB8AC3E}">
        <p14:creationId xmlns:p14="http://schemas.microsoft.com/office/powerpoint/2010/main" val="26430061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1A29F3F-3AF3-4A2D-A216-96D56185334E}" type="slidenum">
              <a:rPr lang="ko-KR" altLang="en-US" smtClean="0"/>
              <a:t>15</a:t>
            </a:fld>
            <a:endParaRPr lang="ko-KR" altLang="en-US"/>
          </a:p>
        </p:txBody>
      </p:sp>
    </p:spTree>
    <p:extLst>
      <p:ext uri="{BB962C8B-B14F-4D97-AF65-F5344CB8AC3E}">
        <p14:creationId xmlns:p14="http://schemas.microsoft.com/office/powerpoint/2010/main" val="2418927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1A29F3F-3AF3-4A2D-A216-96D56185334E}" type="slidenum">
              <a:rPr lang="ko-KR" altLang="en-US" smtClean="0"/>
              <a:t>16</a:t>
            </a:fld>
            <a:endParaRPr lang="ko-KR" altLang="en-US"/>
          </a:p>
        </p:txBody>
      </p:sp>
    </p:spTree>
    <p:extLst>
      <p:ext uri="{BB962C8B-B14F-4D97-AF65-F5344CB8AC3E}">
        <p14:creationId xmlns:p14="http://schemas.microsoft.com/office/powerpoint/2010/main" val="23511493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1A29F3F-3AF3-4A2D-A216-96D56185334E}" type="slidenum">
              <a:rPr lang="ko-KR" altLang="en-US" smtClean="0"/>
              <a:t>17</a:t>
            </a:fld>
            <a:endParaRPr lang="ko-KR" altLang="en-US"/>
          </a:p>
        </p:txBody>
      </p:sp>
    </p:spTree>
    <p:extLst>
      <p:ext uri="{BB962C8B-B14F-4D97-AF65-F5344CB8AC3E}">
        <p14:creationId xmlns:p14="http://schemas.microsoft.com/office/powerpoint/2010/main" val="1066359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1A29F3F-3AF3-4A2D-A216-96D56185334E}" type="slidenum">
              <a:rPr lang="ko-KR" altLang="en-US" smtClean="0"/>
              <a:t>18</a:t>
            </a:fld>
            <a:endParaRPr lang="ko-KR" altLang="en-US"/>
          </a:p>
        </p:txBody>
      </p:sp>
    </p:spTree>
    <p:extLst>
      <p:ext uri="{BB962C8B-B14F-4D97-AF65-F5344CB8AC3E}">
        <p14:creationId xmlns:p14="http://schemas.microsoft.com/office/powerpoint/2010/main" val="3516309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1A29F3F-3AF3-4A2D-A216-96D56185334E}" type="slidenum">
              <a:rPr lang="ko-KR" altLang="en-US" smtClean="0"/>
              <a:t>19</a:t>
            </a:fld>
            <a:endParaRPr lang="ko-KR" altLang="en-US"/>
          </a:p>
        </p:txBody>
      </p:sp>
    </p:spTree>
    <p:extLst>
      <p:ext uri="{BB962C8B-B14F-4D97-AF65-F5344CB8AC3E}">
        <p14:creationId xmlns:p14="http://schemas.microsoft.com/office/powerpoint/2010/main" val="32878490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1A29F3F-3AF3-4A2D-A216-96D56185334E}" type="slidenum">
              <a:rPr lang="ko-KR" altLang="en-US" smtClean="0"/>
              <a:t>20</a:t>
            </a:fld>
            <a:endParaRPr lang="ko-KR" altLang="en-US"/>
          </a:p>
        </p:txBody>
      </p:sp>
    </p:spTree>
    <p:extLst>
      <p:ext uri="{BB962C8B-B14F-4D97-AF65-F5344CB8AC3E}">
        <p14:creationId xmlns:p14="http://schemas.microsoft.com/office/powerpoint/2010/main" val="39232003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smtClean="0"/>
          </a:p>
        </p:txBody>
      </p:sp>
      <p:sp>
        <p:nvSpPr>
          <p:cNvPr id="4" name="슬라이드 번호 개체 틀 3"/>
          <p:cNvSpPr>
            <a:spLocks noGrp="1"/>
          </p:cNvSpPr>
          <p:nvPr>
            <p:ph type="sldNum" sz="quarter" idx="10"/>
          </p:nvPr>
        </p:nvSpPr>
        <p:spPr/>
        <p:txBody>
          <a:bodyPr/>
          <a:lstStyle/>
          <a:p>
            <a:fld id="{C1A29F3F-3AF3-4A2D-A216-96D56185334E}" type="slidenum">
              <a:rPr lang="ko-KR" altLang="en-US" smtClean="0"/>
              <a:t>21</a:t>
            </a:fld>
            <a:endParaRPr lang="ko-KR" altLang="en-US"/>
          </a:p>
        </p:txBody>
      </p:sp>
    </p:spTree>
    <p:extLst>
      <p:ext uri="{BB962C8B-B14F-4D97-AF65-F5344CB8AC3E}">
        <p14:creationId xmlns:p14="http://schemas.microsoft.com/office/powerpoint/2010/main" val="39089231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1A29F3F-3AF3-4A2D-A216-96D56185334E}" type="slidenum">
              <a:rPr lang="ko-KR" altLang="en-US" smtClean="0"/>
              <a:t>22</a:t>
            </a:fld>
            <a:endParaRPr lang="ko-KR" altLang="en-US"/>
          </a:p>
        </p:txBody>
      </p:sp>
    </p:spTree>
    <p:extLst>
      <p:ext uri="{BB962C8B-B14F-4D97-AF65-F5344CB8AC3E}">
        <p14:creationId xmlns:p14="http://schemas.microsoft.com/office/powerpoint/2010/main" val="42142587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baseline="0" dirty="0" smtClean="0"/>
          </a:p>
        </p:txBody>
      </p:sp>
      <p:sp>
        <p:nvSpPr>
          <p:cNvPr id="4" name="슬라이드 번호 개체 틀 3"/>
          <p:cNvSpPr>
            <a:spLocks noGrp="1"/>
          </p:cNvSpPr>
          <p:nvPr>
            <p:ph type="sldNum" sz="quarter" idx="10"/>
          </p:nvPr>
        </p:nvSpPr>
        <p:spPr/>
        <p:txBody>
          <a:bodyPr/>
          <a:lstStyle/>
          <a:p>
            <a:fld id="{C1A29F3F-3AF3-4A2D-A216-96D56185334E}" type="slidenum">
              <a:rPr lang="ko-KR" altLang="en-US" smtClean="0"/>
              <a:t>23</a:t>
            </a:fld>
            <a:endParaRPr lang="ko-KR" altLang="en-US"/>
          </a:p>
        </p:txBody>
      </p:sp>
    </p:spTree>
    <p:extLst>
      <p:ext uri="{BB962C8B-B14F-4D97-AF65-F5344CB8AC3E}">
        <p14:creationId xmlns:p14="http://schemas.microsoft.com/office/powerpoint/2010/main" val="28765644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1A29F3F-3AF3-4A2D-A216-96D56185334E}" type="slidenum">
              <a:rPr lang="ko-KR" altLang="en-US" smtClean="0"/>
              <a:t>24</a:t>
            </a:fld>
            <a:endParaRPr lang="ko-KR" altLang="en-US"/>
          </a:p>
        </p:txBody>
      </p:sp>
    </p:spTree>
    <p:extLst>
      <p:ext uri="{BB962C8B-B14F-4D97-AF65-F5344CB8AC3E}">
        <p14:creationId xmlns:p14="http://schemas.microsoft.com/office/powerpoint/2010/main" val="22459878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923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아젠다">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9745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소제목">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6B3FDB41-C469-A54A-8620-8343FB38C4E3}"/>
              </a:ext>
            </a:extLst>
          </p:cNvPr>
          <p:cNvPicPr>
            <a:picLocks noChangeAspect="1"/>
          </p:cNvPicPr>
          <p:nvPr userDrawn="1"/>
        </p:nvPicPr>
        <p:blipFill>
          <a:blip r:embed="rId3"/>
          <a:stretch>
            <a:fillRect/>
          </a:stretch>
        </p:blipFill>
        <p:spPr>
          <a:xfrm>
            <a:off x="890629" y="6219173"/>
            <a:ext cx="3089078" cy="320724"/>
          </a:xfrm>
          <a:prstGeom prst="rect">
            <a:avLst/>
          </a:prstGeom>
        </p:spPr>
      </p:pic>
    </p:spTree>
    <p:extLst>
      <p:ext uri="{BB962C8B-B14F-4D97-AF65-F5344CB8AC3E}">
        <p14:creationId xmlns:p14="http://schemas.microsoft.com/office/powerpoint/2010/main" val="2949341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내용">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슬라이드 번호 개체 틀 5">
            <a:extLst>
              <a:ext uri="{FF2B5EF4-FFF2-40B4-BE49-F238E27FC236}">
                <a16:creationId xmlns:a16="http://schemas.microsoft.com/office/drawing/2014/main" id="{B3D6CF91-B70B-9340-94D8-E246287FDA7F}"/>
              </a:ext>
            </a:extLst>
          </p:cNvPr>
          <p:cNvSpPr txBox="1">
            <a:spLocks/>
          </p:cNvSpPr>
          <p:nvPr userDrawn="1"/>
        </p:nvSpPr>
        <p:spPr>
          <a:xfrm>
            <a:off x="4922360" y="6435677"/>
            <a:ext cx="2347285" cy="326455"/>
          </a:xfrm>
          <a:prstGeom prst="rect">
            <a:avLst/>
          </a:prstGeom>
        </p:spPr>
        <p:txBody>
          <a:bodyPr lIns="162531" tIns="81264" rIns="162531" bIns="81264" anchor="ctr"/>
          <a:lstStyle>
            <a:lvl1pPr algn="r">
              <a:defRPr sz="1200">
                <a:solidFill>
                  <a:schemeClr val="tx1">
                    <a:tint val="75000"/>
                  </a:schemeClr>
                </a:solidFill>
              </a:defRPr>
            </a:lvl1pPr>
          </a:lstStyle>
          <a:p>
            <a:pPr algn="ctr" defTabSz="1219048">
              <a:defRPr/>
            </a:pPr>
            <a:fld id="{4E2E905B-828D-4F20-A1BB-9606BA51BD13}" type="slidenum">
              <a:rPr lang="ko-KR" altLang="en-US" sz="1200" b="1" smtClean="0">
                <a:ln>
                  <a:solidFill>
                    <a:prstClr val="white">
                      <a:alpha val="0"/>
                    </a:prstClr>
                  </a:solidFill>
                </a:ln>
                <a:solidFill>
                  <a:schemeClr val="bg1">
                    <a:alpha val="70000"/>
                  </a:schemeClr>
                </a:solidFill>
                <a:latin typeface="나눔스퀘어" panose="020B0600000101010101" pitchFamily="50" charset="-127"/>
                <a:ea typeface="나눔스퀘어 Bold" panose="020B0600000101010101" pitchFamily="50" charset="-127"/>
                <a:cs typeface="Arial" panose="020B0604020202020204" pitchFamily="34" charset="0"/>
              </a:rPr>
              <a:pPr algn="ctr" defTabSz="1219048">
                <a:defRPr/>
              </a:pPr>
              <a:t>‹#›</a:t>
            </a:fld>
            <a:r>
              <a:rPr lang="ko-KR" altLang="en-US" sz="867" dirty="0">
                <a:ln>
                  <a:solidFill>
                    <a:prstClr val="white">
                      <a:alpha val="0"/>
                    </a:prstClr>
                  </a:solidFill>
                </a:ln>
                <a:solidFill>
                  <a:schemeClr val="bg1">
                    <a:alpha val="70000"/>
                  </a:schemeClr>
                </a:solidFill>
                <a:latin typeface="나눔스퀘어" panose="020B0600000101010101" pitchFamily="50" charset="-127"/>
                <a:ea typeface="나눔스퀘어" panose="020B0600000101010101" pitchFamily="50" charset="-127"/>
                <a:cs typeface="Arial" panose="020B0604020202020204" pitchFamily="34" charset="0"/>
              </a:rPr>
              <a:t> </a:t>
            </a:r>
            <a:r>
              <a:rPr lang="en-US" altLang="ko-KR" sz="900" dirty="0">
                <a:ln>
                  <a:solidFill>
                    <a:prstClr val="white">
                      <a:alpha val="0"/>
                    </a:prstClr>
                  </a:solidFill>
                </a:ln>
                <a:solidFill>
                  <a:schemeClr val="bg1">
                    <a:alpha val="70000"/>
                  </a:schemeClr>
                </a:solidFill>
                <a:latin typeface="나눔스퀘어" panose="020B0600000101010101" pitchFamily="50" charset="-127"/>
                <a:ea typeface="나눔스퀘어" panose="020B0600000101010101" pitchFamily="50" charset="-127"/>
                <a:cs typeface="Arial" panose="020B0604020202020204" pitchFamily="34" charset="0"/>
              </a:rPr>
              <a:t>/ 30</a:t>
            </a:r>
            <a:endParaRPr lang="ko-KR" altLang="en-US" sz="900" dirty="0">
              <a:ln>
                <a:solidFill>
                  <a:prstClr val="white">
                    <a:alpha val="0"/>
                  </a:prstClr>
                </a:solidFill>
              </a:ln>
              <a:solidFill>
                <a:schemeClr val="bg1">
                  <a:alpha val="70000"/>
                </a:schemeClr>
              </a:solidFill>
              <a:latin typeface="나눔스퀘어" panose="020B0600000101010101" pitchFamily="50" charset="-127"/>
              <a:ea typeface="나눔스퀘어" panose="020B0600000101010101" pitchFamily="50" charset="-127"/>
              <a:cs typeface="Arial" panose="020B0604020202020204" pitchFamily="34" charset="0"/>
            </a:endParaRPr>
          </a:p>
        </p:txBody>
      </p:sp>
      <p:sp>
        <p:nvSpPr>
          <p:cNvPr id="10" name="Text Box 9">
            <a:extLst>
              <a:ext uri="{FF2B5EF4-FFF2-40B4-BE49-F238E27FC236}">
                <a16:creationId xmlns:a16="http://schemas.microsoft.com/office/drawing/2014/main" id="{B044F2E7-E1ED-8841-9680-76F39146E9A1}"/>
              </a:ext>
            </a:extLst>
          </p:cNvPr>
          <p:cNvSpPr txBox="1">
            <a:spLocks noChangeArrowheads="1"/>
          </p:cNvSpPr>
          <p:nvPr userDrawn="1"/>
        </p:nvSpPr>
        <p:spPr bwMode="auto">
          <a:xfrm>
            <a:off x="7959831" y="6537349"/>
            <a:ext cx="3713143" cy="123111"/>
          </a:xfrm>
          <a:prstGeom prst="rect">
            <a:avLst/>
          </a:prstGeom>
          <a:noFill/>
          <a:ln w="9525">
            <a:noFill/>
            <a:miter lim="800000"/>
            <a:headEnd/>
            <a:tailEnd/>
          </a:ln>
        </p:spPr>
        <p:txBody>
          <a:bodyPr wrap="square" lIns="0" tIns="0" rIns="0" bIns="0" anchor="ctr" anchorCtr="0">
            <a:spAutoFit/>
          </a:bodyPr>
          <a:lstStyle/>
          <a:p>
            <a:pPr marL="0" marR="0" lvl="0" indent="0" algn="r" defTabSz="914273" rtl="0" eaLnBrk="0" fontAlgn="base" latinLnBrk="1" hangingPunct="0">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solidFill>
                    <a:prstClr val="white">
                      <a:alpha val="0"/>
                    </a:prstClr>
                  </a:solidFill>
                </a:ln>
                <a:solidFill>
                  <a:schemeClr val="bg1">
                    <a:alpha val="70000"/>
                  </a:schemeClr>
                </a:solidFill>
                <a:effectLst/>
                <a:uLnTx/>
                <a:uFillTx/>
                <a:latin typeface="나눔스퀘어" panose="020B0600000101010101" pitchFamily="50" charset="-127"/>
                <a:ea typeface="나눔스퀘어" panose="020B0600000101010101" pitchFamily="50" charset="-127"/>
                <a:cs typeface="Arial" panose="020B0604020202020204" pitchFamily="34" charset="0"/>
              </a:rPr>
              <a:t>Copyright 2025. Samsung SDS Co., Ltd. All rights reserved.</a:t>
            </a:r>
          </a:p>
        </p:txBody>
      </p:sp>
    </p:spTree>
    <p:extLst>
      <p:ext uri="{BB962C8B-B14F-4D97-AF65-F5344CB8AC3E}">
        <p14:creationId xmlns:p14="http://schemas.microsoft.com/office/powerpoint/2010/main" val="24187716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내용">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슬라이드 번호 개체 틀 5">
            <a:extLst>
              <a:ext uri="{FF2B5EF4-FFF2-40B4-BE49-F238E27FC236}">
                <a16:creationId xmlns:a16="http://schemas.microsoft.com/office/drawing/2014/main" id="{B3D6CF91-B70B-9340-94D8-E246287FDA7F}"/>
              </a:ext>
            </a:extLst>
          </p:cNvPr>
          <p:cNvSpPr txBox="1">
            <a:spLocks/>
          </p:cNvSpPr>
          <p:nvPr userDrawn="1"/>
        </p:nvSpPr>
        <p:spPr>
          <a:xfrm>
            <a:off x="4922360" y="6435677"/>
            <a:ext cx="2347285" cy="326455"/>
          </a:xfrm>
          <a:prstGeom prst="rect">
            <a:avLst/>
          </a:prstGeom>
        </p:spPr>
        <p:txBody>
          <a:bodyPr lIns="162531" tIns="81264" rIns="162531" bIns="81264" anchor="ctr"/>
          <a:lstStyle>
            <a:lvl1pPr algn="r">
              <a:defRPr sz="1200">
                <a:solidFill>
                  <a:schemeClr val="tx1">
                    <a:tint val="75000"/>
                  </a:schemeClr>
                </a:solidFill>
              </a:defRPr>
            </a:lvl1pPr>
          </a:lstStyle>
          <a:p>
            <a:pPr algn="ctr" defTabSz="1219048">
              <a:defRPr/>
            </a:pPr>
            <a:fld id="{4E2E905B-828D-4F20-A1BB-9606BA51BD13}" type="slidenum">
              <a:rPr lang="ko-KR" altLang="en-US" sz="1200" b="1" smtClean="0">
                <a:ln>
                  <a:solidFill>
                    <a:prstClr val="white">
                      <a:alpha val="0"/>
                    </a:prstClr>
                  </a:solidFill>
                </a:ln>
                <a:solidFill>
                  <a:schemeClr val="bg1">
                    <a:alpha val="70000"/>
                  </a:schemeClr>
                </a:solidFill>
                <a:latin typeface="나눔스퀘어" panose="020B0600000101010101" pitchFamily="50" charset="-127"/>
                <a:ea typeface="나눔스퀘어 Bold" panose="020B0600000101010101" pitchFamily="50" charset="-127"/>
                <a:cs typeface="Arial" panose="020B0604020202020204" pitchFamily="34" charset="0"/>
              </a:rPr>
              <a:pPr algn="ctr" defTabSz="1219048">
                <a:defRPr/>
              </a:pPr>
              <a:t>‹#›</a:t>
            </a:fld>
            <a:r>
              <a:rPr lang="ko-KR" altLang="en-US" sz="867" dirty="0">
                <a:ln>
                  <a:solidFill>
                    <a:prstClr val="white">
                      <a:alpha val="0"/>
                    </a:prstClr>
                  </a:solidFill>
                </a:ln>
                <a:solidFill>
                  <a:schemeClr val="bg1">
                    <a:alpha val="70000"/>
                  </a:schemeClr>
                </a:solidFill>
                <a:latin typeface="나눔스퀘어" panose="020B0600000101010101" pitchFamily="50" charset="-127"/>
                <a:ea typeface="나눔스퀘어" panose="020B0600000101010101" pitchFamily="50" charset="-127"/>
                <a:cs typeface="Arial" panose="020B0604020202020204" pitchFamily="34" charset="0"/>
              </a:rPr>
              <a:t> </a:t>
            </a:r>
            <a:r>
              <a:rPr lang="en-US" altLang="ko-KR" sz="900" dirty="0">
                <a:ln>
                  <a:solidFill>
                    <a:prstClr val="white">
                      <a:alpha val="0"/>
                    </a:prstClr>
                  </a:solidFill>
                </a:ln>
                <a:solidFill>
                  <a:schemeClr val="bg1">
                    <a:alpha val="70000"/>
                  </a:schemeClr>
                </a:solidFill>
                <a:latin typeface="나눔스퀘어" panose="020B0600000101010101" pitchFamily="50" charset="-127"/>
                <a:ea typeface="나눔스퀘어" panose="020B0600000101010101" pitchFamily="50" charset="-127"/>
                <a:cs typeface="Arial" panose="020B0604020202020204" pitchFamily="34" charset="0"/>
              </a:rPr>
              <a:t>/ 30</a:t>
            </a:r>
            <a:endParaRPr lang="ko-KR" altLang="en-US" sz="900" dirty="0">
              <a:ln>
                <a:solidFill>
                  <a:prstClr val="white">
                    <a:alpha val="0"/>
                  </a:prstClr>
                </a:solidFill>
              </a:ln>
              <a:solidFill>
                <a:schemeClr val="bg1">
                  <a:alpha val="70000"/>
                </a:schemeClr>
              </a:solidFill>
              <a:latin typeface="나눔스퀘어" panose="020B0600000101010101" pitchFamily="50" charset="-127"/>
              <a:ea typeface="나눔스퀘어" panose="020B0600000101010101" pitchFamily="50" charset="-127"/>
              <a:cs typeface="Arial" panose="020B0604020202020204" pitchFamily="34" charset="0"/>
            </a:endParaRPr>
          </a:p>
        </p:txBody>
      </p:sp>
      <p:sp>
        <p:nvSpPr>
          <p:cNvPr id="10" name="Text Box 9">
            <a:extLst>
              <a:ext uri="{FF2B5EF4-FFF2-40B4-BE49-F238E27FC236}">
                <a16:creationId xmlns:a16="http://schemas.microsoft.com/office/drawing/2014/main" id="{B044F2E7-E1ED-8841-9680-76F39146E9A1}"/>
              </a:ext>
            </a:extLst>
          </p:cNvPr>
          <p:cNvSpPr txBox="1">
            <a:spLocks noChangeArrowheads="1"/>
          </p:cNvSpPr>
          <p:nvPr userDrawn="1"/>
        </p:nvSpPr>
        <p:spPr bwMode="auto">
          <a:xfrm>
            <a:off x="7959831" y="6537349"/>
            <a:ext cx="3713143" cy="123111"/>
          </a:xfrm>
          <a:prstGeom prst="rect">
            <a:avLst/>
          </a:prstGeom>
          <a:noFill/>
          <a:ln w="9525">
            <a:noFill/>
            <a:miter lim="800000"/>
            <a:headEnd/>
            <a:tailEnd/>
          </a:ln>
        </p:spPr>
        <p:txBody>
          <a:bodyPr wrap="square" lIns="0" tIns="0" rIns="0" bIns="0" anchor="ctr" anchorCtr="0">
            <a:spAutoFit/>
          </a:bodyPr>
          <a:lstStyle/>
          <a:p>
            <a:pPr marL="0" marR="0" lvl="0" indent="0" algn="r" defTabSz="914273" rtl="0" eaLnBrk="0" fontAlgn="base" latinLnBrk="1" hangingPunct="0">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solidFill>
                    <a:prstClr val="white">
                      <a:alpha val="0"/>
                    </a:prstClr>
                  </a:solidFill>
                </a:ln>
                <a:solidFill>
                  <a:schemeClr val="bg1">
                    <a:alpha val="70000"/>
                  </a:schemeClr>
                </a:solidFill>
                <a:effectLst/>
                <a:uLnTx/>
                <a:uFillTx/>
                <a:latin typeface="나눔스퀘어" panose="020B0600000101010101" pitchFamily="50" charset="-127"/>
                <a:ea typeface="나눔스퀘어" panose="020B0600000101010101" pitchFamily="50" charset="-127"/>
                <a:cs typeface="Arial" panose="020B0604020202020204" pitchFamily="34" charset="0"/>
              </a:rPr>
              <a:t>Copyright 2025. Samsung SDS Co., Ltd. All rights reserved.</a:t>
            </a:r>
          </a:p>
        </p:txBody>
      </p:sp>
    </p:spTree>
    <p:extLst>
      <p:ext uri="{BB962C8B-B14F-4D97-AF65-F5344CB8AC3E}">
        <p14:creationId xmlns:p14="http://schemas.microsoft.com/office/powerpoint/2010/main" val="36855843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마무리">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67FDA3BE-CE3D-8441-BBCA-50E11F23749C}"/>
              </a:ext>
            </a:extLst>
          </p:cNvPr>
          <p:cNvSpPr txBox="1"/>
          <p:nvPr userDrawn="1"/>
        </p:nvSpPr>
        <p:spPr>
          <a:xfrm>
            <a:off x="2849202" y="2726798"/>
            <a:ext cx="6493597" cy="830063"/>
          </a:xfrm>
          <a:prstGeom prst="rect">
            <a:avLst/>
          </a:prstGeom>
          <a:noFill/>
        </p:spPr>
        <p:txBody>
          <a:bodyPr wrap="none" lIns="0" tIns="0" rIns="0" bIns="0" rtlCol="0" anchor="ctr" anchorCtr="0">
            <a:noAutofit/>
          </a:bodyPr>
          <a:lstStyle/>
          <a:p>
            <a:pPr marL="0" marR="0" lvl="0" indent="0" algn="ctr" defTabSz="685749" rtl="0" eaLnBrk="1" fontAlgn="auto" latinLnBrk="1" hangingPunct="1">
              <a:lnSpc>
                <a:spcPct val="100000"/>
              </a:lnSpc>
              <a:spcBef>
                <a:spcPts val="0"/>
              </a:spcBef>
              <a:spcAft>
                <a:spcPts val="0"/>
              </a:spcAft>
              <a:buClrTx/>
              <a:buSzTx/>
              <a:buFontTx/>
              <a:buNone/>
              <a:tabLst/>
              <a:defRPr/>
            </a:pPr>
            <a:r>
              <a:rPr kumimoji="0" lang="en-US" altLang="ko-KR" sz="6000" b="0" i="0" u="none" strike="noStrike" kern="1200" cap="none" spc="0" normalizeH="0" baseline="0" noProof="0" dirty="0">
                <a:ln>
                  <a:solidFill>
                    <a:prstClr val="white">
                      <a:alpha val="0"/>
                    </a:prstClr>
                  </a:solidFill>
                </a:ln>
                <a:solidFill>
                  <a:prstClr val="white"/>
                </a:solidFill>
                <a:effectLst/>
                <a:uLnTx/>
                <a:uFillTx/>
                <a:latin typeface="나눔스퀘어 ExtraBold" panose="020B0600000101010101" pitchFamily="50" charset="-127"/>
                <a:ea typeface="나눔스퀘어 ExtraBold" panose="020B0600000101010101" pitchFamily="50" charset="-127"/>
                <a:cs typeface="나눔스퀘어" panose="00000700000000000000" pitchFamily="2" charset="0"/>
              </a:rPr>
              <a:t>Thank you</a:t>
            </a:r>
          </a:p>
        </p:txBody>
      </p:sp>
    </p:spTree>
    <p:extLst>
      <p:ext uri="{BB962C8B-B14F-4D97-AF65-F5344CB8AC3E}">
        <p14:creationId xmlns:p14="http://schemas.microsoft.com/office/powerpoint/2010/main" val="2390096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로고">
    <p:bg>
      <p:bgPr>
        <a:solidFill>
          <a:schemeClr val="tx1"/>
        </a:solidFill>
        <a:effectLst/>
      </p:bgPr>
    </p:bg>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A7EDCA38-0C1B-B94C-B732-7BB3586C56D8}"/>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455796" y="2947881"/>
            <a:ext cx="3273742" cy="491061"/>
          </a:xfrm>
          <a:prstGeom prst="rect">
            <a:avLst/>
          </a:prstGeom>
        </p:spPr>
      </p:pic>
      <p:sp>
        <p:nvSpPr>
          <p:cNvPr id="4" name="TextBox 3">
            <a:extLst>
              <a:ext uri="{FF2B5EF4-FFF2-40B4-BE49-F238E27FC236}">
                <a16:creationId xmlns:a16="http://schemas.microsoft.com/office/drawing/2014/main" id="{16B4CAE7-193C-7847-BC45-EBD7691B41AD}"/>
              </a:ext>
            </a:extLst>
          </p:cNvPr>
          <p:cNvSpPr txBox="1"/>
          <p:nvPr userDrawn="1"/>
        </p:nvSpPr>
        <p:spPr>
          <a:xfrm>
            <a:off x="5044079" y="3607971"/>
            <a:ext cx="2097177" cy="307777"/>
          </a:xfrm>
          <a:prstGeom prst="rect">
            <a:avLst/>
          </a:prstGeom>
          <a:noFill/>
        </p:spPr>
        <p:txBody>
          <a:bodyPr wrap="none" rtlCol="0">
            <a:spAutoFit/>
          </a:bodyPr>
          <a:lstStyle/>
          <a:p>
            <a:pPr algn="l"/>
            <a:r>
              <a:rPr lang="en-US" altLang="ko-KR" sz="1400" dirty="0">
                <a:solidFill>
                  <a:prstClr val="white"/>
                </a:solidFill>
                <a:latin typeface="나눔스퀘어 Bold" panose="020B0600000101010101" pitchFamily="50" charset="-127"/>
                <a:ea typeface="나눔스퀘어 Bold" panose="020B0600000101010101" pitchFamily="50" charset="-127"/>
              </a:rPr>
              <a:t>www.cello-square.com</a:t>
            </a:r>
          </a:p>
        </p:txBody>
      </p:sp>
      <p:pic>
        <p:nvPicPr>
          <p:cNvPr id="5" name="그림 4">
            <a:extLst>
              <a:ext uri="{FF2B5EF4-FFF2-40B4-BE49-F238E27FC236}">
                <a16:creationId xmlns:a16="http://schemas.microsoft.com/office/drawing/2014/main" id="{678C124E-7B38-0742-9880-21C2594F2B79}"/>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021634" y="6100399"/>
            <a:ext cx="2142067" cy="257048"/>
          </a:xfrm>
          <a:prstGeom prst="rect">
            <a:avLst/>
          </a:prstGeom>
        </p:spPr>
      </p:pic>
    </p:spTree>
    <p:extLst>
      <p:ext uri="{BB962C8B-B14F-4D97-AF65-F5344CB8AC3E}">
        <p14:creationId xmlns:p14="http://schemas.microsoft.com/office/powerpoint/2010/main" val="40288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atin typeface="나눔스퀘어" panose="020B0600000101010101" pitchFamily="50" charset="-127"/>
                <a:ea typeface="나눔스퀘어" panose="020B0600000101010101" pitchFamily="50" charset="-127"/>
              </a:defRPr>
            </a:lvl1pPr>
          </a:lstStyle>
          <a:p>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atin typeface="나눔스퀘어" panose="020B0600000101010101" pitchFamily="50" charset="-127"/>
                <a:ea typeface="나눔스퀘어" panose="020B0600000101010101" pitchFamily="50" charset="-12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dirty="0"/>
              <a:t>클릭하여 마스터 부제목 스타일 편집</a:t>
            </a:r>
          </a:p>
        </p:txBody>
      </p:sp>
      <p:sp>
        <p:nvSpPr>
          <p:cNvPr id="4" name="날짜 개체 틀 3"/>
          <p:cNvSpPr>
            <a:spLocks noGrp="1"/>
          </p:cNvSpPr>
          <p:nvPr>
            <p:ph type="dt" sz="half" idx="10"/>
          </p:nvPr>
        </p:nvSpPr>
        <p:spPr/>
        <p:txBody>
          <a:bodyPr/>
          <a:lstStyle>
            <a:lvl1pPr>
              <a:defRPr>
                <a:latin typeface="나눔스퀘어" panose="020B0600000101010101" pitchFamily="50" charset="-127"/>
                <a:ea typeface="나눔스퀘어" panose="020B0600000101010101" pitchFamily="50" charset="-127"/>
              </a:defRPr>
            </a:lvl1pPr>
          </a:lstStyle>
          <a:p>
            <a:fld id="{156EE83B-BC46-4690-B467-8E477EC90623}" type="datetimeFigureOut">
              <a:rPr lang="ko-KR" altLang="en-US" smtClean="0"/>
              <a:pPr/>
              <a:t>2026-07-31</a:t>
            </a:fld>
            <a:endParaRPr lang="ko-KR" altLang="en-US"/>
          </a:p>
        </p:txBody>
      </p:sp>
      <p:sp>
        <p:nvSpPr>
          <p:cNvPr id="5" name="바닥글 개체 틀 4"/>
          <p:cNvSpPr>
            <a:spLocks noGrp="1"/>
          </p:cNvSpPr>
          <p:nvPr>
            <p:ph type="ftr" sz="quarter" idx="11"/>
          </p:nvPr>
        </p:nvSpPr>
        <p:spPr/>
        <p:txBody>
          <a:bodyPr/>
          <a:lstStyle>
            <a:lvl1pPr>
              <a:defRPr>
                <a:latin typeface="나눔스퀘어" panose="020B0600000101010101" pitchFamily="50" charset="-127"/>
                <a:ea typeface="나눔스퀘어" panose="020B0600000101010101" pitchFamily="50" charset="-127"/>
              </a:defRPr>
            </a:lvl1pPr>
          </a:lstStyle>
          <a:p>
            <a:endParaRPr lang="ko-KR" altLang="en-US"/>
          </a:p>
        </p:txBody>
      </p:sp>
      <p:sp>
        <p:nvSpPr>
          <p:cNvPr id="6" name="슬라이드 번호 개체 틀 5"/>
          <p:cNvSpPr>
            <a:spLocks noGrp="1"/>
          </p:cNvSpPr>
          <p:nvPr>
            <p:ph type="sldNum" sz="quarter" idx="12"/>
          </p:nvPr>
        </p:nvSpPr>
        <p:spPr/>
        <p:txBody>
          <a:bodyPr/>
          <a:lstStyle>
            <a:lvl1pPr>
              <a:defRPr>
                <a:latin typeface="나눔스퀘어" panose="020B0600000101010101" pitchFamily="50" charset="-127"/>
                <a:ea typeface="나눔스퀘어" panose="020B0600000101010101" pitchFamily="50" charset="-127"/>
              </a:defRPr>
            </a:lvl1pPr>
          </a:lstStyle>
          <a:p>
            <a:fld id="{D5138A30-165A-4F7B-A6DE-B9A1CDD9CB91}" type="slidenum">
              <a:rPr lang="ko-KR" altLang="en-US" smtClean="0"/>
              <a:pPr/>
              <a:t>‹#›</a:t>
            </a:fld>
            <a:endParaRPr lang="ko-KR" altLang="en-US"/>
          </a:p>
        </p:txBody>
      </p:sp>
    </p:spTree>
    <p:extLst>
      <p:ext uri="{BB962C8B-B14F-4D97-AF65-F5344CB8AC3E}">
        <p14:creationId xmlns:p14="http://schemas.microsoft.com/office/powerpoint/2010/main" val="2400815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4925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아젠다">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4992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소제목">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19486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내용">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슬라이드 번호 개체 틀 5">
            <a:extLst>
              <a:ext uri="{FF2B5EF4-FFF2-40B4-BE49-F238E27FC236}">
                <a16:creationId xmlns:a16="http://schemas.microsoft.com/office/drawing/2014/main" id="{FAC1EB1B-E602-0247-88AB-A89AF71255A6}"/>
              </a:ext>
            </a:extLst>
          </p:cNvPr>
          <p:cNvSpPr txBox="1">
            <a:spLocks/>
          </p:cNvSpPr>
          <p:nvPr userDrawn="1"/>
        </p:nvSpPr>
        <p:spPr>
          <a:xfrm>
            <a:off x="4855685" y="6435677"/>
            <a:ext cx="2347285" cy="326455"/>
          </a:xfrm>
          <a:prstGeom prst="rect">
            <a:avLst/>
          </a:prstGeom>
        </p:spPr>
        <p:txBody>
          <a:bodyPr lIns="162531" tIns="81264" rIns="162531" bIns="81264" anchor="ctr"/>
          <a:lstStyle>
            <a:lvl1pPr algn="r">
              <a:defRPr sz="1200">
                <a:solidFill>
                  <a:schemeClr val="tx1">
                    <a:tint val="75000"/>
                  </a:schemeClr>
                </a:solidFill>
              </a:defRPr>
            </a:lvl1pPr>
          </a:lstStyle>
          <a:p>
            <a:pPr algn="ctr" defTabSz="1219048">
              <a:defRPr/>
            </a:pPr>
            <a:r>
              <a:rPr lang="ko-KR" altLang="en-US" sz="900" dirty="0">
                <a:ln>
                  <a:solidFill>
                    <a:prstClr val="white">
                      <a:alpha val="0"/>
                    </a:prstClr>
                  </a:solidFill>
                </a:ln>
                <a:solidFill>
                  <a:schemeClr val="tx1">
                    <a:lumMod val="65000"/>
                    <a:lumOff val="35000"/>
                    <a:alpha val="70000"/>
                  </a:schemeClr>
                </a:solidFill>
                <a:latin typeface="나눔스퀘어" panose="020B0600000101010101" pitchFamily="50" charset="-127"/>
                <a:ea typeface="나눔스퀘어" panose="020B0600000101010101" pitchFamily="50" charset="-127"/>
                <a:cs typeface="Arial" panose="020B0604020202020204" pitchFamily="34" charset="0"/>
              </a:rPr>
              <a:t>　　　</a:t>
            </a:r>
            <a:r>
              <a:rPr lang="en-US" altLang="ko-KR" sz="900" dirty="0">
                <a:ln>
                  <a:solidFill>
                    <a:prstClr val="white">
                      <a:alpha val="0"/>
                    </a:prstClr>
                  </a:solidFill>
                </a:ln>
                <a:solidFill>
                  <a:schemeClr val="tx1">
                    <a:lumMod val="65000"/>
                    <a:lumOff val="35000"/>
                    <a:alpha val="70000"/>
                  </a:schemeClr>
                </a:solidFill>
                <a:latin typeface="나눔스퀘어" panose="020B0600000101010101" pitchFamily="50" charset="-127"/>
                <a:ea typeface="나눔스퀘어" panose="020B0600000101010101" pitchFamily="50" charset="-127"/>
                <a:cs typeface="Arial" panose="020B0604020202020204" pitchFamily="34" charset="0"/>
              </a:rPr>
              <a:t>/ </a:t>
            </a:r>
            <a:r>
              <a:rPr lang="en-US" altLang="ko-KR" sz="900" dirty="0" smtClean="0">
                <a:ln>
                  <a:solidFill>
                    <a:prstClr val="white">
                      <a:alpha val="0"/>
                    </a:prstClr>
                  </a:solidFill>
                </a:ln>
                <a:solidFill>
                  <a:schemeClr val="tx1">
                    <a:lumMod val="65000"/>
                    <a:lumOff val="35000"/>
                    <a:alpha val="70000"/>
                  </a:schemeClr>
                </a:solidFill>
                <a:latin typeface="나눔스퀘어" panose="020B0600000101010101" pitchFamily="50" charset="-127"/>
                <a:ea typeface="나눔스퀘어" panose="020B0600000101010101" pitchFamily="50" charset="-127"/>
                <a:cs typeface="Arial" panose="020B0604020202020204" pitchFamily="34" charset="0"/>
              </a:rPr>
              <a:t>19</a:t>
            </a:r>
            <a:endParaRPr lang="ko-KR" altLang="en-US" sz="900" dirty="0">
              <a:ln>
                <a:solidFill>
                  <a:prstClr val="white">
                    <a:alpha val="0"/>
                  </a:prstClr>
                </a:solidFill>
              </a:ln>
              <a:solidFill>
                <a:schemeClr val="tx1">
                  <a:lumMod val="65000"/>
                  <a:lumOff val="35000"/>
                  <a:alpha val="70000"/>
                </a:schemeClr>
              </a:solidFill>
              <a:latin typeface="나눔스퀘어" panose="020B0600000101010101" pitchFamily="50" charset="-127"/>
              <a:ea typeface="나눔스퀘어" panose="020B0600000101010101" pitchFamily="50" charset="-127"/>
              <a:cs typeface="Arial" panose="020B0604020202020204" pitchFamily="34" charset="0"/>
            </a:endParaRPr>
          </a:p>
        </p:txBody>
      </p:sp>
      <p:sp>
        <p:nvSpPr>
          <p:cNvPr id="10" name="제목 9"/>
          <p:cNvSpPr>
            <a:spLocks noGrp="1"/>
          </p:cNvSpPr>
          <p:nvPr>
            <p:ph type="title"/>
          </p:nvPr>
        </p:nvSpPr>
        <p:spPr>
          <a:xfrm>
            <a:off x="515938" y="333375"/>
            <a:ext cx="11157036" cy="880283"/>
          </a:xfrm>
          <a:prstGeom prst="rect">
            <a:avLst/>
          </a:prstGeom>
        </p:spPr>
        <p:txBody>
          <a:bodyPr lIns="0" rIns="0" anchor="ctr"/>
          <a:lstStyle>
            <a:lvl1pPr>
              <a:defRPr sz="3200">
                <a:latin typeface="나눔스퀘어 ExtraBold" panose="020B0600000101010101" pitchFamily="50" charset="-127"/>
                <a:ea typeface="나눔스퀘어 ExtraBold" panose="020B0600000101010101" pitchFamily="50" charset="-127"/>
              </a:defRPr>
            </a:lvl1pPr>
          </a:lstStyle>
          <a:p>
            <a:r>
              <a:rPr lang="ko-KR" altLang="en-US" dirty="0"/>
              <a:t>마스터 제목 스타일 편집</a:t>
            </a:r>
          </a:p>
        </p:txBody>
      </p:sp>
      <p:sp>
        <p:nvSpPr>
          <p:cNvPr id="12" name="텍스트 개체 틀 11"/>
          <p:cNvSpPr>
            <a:spLocks noGrp="1"/>
          </p:cNvSpPr>
          <p:nvPr>
            <p:ph type="body" sz="quarter" idx="10"/>
          </p:nvPr>
        </p:nvSpPr>
        <p:spPr>
          <a:xfrm>
            <a:off x="515937" y="1288823"/>
            <a:ext cx="11160125" cy="771752"/>
          </a:xfrm>
          <a:prstGeom prst="rect">
            <a:avLst/>
          </a:prstGeom>
        </p:spPr>
        <p:txBody>
          <a:bodyPr lIns="0" rIns="0" anchor="ctr"/>
          <a:lstStyle>
            <a:lvl1pPr marL="0" indent="0">
              <a:buNone/>
              <a:defRPr sz="1800" baseline="0">
                <a:latin typeface="나눔스퀘어 Bold" panose="020B0600000101010101" pitchFamily="50" charset="-127"/>
                <a:ea typeface="나눔스퀘어 Bold" panose="020B0600000101010101" pitchFamily="50" charset="-127"/>
              </a:defRPr>
            </a:lvl1pPr>
            <a:lvl2pPr marL="457200" indent="0">
              <a:buNone/>
              <a:defRPr sz="1800">
                <a:latin typeface="나눔스퀘어" panose="020B0600000101010101" pitchFamily="50" charset="-127"/>
                <a:ea typeface="나눔스퀘어" panose="020B0600000101010101" pitchFamily="50" charset="-127"/>
              </a:defRPr>
            </a:lvl2pPr>
            <a:lvl3pPr marL="914400" indent="0">
              <a:buNone/>
              <a:defRPr sz="1800">
                <a:latin typeface="나눔스퀘어" panose="020B0600000101010101" pitchFamily="50" charset="-127"/>
                <a:ea typeface="나눔스퀘어" panose="020B0600000101010101" pitchFamily="50" charset="-127"/>
              </a:defRPr>
            </a:lvl3pPr>
            <a:lvl4pPr marL="1371600" indent="0">
              <a:buNone/>
              <a:defRPr sz="1800">
                <a:latin typeface="나눔스퀘어" panose="020B0600000101010101" pitchFamily="50" charset="-127"/>
                <a:ea typeface="나눔스퀘어" panose="020B0600000101010101" pitchFamily="50" charset="-127"/>
              </a:defRPr>
            </a:lvl4pPr>
            <a:lvl5pPr marL="1828800" indent="0">
              <a:buNone/>
              <a:defRPr sz="1800">
                <a:latin typeface="나눔스퀘어" panose="020B0600000101010101" pitchFamily="50" charset="-127"/>
                <a:ea typeface="나눔스퀘어" panose="020B0600000101010101" pitchFamily="50" charset="-127"/>
              </a:defRPr>
            </a:lvl5pPr>
          </a:lstStyle>
          <a:p>
            <a:pPr lvl="0"/>
            <a:r>
              <a:rPr lang="ko-KR" altLang="en-US" dirty="0"/>
              <a:t>마스터 텍스트 스타일 편집</a:t>
            </a:r>
            <a:endParaRPr lang="en-US" altLang="ko-KR" dirty="0"/>
          </a:p>
          <a:p>
            <a:pPr lvl="0"/>
            <a:endParaRPr lang="en-US" altLang="ko-KR" dirty="0"/>
          </a:p>
        </p:txBody>
      </p:sp>
      <p:sp>
        <p:nvSpPr>
          <p:cNvPr id="2" name="직사각형 1"/>
          <p:cNvSpPr/>
          <p:nvPr userDrawn="1"/>
        </p:nvSpPr>
        <p:spPr>
          <a:xfrm>
            <a:off x="9972676" y="4743451"/>
            <a:ext cx="2219324" cy="2114550"/>
          </a:xfrm>
          <a:prstGeom prst="rect">
            <a:avLst/>
          </a:prstGeom>
          <a:solidFill>
            <a:schemeClr val="bg1"/>
          </a:solidFill>
          <a:ln>
            <a:noFill/>
          </a:ln>
          <a:effectLst/>
        </p:spPr>
        <p:txBody>
          <a:bodyPr vert="horz" wrap="square" lIns="91440" tIns="45720" rIns="91440" bIns="45720" numCol="1" rtlCol="0" anchor="ctr" anchorCtr="0" compatLnSpc="1">
            <a:prstTxWarp prst="textNoShape">
              <a:avLst/>
            </a:prstTxWarp>
          </a:bodyPr>
          <a:lstStyle/>
          <a:p>
            <a:pPr algn="ctr"/>
            <a:endParaRPr lang="ko-KR" altLang="en-US" sz="2000" dirty="0">
              <a:solidFill>
                <a:srgbClr val="191A1A"/>
              </a:solidFill>
            </a:endParaRPr>
          </a:p>
        </p:txBody>
      </p:sp>
      <p:sp>
        <p:nvSpPr>
          <p:cNvPr id="7" name="Text Box 9"/>
          <p:cNvSpPr txBox="1">
            <a:spLocks noChangeArrowheads="1"/>
          </p:cNvSpPr>
          <p:nvPr userDrawn="1"/>
        </p:nvSpPr>
        <p:spPr bwMode="auto">
          <a:xfrm>
            <a:off x="9434334" y="6552330"/>
            <a:ext cx="2394886" cy="123111"/>
          </a:xfrm>
          <a:prstGeom prst="rect">
            <a:avLst/>
          </a:prstGeom>
          <a:noFill/>
          <a:ln w="9525">
            <a:noFill/>
            <a:miter lim="800000"/>
            <a:headEnd/>
            <a:tailEnd/>
          </a:ln>
        </p:spPr>
        <p:txBody>
          <a:bodyPr wrap="none" lIns="0" tIns="0" rIns="0" bIns="0">
            <a:spAutoFit/>
          </a:bodyPr>
          <a:lstStyle/>
          <a:p>
            <a:pPr algn="r" eaLnBrk="0" hangingPunct="0"/>
            <a:r>
              <a:rPr lang="en-US" altLang="ko-KR" sz="800" dirty="0">
                <a:solidFill>
                  <a:srgbClr val="7F7F7F"/>
                </a:solidFill>
                <a:latin typeface="나눔스퀘어" panose="020B0600000101010101" pitchFamily="50" charset="-127"/>
                <a:ea typeface="나눔스퀘어" panose="020B0600000101010101" pitchFamily="50" charset="-127"/>
                <a:cs typeface="Segoe UI" panose="020B0502040204020203" pitchFamily="34" charset="0"/>
              </a:rPr>
              <a:t>Copyright © </a:t>
            </a:r>
            <a:r>
              <a:rPr lang="en-US" altLang="ko-KR" sz="800" dirty="0" smtClean="0">
                <a:solidFill>
                  <a:srgbClr val="7F7F7F"/>
                </a:solidFill>
                <a:latin typeface="나눔스퀘어" panose="020B0600000101010101" pitchFamily="50" charset="-127"/>
                <a:ea typeface="나눔스퀘어" panose="020B0600000101010101" pitchFamily="50" charset="-127"/>
                <a:cs typeface="Segoe UI" panose="020B0502040204020203" pitchFamily="34" charset="0"/>
              </a:rPr>
              <a:t>2026 </a:t>
            </a:r>
            <a:r>
              <a:rPr lang="en-US" altLang="ko-KR" sz="800" dirty="0">
                <a:solidFill>
                  <a:srgbClr val="7F7F7F"/>
                </a:solidFill>
                <a:latin typeface="나눔스퀘어" panose="020B0600000101010101" pitchFamily="50" charset="-127"/>
                <a:ea typeface="나눔스퀘어" panose="020B0600000101010101" pitchFamily="50" charset="-127"/>
                <a:cs typeface="Segoe UI" panose="020B0502040204020203" pitchFamily="34" charset="0"/>
              </a:rPr>
              <a:t>Samsung SDS All rights reserved</a:t>
            </a:r>
          </a:p>
        </p:txBody>
      </p:sp>
    </p:spTree>
    <p:extLst>
      <p:ext uri="{BB962C8B-B14F-4D97-AF65-F5344CB8AC3E}">
        <p14:creationId xmlns:p14="http://schemas.microsoft.com/office/powerpoint/2010/main" val="2254336355"/>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210" userDrawn="1">
          <p15:clr>
            <a:srgbClr val="FBAE40"/>
          </p15:clr>
        </p15:guide>
        <p15:guide id="4" orient="horz" pos="754" userDrawn="1">
          <p15:clr>
            <a:srgbClr val="FBAE40"/>
          </p15:clr>
        </p15:guide>
        <p15:guide id="5" orient="horz" pos="1298" userDrawn="1">
          <p15:clr>
            <a:srgbClr val="FBAE40"/>
          </p15:clr>
        </p15:guide>
        <p15:guide id="6" pos="325" userDrawn="1">
          <p15:clr>
            <a:srgbClr val="FBAE40"/>
          </p15:clr>
        </p15:guide>
        <p15:guide id="7" pos="7355" userDrawn="1">
          <p15:clr>
            <a:srgbClr val="FBAE40"/>
          </p15:clr>
        </p15:guide>
        <p15:guide id="8" orient="horz" pos="799"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내용_ver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37201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마무리">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FB55E4C-8002-9D49-9007-ED58AA6C219D}"/>
              </a:ext>
            </a:extLst>
          </p:cNvPr>
          <p:cNvSpPr txBox="1"/>
          <p:nvPr userDrawn="1"/>
        </p:nvSpPr>
        <p:spPr>
          <a:xfrm>
            <a:off x="2849202" y="2726798"/>
            <a:ext cx="6493597" cy="830063"/>
          </a:xfrm>
          <a:prstGeom prst="rect">
            <a:avLst/>
          </a:prstGeom>
          <a:noFill/>
        </p:spPr>
        <p:txBody>
          <a:bodyPr wrap="none" lIns="0" tIns="0" rIns="0" bIns="0" rtlCol="0" anchor="ctr" anchorCtr="0">
            <a:noAutofit/>
          </a:bodyPr>
          <a:lstStyle/>
          <a:p>
            <a:pPr marL="0" marR="0" lvl="0" indent="0" algn="ctr" defTabSz="685749" rtl="0" eaLnBrk="1" fontAlgn="auto" latinLnBrk="1" hangingPunct="1">
              <a:lnSpc>
                <a:spcPct val="100000"/>
              </a:lnSpc>
              <a:spcBef>
                <a:spcPts val="0"/>
              </a:spcBef>
              <a:spcAft>
                <a:spcPts val="0"/>
              </a:spcAft>
              <a:buClrTx/>
              <a:buSzTx/>
              <a:buFontTx/>
              <a:buNone/>
              <a:tabLst/>
              <a:defRPr/>
            </a:pPr>
            <a:r>
              <a:rPr kumimoji="0" lang="en-US" altLang="ko-KR" sz="6000" b="0" i="0" u="none" strike="noStrike" kern="1200" cap="none" spc="0" normalizeH="0" baseline="0" noProof="0" dirty="0">
                <a:ln>
                  <a:solidFill>
                    <a:prstClr val="white">
                      <a:alpha val="0"/>
                    </a:prstClr>
                  </a:solidFill>
                </a:ln>
                <a:solidFill>
                  <a:schemeClr val="tx1"/>
                </a:solidFill>
                <a:effectLst/>
                <a:uLnTx/>
                <a:uFillTx/>
                <a:latin typeface="나눔스퀘어 ExtraBold" panose="020B0600000101010101" pitchFamily="50" charset="-127"/>
                <a:ea typeface="나눔스퀘어 ExtraBold" panose="020B0600000101010101" pitchFamily="50" charset="-127"/>
                <a:cs typeface="나눔스퀘어" panose="00000700000000000000" pitchFamily="2" charset="0"/>
              </a:rPr>
              <a:t>Thank you</a:t>
            </a:r>
          </a:p>
        </p:txBody>
      </p:sp>
    </p:spTree>
    <p:extLst>
      <p:ext uri="{BB962C8B-B14F-4D97-AF65-F5344CB8AC3E}">
        <p14:creationId xmlns:p14="http://schemas.microsoft.com/office/powerpoint/2010/main" val="13456672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마무리_ver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DA088E-0B4E-4941-8B9A-F2C844A8B1DA}"/>
              </a:ext>
            </a:extLst>
          </p:cNvPr>
          <p:cNvSpPr txBox="1"/>
          <p:nvPr userDrawn="1"/>
        </p:nvSpPr>
        <p:spPr>
          <a:xfrm>
            <a:off x="2849202" y="2726798"/>
            <a:ext cx="6493597" cy="830063"/>
          </a:xfrm>
          <a:prstGeom prst="rect">
            <a:avLst/>
          </a:prstGeom>
          <a:noFill/>
        </p:spPr>
        <p:txBody>
          <a:bodyPr wrap="none" lIns="0" tIns="0" rIns="0" bIns="0" rtlCol="0" anchor="ctr" anchorCtr="0">
            <a:noAutofit/>
          </a:bodyPr>
          <a:lstStyle/>
          <a:p>
            <a:pPr marL="0" marR="0" lvl="0" indent="0" algn="ctr" defTabSz="685749" rtl="0" eaLnBrk="1" fontAlgn="auto" latinLnBrk="1" hangingPunct="1">
              <a:lnSpc>
                <a:spcPct val="100000"/>
              </a:lnSpc>
              <a:spcBef>
                <a:spcPts val="0"/>
              </a:spcBef>
              <a:spcAft>
                <a:spcPts val="0"/>
              </a:spcAft>
              <a:buClrTx/>
              <a:buSzTx/>
              <a:buFontTx/>
              <a:buNone/>
              <a:tabLst/>
              <a:defRPr/>
            </a:pPr>
            <a:r>
              <a:rPr kumimoji="0" lang="en-US" altLang="ko-KR" sz="6000" b="0" i="0" u="none" strike="noStrike" kern="1200" cap="none" spc="0" normalizeH="0" baseline="0" noProof="0" dirty="0">
                <a:ln>
                  <a:solidFill>
                    <a:prstClr val="white">
                      <a:alpha val="0"/>
                    </a:prstClr>
                  </a:solidFill>
                </a:ln>
                <a:solidFill>
                  <a:schemeClr val="tx1"/>
                </a:solidFill>
                <a:effectLst/>
                <a:uLnTx/>
                <a:uFillTx/>
                <a:latin typeface="나눔스퀘어 ExtraBold" panose="020B0600000101010101" pitchFamily="50" charset="-127"/>
                <a:ea typeface="나눔스퀘어 ExtraBold" panose="020B0600000101010101" pitchFamily="50" charset="-127"/>
                <a:cs typeface="나눔스퀘어" panose="00000700000000000000" pitchFamily="2" charset="0"/>
              </a:rPr>
              <a:t>Thank you</a:t>
            </a:r>
          </a:p>
        </p:txBody>
      </p:sp>
    </p:spTree>
    <p:extLst>
      <p:ext uri="{BB962C8B-B14F-4D97-AF65-F5344CB8AC3E}">
        <p14:creationId xmlns:p14="http://schemas.microsoft.com/office/powerpoint/2010/main" val="3305264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캡션 있는 그림">
    <p:bg>
      <p:bgPr>
        <a:solidFill>
          <a:schemeClr val="bg1"/>
        </a:solidFill>
        <a:effectLst/>
      </p:bgPr>
    </p:bg>
    <p:spTree>
      <p:nvGrpSpPr>
        <p:cNvPr id="1" name=""/>
        <p:cNvGrpSpPr/>
        <p:nvPr/>
      </p:nvGrpSpPr>
      <p:grpSpPr>
        <a:xfrm>
          <a:off x="0" y="0"/>
          <a:ext cx="0" cy="0"/>
          <a:chOff x="0" y="0"/>
          <a:chExt cx="0" cy="0"/>
        </a:xfrm>
      </p:grpSpPr>
      <p:pic>
        <p:nvPicPr>
          <p:cNvPr id="18" name="그림 17">
            <a:extLst>
              <a:ext uri="{FF2B5EF4-FFF2-40B4-BE49-F238E27FC236}">
                <a16:creationId xmlns:a16="http://schemas.microsoft.com/office/drawing/2014/main" id="{A9E1CFAD-6A54-4B45-8364-C237801E9BBD}"/>
              </a:ext>
            </a:extLst>
          </p:cNvPr>
          <p:cNvPicPr>
            <a:picLocks noChangeAspect="1"/>
          </p:cNvPicPr>
          <p:nvPr userDrawn="1"/>
        </p:nvPicPr>
        <p:blipFill>
          <a:blip r:embed="rId2"/>
          <a:stretch>
            <a:fillRect/>
          </a:stretch>
        </p:blipFill>
        <p:spPr>
          <a:xfrm>
            <a:off x="4413295" y="2842520"/>
            <a:ext cx="3380369" cy="698120"/>
          </a:xfrm>
          <a:prstGeom prst="rect">
            <a:avLst/>
          </a:prstGeom>
        </p:spPr>
      </p:pic>
      <p:pic>
        <p:nvPicPr>
          <p:cNvPr id="16" name="그림 15">
            <a:extLst>
              <a:ext uri="{FF2B5EF4-FFF2-40B4-BE49-F238E27FC236}">
                <a16:creationId xmlns:a16="http://schemas.microsoft.com/office/drawing/2014/main" id="{7F21A1EB-114E-DA4C-86FB-05014145B829}"/>
              </a:ext>
            </a:extLst>
          </p:cNvPr>
          <p:cNvPicPr>
            <a:picLocks noChangeAspect="1"/>
          </p:cNvPicPr>
          <p:nvPr userDrawn="1"/>
        </p:nvPicPr>
        <p:blipFill>
          <a:blip r:embed="rId3"/>
          <a:stretch>
            <a:fillRect/>
          </a:stretch>
        </p:blipFill>
        <p:spPr>
          <a:xfrm>
            <a:off x="4991662" y="6066286"/>
            <a:ext cx="2223634" cy="321842"/>
          </a:xfrm>
          <a:prstGeom prst="rect">
            <a:avLst/>
          </a:prstGeom>
        </p:spPr>
      </p:pic>
      <p:sp>
        <p:nvSpPr>
          <p:cNvPr id="9" name="TextBox 8">
            <a:extLst>
              <a:ext uri="{FF2B5EF4-FFF2-40B4-BE49-F238E27FC236}">
                <a16:creationId xmlns:a16="http://schemas.microsoft.com/office/drawing/2014/main" id="{4A16B515-E9F5-6141-ACB9-AF13C6D638B3}"/>
              </a:ext>
            </a:extLst>
          </p:cNvPr>
          <p:cNvSpPr txBox="1"/>
          <p:nvPr userDrawn="1"/>
        </p:nvSpPr>
        <p:spPr>
          <a:xfrm>
            <a:off x="5054891" y="3607971"/>
            <a:ext cx="2097177" cy="307777"/>
          </a:xfrm>
          <a:prstGeom prst="rect">
            <a:avLst/>
          </a:prstGeom>
          <a:noFill/>
        </p:spPr>
        <p:txBody>
          <a:bodyPr wrap="none" rtlCol="0">
            <a:spAutoFit/>
          </a:bodyPr>
          <a:lstStyle/>
          <a:p>
            <a:pPr algn="l"/>
            <a:r>
              <a:rPr lang="en-US" altLang="ko-KR" sz="1400" dirty="0">
                <a:solidFill>
                  <a:schemeClr val="tx1"/>
                </a:solidFill>
                <a:latin typeface="나눔스퀘어 Bold" panose="020B0600000101010101" pitchFamily="50" charset="-127"/>
                <a:ea typeface="나눔스퀘어 Bold" panose="020B0600000101010101" pitchFamily="50" charset="-127"/>
              </a:rPr>
              <a:t>www.cello-square.com</a:t>
            </a:r>
          </a:p>
        </p:txBody>
      </p:sp>
    </p:spTree>
    <p:extLst>
      <p:ext uri="{BB962C8B-B14F-4D97-AF65-F5344CB8AC3E}">
        <p14:creationId xmlns:p14="http://schemas.microsoft.com/office/powerpoint/2010/main" val="3011907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빈화면">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4962558"/>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 목차">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9571660"/>
      </p:ext>
    </p:extLst>
  </p:cSld>
  <p:clrMapOvr>
    <a:masterClrMapping/>
  </p:clrMapOvr>
  <p:extLst>
    <p:ext uri="{DCECCB84-F9BA-43D5-87BE-67443E8EF086}">
      <p15:sldGuideLst xmlns:p15="http://schemas.microsoft.com/office/powerpoint/2012/main">
        <p15:guide id="1" pos="551">
          <p15:clr>
            <a:srgbClr val="FBAE40"/>
          </p15:clr>
        </p15:guide>
        <p15:guide id="2" pos="91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풀컬러 넘버링X">
    <p:bg>
      <p:bgPr>
        <a:solidFill>
          <a:srgbClr val="00113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2588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image" Target="../media/image9.jpg"/><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25506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705" r:id="rId5"/>
    <p:sldLayoutId id="2147483677" r:id="rId6"/>
    <p:sldLayoutId id="2147483678" r:id="rId7"/>
    <p:sldLayoutId id="2147483679" r:id="rId8"/>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8" name="직사각형 7"/>
          <p:cNvSpPr/>
          <p:nvPr userDrawn="1"/>
        </p:nvSpPr>
        <p:spPr>
          <a:xfrm>
            <a:off x="66907" y="-365760"/>
            <a:ext cx="731520" cy="285471"/>
          </a:xfrm>
          <a:prstGeom prst="rect">
            <a:avLst/>
          </a:prstGeom>
          <a:solidFill>
            <a:srgbClr val="002B5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b="1" dirty="0">
                <a:solidFill>
                  <a:schemeClr val="bg1"/>
                </a:solidFill>
                <a:latin typeface="나눔스퀘어" panose="020B0600000101010101" pitchFamily="50" charset="-127"/>
                <a:ea typeface="나눔스퀘어" panose="020B0600000101010101" pitchFamily="50" charset="-127"/>
              </a:rPr>
              <a:t>Main</a:t>
            </a:r>
            <a:endParaRPr lang="ko-KR" altLang="en-US" sz="1400" b="1" dirty="0">
              <a:solidFill>
                <a:schemeClr val="bg1"/>
              </a:solidFill>
              <a:latin typeface="나눔스퀘어" panose="020B0600000101010101" pitchFamily="50" charset="-127"/>
              <a:ea typeface="나눔스퀘어" panose="020B0600000101010101" pitchFamily="50" charset="-127"/>
            </a:endParaRPr>
          </a:p>
        </p:txBody>
      </p:sp>
      <p:sp>
        <p:nvSpPr>
          <p:cNvPr id="9" name="직사각형 8"/>
          <p:cNvSpPr/>
          <p:nvPr userDrawn="1"/>
        </p:nvSpPr>
        <p:spPr>
          <a:xfrm>
            <a:off x="937663" y="-365760"/>
            <a:ext cx="731520" cy="285471"/>
          </a:xfrm>
          <a:prstGeom prst="rect">
            <a:avLst/>
          </a:prstGeom>
          <a:solidFill>
            <a:srgbClr val="3CD0BA"/>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b="1" dirty="0">
                <a:solidFill>
                  <a:schemeClr val="bg1"/>
                </a:solidFill>
                <a:latin typeface="나눔스퀘어" panose="020B0600000101010101" pitchFamily="50" charset="-127"/>
                <a:ea typeface="나눔스퀘어" panose="020B0600000101010101" pitchFamily="50" charset="-127"/>
              </a:rPr>
              <a:t>Point</a:t>
            </a:r>
            <a:endParaRPr lang="ko-KR" altLang="en-US" sz="1400" b="1" dirty="0">
              <a:solidFill>
                <a:schemeClr val="bg1"/>
              </a:solidFill>
              <a:latin typeface="나눔스퀘어" panose="020B0600000101010101" pitchFamily="50" charset="-127"/>
              <a:ea typeface="나눔스퀘어" panose="020B0600000101010101" pitchFamily="50" charset="-127"/>
            </a:endParaRPr>
          </a:p>
        </p:txBody>
      </p:sp>
      <p:sp>
        <p:nvSpPr>
          <p:cNvPr id="10" name="직사각형 9"/>
          <p:cNvSpPr/>
          <p:nvPr userDrawn="1"/>
        </p:nvSpPr>
        <p:spPr>
          <a:xfrm>
            <a:off x="1808419" y="-365760"/>
            <a:ext cx="731520" cy="285471"/>
          </a:xfrm>
          <a:prstGeom prst="rect">
            <a:avLst/>
          </a:prstGeom>
          <a:solidFill>
            <a:srgbClr val="0000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b="1" dirty="0">
                <a:solidFill>
                  <a:schemeClr val="bg1"/>
                </a:solidFill>
                <a:latin typeface="나눔스퀘어" panose="020B0600000101010101" pitchFamily="50" charset="-127"/>
                <a:ea typeface="나눔스퀘어" panose="020B0600000101010101" pitchFamily="50" charset="-127"/>
              </a:rPr>
              <a:t>Point</a:t>
            </a:r>
            <a:endParaRPr lang="ko-KR" altLang="en-US" sz="1400" b="1" dirty="0">
              <a:solidFill>
                <a:schemeClr val="bg1"/>
              </a:solidFill>
              <a:latin typeface="나눔스퀘어" panose="020B0600000101010101" pitchFamily="50" charset="-127"/>
              <a:ea typeface="나눔스퀘어" panose="020B0600000101010101" pitchFamily="50" charset="-127"/>
            </a:endParaRPr>
          </a:p>
        </p:txBody>
      </p:sp>
      <p:sp>
        <p:nvSpPr>
          <p:cNvPr id="11" name="직사각형 10"/>
          <p:cNvSpPr/>
          <p:nvPr userDrawn="1"/>
        </p:nvSpPr>
        <p:spPr>
          <a:xfrm>
            <a:off x="2679175" y="-365761"/>
            <a:ext cx="731520" cy="285471"/>
          </a:xfrm>
          <a:prstGeom prst="rect">
            <a:avLst/>
          </a:prstGeom>
          <a:solidFill>
            <a:srgbClr val="9B814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b="1" dirty="0">
                <a:solidFill>
                  <a:schemeClr val="tx1"/>
                </a:solidFill>
                <a:latin typeface="나눔스퀘어" panose="020B0600000101010101" pitchFamily="50" charset="-127"/>
                <a:ea typeface="나눔스퀘어" panose="020B0600000101010101" pitchFamily="50" charset="-127"/>
              </a:rPr>
              <a:t>Sub</a:t>
            </a:r>
            <a:endParaRPr lang="ko-KR" altLang="en-US" sz="1400" b="1" dirty="0">
              <a:solidFill>
                <a:schemeClr val="tx1"/>
              </a:solidFill>
              <a:latin typeface="나눔스퀘어" panose="020B0600000101010101" pitchFamily="50" charset="-127"/>
              <a:ea typeface="나눔스퀘어" panose="020B0600000101010101" pitchFamily="50" charset="-127"/>
            </a:endParaRPr>
          </a:p>
        </p:txBody>
      </p:sp>
      <p:sp>
        <p:nvSpPr>
          <p:cNvPr id="12" name="직사각형 11"/>
          <p:cNvSpPr/>
          <p:nvPr userDrawn="1"/>
        </p:nvSpPr>
        <p:spPr>
          <a:xfrm>
            <a:off x="3549931" y="-365761"/>
            <a:ext cx="731520" cy="285471"/>
          </a:xfrm>
          <a:prstGeom prst="rect">
            <a:avLst/>
          </a:prstGeom>
          <a:solidFill>
            <a:schemeClr val="tx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b="1" dirty="0">
                <a:solidFill>
                  <a:schemeClr val="tx1"/>
                </a:solidFill>
                <a:latin typeface="나눔스퀘어" panose="020B0600000101010101" pitchFamily="50" charset="-127"/>
                <a:ea typeface="나눔스퀘어" panose="020B0600000101010101" pitchFamily="50" charset="-127"/>
              </a:rPr>
              <a:t>Sub</a:t>
            </a:r>
            <a:endParaRPr lang="ko-KR" altLang="en-US" sz="1400" b="1" dirty="0">
              <a:solidFill>
                <a:schemeClr val="tx1"/>
              </a:solidFill>
              <a:latin typeface="나눔스퀘어" panose="020B0600000101010101" pitchFamily="50" charset="-127"/>
              <a:ea typeface="나눔스퀘어" panose="020B0600000101010101" pitchFamily="50" charset="-127"/>
            </a:endParaRPr>
          </a:p>
        </p:txBody>
      </p:sp>
      <p:sp>
        <p:nvSpPr>
          <p:cNvPr id="13" name="직사각형 12"/>
          <p:cNvSpPr/>
          <p:nvPr userDrawn="1"/>
        </p:nvSpPr>
        <p:spPr>
          <a:xfrm>
            <a:off x="4420688" y="-365761"/>
            <a:ext cx="731520" cy="285471"/>
          </a:xfrm>
          <a:prstGeom prst="rect">
            <a:avLst/>
          </a:prstGeom>
          <a:solidFill>
            <a:srgbClr val="F4AF0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b="1" dirty="0">
                <a:solidFill>
                  <a:schemeClr val="tx1"/>
                </a:solidFill>
                <a:latin typeface="나눔스퀘어" panose="020B0600000101010101" pitchFamily="50" charset="-127"/>
                <a:ea typeface="나눔스퀘어" panose="020B0600000101010101" pitchFamily="50" charset="-127"/>
              </a:rPr>
              <a:t>Sub</a:t>
            </a:r>
            <a:endParaRPr lang="ko-KR" altLang="en-US" sz="1400" b="1" dirty="0">
              <a:solidFill>
                <a:schemeClr val="tx1"/>
              </a:solidFill>
              <a:latin typeface="나눔스퀘어" panose="020B0600000101010101" pitchFamily="50" charset="-127"/>
              <a:ea typeface="나눔스퀘어" panose="020B0600000101010101" pitchFamily="50" charset="-127"/>
            </a:endParaRPr>
          </a:p>
        </p:txBody>
      </p:sp>
      <p:sp>
        <p:nvSpPr>
          <p:cNvPr id="14" name="직사각형 13"/>
          <p:cNvSpPr/>
          <p:nvPr userDrawn="1"/>
        </p:nvSpPr>
        <p:spPr>
          <a:xfrm>
            <a:off x="5291443" y="-364771"/>
            <a:ext cx="731520" cy="285471"/>
          </a:xfrm>
          <a:prstGeom prst="rect">
            <a:avLst/>
          </a:prstGeom>
          <a:solidFill>
            <a:schemeClr val="accent4">
              <a:lumMod val="20000"/>
              <a:lumOff val="80000"/>
              <a:alpha val="5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defTabSz="1038977" fontAlgn="auto">
              <a:lnSpc>
                <a:spcPct val="100000"/>
              </a:lnSpc>
              <a:spcBef>
                <a:spcPts val="0"/>
              </a:spcBef>
              <a:spcAft>
                <a:spcPts val="0"/>
              </a:spcAft>
              <a:buClrTx/>
              <a:buSzTx/>
              <a:buFontTx/>
              <a:buNone/>
              <a:tabLst/>
            </a:pPr>
            <a:endParaRPr kumimoji="0" lang="ko-KR" altLang="en-US" sz="1467" b="0" i="0" u="none" strike="noStrike" cap="none" spc="0" normalizeH="0" baseline="0" dirty="0">
              <a:ln>
                <a:noFill/>
              </a:ln>
              <a:solidFill>
                <a:prstClr val="white"/>
              </a:solidFill>
              <a:effectLst/>
              <a:uLnTx/>
              <a:uFillTx/>
              <a:latin typeface="나눔고딕" panose="020D0604000000000000" pitchFamily="50" charset="-127"/>
              <a:ea typeface="나눔고딕" panose="020D0604000000000000" pitchFamily="50" charset="-127"/>
            </a:endParaRPr>
          </a:p>
        </p:txBody>
      </p:sp>
    </p:spTree>
    <p:extLst>
      <p:ext uri="{BB962C8B-B14F-4D97-AF65-F5344CB8AC3E}">
        <p14:creationId xmlns:p14="http://schemas.microsoft.com/office/powerpoint/2010/main" val="1772495555"/>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7" r:id="rId9"/>
    <p:sldLayoutId id="2147483715" r:id="rId10"/>
    <p:sldLayoutId id="2147483716"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chart" Target="../charts/chart2.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chart" Target="../charts/chart7.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chart" Target="../charts/chart9.xml"/><Relationship Id="rId4" Type="http://schemas.openxmlformats.org/officeDocument/2006/relationships/chart" Target="../charts/chart8.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NULL"/><Relationship Id="rId5" Type="http://schemas.openxmlformats.org/officeDocument/2006/relationships/image" Target="../media/image20.png"/><Relationship Id="rId4" Type="http://schemas.openxmlformats.org/officeDocument/2006/relationships/chart" Target="../charts/char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chart" Target="../charts/chart12.xml"/><Relationship Id="rId4" Type="http://schemas.openxmlformats.org/officeDocument/2006/relationships/chart" Target="../charts/char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chart" Target="../charts/char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chart" Target="../charts/chart15.xml"/><Relationship Id="rId4" Type="http://schemas.openxmlformats.org/officeDocument/2006/relationships/chart" Target="../charts/chart14.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chart" Target="../charts/chart16.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chart" Target="../charts/chart18.xml"/><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chart" Target="../charts/chart17.xml"/><Relationship Id="rId5" Type="http://schemas.microsoft.com/office/2007/relationships/hdphoto" Target="../media/hdphoto1.wdp"/><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chart" Target="../charts/char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chart" Target="../charts/chart20.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chart" Target="../charts/chart21.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chart" Target="../charts/chart2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chart" Target="../charts/chart23.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chart" Target="../charts/chart24.xml"/><Relationship Id="rId7"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chart" Target="../charts/chart26.xml"/><Relationship Id="rId5" Type="http://schemas.openxmlformats.org/officeDocument/2006/relationships/image" Target="../media/image18.png"/><Relationship Id="rId4" Type="http://schemas.openxmlformats.org/officeDocument/2006/relationships/chart" Target="../charts/chart25.xml"/></Relationships>
</file>

<file path=ppt/slides/_rels/slide23.xml.rels><?xml version="1.0" encoding="UTF-8" standalone="yes"?>
<Relationships xmlns="http://schemas.openxmlformats.org/package/2006/relationships"><Relationship Id="rId3" Type="http://schemas.openxmlformats.org/officeDocument/2006/relationships/chart" Target="../charts/chart27.xml"/><Relationship Id="rId7" Type="http://schemas.openxmlformats.org/officeDocument/2006/relationships/chart" Target="../charts/chart29.xml"/><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chart" Target="../charts/chart28.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chart" Target="../charts/chart30.xml"/><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chart" Target="../charts/chart31.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1.xml"/><Relationship Id="rId5" Type="http://schemas.openxmlformats.org/officeDocument/2006/relationships/hyperlink" Target="https://app.cellosquare.com/login?mail_group=segOthers&amp;content_group=miReport" TargetMode="Externa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1C2C239-6A96-9D46-A3F6-FD6A5E556DE0}"/>
              </a:ext>
            </a:extLst>
          </p:cNvPr>
          <p:cNvSpPr txBox="1">
            <a:spLocks noChangeArrowheads="1"/>
          </p:cNvSpPr>
          <p:nvPr/>
        </p:nvSpPr>
        <p:spPr bwMode="auto">
          <a:xfrm>
            <a:off x="894469" y="2285651"/>
            <a:ext cx="10741521" cy="1354217"/>
          </a:xfrm>
          <a:prstGeom prst="rect">
            <a:avLst/>
          </a:prstGeom>
          <a:noFill/>
        </p:spPr>
        <p:txBody>
          <a:bodyPr wrap="square" lIns="0" tIns="0" rIns="0" bIns="0" rtlCol="0" anchor="t">
            <a:spAutoFit/>
          </a:bodyPr>
          <a:lstStyle>
            <a:defPPr>
              <a:defRPr lang="ko-KR"/>
            </a:defPPr>
            <a:lvl1pPr marR="0" lvl="0" indent="0" algn="ctr" fontAlgn="auto">
              <a:lnSpc>
                <a:spcPct val="100000"/>
              </a:lnSpc>
              <a:spcBef>
                <a:spcPts val="0"/>
              </a:spcBef>
              <a:spcAft>
                <a:spcPts val="0"/>
              </a:spcAft>
              <a:buClrTx/>
              <a:buSzTx/>
              <a:buFontTx/>
              <a:buNone/>
              <a:tabLst/>
              <a:defRPr kumimoji="0" sz="9000" b="0" i="0" u="none" strike="noStrike" cap="none" spc="0" normalizeH="0" baseline="0">
                <a:ln>
                  <a:noFill/>
                </a:ln>
                <a:gradFill>
                  <a:gsLst>
                    <a:gs pos="0">
                      <a:srgbClr val="00AEEF"/>
                    </a:gs>
                    <a:gs pos="57000">
                      <a:prstClr val="white"/>
                    </a:gs>
                  </a:gsLst>
                  <a:lin ang="0" scaled="0"/>
                </a:gradFill>
                <a:effectLst>
                  <a:outerShdw blurRad="38100" dist="38100" dir="2700000" algn="tl">
                    <a:srgbClr val="000000">
                      <a:alpha val="43137"/>
                    </a:srgbClr>
                  </a:outerShdw>
                </a:effectLst>
                <a:uLnTx/>
                <a:uFillTx/>
                <a:latin typeface="나눔스퀘어" pitchFamily="50" charset="0"/>
                <a:ea typeface="나눔스퀘어" pitchFamily="50" charset="0"/>
                <a:cs typeface="나눔스퀘어" pitchFamily="50" charset="0"/>
              </a:defRPr>
            </a:lvl1pPr>
          </a:lstStyle>
          <a:p>
            <a:pPr algn="l"/>
            <a:r>
              <a:rPr lang="en-US" altLang="ko-KR" sz="4400" b="1" spc="-50" dirty="0">
                <a:ln>
                  <a:solidFill>
                    <a:srgbClr val="BBE0E3">
                      <a:alpha val="0"/>
                    </a:srgbClr>
                  </a:solidFill>
                </a:ln>
                <a:solidFill>
                  <a:schemeClr val="tx1"/>
                </a:solidFill>
                <a:effectLst/>
                <a:latin typeface="나눔스퀘어 ExtraBold" panose="020B0600000101010101" pitchFamily="50" charset="-127"/>
                <a:ea typeface="나눔스퀘어 ExtraBold" panose="020B0600000101010101" pitchFamily="50" charset="-127"/>
                <a:cs typeface="나눔스퀘어" panose="02000403000000020004" pitchFamily="50" charset="-127"/>
              </a:rPr>
              <a:t>2026</a:t>
            </a:r>
            <a:r>
              <a:rPr lang="ko-KR" altLang="en-US" sz="4400" b="1" spc="-50" dirty="0">
                <a:ln>
                  <a:solidFill>
                    <a:srgbClr val="BBE0E3">
                      <a:alpha val="0"/>
                    </a:srgbClr>
                  </a:solidFill>
                </a:ln>
                <a:solidFill>
                  <a:schemeClr val="tx1"/>
                </a:solidFill>
                <a:effectLst/>
                <a:latin typeface="나눔스퀘어 ExtraBold" panose="020B0600000101010101" pitchFamily="50" charset="-127"/>
                <a:ea typeface="나눔스퀘어 ExtraBold" panose="020B0600000101010101" pitchFamily="50" charset="-127"/>
                <a:cs typeface="나눔스퀘어" panose="02000403000000020004" pitchFamily="50" charset="-127"/>
              </a:rPr>
              <a:t> </a:t>
            </a:r>
            <a:r>
              <a:rPr lang="en-US" altLang="ko-KR" sz="4400" b="1" spc="-50" dirty="0">
                <a:ln>
                  <a:solidFill>
                    <a:srgbClr val="BBE0E3">
                      <a:alpha val="0"/>
                    </a:srgbClr>
                  </a:solidFill>
                </a:ln>
                <a:solidFill>
                  <a:schemeClr val="tx1"/>
                </a:solidFill>
                <a:effectLst/>
                <a:latin typeface="나눔스퀘어 ExtraBold" panose="020B0600000101010101" pitchFamily="50" charset="-127"/>
                <a:ea typeface="나눔스퀘어 ExtraBold" panose="020B0600000101010101" pitchFamily="50" charset="-127"/>
                <a:cs typeface="나눔스퀘어" panose="02000403000000020004" pitchFamily="50" charset="-127"/>
              </a:rPr>
              <a:t>1H Logistics Market Review &amp;</a:t>
            </a:r>
          </a:p>
          <a:p>
            <a:pPr algn="l"/>
            <a:r>
              <a:rPr lang="en-US" altLang="ko-KR" sz="4400" b="1" spc="-50" dirty="0">
                <a:ln>
                  <a:solidFill>
                    <a:srgbClr val="BBE0E3">
                      <a:alpha val="0"/>
                    </a:srgbClr>
                  </a:solidFill>
                </a:ln>
                <a:solidFill>
                  <a:schemeClr val="tx1"/>
                </a:solidFill>
                <a:effectLst/>
                <a:latin typeface="나눔스퀘어 ExtraBold" panose="020B0600000101010101" pitchFamily="50" charset="-127"/>
                <a:ea typeface="나눔스퀘어 ExtraBold" panose="020B0600000101010101" pitchFamily="50" charset="-127"/>
                <a:cs typeface="나눔스퀘어" panose="02000403000000020004" pitchFamily="50" charset="-127"/>
              </a:rPr>
              <a:t>2H Outlook</a:t>
            </a:r>
            <a:endParaRPr lang="ko-KR" altLang="en-US" sz="4400" b="1" spc="-50" dirty="0">
              <a:ln>
                <a:solidFill>
                  <a:srgbClr val="BBE0E3">
                    <a:alpha val="0"/>
                  </a:srgbClr>
                </a:solidFill>
              </a:ln>
              <a:solidFill>
                <a:schemeClr val="tx1"/>
              </a:solidFill>
              <a:effectLst/>
              <a:latin typeface="나눔스퀘어 ExtraBold" panose="020B0600000101010101" pitchFamily="50" charset="-127"/>
              <a:ea typeface="나눔스퀘어 ExtraBold" panose="020B0600000101010101" pitchFamily="50" charset="-127"/>
              <a:cs typeface="나눔스퀘어" panose="02000403000000020004" pitchFamily="50" charset="-127"/>
            </a:endParaRPr>
          </a:p>
        </p:txBody>
      </p:sp>
      <p:grpSp>
        <p:nvGrpSpPr>
          <p:cNvPr id="9" name="그룹 8">
            <a:extLst>
              <a:ext uri="{FF2B5EF4-FFF2-40B4-BE49-F238E27FC236}">
                <a16:creationId xmlns:a16="http://schemas.microsoft.com/office/drawing/2014/main" id="{050DAED9-4028-7F40-9DAD-FC5EA829B6C2}"/>
              </a:ext>
            </a:extLst>
          </p:cNvPr>
          <p:cNvGrpSpPr/>
          <p:nvPr/>
        </p:nvGrpSpPr>
        <p:grpSpPr>
          <a:xfrm>
            <a:off x="1046869" y="5016622"/>
            <a:ext cx="4468740" cy="820738"/>
            <a:chOff x="875420" y="4081879"/>
            <a:chExt cx="4468740" cy="820738"/>
          </a:xfrm>
        </p:grpSpPr>
        <p:sp>
          <p:nvSpPr>
            <p:cNvPr id="11" name="TextBox 10">
              <a:extLst>
                <a:ext uri="{FF2B5EF4-FFF2-40B4-BE49-F238E27FC236}">
                  <a16:creationId xmlns:a16="http://schemas.microsoft.com/office/drawing/2014/main" id="{BEF936BC-5DB2-3A49-98AC-A03915B75175}"/>
                </a:ext>
              </a:extLst>
            </p:cNvPr>
            <p:cNvSpPr txBox="1">
              <a:spLocks noChangeArrowheads="1"/>
            </p:cNvSpPr>
            <p:nvPr/>
          </p:nvSpPr>
          <p:spPr bwMode="auto">
            <a:xfrm>
              <a:off x="1055440" y="4081879"/>
              <a:ext cx="4288720" cy="820738"/>
            </a:xfrm>
            <a:prstGeom prst="rect">
              <a:avLst/>
            </a:prstGeom>
            <a:noFill/>
          </p:spPr>
          <p:txBody>
            <a:bodyPr wrap="square" lIns="0" tIns="0" rIns="0" bIns="0" rtlCol="0" anchor="t">
              <a:spAutoFit/>
            </a:bodyPr>
            <a:lstStyle>
              <a:defPPr>
                <a:defRPr lang="ko-KR"/>
              </a:defPPr>
              <a:lvl1pPr marR="0" lvl="0" indent="0" algn="ctr" fontAlgn="auto">
                <a:lnSpc>
                  <a:spcPct val="100000"/>
                </a:lnSpc>
                <a:spcBef>
                  <a:spcPts val="0"/>
                </a:spcBef>
                <a:spcAft>
                  <a:spcPts val="0"/>
                </a:spcAft>
                <a:buClrTx/>
                <a:buSzTx/>
                <a:buFontTx/>
                <a:buNone/>
                <a:tabLst/>
                <a:defRPr kumimoji="0" sz="9000" b="0" i="0" u="none" strike="noStrike" cap="none" spc="0" normalizeH="0" baseline="0">
                  <a:ln>
                    <a:noFill/>
                  </a:ln>
                  <a:gradFill>
                    <a:gsLst>
                      <a:gs pos="0">
                        <a:srgbClr val="00AEEF"/>
                      </a:gs>
                      <a:gs pos="57000">
                        <a:prstClr val="white"/>
                      </a:gs>
                    </a:gsLst>
                    <a:lin ang="0" scaled="0"/>
                  </a:gradFill>
                  <a:effectLst>
                    <a:outerShdw blurRad="38100" dist="38100" dir="2700000" algn="tl">
                      <a:srgbClr val="000000">
                        <a:alpha val="43137"/>
                      </a:srgbClr>
                    </a:outerShdw>
                  </a:effectLst>
                  <a:uLnTx/>
                  <a:uFillTx/>
                  <a:latin typeface="나눔스퀘어" pitchFamily="50" charset="0"/>
                  <a:ea typeface="나눔스퀘어" pitchFamily="50" charset="0"/>
                  <a:cs typeface="나눔스퀘어" pitchFamily="50" charset="0"/>
                </a:defRPr>
              </a:lvl1pPr>
            </a:lstStyle>
            <a:p>
              <a:pPr algn="l">
                <a:lnSpc>
                  <a:spcPts val="3200"/>
                </a:lnSpc>
              </a:pPr>
              <a:r>
                <a:rPr lang="en-US" altLang="ko-KR" sz="2000" spc="-50" dirty="0" smtClean="0">
                  <a:ln>
                    <a:solidFill>
                      <a:srgbClr val="BBE0E3">
                        <a:alpha val="0"/>
                      </a:srgbClr>
                    </a:solidFill>
                  </a:ln>
                  <a:solidFill>
                    <a:schemeClr val="tx1"/>
                  </a:solidFill>
                  <a:effectLst/>
                  <a:latin typeface="나눔스퀘어" panose="020B0600000101010101" pitchFamily="50" charset="-127"/>
                  <a:ea typeface="나눔스퀘어" panose="020B0600000101010101" pitchFamily="50" charset="-127"/>
                  <a:cs typeface="나눔스퀘어" panose="02000603000000020004" pitchFamily="50" charset="-127"/>
                </a:rPr>
                <a:t>July 2026</a:t>
              </a:r>
              <a:endParaRPr lang="en-US" altLang="ko-KR" sz="2000" spc="-50" dirty="0">
                <a:ln>
                  <a:solidFill>
                    <a:srgbClr val="BBE0E3">
                      <a:alpha val="0"/>
                    </a:srgbClr>
                  </a:solidFill>
                </a:ln>
                <a:solidFill>
                  <a:schemeClr val="tx1"/>
                </a:solidFill>
                <a:effectLst/>
                <a:latin typeface="나눔스퀘어" panose="020B0600000101010101" pitchFamily="50" charset="-127"/>
                <a:ea typeface="나눔스퀘어" panose="020B0600000101010101" pitchFamily="50" charset="-127"/>
                <a:cs typeface="나눔스퀘어" panose="02000603000000020004" pitchFamily="50" charset="-127"/>
              </a:endParaRPr>
            </a:p>
            <a:p>
              <a:pPr algn="l">
                <a:lnSpc>
                  <a:spcPts val="3200"/>
                </a:lnSpc>
              </a:pPr>
              <a:r>
                <a:rPr lang="en-US" altLang="ko-KR" sz="2000" spc="-50" dirty="0">
                  <a:ln>
                    <a:solidFill>
                      <a:srgbClr val="BBE0E3">
                        <a:alpha val="0"/>
                      </a:srgbClr>
                    </a:solidFill>
                  </a:ln>
                  <a:solidFill>
                    <a:schemeClr val="tx1"/>
                  </a:solidFill>
                  <a:effectLst/>
                  <a:latin typeface="나눔스퀘어" panose="020B0600000101010101" pitchFamily="50" charset="-127"/>
                  <a:ea typeface="나눔스퀘어" panose="020B0600000101010101" pitchFamily="50" charset="-127"/>
                  <a:cs typeface="나눔스퀘어" panose="02000603000000020004" pitchFamily="50" charset="-127"/>
                </a:rPr>
                <a:t>Logistics MI Group</a:t>
              </a:r>
              <a:endParaRPr lang="ko-KR" altLang="en-US" sz="2000" spc="-50" dirty="0">
                <a:ln>
                  <a:solidFill>
                    <a:srgbClr val="BBE0E3">
                      <a:alpha val="0"/>
                    </a:srgbClr>
                  </a:solidFill>
                </a:ln>
                <a:solidFill>
                  <a:schemeClr val="tx1"/>
                </a:solidFill>
                <a:effectLst/>
                <a:latin typeface="나눔스퀘어" panose="020B0600000101010101" pitchFamily="50" charset="-127"/>
                <a:ea typeface="나눔스퀘어" panose="020B0600000101010101" pitchFamily="50" charset="-127"/>
                <a:cs typeface="나눔스퀘어" panose="02000603000000020004" pitchFamily="50" charset="-127"/>
              </a:endParaRPr>
            </a:p>
          </p:txBody>
        </p:sp>
        <p:cxnSp>
          <p:nvCxnSpPr>
            <p:cNvPr id="12" name="직선 연결선 86">
              <a:extLst>
                <a:ext uri="{FF2B5EF4-FFF2-40B4-BE49-F238E27FC236}">
                  <a16:creationId xmlns:a16="http://schemas.microsoft.com/office/drawing/2014/main" id="{0673BF62-8D66-254C-8DEF-B6623A5B4D3F}"/>
                </a:ext>
              </a:extLst>
            </p:cNvPr>
            <p:cNvCxnSpPr>
              <a:cxnSpLocks/>
            </p:cNvCxnSpPr>
            <p:nvPr/>
          </p:nvCxnSpPr>
          <p:spPr>
            <a:xfrm>
              <a:off x="875420" y="4153887"/>
              <a:ext cx="0" cy="720080"/>
            </a:xfrm>
            <a:prstGeom prst="line">
              <a:avLst/>
            </a:prstGeom>
            <a:ln w="25400">
              <a:solidFill>
                <a:srgbClr val="1428A0"/>
              </a:solidFill>
            </a:ln>
          </p:spPr>
          <p:style>
            <a:lnRef idx="1">
              <a:schemeClr val="accent1"/>
            </a:lnRef>
            <a:fillRef idx="0">
              <a:schemeClr val="accent1"/>
            </a:fillRef>
            <a:effectRef idx="0">
              <a:schemeClr val="accent1"/>
            </a:effectRef>
            <a:fontRef idx="minor">
              <a:schemeClr val="tx1"/>
            </a:fontRef>
          </p:style>
        </p:cxnSp>
      </p:grpSp>
      <p:grpSp>
        <p:nvGrpSpPr>
          <p:cNvPr id="61" name="그룹 60"/>
          <p:cNvGrpSpPr/>
          <p:nvPr/>
        </p:nvGrpSpPr>
        <p:grpSpPr>
          <a:xfrm>
            <a:off x="10042966" y="6231467"/>
            <a:ext cx="1501959" cy="182901"/>
            <a:chOff x="10248900" y="6116638"/>
            <a:chExt cx="1538288" cy="187325"/>
          </a:xfrm>
          <a:solidFill>
            <a:schemeClr val="tx1"/>
          </a:solidFill>
        </p:grpSpPr>
        <p:sp>
          <p:nvSpPr>
            <p:cNvPr id="62" name="Freeform 22"/>
            <p:cNvSpPr>
              <a:spLocks/>
            </p:cNvSpPr>
            <p:nvPr userDrawn="1"/>
          </p:nvSpPr>
          <p:spPr bwMode="auto">
            <a:xfrm>
              <a:off x="10248900" y="6116638"/>
              <a:ext cx="117475" cy="187325"/>
            </a:xfrm>
            <a:custGeom>
              <a:avLst/>
              <a:gdLst>
                <a:gd name="T0" fmla="*/ 34 w 74"/>
                <a:gd name="T1" fmla="*/ 116 h 116"/>
                <a:gd name="T2" fmla="*/ 1 w 74"/>
                <a:gd name="T3" fmla="*/ 79 h 116"/>
                <a:gd name="T4" fmla="*/ 25 w 74"/>
                <a:gd name="T5" fmla="*/ 79 h 116"/>
                <a:gd name="T6" fmla="*/ 38 w 74"/>
                <a:gd name="T7" fmla="*/ 99 h 116"/>
                <a:gd name="T8" fmla="*/ 50 w 74"/>
                <a:gd name="T9" fmla="*/ 86 h 116"/>
                <a:gd name="T10" fmla="*/ 3 w 74"/>
                <a:gd name="T11" fmla="*/ 31 h 116"/>
                <a:gd name="T12" fmla="*/ 39 w 74"/>
                <a:gd name="T13" fmla="*/ 0 h 116"/>
                <a:gd name="T14" fmla="*/ 72 w 74"/>
                <a:gd name="T15" fmla="*/ 34 h 116"/>
                <a:gd name="T16" fmla="*/ 49 w 74"/>
                <a:gd name="T17" fmla="*/ 34 h 116"/>
                <a:gd name="T18" fmla="*/ 38 w 74"/>
                <a:gd name="T19" fmla="*/ 17 h 116"/>
                <a:gd name="T20" fmla="*/ 26 w 74"/>
                <a:gd name="T21" fmla="*/ 29 h 116"/>
                <a:gd name="T22" fmla="*/ 74 w 74"/>
                <a:gd name="T23" fmla="*/ 83 h 116"/>
                <a:gd name="T24" fmla="*/ 34 w 74"/>
                <a:gd name="T25"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4" h="116">
                  <a:moveTo>
                    <a:pt x="34" y="116"/>
                  </a:moveTo>
                  <a:cubicBezTo>
                    <a:pt x="5" y="116"/>
                    <a:pt x="0" y="99"/>
                    <a:pt x="1" y="79"/>
                  </a:cubicBezTo>
                  <a:cubicBezTo>
                    <a:pt x="25" y="79"/>
                    <a:pt x="25" y="79"/>
                    <a:pt x="25" y="79"/>
                  </a:cubicBezTo>
                  <a:cubicBezTo>
                    <a:pt x="25" y="90"/>
                    <a:pt x="25" y="99"/>
                    <a:pt x="38" y="99"/>
                  </a:cubicBezTo>
                  <a:cubicBezTo>
                    <a:pt x="46" y="99"/>
                    <a:pt x="50" y="94"/>
                    <a:pt x="50" y="86"/>
                  </a:cubicBezTo>
                  <a:cubicBezTo>
                    <a:pt x="50" y="66"/>
                    <a:pt x="3" y="65"/>
                    <a:pt x="3" y="31"/>
                  </a:cubicBezTo>
                  <a:cubicBezTo>
                    <a:pt x="3" y="14"/>
                    <a:pt x="11" y="0"/>
                    <a:pt x="39" y="0"/>
                  </a:cubicBezTo>
                  <a:cubicBezTo>
                    <a:pt x="62" y="0"/>
                    <a:pt x="74" y="10"/>
                    <a:pt x="72" y="34"/>
                  </a:cubicBezTo>
                  <a:cubicBezTo>
                    <a:pt x="49" y="34"/>
                    <a:pt x="49" y="34"/>
                    <a:pt x="49" y="34"/>
                  </a:cubicBezTo>
                  <a:cubicBezTo>
                    <a:pt x="49" y="25"/>
                    <a:pt x="48" y="17"/>
                    <a:pt x="38" y="17"/>
                  </a:cubicBezTo>
                  <a:cubicBezTo>
                    <a:pt x="31" y="17"/>
                    <a:pt x="26" y="21"/>
                    <a:pt x="26" y="29"/>
                  </a:cubicBezTo>
                  <a:cubicBezTo>
                    <a:pt x="26" y="50"/>
                    <a:pt x="74" y="48"/>
                    <a:pt x="74" y="83"/>
                  </a:cubicBezTo>
                  <a:cubicBezTo>
                    <a:pt x="74" y="112"/>
                    <a:pt x="52" y="116"/>
                    <a:pt x="34"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solidFill>
                  <a:prstClr val="white"/>
                </a:solidFill>
              </a:endParaRPr>
            </a:p>
          </p:txBody>
        </p:sp>
        <p:sp>
          <p:nvSpPr>
            <p:cNvPr id="63" name="Freeform 23"/>
            <p:cNvSpPr>
              <a:spLocks noEditPoints="1"/>
            </p:cNvSpPr>
            <p:nvPr userDrawn="1"/>
          </p:nvSpPr>
          <p:spPr bwMode="auto">
            <a:xfrm>
              <a:off x="10377488" y="6116638"/>
              <a:ext cx="144463" cy="180975"/>
            </a:xfrm>
            <a:custGeom>
              <a:avLst/>
              <a:gdLst>
                <a:gd name="T0" fmla="*/ 0 w 91"/>
                <a:gd name="T1" fmla="*/ 114 h 114"/>
                <a:gd name="T2" fmla="*/ 31 w 91"/>
                <a:gd name="T3" fmla="*/ 0 h 114"/>
                <a:gd name="T4" fmla="*/ 62 w 91"/>
                <a:gd name="T5" fmla="*/ 0 h 114"/>
                <a:gd name="T6" fmla="*/ 91 w 91"/>
                <a:gd name="T7" fmla="*/ 114 h 114"/>
                <a:gd name="T8" fmla="*/ 68 w 91"/>
                <a:gd name="T9" fmla="*/ 114 h 114"/>
                <a:gd name="T10" fmla="*/ 61 w 91"/>
                <a:gd name="T11" fmla="*/ 88 h 114"/>
                <a:gd name="T12" fmla="*/ 29 w 91"/>
                <a:gd name="T13" fmla="*/ 88 h 114"/>
                <a:gd name="T14" fmla="*/ 23 w 91"/>
                <a:gd name="T15" fmla="*/ 114 h 114"/>
                <a:gd name="T16" fmla="*/ 0 w 91"/>
                <a:gd name="T17" fmla="*/ 114 h 114"/>
                <a:gd name="T18" fmla="*/ 45 w 91"/>
                <a:gd name="T19" fmla="*/ 21 h 114"/>
                <a:gd name="T20" fmla="*/ 45 w 91"/>
                <a:gd name="T21" fmla="*/ 21 h 114"/>
                <a:gd name="T22" fmla="*/ 34 w 91"/>
                <a:gd name="T23" fmla="*/ 71 h 114"/>
                <a:gd name="T24" fmla="*/ 56 w 91"/>
                <a:gd name="T25" fmla="*/ 71 h 114"/>
                <a:gd name="T26" fmla="*/ 45 w 91"/>
                <a:gd name="T27" fmla="*/ 21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1" h="114">
                  <a:moveTo>
                    <a:pt x="0" y="114"/>
                  </a:moveTo>
                  <a:lnTo>
                    <a:pt x="31" y="0"/>
                  </a:lnTo>
                  <a:lnTo>
                    <a:pt x="62" y="0"/>
                  </a:lnTo>
                  <a:lnTo>
                    <a:pt x="91" y="114"/>
                  </a:lnTo>
                  <a:lnTo>
                    <a:pt x="68" y="114"/>
                  </a:lnTo>
                  <a:lnTo>
                    <a:pt x="61" y="88"/>
                  </a:lnTo>
                  <a:lnTo>
                    <a:pt x="29" y="88"/>
                  </a:lnTo>
                  <a:lnTo>
                    <a:pt x="23" y="114"/>
                  </a:lnTo>
                  <a:lnTo>
                    <a:pt x="0" y="114"/>
                  </a:lnTo>
                  <a:close/>
                  <a:moveTo>
                    <a:pt x="45" y="21"/>
                  </a:moveTo>
                  <a:lnTo>
                    <a:pt x="45" y="21"/>
                  </a:lnTo>
                  <a:lnTo>
                    <a:pt x="34" y="71"/>
                  </a:lnTo>
                  <a:lnTo>
                    <a:pt x="56" y="71"/>
                  </a:lnTo>
                  <a:lnTo>
                    <a:pt x="45"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solidFill>
                  <a:prstClr val="white"/>
                </a:solidFill>
              </a:endParaRPr>
            </a:p>
          </p:txBody>
        </p:sp>
        <p:sp>
          <p:nvSpPr>
            <p:cNvPr id="64" name="Freeform 24"/>
            <p:cNvSpPr>
              <a:spLocks/>
            </p:cNvSpPr>
            <p:nvPr userDrawn="1"/>
          </p:nvSpPr>
          <p:spPr bwMode="auto">
            <a:xfrm>
              <a:off x="10537825" y="6116638"/>
              <a:ext cx="176213" cy="180975"/>
            </a:xfrm>
            <a:custGeom>
              <a:avLst/>
              <a:gdLst>
                <a:gd name="T0" fmla="*/ 0 w 111"/>
                <a:gd name="T1" fmla="*/ 114 h 114"/>
                <a:gd name="T2" fmla="*/ 0 w 111"/>
                <a:gd name="T3" fmla="*/ 0 h 114"/>
                <a:gd name="T4" fmla="*/ 38 w 111"/>
                <a:gd name="T5" fmla="*/ 0 h 114"/>
                <a:gd name="T6" fmla="*/ 55 w 111"/>
                <a:gd name="T7" fmla="*/ 77 h 114"/>
                <a:gd name="T8" fmla="*/ 56 w 111"/>
                <a:gd name="T9" fmla="*/ 77 h 114"/>
                <a:gd name="T10" fmla="*/ 74 w 111"/>
                <a:gd name="T11" fmla="*/ 0 h 114"/>
                <a:gd name="T12" fmla="*/ 111 w 111"/>
                <a:gd name="T13" fmla="*/ 0 h 114"/>
                <a:gd name="T14" fmla="*/ 111 w 111"/>
                <a:gd name="T15" fmla="*/ 114 h 114"/>
                <a:gd name="T16" fmla="*/ 88 w 111"/>
                <a:gd name="T17" fmla="*/ 114 h 114"/>
                <a:gd name="T18" fmla="*/ 88 w 111"/>
                <a:gd name="T19" fmla="*/ 26 h 114"/>
                <a:gd name="T20" fmla="*/ 88 w 111"/>
                <a:gd name="T21" fmla="*/ 26 h 114"/>
                <a:gd name="T22" fmla="*/ 66 w 111"/>
                <a:gd name="T23" fmla="*/ 114 h 114"/>
                <a:gd name="T24" fmla="*/ 44 w 111"/>
                <a:gd name="T25" fmla="*/ 114 h 114"/>
                <a:gd name="T26" fmla="*/ 23 w 111"/>
                <a:gd name="T27" fmla="*/ 26 h 114"/>
                <a:gd name="T28" fmla="*/ 23 w 111"/>
                <a:gd name="T29" fmla="*/ 26 h 114"/>
                <a:gd name="T30" fmla="*/ 23 w 111"/>
                <a:gd name="T31" fmla="*/ 114 h 114"/>
                <a:gd name="T32" fmla="*/ 0 w 111"/>
                <a:gd name="T33" fmla="*/ 11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1" h="114">
                  <a:moveTo>
                    <a:pt x="0" y="114"/>
                  </a:moveTo>
                  <a:lnTo>
                    <a:pt x="0" y="0"/>
                  </a:lnTo>
                  <a:lnTo>
                    <a:pt x="38" y="0"/>
                  </a:lnTo>
                  <a:lnTo>
                    <a:pt x="55" y="77"/>
                  </a:lnTo>
                  <a:lnTo>
                    <a:pt x="56" y="77"/>
                  </a:lnTo>
                  <a:lnTo>
                    <a:pt x="74" y="0"/>
                  </a:lnTo>
                  <a:lnTo>
                    <a:pt x="111" y="0"/>
                  </a:lnTo>
                  <a:lnTo>
                    <a:pt x="111" y="114"/>
                  </a:lnTo>
                  <a:lnTo>
                    <a:pt x="88" y="114"/>
                  </a:lnTo>
                  <a:lnTo>
                    <a:pt x="88" y="26"/>
                  </a:lnTo>
                  <a:lnTo>
                    <a:pt x="88" y="26"/>
                  </a:lnTo>
                  <a:lnTo>
                    <a:pt x="66" y="114"/>
                  </a:lnTo>
                  <a:lnTo>
                    <a:pt x="44" y="114"/>
                  </a:lnTo>
                  <a:lnTo>
                    <a:pt x="23" y="26"/>
                  </a:lnTo>
                  <a:lnTo>
                    <a:pt x="23" y="26"/>
                  </a:lnTo>
                  <a:lnTo>
                    <a:pt x="23" y="114"/>
                  </a:lnTo>
                  <a:lnTo>
                    <a:pt x="0" y="1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solidFill>
                  <a:prstClr val="white"/>
                </a:solidFill>
              </a:endParaRPr>
            </a:p>
          </p:txBody>
        </p:sp>
        <p:sp>
          <p:nvSpPr>
            <p:cNvPr id="65" name="Freeform 25"/>
            <p:cNvSpPr>
              <a:spLocks/>
            </p:cNvSpPr>
            <p:nvPr userDrawn="1"/>
          </p:nvSpPr>
          <p:spPr bwMode="auto">
            <a:xfrm>
              <a:off x="10736263" y="6116638"/>
              <a:ext cx="117475" cy="187325"/>
            </a:xfrm>
            <a:custGeom>
              <a:avLst/>
              <a:gdLst>
                <a:gd name="T0" fmla="*/ 35 w 74"/>
                <a:gd name="T1" fmla="*/ 116 h 116"/>
                <a:gd name="T2" fmla="*/ 1 w 74"/>
                <a:gd name="T3" fmla="*/ 79 h 116"/>
                <a:gd name="T4" fmla="*/ 25 w 74"/>
                <a:gd name="T5" fmla="*/ 79 h 116"/>
                <a:gd name="T6" fmla="*/ 38 w 74"/>
                <a:gd name="T7" fmla="*/ 99 h 116"/>
                <a:gd name="T8" fmla="*/ 50 w 74"/>
                <a:gd name="T9" fmla="*/ 86 h 116"/>
                <a:gd name="T10" fmla="*/ 3 w 74"/>
                <a:gd name="T11" fmla="*/ 31 h 116"/>
                <a:gd name="T12" fmla="*/ 40 w 74"/>
                <a:gd name="T13" fmla="*/ 0 h 116"/>
                <a:gd name="T14" fmla="*/ 72 w 74"/>
                <a:gd name="T15" fmla="*/ 34 h 116"/>
                <a:gd name="T16" fmla="*/ 49 w 74"/>
                <a:gd name="T17" fmla="*/ 34 h 116"/>
                <a:gd name="T18" fmla="*/ 39 w 74"/>
                <a:gd name="T19" fmla="*/ 17 h 116"/>
                <a:gd name="T20" fmla="*/ 26 w 74"/>
                <a:gd name="T21" fmla="*/ 29 h 116"/>
                <a:gd name="T22" fmla="*/ 74 w 74"/>
                <a:gd name="T23" fmla="*/ 83 h 116"/>
                <a:gd name="T24" fmla="*/ 35 w 74"/>
                <a:gd name="T25"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4" h="116">
                  <a:moveTo>
                    <a:pt x="35" y="116"/>
                  </a:moveTo>
                  <a:cubicBezTo>
                    <a:pt x="6" y="116"/>
                    <a:pt x="0" y="99"/>
                    <a:pt x="1" y="79"/>
                  </a:cubicBezTo>
                  <a:cubicBezTo>
                    <a:pt x="25" y="79"/>
                    <a:pt x="25" y="79"/>
                    <a:pt x="25" y="79"/>
                  </a:cubicBezTo>
                  <a:cubicBezTo>
                    <a:pt x="25" y="90"/>
                    <a:pt x="25" y="99"/>
                    <a:pt x="38" y="99"/>
                  </a:cubicBezTo>
                  <a:cubicBezTo>
                    <a:pt x="46" y="99"/>
                    <a:pt x="50" y="94"/>
                    <a:pt x="50" y="86"/>
                  </a:cubicBezTo>
                  <a:cubicBezTo>
                    <a:pt x="50" y="66"/>
                    <a:pt x="3" y="65"/>
                    <a:pt x="3" y="31"/>
                  </a:cubicBezTo>
                  <a:cubicBezTo>
                    <a:pt x="3" y="14"/>
                    <a:pt x="11" y="0"/>
                    <a:pt x="40" y="0"/>
                  </a:cubicBezTo>
                  <a:cubicBezTo>
                    <a:pt x="63" y="0"/>
                    <a:pt x="74" y="10"/>
                    <a:pt x="72" y="34"/>
                  </a:cubicBezTo>
                  <a:cubicBezTo>
                    <a:pt x="49" y="34"/>
                    <a:pt x="49" y="34"/>
                    <a:pt x="49" y="34"/>
                  </a:cubicBezTo>
                  <a:cubicBezTo>
                    <a:pt x="49" y="25"/>
                    <a:pt x="48" y="17"/>
                    <a:pt x="39" y="17"/>
                  </a:cubicBezTo>
                  <a:cubicBezTo>
                    <a:pt x="31" y="17"/>
                    <a:pt x="26" y="21"/>
                    <a:pt x="26" y="29"/>
                  </a:cubicBezTo>
                  <a:cubicBezTo>
                    <a:pt x="26" y="50"/>
                    <a:pt x="74" y="48"/>
                    <a:pt x="74" y="83"/>
                  </a:cubicBezTo>
                  <a:cubicBezTo>
                    <a:pt x="74" y="112"/>
                    <a:pt x="52" y="116"/>
                    <a:pt x="35"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solidFill>
                  <a:prstClr val="white"/>
                </a:solidFill>
              </a:endParaRPr>
            </a:p>
          </p:txBody>
        </p:sp>
        <p:sp>
          <p:nvSpPr>
            <p:cNvPr id="66" name="Freeform 26"/>
            <p:cNvSpPr>
              <a:spLocks/>
            </p:cNvSpPr>
            <p:nvPr userDrawn="1"/>
          </p:nvSpPr>
          <p:spPr bwMode="auto">
            <a:xfrm>
              <a:off x="10877550" y="6116638"/>
              <a:ext cx="120650" cy="184150"/>
            </a:xfrm>
            <a:custGeom>
              <a:avLst/>
              <a:gdLst>
                <a:gd name="T0" fmla="*/ 76 w 76"/>
                <a:gd name="T1" fmla="*/ 0 h 114"/>
                <a:gd name="T2" fmla="*/ 76 w 76"/>
                <a:gd name="T3" fmla="*/ 79 h 114"/>
                <a:gd name="T4" fmla="*/ 38 w 76"/>
                <a:gd name="T5" fmla="*/ 114 h 114"/>
                <a:gd name="T6" fmla="*/ 0 w 76"/>
                <a:gd name="T7" fmla="*/ 79 h 114"/>
                <a:gd name="T8" fmla="*/ 0 w 76"/>
                <a:gd name="T9" fmla="*/ 0 h 114"/>
                <a:gd name="T10" fmla="*/ 24 w 76"/>
                <a:gd name="T11" fmla="*/ 0 h 114"/>
                <a:gd name="T12" fmla="*/ 24 w 76"/>
                <a:gd name="T13" fmla="*/ 78 h 114"/>
                <a:gd name="T14" fmla="*/ 38 w 76"/>
                <a:gd name="T15" fmla="*/ 97 h 114"/>
                <a:gd name="T16" fmla="*/ 53 w 76"/>
                <a:gd name="T17" fmla="*/ 78 h 114"/>
                <a:gd name="T18" fmla="*/ 53 w 76"/>
                <a:gd name="T19" fmla="*/ 0 h 114"/>
                <a:gd name="T20" fmla="*/ 76 w 76"/>
                <a:gd name="T21"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114">
                  <a:moveTo>
                    <a:pt x="76" y="0"/>
                  </a:moveTo>
                  <a:cubicBezTo>
                    <a:pt x="76" y="79"/>
                    <a:pt x="76" y="79"/>
                    <a:pt x="76" y="79"/>
                  </a:cubicBezTo>
                  <a:cubicBezTo>
                    <a:pt x="76" y="96"/>
                    <a:pt x="67" y="114"/>
                    <a:pt x="38" y="114"/>
                  </a:cubicBezTo>
                  <a:cubicBezTo>
                    <a:pt x="13" y="114"/>
                    <a:pt x="0" y="101"/>
                    <a:pt x="0" y="79"/>
                  </a:cubicBezTo>
                  <a:cubicBezTo>
                    <a:pt x="0" y="0"/>
                    <a:pt x="0" y="0"/>
                    <a:pt x="0" y="0"/>
                  </a:cubicBezTo>
                  <a:cubicBezTo>
                    <a:pt x="24" y="0"/>
                    <a:pt x="24" y="0"/>
                    <a:pt x="24" y="0"/>
                  </a:cubicBezTo>
                  <a:cubicBezTo>
                    <a:pt x="24" y="78"/>
                    <a:pt x="24" y="78"/>
                    <a:pt x="24" y="78"/>
                  </a:cubicBezTo>
                  <a:cubicBezTo>
                    <a:pt x="24" y="92"/>
                    <a:pt x="30" y="97"/>
                    <a:pt x="38" y="97"/>
                  </a:cubicBezTo>
                  <a:cubicBezTo>
                    <a:pt x="48" y="97"/>
                    <a:pt x="53" y="90"/>
                    <a:pt x="53" y="78"/>
                  </a:cubicBezTo>
                  <a:cubicBezTo>
                    <a:pt x="53" y="0"/>
                    <a:pt x="53" y="0"/>
                    <a:pt x="53" y="0"/>
                  </a:cubicBezTo>
                  <a:lnTo>
                    <a:pt x="7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solidFill>
                  <a:prstClr val="white"/>
                </a:solidFill>
              </a:endParaRPr>
            </a:p>
          </p:txBody>
        </p:sp>
        <p:sp>
          <p:nvSpPr>
            <p:cNvPr id="67" name="Freeform 27"/>
            <p:cNvSpPr>
              <a:spLocks/>
            </p:cNvSpPr>
            <p:nvPr userDrawn="1"/>
          </p:nvSpPr>
          <p:spPr bwMode="auto">
            <a:xfrm>
              <a:off x="11026775" y="6116638"/>
              <a:ext cx="133350" cy="180975"/>
            </a:xfrm>
            <a:custGeom>
              <a:avLst/>
              <a:gdLst>
                <a:gd name="T0" fmla="*/ 0 w 84"/>
                <a:gd name="T1" fmla="*/ 114 h 114"/>
                <a:gd name="T2" fmla="*/ 0 w 84"/>
                <a:gd name="T3" fmla="*/ 0 h 114"/>
                <a:gd name="T4" fmla="*/ 32 w 84"/>
                <a:gd name="T5" fmla="*/ 0 h 114"/>
                <a:gd name="T6" fmla="*/ 61 w 84"/>
                <a:gd name="T7" fmla="*/ 79 h 114"/>
                <a:gd name="T8" fmla="*/ 62 w 84"/>
                <a:gd name="T9" fmla="*/ 79 h 114"/>
                <a:gd name="T10" fmla="*/ 62 w 84"/>
                <a:gd name="T11" fmla="*/ 0 h 114"/>
                <a:gd name="T12" fmla="*/ 84 w 84"/>
                <a:gd name="T13" fmla="*/ 0 h 114"/>
                <a:gd name="T14" fmla="*/ 84 w 84"/>
                <a:gd name="T15" fmla="*/ 114 h 114"/>
                <a:gd name="T16" fmla="*/ 53 w 84"/>
                <a:gd name="T17" fmla="*/ 114 h 114"/>
                <a:gd name="T18" fmla="*/ 22 w 84"/>
                <a:gd name="T19" fmla="*/ 31 h 114"/>
                <a:gd name="T20" fmla="*/ 22 w 84"/>
                <a:gd name="T21" fmla="*/ 31 h 114"/>
                <a:gd name="T22" fmla="*/ 22 w 84"/>
                <a:gd name="T23" fmla="*/ 114 h 114"/>
                <a:gd name="T24" fmla="*/ 0 w 84"/>
                <a:gd name="T25" fmla="*/ 11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114">
                  <a:moveTo>
                    <a:pt x="0" y="114"/>
                  </a:moveTo>
                  <a:lnTo>
                    <a:pt x="0" y="0"/>
                  </a:lnTo>
                  <a:lnTo>
                    <a:pt x="32" y="0"/>
                  </a:lnTo>
                  <a:lnTo>
                    <a:pt x="61" y="79"/>
                  </a:lnTo>
                  <a:lnTo>
                    <a:pt x="62" y="79"/>
                  </a:lnTo>
                  <a:lnTo>
                    <a:pt x="62" y="0"/>
                  </a:lnTo>
                  <a:lnTo>
                    <a:pt x="84" y="0"/>
                  </a:lnTo>
                  <a:lnTo>
                    <a:pt x="84" y="114"/>
                  </a:lnTo>
                  <a:lnTo>
                    <a:pt x="53" y="114"/>
                  </a:lnTo>
                  <a:lnTo>
                    <a:pt x="22" y="31"/>
                  </a:lnTo>
                  <a:lnTo>
                    <a:pt x="22" y="31"/>
                  </a:lnTo>
                  <a:lnTo>
                    <a:pt x="22" y="114"/>
                  </a:lnTo>
                  <a:lnTo>
                    <a:pt x="0" y="1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solidFill>
                  <a:prstClr val="white"/>
                </a:solidFill>
              </a:endParaRPr>
            </a:p>
          </p:txBody>
        </p:sp>
        <p:sp>
          <p:nvSpPr>
            <p:cNvPr id="68" name="Freeform 28"/>
            <p:cNvSpPr>
              <a:spLocks/>
            </p:cNvSpPr>
            <p:nvPr userDrawn="1"/>
          </p:nvSpPr>
          <p:spPr bwMode="auto">
            <a:xfrm>
              <a:off x="11187113" y="6116638"/>
              <a:ext cx="122238" cy="187325"/>
            </a:xfrm>
            <a:custGeom>
              <a:avLst/>
              <a:gdLst>
                <a:gd name="T0" fmla="*/ 53 w 77"/>
                <a:gd name="T1" fmla="*/ 36 h 116"/>
                <a:gd name="T2" fmla="*/ 39 w 77"/>
                <a:gd name="T3" fmla="*/ 17 h 116"/>
                <a:gd name="T4" fmla="*/ 24 w 77"/>
                <a:gd name="T5" fmla="*/ 58 h 116"/>
                <a:gd name="T6" fmla="*/ 41 w 77"/>
                <a:gd name="T7" fmla="*/ 99 h 116"/>
                <a:gd name="T8" fmla="*/ 53 w 77"/>
                <a:gd name="T9" fmla="*/ 97 h 116"/>
                <a:gd name="T10" fmla="*/ 53 w 77"/>
                <a:gd name="T11" fmla="*/ 72 h 116"/>
                <a:gd name="T12" fmla="*/ 40 w 77"/>
                <a:gd name="T13" fmla="*/ 72 h 116"/>
                <a:gd name="T14" fmla="*/ 40 w 77"/>
                <a:gd name="T15" fmla="*/ 55 h 116"/>
                <a:gd name="T16" fmla="*/ 76 w 77"/>
                <a:gd name="T17" fmla="*/ 55 h 116"/>
                <a:gd name="T18" fmla="*/ 76 w 77"/>
                <a:gd name="T19" fmla="*/ 112 h 116"/>
                <a:gd name="T20" fmla="*/ 44 w 77"/>
                <a:gd name="T21" fmla="*/ 116 h 116"/>
                <a:gd name="T22" fmla="*/ 0 w 77"/>
                <a:gd name="T23" fmla="*/ 57 h 116"/>
                <a:gd name="T24" fmla="*/ 40 w 77"/>
                <a:gd name="T25" fmla="*/ 0 h 116"/>
                <a:gd name="T26" fmla="*/ 76 w 77"/>
                <a:gd name="T27" fmla="*/ 36 h 116"/>
                <a:gd name="T28" fmla="*/ 53 w 77"/>
                <a:gd name="T29" fmla="*/ 3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7" h="116">
                  <a:moveTo>
                    <a:pt x="53" y="36"/>
                  </a:moveTo>
                  <a:cubicBezTo>
                    <a:pt x="53" y="26"/>
                    <a:pt x="51" y="17"/>
                    <a:pt x="39" y="17"/>
                  </a:cubicBezTo>
                  <a:cubicBezTo>
                    <a:pt x="24" y="17"/>
                    <a:pt x="24" y="36"/>
                    <a:pt x="24" y="58"/>
                  </a:cubicBezTo>
                  <a:cubicBezTo>
                    <a:pt x="24" y="93"/>
                    <a:pt x="28" y="99"/>
                    <a:pt x="41" y="99"/>
                  </a:cubicBezTo>
                  <a:cubicBezTo>
                    <a:pt x="45" y="99"/>
                    <a:pt x="49" y="99"/>
                    <a:pt x="53" y="97"/>
                  </a:cubicBezTo>
                  <a:cubicBezTo>
                    <a:pt x="53" y="72"/>
                    <a:pt x="53" y="72"/>
                    <a:pt x="53" y="72"/>
                  </a:cubicBezTo>
                  <a:cubicBezTo>
                    <a:pt x="40" y="72"/>
                    <a:pt x="40" y="72"/>
                    <a:pt x="40" y="72"/>
                  </a:cubicBezTo>
                  <a:cubicBezTo>
                    <a:pt x="40" y="55"/>
                    <a:pt x="40" y="55"/>
                    <a:pt x="40" y="55"/>
                  </a:cubicBezTo>
                  <a:cubicBezTo>
                    <a:pt x="76" y="55"/>
                    <a:pt x="76" y="55"/>
                    <a:pt x="76" y="55"/>
                  </a:cubicBezTo>
                  <a:cubicBezTo>
                    <a:pt x="76" y="112"/>
                    <a:pt x="76" y="112"/>
                    <a:pt x="76" y="112"/>
                  </a:cubicBezTo>
                  <a:cubicBezTo>
                    <a:pt x="70" y="113"/>
                    <a:pt x="54" y="116"/>
                    <a:pt x="44" y="116"/>
                  </a:cubicBezTo>
                  <a:cubicBezTo>
                    <a:pt x="5" y="116"/>
                    <a:pt x="0" y="99"/>
                    <a:pt x="0" y="57"/>
                  </a:cubicBezTo>
                  <a:cubicBezTo>
                    <a:pt x="0" y="29"/>
                    <a:pt x="2" y="0"/>
                    <a:pt x="40" y="0"/>
                  </a:cubicBezTo>
                  <a:cubicBezTo>
                    <a:pt x="63" y="0"/>
                    <a:pt x="77" y="13"/>
                    <a:pt x="76" y="36"/>
                  </a:cubicBezTo>
                  <a:lnTo>
                    <a:pt x="53"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solidFill>
                  <a:prstClr val="white"/>
                </a:solidFill>
              </a:endParaRPr>
            </a:p>
          </p:txBody>
        </p:sp>
        <p:sp>
          <p:nvSpPr>
            <p:cNvPr id="69" name="Freeform 29"/>
            <p:cNvSpPr>
              <a:spLocks/>
            </p:cNvSpPr>
            <p:nvPr userDrawn="1"/>
          </p:nvSpPr>
          <p:spPr bwMode="auto">
            <a:xfrm>
              <a:off x="11385550" y="6116638"/>
              <a:ext cx="117475" cy="187325"/>
            </a:xfrm>
            <a:custGeom>
              <a:avLst/>
              <a:gdLst>
                <a:gd name="T0" fmla="*/ 35 w 74"/>
                <a:gd name="T1" fmla="*/ 116 h 116"/>
                <a:gd name="T2" fmla="*/ 2 w 74"/>
                <a:gd name="T3" fmla="*/ 79 h 116"/>
                <a:gd name="T4" fmla="*/ 25 w 74"/>
                <a:gd name="T5" fmla="*/ 79 h 116"/>
                <a:gd name="T6" fmla="*/ 38 w 74"/>
                <a:gd name="T7" fmla="*/ 99 h 116"/>
                <a:gd name="T8" fmla="*/ 50 w 74"/>
                <a:gd name="T9" fmla="*/ 86 h 116"/>
                <a:gd name="T10" fmla="*/ 3 w 74"/>
                <a:gd name="T11" fmla="*/ 31 h 116"/>
                <a:gd name="T12" fmla="*/ 40 w 74"/>
                <a:gd name="T13" fmla="*/ 0 h 116"/>
                <a:gd name="T14" fmla="*/ 73 w 74"/>
                <a:gd name="T15" fmla="*/ 34 h 116"/>
                <a:gd name="T16" fmla="*/ 50 w 74"/>
                <a:gd name="T17" fmla="*/ 34 h 116"/>
                <a:gd name="T18" fmla="*/ 39 w 74"/>
                <a:gd name="T19" fmla="*/ 17 h 116"/>
                <a:gd name="T20" fmla="*/ 27 w 74"/>
                <a:gd name="T21" fmla="*/ 29 h 116"/>
                <a:gd name="T22" fmla="*/ 74 w 74"/>
                <a:gd name="T23" fmla="*/ 83 h 116"/>
                <a:gd name="T24" fmla="*/ 35 w 74"/>
                <a:gd name="T25"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4" h="116">
                  <a:moveTo>
                    <a:pt x="35" y="116"/>
                  </a:moveTo>
                  <a:cubicBezTo>
                    <a:pt x="6" y="116"/>
                    <a:pt x="0" y="99"/>
                    <a:pt x="2" y="79"/>
                  </a:cubicBezTo>
                  <a:cubicBezTo>
                    <a:pt x="25" y="79"/>
                    <a:pt x="25" y="79"/>
                    <a:pt x="25" y="79"/>
                  </a:cubicBezTo>
                  <a:cubicBezTo>
                    <a:pt x="25" y="90"/>
                    <a:pt x="25" y="99"/>
                    <a:pt x="38" y="99"/>
                  </a:cubicBezTo>
                  <a:cubicBezTo>
                    <a:pt x="46" y="99"/>
                    <a:pt x="50" y="94"/>
                    <a:pt x="50" y="86"/>
                  </a:cubicBezTo>
                  <a:cubicBezTo>
                    <a:pt x="50" y="66"/>
                    <a:pt x="3" y="65"/>
                    <a:pt x="3" y="31"/>
                  </a:cubicBezTo>
                  <a:cubicBezTo>
                    <a:pt x="3" y="14"/>
                    <a:pt x="11" y="0"/>
                    <a:pt x="40" y="0"/>
                  </a:cubicBezTo>
                  <a:cubicBezTo>
                    <a:pt x="63" y="0"/>
                    <a:pt x="74" y="10"/>
                    <a:pt x="73" y="34"/>
                  </a:cubicBezTo>
                  <a:cubicBezTo>
                    <a:pt x="50" y="34"/>
                    <a:pt x="50" y="34"/>
                    <a:pt x="50" y="34"/>
                  </a:cubicBezTo>
                  <a:cubicBezTo>
                    <a:pt x="50" y="25"/>
                    <a:pt x="48" y="17"/>
                    <a:pt x="39" y="17"/>
                  </a:cubicBezTo>
                  <a:cubicBezTo>
                    <a:pt x="31" y="17"/>
                    <a:pt x="27" y="21"/>
                    <a:pt x="27" y="29"/>
                  </a:cubicBezTo>
                  <a:cubicBezTo>
                    <a:pt x="27" y="50"/>
                    <a:pt x="74" y="48"/>
                    <a:pt x="74" y="83"/>
                  </a:cubicBezTo>
                  <a:cubicBezTo>
                    <a:pt x="74" y="112"/>
                    <a:pt x="53" y="116"/>
                    <a:pt x="35"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solidFill>
                  <a:prstClr val="white"/>
                </a:solidFill>
              </a:endParaRPr>
            </a:p>
          </p:txBody>
        </p:sp>
        <p:sp>
          <p:nvSpPr>
            <p:cNvPr id="70" name="Freeform 30"/>
            <p:cNvSpPr>
              <a:spLocks noEditPoints="1"/>
            </p:cNvSpPr>
            <p:nvPr userDrawn="1"/>
          </p:nvSpPr>
          <p:spPr bwMode="auto">
            <a:xfrm>
              <a:off x="11526838" y="6116638"/>
              <a:ext cx="125413" cy="180975"/>
            </a:xfrm>
            <a:custGeom>
              <a:avLst/>
              <a:gdLst>
                <a:gd name="T0" fmla="*/ 0 w 79"/>
                <a:gd name="T1" fmla="*/ 0 h 112"/>
                <a:gd name="T2" fmla="*/ 39 w 79"/>
                <a:gd name="T3" fmla="*/ 0 h 112"/>
                <a:gd name="T4" fmla="*/ 76 w 79"/>
                <a:gd name="T5" fmla="*/ 55 h 112"/>
                <a:gd name="T6" fmla="*/ 39 w 79"/>
                <a:gd name="T7" fmla="*/ 112 h 112"/>
                <a:gd name="T8" fmla="*/ 0 w 79"/>
                <a:gd name="T9" fmla="*/ 112 h 112"/>
                <a:gd name="T10" fmla="*/ 0 w 79"/>
                <a:gd name="T11" fmla="*/ 0 h 112"/>
                <a:gd name="T12" fmla="*/ 24 w 79"/>
                <a:gd name="T13" fmla="*/ 95 h 112"/>
                <a:gd name="T14" fmla="*/ 35 w 79"/>
                <a:gd name="T15" fmla="*/ 95 h 112"/>
                <a:gd name="T16" fmla="*/ 52 w 79"/>
                <a:gd name="T17" fmla="*/ 56 h 112"/>
                <a:gd name="T18" fmla="*/ 36 w 79"/>
                <a:gd name="T19" fmla="*/ 17 h 112"/>
                <a:gd name="T20" fmla="*/ 24 w 79"/>
                <a:gd name="T21" fmla="*/ 17 h 112"/>
                <a:gd name="T22" fmla="*/ 24 w 79"/>
                <a:gd name="T23" fmla="*/ 95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9" h="112">
                  <a:moveTo>
                    <a:pt x="0" y="0"/>
                  </a:moveTo>
                  <a:cubicBezTo>
                    <a:pt x="39" y="0"/>
                    <a:pt x="39" y="0"/>
                    <a:pt x="39" y="0"/>
                  </a:cubicBezTo>
                  <a:cubicBezTo>
                    <a:pt x="70" y="0"/>
                    <a:pt x="76" y="20"/>
                    <a:pt x="76" y="55"/>
                  </a:cubicBezTo>
                  <a:cubicBezTo>
                    <a:pt x="76" y="73"/>
                    <a:pt x="79" y="112"/>
                    <a:pt x="39" y="112"/>
                  </a:cubicBezTo>
                  <a:cubicBezTo>
                    <a:pt x="0" y="112"/>
                    <a:pt x="0" y="112"/>
                    <a:pt x="0" y="112"/>
                  </a:cubicBezTo>
                  <a:lnTo>
                    <a:pt x="0" y="0"/>
                  </a:lnTo>
                  <a:close/>
                  <a:moveTo>
                    <a:pt x="24" y="95"/>
                  </a:moveTo>
                  <a:cubicBezTo>
                    <a:pt x="35" y="95"/>
                    <a:pt x="35" y="95"/>
                    <a:pt x="35" y="95"/>
                  </a:cubicBezTo>
                  <a:cubicBezTo>
                    <a:pt x="49" y="95"/>
                    <a:pt x="52" y="84"/>
                    <a:pt x="52" y="56"/>
                  </a:cubicBezTo>
                  <a:cubicBezTo>
                    <a:pt x="52" y="35"/>
                    <a:pt x="52" y="17"/>
                    <a:pt x="36" y="17"/>
                  </a:cubicBezTo>
                  <a:cubicBezTo>
                    <a:pt x="24" y="17"/>
                    <a:pt x="24" y="17"/>
                    <a:pt x="24" y="17"/>
                  </a:cubicBezTo>
                  <a:lnTo>
                    <a:pt x="24" y="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solidFill>
                  <a:prstClr val="white"/>
                </a:solidFill>
              </a:endParaRPr>
            </a:p>
          </p:txBody>
        </p:sp>
        <p:sp>
          <p:nvSpPr>
            <p:cNvPr id="71" name="Freeform 31"/>
            <p:cNvSpPr>
              <a:spLocks/>
            </p:cNvSpPr>
            <p:nvPr userDrawn="1"/>
          </p:nvSpPr>
          <p:spPr bwMode="auto">
            <a:xfrm>
              <a:off x="11669713" y="6116638"/>
              <a:ext cx="117475" cy="187325"/>
            </a:xfrm>
            <a:custGeom>
              <a:avLst/>
              <a:gdLst>
                <a:gd name="T0" fmla="*/ 34 w 74"/>
                <a:gd name="T1" fmla="*/ 116 h 116"/>
                <a:gd name="T2" fmla="*/ 1 w 74"/>
                <a:gd name="T3" fmla="*/ 79 h 116"/>
                <a:gd name="T4" fmla="*/ 25 w 74"/>
                <a:gd name="T5" fmla="*/ 79 h 116"/>
                <a:gd name="T6" fmla="*/ 38 w 74"/>
                <a:gd name="T7" fmla="*/ 99 h 116"/>
                <a:gd name="T8" fmla="*/ 50 w 74"/>
                <a:gd name="T9" fmla="*/ 86 h 116"/>
                <a:gd name="T10" fmla="*/ 3 w 74"/>
                <a:gd name="T11" fmla="*/ 31 h 116"/>
                <a:gd name="T12" fmla="*/ 40 w 74"/>
                <a:gd name="T13" fmla="*/ 0 h 116"/>
                <a:gd name="T14" fmla="*/ 72 w 74"/>
                <a:gd name="T15" fmla="*/ 34 h 116"/>
                <a:gd name="T16" fmla="*/ 49 w 74"/>
                <a:gd name="T17" fmla="*/ 34 h 116"/>
                <a:gd name="T18" fmla="*/ 38 w 74"/>
                <a:gd name="T19" fmla="*/ 17 h 116"/>
                <a:gd name="T20" fmla="*/ 26 w 74"/>
                <a:gd name="T21" fmla="*/ 29 h 116"/>
                <a:gd name="T22" fmla="*/ 74 w 74"/>
                <a:gd name="T23" fmla="*/ 83 h 116"/>
                <a:gd name="T24" fmla="*/ 34 w 74"/>
                <a:gd name="T25"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4" h="116">
                  <a:moveTo>
                    <a:pt x="34" y="116"/>
                  </a:moveTo>
                  <a:cubicBezTo>
                    <a:pt x="5" y="116"/>
                    <a:pt x="0" y="99"/>
                    <a:pt x="1" y="79"/>
                  </a:cubicBezTo>
                  <a:cubicBezTo>
                    <a:pt x="25" y="79"/>
                    <a:pt x="25" y="79"/>
                    <a:pt x="25" y="79"/>
                  </a:cubicBezTo>
                  <a:cubicBezTo>
                    <a:pt x="25" y="90"/>
                    <a:pt x="25" y="99"/>
                    <a:pt x="38" y="99"/>
                  </a:cubicBezTo>
                  <a:cubicBezTo>
                    <a:pt x="46" y="99"/>
                    <a:pt x="50" y="94"/>
                    <a:pt x="50" y="86"/>
                  </a:cubicBezTo>
                  <a:cubicBezTo>
                    <a:pt x="50" y="66"/>
                    <a:pt x="3" y="65"/>
                    <a:pt x="3" y="31"/>
                  </a:cubicBezTo>
                  <a:cubicBezTo>
                    <a:pt x="3" y="14"/>
                    <a:pt x="11" y="0"/>
                    <a:pt x="40" y="0"/>
                  </a:cubicBezTo>
                  <a:cubicBezTo>
                    <a:pt x="62" y="0"/>
                    <a:pt x="74" y="10"/>
                    <a:pt x="72" y="34"/>
                  </a:cubicBezTo>
                  <a:cubicBezTo>
                    <a:pt x="49" y="34"/>
                    <a:pt x="49" y="34"/>
                    <a:pt x="49" y="34"/>
                  </a:cubicBezTo>
                  <a:cubicBezTo>
                    <a:pt x="49" y="25"/>
                    <a:pt x="48" y="17"/>
                    <a:pt x="38" y="17"/>
                  </a:cubicBezTo>
                  <a:cubicBezTo>
                    <a:pt x="31" y="17"/>
                    <a:pt x="26" y="21"/>
                    <a:pt x="26" y="29"/>
                  </a:cubicBezTo>
                  <a:cubicBezTo>
                    <a:pt x="26" y="50"/>
                    <a:pt x="74" y="48"/>
                    <a:pt x="74" y="83"/>
                  </a:cubicBezTo>
                  <a:cubicBezTo>
                    <a:pt x="74" y="112"/>
                    <a:pt x="52" y="116"/>
                    <a:pt x="34"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solidFill>
                  <a:prstClr val="white"/>
                </a:solidFill>
              </a:endParaRPr>
            </a:p>
          </p:txBody>
        </p:sp>
      </p:grpSp>
    </p:spTree>
    <p:extLst>
      <p:ext uri="{BB962C8B-B14F-4D97-AF65-F5344CB8AC3E}">
        <p14:creationId xmlns:p14="http://schemas.microsoft.com/office/powerpoint/2010/main" val="39429189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52370EA-BD00-6C4F-B752-2AA209D11AB3}"/>
              </a:ext>
            </a:extLst>
          </p:cNvPr>
          <p:cNvSpPr txBox="1"/>
          <p:nvPr/>
        </p:nvSpPr>
        <p:spPr>
          <a:xfrm>
            <a:off x="1343404" y="1600391"/>
            <a:ext cx="2182001" cy="455496"/>
          </a:xfrm>
          <a:prstGeom prst="rect">
            <a:avLst/>
          </a:prstGeom>
          <a:noFill/>
        </p:spPr>
        <p:txBody>
          <a:bodyPr wrap="none" lIns="0" tIns="0" rIns="0" bIns="0" rtlCol="0" anchor="b" anchorCtr="0">
            <a:noAutofit/>
          </a:bodyPr>
          <a:lstStyle/>
          <a:p>
            <a:pPr marL="0" marR="0" lvl="0" indent="0" algn="l" defTabSz="685749" rtl="0" eaLnBrk="1" fontAlgn="auto" latinLnBrk="1" hangingPunct="1">
              <a:lnSpc>
                <a:spcPct val="100000"/>
              </a:lnSpc>
              <a:spcBef>
                <a:spcPts val="0"/>
              </a:spcBef>
              <a:spcAft>
                <a:spcPts val="0"/>
              </a:spcAft>
              <a:buClrTx/>
              <a:buSzTx/>
              <a:buFontTx/>
              <a:buNone/>
              <a:tabLst/>
              <a:defRPr/>
            </a:pPr>
            <a:r>
              <a:rPr kumimoji="0" lang="en-US" altLang="ko-KR" sz="2800" u="none" strike="noStrike" kern="1200" cap="none" spc="0" normalizeH="0" baseline="0" noProof="0" dirty="0">
                <a:ln>
                  <a:solidFill>
                    <a:prstClr val="white">
                      <a:alpha val="0"/>
                    </a:prstClr>
                  </a:solidFill>
                </a:ln>
                <a:effectLst/>
                <a:uLnTx/>
                <a:uFillTx/>
                <a:latin typeface="나눔스퀘어 ExtraBold" panose="020B0600000101010101" pitchFamily="50" charset="-127"/>
                <a:ea typeface="나눔스퀘어 ExtraBold" panose="020B0600000101010101" pitchFamily="50" charset="-127"/>
                <a:cs typeface="나눔스퀘어" panose="00000700000000000000" pitchFamily="2" charset="0"/>
              </a:rPr>
              <a:t>AGENDA</a:t>
            </a:r>
          </a:p>
        </p:txBody>
      </p:sp>
      <p:sp>
        <p:nvSpPr>
          <p:cNvPr id="6" name="TextBox 5">
            <a:extLst>
              <a:ext uri="{FF2B5EF4-FFF2-40B4-BE49-F238E27FC236}">
                <a16:creationId xmlns:a16="http://schemas.microsoft.com/office/drawing/2014/main" id="{412A2B55-9847-1344-BBB3-2235C1597733}"/>
              </a:ext>
            </a:extLst>
          </p:cNvPr>
          <p:cNvSpPr txBox="1"/>
          <p:nvPr/>
        </p:nvSpPr>
        <p:spPr>
          <a:xfrm>
            <a:off x="1938412" y="2227807"/>
            <a:ext cx="4404475" cy="2738057"/>
          </a:xfrm>
          <a:prstGeom prst="rect">
            <a:avLst/>
          </a:prstGeom>
          <a:noFill/>
        </p:spPr>
        <p:txBody>
          <a:bodyPr wrap="none" rtlCol="0" anchor="t" anchorCtr="0">
            <a:spAutoFit/>
          </a:bodyPr>
          <a:lstStyle/>
          <a:p>
            <a:pPr>
              <a:lnSpc>
                <a:spcPct val="200000"/>
              </a:lnSpc>
              <a:defRPr/>
            </a:pPr>
            <a:r>
              <a:rPr lang="en-US" altLang="ko-KR" sz="3000" b="1" spc="-70" dirty="0">
                <a:ln>
                  <a:solidFill>
                    <a:prstClr val="white">
                      <a:alpha val="0"/>
                    </a:prstClr>
                  </a:solidFill>
                </a:ln>
                <a:latin typeface="나눔스퀘어 Bold" panose="020B0600000101010101" pitchFamily="50" charset="-127"/>
                <a:ea typeface="나눔스퀘어 Bold" panose="020B0600000101010101" pitchFamily="50" charset="-127"/>
                <a:cs typeface="나눔스퀘어" panose="02000603000000020004" pitchFamily="50" charset="-127"/>
              </a:rPr>
              <a:t>Executive Summary</a:t>
            </a:r>
          </a:p>
          <a:p>
            <a:pPr>
              <a:lnSpc>
                <a:spcPct val="200000"/>
              </a:lnSpc>
              <a:defRPr/>
            </a:pPr>
            <a:r>
              <a:rPr lang="en-US" altLang="ko-KR" sz="3000" b="1" spc="-70" dirty="0">
                <a:ln>
                  <a:solidFill>
                    <a:prstClr val="white">
                      <a:alpha val="0"/>
                    </a:prstClr>
                  </a:solidFill>
                </a:ln>
                <a:latin typeface="나눔스퀘어 Bold" panose="020B0600000101010101" pitchFamily="50" charset="-127"/>
                <a:ea typeface="나눔스퀘어 Bold" panose="020B0600000101010101" pitchFamily="50" charset="-127"/>
                <a:cs typeface="나눔스퀘어" panose="02000603000000020004" pitchFamily="50" charset="-127"/>
              </a:rPr>
              <a:t>2026</a:t>
            </a:r>
            <a:r>
              <a:rPr lang="ko-KR" altLang="en-US" sz="3000" b="1" spc="-70" dirty="0">
                <a:ln>
                  <a:solidFill>
                    <a:prstClr val="white">
                      <a:alpha val="0"/>
                    </a:prstClr>
                  </a:solidFill>
                </a:ln>
                <a:latin typeface="나눔스퀘어 Bold" panose="020B0600000101010101" pitchFamily="50" charset="-127"/>
                <a:ea typeface="나눔스퀘어 Bold" panose="020B0600000101010101" pitchFamily="50" charset="-127"/>
                <a:cs typeface="나눔스퀘어" panose="02000603000000020004" pitchFamily="50" charset="-127"/>
              </a:rPr>
              <a:t> </a:t>
            </a:r>
            <a:r>
              <a:rPr lang="en-US" altLang="ko-KR" sz="3000" b="1" spc="-70" dirty="0">
                <a:ln>
                  <a:solidFill>
                    <a:prstClr val="white">
                      <a:alpha val="0"/>
                    </a:prstClr>
                  </a:solidFill>
                </a:ln>
                <a:latin typeface="나눔스퀘어 Bold" panose="020B0600000101010101" pitchFamily="50" charset="-127"/>
                <a:ea typeface="나눔스퀘어 Bold" panose="020B0600000101010101" pitchFamily="50" charset="-127"/>
                <a:cs typeface="나눔스퀘어" panose="02000603000000020004" pitchFamily="50" charset="-127"/>
              </a:rPr>
              <a:t>1H</a:t>
            </a:r>
            <a:r>
              <a:rPr lang="ko-KR" altLang="en-US" sz="3000" b="1" spc="-70" dirty="0">
                <a:ln>
                  <a:solidFill>
                    <a:prstClr val="white">
                      <a:alpha val="0"/>
                    </a:prstClr>
                  </a:solidFill>
                </a:ln>
                <a:latin typeface="나눔스퀘어 Bold" panose="020B0600000101010101" pitchFamily="50" charset="-127"/>
                <a:ea typeface="나눔스퀘어 Bold" panose="020B0600000101010101" pitchFamily="50" charset="-127"/>
                <a:cs typeface="나눔스퀘어" panose="02000603000000020004" pitchFamily="50" charset="-127"/>
              </a:rPr>
              <a:t> </a:t>
            </a:r>
            <a:r>
              <a:rPr lang="en-US" altLang="ko-KR" sz="3000" b="1" spc="-70" dirty="0">
                <a:ln>
                  <a:solidFill>
                    <a:prstClr val="white">
                      <a:alpha val="0"/>
                    </a:prstClr>
                  </a:solidFill>
                </a:ln>
                <a:latin typeface="나눔스퀘어 Bold" panose="020B0600000101010101" pitchFamily="50" charset="-127"/>
                <a:ea typeface="나눔스퀘어 Bold" panose="020B0600000101010101" pitchFamily="50" charset="-127"/>
                <a:cs typeface="나눔스퀘어" panose="02000603000000020004" pitchFamily="50" charset="-127"/>
              </a:rPr>
              <a:t>Market Review</a:t>
            </a:r>
          </a:p>
          <a:p>
            <a:pPr>
              <a:lnSpc>
                <a:spcPct val="200000"/>
              </a:lnSpc>
              <a:defRPr/>
            </a:pPr>
            <a:r>
              <a:rPr lang="en-US" altLang="ko-KR" sz="3000" b="1" spc="-70" dirty="0">
                <a:ln>
                  <a:solidFill>
                    <a:prstClr val="white">
                      <a:alpha val="0"/>
                    </a:prstClr>
                  </a:solidFill>
                </a:ln>
                <a:latin typeface="나눔스퀘어 Bold" panose="020B0600000101010101" pitchFamily="50" charset="-127"/>
                <a:ea typeface="나눔스퀘어 Bold" panose="020B0600000101010101" pitchFamily="50" charset="-127"/>
                <a:cs typeface="나눔스퀘어" panose="02000603000000020004" pitchFamily="50" charset="-127"/>
              </a:rPr>
              <a:t>2026</a:t>
            </a:r>
            <a:r>
              <a:rPr lang="ko-KR" altLang="en-US" sz="3000" b="1" spc="-70" dirty="0">
                <a:ln>
                  <a:solidFill>
                    <a:prstClr val="white">
                      <a:alpha val="0"/>
                    </a:prstClr>
                  </a:solidFill>
                </a:ln>
                <a:latin typeface="나눔스퀘어 Bold" panose="020B0600000101010101" pitchFamily="50" charset="-127"/>
                <a:ea typeface="나눔스퀘어 Bold" panose="020B0600000101010101" pitchFamily="50" charset="-127"/>
                <a:cs typeface="나눔스퀘어" panose="02000603000000020004" pitchFamily="50" charset="-127"/>
              </a:rPr>
              <a:t> </a:t>
            </a:r>
            <a:r>
              <a:rPr lang="en-US" altLang="ko-KR" sz="3000" b="1" spc="-70" dirty="0">
                <a:ln>
                  <a:solidFill>
                    <a:prstClr val="white">
                      <a:alpha val="0"/>
                    </a:prstClr>
                  </a:solidFill>
                </a:ln>
                <a:latin typeface="나눔스퀘어 Bold" panose="020B0600000101010101" pitchFamily="50" charset="-127"/>
                <a:ea typeface="나눔스퀘어 Bold" panose="020B0600000101010101" pitchFamily="50" charset="-127"/>
                <a:cs typeface="나눔스퀘어" panose="02000603000000020004" pitchFamily="50" charset="-127"/>
              </a:rPr>
              <a:t>2H</a:t>
            </a:r>
            <a:r>
              <a:rPr lang="ko-KR" altLang="en-US" sz="3000" b="1" spc="-70" dirty="0">
                <a:ln>
                  <a:solidFill>
                    <a:prstClr val="white">
                      <a:alpha val="0"/>
                    </a:prstClr>
                  </a:solidFill>
                </a:ln>
                <a:latin typeface="나눔스퀘어 Bold" panose="020B0600000101010101" pitchFamily="50" charset="-127"/>
                <a:ea typeface="나눔스퀘어 Bold" panose="020B0600000101010101" pitchFamily="50" charset="-127"/>
                <a:cs typeface="나눔스퀘어" panose="02000603000000020004" pitchFamily="50" charset="-127"/>
              </a:rPr>
              <a:t> </a:t>
            </a:r>
            <a:r>
              <a:rPr lang="en-US" altLang="ko-KR" sz="3000" b="1" spc="-70" dirty="0">
                <a:ln>
                  <a:solidFill>
                    <a:prstClr val="white">
                      <a:alpha val="0"/>
                    </a:prstClr>
                  </a:solidFill>
                </a:ln>
                <a:latin typeface="나눔스퀘어 Bold" panose="020B0600000101010101" pitchFamily="50" charset="-127"/>
                <a:ea typeface="나눔스퀘어 Bold" panose="020B0600000101010101" pitchFamily="50" charset="-127"/>
                <a:cs typeface="나눔스퀘어" panose="02000603000000020004" pitchFamily="50" charset="-127"/>
              </a:rPr>
              <a:t>Market Outlook</a:t>
            </a:r>
          </a:p>
        </p:txBody>
      </p:sp>
      <p:sp>
        <p:nvSpPr>
          <p:cNvPr id="7" name="TextBox 6">
            <a:extLst>
              <a:ext uri="{FF2B5EF4-FFF2-40B4-BE49-F238E27FC236}">
                <a16:creationId xmlns:a16="http://schemas.microsoft.com/office/drawing/2014/main" id="{39DBCCE7-6CE5-624D-9E3A-1B5ECBBAA35C}"/>
              </a:ext>
            </a:extLst>
          </p:cNvPr>
          <p:cNvSpPr txBox="1"/>
          <p:nvPr/>
        </p:nvSpPr>
        <p:spPr>
          <a:xfrm>
            <a:off x="1242812" y="2273932"/>
            <a:ext cx="695600" cy="2862322"/>
          </a:xfrm>
          <a:prstGeom prst="rect">
            <a:avLst/>
          </a:prstGeom>
          <a:noFill/>
        </p:spPr>
        <p:txBody>
          <a:bodyPr wrap="square" rtlCol="0" anchor="t" anchorCtr="0">
            <a:spAutoFit/>
          </a:bodyPr>
          <a:lstStyle/>
          <a:p>
            <a:pPr marL="0" marR="0" lvl="0" indent="0" defTabSz="912736" rtl="0" eaLnBrk="1" fontAlgn="auto" latinLnBrk="1" hangingPunct="1">
              <a:lnSpc>
                <a:spcPts val="7000"/>
              </a:lnSpc>
              <a:spcBef>
                <a:spcPts val="0"/>
              </a:spcBef>
              <a:spcAft>
                <a:spcPts val="0"/>
              </a:spcAft>
              <a:buClrTx/>
              <a:buSzTx/>
              <a:buFontTx/>
              <a:buNone/>
              <a:tabLst/>
              <a:defRPr/>
            </a:pPr>
            <a:r>
              <a:rPr kumimoji="0" lang="en-US" altLang="ko-KR" sz="3200" b="1" u="none" strike="noStrike" kern="1200" cap="none" spc="-50" normalizeH="0" baseline="0" noProof="0" dirty="0">
                <a:ln>
                  <a:solidFill>
                    <a:prstClr val="white">
                      <a:alpha val="0"/>
                    </a:prstClr>
                  </a:solidFill>
                </a:ln>
                <a:solidFill>
                  <a:srgbClr val="1428A0"/>
                </a:solidFill>
                <a:effectLst/>
                <a:uLnTx/>
                <a:uFillTx/>
                <a:latin typeface="나눔스퀘어 Bold" panose="020B0600000101010101" pitchFamily="50" charset="-127"/>
                <a:ea typeface="나눔스퀘어 Bold" panose="020B0600000101010101" pitchFamily="50" charset="-127"/>
              </a:rPr>
              <a:t>I.</a:t>
            </a:r>
          </a:p>
          <a:p>
            <a:pPr marL="0" marR="0" lvl="0" indent="0" defTabSz="912736" rtl="0" eaLnBrk="1" fontAlgn="auto" latinLnBrk="1" hangingPunct="1">
              <a:lnSpc>
                <a:spcPts val="7000"/>
              </a:lnSpc>
              <a:spcBef>
                <a:spcPts val="0"/>
              </a:spcBef>
              <a:spcAft>
                <a:spcPts val="0"/>
              </a:spcAft>
              <a:buClrTx/>
              <a:buSzTx/>
              <a:buFontTx/>
              <a:buNone/>
              <a:tabLst/>
              <a:defRPr/>
            </a:pPr>
            <a:r>
              <a:rPr kumimoji="0" lang="en-US" altLang="ko-KR" sz="3200" b="1" u="none" strike="noStrike" kern="1200" cap="none" spc="-50" normalizeH="0" baseline="0" noProof="0" dirty="0">
                <a:ln>
                  <a:solidFill>
                    <a:prstClr val="white">
                      <a:alpha val="0"/>
                    </a:prstClr>
                  </a:solidFill>
                </a:ln>
                <a:solidFill>
                  <a:srgbClr val="1428A0"/>
                </a:solidFill>
                <a:effectLst/>
                <a:uLnTx/>
                <a:uFillTx/>
                <a:latin typeface="나눔스퀘어 Bold" panose="020B0600000101010101" pitchFamily="50" charset="-127"/>
                <a:ea typeface="나눔스퀘어 Bold" panose="020B0600000101010101" pitchFamily="50" charset="-127"/>
              </a:rPr>
              <a:t>II.</a:t>
            </a:r>
          </a:p>
          <a:p>
            <a:pPr marL="0" marR="0" lvl="0" indent="0" defTabSz="912736" rtl="0" eaLnBrk="1" fontAlgn="auto" latinLnBrk="1" hangingPunct="1">
              <a:lnSpc>
                <a:spcPts val="7000"/>
              </a:lnSpc>
              <a:spcBef>
                <a:spcPts val="0"/>
              </a:spcBef>
              <a:spcAft>
                <a:spcPts val="0"/>
              </a:spcAft>
              <a:buClrTx/>
              <a:buSzTx/>
              <a:buFontTx/>
              <a:buNone/>
              <a:tabLst/>
              <a:defRPr/>
            </a:pPr>
            <a:r>
              <a:rPr lang="en-US" altLang="ko-KR" sz="3200" b="1" spc="-50" dirty="0">
                <a:ln>
                  <a:solidFill>
                    <a:prstClr val="white">
                      <a:alpha val="0"/>
                    </a:prstClr>
                  </a:solidFill>
                </a:ln>
                <a:solidFill>
                  <a:srgbClr val="1428A0"/>
                </a:solidFill>
                <a:latin typeface="나눔스퀘어 Bold" panose="020B0600000101010101" pitchFamily="50" charset="-127"/>
                <a:ea typeface="나눔스퀘어 Bold" panose="020B0600000101010101" pitchFamily="50" charset="-127"/>
              </a:rPr>
              <a:t>Ⅲ</a:t>
            </a:r>
            <a:r>
              <a:rPr lang="en-US" altLang="ko-KR" sz="3200" b="1" spc="-50" dirty="0" smtClean="0">
                <a:ln>
                  <a:solidFill>
                    <a:prstClr val="white">
                      <a:alpha val="0"/>
                    </a:prstClr>
                  </a:solidFill>
                </a:ln>
                <a:solidFill>
                  <a:srgbClr val="1428A0"/>
                </a:solidFill>
                <a:latin typeface="나눔스퀘어 Bold" panose="020B0600000101010101" pitchFamily="50" charset="-127"/>
                <a:ea typeface="나눔스퀘어 Bold" panose="020B0600000101010101" pitchFamily="50" charset="-127"/>
              </a:rPr>
              <a:t>.</a:t>
            </a:r>
            <a:endParaRPr lang="en-US" altLang="ko-KR" sz="3200" b="1" spc="-50" dirty="0">
              <a:ln>
                <a:solidFill>
                  <a:prstClr val="white">
                    <a:alpha val="0"/>
                  </a:prstClr>
                </a:solidFill>
              </a:ln>
              <a:solidFill>
                <a:srgbClr val="1428A0"/>
              </a:solidFill>
              <a:latin typeface="나눔스퀘어 Bold" panose="020B0600000101010101" pitchFamily="50" charset="-127"/>
              <a:ea typeface="나눔스퀘어 Bold" panose="020B0600000101010101" pitchFamily="50" charset="-127"/>
            </a:endParaRPr>
          </a:p>
        </p:txBody>
      </p:sp>
    </p:spTree>
    <p:extLst>
      <p:ext uri="{BB962C8B-B14F-4D97-AF65-F5344CB8AC3E}">
        <p14:creationId xmlns:p14="http://schemas.microsoft.com/office/powerpoint/2010/main" val="1559640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6200E7D-FDD1-7B40-8B62-165CA944F069}"/>
              </a:ext>
            </a:extLst>
          </p:cNvPr>
          <p:cNvSpPr txBox="1"/>
          <p:nvPr/>
        </p:nvSpPr>
        <p:spPr>
          <a:xfrm>
            <a:off x="821897" y="3156507"/>
            <a:ext cx="959091" cy="861774"/>
          </a:xfrm>
          <a:prstGeom prst="rect">
            <a:avLst/>
          </a:prstGeom>
          <a:noFill/>
        </p:spPr>
        <p:txBody>
          <a:bodyPr wrap="square" rtlCol="0" anchor="ctr" anchorCtr="0">
            <a:spAutoFit/>
          </a:bodyPr>
          <a:lstStyle/>
          <a:p>
            <a:pPr lvl="0" defTabSz="912736">
              <a:defRPr/>
            </a:pPr>
            <a:r>
              <a:rPr lang="en-US" altLang="ko-KR" sz="5000" b="1" spc="-50" dirty="0">
                <a:ln>
                  <a:solidFill>
                    <a:prstClr val="white">
                      <a:alpha val="0"/>
                    </a:prstClr>
                  </a:solidFill>
                </a:ln>
                <a:solidFill>
                  <a:srgbClr val="1428A0"/>
                </a:solidFill>
                <a:latin typeface="나눔스퀘어 Bold" panose="020B0600000101010101" pitchFamily="50" charset="-127"/>
                <a:ea typeface="나눔스퀘어 Bold" panose="020B0600000101010101" pitchFamily="50" charset="-127"/>
              </a:rPr>
              <a:t>Ⅰ.</a:t>
            </a:r>
          </a:p>
        </p:txBody>
      </p:sp>
      <p:sp>
        <p:nvSpPr>
          <p:cNvPr id="6" name="TextBox 5">
            <a:extLst>
              <a:ext uri="{FF2B5EF4-FFF2-40B4-BE49-F238E27FC236}">
                <a16:creationId xmlns:a16="http://schemas.microsoft.com/office/drawing/2014/main" id="{311EAEE3-D533-2646-9590-C3056B8E1BC0}"/>
              </a:ext>
            </a:extLst>
          </p:cNvPr>
          <p:cNvSpPr txBox="1"/>
          <p:nvPr/>
        </p:nvSpPr>
        <p:spPr>
          <a:xfrm>
            <a:off x="1780989" y="3156506"/>
            <a:ext cx="5972789" cy="861774"/>
          </a:xfrm>
          <a:prstGeom prst="rect">
            <a:avLst/>
          </a:prstGeom>
          <a:noFill/>
        </p:spPr>
        <p:txBody>
          <a:bodyPr wrap="none" rtlCol="0" anchor="t" anchorCtr="0">
            <a:spAutoFit/>
          </a:bodyPr>
          <a:lstStyle/>
          <a:p>
            <a:pPr>
              <a:defRPr/>
            </a:pPr>
            <a:r>
              <a:rPr lang="en-US" altLang="ko-KR" sz="5000" b="1" spc="-70" dirty="0">
                <a:ln>
                  <a:solidFill>
                    <a:prstClr val="white">
                      <a:alpha val="0"/>
                    </a:prstClr>
                  </a:solidFill>
                </a:ln>
                <a:latin typeface="나눔스퀘어 Bold" panose="020B0600000101010101" pitchFamily="50" charset="-127"/>
                <a:ea typeface="나눔스퀘어 Bold" panose="020B0600000101010101" pitchFamily="50" charset="-127"/>
                <a:cs typeface="나눔스퀘어" panose="02000603000000020004" pitchFamily="50" charset="-127"/>
              </a:rPr>
              <a:t>Executive Summary</a:t>
            </a:r>
            <a:endParaRPr lang="ko-KR" altLang="en-US" sz="5000" b="1" spc="-70" dirty="0">
              <a:ln>
                <a:solidFill>
                  <a:prstClr val="white">
                    <a:alpha val="0"/>
                  </a:prstClr>
                </a:solidFill>
              </a:ln>
              <a:latin typeface="나눔스퀘어 Bold" panose="020B0600000101010101" pitchFamily="50" charset="-127"/>
              <a:ea typeface="나눔스퀘어 Bold" panose="020B0600000101010101" pitchFamily="50" charset="-127"/>
              <a:cs typeface="나눔스퀘어" panose="02000603000000020004" pitchFamily="50" charset="-127"/>
            </a:endParaRPr>
          </a:p>
        </p:txBody>
      </p:sp>
    </p:spTree>
    <p:extLst>
      <p:ext uri="{BB962C8B-B14F-4D97-AF65-F5344CB8AC3E}">
        <p14:creationId xmlns:p14="http://schemas.microsoft.com/office/powerpoint/2010/main" val="6507327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Executive Summary</a:t>
            </a:r>
            <a:endParaRPr lang="ko-KR" altLang="en-US" dirty="0"/>
          </a:p>
        </p:txBody>
      </p:sp>
      <p:cxnSp>
        <p:nvCxnSpPr>
          <p:cNvPr id="22" name="직선 연결선 21"/>
          <p:cNvCxnSpPr/>
          <p:nvPr/>
        </p:nvCxnSpPr>
        <p:spPr>
          <a:xfrm>
            <a:off x="11671487" y="6290"/>
            <a:ext cx="0" cy="313957"/>
          </a:xfrm>
          <a:prstGeom prst="line">
            <a:avLst/>
          </a:prstGeom>
          <a:ln w="635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10020301" y="381709"/>
            <a:ext cx="1552032" cy="153888"/>
          </a:xfrm>
          <a:prstGeom prst="rect">
            <a:avLst/>
          </a:prstGeom>
          <a:noFill/>
          <a:ln w="9525">
            <a:noFill/>
            <a:miter lim="800000"/>
            <a:headEnd/>
            <a:tailEnd/>
          </a:ln>
        </p:spPr>
        <p:txBody>
          <a:bodyPr wrap="square" lIns="0" tIns="0" rIns="0" bIns="0" anchor="ctr">
            <a:spAutoFit/>
          </a:bodyPr>
          <a:lstStyle>
            <a:defPPr>
              <a:defRPr lang="ko-KR"/>
            </a:defPPr>
            <a:lvl1pPr defTabSz="914125" fontAlgn="base" latinLnBrk="0">
              <a:spcBef>
                <a:spcPct val="0"/>
              </a:spcBef>
              <a:spcAft>
                <a:spcPts val="200"/>
              </a:spcAft>
              <a:defRPr sz="1100" spc="-20">
                <a:ln>
                  <a:solidFill>
                    <a:prstClr val="white">
                      <a:alpha val="0"/>
                    </a:prstClr>
                  </a:solidFill>
                </a:ln>
                <a:solidFill>
                  <a:schemeClr val="tx1">
                    <a:lumMod val="75000"/>
                    <a:lumOff val="25000"/>
                  </a:schemeClr>
                </a:solidFill>
                <a:latin typeface="KoPub돋움체 Bold" panose="02020603020101020101" pitchFamily="18" charset="-127"/>
                <a:ea typeface="KoPub돋움체 Bold" panose="02020603020101020101" pitchFamily="18" charset="-127"/>
                <a:cs typeface="Arial" charset="0"/>
              </a:defRPr>
            </a:lvl1pPr>
          </a:lstStyle>
          <a:p>
            <a:pPr lvl="0" algn="r">
              <a:defRPr/>
            </a:pPr>
            <a:r>
              <a:rPr lang="en-US" altLang="ko-KR"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rPr>
              <a:t>Executive Summary</a:t>
            </a:r>
          </a:p>
        </p:txBody>
      </p:sp>
      <p:sp>
        <p:nvSpPr>
          <p:cNvPr id="24" name="타원 23"/>
          <p:cNvSpPr/>
          <p:nvPr/>
        </p:nvSpPr>
        <p:spPr>
          <a:xfrm>
            <a:off x="11340239" y="290256"/>
            <a:ext cx="51827" cy="51827"/>
          </a:xfrm>
          <a:prstGeom prst="ellipse">
            <a:avLst/>
          </a:prstGeom>
          <a:solidFill>
            <a:srgbClr val="0146A0"/>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25" name="타원 24"/>
          <p:cNvSpPr/>
          <p:nvPr/>
        </p:nvSpPr>
        <p:spPr>
          <a:xfrm>
            <a:off x="11422266" y="290256"/>
            <a:ext cx="51827" cy="51827"/>
          </a:xfrm>
          <a:prstGeom prst="ellipse">
            <a:avLst/>
          </a:prstGeom>
          <a:solidFill>
            <a:schemeClr val="bg1">
              <a:lumMod val="75000"/>
              <a:alpha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26" name="타원 25"/>
          <p:cNvSpPr/>
          <p:nvPr/>
        </p:nvSpPr>
        <p:spPr>
          <a:xfrm>
            <a:off x="11504294" y="290256"/>
            <a:ext cx="51827" cy="51827"/>
          </a:xfrm>
          <a:prstGeom prst="ellipse">
            <a:avLst/>
          </a:prstGeom>
          <a:solidFill>
            <a:schemeClr val="bg1">
              <a:lumMod val="75000"/>
              <a:alpha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27" name="TextBox 26"/>
          <p:cNvSpPr txBox="1"/>
          <p:nvPr/>
        </p:nvSpPr>
        <p:spPr>
          <a:xfrm>
            <a:off x="11646437" y="343415"/>
            <a:ext cx="40076" cy="215444"/>
          </a:xfrm>
          <a:prstGeom prst="rect">
            <a:avLst/>
          </a:prstGeom>
          <a:noFill/>
        </p:spPr>
        <p:txBody>
          <a:bodyPr wrap="none" lIns="0" tIns="0" rIns="0" bIns="0" rtlCol="0" anchor="ctr" anchorCtr="0">
            <a:spAutoFit/>
          </a:bodyPr>
          <a:lstStyle>
            <a:defPPr>
              <a:defRPr lang="ko-KR"/>
            </a:defPPr>
            <a:lvl1pPr>
              <a:spcAft>
                <a:spcPts val="300"/>
              </a:spcAft>
              <a:defRPr sz="2800" spc="-100">
                <a:ln>
                  <a:solidFill>
                    <a:schemeClr val="bg1">
                      <a:alpha val="0"/>
                    </a:schemeClr>
                  </a:solidFill>
                </a:ln>
                <a:solidFill>
                  <a:srgbClr val="005B8D"/>
                </a:solidFill>
                <a:latin typeface="Times New Roman" panose="02020603050405020304" pitchFamily="18" charset="0"/>
                <a:ea typeface="KoPub돋움체 Bold" panose="02020603020101020101" pitchFamily="18" charset="-127"/>
                <a:cs typeface="Times New Roman" panose="02020603050405020304" pitchFamily="18" charset="0"/>
              </a:defRPr>
            </a:lvl1pPr>
          </a:lstStyle>
          <a:p>
            <a:pPr latinLnBrk="0">
              <a:defRPr/>
            </a:pPr>
            <a:r>
              <a:rPr lang="en-US" altLang="ko-KR" sz="1400" spc="-150" dirty="0">
                <a:ln>
                  <a:solidFill>
                    <a:prstClr val="white">
                      <a:alpha val="0"/>
                    </a:prstClr>
                  </a:solidFill>
                </a:ln>
                <a:solidFill>
                  <a:srgbClr val="0146A0"/>
                </a:solidFill>
                <a:ea typeface="KoPub돋움체 Medium" panose="02020603020101020101" pitchFamily="18" charset="-127"/>
              </a:rPr>
              <a:t>Ⅰ</a:t>
            </a:r>
          </a:p>
        </p:txBody>
      </p:sp>
      <p:cxnSp>
        <p:nvCxnSpPr>
          <p:cNvPr id="38" name="직선 연결선 37"/>
          <p:cNvCxnSpPr/>
          <p:nvPr/>
        </p:nvCxnSpPr>
        <p:spPr>
          <a:xfrm>
            <a:off x="511168" y="1202245"/>
            <a:ext cx="11180353" cy="0"/>
          </a:xfrm>
          <a:prstGeom prst="line">
            <a:avLst/>
          </a:prstGeom>
          <a:ln w="31750">
            <a:solidFill>
              <a:schemeClr val="tx1">
                <a:lumMod val="65000"/>
                <a:lumOff val="35000"/>
                <a:alpha val="71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9" name="직선 연결선 38"/>
          <p:cNvCxnSpPr/>
          <p:nvPr/>
        </p:nvCxnSpPr>
        <p:spPr>
          <a:xfrm>
            <a:off x="536568" y="6315098"/>
            <a:ext cx="11180353" cy="0"/>
          </a:xfrm>
          <a:prstGeom prst="line">
            <a:avLst/>
          </a:prstGeom>
          <a:ln w="31750">
            <a:solidFill>
              <a:schemeClr val="tx1">
                <a:lumMod val="65000"/>
                <a:lumOff val="35000"/>
                <a:alpha val="71000"/>
              </a:schemeClr>
            </a:solidFill>
            <a:tailEnd type="none"/>
          </a:ln>
        </p:spPr>
        <p:style>
          <a:lnRef idx="1">
            <a:schemeClr val="accent1"/>
          </a:lnRef>
          <a:fillRef idx="0">
            <a:schemeClr val="accent1"/>
          </a:fillRef>
          <a:effectRef idx="0">
            <a:schemeClr val="accent1"/>
          </a:effectRef>
          <a:fontRef idx="minor">
            <a:schemeClr val="tx1"/>
          </a:fontRef>
        </p:style>
      </p:cxnSp>
      <p:sp>
        <p:nvSpPr>
          <p:cNvPr id="21" name="슬라이드 번호 개체 틀 5">
            <a:extLst>
              <a:ext uri="{FF2B5EF4-FFF2-40B4-BE49-F238E27FC236}">
                <a16:creationId xmlns:a16="http://schemas.microsoft.com/office/drawing/2014/main" id="{FAC1EB1B-E602-0247-88AB-A89AF71255A6}"/>
              </a:ext>
            </a:extLst>
          </p:cNvPr>
          <p:cNvSpPr txBox="1">
            <a:spLocks/>
          </p:cNvSpPr>
          <p:nvPr/>
        </p:nvSpPr>
        <p:spPr>
          <a:xfrm>
            <a:off x="5419725" y="6426152"/>
            <a:ext cx="788332" cy="326455"/>
          </a:xfrm>
          <a:prstGeom prst="rect">
            <a:avLst/>
          </a:prstGeom>
        </p:spPr>
        <p:txBody>
          <a:bodyPr lIns="162531" tIns="81264" rIns="162531" bIns="81264" anchor="ctr"/>
          <a:lstStyle>
            <a:lvl1pPr algn="r">
              <a:defRPr sz="1200">
                <a:solidFill>
                  <a:schemeClr val="tx1">
                    <a:tint val="75000"/>
                  </a:schemeClr>
                </a:solidFill>
              </a:defRPr>
            </a:lvl1pPr>
          </a:lstStyle>
          <a:p>
            <a:pPr defTabSz="1219048">
              <a:defRPr/>
            </a:pPr>
            <a:r>
              <a:rPr lang="en-US" altLang="ko-KR"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rPr>
              <a:t>1</a:t>
            </a:r>
            <a:endParaRPr lang="ko-KR" altLang="en-US"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endParaRPr>
          </a:p>
        </p:txBody>
      </p:sp>
      <p:sp>
        <p:nvSpPr>
          <p:cNvPr id="89" name="순서도: 대체 처리 88"/>
          <p:cNvSpPr/>
          <p:nvPr/>
        </p:nvSpPr>
        <p:spPr>
          <a:xfrm>
            <a:off x="923828" y="1289304"/>
            <a:ext cx="10648506" cy="2398757"/>
          </a:xfrm>
          <a:prstGeom prst="flowChartAlternateProcess">
            <a:avLst/>
          </a:prstGeom>
          <a:solidFill>
            <a:srgbClr val="D6DCE5">
              <a:alpha val="20000"/>
            </a:srgbClr>
          </a:solidFill>
          <a:ln>
            <a:noFill/>
          </a:ln>
          <a:effectLst/>
        </p:spPr>
        <p:txBody>
          <a:bodyPr vert="horz" wrap="square" lIns="91440" tIns="45720" rIns="91440" bIns="45720" numCol="1" rtlCol="0" anchor="t" anchorCtr="0" compatLnSpc="1">
            <a:prstTxWarp prst="textNoShape">
              <a:avLst/>
            </a:prstTxWarp>
          </a:bodyPr>
          <a:lstStyle/>
          <a:p>
            <a:pPr defTabSz="914354" fontAlgn="base" latinLnBrk="0">
              <a:spcAft>
                <a:spcPts val="1000"/>
              </a:spcAft>
              <a:defRPr/>
            </a:pPr>
            <a:endParaRPr lang="en-US" altLang="ko-KR" sz="1400" b="1" dirty="0">
              <a:ln>
                <a:solidFill>
                  <a:prstClr val="white">
                    <a:alpha val="0"/>
                  </a:prstClr>
                </a:solidFill>
              </a:ln>
              <a:latin typeface="나눔스퀘어 Bold" panose="020B0600000101010101" pitchFamily="50" charset="-127"/>
              <a:ea typeface="나눔스퀘어 Bold" panose="020B0600000101010101" pitchFamily="50" charset="-127"/>
              <a:cs typeface="Segoe UI" panose="020B0502040204020203" pitchFamily="34" charset="0"/>
            </a:endParaRPr>
          </a:p>
        </p:txBody>
      </p:sp>
      <p:grpSp>
        <p:nvGrpSpPr>
          <p:cNvPr id="90" name="그룹 89"/>
          <p:cNvGrpSpPr/>
          <p:nvPr/>
        </p:nvGrpSpPr>
        <p:grpSpPr>
          <a:xfrm>
            <a:off x="1198849" y="1414541"/>
            <a:ext cx="5179189" cy="377321"/>
            <a:chOff x="558774" y="2644437"/>
            <a:chExt cx="5179189" cy="357691"/>
          </a:xfrm>
        </p:grpSpPr>
        <p:sp>
          <p:nvSpPr>
            <p:cNvPr id="91" name="직사각형 90">
              <a:extLst>
                <a:ext uri="{FF2B5EF4-FFF2-40B4-BE49-F238E27FC236}">
                  <a16:creationId xmlns:a16="http://schemas.microsoft.com/office/drawing/2014/main" id="{5E1BAC51-93E3-4E55-A59B-3BB621CD3405}"/>
                </a:ext>
              </a:extLst>
            </p:cNvPr>
            <p:cNvSpPr/>
            <p:nvPr/>
          </p:nvSpPr>
          <p:spPr>
            <a:xfrm>
              <a:off x="804913" y="2644437"/>
              <a:ext cx="4933050" cy="357691"/>
            </a:xfrm>
            <a:prstGeom prst="rect">
              <a:avLst/>
            </a:prstGeom>
            <a:noFill/>
          </p:spPr>
          <p:txBody>
            <a:bodyPr wrap="none" lIns="0" tIns="0" rIns="0" bIns="0" anchor="t">
              <a:noAutofit/>
            </a:bodyPr>
            <a:lstStyle/>
            <a:p>
              <a:pPr marR="608330" lvl="0" latinLnBrk="0">
                <a:lnSpc>
                  <a:spcPct val="150000"/>
                </a:lnSpc>
                <a:defRPr/>
              </a:pPr>
              <a:r>
                <a:rPr lang="en-US" altLang="ko-KR" sz="16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1H Trend</a:t>
              </a:r>
            </a:p>
          </p:txBody>
        </p:sp>
        <p:sp>
          <p:nvSpPr>
            <p:cNvPr id="92" name="Freeform 33">
              <a:extLst>
                <a:ext uri="{FF2B5EF4-FFF2-40B4-BE49-F238E27FC236}">
                  <a16:creationId xmlns:a16="http://schemas.microsoft.com/office/drawing/2014/main" id="{BA902CFE-F398-0B42-9263-FD594D77D40C}"/>
                </a:ext>
              </a:extLst>
            </p:cNvPr>
            <p:cNvSpPr>
              <a:spLocks noEditPoints="1"/>
            </p:cNvSpPr>
            <p:nvPr/>
          </p:nvSpPr>
          <p:spPr bwMode="auto">
            <a:xfrm>
              <a:off x="558774" y="2750495"/>
              <a:ext cx="180000" cy="171367"/>
            </a:xfrm>
            <a:custGeom>
              <a:avLst/>
              <a:gdLst>
                <a:gd name="T0" fmla="*/ 220 w 440"/>
                <a:gd name="T1" fmla="*/ 0 h 441"/>
                <a:gd name="T2" fmla="*/ 0 w 440"/>
                <a:gd name="T3" fmla="*/ 220 h 441"/>
                <a:gd name="T4" fmla="*/ 220 w 440"/>
                <a:gd name="T5" fmla="*/ 441 h 441"/>
                <a:gd name="T6" fmla="*/ 440 w 440"/>
                <a:gd name="T7" fmla="*/ 220 h 441"/>
                <a:gd name="T8" fmla="*/ 220 w 440"/>
                <a:gd name="T9" fmla="*/ 0 h 441"/>
                <a:gd name="T10" fmla="*/ 200 w 440"/>
                <a:gd name="T11" fmla="*/ 330 h 441"/>
                <a:gd name="T12" fmla="*/ 93 w 440"/>
                <a:gd name="T13" fmla="*/ 222 h 441"/>
                <a:gd name="T14" fmla="*/ 120 w 440"/>
                <a:gd name="T15" fmla="*/ 200 h 441"/>
                <a:gd name="T16" fmla="*/ 182 w 440"/>
                <a:gd name="T17" fmla="*/ 248 h 441"/>
                <a:gd name="T18" fmla="*/ 341 w 440"/>
                <a:gd name="T19" fmla="*/ 111 h 441"/>
                <a:gd name="T20" fmla="*/ 347 w 440"/>
                <a:gd name="T21" fmla="*/ 126 h 441"/>
                <a:gd name="T22" fmla="*/ 200 w 440"/>
                <a:gd name="T23" fmla="*/ 330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0" h="441">
                  <a:moveTo>
                    <a:pt x="220" y="0"/>
                  </a:moveTo>
                  <a:cubicBezTo>
                    <a:pt x="98" y="0"/>
                    <a:pt x="0" y="99"/>
                    <a:pt x="0" y="220"/>
                  </a:cubicBezTo>
                  <a:cubicBezTo>
                    <a:pt x="0" y="342"/>
                    <a:pt x="98" y="441"/>
                    <a:pt x="220" y="441"/>
                  </a:cubicBezTo>
                  <a:cubicBezTo>
                    <a:pt x="342" y="441"/>
                    <a:pt x="440" y="342"/>
                    <a:pt x="440" y="220"/>
                  </a:cubicBezTo>
                  <a:cubicBezTo>
                    <a:pt x="440" y="99"/>
                    <a:pt x="342" y="0"/>
                    <a:pt x="220" y="0"/>
                  </a:cubicBezTo>
                  <a:close/>
                  <a:moveTo>
                    <a:pt x="200" y="330"/>
                  </a:moveTo>
                  <a:cubicBezTo>
                    <a:pt x="93" y="222"/>
                    <a:pt x="93" y="222"/>
                    <a:pt x="93" y="222"/>
                  </a:cubicBezTo>
                  <a:cubicBezTo>
                    <a:pt x="120" y="200"/>
                    <a:pt x="120" y="200"/>
                    <a:pt x="120" y="200"/>
                  </a:cubicBezTo>
                  <a:cubicBezTo>
                    <a:pt x="182" y="248"/>
                    <a:pt x="182" y="248"/>
                    <a:pt x="182" y="248"/>
                  </a:cubicBezTo>
                  <a:cubicBezTo>
                    <a:pt x="207" y="218"/>
                    <a:pt x="263" y="158"/>
                    <a:pt x="341" y="111"/>
                  </a:cubicBezTo>
                  <a:cubicBezTo>
                    <a:pt x="347" y="126"/>
                    <a:pt x="347" y="126"/>
                    <a:pt x="347" y="126"/>
                  </a:cubicBezTo>
                  <a:cubicBezTo>
                    <a:pt x="276" y="191"/>
                    <a:pt x="218" y="283"/>
                    <a:pt x="200" y="330"/>
                  </a:cubicBezTo>
                  <a:close/>
                </a:path>
              </a:pathLst>
            </a:custGeom>
            <a:solidFill>
              <a:srgbClr val="1641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000" dirty="0">
                <a:ln>
                  <a:solidFill>
                    <a:schemeClr val="bg1">
                      <a:alpha val="0"/>
                    </a:schemeClr>
                  </a:solidFill>
                </a:ln>
                <a:solidFill>
                  <a:schemeClr val="bg1"/>
                </a:solidFill>
                <a:latin typeface="나눔스퀘어" panose="020B0600000101010101" pitchFamily="50" charset="-127"/>
                <a:ea typeface="나눔스퀘어" panose="020B0600000101010101" pitchFamily="50" charset="-127"/>
              </a:endParaRPr>
            </a:p>
          </p:txBody>
        </p:sp>
      </p:grpSp>
      <p:sp>
        <p:nvSpPr>
          <p:cNvPr id="106" name="직사각형 105">
            <a:extLst>
              <a:ext uri="{FF2B5EF4-FFF2-40B4-BE49-F238E27FC236}">
                <a16:creationId xmlns:a16="http://schemas.microsoft.com/office/drawing/2014/main" id="{5E1BAC51-93E3-4E55-A59B-3BB621CD3405}"/>
              </a:ext>
            </a:extLst>
          </p:cNvPr>
          <p:cNvSpPr/>
          <p:nvPr/>
        </p:nvSpPr>
        <p:spPr>
          <a:xfrm>
            <a:off x="1444988" y="2557950"/>
            <a:ext cx="5498028" cy="292649"/>
          </a:xfrm>
          <a:prstGeom prst="rect">
            <a:avLst/>
          </a:prstGeom>
          <a:noFill/>
        </p:spPr>
        <p:txBody>
          <a:bodyPr wrap="square" lIns="0" tIns="0" rIns="0" bIns="0" anchor="t">
            <a:noAutofit/>
          </a:bodyPr>
          <a:lstStyle/>
          <a:p>
            <a:pPr marR="608330" lvl="0" latinLnBrk="0">
              <a:lnSpc>
                <a:spcPct val="150000"/>
              </a:lnSpc>
              <a:defRPr/>
            </a:pPr>
            <a:r>
              <a:rPr lang="en-US" altLang="ko-KR" sz="16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2H Outlook</a:t>
            </a:r>
          </a:p>
        </p:txBody>
      </p:sp>
      <p:sp>
        <p:nvSpPr>
          <p:cNvPr id="107" name="Freeform 33">
            <a:extLst>
              <a:ext uri="{FF2B5EF4-FFF2-40B4-BE49-F238E27FC236}">
                <a16:creationId xmlns:a16="http://schemas.microsoft.com/office/drawing/2014/main" id="{BA902CFE-F398-0B42-9263-FD594D77D40C}"/>
              </a:ext>
            </a:extLst>
          </p:cNvPr>
          <p:cNvSpPr>
            <a:spLocks noEditPoints="1"/>
          </p:cNvSpPr>
          <p:nvPr/>
        </p:nvSpPr>
        <p:spPr bwMode="auto">
          <a:xfrm>
            <a:off x="1198849" y="2669827"/>
            <a:ext cx="180000" cy="180772"/>
          </a:xfrm>
          <a:custGeom>
            <a:avLst/>
            <a:gdLst>
              <a:gd name="T0" fmla="*/ 220 w 440"/>
              <a:gd name="T1" fmla="*/ 0 h 441"/>
              <a:gd name="T2" fmla="*/ 0 w 440"/>
              <a:gd name="T3" fmla="*/ 220 h 441"/>
              <a:gd name="T4" fmla="*/ 220 w 440"/>
              <a:gd name="T5" fmla="*/ 441 h 441"/>
              <a:gd name="T6" fmla="*/ 440 w 440"/>
              <a:gd name="T7" fmla="*/ 220 h 441"/>
              <a:gd name="T8" fmla="*/ 220 w 440"/>
              <a:gd name="T9" fmla="*/ 0 h 441"/>
              <a:gd name="T10" fmla="*/ 200 w 440"/>
              <a:gd name="T11" fmla="*/ 330 h 441"/>
              <a:gd name="T12" fmla="*/ 93 w 440"/>
              <a:gd name="T13" fmla="*/ 222 h 441"/>
              <a:gd name="T14" fmla="*/ 120 w 440"/>
              <a:gd name="T15" fmla="*/ 200 h 441"/>
              <a:gd name="T16" fmla="*/ 182 w 440"/>
              <a:gd name="T17" fmla="*/ 248 h 441"/>
              <a:gd name="T18" fmla="*/ 341 w 440"/>
              <a:gd name="T19" fmla="*/ 111 h 441"/>
              <a:gd name="T20" fmla="*/ 347 w 440"/>
              <a:gd name="T21" fmla="*/ 126 h 441"/>
              <a:gd name="T22" fmla="*/ 200 w 440"/>
              <a:gd name="T23" fmla="*/ 330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0" h="441">
                <a:moveTo>
                  <a:pt x="220" y="0"/>
                </a:moveTo>
                <a:cubicBezTo>
                  <a:pt x="98" y="0"/>
                  <a:pt x="0" y="99"/>
                  <a:pt x="0" y="220"/>
                </a:cubicBezTo>
                <a:cubicBezTo>
                  <a:pt x="0" y="342"/>
                  <a:pt x="98" y="441"/>
                  <a:pt x="220" y="441"/>
                </a:cubicBezTo>
                <a:cubicBezTo>
                  <a:pt x="342" y="441"/>
                  <a:pt x="440" y="342"/>
                  <a:pt x="440" y="220"/>
                </a:cubicBezTo>
                <a:cubicBezTo>
                  <a:pt x="440" y="99"/>
                  <a:pt x="342" y="0"/>
                  <a:pt x="220" y="0"/>
                </a:cubicBezTo>
                <a:close/>
                <a:moveTo>
                  <a:pt x="200" y="330"/>
                </a:moveTo>
                <a:cubicBezTo>
                  <a:pt x="93" y="222"/>
                  <a:pt x="93" y="222"/>
                  <a:pt x="93" y="222"/>
                </a:cubicBezTo>
                <a:cubicBezTo>
                  <a:pt x="120" y="200"/>
                  <a:pt x="120" y="200"/>
                  <a:pt x="120" y="200"/>
                </a:cubicBezTo>
                <a:cubicBezTo>
                  <a:pt x="182" y="248"/>
                  <a:pt x="182" y="248"/>
                  <a:pt x="182" y="248"/>
                </a:cubicBezTo>
                <a:cubicBezTo>
                  <a:pt x="207" y="218"/>
                  <a:pt x="263" y="158"/>
                  <a:pt x="341" y="111"/>
                </a:cubicBezTo>
                <a:cubicBezTo>
                  <a:pt x="347" y="126"/>
                  <a:pt x="347" y="126"/>
                  <a:pt x="347" y="126"/>
                </a:cubicBezTo>
                <a:cubicBezTo>
                  <a:pt x="276" y="191"/>
                  <a:pt x="218" y="283"/>
                  <a:pt x="200" y="330"/>
                </a:cubicBezTo>
                <a:close/>
              </a:path>
            </a:pathLst>
          </a:custGeom>
          <a:solidFill>
            <a:srgbClr val="1641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000" dirty="0">
              <a:ln>
                <a:solidFill>
                  <a:schemeClr val="bg1">
                    <a:alpha val="0"/>
                  </a:schemeClr>
                </a:solidFill>
              </a:ln>
              <a:solidFill>
                <a:schemeClr val="bg1"/>
              </a:solidFill>
              <a:latin typeface="나눔스퀘어" panose="020B0600000101010101" pitchFamily="50" charset="-127"/>
              <a:ea typeface="나눔스퀘어" panose="020B0600000101010101" pitchFamily="50" charset="-127"/>
            </a:endParaRPr>
          </a:p>
        </p:txBody>
      </p:sp>
      <p:sp>
        <p:nvSpPr>
          <p:cNvPr id="51" name="직사각형 50">
            <a:extLst>
              <a:ext uri="{FF2B5EF4-FFF2-40B4-BE49-F238E27FC236}">
                <a16:creationId xmlns:a16="http://schemas.microsoft.com/office/drawing/2014/main" id="{5E1BAC51-93E3-4E55-A59B-3BB621CD3405}"/>
              </a:ext>
            </a:extLst>
          </p:cNvPr>
          <p:cNvSpPr/>
          <p:nvPr/>
        </p:nvSpPr>
        <p:spPr>
          <a:xfrm>
            <a:off x="2764718" y="1424468"/>
            <a:ext cx="9328776" cy="1022429"/>
          </a:xfrm>
          <a:prstGeom prst="rect">
            <a:avLst/>
          </a:prstGeom>
          <a:noFill/>
        </p:spPr>
        <p:txBody>
          <a:bodyPr wrap="square" lIns="0" tIns="0" rIns="0" bIns="0" anchor="t">
            <a:noAutofit/>
          </a:bodyPr>
          <a:lstStyle/>
          <a:p>
            <a:pPr marL="144000" marR="608330" lvl="0" indent="-144000" latinLnBrk="0">
              <a:lnSpc>
                <a:spcPct val="150000"/>
              </a:lnSpc>
              <a:spcAft>
                <a:spcPts val="400"/>
              </a:spcAft>
              <a:buFont typeface="Arial" panose="020B0604020202020204" pitchFamily="34" charset="0"/>
              <a:buChar char="•"/>
              <a:defRPr/>
            </a:pPr>
            <a:r>
              <a:rPr lang="en-US" altLang="ko-KR" sz="1300" b="1" kern="100" dirty="0">
                <a:latin typeface="나눔스퀘어" panose="020B0600000101010101" pitchFamily="50" charset="-127"/>
                <a:ea typeface="나눔스퀘어" panose="020B0600000101010101" pitchFamily="50" charset="-127"/>
                <a:cs typeface="바탕" panose="02030600000101010101" pitchFamily="18" charset="-127"/>
              </a:rPr>
              <a:t>(Demand) Resilient demand on front-loaded shipments, offsetting weaker Middle East </a:t>
            </a:r>
            <a:r>
              <a:rPr lang="en-US" altLang="ko-KR" sz="1300" b="1" kern="100" dirty="0" smtClean="0">
                <a:latin typeface="나눔스퀘어" panose="020B0600000101010101" pitchFamily="50" charset="-127"/>
                <a:ea typeface="나눔스퀘어" panose="020B0600000101010101" pitchFamily="50" charset="-127"/>
                <a:cs typeface="바탕" panose="02030600000101010101" pitchFamily="18" charset="-127"/>
              </a:rPr>
              <a:t>volumes</a:t>
            </a:r>
          </a:p>
          <a:p>
            <a:pPr marL="144000" marR="608330" lvl="0" indent="-144000" latinLnBrk="0">
              <a:lnSpc>
                <a:spcPct val="150000"/>
              </a:lnSpc>
              <a:spcAft>
                <a:spcPts val="400"/>
              </a:spcAft>
              <a:buFont typeface="Arial" panose="020B0604020202020204" pitchFamily="34" charset="0"/>
              <a:buChar char="•"/>
              <a:defRPr/>
            </a:pPr>
            <a:r>
              <a:rPr lang="en-US" altLang="ko-KR" sz="1300" b="1" kern="100" spc="-30" dirty="0" smtClean="0">
                <a:latin typeface="나눔스퀘어" panose="020B0600000101010101" pitchFamily="50" charset="-127"/>
                <a:ea typeface="나눔스퀘어" panose="020B0600000101010101" pitchFamily="50" charset="-127"/>
                <a:cs typeface="바탕" panose="02030600000101010101" pitchFamily="18" charset="-127"/>
              </a:rPr>
              <a:t>(Supply) </a:t>
            </a:r>
            <a:r>
              <a:rPr lang="en-US" altLang="ko-KR" sz="1300" b="1" kern="100" spc="-30" dirty="0">
                <a:latin typeface="나눔스퀘어" panose="020B0600000101010101" pitchFamily="50" charset="-127"/>
                <a:ea typeface="나눔스퀘어" panose="020B0600000101010101" pitchFamily="50" charset="-127"/>
                <a:cs typeface="바탕" panose="02030600000101010101" pitchFamily="18" charset="-127"/>
              </a:rPr>
              <a:t>Tight effective capacity despite supply growth, constrained by Hormuz disruption and Red Sea </a:t>
            </a:r>
            <a:r>
              <a:rPr lang="en-US" altLang="ko-KR" sz="1300" b="1" kern="100" spc="-30" dirty="0" smtClean="0">
                <a:latin typeface="나눔스퀘어" panose="020B0600000101010101" pitchFamily="50" charset="-127"/>
                <a:ea typeface="나눔스퀘어" panose="020B0600000101010101" pitchFamily="50" charset="-127"/>
                <a:cs typeface="바탕" panose="02030600000101010101" pitchFamily="18" charset="-127"/>
              </a:rPr>
              <a:t>diversions</a:t>
            </a:r>
          </a:p>
          <a:p>
            <a:pPr marL="144000" marR="608330" lvl="0" indent="-144000" latinLnBrk="0">
              <a:lnSpc>
                <a:spcPct val="150000"/>
              </a:lnSpc>
              <a:spcAft>
                <a:spcPts val="400"/>
              </a:spcAft>
              <a:buFont typeface="Arial" panose="020B0604020202020204" pitchFamily="34" charset="0"/>
              <a:buChar char="•"/>
              <a:defRPr/>
            </a:pPr>
            <a:r>
              <a:rPr lang="en-US" altLang="ko-KR" sz="1300" b="1" kern="100" dirty="0" smtClean="0">
                <a:latin typeface="나눔스퀘어" panose="020B0600000101010101" pitchFamily="50" charset="-127"/>
                <a:ea typeface="나눔스퀘어" panose="020B0600000101010101" pitchFamily="50" charset="-127"/>
                <a:cs typeface="바탕" panose="02030600000101010101" pitchFamily="18" charset="-127"/>
              </a:rPr>
              <a:t>(Rates) </a:t>
            </a:r>
            <a:r>
              <a:rPr lang="en-US" altLang="ko-KR" sz="1300" b="1" kern="100" dirty="0">
                <a:latin typeface="나눔스퀘어" panose="020B0600000101010101" pitchFamily="50" charset="-127"/>
                <a:ea typeface="나눔스퀘어" panose="020B0600000101010101" pitchFamily="50" charset="-127"/>
                <a:cs typeface="바탕" panose="02030600000101010101" pitchFamily="18" charset="-127"/>
              </a:rPr>
              <a:t>Freight rates surged on stronger front-loaded demand and supply </a:t>
            </a:r>
            <a:r>
              <a:rPr lang="en-US" altLang="ko-KR" sz="1300" b="1" kern="100" dirty="0" smtClean="0">
                <a:latin typeface="나눔스퀘어" panose="020B0600000101010101" pitchFamily="50" charset="-127"/>
                <a:ea typeface="나눔스퀘어" panose="020B0600000101010101" pitchFamily="50" charset="-127"/>
                <a:cs typeface="바탕" panose="02030600000101010101" pitchFamily="18" charset="-127"/>
              </a:rPr>
              <a:t>disruptions</a:t>
            </a:r>
            <a:endParaRPr lang="en-US" altLang="ko-KR" sz="1300" b="1" kern="100" dirty="0">
              <a:latin typeface="나눔스퀘어" panose="020B0600000101010101" pitchFamily="50" charset="-127"/>
              <a:ea typeface="나눔스퀘어" panose="020B0600000101010101" pitchFamily="50" charset="-127"/>
              <a:cs typeface="바탕" panose="02030600000101010101" pitchFamily="18" charset="-127"/>
            </a:endParaRPr>
          </a:p>
        </p:txBody>
      </p:sp>
      <p:sp>
        <p:nvSpPr>
          <p:cNvPr id="62" name="직사각형 61">
            <a:extLst>
              <a:ext uri="{FF2B5EF4-FFF2-40B4-BE49-F238E27FC236}">
                <a16:creationId xmlns:a16="http://schemas.microsoft.com/office/drawing/2014/main" id="{5E1BAC51-93E3-4E55-A59B-3BB621CD3405}"/>
              </a:ext>
            </a:extLst>
          </p:cNvPr>
          <p:cNvSpPr/>
          <p:nvPr/>
        </p:nvSpPr>
        <p:spPr>
          <a:xfrm>
            <a:off x="2764718" y="2583488"/>
            <a:ext cx="9328776" cy="1032364"/>
          </a:xfrm>
          <a:prstGeom prst="rect">
            <a:avLst/>
          </a:prstGeom>
          <a:noFill/>
        </p:spPr>
        <p:txBody>
          <a:bodyPr wrap="square" lIns="0" tIns="0" rIns="0" bIns="0" anchor="t">
            <a:noAutofit/>
          </a:bodyPr>
          <a:lstStyle/>
          <a:p>
            <a:pPr marL="144000" marR="608330" lvl="0" indent="-144000" latinLnBrk="0">
              <a:lnSpc>
                <a:spcPct val="150000"/>
              </a:lnSpc>
              <a:spcAft>
                <a:spcPts val="400"/>
              </a:spcAft>
              <a:buFont typeface="Arial" panose="020B0604020202020204" pitchFamily="34" charset="0"/>
              <a:buChar char="•"/>
              <a:defRPr/>
            </a:pPr>
            <a:r>
              <a:rPr lang="en-US" altLang="ko-KR" sz="1300" b="1" kern="100" dirty="0" smtClean="0">
                <a:latin typeface="나눔스퀘어" panose="020B0600000101010101" pitchFamily="50" charset="-127"/>
                <a:ea typeface="나눔스퀘어" panose="020B0600000101010101" pitchFamily="50" charset="-127"/>
                <a:cs typeface="바탕" panose="02030600000101010101" pitchFamily="18" charset="-127"/>
              </a:rPr>
              <a:t>(Demand) </a:t>
            </a:r>
            <a:r>
              <a:rPr lang="en-US" altLang="ko-KR" sz="1300" b="1" kern="100" dirty="0">
                <a:latin typeface="나눔스퀘어" panose="020B0600000101010101" pitchFamily="50" charset="-127"/>
                <a:ea typeface="나눔스퀘어" panose="020B0600000101010101" pitchFamily="50" charset="-127"/>
                <a:cs typeface="바탕" panose="02030600000101010101" pitchFamily="18" charset="-127"/>
              </a:rPr>
              <a:t>Softer demand as front-loading fades and high interest rates weigh on </a:t>
            </a:r>
            <a:r>
              <a:rPr lang="en-US" altLang="ko-KR" sz="1300" b="1" kern="100" dirty="0" smtClean="0">
                <a:latin typeface="나눔스퀘어" panose="020B0600000101010101" pitchFamily="50" charset="-127"/>
                <a:ea typeface="나눔스퀘어" panose="020B0600000101010101" pitchFamily="50" charset="-127"/>
                <a:cs typeface="바탕" panose="02030600000101010101" pitchFamily="18" charset="-127"/>
              </a:rPr>
              <a:t>consumption</a:t>
            </a:r>
          </a:p>
          <a:p>
            <a:pPr marL="144000" marR="608330" lvl="0" indent="-144000" latinLnBrk="0">
              <a:lnSpc>
                <a:spcPct val="150000"/>
              </a:lnSpc>
              <a:spcAft>
                <a:spcPts val="400"/>
              </a:spcAft>
              <a:buFont typeface="Arial" panose="020B0604020202020204" pitchFamily="34" charset="0"/>
              <a:buChar char="•"/>
              <a:defRPr/>
            </a:pPr>
            <a:r>
              <a:rPr lang="en-US" altLang="ko-KR" sz="1300" b="1" kern="100" spc="-50" dirty="0" smtClean="0">
                <a:latin typeface="나눔스퀘어" panose="020B0600000101010101" pitchFamily="50" charset="-127"/>
                <a:ea typeface="나눔스퀘어" panose="020B0600000101010101" pitchFamily="50" charset="-127"/>
                <a:cs typeface="바탕" panose="02030600000101010101" pitchFamily="18" charset="-127"/>
              </a:rPr>
              <a:t>(Supply) </a:t>
            </a:r>
            <a:r>
              <a:rPr lang="en-US" altLang="ko-KR" sz="1300" b="1" kern="100" spc="-50" dirty="0">
                <a:latin typeface="나눔스퀘어" panose="020B0600000101010101" pitchFamily="50" charset="-127"/>
                <a:ea typeface="나눔스퀘어" panose="020B0600000101010101" pitchFamily="50" charset="-127"/>
                <a:cs typeface="바탕" panose="02030600000101010101" pitchFamily="18" charset="-127"/>
              </a:rPr>
              <a:t>Higher supply pressure on newbuilding deliveries and capacity recovery, with oversupply deepening from </a:t>
            </a:r>
            <a:r>
              <a:rPr lang="en-US" altLang="ko-KR" sz="1300" b="1" kern="100" spc="-50" dirty="0" smtClean="0">
                <a:latin typeface="나눔스퀘어" panose="020B0600000101010101" pitchFamily="50" charset="-127"/>
                <a:ea typeface="나눔스퀘어" panose="020B0600000101010101" pitchFamily="50" charset="-127"/>
                <a:cs typeface="바탕" panose="02030600000101010101" pitchFamily="18" charset="-127"/>
              </a:rPr>
              <a:t>2027</a:t>
            </a:r>
          </a:p>
          <a:p>
            <a:pPr marL="144000" marR="608330" lvl="0" indent="-144000" latinLnBrk="0">
              <a:lnSpc>
                <a:spcPct val="150000"/>
              </a:lnSpc>
              <a:spcAft>
                <a:spcPts val="400"/>
              </a:spcAft>
              <a:buFont typeface="Arial" panose="020B0604020202020204" pitchFamily="34" charset="0"/>
              <a:buChar char="•"/>
              <a:defRPr/>
            </a:pPr>
            <a:r>
              <a:rPr lang="en-US" altLang="ko-KR" sz="1300" b="1" kern="100" dirty="0" smtClean="0">
                <a:latin typeface="나눔스퀘어" panose="020B0600000101010101" pitchFamily="50" charset="-127"/>
                <a:ea typeface="나눔스퀘어" panose="020B0600000101010101" pitchFamily="50" charset="-127"/>
                <a:cs typeface="바탕" panose="02030600000101010101" pitchFamily="18" charset="-127"/>
              </a:rPr>
              <a:t>(Rates) </a:t>
            </a:r>
            <a:r>
              <a:rPr lang="en-US" altLang="ko-KR" sz="1300" b="1" kern="100" dirty="0">
                <a:latin typeface="나눔스퀘어" panose="020B0600000101010101" pitchFamily="50" charset="-127"/>
                <a:ea typeface="나눔스퀘어" panose="020B0600000101010101" pitchFamily="50" charset="-127"/>
                <a:cs typeface="바탕" panose="02030600000101010101" pitchFamily="18" charset="-127"/>
              </a:rPr>
              <a:t>Firm through early 3Q, then weaker in 4Q on easing costs, capacity recovery, and softer </a:t>
            </a:r>
            <a:r>
              <a:rPr lang="en-US" altLang="ko-KR" sz="1300" b="1" kern="100" dirty="0" smtClean="0">
                <a:latin typeface="나눔스퀘어" panose="020B0600000101010101" pitchFamily="50" charset="-127"/>
                <a:ea typeface="나눔스퀘어" panose="020B0600000101010101" pitchFamily="50" charset="-127"/>
                <a:cs typeface="바탕" panose="02030600000101010101" pitchFamily="18" charset="-127"/>
              </a:rPr>
              <a:t>demand</a:t>
            </a:r>
            <a:endParaRPr lang="en-US" altLang="ko-KR" sz="1300" b="1" kern="100" dirty="0">
              <a:latin typeface="나눔스퀘어" panose="020B0600000101010101" pitchFamily="50" charset="-127"/>
              <a:ea typeface="나눔스퀘어" panose="020B0600000101010101" pitchFamily="50" charset="-127"/>
              <a:cs typeface="바탕" panose="02030600000101010101" pitchFamily="18" charset="-127"/>
            </a:endParaRPr>
          </a:p>
        </p:txBody>
      </p:sp>
      <p:cxnSp>
        <p:nvCxnSpPr>
          <p:cNvPr id="44" name="직선 연결선 43"/>
          <p:cNvCxnSpPr/>
          <p:nvPr/>
        </p:nvCxnSpPr>
        <p:spPr>
          <a:xfrm flipH="1">
            <a:off x="1366966" y="3757855"/>
            <a:ext cx="9110534" cy="0"/>
          </a:xfrm>
          <a:prstGeom prst="line">
            <a:avLst/>
          </a:prstGeom>
          <a:ln w="9525">
            <a:solidFill>
              <a:srgbClr val="D6DCE5"/>
            </a:solidFill>
            <a:prstDash val="dash"/>
          </a:ln>
        </p:spPr>
        <p:style>
          <a:lnRef idx="1">
            <a:schemeClr val="accent1"/>
          </a:lnRef>
          <a:fillRef idx="0">
            <a:schemeClr val="accent1"/>
          </a:fillRef>
          <a:effectRef idx="0">
            <a:schemeClr val="accent1"/>
          </a:effectRef>
          <a:fontRef idx="minor">
            <a:schemeClr val="tx1"/>
          </a:fontRef>
        </p:style>
      </p:cxnSp>
      <p:sp>
        <p:nvSpPr>
          <p:cNvPr id="50" name="순서도: 대체 처리 49"/>
          <p:cNvSpPr/>
          <p:nvPr/>
        </p:nvSpPr>
        <p:spPr>
          <a:xfrm>
            <a:off x="919564" y="3838171"/>
            <a:ext cx="10648506" cy="2398757"/>
          </a:xfrm>
          <a:prstGeom prst="flowChartAlternateProcess">
            <a:avLst/>
          </a:prstGeom>
          <a:solidFill>
            <a:srgbClr val="D6DCE5">
              <a:alpha val="20000"/>
            </a:srgbClr>
          </a:solidFill>
          <a:ln>
            <a:noFill/>
          </a:ln>
          <a:effectLst/>
        </p:spPr>
        <p:txBody>
          <a:bodyPr vert="horz" wrap="square" lIns="91440" tIns="45720" rIns="91440" bIns="45720" numCol="1" rtlCol="0" anchor="t" anchorCtr="0" compatLnSpc="1">
            <a:prstTxWarp prst="textNoShape">
              <a:avLst/>
            </a:prstTxWarp>
          </a:bodyPr>
          <a:lstStyle/>
          <a:p>
            <a:pPr defTabSz="914354" fontAlgn="base" latinLnBrk="0">
              <a:spcAft>
                <a:spcPts val="1000"/>
              </a:spcAft>
              <a:defRPr/>
            </a:pPr>
            <a:endParaRPr lang="en-US" altLang="ko-KR" sz="1400" b="1" dirty="0">
              <a:ln>
                <a:solidFill>
                  <a:prstClr val="white">
                    <a:alpha val="0"/>
                  </a:prstClr>
                </a:solidFill>
              </a:ln>
              <a:latin typeface="나눔스퀘어 Bold" panose="020B0600000101010101" pitchFamily="50" charset="-127"/>
              <a:ea typeface="나눔스퀘어 Bold" panose="020B0600000101010101" pitchFamily="50" charset="-127"/>
              <a:cs typeface="Segoe UI" panose="020B0502040204020203" pitchFamily="34" charset="0"/>
            </a:endParaRPr>
          </a:p>
        </p:txBody>
      </p:sp>
      <p:sp>
        <p:nvSpPr>
          <p:cNvPr id="53" name="직사각형 52">
            <a:extLst>
              <a:ext uri="{FF2B5EF4-FFF2-40B4-BE49-F238E27FC236}">
                <a16:creationId xmlns:a16="http://schemas.microsoft.com/office/drawing/2014/main" id="{5E1BAC51-93E3-4E55-A59B-3BB621CD3405}"/>
              </a:ext>
            </a:extLst>
          </p:cNvPr>
          <p:cNvSpPr/>
          <p:nvPr/>
        </p:nvSpPr>
        <p:spPr>
          <a:xfrm>
            <a:off x="1440724" y="3953883"/>
            <a:ext cx="4933050" cy="377321"/>
          </a:xfrm>
          <a:prstGeom prst="rect">
            <a:avLst/>
          </a:prstGeom>
          <a:noFill/>
        </p:spPr>
        <p:txBody>
          <a:bodyPr wrap="none" lIns="0" tIns="0" rIns="0" bIns="0" anchor="t">
            <a:noAutofit/>
          </a:bodyPr>
          <a:lstStyle/>
          <a:p>
            <a:pPr marR="608330" lvl="0" latinLnBrk="0">
              <a:lnSpc>
                <a:spcPct val="150000"/>
              </a:lnSpc>
              <a:defRPr/>
            </a:pPr>
            <a:r>
              <a:rPr lang="en-US" altLang="ko-KR" sz="16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1H Trend</a:t>
            </a:r>
          </a:p>
        </p:txBody>
      </p:sp>
      <p:sp>
        <p:nvSpPr>
          <p:cNvPr id="54" name="Freeform 33">
            <a:extLst>
              <a:ext uri="{FF2B5EF4-FFF2-40B4-BE49-F238E27FC236}">
                <a16:creationId xmlns:a16="http://schemas.microsoft.com/office/drawing/2014/main" id="{BA902CFE-F398-0B42-9263-FD594D77D40C}"/>
              </a:ext>
            </a:extLst>
          </p:cNvPr>
          <p:cNvSpPr>
            <a:spLocks noEditPoints="1"/>
          </p:cNvSpPr>
          <p:nvPr/>
        </p:nvSpPr>
        <p:spPr bwMode="auto">
          <a:xfrm>
            <a:off x="1194585" y="4065761"/>
            <a:ext cx="180000" cy="180772"/>
          </a:xfrm>
          <a:custGeom>
            <a:avLst/>
            <a:gdLst>
              <a:gd name="T0" fmla="*/ 220 w 440"/>
              <a:gd name="T1" fmla="*/ 0 h 441"/>
              <a:gd name="T2" fmla="*/ 0 w 440"/>
              <a:gd name="T3" fmla="*/ 220 h 441"/>
              <a:gd name="T4" fmla="*/ 220 w 440"/>
              <a:gd name="T5" fmla="*/ 441 h 441"/>
              <a:gd name="T6" fmla="*/ 440 w 440"/>
              <a:gd name="T7" fmla="*/ 220 h 441"/>
              <a:gd name="T8" fmla="*/ 220 w 440"/>
              <a:gd name="T9" fmla="*/ 0 h 441"/>
              <a:gd name="T10" fmla="*/ 200 w 440"/>
              <a:gd name="T11" fmla="*/ 330 h 441"/>
              <a:gd name="T12" fmla="*/ 93 w 440"/>
              <a:gd name="T13" fmla="*/ 222 h 441"/>
              <a:gd name="T14" fmla="*/ 120 w 440"/>
              <a:gd name="T15" fmla="*/ 200 h 441"/>
              <a:gd name="T16" fmla="*/ 182 w 440"/>
              <a:gd name="T17" fmla="*/ 248 h 441"/>
              <a:gd name="T18" fmla="*/ 341 w 440"/>
              <a:gd name="T19" fmla="*/ 111 h 441"/>
              <a:gd name="T20" fmla="*/ 347 w 440"/>
              <a:gd name="T21" fmla="*/ 126 h 441"/>
              <a:gd name="T22" fmla="*/ 200 w 440"/>
              <a:gd name="T23" fmla="*/ 330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0" h="441">
                <a:moveTo>
                  <a:pt x="220" y="0"/>
                </a:moveTo>
                <a:cubicBezTo>
                  <a:pt x="98" y="0"/>
                  <a:pt x="0" y="99"/>
                  <a:pt x="0" y="220"/>
                </a:cubicBezTo>
                <a:cubicBezTo>
                  <a:pt x="0" y="342"/>
                  <a:pt x="98" y="441"/>
                  <a:pt x="220" y="441"/>
                </a:cubicBezTo>
                <a:cubicBezTo>
                  <a:pt x="342" y="441"/>
                  <a:pt x="440" y="342"/>
                  <a:pt x="440" y="220"/>
                </a:cubicBezTo>
                <a:cubicBezTo>
                  <a:pt x="440" y="99"/>
                  <a:pt x="342" y="0"/>
                  <a:pt x="220" y="0"/>
                </a:cubicBezTo>
                <a:close/>
                <a:moveTo>
                  <a:pt x="200" y="330"/>
                </a:moveTo>
                <a:cubicBezTo>
                  <a:pt x="93" y="222"/>
                  <a:pt x="93" y="222"/>
                  <a:pt x="93" y="222"/>
                </a:cubicBezTo>
                <a:cubicBezTo>
                  <a:pt x="120" y="200"/>
                  <a:pt x="120" y="200"/>
                  <a:pt x="120" y="200"/>
                </a:cubicBezTo>
                <a:cubicBezTo>
                  <a:pt x="182" y="248"/>
                  <a:pt x="182" y="248"/>
                  <a:pt x="182" y="248"/>
                </a:cubicBezTo>
                <a:cubicBezTo>
                  <a:pt x="207" y="218"/>
                  <a:pt x="263" y="158"/>
                  <a:pt x="341" y="111"/>
                </a:cubicBezTo>
                <a:cubicBezTo>
                  <a:pt x="347" y="126"/>
                  <a:pt x="347" y="126"/>
                  <a:pt x="347" y="126"/>
                </a:cubicBezTo>
                <a:cubicBezTo>
                  <a:pt x="276" y="191"/>
                  <a:pt x="218" y="283"/>
                  <a:pt x="200" y="330"/>
                </a:cubicBezTo>
                <a:close/>
              </a:path>
            </a:pathLst>
          </a:custGeom>
          <a:solidFill>
            <a:srgbClr val="3CD0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000" dirty="0">
              <a:ln>
                <a:solidFill>
                  <a:schemeClr val="bg1">
                    <a:alpha val="0"/>
                  </a:schemeClr>
                </a:solidFill>
              </a:ln>
              <a:solidFill>
                <a:schemeClr val="bg1"/>
              </a:solidFill>
              <a:latin typeface="나눔스퀘어" panose="020B0600000101010101" pitchFamily="50" charset="-127"/>
              <a:ea typeface="나눔스퀘어" panose="020B0600000101010101" pitchFamily="50" charset="-127"/>
            </a:endParaRPr>
          </a:p>
        </p:txBody>
      </p:sp>
      <p:sp>
        <p:nvSpPr>
          <p:cNvPr id="55" name="직사각형 54">
            <a:extLst>
              <a:ext uri="{FF2B5EF4-FFF2-40B4-BE49-F238E27FC236}">
                <a16:creationId xmlns:a16="http://schemas.microsoft.com/office/drawing/2014/main" id="{5E1BAC51-93E3-4E55-A59B-3BB621CD3405}"/>
              </a:ext>
            </a:extLst>
          </p:cNvPr>
          <p:cNvSpPr/>
          <p:nvPr/>
        </p:nvSpPr>
        <p:spPr>
          <a:xfrm>
            <a:off x="1440724" y="5097292"/>
            <a:ext cx="5498028" cy="292649"/>
          </a:xfrm>
          <a:prstGeom prst="rect">
            <a:avLst/>
          </a:prstGeom>
          <a:noFill/>
        </p:spPr>
        <p:txBody>
          <a:bodyPr wrap="square" lIns="0" tIns="0" rIns="0" bIns="0" anchor="t">
            <a:noAutofit/>
          </a:bodyPr>
          <a:lstStyle/>
          <a:p>
            <a:pPr marR="608330" lvl="0" latinLnBrk="0">
              <a:lnSpc>
                <a:spcPct val="150000"/>
              </a:lnSpc>
              <a:defRPr/>
            </a:pPr>
            <a:r>
              <a:rPr lang="en-US" altLang="ko-KR" sz="16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2H Outlook</a:t>
            </a:r>
          </a:p>
        </p:txBody>
      </p:sp>
      <p:sp>
        <p:nvSpPr>
          <p:cNvPr id="56" name="Freeform 33">
            <a:extLst>
              <a:ext uri="{FF2B5EF4-FFF2-40B4-BE49-F238E27FC236}">
                <a16:creationId xmlns:a16="http://schemas.microsoft.com/office/drawing/2014/main" id="{BA902CFE-F398-0B42-9263-FD594D77D40C}"/>
              </a:ext>
            </a:extLst>
          </p:cNvPr>
          <p:cNvSpPr>
            <a:spLocks noEditPoints="1"/>
          </p:cNvSpPr>
          <p:nvPr/>
        </p:nvSpPr>
        <p:spPr bwMode="auto">
          <a:xfrm>
            <a:off x="1194585" y="5209169"/>
            <a:ext cx="180000" cy="180772"/>
          </a:xfrm>
          <a:custGeom>
            <a:avLst/>
            <a:gdLst>
              <a:gd name="T0" fmla="*/ 220 w 440"/>
              <a:gd name="T1" fmla="*/ 0 h 441"/>
              <a:gd name="T2" fmla="*/ 0 w 440"/>
              <a:gd name="T3" fmla="*/ 220 h 441"/>
              <a:gd name="T4" fmla="*/ 220 w 440"/>
              <a:gd name="T5" fmla="*/ 441 h 441"/>
              <a:gd name="T6" fmla="*/ 440 w 440"/>
              <a:gd name="T7" fmla="*/ 220 h 441"/>
              <a:gd name="T8" fmla="*/ 220 w 440"/>
              <a:gd name="T9" fmla="*/ 0 h 441"/>
              <a:gd name="T10" fmla="*/ 200 w 440"/>
              <a:gd name="T11" fmla="*/ 330 h 441"/>
              <a:gd name="T12" fmla="*/ 93 w 440"/>
              <a:gd name="T13" fmla="*/ 222 h 441"/>
              <a:gd name="T14" fmla="*/ 120 w 440"/>
              <a:gd name="T15" fmla="*/ 200 h 441"/>
              <a:gd name="T16" fmla="*/ 182 w 440"/>
              <a:gd name="T17" fmla="*/ 248 h 441"/>
              <a:gd name="T18" fmla="*/ 341 w 440"/>
              <a:gd name="T19" fmla="*/ 111 h 441"/>
              <a:gd name="T20" fmla="*/ 347 w 440"/>
              <a:gd name="T21" fmla="*/ 126 h 441"/>
              <a:gd name="T22" fmla="*/ 200 w 440"/>
              <a:gd name="T23" fmla="*/ 330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0" h="441">
                <a:moveTo>
                  <a:pt x="220" y="0"/>
                </a:moveTo>
                <a:cubicBezTo>
                  <a:pt x="98" y="0"/>
                  <a:pt x="0" y="99"/>
                  <a:pt x="0" y="220"/>
                </a:cubicBezTo>
                <a:cubicBezTo>
                  <a:pt x="0" y="342"/>
                  <a:pt x="98" y="441"/>
                  <a:pt x="220" y="441"/>
                </a:cubicBezTo>
                <a:cubicBezTo>
                  <a:pt x="342" y="441"/>
                  <a:pt x="440" y="342"/>
                  <a:pt x="440" y="220"/>
                </a:cubicBezTo>
                <a:cubicBezTo>
                  <a:pt x="440" y="99"/>
                  <a:pt x="342" y="0"/>
                  <a:pt x="220" y="0"/>
                </a:cubicBezTo>
                <a:close/>
                <a:moveTo>
                  <a:pt x="200" y="330"/>
                </a:moveTo>
                <a:cubicBezTo>
                  <a:pt x="93" y="222"/>
                  <a:pt x="93" y="222"/>
                  <a:pt x="93" y="222"/>
                </a:cubicBezTo>
                <a:cubicBezTo>
                  <a:pt x="120" y="200"/>
                  <a:pt x="120" y="200"/>
                  <a:pt x="120" y="200"/>
                </a:cubicBezTo>
                <a:cubicBezTo>
                  <a:pt x="182" y="248"/>
                  <a:pt x="182" y="248"/>
                  <a:pt x="182" y="248"/>
                </a:cubicBezTo>
                <a:cubicBezTo>
                  <a:pt x="207" y="218"/>
                  <a:pt x="263" y="158"/>
                  <a:pt x="341" y="111"/>
                </a:cubicBezTo>
                <a:cubicBezTo>
                  <a:pt x="347" y="126"/>
                  <a:pt x="347" y="126"/>
                  <a:pt x="347" y="126"/>
                </a:cubicBezTo>
                <a:cubicBezTo>
                  <a:pt x="276" y="191"/>
                  <a:pt x="218" y="283"/>
                  <a:pt x="200" y="330"/>
                </a:cubicBezTo>
                <a:close/>
              </a:path>
            </a:pathLst>
          </a:custGeom>
          <a:solidFill>
            <a:srgbClr val="3CD0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000" dirty="0">
              <a:ln>
                <a:solidFill>
                  <a:schemeClr val="bg1">
                    <a:alpha val="0"/>
                  </a:schemeClr>
                </a:solidFill>
              </a:ln>
              <a:solidFill>
                <a:schemeClr val="bg1"/>
              </a:solidFill>
              <a:latin typeface="나눔스퀘어" panose="020B0600000101010101" pitchFamily="50" charset="-127"/>
              <a:ea typeface="나눔스퀘어" panose="020B0600000101010101" pitchFamily="50" charset="-127"/>
            </a:endParaRPr>
          </a:p>
        </p:txBody>
      </p:sp>
      <p:sp>
        <p:nvSpPr>
          <p:cNvPr id="32" name="직사각형 31">
            <a:extLst>
              <a:ext uri="{FF2B5EF4-FFF2-40B4-BE49-F238E27FC236}">
                <a16:creationId xmlns:a16="http://schemas.microsoft.com/office/drawing/2014/main" id="{5E1BAC51-93E3-4E55-A59B-3BB621CD3405}"/>
              </a:ext>
            </a:extLst>
          </p:cNvPr>
          <p:cNvSpPr/>
          <p:nvPr/>
        </p:nvSpPr>
        <p:spPr>
          <a:xfrm>
            <a:off x="2760454" y="3963810"/>
            <a:ext cx="9082637" cy="1055312"/>
          </a:xfrm>
          <a:prstGeom prst="rect">
            <a:avLst/>
          </a:prstGeom>
          <a:noFill/>
        </p:spPr>
        <p:txBody>
          <a:bodyPr wrap="square" lIns="0" tIns="0" rIns="0" bIns="0" anchor="t">
            <a:noAutofit/>
          </a:bodyPr>
          <a:lstStyle/>
          <a:p>
            <a:pPr marL="144000" marR="608330" lvl="0" indent="-144000" latinLnBrk="0">
              <a:lnSpc>
                <a:spcPct val="150000"/>
              </a:lnSpc>
              <a:spcAft>
                <a:spcPts val="400"/>
              </a:spcAft>
              <a:buFont typeface="Arial" panose="020B0604020202020204" pitchFamily="34" charset="0"/>
              <a:buChar char="•"/>
              <a:defRPr/>
            </a:pPr>
            <a:r>
              <a:rPr lang="en-US" altLang="ko-KR" sz="1300" b="1" kern="100" dirty="0">
                <a:latin typeface="나눔스퀘어" panose="020B0600000101010101" pitchFamily="50" charset="-127"/>
                <a:ea typeface="나눔스퀘어" panose="020B0600000101010101" pitchFamily="50" charset="-127"/>
                <a:cs typeface="바탕" panose="02030600000101010101" pitchFamily="18" charset="-127"/>
              </a:rPr>
              <a:t>(Demand) 1H demand quickly recovered to pre-war levels, ahead of supply; Asia volume led the recovery</a:t>
            </a:r>
          </a:p>
          <a:p>
            <a:pPr marL="144000" marR="608330" lvl="0" indent="-144000" latinLnBrk="0">
              <a:lnSpc>
                <a:spcPct val="150000"/>
              </a:lnSpc>
              <a:spcAft>
                <a:spcPts val="400"/>
              </a:spcAft>
              <a:buFont typeface="Arial" panose="020B0604020202020204" pitchFamily="34" charset="0"/>
              <a:buChar char="•"/>
              <a:defRPr/>
            </a:pPr>
            <a:r>
              <a:rPr lang="en-US" altLang="ko-KR" sz="1300" b="1" kern="100" dirty="0">
                <a:latin typeface="나눔스퀘어" panose="020B0600000101010101" pitchFamily="50" charset="-127"/>
                <a:ea typeface="나눔스퀘어" panose="020B0600000101010101" pitchFamily="50" charset="-127"/>
                <a:cs typeface="바탕" panose="02030600000101010101" pitchFamily="18" charset="-127"/>
              </a:rPr>
              <a:t>(Supply) Modest YoY </a:t>
            </a:r>
            <a:r>
              <a:rPr lang="en-US" altLang="ko-KR" sz="1300" b="1" kern="100" dirty="0" smtClean="0">
                <a:latin typeface="나눔스퀘어" panose="020B0600000101010101" pitchFamily="50" charset="-127"/>
                <a:ea typeface="나눔스퀘어" panose="020B0600000101010101" pitchFamily="50" charset="-127"/>
                <a:cs typeface="바탕" panose="02030600000101010101" pitchFamily="18" charset="-127"/>
              </a:rPr>
              <a:t>growth below demand</a:t>
            </a:r>
            <a:r>
              <a:rPr lang="en-US" altLang="ko-KR" sz="1300" b="1" kern="100" dirty="0">
                <a:latin typeface="나눔스퀘어" panose="020B0600000101010101" pitchFamily="50" charset="-127"/>
                <a:ea typeface="나눔스퀘어" panose="020B0600000101010101" pitchFamily="50" charset="-127"/>
                <a:cs typeface="바탕" panose="02030600000101010101" pitchFamily="18" charset="-127"/>
              </a:rPr>
              <a:t>, with gradual recovery on belly rebound and freighter </a:t>
            </a:r>
            <a:r>
              <a:rPr lang="en-US" altLang="ko-KR" sz="1300" b="1" kern="100" dirty="0" smtClean="0">
                <a:latin typeface="나눔스퀘어" panose="020B0600000101010101" pitchFamily="50" charset="-127"/>
                <a:ea typeface="나눔스퀘어" panose="020B0600000101010101" pitchFamily="50" charset="-127"/>
                <a:cs typeface="바탕" panose="02030600000101010101" pitchFamily="18" charset="-127"/>
              </a:rPr>
              <a:t>additions</a:t>
            </a:r>
          </a:p>
          <a:p>
            <a:pPr marL="144000" marR="608330" lvl="0" indent="-144000" latinLnBrk="0">
              <a:lnSpc>
                <a:spcPct val="150000"/>
              </a:lnSpc>
              <a:spcAft>
                <a:spcPts val="400"/>
              </a:spcAft>
              <a:buFont typeface="Arial" panose="020B0604020202020204" pitchFamily="34" charset="0"/>
              <a:buChar char="•"/>
              <a:defRPr/>
            </a:pPr>
            <a:r>
              <a:rPr lang="en-US" altLang="ko-KR" sz="1300" b="1" kern="100" dirty="0" smtClean="0">
                <a:latin typeface="나눔스퀘어" panose="020B0600000101010101" pitchFamily="50" charset="-127"/>
                <a:ea typeface="나눔스퀘어" panose="020B0600000101010101" pitchFamily="50" charset="-127"/>
                <a:cs typeface="바탕" panose="02030600000101010101" pitchFamily="18" charset="-127"/>
              </a:rPr>
              <a:t>(</a:t>
            </a:r>
            <a:r>
              <a:rPr lang="en-US" altLang="ko-KR" sz="1300" b="1" kern="100" dirty="0">
                <a:latin typeface="나눔스퀘어" panose="020B0600000101010101" pitchFamily="50" charset="-127"/>
                <a:ea typeface="나눔스퀘어" panose="020B0600000101010101" pitchFamily="50" charset="-127"/>
                <a:cs typeface="바탕" panose="02030600000101010101" pitchFamily="18" charset="-127"/>
              </a:rPr>
              <a:t>Rates) Rates hit a 3-year high on ME war supply impact and remain elevated, with gains widening on key lanes</a:t>
            </a:r>
          </a:p>
        </p:txBody>
      </p:sp>
      <p:sp>
        <p:nvSpPr>
          <p:cNvPr id="33" name="직사각형 32">
            <a:extLst>
              <a:ext uri="{FF2B5EF4-FFF2-40B4-BE49-F238E27FC236}">
                <a16:creationId xmlns:a16="http://schemas.microsoft.com/office/drawing/2014/main" id="{5E1BAC51-93E3-4E55-A59B-3BB621CD3405}"/>
              </a:ext>
            </a:extLst>
          </p:cNvPr>
          <p:cNvSpPr/>
          <p:nvPr/>
        </p:nvSpPr>
        <p:spPr>
          <a:xfrm>
            <a:off x="2760453" y="5122830"/>
            <a:ext cx="9431547" cy="1032364"/>
          </a:xfrm>
          <a:prstGeom prst="rect">
            <a:avLst/>
          </a:prstGeom>
          <a:noFill/>
        </p:spPr>
        <p:txBody>
          <a:bodyPr wrap="square" lIns="0" tIns="0" rIns="0" bIns="0" anchor="t">
            <a:noAutofit/>
          </a:bodyPr>
          <a:lstStyle/>
          <a:p>
            <a:pPr marL="144000" marR="608330" lvl="0" indent="-144000" latinLnBrk="0">
              <a:lnSpc>
                <a:spcPct val="150000"/>
              </a:lnSpc>
              <a:spcAft>
                <a:spcPts val="400"/>
              </a:spcAft>
              <a:buFont typeface="Arial" panose="020B0604020202020204" pitchFamily="34" charset="0"/>
              <a:buChar char="•"/>
              <a:defRPr/>
            </a:pPr>
            <a:r>
              <a:rPr lang="en-US" altLang="ko-KR" sz="1300" b="1" kern="100" spc="-50" dirty="0">
                <a:latin typeface="나눔스퀘어" panose="020B0600000101010101" pitchFamily="50" charset="-127"/>
                <a:ea typeface="나눔스퀘어" panose="020B0600000101010101" pitchFamily="50" charset="-127"/>
                <a:cs typeface="바탕" panose="02030600000101010101" pitchFamily="18" charset="-127"/>
              </a:rPr>
              <a:t>(Demand) </a:t>
            </a:r>
            <a:r>
              <a:rPr lang="en-US" altLang="ko-KR" sz="1300" b="1" kern="100" spc="-50" dirty="0" smtClean="0">
                <a:latin typeface="나눔스퀘어" panose="020B0600000101010101" pitchFamily="50" charset="-127"/>
                <a:ea typeface="나눔스퀘어" panose="020B0600000101010101" pitchFamily="50" charset="-127"/>
                <a:cs typeface="바탕" panose="02030600000101010101" pitchFamily="18" charset="-127"/>
              </a:rPr>
              <a:t>2H demand growth to slow slightly YoY; high-value AI/chip cargo and key Asia-origin lanes to support demand</a:t>
            </a:r>
          </a:p>
          <a:p>
            <a:pPr marL="144000" marR="608330" lvl="0" indent="-144000" latinLnBrk="0">
              <a:lnSpc>
                <a:spcPct val="150000"/>
              </a:lnSpc>
              <a:spcAft>
                <a:spcPts val="400"/>
              </a:spcAft>
              <a:buFont typeface="Arial" panose="020B0604020202020204" pitchFamily="34" charset="0"/>
              <a:buChar char="•"/>
              <a:defRPr/>
            </a:pPr>
            <a:r>
              <a:rPr lang="en-US" altLang="ko-KR" sz="1300" b="1" kern="100" spc="-50" dirty="0" smtClean="0">
                <a:latin typeface="나눔스퀘어" panose="020B0600000101010101" pitchFamily="50" charset="-127"/>
                <a:ea typeface="나눔스퀘어" panose="020B0600000101010101" pitchFamily="50" charset="-127"/>
                <a:cs typeface="바탕" panose="02030600000101010101" pitchFamily="18" charset="-127"/>
              </a:rPr>
              <a:t>(Supply) The widening order-delivery gap and record-high backlog are likely to constrain supply over the mid to long term</a:t>
            </a:r>
          </a:p>
          <a:p>
            <a:pPr marL="144000" marR="608330" lvl="0" indent="-144000" latinLnBrk="0">
              <a:lnSpc>
                <a:spcPct val="150000"/>
              </a:lnSpc>
              <a:spcAft>
                <a:spcPts val="400"/>
              </a:spcAft>
              <a:buFont typeface="Arial" panose="020B0604020202020204" pitchFamily="34" charset="0"/>
              <a:buChar char="•"/>
              <a:defRPr/>
            </a:pPr>
            <a:r>
              <a:rPr lang="en-US" altLang="ko-KR" sz="1300" b="1" kern="100" spc="-70" dirty="0" smtClean="0">
                <a:latin typeface="나눔스퀘어" panose="020B0600000101010101" pitchFamily="50" charset="-127"/>
                <a:ea typeface="나눔스퀘어" panose="020B0600000101010101" pitchFamily="50" charset="-127"/>
                <a:cs typeface="바탕" panose="02030600000101010101" pitchFamily="18" charset="-127"/>
              </a:rPr>
              <a:t>(Rates) Q3 rates to soften on oil normalization and e-commerce slowdown; Q4 to rise on AI demand and year-end peak volume</a:t>
            </a:r>
            <a:endParaRPr lang="en-US" altLang="ko-KR" sz="1300" b="1" kern="100" spc="-70" dirty="0">
              <a:latin typeface="나눔스퀘어" panose="020B0600000101010101" pitchFamily="50" charset="-127"/>
              <a:ea typeface="나눔스퀘어" panose="020B0600000101010101" pitchFamily="50" charset="-127"/>
              <a:cs typeface="바탕" panose="02030600000101010101" pitchFamily="18" charset="-127"/>
            </a:endParaRPr>
          </a:p>
        </p:txBody>
      </p:sp>
      <p:sp>
        <p:nvSpPr>
          <p:cNvPr id="30" name="직사각형 29"/>
          <p:cNvSpPr/>
          <p:nvPr/>
        </p:nvSpPr>
        <p:spPr bwMode="gray">
          <a:xfrm>
            <a:off x="458603" y="1814046"/>
            <a:ext cx="307777" cy="1538883"/>
          </a:xfrm>
          <a:prstGeom prst="rect">
            <a:avLst/>
          </a:prstGeom>
          <a:noFill/>
          <a:ln>
            <a:noFill/>
          </a:ln>
          <a:effectLst/>
          <a:extLst>
            <a:ext uri="{AF507438-7753-43E0-B8FC-AC1667EBCBE1}">
              <a14:hiddenEffects xmlns:a14="http://schemas.microsoft.com/office/drawing/2010/main">
                <a:effectLst>
                  <a:outerShdw dist="35921" dir="2700000" algn="ctr" rotWithShape="0">
                    <a:srgbClr val="CCFFFF">
                      <a:alpha val="50000"/>
                    </a:srgbClr>
                  </a:outerShdw>
                </a:effectLst>
              </a14:hiddenEffects>
            </a:ext>
          </a:extLst>
        </p:spPr>
        <p:txBody>
          <a:bodyPr vert="vert270" wrap="square" lIns="0" tIns="0" rIns="0" bIns="0" anchor="t" anchorCtr="0">
            <a:spAutoFit/>
            <a:scene3d>
              <a:camera prst="orthographicFront"/>
              <a:lightRig rig="threePt" dir="t"/>
            </a:scene3d>
            <a:sp3d>
              <a:bevelT w="0" h="0"/>
            </a:sp3d>
          </a:bodyPr>
          <a:lstStyle/>
          <a:p>
            <a:pPr algn="ctr" defTabSz="914354" fontAlgn="base" latinLnBrk="0">
              <a:spcAft>
                <a:spcPts val="400"/>
              </a:spcAft>
              <a:defRPr/>
            </a:pPr>
            <a:r>
              <a:rPr lang="en-US" altLang="ko-KR" sz="2000" b="1" dirty="0">
                <a:ln>
                  <a:solidFill>
                    <a:prstClr val="white">
                      <a:alpha val="0"/>
                    </a:prstClr>
                  </a:solidFill>
                </a:ln>
                <a:solidFill>
                  <a:prstClr val="black"/>
                </a:solidFill>
                <a:latin typeface="나눔스퀘어 ExtraBold" panose="020B0600000101010101" pitchFamily="50" charset="-127"/>
                <a:ea typeface="나눔스퀘어 ExtraBold" panose="020B0600000101010101" pitchFamily="50" charset="-127"/>
                <a:cs typeface="Segoe UI" panose="020B0502040204020203" pitchFamily="34" charset="0"/>
              </a:rPr>
              <a:t>Ocean</a:t>
            </a:r>
          </a:p>
        </p:txBody>
      </p:sp>
      <p:sp>
        <p:nvSpPr>
          <p:cNvPr id="31" name="직사각형 30"/>
          <p:cNvSpPr/>
          <p:nvPr/>
        </p:nvSpPr>
        <p:spPr bwMode="gray">
          <a:xfrm>
            <a:off x="506005" y="4749915"/>
            <a:ext cx="307777" cy="615553"/>
          </a:xfrm>
          <a:prstGeom prst="rect">
            <a:avLst/>
          </a:prstGeom>
          <a:noFill/>
          <a:ln>
            <a:noFill/>
          </a:ln>
          <a:effectLst/>
          <a:extLst>
            <a:ext uri="{AF507438-7753-43E0-B8FC-AC1667EBCBE1}">
              <a14:hiddenEffects xmlns:a14="http://schemas.microsoft.com/office/drawing/2010/main">
                <a:effectLst>
                  <a:outerShdw dist="35921" dir="2700000" algn="ctr" rotWithShape="0">
                    <a:srgbClr val="CCFFFF">
                      <a:alpha val="50000"/>
                    </a:srgbClr>
                  </a:outerShdw>
                </a:effectLst>
              </a14:hiddenEffects>
            </a:ext>
          </a:extLst>
        </p:spPr>
        <p:txBody>
          <a:bodyPr vert="vert270" wrap="square" lIns="0" tIns="0" rIns="0" bIns="0" anchor="t" anchorCtr="0">
            <a:spAutoFit/>
            <a:scene3d>
              <a:camera prst="orthographicFront"/>
              <a:lightRig rig="threePt" dir="t"/>
            </a:scene3d>
            <a:sp3d>
              <a:bevelT w="0" h="0"/>
            </a:sp3d>
          </a:bodyPr>
          <a:lstStyle/>
          <a:p>
            <a:pPr algn="ctr" defTabSz="914354" fontAlgn="base" latinLnBrk="0">
              <a:spcAft>
                <a:spcPts val="400"/>
              </a:spcAft>
              <a:defRPr/>
            </a:pPr>
            <a:r>
              <a:rPr lang="en-US" altLang="ko-KR" sz="2000" b="1" dirty="0">
                <a:ln>
                  <a:solidFill>
                    <a:prstClr val="white">
                      <a:alpha val="0"/>
                    </a:prstClr>
                  </a:solidFill>
                </a:ln>
                <a:solidFill>
                  <a:prstClr val="black"/>
                </a:solidFill>
                <a:latin typeface="나눔스퀘어 ExtraBold" panose="020B0600000101010101" pitchFamily="50" charset="-127"/>
                <a:ea typeface="나눔스퀘어 ExtraBold" panose="020B0600000101010101" pitchFamily="50" charset="-127"/>
                <a:cs typeface="Segoe UI" panose="020B0502040204020203" pitchFamily="34" charset="0"/>
              </a:rPr>
              <a:t>Air</a:t>
            </a:r>
          </a:p>
        </p:txBody>
      </p:sp>
    </p:spTree>
    <p:extLst>
      <p:ext uri="{BB962C8B-B14F-4D97-AF65-F5344CB8AC3E}">
        <p14:creationId xmlns:p14="http://schemas.microsoft.com/office/powerpoint/2010/main" val="18591692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6200E7D-FDD1-7B40-8B62-165CA944F069}"/>
              </a:ext>
            </a:extLst>
          </p:cNvPr>
          <p:cNvSpPr txBox="1"/>
          <p:nvPr/>
        </p:nvSpPr>
        <p:spPr>
          <a:xfrm>
            <a:off x="821898" y="3156506"/>
            <a:ext cx="1113582" cy="861774"/>
          </a:xfrm>
          <a:prstGeom prst="rect">
            <a:avLst/>
          </a:prstGeom>
          <a:noFill/>
        </p:spPr>
        <p:txBody>
          <a:bodyPr wrap="square" rtlCol="0" anchor="ctr" anchorCtr="0">
            <a:spAutoFit/>
          </a:bodyPr>
          <a:lstStyle/>
          <a:p>
            <a:pPr lvl="0" defTabSz="912736">
              <a:defRPr/>
            </a:pPr>
            <a:r>
              <a:rPr lang="en-US" altLang="ko-KR" sz="5000" b="1" spc="-50" dirty="0">
                <a:ln>
                  <a:solidFill>
                    <a:prstClr val="white">
                      <a:alpha val="0"/>
                    </a:prstClr>
                  </a:solidFill>
                </a:ln>
                <a:solidFill>
                  <a:srgbClr val="1428A0"/>
                </a:solidFill>
                <a:latin typeface="나눔스퀘어 Bold" panose="020B0600000101010101" pitchFamily="50" charset="-127"/>
                <a:ea typeface="나눔스퀘어 Bold" panose="020B0600000101010101" pitchFamily="50" charset="-127"/>
              </a:rPr>
              <a:t>Ⅱ.</a:t>
            </a:r>
          </a:p>
        </p:txBody>
      </p:sp>
      <p:sp>
        <p:nvSpPr>
          <p:cNvPr id="5" name="TextBox 4">
            <a:extLst>
              <a:ext uri="{FF2B5EF4-FFF2-40B4-BE49-F238E27FC236}">
                <a16:creationId xmlns:a16="http://schemas.microsoft.com/office/drawing/2014/main" id="{311EAEE3-D533-2646-9590-C3056B8E1BC0}"/>
              </a:ext>
            </a:extLst>
          </p:cNvPr>
          <p:cNvSpPr txBox="1"/>
          <p:nvPr/>
        </p:nvSpPr>
        <p:spPr>
          <a:xfrm>
            <a:off x="1780989" y="3156506"/>
            <a:ext cx="7134967" cy="861774"/>
          </a:xfrm>
          <a:prstGeom prst="rect">
            <a:avLst/>
          </a:prstGeom>
          <a:noFill/>
        </p:spPr>
        <p:txBody>
          <a:bodyPr wrap="none" rtlCol="0" anchor="t" anchorCtr="0">
            <a:spAutoFit/>
          </a:bodyPr>
          <a:lstStyle/>
          <a:p>
            <a:pPr>
              <a:defRPr/>
            </a:pPr>
            <a:r>
              <a:rPr lang="en-US" altLang="ko-KR" sz="5000" b="1" spc="-70" dirty="0">
                <a:ln>
                  <a:solidFill>
                    <a:prstClr val="white">
                      <a:alpha val="0"/>
                    </a:prstClr>
                  </a:solidFill>
                </a:ln>
                <a:latin typeface="나눔스퀘어 Bold" panose="020B0600000101010101" pitchFamily="50" charset="-127"/>
                <a:ea typeface="나눔스퀘어 Bold" panose="020B0600000101010101" pitchFamily="50" charset="-127"/>
                <a:cs typeface="나눔스퀘어" panose="02000603000000020004" pitchFamily="50" charset="-127"/>
              </a:rPr>
              <a:t>2026 1H Market Review</a:t>
            </a:r>
            <a:endParaRPr lang="ko-KR" altLang="en-US" sz="5000" b="1" spc="-70" dirty="0">
              <a:ln>
                <a:solidFill>
                  <a:prstClr val="white">
                    <a:alpha val="0"/>
                  </a:prstClr>
                </a:solidFill>
              </a:ln>
              <a:latin typeface="나눔스퀘어 Bold" panose="020B0600000101010101" pitchFamily="50" charset="-127"/>
              <a:ea typeface="나눔스퀘어 Bold" panose="020B0600000101010101" pitchFamily="50" charset="-127"/>
              <a:cs typeface="나눔스퀘어" panose="02000603000000020004" pitchFamily="50" charset="-127"/>
            </a:endParaRPr>
          </a:p>
        </p:txBody>
      </p:sp>
    </p:spTree>
    <p:extLst>
      <p:ext uri="{BB962C8B-B14F-4D97-AF65-F5344CB8AC3E}">
        <p14:creationId xmlns:p14="http://schemas.microsoft.com/office/powerpoint/2010/main" val="42004584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p:cNvSpPr>
            <a:spLocks noGrp="1"/>
          </p:cNvSpPr>
          <p:nvPr>
            <p:ph type="body" sz="quarter" idx="10"/>
          </p:nvPr>
        </p:nvSpPr>
        <p:spPr/>
        <p:txBody>
          <a:bodyPr/>
          <a:lstStyle/>
          <a:p>
            <a:pPr latinLnBrk="0"/>
            <a:r>
              <a:rPr lang="en-US" altLang="ko-KR" spc="-30" dirty="0"/>
              <a:t>Front-loading amid Middle East risks, higher fuel costs, and tariff uncertainty drove an early peak </a:t>
            </a:r>
            <a:r>
              <a:rPr lang="en-US" altLang="ko-KR" spc="-30" dirty="0" smtClean="0"/>
              <a:t>season</a:t>
            </a:r>
          </a:p>
          <a:p>
            <a:pPr latinLnBrk="0"/>
            <a:r>
              <a:rPr lang="en-US" altLang="ko-KR" dirty="0"/>
              <a:t>Stronger Asia-origin cargo offset weaker Middle East demand, widening regional demand </a:t>
            </a:r>
            <a:r>
              <a:rPr lang="en-US" altLang="ko-KR" dirty="0" smtClean="0"/>
              <a:t>divergence</a:t>
            </a:r>
          </a:p>
        </p:txBody>
      </p:sp>
      <p:sp>
        <p:nvSpPr>
          <p:cNvPr id="16" name="제목 15"/>
          <p:cNvSpPr>
            <a:spLocks noGrp="1"/>
          </p:cNvSpPr>
          <p:nvPr>
            <p:ph type="title"/>
          </p:nvPr>
        </p:nvSpPr>
        <p:spPr/>
        <p:txBody>
          <a:bodyPr/>
          <a:lstStyle/>
          <a:p>
            <a:r>
              <a:rPr lang="en-US" altLang="ko-KR" dirty="0">
                <a:solidFill>
                  <a:prstClr val="black"/>
                </a:solidFill>
              </a:rPr>
              <a:t>Ocean Demand Trend</a:t>
            </a:r>
            <a:r>
              <a:rPr lang="ko-KR" altLang="en-US" dirty="0">
                <a:solidFill>
                  <a:prstClr val="black"/>
                </a:solidFill>
              </a:rPr>
              <a:t> </a:t>
            </a:r>
            <a:endParaRPr lang="ko-KR" altLang="en-US" sz="2400" dirty="0"/>
          </a:p>
        </p:txBody>
      </p:sp>
      <p:grpSp>
        <p:nvGrpSpPr>
          <p:cNvPr id="46" name="그룹 48"/>
          <p:cNvGrpSpPr/>
          <p:nvPr/>
        </p:nvGrpSpPr>
        <p:grpSpPr>
          <a:xfrm>
            <a:off x="503791" y="2117975"/>
            <a:ext cx="5436159" cy="374400"/>
            <a:chOff x="515380" y="1844820"/>
            <a:chExt cx="5436158" cy="374400"/>
          </a:xfrm>
        </p:grpSpPr>
        <p:sp>
          <p:nvSpPr>
            <p:cNvPr id="50" name="Rectangle 215"/>
            <p:cNvSpPr>
              <a:spLocks noChangeArrowheads="1"/>
            </p:cNvSpPr>
            <p:nvPr/>
          </p:nvSpPr>
          <p:spPr bwMode="auto">
            <a:xfrm>
              <a:off x="515380" y="1844820"/>
              <a:ext cx="5436158"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51" name="TextBox 116"/>
            <p:cNvSpPr txBox="1">
              <a:spLocks noChangeArrowheads="1"/>
            </p:cNvSpPr>
            <p:nvPr/>
          </p:nvSpPr>
          <p:spPr bwMode="auto">
            <a:xfrm>
              <a:off x="673467" y="1915641"/>
              <a:ext cx="511998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algn="ctr" defTabSz="1038977" eaLnBrk="1" hangingPunct="1"/>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Front-loading drove an early peak season</a:t>
              </a:r>
              <a:endParaRPr kumimoji="0" lang="ko-KR" altLang="en-US"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grpSp>
      <p:sp>
        <p:nvSpPr>
          <p:cNvPr id="48" name="Rectangle 215"/>
          <p:cNvSpPr>
            <a:spLocks noChangeArrowheads="1"/>
          </p:cNvSpPr>
          <p:nvPr/>
        </p:nvSpPr>
        <p:spPr bwMode="auto">
          <a:xfrm>
            <a:off x="6235069" y="2117975"/>
            <a:ext cx="5436000"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44" name="자유형 63"/>
          <p:cNvSpPr/>
          <p:nvPr/>
        </p:nvSpPr>
        <p:spPr>
          <a:xfrm>
            <a:off x="503790" y="2117975"/>
            <a:ext cx="780087" cy="368297"/>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45" name="자유형 64"/>
          <p:cNvSpPr/>
          <p:nvPr/>
        </p:nvSpPr>
        <p:spPr>
          <a:xfrm>
            <a:off x="503790" y="2117975"/>
            <a:ext cx="780088" cy="368297"/>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42" name="자유형 63"/>
          <p:cNvSpPr/>
          <p:nvPr/>
        </p:nvSpPr>
        <p:spPr>
          <a:xfrm>
            <a:off x="6237602" y="2118958"/>
            <a:ext cx="780087" cy="368297"/>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43" name="자유형 64"/>
          <p:cNvSpPr/>
          <p:nvPr/>
        </p:nvSpPr>
        <p:spPr>
          <a:xfrm>
            <a:off x="6237602" y="2118958"/>
            <a:ext cx="780088" cy="368297"/>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pic>
        <p:nvPicPr>
          <p:cNvPr id="52" name="Picture 200" descr="악세사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339689" y="4546810"/>
            <a:ext cx="3535193" cy="91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3" name="TextBox 52">
            <a:extLst>
              <a:ext uri="{FF2B5EF4-FFF2-40B4-BE49-F238E27FC236}">
                <a16:creationId xmlns:a16="http://schemas.microsoft.com/office/drawing/2014/main" id="{5C91891D-2B97-7824-4757-F84C493DF63F}"/>
              </a:ext>
            </a:extLst>
          </p:cNvPr>
          <p:cNvSpPr txBox="1"/>
          <p:nvPr/>
        </p:nvSpPr>
        <p:spPr>
          <a:xfrm>
            <a:off x="525890" y="6498737"/>
            <a:ext cx="1093248" cy="153888"/>
          </a:xfrm>
          <a:prstGeom prst="rect">
            <a:avLst/>
          </a:prstGeom>
          <a:noFill/>
        </p:spPr>
        <p:txBody>
          <a:bodyPr wrap="none" lIns="0" tIns="0" rIns="0" bIns="0" rtlCol="0" anchor="ctr">
            <a:spAutoFit/>
          </a:bodyPr>
          <a:lstStyle/>
          <a:p>
            <a:pPr lvl="0" defTabSz="1038977">
              <a:defRPr/>
            </a:pPr>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Source</a:t>
            </a:r>
            <a:r>
              <a:rPr lang="ko-KR" altLang="en-US"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a:ln>
                  <a:solidFill>
                    <a:prstClr val="white">
                      <a:alpha val="0"/>
                    </a:prstClr>
                  </a:solidFill>
                </a:ln>
                <a:latin typeface="나눔스퀘어" panose="020B0600000101010101" pitchFamily="50" charset="-127"/>
                <a:ea typeface="나눔스퀘어" panose="020B0600000101010101" pitchFamily="50" charset="-127"/>
              </a:rPr>
              <a:t>NRF / CTS</a:t>
            </a:r>
          </a:p>
        </p:txBody>
      </p:sp>
      <p:sp>
        <p:nvSpPr>
          <p:cNvPr id="55" name="슬라이드 번호 개체 틀 5">
            <a:extLst>
              <a:ext uri="{FF2B5EF4-FFF2-40B4-BE49-F238E27FC236}">
                <a16:creationId xmlns:a16="http://schemas.microsoft.com/office/drawing/2014/main" id="{FAC1EB1B-E602-0247-88AB-A89AF71255A6}"/>
              </a:ext>
            </a:extLst>
          </p:cNvPr>
          <p:cNvSpPr txBox="1">
            <a:spLocks/>
          </p:cNvSpPr>
          <p:nvPr/>
        </p:nvSpPr>
        <p:spPr>
          <a:xfrm>
            <a:off x="5419725" y="6426152"/>
            <a:ext cx="788332" cy="326455"/>
          </a:xfrm>
          <a:prstGeom prst="rect">
            <a:avLst/>
          </a:prstGeom>
        </p:spPr>
        <p:txBody>
          <a:bodyPr lIns="162531" tIns="81264" rIns="162531" bIns="81264" anchor="ctr"/>
          <a:lstStyle>
            <a:lvl1pPr algn="r">
              <a:defRPr sz="1200">
                <a:solidFill>
                  <a:schemeClr val="tx1">
                    <a:tint val="75000"/>
                  </a:schemeClr>
                </a:solidFill>
              </a:defRPr>
            </a:lvl1pPr>
          </a:lstStyle>
          <a:p>
            <a:pPr defTabSz="1219048">
              <a:defRPr/>
            </a:pPr>
            <a:r>
              <a:rPr lang="en-US" altLang="ko-KR"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rPr>
              <a:t>2</a:t>
            </a:r>
            <a:endParaRPr lang="ko-KR" altLang="en-US"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endParaRPr>
          </a:p>
        </p:txBody>
      </p:sp>
      <p:graphicFrame>
        <p:nvGraphicFramePr>
          <p:cNvPr id="56" name="차트 55"/>
          <p:cNvGraphicFramePr/>
          <p:nvPr>
            <p:extLst>
              <p:ext uri="{D42A27DB-BD31-4B8C-83A1-F6EECF244321}">
                <p14:modId xmlns:p14="http://schemas.microsoft.com/office/powerpoint/2010/main" val="2693035520"/>
              </p:ext>
            </p:extLst>
          </p:nvPr>
        </p:nvGraphicFramePr>
        <p:xfrm>
          <a:off x="5917097" y="2563195"/>
          <a:ext cx="6274904" cy="3821276"/>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Box 5"/>
          <p:cNvSpPr txBox="1"/>
          <p:nvPr/>
        </p:nvSpPr>
        <p:spPr>
          <a:xfrm>
            <a:off x="9244977" y="3620282"/>
            <a:ext cx="1277914" cy="246221"/>
          </a:xfrm>
          <a:prstGeom prst="rect">
            <a:avLst/>
          </a:prstGeom>
          <a:noFill/>
        </p:spPr>
        <p:txBody>
          <a:bodyPr wrap="none" rtlCol="0">
            <a:spAutoFit/>
          </a:bodyPr>
          <a:lstStyle/>
          <a:p>
            <a:r>
              <a:rPr lang="en-US" altLang="ko-KR" sz="1000" b="1" spc="-50" dirty="0" smtClean="0">
                <a:solidFill>
                  <a:schemeClr val="bg1"/>
                </a:solidFill>
                <a:latin typeface="나눔스퀘어" panose="020B0600000101010101" pitchFamily="50" charset="-127"/>
                <a:ea typeface="나눔스퀘어" panose="020B0600000101010101" pitchFamily="50" charset="-127"/>
              </a:rPr>
              <a:t>+454k TEU (+12.0%)</a:t>
            </a:r>
            <a:endParaRPr lang="ko-KR" altLang="en-US" sz="1000" b="1" spc="-50" dirty="0">
              <a:solidFill>
                <a:schemeClr val="bg1"/>
              </a:solidFill>
              <a:latin typeface="나눔스퀘어" panose="020B0600000101010101" pitchFamily="50" charset="-127"/>
              <a:ea typeface="나눔스퀘어" panose="020B0600000101010101" pitchFamily="50" charset="-127"/>
            </a:endParaRPr>
          </a:p>
        </p:txBody>
      </p:sp>
      <p:sp>
        <p:nvSpPr>
          <p:cNvPr id="57" name="TextBox 56"/>
          <p:cNvSpPr txBox="1"/>
          <p:nvPr/>
        </p:nvSpPr>
        <p:spPr>
          <a:xfrm>
            <a:off x="9340551" y="3245466"/>
            <a:ext cx="1441420" cy="246221"/>
          </a:xfrm>
          <a:prstGeom prst="rect">
            <a:avLst/>
          </a:prstGeom>
          <a:noFill/>
        </p:spPr>
        <p:txBody>
          <a:bodyPr wrap="none" rtlCol="0">
            <a:spAutoFit/>
          </a:bodyPr>
          <a:lstStyle/>
          <a:p>
            <a:r>
              <a:rPr lang="en-US" altLang="ko-KR" sz="1000" b="1" spc="-50" dirty="0" smtClean="0">
                <a:solidFill>
                  <a:schemeClr val="bg1"/>
                </a:solidFill>
                <a:latin typeface="나눔스퀘어" panose="020B0600000101010101" pitchFamily="50" charset="-127"/>
                <a:ea typeface="나눔스퀘어" panose="020B0600000101010101" pitchFamily="50" charset="-127"/>
              </a:rPr>
              <a:t>+721k TEU (+6.6% YoY)</a:t>
            </a:r>
            <a:endParaRPr lang="ko-KR" altLang="en-US" sz="1000" b="1" spc="-50" dirty="0">
              <a:solidFill>
                <a:schemeClr val="bg1"/>
              </a:solidFill>
              <a:latin typeface="나눔스퀘어" panose="020B0600000101010101" pitchFamily="50" charset="-127"/>
              <a:ea typeface="나눔스퀘어" panose="020B0600000101010101" pitchFamily="50" charset="-127"/>
            </a:endParaRPr>
          </a:p>
        </p:txBody>
      </p:sp>
      <p:sp>
        <p:nvSpPr>
          <p:cNvPr id="69" name="TextBox 68"/>
          <p:cNvSpPr txBox="1"/>
          <p:nvPr/>
        </p:nvSpPr>
        <p:spPr>
          <a:xfrm>
            <a:off x="7463075" y="5560694"/>
            <a:ext cx="1229824" cy="246221"/>
          </a:xfrm>
          <a:prstGeom prst="rect">
            <a:avLst/>
          </a:prstGeom>
          <a:noFill/>
        </p:spPr>
        <p:txBody>
          <a:bodyPr wrap="none" rtlCol="0">
            <a:spAutoFit/>
          </a:bodyPr>
          <a:lstStyle/>
          <a:p>
            <a:r>
              <a:rPr lang="en-US" altLang="ko-KR" sz="1000" b="1" spc="-50" dirty="0" smtClean="0">
                <a:solidFill>
                  <a:schemeClr val="bg1"/>
                </a:solidFill>
                <a:latin typeface="나눔스퀘어" panose="020B0600000101010101" pitchFamily="50" charset="-127"/>
                <a:ea typeface="나눔스퀘어" panose="020B0600000101010101" pitchFamily="50" charset="-127"/>
              </a:rPr>
              <a:t>-250k TEU (-16.7%)</a:t>
            </a:r>
            <a:endParaRPr lang="ko-KR" altLang="en-US" sz="1000" b="1" spc="-50" dirty="0">
              <a:solidFill>
                <a:schemeClr val="bg1"/>
              </a:solidFill>
              <a:latin typeface="나눔스퀘어" panose="020B0600000101010101" pitchFamily="50" charset="-127"/>
              <a:ea typeface="나눔스퀘어" panose="020B0600000101010101" pitchFamily="50" charset="-127"/>
            </a:endParaRPr>
          </a:p>
        </p:txBody>
      </p:sp>
      <p:sp>
        <p:nvSpPr>
          <p:cNvPr id="58" name="TextBox 57">
            <a:extLst>
              <a:ext uri="{FF2B5EF4-FFF2-40B4-BE49-F238E27FC236}">
                <a16:creationId xmlns:a16="http://schemas.microsoft.com/office/drawing/2014/main" id="{F419EC2A-DA12-DE70-177E-D060836EC73B}"/>
              </a:ext>
            </a:extLst>
          </p:cNvPr>
          <p:cNvSpPr txBox="1"/>
          <p:nvPr/>
        </p:nvSpPr>
        <p:spPr>
          <a:xfrm>
            <a:off x="6309618" y="6181249"/>
            <a:ext cx="5365251" cy="333425"/>
          </a:xfrm>
          <a:prstGeom prst="rect">
            <a:avLst/>
          </a:prstGeom>
          <a:noFill/>
        </p:spPr>
        <p:txBody>
          <a:bodyPr wrap="none" lIns="0" tIns="0" rIns="0" bIns="0" rtlCol="0" anchor="ctr">
            <a:spAutoFit/>
          </a:bodyPr>
          <a:lstStyle/>
          <a:p>
            <a:pPr latinLnBrk="0">
              <a:spcAft>
                <a:spcPts val="200"/>
              </a:spcAft>
            </a:pPr>
            <a:r>
              <a:rPr lang="en-US" altLang="ko-KR" sz="10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1) Early shipments amid geopolitical uncertainty boosted Europe-bound volumes in 1H</a:t>
            </a:r>
          </a:p>
          <a:p>
            <a:pPr latinLnBrk="0">
              <a:spcAft>
                <a:spcPts val="200"/>
              </a:spcAft>
            </a:pPr>
            <a:r>
              <a:rPr lang="en-US" altLang="ko-KR" sz="1000" spc="-5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2</a:t>
            </a:r>
            <a:r>
              <a:rPr lang="en-US" altLang="ko-KR" sz="1000" spc="-5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Chinese vehicle exports and shipments ahead of Brazil's July EV tariff supported ECSA volumes in </a:t>
            </a:r>
            <a:r>
              <a:rPr lang="en-US" altLang="ko-KR" sz="1000" spc="-5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1H</a:t>
            </a:r>
          </a:p>
        </p:txBody>
      </p:sp>
      <p:sp>
        <p:nvSpPr>
          <p:cNvPr id="59" name="TextBox 58">
            <a:extLst>
              <a:ext uri="{FF2B5EF4-FFF2-40B4-BE49-F238E27FC236}">
                <a16:creationId xmlns:a16="http://schemas.microsoft.com/office/drawing/2014/main" id="{F419EC2A-DA12-DE70-177E-D060836EC73B}"/>
              </a:ext>
            </a:extLst>
          </p:cNvPr>
          <p:cNvSpPr txBox="1"/>
          <p:nvPr/>
        </p:nvSpPr>
        <p:spPr>
          <a:xfrm>
            <a:off x="7368106" y="3698699"/>
            <a:ext cx="78548" cy="102592"/>
          </a:xfrm>
          <a:prstGeom prst="rect">
            <a:avLst/>
          </a:prstGeom>
          <a:noFill/>
        </p:spPr>
        <p:txBody>
          <a:bodyPr wrap="none" lIns="0" tIns="0" rIns="0" bIns="0" rtlCol="0" anchor="ctr">
            <a:spAutoFit/>
          </a:bodyPr>
          <a:lstStyle/>
          <a:p>
            <a:pPr latinLnBrk="0"/>
            <a:r>
              <a:rPr lang="en-US" altLang="ko-KR" sz="1000" baseline="300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1)</a:t>
            </a:r>
            <a:endParaRPr lang="en-US" altLang="ko-KR" sz="1000" baseline="3000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endParaRPr>
          </a:p>
        </p:txBody>
      </p:sp>
      <p:sp>
        <p:nvSpPr>
          <p:cNvPr id="60" name="TextBox 59">
            <a:extLst>
              <a:ext uri="{FF2B5EF4-FFF2-40B4-BE49-F238E27FC236}">
                <a16:creationId xmlns:a16="http://schemas.microsoft.com/office/drawing/2014/main" id="{F419EC2A-DA12-DE70-177E-D060836EC73B}"/>
              </a:ext>
            </a:extLst>
          </p:cNvPr>
          <p:cNvSpPr txBox="1"/>
          <p:nvPr/>
        </p:nvSpPr>
        <p:spPr>
          <a:xfrm>
            <a:off x="7368106" y="5240668"/>
            <a:ext cx="78548" cy="102592"/>
          </a:xfrm>
          <a:prstGeom prst="rect">
            <a:avLst/>
          </a:prstGeom>
          <a:noFill/>
        </p:spPr>
        <p:txBody>
          <a:bodyPr wrap="none" lIns="0" tIns="0" rIns="0" bIns="0" rtlCol="0" anchor="ctr">
            <a:spAutoFit/>
          </a:bodyPr>
          <a:lstStyle/>
          <a:p>
            <a:pPr latinLnBrk="0"/>
            <a:r>
              <a:rPr lang="en-US" altLang="ko-KR" sz="1000" baseline="3000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2</a:t>
            </a:r>
            <a:r>
              <a:rPr lang="en-US" altLang="ko-KR" sz="1000" baseline="300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a:t>
            </a:r>
            <a:endParaRPr lang="en-US" altLang="ko-KR" sz="1000" baseline="3000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endParaRPr>
          </a:p>
        </p:txBody>
      </p:sp>
      <p:grpSp>
        <p:nvGrpSpPr>
          <p:cNvPr id="54" name="그룹 53"/>
          <p:cNvGrpSpPr/>
          <p:nvPr/>
        </p:nvGrpSpPr>
        <p:grpSpPr>
          <a:xfrm>
            <a:off x="10020301" y="6290"/>
            <a:ext cx="1722316" cy="552569"/>
            <a:chOff x="10020301" y="6290"/>
            <a:chExt cx="1722316" cy="552569"/>
          </a:xfrm>
        </p:grpSpPr>
        <p:cxnSp>
          <p:nvCxnSpPr>
            <p:cNvPr id="70" name="직선 연결선 69"/>
            <p:cNvCxnSpPr/>
            <p:nvPr/>
          </p:nvCxnSpPr>
          <p:spPr>
            <a:xfrm>
              <a:off x="11671487" y="6290"/>
              <a:ext cx="0" cy="313957"/>
            </a:xfrm>
            <a:prstGeom prst="line">
              <a:avLst/>
            </a:prstGeom>
            <a:ln w="635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10020301" y="381709"/>
              <a:ext cx="1552032" cy="153888"/>
            </a:xfrm>
            <a:prstGeom prst="rect">
              <a:avLst/>
            </a:prstGeom>
            <a:noFill/>
            <a:ln w="9525">
              <a:noFill/>
              <a:miter lim="800000"/>
              <a:headEnd/>
              <a:tailEnd/>
            </a:ln>
          </p:spPr>
          <p:txBody>
            <a:bodyPr wrap="square" lIns="0" tIns="0" rIns="0" bIns="0" anchor="ctr">
              <a:spAutoFit/>
            </a:bodyPr>
            <a:lstStyle>
              <a:defPPr>
                <a:defRPr lang="ko-KR"/>
              </a:defPPr>
              <a:lvl1pPr defTabSz="914125" fontAlgn="base" latinLnBrk="0">
                <a:spcBef>
                  <a:spcPct val="0"/>
                </a:spcBef>
                <a:spcAft>
                  <a:spcPts val="200"/>
                </a:spcAft>
                <a:defRPr sz="1100" spc="-20">
                  <a:ln>
                    <a:solidFill>
                      <a:prstClr val="white">
                        <a:alpha val="0"/>
                      </a:prstClr>
                    </a:solidFill>
                  </a:ln>
                  <a:solidFill>
                    <a:schemeClr val="tx1">
                      <a:lumMod val="75000"/>
                      <a:lumOff val="25000"/>
                    </a:schemeClr>
                  </a:solidFill>
                  <a:latin typeface="KoPub돋움체 Bold" panose="02020603020101020101" pitchFamily="18" charset="-127"/>
                  <a:ea typeface="KoPub돋움체 Bold" panose="02020603020101020101" pitchFamily="18" charset="-127"/>
                  <a:cs typeface="Arial" charset="0"/>
                </a:defRPr>
              </a:lvl1pPr>
            </a:lstStyle>
            <a:p>
              <a:pPr lvl="0" algn="r">
                <a:defRPr/>
              </a:pPr>
              <a:r>
                <a:rPr lang="en-US" altLang="ko-KR"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rPr>
                <a:t>2026 1H Market Review</a:t>
              </a:r>
            </a:p>
          </p:txBody>
        </p:sp>
        <p:sp>
          <p:nvSpPr>
            <p:cNvPr id="72" name="타원 71"/>
            <p:cNvSpPr/>
            <p:nvPr/>
          </p:nvSpPr>
          <p:spPr>
            <a:xfrm>
              <a:off x="11340239" y="290256"/>
              <a:ext cx="51827" cy="51827"/>
            </a:xfrm>
            <a:prstGeom prst="ellipse">
              <a:avLst/>
            </a:prstGeom>
            <a:solidFill>
              <a:schemeClr val="bg1">
                <a:lumMod val="75000"/>
                <a:alpha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73" name="타원 72"/>
            <p:cNvSpPr/>
            <p:nvPr/>
          </p:nvSpPr>
          <p:spPr>
            <a:xfrm>
              <a:off x="11422266" y="290256"/>
              <a:ext cx="51827" cy="51827"/>
            </a:xfrm>
            <a:prstGeom prst="ellipse">
              <a:avLst/>
            </a:prstGeom>
            <a:solidFill>
              <a:srgbClr val="0146A0"/>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74" name="타원 73"/>
            <p:cNvSpPr/>
            <p:nvPr/>
          </p:nvSpPr>
          <p:spPr>
            <a:xfrm>
              <a:off x="11504294" y="290256"/>
              <a:ext cx="51827" cy="51827"/>
            </a:xfrm>
            <a:prstGeom prst="ellipse">
              <a:avLst/>
            </a:prstGeom>
            <a:solidFill>
              <a:schemeClr val="bg1">
                <a:lumMod val="75000"/>
                <a:alpha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77" name="TextBox 76"/>
            <p:cNvSpPr txBox="1"/>
            <p:nvPr/>
          </p:nvSpPr>
          <p:spPr>
            <a:xfrm>
              <a:off x="11646437" y="343415"/>
              <a:ext cx="96180" cy="215444"/>
            </a:xfrm>
            <a:prstGeom prst="rect">
              <a:avLst/>
            </a:prstGeom>
            <a:noFill/>
          </p:spPr>
          <p:txBody>
            <a:bodyPr wrap="none" lIns="0" tIns="0" rIns="0" bIns="0" rtlCol="0" anchor="ctr" anchorCtr="0">
              <a:spAutoFit/>
            </a:bodyPr>
            <a:lstStyle>
              <a:defPPr>
                <a:defRPr lang="ko-KR"/>
              </a:defPPr>
              <a:lvl1pPr>
                <a:spcAft>
                  <a:spcPts val="300"/>
                </a:spcAft>
                <a:defRPr sz="2800" spc="-100">
                  <a:ln>
                    <a:solidFill>
                      <a:schemeClr val="bg1">
                        <a:alpha val="0"/>
                      </a:schemeClr>
                    </a:solidFill>
                  </a:ln>
                  <a:solidFill>
                    <a:srgbClr val="005B8D"/>
                  </a:solidFill>
                  <a:latin typeface="Times New Roman" panose="02020603050405020304" pitchFamily="18" charset="0"/>
                  <a:ea typeface="KoPub돋움체 Bold" panose="02020603020101020101" pitchFamily="18" charset="-127"/>
                  <a:cs typeface="Times New Roman" panose="02020603050405020304" pitchFamily="18" charset="0"/>
                </a:defRPr>
              </a:lvl1pPr>
            </a:lstStyle>
            <a:p>
              <a:pPr latinLnBrk="0">
                <a:defRPr/>
              </a:pPr>
              <a:r>
                <a:rPr lang="en-US" altLang="ko-KR" sz="1400" spc="-150" dirty="0">
                  <a:ln>
                    <a:solidFill>
                      <a:prstClr val="white">
                        <a:alpha val="0"/>
                      </a:prstClr>
                    </a:solidFill>
                  </a:ln>
                  <a:solidFill>
                    <a:srgbClr val="0146A0"/>
                  </a:solidFill>
                  <a:ea typeface="KoPub돋움체 Medium" panose="02020603020101020101" pitchFamily="18" charset="-127"/>
                </a:rPr>
                <a:t>Ⅱ</a:t>
              </a:r>
            </a:p>
          </p:txBody>
        </p:sp>
      </p:grpSp>
      <p:sp>
        <p:nvSpPr>
          <p:cNvPr id="49" name="TextBox 116"/>
          <p:cNvSpPr txBox="1">
            <a:spLocks noChangeArrowheads="1"/>
          </p:cNvSpPr>
          <p:nvPr/>
        </p:nvSpPr>
        <p:spPr bwMode="auto">
          <a:xfrm>
            <a:off x="6393077" y="2171013"/>
            <a:ext cx="511998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lvl="0" algn="ctr" defTabSz="1038977" eaLnBrk="1" hangingPunct="1"/>
            <a:r>
              <a:rPr kumimoji="0" lang="en-US" altLang="ko-KR" sz="1600" spc="-3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Widening Regional Gap : Europe </a:t>
            </a:r>
            <a:r>
              <a:rPr kumimoji="0" lang="en-US" altLang="ko-KR" sz="1600" spc="-3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stronger, </a:t>
            </a:r>
            <a:r>
              <a:rPr kumimoji="0" lang="en-US" altLang="ko-KR" sz="1600" spc="-3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ME </a:t>
            </a:r>
            <a:r>
              <a:rPr kumimoji="0" lang="en-US" altLang="ko-KR" sz="1600" spc="-3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weaker</a:t>
            </a:r>
            <a:endParaRPr kumimoji="0" lang="en-US" altLang="ko-KR" sz="1600" spc="-3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graphicFrame>
        <p:nvGraphicFramePr>
          <p:cNvPr id="63" name="차트 62">
            <a:extLst>
              <a:ext uri="{FF2B5EF4-FFF2-40B4-BE49-F238E27FC236}">
                <a16:creationId xmlns:a16="http://schemas.microsoft.com/office/drawing/2014/main" id="{95647FDB-494D-9A1B-D3C5-B3805D8B917A}"/>
              </a:ext>
            </a:extLst>
          </p:cNvPr>
          <p:cNvGraphicFramePr/>
          <p:nvPr>
            <p:extLst>
              <p:ext uri="{D42A27DB-BD31-4B8C-83A1-F6EECF244321}">
                <p14:modId xmlns:p14="http://schemas.microsoft.com/office/powerpoint/2010/main" val="1422809729"/>
              </p:ext>
            </p:extLst>
          </p:nvPr>
        </p:nvGraphicFramePr>
        <p:xfrm>
          <a:off x="493083" y="2575360"/>
          <a:ext cx="5424013" cy="3829951"/>
        </p:xfrm>
        <a:graphic>
          <a:graphicData uri="http://schemas.openxmlformats.org/drawingml/2006/chart">
            <c:chart xmlns:c="http://schemas.openxmlformats.org/drawingml/2006/chart" xmlns:r="http://schemas.openxmlformats.org/officeDocument/2006/relationships" r:id="rId5"/>
          </a:graphicData>
        </a:graphic>
      </p:graphicFrame>
      <p:sp>
        <p:nvSpPr>
          <p:cNvPr id="64" name="직사각형 63"/>
          <p:cNvSpPr/>
          <p:nvPr/>
        </p:nvSpPr>
        <p:spPr>
          <a:xfrm>
            <a:off x="2862263" y="3231355"/>
            <a:ext cx="695325" cy="2785987"/>
          </a:xfrm>
          <a:prstGeom prst="rect">
            <a:avLst/>
          </a:prstGeom>
          <a:solidFill>
            <a:srgbClr val="3CD0BA">
              <a:alpha val="10000"/>
            </a:srgbClr>
          </a:solidFill>
          <a:ln>
            <a:noFill/>
          </a:ln>
          <a:effectLst/>
        </p:spPr>
        <p:txBody>
          <a:bodyPr vert="horz" wrap="square" lIns="91440" tIns="45720" rIns="91440" bIns="45720" numCol="1" rtlCol="0" anchor="ctr" anchorCtr="0" compatLnSpc="1">
            <a:prstTxWarp prst="textNoShape">
              <a:avLst/>
            </a:prstTxWarp>
          </a:bodyPr>
          <a:lstStyle/>
          <a:p>
            <a:pPr algn="ctr"/>
            <a:endParaRPr lang="ko-KR" altLang="en-US" sz="2000" b="1" dirty="0" smtClean="0">
              <a:solidFill>
                <a:srgbClr val="0000FF"/>
              </a:solidFill>
            </a:endParaRPr>
          </a:p>
        </p:txBody>
      </p:sp>
      <p:sp>
        <p:nvSpPr>
          <p:cNvPr id="65" name="TextBox 64"/>
          <p:cNvSpPr txBox="1"/>
          <p:nvPr/>
        </p:nvSpPr>
        <p:spPr>
          <a:xfrm>
            <a:off x="2781886" y="3251003"/>
            <a:ext cx="873540" cy="246221"/>
          </a:xfrm>
          <a:prstGeom prst="rect">
            <a:avLst/>
          </a:prstGeom>
          <a:noFill/>
        </p:spPr>
        <p:txBody>
          <a:bodyPr wrap="square" rtlCol="0">
            <a:spAutoFit/>
          </a:bodyPr>
          <a:lstStyle/>
          <a:p>
            <a:pPr algn="ctr"/>
            <a:r>
              <a:rPr lang="en-US" altLang="ko-KR" sz="1000" b="1" dirty="0" smtClean="0">
                <a:solidFill>
                  <a:srgbClr val="3CD0BA"/>
                </a:solidFill>
                <a:latin typeface="나눔스퀘어" panose="020B0600000101010101" pitchFamily="50" charset="-127"/>
                <a:ea typeface="나눔스퀘어" panose="020B0600000101010101" pitchFamily="50" charset="-127"/>
              </a:rPr>
              <a:t>2026 Peak</a:t>
            </a:r>
            <a:endParaRPr lang="ko-KR" altLang="en-US" sz="1000" b="1" dirty="0">
              <a:solidFill>
                <a:srgbClr val="3CD0BA"/>
              </a:solidFill>
              <a:latin typeface="나눔스퀘어" panose="020B0600000101010101" pitchFamily="50" charset="-127"/>
              <a:ea typeface="나눔스퀘어" panose="020B0600000101010101" pitchFamily="50" charset="-127"/>
            </a:endParaRPr>
          </a:p>
        </p:txBody>
      </p:sp>
      <p:sp>
        <p:nvSpPr>
          <p:cNvPr id="33" name="TextBox 32">
            <a:extLst>
              <a:ext uri="{FF2B5EF4-FFF2-40B4-BE49-F238E27FC236}">
                <a16:creationId xmlns:a16="http://schemas.microsoft.com/office/drawing/2014/main" id="{F419EC2A-DA12-DE70-177E-D060836EC73B}"/>
              </a:ext>
            </a:extLst>
          </p:cNvPr>
          <p:cNvSpPr txBox="1"/>
          <p:nvPr/>
        </p:nvSpPr>
        <p:spPr>
          <a:xfrm>
            <a:off x="551846" y="6261844"/>
            <a:ext cx="1514838" cy="153888"/>
          </a:xfrm>
          <a:prstGeom prst="rect">
            <a:avLst/>
          </a:prstGeom>
          <a:noFill/>
        </p:spPr>
        <p:txBody>
          <a:bodyPr wrap="none" lIns="0" tIns="0" rIns="0" bIns="0" rtlCol="0" anchor="ctr">
            <a:spAutoFit/>
          </a:bodyPr>
          <a:lstStyle/>
          <a:p>
            <a:pPr latinLnBrk="0">
              <a:spcAft>
                <a:spcPts val="200"/>
              </a:spcAft>
            </a:pPr>
            <a:r>
              <a:rPr lang="en-US" altLang="ko-KR" sz="100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Jun–Nov 2026 Forecast</a:t>
            </a:r>
            <a:endParaRPr lang="en-US" altLang="ko-KR" sz="1000" spc="-5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endParaRPr>
          </a:p>
        </p:txBody>
      </p:sp>
    </p:spTree>
    <p:extLst>
      <p:ext uri="{BB962C8B-B14F-4D97-AF65-F5344CB8AC3E}">
        <p14:creationId xmlns:p14="http://schemas.microsoft.com/office/powerpoint/2010/main" val="6291484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p:cNvSpPr>
            <a:spLocks noGrp="1"/>
          </p:cNvSpPr>
          <p:nvPr>
            <p:ph type="body" sz="quarter" idx="10"/>
          </p:nvPr>
        </p:nvSpPr>
        <p:spPr/>
        <p:txBody>
          <a:bodyPr/>
          <a:lstStyle/>
          <a:p>
            <a:pPr latinLnBrk="0"/>
            <a:r>
              <a:rPr lang="en-US" altLang="ko-KR" spc="-60" dirty="0"/>
              <a:t>Hormuz closure sharply reduced Middle East transits, while persistent Red Sea risks kept Suez transits </a:t>
            </a:r>
            <a:r>
              <a:rPr lang="en-US" altLang="ko-KR" spc="-60" dirty="0" smtClean="0"/>
              <a:t>subdued</a:t>
            </a:r>
          </a:p>
          <a:p>
            <a:pPr latinLnBrk="0"/>
            <a:r>
              <a:rPr lang="en-US" altLang="ko-KR" spc="-50" dirty="0"/>
              <a:t>Stronger Asia-origin cargo offset weaker Middle East demand, widening regional demand </a:t>
            </a:r>
            <a:r>
              <a:rPr lang="en-US" altLang="ko-KR" spc="-50" dirty="0" smtClean="0"/>
              <a:t>divergence</a:t>
            </a:r>
            <a:endParaRPr lang="en-US" altLang="ko-KR" spc="-50" dirty="0"/>
          </a:p>
        </p:txBody>
      </p:sp>
      <p:sp>
        <p:nvSpPr>
          <p:cNvPr id="16" name="제목 15"/>
          <p:cNvSpPr>
            <a:spLocks noGrp="1"/>
          </p:cNvSpPr>
          <p:nvPr>
            <p:ph type="title"/>
          </p:nvPr>
        </p:nvSpPr>
        <p:spPr/>
        <p:txBody>
          <a:bodyPr/>
          <a:lstStyle/>
          <a:p>
            <a:r>
              <a:rPr lang="en-US" altLang="ko-KR" dirty="0">
                <a:solidFill>
                  <a:prstClr val="black"/>
                </a:solidFill>
              </a:rPr>
              <a:t>Ocean Supply Trend</a:t>
            </a:r>
            <a:endParaRPr lang="ko-KR" altLang="en-US" sz="2400" dirty="0"/>
          </a:p>
        </p:txBody>
      </p:sp>
      <p:grpSp>
        <p:nvGrpSpPr>
          <p:cNvPr id="46" name="그룹 48"/>
          <p:cNvGrpSpPr/>
          <p:nvPr/>
        </p:nvGrpSpPr>
        <p:grpSpPr>
          <a:xfrm>
            <a:off x="503791" y="2117975"/>
            <a:ext cx="5436159" cy="374400"/>
            <a:chOff x="515380" y="1844820"/>
            <a:chExt cx="5436158" cy="374400"/>
          </a:xfrm>
        </p:grpSpPr>
        <p:sp>
          <p:nvSpPr>
            <p:cNvPr id="50" name="Rectangle 215"/>
            <p:cNvSpPr>
              <a:spLocks noChangeArrowheads="1"/>
            </p:cNvSpPr>
            <p:nvPr/>
          </p:nvSpPr>
          <p:spPr bwMode="auto">
            <a:xfrm>
              <a:off x="515380" y="1844820"/>
              <a:ext cx="5436158"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51" name="TextBox 116"/>
            <p:cNvSpPr txBox="1">
              <a:spLocks noChangeArrowheads="1"/>
            </p:cNvSpPr>
            <p:nvPr/>
          </p:nvSpPr>
          <p:spPr bwMode="auto">
            <a:xfrm>
              <a:off x="673467" y="1915641"/>
              <a:ext cx="511998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lvl="0" algn="ctr" defTabSz="1038977" eaLnBrk="1" hangingPunct="1"/>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Sharp Drop in Hormuz &amp; Red Sea Transits</a:t>
              </a:r>
            </a:p>
          </p:txBody>
        </p:sp>
      </p:grpSp>
      <p:sp>
        <p:nvSpPr>
          <p:cNvPr id="48" name="Rectangle 215"/>
          <p:cNvSpPr>
            <a:spLocks noChangeArrowheads="1"/>
          </p:cNvSpPr>
          <p:nvPr/>
        </p:nvSpPr>
        <p:spPr bwMode="auto">
          <a:xfrm>
            <a:off x="6235069" y="2117975"/>
            <a:ext cx="5436000"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44" name="자유형 63"/>
          <p:cNvSpPr/>
          <p:nvPr/>
        </p:nvSpPr>
        <p:spPr>
          <a:xfrm>
            <a:off x="503790" y="2117975"/>
            <a:ext cx="780087" cy="368297"/>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45" name="자유형 64"/>
          <p:cNvSpPr/>
          <p:nvPr/>
        </p:nvSpPr>
        <p:spPr>
          <a:xfrm>
            <a:off x="503790" y="2117975"/>
            <a:ext cx="780088" cy="368297"/>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42" name="자유형 63"/>
          <p:cNvSpPr/>
          <p:nvPr/>
        </p:nvSpPr>
        <p:spPr>
          <a:xfrm>
            <a:off x="6237602" y="2118958"/>
            <a:ext cx="780087" cy="368297"/>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43" name="자유형 64"/>
          <p:cNvSpPr/>
          <p:nvPr/>
        </p:nvSpPr>
        <p:spPr>
          <a:xfrm>
            <a:off x="6237602" y="2118958"/>
            <a:ext cx="780088" cy="368297"/>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pic>
        <p:nvPicPr>
          <p:cNvPr id="52" name="Picture 200" descr="악세사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339689" y="4546810"/>
            <a:ext cx="3535193" cy="91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3" name="TextBox 32">
            <a:extLst>
              <a:ext uri="{FF2B5EF4-FFF2-40B4-BE49-F238E27FC236}">
                <a16:creationId xmlns:a16="http://schemas.microsoft.com/office/drawing/2014/main" id="{5C91891D-2B97-7824-4757-F84C493DF63F}"/>
              </a:ext>
            </a:extLst>
          </p:cNvPr>
          <p:cNvSpPr txBox="1"/>
          <p:nvPr/>
        </p:nvSpPr>
        <p:spPr>
          <a:xfrm>
            <a:off x="525890" y="6498737"/>
            <a:ext cx="1082027" cy="153888"/>
          </a:xfrm>
          <a:prstGeom prst="rect">
            <a:avLst/>
          </a:prstGeom>
          <a:noFill/>
        </p:spPr>
        <p:txBody>
          <a:bodyPr wrap="none" lIns="0" tIns="0" rIns="0" bIns="0" rtlCol="0" anchor="ctr">
            <a:spAutoFit/>
          </a:bodyPr>
          <a:lstStyle/>
          <a:p>
            <a:pPr latinLnBrk="0"/>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Source</a:t>
            </a:r>
            <a:r>
              <a:rPr lang="ko-KR" altLang="en-US"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err="1" smtClean="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Clarksons</a:t>
            </a:r>
            <a:endPar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endParaRPr>
          </a:p>
        </p:txBody>
      </p:sp>
      <p:sp>
        <p:nvSpPr>
          <p:cNvPr id="54" name="슬라이드 번호 개체 틀 5">
            <a:extLst>
              <a:ext uri="{FF2B5EF4-FFF2-40B4-BE49-F238E27FC236}">
                <a16:creationId xmlns:a16="http://schemas.microsoft.com/office/drawing/2014/main" id="{FAC1EB1B-E602-0247-88AB-A89AF71255A6}"/>
              </a:ext>
            </a:extLst>
          </p:cNvPr>
          <p:cNvSpPr txBox="1">
            <a:spLocks/>
          </p:cNvSpPr>
          <p:nvPr/>
        </p:nvSpPr>
        <p:spPr>
          <a:xfrm>
            <a:off x="5419725" y="6426152"/>
            <a:ext cx="788332" cy="326455"/>
          </a:xfrm>
          <a:prstGeom prst="rect">
            <a:avLst/>
          </a:prstGeom>
        </p:spPr>
        <p:txBody>
          <a:bodyPr lIns="162531" tIns="81264" rIns="162531" bIns="81264" anchor="ctr"/>
          <a:lstStyle>
            <a:lvl1pPr algn="r">
              <a:defRPr sz="1200">
                <a:solidFill>
                  <a:schemeClr val="tx1">
                    <a:tint val="75000"/>
                  </a:schemeClr>
                </a:solidFill>
              </a:defRPr>
            </a:lvl1pPr>
          </a:lstStyle>
          <a:p>
            <a:pPr defTabSz="1219048">
              <a:defRPr/>
            </a:pPr>
            <a:r>
              <a:rPr lang="en-US" altLang="ko-KR"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rPr>
              <a:t>3</a:t>
            </a:r>
            <a:endParaRPr lang="ko-KR" altLang="en-US"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endParaRPr>
          </a:p>
        </p:txBody>
      </p:sp>
      <p:graphicFrame>
        <p:nvGraphicFramePr>
          <p:cNvPr id="10" name="차트 9"/>
          <p:cNvGraphicFramePr/>
          <p:nvPr>
            <p:extLst>
              <p:ext uri="{D42A27DB-BD31-4B8C-83A1-F6EECF244321}">
                <p14:modId xmlns:p14="http://schemas.microsoft.com/office/powerpoint/2010/main" val="3535748533"/>
              </p:ext>
            </p:extLst>
          </p:nvPr>
        </p:nvGraphicFramePr>
        <p:xfrm>
          <a:off x="200967" y="2563196"/>
          <a:ext cx="5643573" cy="3958976"/>
        </p:xfrm>
        <a:graphic>
          <a:graphicData uri="http://schemas.openxmlformats.org/drawingml/2006/chart">
            <c:chart xmlns:c="http://schemas.openxmlformats.org/drawingml/2006/chart" xmlns:r="http://schemas.openxmlformats.org/officeDocument/2006/relationships" r:id="rId4"/>
          </a:graphicData>
        </a:graphic>
      </p:graphicFrame>
      <p:cxnSp>
        <p:nvCxnSpPr>
          <p:cNvPr id="80" name="직선 화살표 연결선 79"/>
          <p:cNvCxnSpPr/>
          <p:nvPr/>
        </p:nvCxnSpPr>
        <p:spPr>
          <a:xfrm>
            <a:off x="4730092" y="3819885"/>
            <a:ext cx="245229" cy="1712421"/>
          </a:xfrm>
          <a:prstGeom prst="straightConnector1">
            <a:avLst/>
          </a:prstGeom>
          <a:ln w="9525" cap="rnd">
            <a:solidFill>
              <a:srgbClr val="2FC3AE"/>
            </a:solidFill>
            <a:prstDash val="sysDash"/>
            <a:headEnd type="oval" w="sm" len="sm"/>
            <a:tailEnd type="stealth"/>
          </a:ln>
        </p:spPr>
        <p:style>
          <a:lnRef idx="1">
            <a:schemeClr val="accent1"/>
          </a:lnRef>
          <a:fillRef idx="0">
            <a:schemeClr val="accent1"/>
          </a:fillRef>
          <a:effectRef idx="0">
            <a:schemeClr val="accent1"/>
          </a:effectRef>
          <a:fontRef idx="minor">
            <a:schemeClr val="tx1"/>
          </a:fontRef>
        </p:style>
      </p:cxnSp>
      <p:sp>
        <p:nvSpPr>
          <p:cNvPr id="62" name="직사각형 61"/>
          <p:cNvSpPr/>
          <p:nvPr/>
        </p:nvSpPr>
        <p:spPr>
          <a:xfrm>
            <a:off x="4662753" y="3300153"/>
            <a:ext cx="1181787" cy="2492718"/>
          </a:xfrm>
          <a:prstGeom prst="rect">
            <a:avLst/>
          </a:prstGeom>
          <a:solidFill>
            <a:srgbClr val="3CD0BA">
              <a:alpha val="10000"/>
            </a:srgbClr>
          </a:solidFill>
          <a:ln>
            <a:noFill/>
          </a:ln>
          <a:effectLst/>
        </p:spPr>
        <p:txBody>
          <a:bodyPr vert="horz" wrap="square" lIns="91440" tIns="45720" rIns="91440" bIns="45720" numCol="1" rtlCol="0" anchor="ctr" anchorCtr="0" compatLnSpc="1">
            <a:prstTxWarp prst="textNoShape">
              <a:avLst/>
            </a:prstTxWarp>
          </a:bodyPr>
          <a:lstStyle/>
          <a:p>
            <a:pPr algn="ctr"/>
            <a:endParaRPr lang="ko-KR" altLang="en-US" sz="2000" b="1" dirty="0" smtClean="0">
              <a:solidFill>
                <a:srgbClr val="0000FF"/>
              </a:solidFill>
            </a:endParaRPr>
          </a:p>
        </p:txBody>
      </p:sp>
      <p:sp>
        <p:nvSpPr>
          <p:cNvPr id="64" name="TextBox 63"/>
          <p:cNvSpPr txBox="1"/>
          <p:nvPr/>
        </p:nvSpPr>
        <p:spPr>
          <a:xfrm>
            <a:off x="4635382" y="3313099"/>
            <a:ext cx="1252294" cy="246221"/>
          </a:xfrm>
          <a:prstGeom prst="rect">
            <a:avLst/>
          </a:prstGeom>
          <a:noFill/>
        </p:spPr>
        <p:txBody>
          <a:bodyPr wrap="square" rtlCol="0">
            <a:spAutoFit/>
          </a:bodyPr>
          <a:lstStyle/>
          <a:p>
            <a:pPr lvl="0" algn="ctr"/>
            <a:r>
              <a:rPr lang="en-US" altLang="ko-KR" sz="1000" b="1" dirty="0">
                <a:solidFill>
                  <a:srgbClr val="3CD0BA"/>
                </a:solidFill>
                <a:latin typeface="나눔스퀘어" panose="020B0600000101010101" pitchFamily="50" charset="-127"/>
                <a:ea typeface="나눔스퀘어" panose="020B0600000101010101" pitchFamily="50" charset="-127"/>
              </a:rPr>
              <a:t>Impact of the War</a:t>
            </a:r>
            <a:endParaRPr lang="ko-KR" altLang="en-US" sz="1000" b="1" dirty="0">
              <a:solidFill>
                <a:srgbClr val="3CD0BA"/>
              </a:solidFill>
              <a:latin typeface="나눔스퀘어" panose="020B0600000101010101" pitchFamily="50" charset="-127"/>
              <a:ea typeface="나눔스퀘어" panose="020B0600000101010101" pitchFamily="50" charset="-127"/>
            </a:endParaRPr>
          </a:p>
        </p:txBody>
      </p:sp>
      <p:graphicFrame>
        <p:nvGraphicFramePr>
          <p:cNvPr id="53" name="차트 52">
            <a:extLst>
              <a:ext uri="{FF2B5EF4-FFF2-40B4-BE49-F238E27FC236}">
                <a16:creationId xmlns:a16="http://schemas.microsoft.com/office/drawing/2014/main" id="{80B8D60F-E3CA-950E-F63C-F6A0A98C7CBD}"/>
              </a:ext>
            </a:extLst>
          </p:cNvPr>
          <p:cNvGraphicFramePr/>
          <p:nvPr>
            <p:extLst>
              <p:ext uri="{D42A27DB-BD31-4B8C-83A1-F6EECF244321}">
                <p14:modId xmlns:p14="http://schemas.microsoft.com/office/powerpoint/2010/main" val="3302809505"/>
              </p:ext>
            </p:extLst>
          </p:nvPr>
        </p:nvGraphicFramePr>
        <p:xfrm>
          <a:off x="8953069" y="2578088"/>
          <a:ext cx="3329707" cy="3951530"/>
        </p:xfrm>
        <a:graphic>
          <a:graphicData uri="http://schemas.openxmlformats.org/drawingml/2006/chart">
            <c:chart xmlns:c="http://schemas.openxmlformats.org/drawingml/2006/chart" xmlns:r="http://schemas.openxmlformats.org/officeDocument/2006/relationships" r:id="rId5"/>
          </a:graphicData>
        </a:graphic>
      </p:graphicFrame>
      <p:sp>
        <p:nvSpPr>
          <p:cNvPr id="79" name="직사각형 78"/>
          <p:cNvSpPr/>
          <p:nvPr/>
        </p:nvSpPr>
        <p:spPr>
          <a:xfrm>
            <a:off x="10153200" y="3300153"/>
            <a:ext cx="1238866" cy="2488139"/>
          </a:xfrm>
          <a:prstGeom prst="rect">
            <a:avLst/>
          </a:prstGeom>
          <a:solidFill>
            <a:srgbClr val="3CD0BA">
              <a:alpha val="10000"/>
            </a:srgbClr>
          </a:solidFill>
          <a:ln>
            <a:noFill/>
          </a:ln>
          <a:effectLst/>
        </p:spPr>
        <p:txBody>
          <a:bodyPr vert="horz" wrap="square" lIns="91440" tIns="45720" rIns="91440" bIns="45720" numCol="1" rtlCol="0" anchor="ctr" anchorCtr="0" compatLnSpc="1">
            <a:prstTxWarp prst="textNoShape">
              <a:avLst/>
            </a:prstTxWarp>
          </a:bodyPr>
          <a:lstStyle/>
          <a:p>
            <a:pPr algn="ctr"/>
            <a:endParaRPr lang="ko-KR" altLang="en-US" sz="2000" b="1" smtClean="0">
              <a:solidFill>
                <a:srgbClr val="0000FF"/>
              </a:solidFill>
            </a:endParaRPr>
          </a:p>
        </p:txBody>
      </p:sp>
      <p:sp>
        <p:nvSpPr>
          <p:cNvPr id="69" name="TextBox 68"/>
          <p:cNvSpPr txBox="1"/>
          <p:nvPr/>
        </p:nvSpPr>
        <p:spPr>
          <a:xfrm>
            <a:off x="10155663" y="3304659"/>
            <a:ext cx="1233940" cy="246221"/>
          </a:xfrm>
          <a:prstGeom prst="rect">
            <a:avLst/>
          </a:prstGeom>
          <a:noFill/>
        </p:spPr>
        <p:txBody>
          <a:bodyPr wrap="square" rtlCol="0">
            <a:spAutoFit/>
          </a:bodyPr>
          <a:lstStyle/>
          <a:p>
            <a:pPr algn="ctr"/>
            <a:r>
              <a:rPr lang="en-US" altLang="ko-KR" sz="1000" b="1" dirty="0">
                <a:solidFill>
                  <a:srgbClr val="3CD0BA"/>
                </a:solidFill>
                <a:latin typeface="나눔스퀘어" panose="020B0600000101010101" pitchFamily="50" charset="-127"/>
                <a:ea typeface="나눔스퀘어" panose="020B0600000101010101" pitchFamily="50" charset="-127"/>
              </a:rPr>
              <a:t>Impact of the War</a:t>
            </a:r>
            <a:endParaRPr lang="ko-KR" altLang="en-US" sz="1000" b="1" dirty="0">
              <a:solidFill>
                <a:srgbClr val="3CD0BA"/>
              </a:solidFill>
              <a:latin typeface="나눔스퀘어" panose="020B0600000101010101" pitchFamily="50" charset="-127"/>
              <a:ea typeface="나눔스퀘어" panose="020B0600000101010101" pitchFamily="50" charset="-127"/>
            </a:endParaRPr>
          </a:p>
        </p:txBody>
      </p:sp>
      <p:graphicFrame>
        <p:nvGraphicFramePr>
          <p:cNvPr id="12" name="차트 11">
            <a:extLst>
              <a:ext uri="{FF2B5EF4-FFF2-40B4-BE49-F238E27FC236}">
                <a16:creationId xmlns:a16="http://schemas.microsoft.com/office/drawing/2014/main" id="{80B8D60F-E3CA-950E-F63C-F6A0A98C7CBD}"/>
              </a:ext>
            </a:extLst>
          </p:cNvPr>
          <p:cNvGraphicFramePr/>
          <p:nvPr>
            <p:extLst>
              <p:ext uri="{D42A27DB-BD31-4B8C-83A1-F6EECF244321}">
                <p14:modId xmlns:p14="http://schemas.microsoft.com/office/powerpoint/2010/main" val="997430233"/>
              </p:ext>
            </p:extLst>
          </p:nvPr>
        </p:nvGraphicFramePr>
        <p:xfrm>
          <a:off x="5325627" y="2570642"/>
          <a:ext cx="3891756" cy="3951530"/>
        </p:xfrm>
        <a:graphic>
          <a:graphicData uri="http://schemas.openxmlformats.org/drawingml/2006/chart">
            <c:chart xmlns:c="http://schemas.openxmlformats.org/drawingml/2006/chart" xmlns:r="http://schemas.openxmlformats.org/officeDocument/2006/relationships" r:id="rId6"/>
          </a:graphicData>
        </a:graphic>
      </p:graphicFrame>
      <p:sp>
        <p:nvSpPr>
          <p:cNvPr id="55" name="직사각형 54"/>
          <p:cNvSpPr/>
          <p:nvPr/>
        </p:nvSpPr>
        <p:spPr>
          <a:xfrm>
            <a:off x="7185660" y="3325884"/>
            <a:ext cx="1508760" cy="2455937"/>
          </a:xfrm>
          <a:prstGeom prst="rect">
            <a:avLst/>
          </a:prstGeom>
          <a:solidFill>
            <a:srgbClr val="3CD0BA">
              <a:alpha val="10000"/>
            </a:srgbClr>
          </a:solidFill>
          <a:ln>
            <a:noFill/>
          </a:ln>
          <a:effectLst/>
        </p:spPr>
        <p:txBody>
          <a:bodyPr vert="horz" wrap="square" lIns="91440" tIns="45720" rIns="91440" bIns="45720" numCol="1" rtlCol="0" anchor="ctr" anchorCtr="0" compatLnSpc="1">
            <a:prstTxWarp prst="textNoShape">
              <a:avLst/>
            </a:prstTxWarp>
          </a:bodyPr>
          <a:lstStyle/>
          <a:p>
            <a:pPr algn="ctr"/>
            <a:endParaRPr lang="ko-KR" altLang="en-US" sz="2000" b="1" smtClean="0">
              <a:solidFill>
                <a:srgbClr val="0000FF"/>
              </a:solidFill>
            </a:endParaRPr>
          </a:p>
        </p:txBody>
      </p:sp>
      <p:sp>
        <p:nvSpPr>
          <p:cNvPr id="68" name="TextBox 67"/>
          <p:cNvSpPr txBox="1"/>
          <p:nvPr/>
        </p:nvSpPr>
        <p:spPr>
          <a:xfrm>
            <a:off x="7227027" y="3304659"/>
            <a:ext cx="1362526" cy="246221"/>
          </a:xfrm>
          <a:prstGeom prst="rect">
            <a:avLst/>
          </a:prstGeom>
          <a:noFill/>
        </p:spPr>
        <p:txBody>
          <a:bodyPr wrap="square" rtlCol="0">
            <a:spAutoFit/>
          </a:bodyPr>
          <a:lstStyle/>
          <a:p>
            <a:pPr algn="ctr"/>
            <a:r>
              <a:rPr lang="en-US" altLang="ko-KR" sz="1000" b="1" dirty="0">
                <a:solidFill>
                  <a:srgbClr val="3CD0BA"/>
                </a:solidFill>
                <a:latin typeface="나눔스퀘어" panose="020B0600000101010101" pitchFamily="50" charset="-127"/>
                <a:ea typeface="나눔스퀘어" panose="020B0600000101010101" pitchFamily="50" charset="-127"/>
              </a:rPr>
              <a:t>Impact of the War</a:t>
            </a:r>
            <a:endParaRPr lang="ko-KR" altLang="en-US" sz="1000" b="1" dirty="0">
              <a:solidFill>
                <a:srgbClr val="3CD0BA"/>
              </a:solidFill>
              <a:latin typeface="나눔스퀘어" panose="020B0600000101010101" pitchFamily="50" charset="-127"/>
              <a:ea typeface="나눔스퀘어" panose="020B0600000101010101" pitchFamily="50" charset="-127"/>
            </a:endParaRPr>
          </a:p>
        </p:txBody>
      </p:sp>
      <p:cxnSp>
        <p:nvCxnSpPr>
          <p:cNvPr id="81" name="직선 화살표 연결선 80"/>
          <p:cNvCxnSpPr/>
          <p:nvPr/>
        </p:nvCxnSpPr>
        <p:spPr>
          <a:xfrm flipV="1">
            <a:off x="7207080" y="3550920"/>
            <a:ext cx="854880" cy="279813"/>
          </a:xfrm>
          <a:prstGeom prst="straightConnector1">
            <a:avLst/>
          </a:prstGeom>
          <a:ln w="9525" cap="rnd">
            <a:solidFill>
              <a:srgbClr val="2FC3AE"/>
            </a:solidFill>
            <a:prstDash val="sysDash"/>
            <a:headEnd type="oval" w="sm" len="sm"/>
            <a:tailEnd type="stealth"/>
          </a:ln>
        </p:spPr>
        <p:style>
          <a:lnRef idx="1">
            <a:schemeClr val="accent1"/>
          </a:lnRef>
          <a:fillRef idx="0">
            <a:schemeClr val="accent1"/>
          </a:fillRef>
          <a:effectRef idx="0">
            <a:schemeClr val="accent1"/>
          </a:effectRef>
          <a:fontRef idx="minor">
            <a:schemeClr val="tx1"/>
          </a:fontRef>
        </p:style>
      </p:cxnSp>
      <p:cxnSp>
        <p:nvCxnSpPr>
          <p:cNvPr id="82" name="직선 화살표 연결선 81"/>
          <p:cNvCxnSpPr/>
          <p:nvPr/>
        </p:nvCxnSpPr>
        <p:spPr>
          <a:xfrm flipV="1">
            <a:off x="7184390" y="4936210"/>
            <a:ext cx="678316" cy="410490"/>
          </a:xfrm>
          <a:prstGeom prst="straightConnector1">
            <a:avLst/>
          </a:prstGeom>
          <a:ln w="9525" cap="rnd">
            <a:solidFill>
              <a:srgbClr val="002B5C"/>
            </a:solidFill>
            <a:prstDash val="sysDash"/>
            <a:headEnd type="oval" w="sm" len="sm"/>
            <a:tailEnd type="stealth"/>
          </a:ln>
        </p:spPr>
        <p:style>
          <a:lnRef idx="1">
            <a:schemeClr val="accent1"/>
          </a:lnRef>
          <a:fillRef idx="0">
            <a:schemeClr val="accent1"/>
          </a:fillRef>
          <a:effectRef idx="0">
            <a:schemeClr val="accent1"/>
          </a:effectRef>
          <a:fontRef idx="minor">
            <a:schemeClr val="tx1"/>
          </a:fontRef>
        </p:style>
      </p:cxnSp>
      <p:cxnSp>
        <p:nvCxnSpPr>
          <p:cNvPr id="83" name="직선 화살표 연결선 82"/>
          <p:cNvCxnSpPr/>
          <p:nvPr/>
        </p:nvCxnSpPr>
        <p:spPr>
          <a:xfrm flipV="1">
            <a:off x="7197081" y="5143500"/>
            <a:ext cx="674379" cy="437382"/>
          </a:xfrm>
          <a:prstGeom prst="straightConnector1">
            <a:avLst/>
          </a:prstGeom>
          <a:ln w="9525" cap="rnd">
            <a:solidFill>
              <a:srgbClr val="0000FF"/>
            </a:solidFill>
            <a:prstDash val="sysDash"/>
            <a:headEnd type="oval" w="sm" len="sm"/>
            <a:tailEnd type="stealth"/>
          </a:ln>
        </p:spPr>
        <p:style>
          <a:lnRef idx="1">
            <a:schemeClr val="accent1"/>
          </a:lnRef>
          <a:fillRef idx="0">
            <a:schemeClr val="accent1"/>
          </a:fillRef>
          <a:effectRef idx="0">
            <a:schemeClr val="accent1"/>
          </a:effectRef>
          <a:fontRef idx="minor">
            <a:schemeClr val="tx1"/>
          </a:fontRef>
        </p:style>
      </p:cxnSp>
      <p:grpSp>
        <p:nvGrpSpPr>
          <p:cNvPr id="56" name="그룹 55"/>
          <p:cNvGrpSpPr/>
          <p:nvPr/>
        </p:nvGrpSpPr>
        <p:grpSpPr>
          <a:xfrm>
            <a:off x="10020301" y="6290"/>
            <a:ext cx="1722316" cy="552569"/>
            <a:chOff x="10020301" y="6290"/>
            <a:chExt cx="1722316" cy="552569"/>
          </a:xfrm>
        </p:grpSpPr>
        <p:cxnSp>
          <p:nvCxnSpPr>
            <p:cNvPr id="57" name="직선 연결선 56"/>
            <p:cNvCxnSpPr/>
            <p:nvPr/>
          </p:nvCxnSpPr>
          <p:spPr>
            <a:xfrm>
              <a:off x="11671487" y="6290"/>
              <a:ext cx="0" cy="313957"/>
            </a:xfrm>
            <a:prstGeom prst="line">
              <a:avLst/>
            </a:prstGeom>
            <a:ln w="635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10020301" y="381709"/>
              <a:ext cx="1552032" cy="153888"/>
            </a:xfrm>
            <a:prstGeom prst="rect">
              <a:avLst/>
            </a:prstGeom>
            <a:noFill/>
            <a:ln w="9525">
              <a:noFill/>
              <a:miter lim="800000"/>
              <a:headEnd/>
              <a:tailEnd/>
            </a:ln>
          </p:spPr>
          <p:txBody>
            <a:bodyPr wrap="square" lIns="0" tIns="0" rIns="0" bIns="0" anchor="ctr">
              <a:spAutoFit/>
            </a:bodyPr>
            <a:lstStyle>
              <a:defPPr>
                <a:defRPr lang="ko-KR"/>
              </a:defPPr>
              <a:lvl1pPr defTabSz="914125" fontAlgn="base" latinLnBrk="0">
                <a:spcBef>
                  <a:spcPct val="0"/>
                </a:spcBef>
                <a:spcAft>
                  <a:spcPts val="200"/>
                </a:spcAft>
                <a:defRPr sz="1100" spc="-20">
                  <a:ln>
                    <a:solidFill>
                      <a:prstClr val="white">
                        <a:alpha val="0"/>
                      </a:prstClr>
                    </a:solidFill>
                  </a:ln>
                  <a:solidFill>
                    <a:schemeClr val="tx1">
                      <a:lumMod val="75000"/>
                      <a:lumOff val="25000"/>
                    </a:schemeClr>
                  </a:solidFill>
                  <a:latin typeface="KoPub돋움체 Bold" panose="02020603020101020101" pitchFamily="18" charset="-127"/>
                  <a:ea typeface="KoPub돋움체 Bold" panose="02020603020101020101" pitchFamily="18" charset="-127"/>
                  <a:cs typeface="Arial" charset="0"/>
                </a:defRPr>
              </a:lvl1pPr>
            </a:lstStyle>
            <a:p>
              <a:pPr lvl="0" algn="r">
                <a:defRPr/>
              </a:pPr>
              <a:r>
                <a:rPr lang="en-US" altLang="ko-KR"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rPr>
                <a:t>2026 1H Market Review</a:t>
              </a:r>
            </a:p>
          </p:txBody>
        </p:sp>
        <p:sp>
          <p:nvSpPr>
            <p:cNvPr id="65" name="타원 64"/>
            <p:cNvSpPr/>
            <p:nvPr/>
          </p:nvSpPr>
          <p:spPr>
            <a:xfrm>
              <a:off x="11340239" y="290256"/>
              <a:ext cx="51827" cy="51827"/>
            </a:xfrm>
            <a:prstGeom prst="ellipse">
              <a:avLst/>
            </a:prstGeom>
            <a:solidFill>
              <a:schemeClr val="bg1">
                <a:lumMod val="75000"/>
                <a:alpha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66" name="타원 65"/>
            <p:cNvSpPr/>
            <p:nvPr/>
          </p:nvSpPr>
          <p:spPr>
            <a:xfrm>
              <a:off x="11422266" y="290256"/>
              <a:ext cx="51827" cy="51827"/>
            </a:xfrm>
            <a:prstGeom prst="ellipse">
              <a:avLst/>
            </a:prstGeom>
            <a:solidFill>
              <a:srgbClr val="0146A0"/>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67" name="타원 66"/>
            <p:cNvSpPr/>
            <p:nvPr/>
          </p:nvSpPr>
          <p:spPr>
            <a:xfrm>
              <a:off x="11504294" y="290256"/>
              <a:ext cx="51827" cy="51827"/>
            </a:xfrm>
            <a:prstGeom prst="ellipse">
              <a:avLst/>
            </a:prstGeom>
            <a:solidFill>
              <a:schemeClr val="bg1">
                <a:lumMod val="75000"/>
                <a:alpha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70" name="TextBox 69"/>
            <p:cNvSpPr txBox="1"/>
            <p:nvPr/>
          </p:nvSpPr>
          <p:spPr>
            <a:xfrm>
              <a:off x="11646437" y="343415"/>
              <a:ext cx="96180" cy="215444"/>
            </a:xfrm>
            <a:prstGeom prst="rect">
              <a:avLst/>
            </a:prstGeom>
            <a:noFill/>
          </p:spPr>
          <p:txBody>
            <a:bodyPr wrap="none" lIns="0" tIns="0" rIns="0" bIns="0" rtlCol="0" anchor="ctr" anchorCtr="0">
              <a:spAutoFit/>
            </a:bodyPr>
            <a:lstStyle>
              <a:defPPr>
                <a:defRPr lang="ko-KR"/>
              </a:defPPr>
              <a:lvl1pPr>
                <a:spcAft>
                  <a:spcPts val="300"/>
                </a:spcAft>
                <a:defRPr sz="2800" spc="-100">
                  <a:ln>
                    <a:solidFill>
                      <a:schemeClr val="bg1">
                        <a:alpha val="0"/>
                      </a:schemeClr>
                    </a:solidFill>
                  </a:ln>
                  <a:solidFill>
                    <a:srgbClr val="005B8D"/>
                  </a:solidFill>
                  <a:latin typeface="Times New Roman" panose="02020603050405020304" pitchFamily="18" charset="0"/>
                  <a:ea typeface="KoPub돋움체 Bold" panose="02020603020101020101" pitchFamily="18" charset="-127"/>
                  <a:cs typeface="Times New Roman" panose="02020603050405020304" pitchFamily="18" charset="0"/>
                </a:defRPr>
              </a:lvl1pPr>
            </a:lstStyle>
            <a:p>
              <a:pPr latinLnBrk="0">
                <a:defRPr/>
              </a:pPr>
              <a:r>
                <a:rPr lang="en-US" altLang="ko-KR" sz="1400" spc="-150" dirty="0">
                  <a:ln>
                    <a:solidFill>
                      <a:prstClr val="white">
                        <a:alpha val="0"/>
                      </a:prstClr>
                    </a:solidFill>
                  </a:ln>
                  <a:solidFill>
                    <a:srgbClr val="0146A0"/>
                  </a:solidFill>
                  <a:ea typeface="KoPub돋움체 Medium" panose="02020603020101020101" pitchFamily="18" charset="-127"/>
                </a:rPr>
                <a:t>Ⅱ</a:t>
              </a:r>
            </a:p>
          </p:txBody>
        </p:sp>
      </p:grpSp>
      <p:sp>
        <p:nvSpPr>
          <p:cNvPr id="49" name="TextBox 116"/>
          <p:cNvSpPr txBox="1">
            <a:spLocks noChangeArrowheads="1"/>
          </p:cNvSpPr>
          <p:nvPr/>
        </p:nvSpPr>
        <p:spPr bwMode="auto">
          <a:xfrm>
            <a:off x="6393077" y="2171013"/>
            <a:ext cx="511998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lvl="0" algn="ctr" defTabSz="1038977" eaLnBrk="1" hangingPunct="1"/>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Slower </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Sailing</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 </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Congestion</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 and </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Schedule Delays</a:t>
            </a:r>
            <a:endPar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sp>
        <p:nvSpPr>
          <p:cNvPr id="58" name="TextBox 57">
            <a:extLst>
              <a:ext uri="{FF2B5EF4-FFF2-40B4-BE49-F238E27FC236}">
                <a16:creationId xmlns:a16="http://schemas.microsoft.com/office/drawing/2014/main" id="{F419EC2A-DA12-DE70-177E-D060836EC73B}"/>
              </a:ext>
            </a:extLst>
          </p:cNvPr>
          <p:cNvSpPr txBox="1"/>
          <p:nvPr/>
        </p:nvSpPr>
        <p:spPr>
          <a:xfrm>
            <a:off x="9473135" y="6365790"/>
            <a:ext cx="2077492" cy="153888"/>
          </a:xfrm>
          <a:prstGeom prst="rect">
            <a:avLst/>
          </a:prstGeom>
          <a:noFill/>
        </p:spPr>
        <p:txBody>
          <a:bodyPr wrap="none" lIns="0" tIns="0" rIns="0" bIns="0" rtlCol="0" anchor="ctr">
            <a:spAutoFit/>
          </a:bodyPr>
          <a:lstStyle/>
          <a:p>
            <a:pPr latinLnBrk="0"/>
            <a:r>
              <a:rPr lang="en-US" altLang="ko-KR" sz="100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Slow steaming on higher oil prices</a:t>
            </a:r>
          </a:p>
        </p:txBody>
      </p:sp>
    </p:spTree>
    <p:extLst>
      <p:ext uri="{BB962C8B-B14F-4D97-AF65-F5344CB8AC3E}">
        <p14:creationId xmlns:p14="http://schemas.microsoft.com/office/powerpoint/2010/main" val="26051063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Ocean Market Trend</a:t>
            </a:r>
            <a:endParaRPr lang="ko-KR" altLang="en-US" dirty="0"/>
          </a:p>
        </p:txBody>
      </p:sp>
      <p:sp>
        <p:nvSpPr>
          <p:cNvPr id="3" name="텍스트 개체 틀 2"/>
          <p:cNvSpPr>
            <a:spLocks noGrp="1"/>
          </p:cNvSpPr>
          <p:nvPr>
            <p:ph type="body" sz="quarter" idx="10"/>
          </p:nvPr>
        </p:nvSpPr>
        <p:spPr/>
        <p:txBody>
          <a:bodyPr/>
          <a:lstStyle/>
          <a:p>
            <a:r>
              <a:rPr lang="en-US" altLang="ko-KR" dirty="0"/>
              <a:t>Freight rates strengthened in 1H on front-loading and Middle East supply </a:t>
            </a:r>
            <a:r>
              <a:rPr lang="en-US" altLang="ko-KR" dirty="0" smtClean="0"/>
              <a:t>disruptions</a:t>
            </a:r>
          </a:p>
          <a:p>
            <a:r>
              <a:rPr lang="en-US" altLang="ko-KR" spc="-50" dirty="0"/>
              <a:t>The U.S.-Iran conflict lifted rates across all trade lanes, with front-loading accelerating the early peak </a:t>
            </a:r>
            <a:r>
              <a:rPr lang="en-US" altLang="ko-KR" spc="-50" dirty="0" smtClean="0"/>
              <a:t>season</a:t>
            </a:r>
          </a:p>
        </p:txBody>
      </p:sp>
      <p:graphicFrame>
        <p:nvGraphicFramePr>
          <p:cNvPr id="16" name="차트 15"/>
          <p:cNvGraphicFramePr/>
          <p:nvPr>
            <p:extLst>
              <p:ext uri="{D42A27DB-BD31-4B8C-83A1-F6EECF244321}">
                <p14:modId xmlns:p14="http://schemas.microsoft.com/office/powerpoint/2010/main" val="3898949469"/>
              </p:ext>
            </p:extLst>
          </p:nvPr>
        </p:nvGraphicFramePr>
        <p:xfrm>
          <a:off x="515938" y="2559470"/>
          <a:ext cx="5389487" cy="3939267"/>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a:extLst>
              <a:ext uri="{FF2B5EF4-FFF2-40B4-BE49-F238E27FC236}">
                <a16:creationId xmlns:a16="http://schemas.microsoft.com/office/drawing/2014/main" id="{5C91891D-2B97-7824-4757-F84C493DF63F}"/>
              </a:ext>
            </a:extLst>
          </p:cNvPr>
          <p:cNvSpPr txBox="1"/>
          <p:nvPr/>
        </p:nvSpPr>
        <p:spPr>
          <a:xfrm>
            <a:off x="525890" y="6498737"/>
            <a:ext cx="1425070" cy="153888"/>
          </a:xfrm>
          <a:prstGeom prst="rect">
            <a:avLst/>
          </a:prstGeom>
          <a:noFill/>
        </p:spPr>
        <p:txBody>
          <a:bodyPr wrap="none" lIns="0" tIns="0" rIns="0" bIns="0" rtlCol="0" anchor="ctr">
            <a:spAutoFit/>
          </a:bodyPr>
          <a:lstStyle/>
          <a:p>
            <a:pPr latinLnBrk="0"/>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Source</a:t>
            </a:r>
            <a:r>
              <a:rPr lang="ko-KR" altLang="en-US"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SSE / </a:t>
            </a:r>
            <a:r>
              <a:rPr lang="en-US" altLang="ko-KR" sz="1000" dirty="0" err="1">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Clarksons</a:t>
            </a:r>
            <a:endPar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endParaRPr>
          </a:p>
        </p:txBody>
      </p:sp>
      <p:sp>
        <p:nvSpPr>
          <p:cNvPr id="66" name="Rectangle 215"/>
          <p:cNvSpPr>
            <a:spLocks noChangeArrowheads="1"/>
          </p:cNvSpPr>
          <p:nvPr/>
        </p:nvSpPr>
        <p:spPr bwMode="auto">
          <a:xfrm>
            <a:off x="503791" y="2117975"/>
            <a:ext cx="5436159"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grpSp>
        <p:nvGrpSpPr>
          <p:cNvPr id="63" name="그룹 52"/>
          <p:cNvGrpSpPr/>
          <p:nvPr/>
        </p:nvGrpSpPr>
        <p:grpSpPr>
          <a:xfrm>
            <a:off x="6235069" y="2117975"/>
            <a:ext cx="5436000" cy="374400"/>
            <a:chOff x="6246657" y="1854463"/>
            <a:chExt cx="5436000" cy="374400"/>
          </a:xfrm>
        </p:grpSpPr>
        <p:sp>
          <p:nvSpPr>
            <p:cNvPr id="64" name="Rectangle 215"/>
            <p:cNvSpPr>
              <a:spLocks noChangeArrowheads="1"/>
            </p:cNvSpPr>
            <p:nvPr/>
          </p:nvSpPr>
          <p:spPr bwMode="auto">
            <a:xfrm>
              <a:off x="6246657" y="1854463"/>
              <a:ext cx="5436000"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65" name="TextBox 116"/>
            <p:cNvSpPr txBox="1">
              <a:spLocks noChangeArrowheads="1"/>
            </p:cNvSpPr>
            <p:nvPr/>
          </p:nvSpPr>
          <p:spPr bwMode="auto">
            <a:xfrm>
              <a:off x="6404665" y="1907501"/>
              <a:ext cx="511998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algn="ctr" defTabSz="1038977" eaLnBrk="1" hangingPunct="1"/>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Stronger Rates Across Trade Lanes</a:t>
              </a:r>
            </a:p>
          </p:txBody>
        </p:sp>
      </p:grpSp>
      <p:sp>
        <p:nvSpPr>
          <p:cNvPr id="60" name="자유형 63"/>
          <p:cNvSpPr/>
          <p:nvPr/>
        </p:nvSpPr>
        <p:spPr>
          <a:xfrm>
            <a:off x="503790" y="2117975"/>
            <a:ext cx="780087" cy="368297"/>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61" name="자유형 64"/>
          <p:cNvSpPr/>
          <p:nvPr/>
        </p:nvSpPr>
        <p:spPr>
          <a:xfrm>
            <a:off x="503790" y="2117975"/>
            <a:ext cx="780088" cy="368297"/>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58" name="자유형 63"/>
          <p:cNvSpPr/>
          <p:nvPr/>
        </p:nvSpPr>
        <p:spPr>
          <a:xfrm>
            <a:off x="6237602" y="2118958"/>
            <a:ext cx="780087" cy="368297"/>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59" name="자유형 64"/>
          <p:cNvSpPr/>
          <p:nvPr/>
        </p:nvSpPr>
        <p:spPr>
          <a:xfrm>
            <a:off x="6237602" y="2118958"/>
            <a:ext cx="780088" cy="368297"/>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40" name="슬라이드 번호 개체 틀 5">
            <a:extLst>
              <a:ext uri="{FF2B5EF4-FFF2-40B4-BE49-F238E27FC236}">
                <a16:creationId xmlns:a16="http://schemas.microsoft.com/office/drawing/2014/main" id="{FAC1EB1B-E602-0247-88AB-A89AF71255A6}"/>
              </a:ext>
            </a:extLst>
          </p:cNvPr>
          <p:cNvSpPr txBox="1">
            <a:spLocks/>
          </p:cNvSpPr>
          <p:nvPr/>
        </p:nvSpPr>
        <p:spPr>
          <a:xfrm>
            <a:off x="5419725" y="6426152"/>
            <a:ext cx="788332" cy="326455"/>
          </a:xfrm>
          <a:prstGeom prst="rect">
            <a:avLst/>
          </a:prstGeom>
        </p:spPr>
        <p:txBody>
          <a:bodyPr lIns="162531" tIns="81264" rIns="162531" bIns="81264" anchor="ctr"/>
          <a:lstStyle>
            <a:lvl1pPr algn="r">
              <a:defRPr sz="1200">
                <a:solidFill>
                  <a:schemeClr val="tx1">
                    <a:tint val="75000"/>
                  </a:schemeClr>
                </a:solidFill>
              </a:defRPr>
            </a:lvl1pPr>
          </a:lstStyle>
          <a:p>
            <a:pPr defTabSz="1219048">
              <a:defRPr/>
            </a:pPr>
            <a:r>
              <a:rPr lang="en-US" altLang="ko-KR" dirty="0" smtClean="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rPr>
              <a:t>4</a:t>
            </a:r>
            <a:endParaRPr lang="ko-KR" altLang="en-US"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endParaRPr>
          </a:p>
        </p:txBody>
      </p:sp>
      <p:pic>
        <p:nvPicPr>
          <p:cNvPr id="41" name="Picture 200" descr="악세사리"/>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6200000">
            <a:off x="4339689" y="4546810"/>
            <a:ext cx="3535193" cy="91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43" name="TextBox 42"/>
          <p:cNvSpPr txBox="1"/>
          <p:nvPr/>
        </p:nvSpPr>
        <p:spPr>
          <a:xfrm>
            <a:off x="4658487" y="6400614"/>
            <a:ext cx="479298" cy="169277"/>
          </a:xfrm>
          <a:prstGeom prst="rect">
            <a:avLst/>
          </a:prstGeom>
          <a:noFill/>
        </p:spPr>
        <p:txBody>
          <a:bodyPr wrap="none" lIns="0" tIns="0" rIns="0" bIns="0" rtlCol="0">
            <a:spAutoFit/>
          </a:bodyPr>
          <a:lstStyle/>
          <a:p>
            <a:r>
              <a:rPr lang="en-US" altLang="ko-KR" sz="1100" dirty="0" smtClean="0">
                <a:solidFill>
                  <a:schemeClr val="tx1">
                    <a:lumMod val="65000"/>
                    <a:lumOff val="35000"/>
                  </a:schemeClr>
                </a:solidFill>
                <a:latin typeface="나눔스퀘어" panose="020B0600000101010101" pitchFamily="50" charset="-127"/>
                <a:ea typeface="나눔스퀘어" panose="020B0600000101010101" pitchFamily="50" charset="-127"/>
              </a:rPr>
              <a:t>(~June)</a:t>
            </a:r>
            <a:endParaRPr lang="ko-KR" altLang="en-US" sz="1100" dirty="0">
              <a:solidFill>
                <a:schemeClr val="tx1">
                  <a:lumMod val="65000"/>
                  <a:lumOff val="35000"/>
                </a:schemeClr>
              </a:solidFill>
              <a:latin typeface="나눔스퀘어" panose="020B0600000101010101" pitchFamily="50" charset="-127"/>
              <a:ea typeface="나눔스퀘어" panose="020B0600000101010101" pitchFamily="50" charset="-127"/>
            </a:endParaRPr>
          </a:p>
        </p:txBody>
      </p:sp>
      <p:graphicFrame>
        <p:nvGraphicFramePr>
          <p:cNvPr id="32" name="차트 31"/>
          <p:cNvGraphicFramePr/>
          <p:nvPr>
            <p:extLst>
              <p:ext uri="{D42A27DB-BD31-4B8C-83A1-F6EECF244321}">
                <p14:modId xmlns:p14="http://schemas.microsoft.com/office/powerpoint/2010/main" val="2414670512"/>
              </p:ext>
            </p:extLst>
          </p:nvPr>
        </p:nvGraphicFramePr>
        <p:xfrm>
          <a:off x="6237602" y="2567164"/>
          <a:ext cx="5565778" cy="3939267"/>
        </p:xfrm>
        <a:graphic>
          <a:graphicData uri="http://schemas.openxmlformats.org/drawingml/2006/chart">
            <c:chart xmlns:c="http://schemas.openxmlformats.org/drawingml/2006/chart" xmlns:r="http://schemas.openxmlformats.org/officeDocument/2006/relationships" r:id="rId5"/>
          </a:graphicData>
        </a:graphic>
      </p:graphicFrame>
      <p:grpSp>
        <p:nvGrpSpPr>
          <p:cNvPr id="33" name="그룹 32"/>
          <p:cNvGrpSpPr/>
          <p:nvPr/>
        </p:nvGrpSpPr>
        <p:grpSpPr>
          <a:xfrm>
            <a:off x="7921499" y="5339276"/>
            <a:ext cx="232560" cy="232560"/>
            <a:chOff x="3090235" y="3812613"/>
            <a:chExt cx="232560" cy="232560"/>
          </a:xfrm>
        </p:grpSpPr>
        <p:sp>
          <p:nvSpPr>
            <p:cNvPr id="34" name="타원 33"/>
            <p:cNvSpPr/>
            <p:nvPr/>
          </p:nvSpPr>
          <p:spPr>
            <a:xfrm>
              <a:off x="3090235" y="3812613"/>
              <a:ext cx="232560" cy="232560"/>
            </a:xfrm>
            <a:prstGeom prst="ellipse">
              <a:avLst/>
            </a:prstGeom>
            <a:solidFill>
              <a:srgbClr val="D6DCE5">
                <a:alpha val="50000"/>
              </a:srgb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타원 34"/>
            <p:cNvSpPr/>
            <p:nvPr/>
          </p:nvSpPr>
          <p:spPr>
            <a:xfrm>
              <a:off x="3156140" y="3878518"/>
              <a:ext cx="100750" cy="100750"/>
            </a:xfrm>
            <a:prstGeom prst="ellipse">
              <a:avLst/>
            </a:prstGeom>
            <a:solidFill>
              <a:srgbClr val="1428A0"/>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37" name="모서리가 둥근 직사각형 36"/>
          <p:cNvSpPr/>
          <p:nvPr/>
        </p:nvSpPr>
        <p:spPr>
          <a:xfrm>
            <a:off x="7412499" y="4642276"/>
            <a:ext cx="972280" cy="291294"/>
          </a:xfrm>
          <a:prstGeom prst="roundRect">
            <a:avLst>
              <a:gd name="adj" fmla="val 50000"/>
            </a:avLst>
          </a:prstGeom>
          <a:solidFill>
            <a:srgbClr val="3CD0B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TextBox 37"/>
          <p:cNvSpPr txBox="1"/>
          <p:nvPr/>
        </p:nvSpPr>
        <p:spPr>
          <a:xfrm>
            <a:off x="7528340" y="4729609"/>
            <a:ext cx="774251" cy="123111"/>
          </a:xfrm>
          <a:prstGeom prst="rect">
            <a:avLst/>
          </a:prstGeom>
          <a:noFill/>
        </p:spPr>
        <p:txBody>
          <a:bodyPr wrap="none" lIns="0" tIns="0" rIns="0" bIns="0" rtlCol="0" anchor="ctr">
            <a:spAutoFit/>
          </a:bodyPr>
          <a:lstStyle/>
          <a:p>
            <a:pPr algn="ctr"/>
            <a:r>
              <a:rPr lang="en-US" altLang="ko-KR" sz="800" b="1" dirty="0">
                <a:ln>
                  <a:solidFill>
                    <a:prstClr val="white">
                      <a:alpha val="0"/>
                    </a:prstClr>
                  </a:solidFill>
                </a:ln>
                <a:latin typeface="나눔스퀘어" panose="020B0600000101010101" pitchFamily="50" charset="-127"/>
                <a:ea typeface="나눔스퀘어" panose="020B0600000101010101" pitchFamily="50" charset="-127"/>
              </a:rPr>
              <a:t>U.S.-Iran conflict</a:t>
            </a:r>
            <a:endParaRPr lang="en-US" altLang="ko-KR" sz="800" b="1" dirty="0" smtClean="0">
              <a:ln>
                <a:solidFill>
                  <a:prstClr val="white">
                    <a:alpha val="0"/>
                  </a:prstClr>
                </a:solidFill>
              </a:ln>
              <a:latin typeface="나눔스퀘어" panose="020B0600000101010101" pitchFamily="50" charset="-127"/>
              <a:ea typeface="나눔스퀘어" panose="020B0600000101010101" pitchFamily="50" charset="-127"/>
            </a:endParaRPr>
          </a:p>
        </p:txBody>
      </p:sp>
      <p:sp>
        <p:nvSpPr>
          <p:cNvPr id="39" name="Freeform 10"/>
          <p:cNvSpPr>
            <a:spLocks/>
          </p:cNvSpPr>
          <p:nvPr/>
        </p:nvSpPr>
        <p:spPr bwMode="auto">
          <a:xfrm flipH="1" flipV="1">
            <a:off x="7962470" y="4933635"/>
            <a:ext cx="171390" cy="466632"/>
          </a:xfrm>
          <a:custGeom>
            <a:avLst/>
            <a:gdLst>
              <a:gd name="T0" fmla="*/ 0 w 283"/>
              <a:gd name="T1" fmla="*/ 94 h 94"/>
              <a:gd name="T2" fmla="*/ 142 w 283"/>
              <a:gd name="T3" fmla="*/ 94 h 94"/>
              <a:gd name="T4" fmla="*/ 283 w 283"/>
              <a:gd name="T5" fmla="*/ 94 h 94"/>
              <a:gd name="T6" fmla="*/ 142 w 283"/>
              <a:gd name="T7" fmla="*/ 0 h 94"/>
              <a:gd name="T8" fmla="*/ 0 w 283"/>
              <a:gd name="T9" fmla="*/ 94 h 94"/>
            </a:gdLst>
            <a:ahLst/>
            <a:cxnLst>
              <a:cxn ang="0">
                <a:pos x="T0" y="T1"/>
              </a:cxn>
              <a:cxn ang="0">
                <a:pos x="T2" y="T3"/>
              </a:cxn>
              <a:cxn ang="0">
                <a:pos x="T4" y="T5"/>
              </a:cxn>
              <a:cxn ang="0">
                <a:pos x="T6" y="T7"/>
              </a:cxn>
              <a:cxn ang="0">
                <a:pos x="T8" y="T9"/>
              </a:cxn>
            </a:cxnLst>
            <a:rect l="0" t="0" r="r" b="b"/>
            <a:pathLst>
              <a:path w="283" h="94">
                <a:moveTo>
                  <a:pt x="0" y="94"/>
                </a:moveTo>
                <a:cubicBezTo>
                  <a:pt x="142" y="94"/>
                  <a:pt x="142" y="94"/>
                  <a:pt x="142" y="94"/>
                </a:cubicBezTo>
                <a:cubicBezTo>
                  <a:pt x="283" y="94"/>
                  <a:pt x="283" y="94"/>
                  <a:pt x="283" y="94"/>
                </a:cubicBezTo>
                <a:cubicBezTo>
                  <a:pt x="182" y="94"/>
                  <a:pt x="142" y="0"/>
                  <a:pt x="142" y="0"/>
                </a:cubicBezTo>
                <a:cubicBezTo>
                  <a:pt x="142" y="0"/>
                  <a:pt x="103" y="94"/>
                  <a:pt x="0" y="94"/>
                </a:cubicBezTo>
                <a:close/>
              </a:path>
            </a:pathLst>
          </a:custGeom>
          <a:solidFill>
            <a:srgbClr val="3CD0B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nvGrpSpPr>
          <p:cNvPr id="52" name="그룹 51"/>
          <p:cNvGrpSpPr/>
          <p:nvPr/>
        </p:nvGrpSpPr>
        <p:grpSpPr>
          <a:xfrm>
            <a:off x="10304692" y="5041333"/>
            <a:ext cx="232560" cy="232560"/>
            <a:chOff x="3090235" y="3812613"/>
            <a:chExt cx="232560" cy="232560"/>
          </a:xfrm>
        </p:grpSpPr>
        <p:sp>
          <p:nvSpPr>
            <p:cNvPr id="53" name="타원 52"/>
            <p:cNvSpPr/>
            <p:nvPr/>
          </p:nvSpPr>
          <p:spPr>
            <a:xfrm>
              <a:off x="3090235" y="3812613"/>
              <a:ext cx="232560" cy="232560"/>
            </a:xfrm>
            <a:prstGeom prst="ellipse">
              <a:avLst/>
            </a:prstGeom>
            <a:solidFill>
              <a:srgbClr val="D6DCE5">
                <a:alpha val="50000"/>
              </a:srgb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3156140" y="3878518"/>
              <a:ext cx="100750" cy="100750"/>
            </a:xfrm>
            <a:prstGeom prst="ellipse">
              <a:avLst/>
            </a:prstGeom>
            <a:solidFill>
              <a:srgbClr val="1428A0"/>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69" name="모서리가 둥근 직사각형 68"/>
          <p:cNvSpPr/>
          <p:nvPr/>
        </p:nvSpPr>
        <p:spPr>
          <a:xfrm>
            <a:off x="9425940" y="3824679"/>
            <a:ext cx="1300165" cy="291294"/>
          </a:xfrm>
          <a:prstGeom prst="roundRect">
            <a:avLst>
              <a:gd name="adj" fmla="val 50000"/>
            </a:avLst>
          </a:prstGeom>
          <a:solidFill>
            <a:srgbClr val="3CD0B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TextBox 69"/>
          <p:cNvSpPr txBox="1"/>
          <p:nvPr/>
        </p:nvSpPr>
        <p:spPr>
          <a:xfrm>
            <a:off x="9531442" y="3847215"/>
            <a:ext cx="1130117" cy="246221"/>
          </a:xfrm>
          <a:prstGeom prst="rect">
            <a:avLst/>
          </a:prstGeom>
          <a:noFill/>
        </p:spPr>
        <p:txBody>
          <a:bodyPr wrap="none" lIns="0" tIns="0" rIns="0" bIns="0" rtlCol="0" anchor="ctr">
            <a:spAutoFit/>
          </a:bodyPr>
          <a:lstStyle/>
          <a:p>
            <a:pPr algn="ctr"/>
            <a:r>
              <a:rPr lang="en-US" altLang="ko-KR" sz="800" b="1" dirty="0">
                <a:ln>
                  <a:solidFill>
                    <a:prstClr val="white">
                      <a:alpha val="0"/>
                    </a:prstClr>
                  </a:solidFill>
                </a:ln>
                <a:latin typeface="나눔스퀘어" panose="020B0600000101010101" pitchFamily="50" charset="-127"/>
                <a:ea typeface="나눔스퀘어" panose="020B0600000101010101" pitchFamily="50" charset="-127"/>
              </a:rPr>
              <a:t>3Q fuel surcharge hikes </a:t>
            </a:r>
            <a:endParaRPr lang="en-US" altLang="ko-KR" sz="800" b="1" dirty="0" smtClean="0">
              <a:ln>
                <a:solidFill>
                  <a:prstClr val="white">
                    <a:alpha val="0"/>
                  </a:prstClr>
                </a:solidFill>
              </a:ln>
              <a:latin typeface="나눔스퀘어" panose="020B0600000101010101" pitchFamily="50" charset="-127"/>
              <a:ea typeface="나눔스퀘어" panose="020B0600000101010101" pitchFamily="50" charset="-127"/>
            </a:endParaRPr>
          </a:p>
          <a:p>
            <a:pPr algn="ctr"/>
            <a:r>
              <a:rPr lang="en-US" altLang="ko-KR" sz="800" b="1" dirty="0" smtClean="0">
                <a:ln>
                  <a:solidFill>
                    <a:prstClr val="white">
                      <a:alpha val="0"/>
                    </a:prstClr>
                  </a:solidFill>
                </a:ln>
                <a:latin typeface="나눔스퀘어" panose="020B0600000101010101" pitchFamily="50" charset="-127"/>
                <a:ea typeface="나눔스퀘어" panose="020B0600000101010101" pitchFamily="50" charset="-127"/>
              </a:rPr>
              <a:t>&amp; front-loading</a:t>
            </a:r>
          </a:p>
        </p:txBody>
      </p:sp>
      <p:sp>
        <p:nvSpPr>
          <p:cNvPr id="71" name="Freeform 10"/>
          <p:cNvSpPr>
            <a:spLocks/>
          </p:cNvSpPr>
          <p:nvPr/>
        </p:nvSpPr>
        <p:spPr bwMode="auto">
          <a:xfrm flipH="1" flipV="1">
            <a:off x="10343933" y="4116036"/>
            <a:ext cx="171390" cy="967661"/>
          </a:xfrm>
          <a:custGeom>
            <a:avLst/>
            <a:gdLst>
              <a:gd name="T0" fmla="*/ 0 w 283"/>
              <a:gd name="T1" fmla="*/ 94 h 94"/>
              <a:gd name="T2" fmla="*/ 142 w 283"/>
              <a:gd name="T3" fmla="*/ 94 h 94"/>
              <a:gd name="T4" fmla="*/ 283 w 283"/>
              <a:gd name="T5" fmla="*/ 94 h 94"/>
              <a:gd name="T6" fmla="*/ 142 w 283"/>
              <a:gd name="T7" fmla="*/ 0 h 94"/>
              <a:gd name="T8" fmla="*/ 0 w 283"/>
              <a:gd name="T9" fmla="*/ 94 h 94"/>
            </a:gdLst>
            <a:ahLst/>
            <a:cxnLst>
              <a:cxn ang="0">
                <a:pos x="T0" y="T1"/>
              </a:cxn>
              <a:cxn ang="0">
                <a:pos x="T2" y="T3"/>
              </a:cxn>
              <a:cxn ang="0">
                <a:pos x="T4" y="T5"/>
              </a:cxn>
              <a:cxn ang="0">
                <a:pos x="T6" y="T7"/>
              </a:cxn>
              <a:cxn ang="0">
                <a:pos x="T8" y="T9"/>
              </a:cxn>
            </a:cxnLst>
            <a:rect l="0" t="0" r="r" b="b"/>
            <a:pathLst>
              <a:path w="283" h="94">
                <a:moveTo>
                  <a:pt x="0" y="94"/>
                </a:moveTo>
                <a:cubicBezTo>
                  <a:pt x="142" y="94"/>
                  <a:pt x="142" y="94"/>
                  <a:pt x="142" y="94"/>
                </a:cubicBezTo>
                <a:cubicBezTo>
                  <a:pt x="283" y="94"/>
                  <a:pt x="283" y="94"/>
                  <a:pt x="283" y="94"/>
                </a:cubicBezTo>
                <a:cubicBezTo>
                  <a:pt x="182" y="94"/>
                  <a:pt x="142" y="0"/>
                  <a:pt x="142" y="0"/>
                </a:cubicBezTo>
                <a:cubicBezTo>
                  <a:pt x="142" y="0"/>
                  <a:pt x="103" y="94"/>
                  <a:pt x="0" y="94"/>
                </a:cubicBezTo>
                <a:close/>
              </a:path>
            </a:pathLst>
          </a:custGeom>
          <a:solidFill>
            <a:srgbClr val="3CD0B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nvGrpSpPr>
          <p:cNvPr id="72" name="그룹 71"/>
          <p:cNvGrpSpPr/>
          <p:nvPr/>
        </p:nvGrpSpPr>
        <p:grpSpPr>
          <a:xfrm>
            <a:off x="10889152" y="4817355"/>
            <a:ext cx="232560" cy="232560"/>
            <a:chOff x="3090235" y="3812613"/>
            <a:chExt cx="232560" cy="232560"/>
          </a:xfrm>
        </p:grpSpPr>
        <p:sp>
          <p:nvSpPr>
            <p:cNvPr id="73" name="타원 72"/>
            <p:cNvSpPr/>
            <p:nvPr/>
          </p:nvSpPr>
          <p:spPr>
            <a:xfrm>
              <a:off x="3090235" y="3812613"/>
              <a:ext cx="232560" cy="232560"/>
            </a:xfrm>
            <a:prstGeom prst="ellipse">
              <a:avLst/>
            </a:prstGeom>
            <a:solidFill>
              <a:srgbClr val="D6DCE5">
                <a:alpha val="50000"/>
              </a:srgb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4" name="타원 73"/>
            <p:cNvSpPr/>
            <p:nvPr/>
          </p:nvSpPr>
          <p:spPr>
            <a:xfrm>
              <a:off x="3156140" y="3878518"/>
              <a:ext cx="100750" cy="100750"/>
            </a:xfrm>
            <a:prstGeom prst="ellipse">
              <a:avLst/>
            </a:prstGeom>
            <a:solidFill>
              <a:srgbClr val="1428A0"/>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5" name="모서리가 둥근 직사각형 74"/>
          <p:cNvSpPr/>
          <p:nvPr/>
        </p:nvSpPr>
        <p:spPr>
          <a:xfrm>
            <a:off x="10346918" y="3423137"/>
            <a:ext cx="962026" cy="291294"/>
          </a:xfrm>
          <a:prstGeom prst="roundRect">
            <a:avLst>
              <a:gd name="adj" fmla="val 50000"/>
            </a:avLst>
          </a:prstGeom>
          <a:solidFill>
            <a:srgbClr val="3CD0B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6" name="Freeform 10"/>
          <p:cNvSpPr>
            <a:spLocks/>
          </p:cNvSpPr>
          <p:nvPr/>
        </p:nvSpPr>
        <p:spPr bwMode="auto">
          <a:xfrm flipH="1" flipV="1">
            <a:off x="10913367" y="3713717"/>
            <a:ext cx="171390" cy="1103638"/>
          </a:xfrm>
          <a:custGeom>
            <a:avLst/>
            <a:gdLst>
              <a:gd name="T0" fmla="*/ 0 w 283"/>
              <a:gd name="T1" fmla="*/ 94 h 94"/>
              <a:gd name="T2" fmla="*/ 142 w 283"/>
              <a:gd name="T3" fmla="*/ 94 h 94"/>
              <a:gd name="T4" fmla="*/ 283 w 283"/>
              <a:gd name="T5" fmla="*/ 94 h 94"/>
              <a:gd name="T6" fmla="*/ 142 w 283"/>
              <a:gd name="T7" fmla="*/ 0 h 94"/>
              <a:gd name="T8" fmla="*/ 0 w 283"/>
              <a:gd name="T9" fmla="*/ 94 h 94"/>
            </a:gdLst>
            <a:ahLst/>
            <a:cxnLst>
              <a:cxn ang="0">
                <a:pos x="T0" y="T1"/>
              </a:cxn>
              <a:cxn ang="0">
                <a:pos x="T2" y="T3"/>
              </a:cxn>
              <a:cxn ang="0">
                <a:pos x="T4" y="T5"/>
              </a:cxn>
              <a:cxn ang="0">
                <a:pos x="T6" y="T7"/>
              </a:cxn>
              <a:cxn ang="0">
                <a:pos x="T8" y="T9"/>
              </a:cxn>
            </a:cxnLst>
            <a:rect l="0" t="0" r="r" b="b"/>
            <a:pathLst>
              <a:path w="283" h="94">
                <a:moveTo>
                  <a:pt x="0" y="94"/>
                </a:moveTo>
                <a:cubicBezTo>
                  <a:pt x="142" y="94"/>
                  <a:pt x="142" y="94"/>
                  <a:pt x="142" y="94"/>
                </a:cubicBezTo>
                <a:cubicBezTo>
                  <a:pt x="283" y="94"/>
                  <a:pt x="283" y="94"/>
                  <a:pt x="283" y="94"/>
                </a:cubicBezTo>
                <a:cubicBezTo>
                  <a:pt x="182" y="94"/>
                  <a:pt x="142" y="0"/>
                  <a:pt x="142" y="0"/>
                </a:cubicBezTo>
                <a:cubicBezTo>
                  <a:pt x="142" y="0"/>
                  <a:pt x="103" y="94"/>
                  <a:pt x="0" y="94"/>
                </a:cubicBezTo>
                <a:close/>
              </a:path>
            </a:pathLst>
          </a:custGeom>
          <a:solidFill>
            <a:srgbClr val="3CD0B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sp>
        <p:nvSpPr>
          <p:cNvPr id="77" name="TextBox 76"/>
          <p:cNvSpPr txBox="1"/>
          <p:nvPr/>
        </p:nvSpPr>
        <p:spPr>
          <a:xfrm>
            <a:off x="10399928" y="3507228"/>
            <a:ext cx="856005" cy="123111"/>
          </a:xfrm>
          <a:prstGeom prst="rect">
            <a:avLst/>
          </a:prstGeom>
          <a:noFill/>
        </p:spPr>
        <p:txBody>
          <a:bodyPr wrap="none" lIns="0" tIns="0" rIns="0" bIns="0" rtlCol="0" anchor="ctr">
            <a:spAutoFit/>
          </a:bodyPr>
          <a:lstStyle/>
          <a:p>
            <a:pPr algn="ctr"/>
            <a:r>
              <a:rPr lang="en-US" altLang="ko-KR" sz="800" b="1" dirty="0">
                <a:ln>
                  <a:solidFill>
                    <a:prstClr val="white">
                      <a:alpha val="0"/>
                    </a:prstClr>
                  </a:solidFill>
                </a:ln>
                <a:latin typeface="나눔스퀘어" panose="020B0600000101010101" pitchFamily="50" charset="-127"/>
                <a:ea typeface="나눔스퀘어" panose="020B0600000101010101" pitchFamily="50" charset="-127"/>
              </a:rPr>
              <a:t>U.S.-Iran ceasefire</a:t>
            </a:r>
            <a:endParaRPr lang="en-US" altLang="ko-KR" sz="800" b="1" dirty="0" smtClean="0">
              <a:ln>
                <a:solidFill>
                  <a:prstClr val="white">
                    <a:alpha val="0"/>
                  </a:prstClr>
                </a:solidFill>
              </a:ln>
              <a:latin typeface="나눔스퀘어" panose="020B0600000101010101" pitchFamily="50" charset="-127"/>
              <a:ea typeface="나눔스퀘어" panose="020B0600000101010101" pitchFamily="50" charset="-127"/>
            </a:endParaRPr>
          </a:p>
        </p:txBody>
      </p:sp>
      <p:grpSp>
        <p:nvGrpSpPr>
          <p:cNvPr id="84" name="그룹 83"/>
          <p:cNvGrpSpPr/>
          <p:nvPr/>
        </p:nvGrpSpPr>
        <p:grpSpPr>
          <a:xfrm>
            <a:off x="8644014" y="5233813"/>
            <a:ext cx="232560" cy="232560"/>
            <a:chOff x="3090235" y="3812613"/>
            <a:chExt cx="232560" cy="232560"/>
          </a:xfrm>
        </p:grpSpPr>
        <p:sp>
          <p:nvSpPr>
            <p:cNvPr id="85" name="타원 84"/>
            <p:cNvSpPr/>
            <p:nvPr/>
          </p:nvSpPr>
          <p:spPr>
            <a:xfrm>
              <a:off x="3090235" y="3812613"/>
              <a:ext cx="232560" cy="232560"/>
            </a:xfrm>
            <a:prstGeom prst="ellipse">
              <a:avLst/>
            </a:prstGeom>
            <a:solidFill>
              <a:srgbClr val="D6DCE5">
                <a:alpha val="50000"/>
              </a:srgb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타원 85"/>
            <p:cNvSpPr/>
            <p:nvPr/>
          </p:nvSpPr>
          <p:spPr>
            <a:xfrm>
              <a:off x="3156140" y="3878518"/>
              <a:ext cx="100750" cy="100750"/>
            </a:xfrm>
            <a:prstGeom prst="ellipse">
              <a:avLst/>
            </a:prstGeom>
            <a:solidFill>
              <a:srgbClr val="1428A0"/>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87" name="모서리가 둥근 직사각형 86"/>
          <p:cNvSpPr/>
          <p:nvPr/>
        </p:nvSpPr>
        <p:spPr>
          <a:xfrm>
            <a:off x="8216900" y="4344829"/>
            <a:ext cx="1029674" cy="291294"/>
          </a:xfrm>
          <a:prstGeom prst="roundRect">
            <a:avLst>
              <a:gd name="adj" fmla="val 50000"/>
            </a:avLst>
          </a:prstGeom>
          <a:solidFill>
            <a:srgbClr val="3CD0B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TextBox 87"/>
          <p:cNvSpPr txBox="1"/>
          <p:nvPr/>
        </p:nvSpPr>
        <p:spPr>
          <a:xfrm>
            <a:off x="8264456" y="4367625"/>
            <a:ext cx="939360" cy="246221"/>
          </a:xfrm>
          <a:prstGeom prst="rect">
            <a:avLst/>
          </a:prstGeom>
          <a:noFill/>
        </p:spPr>
        <p:txBody>
          <a:bodyPr wrap="none" lIns="0" tIns="0" rIns="0" bIns="0" rtlCol="0" anchor="ctr">
            <a:spAutoFit/>
          </a:bodyPr>
          <a:lstStyle/>
          <a:p>
            <a:pPr algn="ctr"/>
            <a:r>
              <a:rPr lang="en-US" altLang="ko-KR" sz="800" b="1" dirty="0">
                <a:ln>
                  <a:solidFill>
                    <a:prstClr val="white">
                      <a:alpha val="0"/>
                    </a:prstClr>
                  </a:solidFill>
                </a:ln>
                <a:latin typeface="나눔스퀘어" panose="020B0600000101010101" pitchFamily="50" charset="-127"/>
                <a:ea typeface="나눔스퀘어" panose="020B0600000101010101" pitchFamily="50" charset="-127"/>
              </a:rPr>
              <a:t>Oil prices peak &amp; </a:t>
            </a:r>
            <a:endParaRPr lang="en-US" altLang="ko-KR" sz="800" b="1" dirty="0" smtClean="0">
              <a:ln>
                <a:solidFill>
                  <a:prstClr val="white">
                    <a:alpha val="0"/>
                  </a:prstClr>
                </a:solidFill>
              </a:ln>
              <a:latin typeface="나눔스퀘어" panose="020B0600000101010101" pitchFamily="50" charset="-127"/>
              <a:ea typeface="나눔스퀘어" panose="020B0600000101010101" pitchFamily="50" charset="-127"/>
            </a:endParaRPr>
          </a:p>
          <a:p>
            <a:pPr algn="ctr"/>
            <a:r>
              <a:rPr lang="en-US" altLang="ko-KR" sz="800" b="1" dirty="0" smtClean="0">
                <a:ln>
                  <a:solidFill>
                    <a:prstClr val="white">
                      <a:alpha val="0"/>
                    </a:prstClr>
                  </a:solidFill>
                </a:ln>
                <a:latin typeface="나눔스퀘어" panose="020B0600000101010101" pitchFamily="50" charset="-127"/>
                <a:ea typeface="나눔스퀘어" panose="020B0600000101010101" pitchFamily="50" charset="-127"/>
              </a:rPr>
              <a:t>EBS/EFS </a:t>
            </a:r>
            <a:r>
              <a:rPr lang="en-US" altLang="ko-KR" sz="800" b="1" dirty="0">
                <a:ln>
                  <a:solidFill>
                    <a:prstClr val="white">
                      <a:alpha val="0"/>
                    </a:prstClr>
                  </a:solidFill>
                </a:ln>
                <a:latin typeface="나눔스퀘어" panose="020B0600000101010101" pitchFamily="50" charset="-127"/>
                <a:ea typeface="나눔스퀘어" panose="020B0600000101010101" pitchFamily="50" charset="-127"/>
              </a:rPr>
              <a:t>introduced</a:t>
            </a:r>
            <a:endParaRPr lang="en-US" altLang="ko-KR" sz="800" b="1" dirty="0" smtClean="0">
              <a:ln>
                <a:solidFill>
                  <a:prstClr val="white">
                    <a:alpha val="0"/>
                  </a:prstClr>
                </a:solidFill>
              </a:ln>
              <a:latin typeface="나눔스퀘어" panose="020B0600000101010101" pitchFamily="50" charset="-127"/>
              <a:ea typeface="나눔스퀘어" panose="020B0600000101010101" pitchFamily="50" charset="-127"/>
            </a:endParaRPr>
          </a:p>
        </p:txBody>
      </p:sp>
      <p:sp>
        <p:nvSpPr>
          <p:cNvPr id="89" name="Freeform 10"/>
          <p:cNvSpPr>
            <a:spLocks/>
          </p:cNvSpPr>
          <p:nvPr/>
        </p:nvSpPr>
        <p:spPr bwMode="auto">
          <a:xfrm flipH="1" flipV="1">
            <a:off x="8677000" y="4636187"/>
            <a:ext cx="171390" cy="521426"/>
          </a:xfrm>
          <a:custGeom>
            <a:avLst/>
            <a:gdLst>
              <a:gd name="T0" fmla="*/ 0 w 283"/>
              <a:gd name="T1" fmla="*/ 94 h 94"/>
              <a:gd name="T2" fmla="*/ 142 w 283"/>
              <a:gd name="T3" fmla="*/ 94 h 94"/>
              <a:gd name="T4" fmla="*/ 283 w 283"/>
              <a:gd name="T5" fmla="*/ 94 h 94"/>
              <a:gd name="T6" fmla="*/ 142 w 283"/>
              <a:gd name="T7" fmla="*/ 0 h 94"/>
              <a:gd name="T8" fmla="*/ 0 w 283"/>
              <a:gd name="T9" fmla="*/ 94 h 94"/>
            </a:gdLst>
            <a:ahLst/>
            <a:cxnLst>
              <a:cxn ang="0">
                <a:pos x="T0" y="T1"/>
              </a:cxn>
              <a:cxn ang="0">
                <a:pos x="T2" y="T3"/>
              </a:cxn>
              <a:cxn ang="0">
                <a:pos x="T4" y="T5"/>
              </a:cxn>
              <a:cxn ang="0">
                <a:pos x="T6" y="T7"/>
              </a:cxn>
              <a:cxn ang="0">
                <a:pos x="T8" y="T9"/>
              </a:cxn>
            </a:cxnLst>
            <a:rect l="0" t="0" r="r" b="b"/>
            <a:pathLst>
              <a:path w="283" h="94">
                <a:moveTo>
                  <a:pt x="0" y="94"/>
                </a:moveTo>
                <a:cubicBezTo>
                  <a:pt x="142" y="94"/>
                  <a:pt x="142" y="94"/>
                  <a:pt x="142" y="94"/>
                </a:cubicBezTo>
                <a:cubicBezTo>
                  <a:pt x="283" y="94"/>
                  <a:pt x="283" y="94"/>
                  <a:pt x="283" y="94"/>
                </a:cubicBezTo>
                <a:cubicBezTo>
                  <a:pt x="182" y="94"/>
                  <a:pt x="142" y="0"/>
                  <a:pt x="142" y="0"/>
                </a:cubicBezTo>
                <a:cubicBezTo>
                  <a:pt x="142" y="0"/>
                  <a:pt x="103" y="94"/>
                  <a:pt x="0" y="94"/>
                </a:cubicBezTo>
                <a:close/>
              </a:path>
            </a:pathLst>
          </a:custGeom>
          <a:solidFill>
            <a:srgbClr val="3CD0B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nvGrpSpPr>
          <p:cNvPr id="78" name="그룹 77"/>
          <p:cNvGrpSpPr/>
          <p:nvPr/>
        </p:nvGrpSpPr>
        <p:grpSpPr>
          <a:xfrm>
            <a:off x="10020301" y="6290"/>
            <a:ext cx="1722316" cy="552569"/>
            <a:chOff x="10020301" y="6290"/>
            <a:chExt cx="1722316" cy="552569"/>
          </a:xfrm>
        </p:grpSpPr>
        <p:cxnSp>
          <p:nvCxnSpPr>
            <p:cNvPr id="79" name="직선 연결선 78"/>
            <p:cNvCxnSpPr/>
            <p:nvPr/>
          </p:nvCxnSpPr>
          <p:spPr>
            <a:xfrm>
              <a:off x="11671487" y="6290"/>
              <a:ext cx="0" cy="313957"/>
            </a:xfrm>
            <a:prstGeom prst="line">
              <a:avLst/>
            </a:prstGeom>
            <a:ln w="635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0" name="TextBox 79"/>
            <p:cNvSpPr txBox="1"/>
            <p:nvPr/>
          </p:nvSpPr>
          <p:spPr>
            <a:xfrm>
              <a:off x="10020301" y="381709"/>
              <a:ext cx="1552032" cy="153888"/>
            </a:xfrm>
            <a:prstGeom prst="rect">
              <a:avLst/>
            </a:prstGeom>
            <a:noFill/>
            <a:ln w="9525">
              <a:noFill/>
              <a:miter lim="800000"/>
              <a:headEnd/>
              <a:tailEnd/>
            </a:ln>
          </p:spPr>
          <p:txBody>
            <a:bodyPr wrap="square" lIns="0" tIns="0" rIns="0" bIns="0" anchor="ctr">
              <a:spAutoFit/>
            </a:bodyPr>
            <a:lstStyle>
              <a:defPPr>
                <a:defRPr lang="ko-KR"/>
              </a:defPPr>
              <a:lvl1pPr defTabSz="914125" fontAlgn="base" latinLnBrk="0">
                <a:spcBef>
                  <a:spcPct val="0"/>
                </a:spcBef>
                <a:spcAft>
                  <a:spcPts val="200"/>
                </a:spcAft>
                <a:defRPr sz="1100" spc="-20">
                  <a:ln>
                    <a:solidFill>
                      <a:prstClr val="white">
                        <a:alpha val="0"/>
                      </a:prstClr>
                    </a:solidFill>
                  </a:ln>
                  <a:solidFill>
                    <a:schemeClr val="tx1">
                      <a:lumMod val="75000"/>
                      <a:lumOff val="25000"/>
                    </a:schemeClr>
                  </a:solidFill>
                  <a:latin typeface="KoPub돋움체 Bold" panose="02020603020101020101" pitchFamily="18" charset="-127"/>
                  <a:ea typeface="KoPub돋움체 Bold" panose="02020603020101020101" pitchFamily="18" charset="-127"/>
                  <a:cs typeface="Arial" charset="0"/>
                </a:defRPr>
              </a:lvl1pPr>
            </a:lstStyle>
            <a:p>
              <a:pPr lvl="0" algn="r">
                <a:defRPr/>
              </a:pPr>
              <a:r>
                <a:rPr lang="en-US" altLang="ko-KR"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rPr>
                <a:t>2026 1H Market Review</a:t>
              </a:r>
            </a:p>
          </p:txBody>
        </p:sp>
        <p:sp>
          <p:nvSpPr>
            <p:cNvPr id="81" name="타원 80"/>
            <p:cNvSpPr/>
            <p:nvPr/>
          </p:nvSpPr>
          <p:spPr>
            <a:xfrm>
              <a:off x="11340239" y="290256"/>
              <a:ext cx="51827" cy="51827"/>
            </a:xfrm>
            <a:prstGeom prst="ellipse">
              <a:avLst/>
            </a:prstGeom>
            <a:solidFill>
              <a:schemeClr val="bg1">
                <a:lumMod val="75000"/>
                <a:alpha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82" name="타원 81"/>
            <p:cNvSpPr/>
            <p:nvPr/>
          </p:nvSpPr>
          <p:spPr>
            <a:xfrm>
              <a:off x="11422266" y="290256"/>
              <a:ext cx="51827" cy="51827"/>
            </a:xfrm>
            <a:prstGeom prst="ellipse">
              <a:avLst/>
            </a:prstGeom>
            <a:solidFill>
              <a:srgbClr val="0146A0"/>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83" name="타원 82"/>
            <p:cNvSpPr/>
            <p:nvPr/>
          </p:nvSpPr>
          <p:spPr>
            <a:xfrm>
              <a:off x="11504294" y="290256"/>
              <a:ext cx="51827" cy="51827"/>
            </a:xfrm>
            <a:prstGeom prst="ellipse">
              <a:avLst/>
            </a:prstGeom>
            <a:solidFill>
              <a:schemeClr val="bg1">
                <a:lumMod val="75000"/>
                <a:alpha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90" name="TextBox 89"/>
            <p:cNvSpPr txBox="1"/>
            <p:nvPr/>
          </p:nvSpPr>
          <p:spPr>
            <a:xfrm>
              <a:off x="11646437" y="343415"/>
              <a:ext cx="96180" cy="215444"/>
            </a:xfrm>
            <a:prstGeom prst="rect">
              <a:avLst/>
            </a:prstGeom>
            <a:noFill/>
          </p:spPr>
          <p:txBody>
            <a:bodyPr wrap="none" lIns="0" tIns="0" rIns="0" bIns="0" rtlCol="0" anchor="ctr" anchorCtr="0">
              <a:spAutoFit/>
            </a:bodyPr>
            <a:lstStyle>
              <a:defPPr>
                <a:defRPr lang="ko-KR"/>
              </a:defPPr>
              <a:lvl1pPr>
                <a:spcAft>
                  <a:spcPts val="300"/>
                </a:spcAft>
                <a:defRPr sz="2800" spc="-100">
                  <a:ln>
                    <a:solidFill>
                      <a:schemeClr val="bg1">
                        <a:alpha val="0"/>
                      </a:schemeClr>
                    </a:solidFill>
                  </a:ln>
                  <a:solidFill>
                    <a:srgbClr val="005B8D"/>
                  </a:solidFill>
                  <a:latin typeface="Times New Roman" panose="02020603050405020304" pitchFamily="18" charset="0"/>
                  <a:ea typeface="KoPub돋움체 Bold" panose="02020603020101020101" pitchFamily="18" charset="-127"/>
                  <a:cs typeface="Times New Roman" panose="02020603050405020304" pitchFamily="18" charset="0"/>
                </a:defRPr>
              </a:lvl1pPr>
            </a:lstStyle>
            <a:p>
              <a:pPr latinLnBrk="0">
                <a:defRPr/>
              </a:pPr>
              <a:r>
                <a:rPr lang="en-US" altLang="ko-KR" sz="1400" spc="-150" dirty="0">
                  <a:ln>
                    <a:solidFill>
                      <a:prstClr val="white">
                        <a:alpha val="0"/>
                      </a:prstClr>
                    </a:solidFill>
                  </a:ln>
                  <a:solidFill>
                    <a:srgbClr val="0146A0"/>
                  </a:solidFill>
                  <a:ea typeface="KoPub돋움체 Medium" panose="02020603020101020101" pitchFamily="18" charset="-127"/>
                </a:rPr>
                <a:t>Ⅱ</a:t>
              </a:r>
            </a:p>
          </p:txBody>
        </p:sp>
      </p:grpSp>
      <p:sp>
        <p:nvSpPr>
          <p:cNvPr id="67" name="TextBox 116"/>
          <p:cNvSpPr txBox="1">
            <a:spLocks noChangeArrowheads="1"/>
          </p:cNvSpPr>
          <p:nvPr/>
        </p:nvSpPr>
        <p:spPr bwMode="auto">
          <a:xfrm>
            <a:off x="661878" y="2188796"/>
            <a:ext cx="511998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lvl="0" algn="ctr" defTabSz="1038977" eaLnBrk="1" hangingPunct="1"/>
            <a:r>
              <a:rPr kumimoji="0" lang="en-US" altLang="ko-KR" sz="1600" spc="-5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Strong 1H Rates on Middle East Risks &amp; Front-Loading</a:t>
            </a:r>
          </a:p>
        </p:txBody>
      </p:sp>
    </p:spTree>
    <p:extLst>
      <p:ext uri="{BB962C8B-B14F-4D97-AF65-F5344CB8AC3E}">
        <p14:creationId xmlns:p14="http://schemas.microsoft.com/office/powerpoint/2010/main" val="38723079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p:cNvSpPr>
            <a:spLocks noGrp="1"/>
          </p:cNvSpPr>
          <p:nvPr>
            <p:ph type="body" sz="quarter" idx="10"/>
          </p:nvPr>
        </p:nvSpPr>
        <p:spPr>
          <a:xfrm>
            <a:off x="515937" y="1177063"/>
            <a:ext cx="11160125" cy="771752"/>
          </a:xfrm>
        </p:spPr>
        <p:txBody>
          <a:bodyPr/>
          <a:lstStyle/>
          <a:p>
            <a:pPr latinLnBrk="0"/>
            <a:r>
              <a:rPr lang="en-US" altLang="ko-KR" dirty="0" smtClean="0"/>
              <a:t>1H </a:t>
            </a:r>
            <a:r>
              <a:rPr lang="en-US" altLang="ko-KR" dirty="0"/>
              <a:t>demand rose </a:t>
            </a:r>
            <a:r>
              <a:rPr lang="en-US" altLang="ko-KR" dirty="0" smtClean="0"/>
              <a:t>4.4</a:t>
            </a:r>
            <a:r>
              <a:rPr lang="en-US" altLang="ko-KR" dirty="0"/>
              <a:t>% YoY; rapid recovery to pre-war levels, demand outpacing supply</a:t>
            </a:r>
            <a:endParaRPr lang="en-US" altLang="ko-KR" dirty="0" smtClean="0"/>
          </a:p>
          <a:p>
            <a:pPr latinLnBrk="0"/>
            <a:r>
              <a:rPr lang="en-US" altLang="ko-KR" dirty="0" smtClean="0"/>
              <a:t>Asia grew 5.6</a:t>
            </a:r>
            <a:r>
              <a:rPr lang="en-US" altLang="ko-KR" dirty="0"/>
              <a:t>% </a:t>
            </a:r>
            <a:r>
              <a:rPr lang="en-US" altLang="ko-KR" dirty="0" smtClean="0"/>
              <a:t>YoY as </a:t>
            </a:r>
            <a:r>
              <a:rPr lang="en-US" altLang="ko-KR" dirty="0"/>
              <a:t>key growth </a:t>
            </a:r>
            <a:r>
              <a:rPr lang="en-US" altLang="ko-KR" dirty="0" smtClean="0"/>
              <a:t>driver, while ME fell 15.2</a:t>
            </a:r>
            <a:r>
              <a:rPr lang="en-US" altLang="ko-KR" dirty="0"/>
              <a:t>% YoY amid war impact</a:t>
            </a:r>
            <a:endParaRPr lang="en-US" altLang="ko-KR" dirty="0">
              <a:solidFill>
                <a:srgbClr val="FF0000"/>
              </a:solidFill>
            </a:endParaRPr>
          </a:p>
        </p:txBody>
      </p:sp>
      <p:sp>
        <p:nvSpPr>
          <p:cNvPr id="16" name="제목 15"/>
          <p:cNvSpPr>
            <a:spLocks noGrp="1"/>
          </p:cNvSpPr>
          <p:nvPr>
            <p:ph type="title"/>
          </p:nvPr>
        </p:nvSpPr>
        <p:spPr/>
        <p:txBody>
          <a:bodyPr/>
          <a:lstStyle/>
          <a:p>
            <a:r>
              <a:rPr lang="en-US" altLang="ko-KR" dirty="0" smtClean="0"/>
              <a:t>Air Demand Trends</a:t>
            </a:r>
            <a:endParaRPr lang="ko-KR" altLang="en-US" sz="2400" dirty="0"/>
          </a:p>
        </p:txBody>
      </p:sp>
      <p:sp>
        <p:nvSpPr>
          <p:cNvPr id="54" name="TextBox 53"/>
          <p:cNvSpPr txBox="1"/>
          <p:nvPr/>
        </p:nvSpPr>
        <p:spPr>
          <a:xfrm>
            <a:off x="451712" y="1418730"/>
            <a:ext cx="5941365" cy="230832"/>
          </a:xfrm>
          <a:prstGeom prst="rect">
            <a:avLst/>
          </a:prstGeom>
          <a:noFill/>
        </p:spPr>
        <p:txBody>
          <a:bodyPr wrap="square" rtlCol="0">
            <a:spAutoFit/>
          </a:bodyPr>
          <a:lstStyle/>
          <a:p>
            <a:r>
              <a:rPr lang="en-US" altLang="ko-KR" sz="900" dirty="0" smtClean="0">
                <a:solidFill>
                  <a:srgbClr val="3333FF"/>
                </a:solidFill>
                <a:latin typeface="나눔스퀘어" panose="020B0600000101010101" pitchFamily="50" charset="-127"/>
                <a:ea typeface="나눔스퀘어" panose="020B0600000101010101" pitchFamily="50" charset="-127"/>
              </a:rPr>
              <a:t>*</a:t>
            </a:r>
            <a:r>
              <a:rPr lang="en-US" altLang="ko-KR" sz="900" dirty="0" err="1" smtClean="0">
                <a:solidFill>
                  <a:srgbClr val="3333FF"/>
                </a:solidFill>
                <a:latin typeface="나눔스퀘어" panose="020B0600000101010101" pitchFamily="50" charset="-127"/>
                <a:ea typeface="나눔스퀘어" panose="020B0600000101010101" pitchFamily="50" charset="-127"/>
              </a:rPr>
              <a:t>Jan~May</a:t>
            </a:r>
            <a:r>
              <a:rPr lang="ko-KR" altLang="en-US" sz="900" dirty="0" smtClean="0">
                <a:solidFill>
                  <a:srgbClr val="3333FF"/>
                </a:solidFill>
                <a:latin typeface="나눔스퀘어" panose="020B0600000101010101" pitchFamily="50" charset="-127"/>
                <a:ea typeface="나눔스퀘어" panose="020B0600000101010101" pitchFamily="50" charset="-127"/>
              </a:rPr>
              <a:t>                                </a:t>
            </a:r>
            <a:r>
              <a:rPr lang="en-US" altLang="ko-KR" sz="900" dirty="0" smtClean="0">
                <a:solidFill>
                  <a:srgbClr val="3333FF"/>
                </a:solidFill>
                <a:latin typeface="나눔스퀘어" panose="020B0600000101010101" pitchFamily="50" charset="-127"/>
                <a:ea typeface="나눔스퀘어" panose="020B0600000101010101" pitchFamily="50" charset="-127"/>
              </a:rPr>
              <a:t>* Monthly average 19.6B </a:t>
            </a:r>
            <a:r>
              <a:rPr lang="en-US" altLang="ko-KR" sz="900" dirty="0">
                <a:solidFill>
                  <a:srgbClr val="3333FF"/>
                </a:solidFill>
                <a:latin typeface="나눔스퀘어" panose="020B0600000101010101" pitchFamily="50" charset="-127"/>
                <a:ea typeface="나눔스퀘어" panose="020B0600000101010101" pitchFamily="50" charset="-127"/>
              </a:rPr>
              <a:t>(</a:t>
            </a:r>
            <a:r>
              <a:rPr lang="en-US" altLang="ko-KR" sz="900" dirty="0" smtClean="0">
                <a:solidFill>
                  <a:srgbClr val="3333FF"/>
                </a:solidFill>
                <a:latin typeface="나눔스퀘어" panose="020B0600000101010101" pitchFamily="50" charset="-127"/>
                <a:ea typeface="나눔스퀘어" panose="020B0600000101010101" pitchFamily="50" charset="-127"/>
              </a:rPr>
              <a:t>'25)→20.5B </a:t>
            </a:r>
            <a:r>
              <a:rPr lang="en-US" altLang="ko-KR" sz="900" dirty="0">
                <a:solidFill>
                  <a:srgbClr val="3333FF"/>
                </a:solidFill>
                <a:latin typeface="나눔스퀘어" panose="020B0600000101010101" pitchFamily="50" charset="-127"/>
                <a:ea typeface="나눔스퀘어" panose="020B0600000101010101" pitchFamily="50" charset="-127"/>
              </a:rPr>
              <a:t>(</a:t>
            </a:r>
            <a:r>
              <a:rPr lang="en-US" altLang="ko-KR" sz="900" dirty="0" smtClean="0">
                <a:solidFill>
                  <a:srgbClr val="3333FF"/>
                </a:solidFill>
                <a:latin typeface="나눔스퀘어" panose="020B0600000101010101" pitchFamily="50" charset="-127"/>
                <a:ea typeface="나눔스퀘어" panose="020B0600000101010101" pitchFamily="50" charset="-127"/>
              </a:rPr>
              <a:t>'26)</a:t>
            </a:r>
            <a:endParaRPr lang="ko-KR" altLang="en-US" sz="900" dirty="0">
              <a:solidFill>
                <a:srgbClr val="3333FF"/>
              </a:solidFill>
              <a:latin typeface="나눔스퀘어" panose="020B0600000101010101" pitchFamily="50" charset="-127"/>
              <a:ea typeface="나눔스퀘어" panose="020B0600000101010101" pitchFamily="50" charset="-127"/>
            </a:endParaRPr>
          </a:p>
        </p:txBody>
      </p:sp>
      <p:sp>
        <p:nvSpPr>
          <p:cNvPr id="58" name="TextBox 57"/>
          <p:cNvSpPr txBox="1"/>
          <p:nvPr/>
        </p:nvSpPr>
        <p:spPr>
          <a:xfrm>
            <a:off x="2448330" y="1800388"/>
            <a:ext cx="4836390" cy="230832"/>
          </a:xfrm>
          <a:prstGeom prst="rect">
            <a:avLst/>
          </a:prstGeom>
          <a:noFill/>
        </p:spPr>
        <p:txBody>
          <a:bodyPr wrap="square" rtlCol="0">
            <a:spAutoFit/>
          </a:bodyPr>
          <a:lstStyle/>
          <a:p>
            <a:r>
              <a:rPr lang="en-US" altLang="ko-KR" sz="900" dirty="0" smtClean="0">
                <a:solidFill>
                  <a:srgbClr val="3333FF"/>
                </a:solidFill>
                <a:latin typeface="나눔스퀘어" panose="020B0600000101010101" pitchFamily="50" charset="-127"/>
                <a:ea typeface="나눔스퀘어" panose="020B0600000101010101" pitchFamily="50" charset="-127"/>
              </a:rPr>
              <a:t>* </a:t>
            </a:r>
            <a:r>
              <a:rPr lang="en-US" altLang="ko-KR" sz="900" dirty="0">
                <a:solidFill>
                  <a:srgbClr val="3333FF"/>
                </a:solidFill>
                <a:latin typeface="나눔스퀘어" panose="020B0600000101010101" pitchFamily="50" charset="-127"/>
                <a:ea typeface="나눔스퀘어" panose="020B0600000101010101" pitchFamily="50" charset="-127"/>
              </a:rPr>
              <a:t>Asia–Europe volume growth accounted for over 75% of total Asia-route growth</a:t>
            </a:r>
            <a:endParaRPr lang="ko-KR" altLang="en-US" sz="900" dirty="0">
              <a:solidFill>
                <a:srgbClr val="3333FF"/>
              </a:solidFill>
              <a:latin typeface="나눔스퀘어" panose="020B0600000101010101" pitchFamily="50" charset="-127"/>
              <a:ea typeface="나눔스퀘어" panose="020B0600000101010101" pitchFamily="50" charset="-127"/>
            </a:endParaRPr>
          </a:p>
        </p:txBody>
      </p:sp>
      <p:grpSp>
        <p:nvGrpSpPr>
          <p:cNvPr id="65" name="组合 2">
            <a:extLst>
              <a:ext uri="{FF2B5EF4-FFF2-40B4-BE49-F238E27FC236}">
                <a16:creationId xmlns:a16="http://schemas.microsoft.com/office/drawing/2014/main" id="{9067CC77-A540-3BD4-F236-811BA0774EEA}"/>
              </a:ext>
            </a:extLst>
          </p:cNvPr>
          <p:cNvGrpSpPr/>
          <p:nvPr/>
        </p:nvGrpSpPr>
        <p:grpSpPr>
          <a:xfrm>
            <a:off x="503790" y="2117975"/>
            <a:ext cx="11167279" cy="374400"/>
            <a:chOff x="386534" y="1461600"/>
            <a:chExt cx="8375459" cy="280800"/>
          </a:xfrm>
        </p:grpSpPr>
        <p:grpSp>
          <p:nvGrpSpPr>
            <p:cNvPr id="66" name="그룹 46">
              <a:extLst>
                <a:ext uri="{FF2B5EF4-FFF2-40B4-BE49-F238E27FC236}">
                  <a16:creationId xmlns:a16="http://schemas.microsoft.com/office/drawing/2014/main" id="{93579CAF-2120-3668-00AF-3C02AE6F3BCB}"/>
                </a:ext>
              </a:extLst>
            </p:cNvPr>
            <p:cNvGrpSpPr/>
            <p:nvPr/>
          </p:nvGrpSpPr>
          <p:grpSpPr>
            <a:xfrm>
              <a:off x="386535" y="1461600"/>
              <a:ext cx="8375458" cy="280800"/>
              <a:chOff x="386535" y="1383614"/>
              <a:chExt cx="8375458" cy="280800"/>
            </a:xfrm>
          </p:grpSpPr>
          <p:grpSp>
            <p:nvGrpSpPr>
              <p:cNvPr id="74" name="그룹 48">
                <a:extLst>
                  <a:ext uri="{FF2B5EF4-FFF2-40B4-BE49-F238E27FC236}">
                    <a16:creationId xmlns:a16="http://schemas.microsoft.com/office/drawing/2014/main" id="{E7B472DD-0900-EB7D-0944-708EB5F16A7A}"/>
                  </a:ext>
                </a:extLst>
              </p:cNvPr>
              <p:cNvGrpSpPr/>
              <p:nvPr/>
            </p:nvGrpSpPr>
            <p:grpSpPr>
              <a:xfrm>
                <a:off x="386535" y="1383614"/>
                <a:ext cx="4077119" cy="280800"/>
                <a:chOff x="515380" y="1844820"/>
                <a:chExt cx="5436158" cy="374400"/>
              </a:xfrm>
            </p:grpSpPr>
            <p:sp>
              <p:nvSpPr>
                <p:cNvPr id="94" name="Rectangle 215">
                  <a:extLst>
                    <a:ext uri="{FF2B5EF4-FFF2-40B4-BE49-F238E27FC236}">
                      <a16:creationId xmlns:a16="http://schemas.microsoft.com/office/drawing/2014/main" id="{CC4C30DA-AED1-54A5-41A8-40D7E21B852F}"/>
                    </a:ext>
                  </a:extLst>
                </p:cNvPr>
                <p:cNvSpPr>
                  <a:spLocks noChangeArrowheads="1"/>
                </p:cNvSpPr>
                <p:nvPr/>
              </p:nvSpPr>
              <p:spPr bwMode="auto">
                <a:xfrm>
                  <a:off x="515380" y="1844820"/>
                  <a:ext cx="5436158"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95" name="TextBox 116">
                  <a:extLst>
                    <a:ext uri="{FF2B5EF4-FFF2-40B4-BE49-F238E27FC236}">
                      <a16:creationId xmlns:a16="http://schemas.microsoft.com/office/drawing/2014/main" id="{EA02BFC2-7284-A399-108F-23881ED250E9}"/>
                    </a:ext>
                  </a:extLst>
                </p:cNvPr>
                <p:cNvSpPr txBox="1">
                  <a:spLocks noChangeArrowheads="1"/>
                </p:cNvSpPr>
                <p:nvPr/>
              </p:nvSpPr>
              <p:spPr bwMode="auto">
                <a:xfrm>
                  <a:off x="673467" y="1915641"/>
                  <a:ext cx="511998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lvl="0" algn="ctr" defTabSz="1038977" eaLnBrk="1" hangingPunct="1"/>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Back to </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Pre-War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L</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evels</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 </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Growth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I</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ntact</a:t>
                  </a:r>
                  <a:endPar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grpSp>
          <p:grpSp>
            <p:nvGrpSpPr>
              <p:cNvPr id="91" name="그룹 52">
                <a:extLst>
                  <a:ext uri="{FF2B5EF4-FFF2-40B4-BE49-F238E27FC236}">
                    <a16:creationId xmlns:a16="http://schemas.microsoft.com/office/drawing/2014/main" id="{9F066A50-5AD0-8B23-2E56-16463F114E52}"/>
                  </a:ext>
                </a:extLst>
              </p:cNvPr>
              <p:cNvGrpSpPr/>
              <p:nvPr/>
            </p:nvGrpSpPr>
            <p:grpSpPr>
              <a:xfrm>
                <a:off x="4684993" y="1383614"/>
                <a:ext cx="4077000" cy="280800"/>
                <a:chOff x="6246657" y="1854463"/>
                <a:chExt cx="5436000" cy="374400"/>
              </a:xfrm>
            </p:grpSpPr>
            <p:sp>
              <p:nvSpPr>
                <p:cNvPr id="92" name="Rectangle 215">
                  <a:extLst>
                    <a:ext uri="{FF2B5EF4-FFF2-40B4-BE49-F238E27FC236}">
                      <a16:creationId xmlns:a16="http://schemas.microsoft.com/office/drawing/2014/main" id="{F8DC6F0D-0C29-6C1C-523A-2342AB9E1C08}"/>
                    </a:ext>
                  </a:extLst>
                </p:cNvPr>
                <p:cNvSpPr>
                  <a:spLocks noChangeArrowheads="1"/>
                </p:cNvSpPr>
                <p:nvPr/>
              </p:nvSpPr>
              <p:spPr bwMode="auto">
                <a:xfrm>
                  <a:off x="6246657" y="1854463"/>
                  <a:ext cx="5436000"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93" name="TextBox 116">
                  <a:extLst>
                    <a:ext uri="{FF2B5EF4-FFF2-40B4-BE49-F238E27FC236}">
                      <a16:creationId xmlns:a16="http://schemas.microsoft.com/office/drawing/2014/main" id="{31F284D7-6260-70A3-43A7-A0B6CD20DDDD}"/>
                    </a:ext>
                  </a:extLst>
                </p:cNvPr>
                <p:cNvSpPr txBox="1">
                  <a:spLocks noChangeArrowheads="1"/>
                </p:cNvSpPr>
                <p:nvPr/>
              </p:nvSpPr>
              <p:spPr bwMode="auto">
                <a:xfrm>
                  <a:off x="6404665" y="1907501"/>
                  <a:ext cx="511998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algn="ctr" defTabSz="1038977" eaLnBrk="1" hangingPunct="1"/>
                  <a:r>
                    <a:rPr lang="en-US" altLang="ko-KR" sz="1600" dirty="0" smtClean="0">
                      <a:solidFill>
                        <a:schemeClr val="bg1"/>
                      </a:solidFill>
                      <a:latin typeface="나눔스퀘어 ExtraBold" panose="020B0600000101010101" pitchFamily="50" charset="-127"/>
                      <a:ea typeface="나눔스퀘어 ExtraBold" panose="020B0600000101010101" pitchFamily="50" charset="-127"/>
                    </a:rPr>
                    <a:t>Air </a:t>
                  </a:r>
                  <a:r>
                    <a:rPr lang="en-US" altLang="ko-KR" sz="1600" dirty="0">
                      <a:solidFill>
                        <a:schemeClr val="bg1"/>
                      </a:solidFill>
                      <a:latin typeface="나눔스퀘어 ExtraBold" panose="020B0600000101010101" pitchFamily="50" charset="-127"/>
                      <a:ea typeface="나눔스퀘어 ExtraBold" panose="020B0600000101010101" pitchFamily="50" charset="-127"/>
                    </a:rPr>
                    <a:t>Cargo Demand: Widening Regional </a:t>
                  </a:r>
                  <a:r>
                    <a:rPr lang="en-US" altLang="ko-KR" sz="1600" dirty="0" smtClean="0">
                      <a:solidFill>
                        <a:schemeClr val="bg1"/>
                      </a:solidFill>
                      <a:latin typeface="나눔스퀘어 ExtraBold" panose="020B0600000101010101" pitchFamily="50" charset="-127"/>
                      <a:ea typeface="나눔스퀘어 ExtraBold" panose="020B0600000101010101" pitchFamily="50" charset="-127"/>
                    </a:rPr>
                    <a:t>Gap</a:t>
                  </a:r>
                  <a:r>
                    <a:rPr kumimoji="0" lang="ko-KR" altLang="en-US"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 </a:t>
                  </a:r>
                  <a:endParaRPr kumimoji="0" lang="ko-KR" altLang="en-US"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grpSp>
        </p:grpSp>
        <p:grpSp>
          <p:nvGrpSpPr>
            <p:cNvPr id="67" name="그룹 62">
              <a:extLst>
                <a:ext uri="{FF2B5EF4-FFF2-40B4-BE49-F238E27FC236}">
                  <a16:creationId xmlns:a16="http://schemas.microsoft.com/office/drawing/2014/main" id="{CB433E2C-BA9E-BD53-B572-872EC1A4AF39}"/>
                </a:ext>
              </a:extLst>
            </p:cNvPr>
            <p:cNvGrpSpPr/>
            <p:nvPr/>
          </p:nvGrpSpPr>
          <p:grpSpPr>
            <a:xfrm>
              <a:off x="386534" y="1461600"/>
              <a:ext cx="585066" cy="276223"/>
              <a:chOff x="-1523239" y="1275702"/>
              <a:chExt cx="564992" cy="357603"/>
            </a:xfrm>
          </p:grpSpPr>
          <p:sp>
            <p:nvSpPr>
              <p:cNvPr id="71" name="자유형 63">
                <a:extLst>
                  <a:ext uri="{FF2B5EF4-FFF2-40B4-BE49-F238E27FC236}">
                    <a16:creationId xmlns:a16="http://schemas.microsoft.com/office/drawing/2014/main" id="{F29BC4E2-BBF2-D8A1-86EE-97AF7782DA82}"/>
                  </a:ext>
                </a:extLst>
              </p:cNvPr>
              <p:cNvSpPr/>
              <p:nvPr/>
            </p:nvSpPr>
            <p:spPr>
              <a:xfrm>
                <a:off x="-1523239" y="1275702"/>
                <a:ext cx="564991" cy="357603"/>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73" name="자유형 64">
                <a:extLst>
                  <a:ext uri="{FF2B5EF4-FFF2-40B4-BE49-F238E27FC236}">
                    <a16:creationId xmlns:a16="http://schemas.microsoft.com/office/drawing/2014/main" id="{DE88C4AB-6DE6-BE01-4144-A0EA31F73DD8}"/>
                  </a:ext>
                </a:extLst>
              </p:cNvPr>
              <p:cNvSpPr/>
              <p:nvPr/>
            </p:nvSpPr>
            <p:spPr>
              <a:xfrm>
                <a:off x="-1523239" y="1275702"/>
                <a:ext cx="564992" cy="357603"/>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grpSp>
        <p:grpSp>
          <p:nvGrpSpPr>
            <p:cNvPr id="68" name="그룹 62">
              <a:extLst>
                <a:ext uri="{FF2B5EF4-FFF2-40B4-BE49-F238E27FC236}">
                  <a16:creationId xmlns:a16="http://schemas.microsoft.com/office/drawing/2014/main" id="{07FFAE11-41E2-EC59-227C-E2D5C11AA221}"/>
                </a:ext>
              </a:extLst>
            </p:cNvPr>
            <p:cNvGrpSpPr/>
            <p:nvPr/>
          </p:nvGrpSpPr>
          <p:grpSpPr>
            <a:xfrm>
              <a:off x="4686893" y="1462337"/>
              <a:ext cx="585066" cy="276223"/>
              <a:chOff x="-1523239" y="1275702"/>
              <a:chExt cx="564992" cy="357603"/>
            </a:xfrm>
          </p:grpSpPr>
          <p:sp>
            <p:nvSpPr>
              <p:cNvPr id="69" name="자유형 63">
                <a:extLst>
                  <a:ext uri="{FF2B5EF4-FFF2-40B4-BE49-F238E27FC236}">
                    <a16:creationId xmlns:a16="http://schemas.microsoft.com/office/drawing/2014/main" id="{B74F3C42-1F63-8BAE-E8BF-5E605CEF9F41}"/>
                  </a:ext>
                </a:extLst>
              </p:cNvPr>
              <p:cNvSpPr/>
              <p:nvPr/>
            </p:nvSpPr>
            <p:spPr>
              <a:xfrm>
                <a:off x="-1523239" y="1275702"/>
                <a:ext cx="564991" cy="357603"/>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70" name="자유형 64">
                <a:extLst>
                  <a:ext uri="{FF2B5EF4-FFF2-40B4-BE49-F238E27FC236}">
                    <a16:creationId xmlns:a16="http://schemas.microsoft.com/office/drawing/2014/main" id="{B91242EA-0CC1-2123-ECC0-DCA3FF5AF39E}"/>
                  </a:ext>
                </a:extLst>
              </p:cNvPr>
              <p:cNvSpPr/>
              <p:nvPr/>
            </p:nvSpPr>
            <p:spPr>
              <a:xfrm>
                <a:off x="-1523239" y="1275702"/>
                <a:ext cx="564992" cy="357603"/>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grpSp>
      </p:grpSp>
      <p:pic>
        <p:nvPicPr>
          <p:cNvPr id="96" name="Picture 200" descr="악세사리">
            <a:extLst>
              <a:ext uri="{FF2B5EF4-FFF2-40B4-BE49-F238E27FC236}">
                <a16:creationId xmlns:a16="http://schemas.microsoft.com/office/drawing/2014/main" id="{7300BE64-EC1E-1A32-F892-004D9D75EAD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339689" y="4546810"/>
            <a:ext cx="3535193" cy="91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97" name="TextBox 96">
            <a:extLst>
              <a:ext uri="{FF2B5EF4-FFF2-40B4-BE49-F238E27FC236}">
                <a16:creationId xmlns:a16="http://schemas.microsoft.com/office/drawing/2014/main" id="{E1173C16-F666-94CF-909F-4B0DB3DBB3CB}"/>
              </a:ext>
            </a:extLst>
          </p:cNvPr>
          <p:cNvSpPr txBox="1"/>
          <p:nvPr/>
        </p:nvSpPr>
        <p:spPr>
          <a:xfrm>
            <a:off x="525890" y="6498737"/>
            <a:ext cx="783869" cy="153888"/>
          </a:xfrm>
          <a:prstGeom prst="rect">
            <a:avLst/>
          </a:prstGeom>
          <a:noFill/>
        </p:spPr>
        <p:txBody>
          <a:bodyPr wrap="none" lIns="0" tIns="0" rIns="0" bIns="0" rtlCol="0" anchor="ctr">
            <a:spAutoFit/>
          </a:bodyPr>
          <a:lstStyle/>
          <a:p>
            <a:pPr latinLnBrk="0"/>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Source : </a:t>
            </a:r>
            <a:r>
              <a:rPr lang="en-US" altLang="ko-KR" sz="1000" dirty="0" smtClean="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IATA</a:t>
            </a:r>
            <a:endPar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endParaRPr>
          </a:p>
        </p:txBody>
      </p:sp>
      <p:graphicFrame>
        <p:nvGraphicFramePr>
          <p:cNvPr id="98" name="Chart 18">
            <a:extLst>
              <a:ext uri="{FF2B5EF4-FFF2-40B4-BE49-F238E27FC236}">
                <a16:creationId xmlns:a16="http://schemas.microsoft.com/office/drawing/2014/main" id="{EE9E5360-0F3F-6A5E-D425-338224BF6B85}"/>
              </a:ext>
            </a:extLst>
          </p:cNvPr>
          <p:cNvGraphicFramePr/>
          <p:nvPr>
            <p:extLst/>
          </p:nvPr>
        </p:nvGraphicFramePr>
        <p:xfrm>
          <a:off x="589551" y="2552283"/>
          <a:ext cx="5313030" cy="3765600"/>
        </p:xfrm>
        <a:graphic>
          <a:graphicData uri="http://schemas.openxmlformats.org/drawingml/2006/chart">
            <c:chart xmlns:c="http://schemas.openxmlformats.org/drawingml/2006/chart" xmlns:r="http://schemas.openxmlformats.org/officeDocument/2006/relationships" r:id="rId4"/>
          </a:graphicData>
        </a:graphic>
      </p:graphicFrame>
      <p:sp>
        <p:nvSpPr>
          <p:cNvPr id="117" name="슬라이드 번호 개체 틀 5">
            <a:extLst>
              <a:ext uri="{FF2B5EF4-FFF2-40B4-BE49-F238E27FC236}">
                <a16:creationId xmlns:a16="http://schemas.microsoft.com/office/drawing/2014/main" id="{7B6041B7-1F39-A782-C10E-02448E92BAA9}"/>
              </a:ext>
            </a:extLst>
          </p:cNvPr>
          <p:cNvSpPr txBox="1">
            <a:spLocks/>
          </p:cNvSpPr>
          <p:nvPr/>
        </p:nvSpPr>
        <p:spPr>
          <a:xfrm>
            <a:off x="5419725" y="6426152"/>
            <a:ext cx="788332" cy="326455"/>
          </a:xfrm>
          <a:prstGeom prst="rect">
            <a:avLst/>
          </a:prstGeom>
        </p:spPr>
        <p:txBody>
          <a:bodyPr lIns="162531" tIns="81264" rIns="162531" bIns="81264" anchor="ctr"/>
          <a:lstStyle>
            <a:lvl1pPr algn="r">
              <a:defRPr sz="1200">
                <a:solidFill>
                  <a:schemeClr val="tx1">
                    <a:tint val="75000"/>
                  </a:schemeClr>
                </a:solidFill>
              </a:defRPr>
            </a:lvl1pPr>
          </a:lstStyle>
          <a:p>
            <a:pPr defTabSz="1219048">
              <a:defRPr/>
            </a:pPr>
            <a:r>
              <a:rPr lang="en-US" altLang="ko-KR"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rPr>
              <a:t>5</a:t>
            </a:r>
            <a:endParaRPr lang="ko-KR" altLang="en-US"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endParaRPr>
          </a:p>
        </p:txBody>
      </p:sp>
      <p:graphicFrame>
        <p:nvGraphicFramePr>
          <p:cNvPr id="121" name="차트 120">
            <a:extLst>
              <a:ext uri="{FF2B5EF4-FFF2-40B4-BE49-F238E27FC236}">
                <a16:creationId xmlns:a16="http://schemas.microsoft.com/office/drawing/2014/main" id="{45E1B57F-D3E4-1F67-63BB-4C4F8F66A52E}"/>
              </a:ext>
            </a:extLst>
          </p:cNvPr>
          <p:cNvGraphicFramePr/>
          <p:nvPr>
            <p:extLst/>
          </p:nvPr>
        </p:nvGraphicFramePr>
        <p:xfrm>
          <a:off x="6322568" y="2518488"/>
          <a:ext cx="5323869" cy="3841653"/>
        </p:xfrm>
        <a:graphic>
          <a:graphicData uri="http://schemas.openxmlformats.org/drawingml/2006/chart">
            <c:chart xmlns:c="http://schemas.openxmlformats.org/drawingml/2006/chart" xmlns:r="http://schemas.openxmlformats.org/officeDocument/2006/relationships" r:id="rId5"/>
          </a:graphicData>
        </a:graphic>
      </p:graphicFrame>
      <p:pic>
        <p:nvPicPr>
          <p:cNvPr id="43" name="그림 42" descr="채점"/>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364191" y="3901610"/>
            <a:ext cx="409784" cy="296042"/>
          </a:xfrm>
          <a:prstGeom prst="rect">
            <a:avLst/>
          </a:prstGeom>
          <a:noFill/>
          <a:ln>
            <a:noFill/>
          </a:ln>
        </p:spPr>
      </p:pic>
      <p:pic>
        <p:nvPicPr>
          <p:cNvPr id="44" name="그림 43" descr="채점"/>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488266" y="5678476"/>
            <a:ext cx="524084" cy="296042"/>
          </a:xfrm>
          <a:prstGeom prst="rect">
            <a:avLst/>
          </a:prstGeom>
          <a:noFill/>
          <a:ln>
            <a:noFill/>
          </a:ln>
        </p:spPr>
      </p:pic>
      <p:grpSp>
        <p:nvGrpSpPr>
          <p:cNvPr id="34" name="그룹 33"/>
          <p:cNvGrpSpPr/>
          <p:nvPr/>
        </p:nvGrpSpPr>
        <p:grpSpPr>
          <a:xfrm>
            <a:off x="10020301" y="6290"/>
            <a:ext cx="1722316" cy="552569"/>
            <a:chOff x="10020301" y="6290"/>
            <a:chExt cx="1722316" cy="552569"/>
          </a:xfrm>
        </p:grpSpPr>
        <p:cxnSp>
          <p:nvCxnSpPr>
            <p:cNvPr id="35" name="직선 연결선 34"/>
            <p:cNvCxnSpPr/>
            <p:nvPr/>
          </p:nvCxnSpPr>
          <p:spPr>
            <a:xfrm>
              <a:off x="11671487" y="6290"/>
              <a:ext cx="0" cy="313957"/>
            </a:xfrm>
            <a:prstGeom prst="line">
              <a:avLst/>
            </a:prstGeom>
            <a:ln w="635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10020301" y="381709"/>
              <a:ext cx="1552032" cy="153888"/>
            </a:xfrm>
            <a:prstGeom prst="rect">
              <a:avLst/>
            </a:prstGeom>
            <a:noFill/>
            <a:ln w="9525">
              <a:noFill/>
              <a:miter lim="800000"/>
              <a:headEnd/>
              <a:tailEnd/>
            </a:ln>
          </p:spPr>
          <p:txBody>
            <a:bodyPr wrap="square" lIns="0" tIns="0" rIns="0" bIns="0" anchor="ctr">
              <a:spAutoFit/>
            </a:bodyPr>
            <a:lstStyle>
              <a:defPPr>
                <a:defRPr lang="ko-KR"/>
              </a:defPPr>
              <a:lvl1pPr defTabSz="914125" fontAlgn="base" latinLnBrk="0">
                <a:spcBef>
                  <a:spcPct val="0"/>
                </a:spcBef>
                <a:spcAft>
                  <a:spcPts val="200"/>
                </a:spcAft>
                <a:defRPr sz="1100" spc="-20">
                  <a:ln>
                    <a:solidFill>
                      <a:prstClr val="white">
                        <a:alpha val="0"/>
                      </a:prstClr>
                    </a:solidFill>
                  </a:ln>
                  <a:solidFill>
                    <a:schemeClr val="tx1">
                      <a:lumMod val="75000"/>
                      <a:lumOff val="25000"/>
                    </a:schemeClr>
                  </a:solidFill>
                  <a:latin typeface="KoPub돋움체 Bold" panose="02020603020101020101" pitchFamily="18" charset="-127"/>
                  <a:ea typeface="KoPub돋움체 Bold" panose="02020603020101020101" pitchFamily="18" charset="-127"/>
                  <a:cs typeface="Arial" charset="0"/>
                </a:defRPr>
              </a:lvl1pPr>
            </a:lstStyle>
            <a:p>
              <a:pPr lvl="0" algn="r">
                <a:defRPr/>
              </a:pPr>
              <a:r>
                <a:rPr lang="en-US" altLang="ko-KR"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rPr>
                <a:t>2026 1H Market Review</a:t>
              </a:r>
            </a:p>
          </p:txBody>
        </p:sp>
        <p:sp>
          <p:nvSpPr>
            <p:cNvPr id="37" name="타원 36"/>
            <p:cNvSpPr/>
            <p:nvPr/>
          </p:nvSpPr>
          <p:spPr>
            <a:xfrm>
              <a:off x="11340239" y="290256"/>
              <a:ext cx="51827" cy="51827"/>
            </a:xfrm>
            <a:prstGeom prst="ellipse">
              <a:avLst/>
            </a:prstGeom>
            <a:solidFill>
              <a:schemeClr val="bg1">
                <a:lumMod val="75000"/>
                <a:alpha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38" name="타원 37"/>
            <p:cNvSpPr/>
            <p:nvPr/>
          </p:nvSpPr>
          <p:spPr>
            <a:xfrm>
              <a:off x="11422266" y="290256"/>
              <a:ext cx="51827" cy="51827"/>
            </a:xfrm>
            <a:prstGeom prst="ellipse">
              <a:avLst/>
            </a:prstGeom>
            <a:solidFill>
              <a:srgbClr val="0146A0"/>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39" name="타원 38"/>
            <p:cNvSpPr/>
            <p:nvPr/>
          </p:nvSpPr>
          <p:spPr>
            <a:xfrm>
              <a:off x="11504294" y="290256"/>
              <a:ext cx="51827" cy="51827"/>
            </a:xfrm>
            <a:prstGeom prst="ellipse">
              <a:avLst/>
            </a:prstGeom>
            <a:solidFill>
              <a:schemeClr val="bg1">
                <a:lumMod val="75000"/>
                <a:alpha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40" name="TextBox 39"/>
            <p:cNvSpPr txBox="1"/>
            <p:nvPr/>
          </p:nvSpPr>
          <p:spPr>
            <a:xfrm>
              <a:off x="11646437" y="343415"/>
              <a:ext cx="96180" cy="215444"/>
            </a:xfrm>
            <a:prstGeom prst="rect">
              <a:avLst/>
            </a:prstGeom>
            <a:noFill/>
          </p:spPr>
          <p:txBody>
            <a:bodyPr wrap="none" lIns="0" tIns="0" rIns="0" bIns="0" rtlCol="0" anchor="ctr" anchorCtr="0">
              <a:spAutoFit/>
            </a:bodyPr>
            <a:lstStyle>
              <a:defPPr>
                <a:defRPr lang="ko-KR"/>
              </a:defPPr>
              <a:lvl1pPr>
                <a:spcAft>
                  <a:spcPts val="300"/>
                </a:spcAft>
                <a:defRPr sz="2800" spc="-100">
                  <a:ln>
                    <a:solidFill>
                      <a:schemeClr val="bg1">
                        <a:alpha val="0"/>
                      </a:schemeClr>
                    </a:solidFill>
                  </a:ln>
                  <a:solidFill>
                    <a:srgbClr val="005B8D"/>
                  </a:solidFill>
                  <a:latin typeface="Times New Roman" panose="02020603050405020304" pitchFamily="18" charset="0"/>
                  <a:ea typeface="KoPub돋움체 Bold" panose="02020603020101020101" pitchFamily="18" charset="-127"/>
                  <a:cs typeface="Times New Roman" panose="02020603050405020304" pitchFamily="18" charset="0"/>
                </a:defRPr>
              </a:lvl1pPr>
            </a:lstStyle>
            <a:p>
              <a:pPr latinLnBrk="0">
                <a:defRPr/>
              </a:pPr>
              <a:r>
                <a:rPr lang="en-US" altLang="ko-KR" sz="1400" spc="-150" dirty="0">
                  <a:ln>
                    <a:solidFill>
                      <a:prstClr val="white">
                        <a:alpha val="0"/>
                      </a:prstClr>
                    </a:solidFill>
                  </a:ln>
                  <a:solidFill>
                    <a:srgbClr val="0146A0"/>
                  </a:solidFill>
                  <a:ea typeface="KoPub돋움체 Medium" panose="02020603020101020101" pitchFamily="18" charset="-127"/>
                </a:rPr>
                <a:t>Ⅱ</a:t>
              </a:r>
            </a:p>
          </p:txBody>
        </p:sp>
      </p:grpSp>
    </p:spTree>
    <p:extLst>
      <p:ext uri="{BB962C8B-B14F-4D97-AF65-F5344CB8AC3E}">
        <p14:creationId xmlns:p14="http://schemas.microsoft.com/office/powerpoint/2010/main" val="1945123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p:cNvSpPr>
            <a:spLocks noGrp="1"/>
          </p:cNvSpPr>
          <p:nvPr>
            <p:ph type="body" sz="quarter" idx="10"/>
          </p:nvPr>
        </p:nvSpPr>
        <p:spPr/>
        <p:txBody>
          <a:bodyPr/>
          <a:lstStyle/>
          <a:p>
            <a:pPr latinLnBrk="0"/>
            <a:r>
              <a:rPr lang="en-US" altLang="ko-KR" dirty="0" smtClean="0"/>
              <a:t>1H supply rose 1.9% YoY, gradual recovery after ME shock but slightly below demand growth</a:t>
            </a:r>
          </a:p>
          <a:p>
            <a:pPr latinLnBrk="0"/>
            <a:r>
              <a:rPr lang="en-US" altLang="ko-KR" spc="-150" dirty="0" smtClean="0"/>
              <a:t>Freighter supply growth accelerated YoY on high-value cargo demand; short-term recovery driven by belly capacity increase</a:t>
            </a:r>
            <a:endParaRPr lang="en-US" altLang="ko-KR" spc="-150" dirty="0"/>
          </a:p>
        </p:txBody>
      </p:sp>
      <p:sp>
        <p:nvSpPr>
          <p:cNvPr id="16" name="제목 15"/>
          <p:cNvSpPr>
            <a:spLocks noGrp="1"/>
          </p:cNvSpPr>
          <p:nvPr>
            <p:ph type="title"/>
          </p:nvPr>
        </p:nvSpPr>
        <p:spPr/>
        <p:txBody>
          <a:bodyPr/>
          <a:lstStyle/>
          <a:p>
            <a:r>
              <a:rPr lang="en-US" altLang="ko-KR" dirty="0" smtClean="0"/>
              <a:t>Air Supply Trends</a:t>
            </a:r>
            <a:endParaRPr lang="ko-KR" altLang="en-US" sz="2400" dirty="0"/>
          </a:p>
        </p:txBody>
      </p:sp>
      <p:sp>
        <p:nvSpPr>
          <p:cNvPr id="54" name="TextBox 53"/>
          <p:cNvSpPr txBox="1"/>
          <p:nvPr/>
        </p:nvSpPr>
        <p:spPr>
          <a:xfrm>
            <a:off x="439922" y="1533073"/>
            <a:ext cx="5029712" cy="230832"/>
          </a:xfrm>
          <a:prstGeom prst="rect">
            <a:avLst/>
          </a:prstGeom>
          <a:noFill/>
        </p:spPr>
        <p:txBody>
          <a:bodyPr wrap="square" rtlCol="0">
            <a:spAutoFit/>
          </a:bodyPr>
          <a:lstStyle/>
          <a:p>
            <a:r>
              <a:rPr lang="en-US" altLang="ko-KR" sz="900" dirty="0" smtClean="0">
                <a:solidFill>
                  <a:srgbClr val="3333FF"/>
                </a:solidFill>
                <a:latin typeface="나눔스퀘어" panose="020B0600000101010101" pitchFamily="50" charset="-127"/>
                <a:ea typeface="나눔스퀘어" panose="020B0600000101010101" pitchFamily="50" charset="-127"/>
              </a:rPr>
              <a:t>*</a:t>
            </a:r>
            <a:r>
              <a:rPr lang="en-US" altLang="ko-KR" sz="900" dirty="0">
                <a:solidFill>
                  <a:srgbClr val="3333FF"/>
                </a:solidFill>
                <a:latin typeface="나눔스퀘어" panose="020B0600000101010101" pitchFamily="50" charset="-127"/>
                <a:ea typeface="나눔스퀘어" panose="020B0600000101010101" pitchFamily="50" charset="-127"/>
              </a:rPr>
              <a:t> </a:t>
            </a:r>
            <a:r>
              <a:rPr lang="en-US" altLang="ko-KR" sz="900" dirty="0" smtClean="0">
                <a:solidFill>
                  <a:srgbClr val="3333FF"/>
                </a:solidFill>
                <a:latin typeface="나눔스퀘어" panose="020B0600000101010101" pitchFamily="50" charset="-127"/>
                <a:ea typeface="나눔스퀘어" panose="020B0600000101010101" pitchFamily="50" charset="-127"/>
              </a:rPr>
              <a:t>JAN~MAY</a:t>
            </a:r>
            <a:r>
              <a:rPr lang="ko-KR" altLang="en-US" sz="900" dirty="0" smtClean="0">
                <a:solidFill>
                  <a:srgbClr val="3333FF"/>
                </a:solidFill>
                <a:latin typeface="나눔스퀘어" panose="020B0600000101010101" pitchFamily="50" charset="-127"/>
                <a:ea typeface="나눔스퀘어" panose="020B0600000101010101" pitchFamily="50" charset="-127"/>
              </a:rPr>
              <a:t>                 </a:t>
            </a:r>
            <a:r>
              <a:rPr lang="en-US" altLang="ko-KR" sz="900" dirty="0" smtClean="0">
                <a:solidFill>
                  <a:srgbClr val="3333FF"/>
                </a:solidFill>
                <a:latin typeface="나눔스퀘어" panose="020B0600000101010101" pitchFamily="50" charset="-127"/>
                <a:ea typeface="나눔스퀘어" panose="020B0600000101010101" pitchFamily="50" charset="-127"/>
              </a:rPr>
              <a:t>*38.8B </a:t>
            </a:r>
            <a:r>
              <a:rPr lang="en-US" altLang="ko-KR" sz="900" dirty="0">
                <a:solidFill>
                  <a:srgbClr val="3333FF"/>
                </a:solidFill>
                <a:latin typeface="나눔스퀘어" panose="020B0600000101010101" pitchFamily="50" charset="-127"/>
                <a:ea typeface="나눔스퀘어" panose="020B0600000101010101" pitchFamily="50" charset="-127"/>
              </a:rPr>
              <a:t>(</a:t>
            </a:r>
            <a:r>
              <a:rPr lang="en-US" altLang="ko-KR" sz="900" dirty="0" smtClean="0">
                <a:solidFill>
                  <a:srgbClr val="3333FF"/>
                </a:solidFill>
                <a:latin typeface="나눔스퀘어" panose="020B0600000101010101" pitchFamily="50" charset="-127"/>
                <a:ea typeface="나눔스퀘어" panose="020B0600000101010101" pitchFamily="50" charset="-127"/>
              </a:rPr>
              <a:t>'25)→39.5B </a:t>
            </a:r>
            <a:r>
              <a:rPr lang="en-US" altLang="ko-KR" sz="900" dirty="0">
                <a:solidFill>
                  <a:srgbClr val="3333FF"/>
                </a:solidFill>
                <a:latin typeface="나눔스퀘어" panose="020B0600000101010101" pitchFamily="50" charset="-127"/>
                <a:ea typeface="나눔스퀘어" panose="020B0600000101010101" pitchFamily="50" charset="-127"/>
              </a:rPr>
              <a:t>(</a:t>
            </a:r>
            <a:r>
              <a:rPr lang="en-US" altLang="ko-KR" sz="900" dirty="0" smtClean="0">
                <a:solidFill>
                  <a:srgbClr val="3333FF"/>
                </a:solidFill>
                <a:latin typeface="나눔스퀘어" panose="020B0600000101010101" pitchFamily="50" charset="-127"/>
                <a:ea typeface="나눔스퀘어" panose="020B0600000101010101" pitchFamily="50" charset="-127"/>
              </a:rPr>
              <a:t>'26)</a:t>
            </a:r>
            <a:endParaRPr lang="ko-KR" altLang="en-US" sz="900" dirty="0">
              <a:solidFill>
                <a:srgbClr val="3333FF"/>
              </a:solidFill>
              <a:latin typeface="나눔스퀘어" panose="020B0600000101010101" pitchFamily="50" charset="-127"/>
              <a:ea typeface="나눔스퀘어" panose="020B0600000101010101" pitchFamily="50" charset="-127"/>
            </a:endParaRPr>
          </a:p>
        </p:txBody>
      </p:sp>
      <p:grpSp>
        <p:nvGrpSpPr>
          <p:cNvPr id="83" name="组合 2">
            <a:extLst>
              <a:ext uri="{FF2B5EF4-FFF2-40B4-BE49-F238E27FC236}">
                <a16:creationId xmlns:a16="http://schemas.microsoft.com/office/drawing/2014/main" id="{ABB13431-1114-3BA9-643F-BA08F7F312C7}"/>
              </a:ext>
            </a:extLst>
          </p:cNvPr>
          <p:cNvGrpSpPr/>
          <p:nvPr/>
        </p:nvGrpSpPr>
        <p:grpSpPr>
          <a:xfrm>
            <a:off x="503790" y="2117975"/>
            <a:ext cx="11167279" cy="374400"/>
            <a:chOff x="386534" y="1461600"/>
            <a:chExt cx="8375459" cy="280800"/>
          </a:xfrm>
        </p:grpSpPr>
        <p:grpSp>
          <p:nvGrpSpPr>
            <p:cNvPr id="84" name="그룹 46">
              <a:extLst>
                <a:ext uri="{FF2B5EF4-FFF2-40B4-BE49-F238E27FC236}">
                  <a16:creationId xmlns:a16="http://schemas.microsoft.com/office/drawing/2014/main" id="{9589ECEC-6609-991F-D2FB-2329D4DAF637}"/>
                </a:ext>
              </a:extLst>
            </p:cNvPr>
            <p:cNvGrpSpPr/>
            <p:nvPr/>
          </p:nvGrpSpPr>
          <p:grpSpPr>
            <a:xfrm>
              <a:off x="386535" y="1461600"/>
              <a:ext cx="8375458" cy="280800"/>
              <a:chOff x="386535" y="1383614"/>
              <a:chExt cx="8375458" cy="280800"/>
            </a:xfrm>
          </p:grpSpPr>
          <p:grpSp>
            <p:nvGrpSpPr>
              <p:cNvPr id="91" name="그룹 48">
                <a:extLst>
                  <a:ext uri="{FF2B5EF4-FFF2-40B4-BE49-F238E27FC236}">
                    <a16:creationId xmlns:a16="http://schemas.microsoft.com/office/drawing/2014/main" id="{DA8932B8-ED69-4660-A849-082E27110688}"/>
                  </a:ext>
                </a:extLst>
              </p:cNvPr>
              <p:cNvGrpSpPr/>
              <p:nvPr/>
            </p:nvGrpSpPr>
            <p:grpSpPr>
              <a:xfrm>
                <a:off x="386535" y="1383614"/>
                <a:ext cx="4077119" cy="280800"/>
                <a:chOff x="515380" y="1844820"/>
                <a:chExt cx="5436158" cy="374400"/>
              </a:xfrm>
            </p:grpSpPr>
            <p:sp>
              <p:nvSpPr>
                <p:cNvPr id="104" name="Rectangle 215">
                  <a:extLst>
                    <a:ext uri="{FF2B5EF4-FFF2-40B4-BE49-F238E27FC236}">
                      <a16:creationId xmlns:a16="http://schemas.microsoft.com/office/drawing/2014/main" id="{98DDD26A-8630-FCEB-1A0B-DE54238CAAC7}"/>
                    </a:ext>
                  </a:extLst>
                </p:cNvPr>
                <p:cNvSpPr>
                  <a:spLocks noChangeArrowheads="1"/>
                </p:cNvSpPr>
                <p:nvPr/>
              </p:nvSpPr>
              <p:spPr bwMode="auto">
                <a:xfrm>
                  <a:off x="515380" y="1844820"/>
                  <a:ext cx="5436158"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105" name="TextBox 116">
                  <a:extLst>
                    <a:ext uri="{FF2B5EF4-FFF2-40B4-BE49-F238E27FC236}">
                      <a16:creationId xmlns:a16="http://schemas.microsoft.com/office/drawing/2014/main" id="{CAE67B91-4623-311A-FA3E-5B4E97FD33C2}"/>
                    </a:ext>
                  </a:extLst>
                </p:cNvPr>
                <p:cNvSpPr txBox="1">
                  <a:spLocks noChangeArrowheads="1"/>
                </p:cNvSpPr>
                <p:nvPr/>
              </p:nvSpPr>
              <p:spPr bwMode="auto">
                <a:xfrm>
                  <a:off x="673467" y="1915641"/>
                  <a:ext cx="511998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lvl="0" algn="ctr" defTabSz="1038977" eaLnBrk="1" hangingPunct="1"/>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1H Supply Gradual Recovery, Stronger Demand</a:t>
                  </a:r>
                  <a:endPar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grpSp>
          <p:grpSp>
            <p:nvGrpSpPr>
              <p:cNvPr id="101" name="그룹 52">
                <a:extLst>
                  <a:ext uri="{FF2B5EF4-FFF2-40B4-BE49-F238E27FC236}">
                    <a16:creationId xmlns:a16="http://schemas.microsoft.com/office/drawing/2014/main" id="{2E77B1EF-D5C1-E538-6DCD-B3BDF71750E7}"/>
                  </a:ext>
                </a:extLst>
              </p:cNvPr>
              <p:cNvGrpSpPr/>
              <p:nvPr/>
            </p:nvGrpSpPr>
            <p:grpSpPr>
              <a:xfrm>
                <a:off x="4684993" y="1383614"/>
                <a:ext cx="4077000" cy="280800"/>
                <a:chOff x="6246657" y="1854463"/>
                <a:chExt cx="5436000" cy="374400"/>
              </a:xfrm>
            </p:grpSpPr>
            <p:sp>
              <p:nvSpPr>
                <p:cNvPr id="102" name="Rectangle 215">
                  <a:extLst>
                    <a:ext uri="{FF2B5EF4-FFF2-40B4-BE49-F238E27FC236}">
                      <a16:creationId xmlns:a16="http://schemas.microsoft.com/office/drawing/2014/main" id="{F30D44CE-5BF6-24AF-B98E-37A43A222069}"/>
                    </a:ext>
                  </a:extLst>
                </p:cNvPr>
                <p:cNvSpPr>
                  <a:spLocks noChangeArrowheads="1"/>
                </p:cNvSpPr>
                <p:nvPr/>
              </p:nvSpPr>
              <p:spPr bwMode="auto">
                <a:xfrm>
                  <a:off x="6246657" y="1854463"/>
                  <a:ext cx="5436000"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103" name="TextBox 116">
                  <a:extLst>
                    <a:ext uri="{FF2B5EF4-FFF2-40B4-BE49-F238E27FC236}">
                      <a16:creationId xmlns:a16="http://schemas.microsoft.com/office/drawing/2014/main" id="{47F634DF-7807-E873-9E4D-2C5DD4CE55D2}"/>
                    </a:ext>
                  </a:extLst>
                </p:cNvPr>
                <p:cNvSpPr txBox="1">
                  <a:spLocks noChangeArrowheads="1"/>
                </p:cNvSpPr>
                <p:nvPr/>
              </p:nvSpPr>
              <p:spPr bwMode="auto">
                <a:xfrm>
                  <a:off x="6404665" y="1907501"/>
                  <a:ext cx="511998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algn="ctr" defTabSz="1038977" eaLnBrk="1" hangingPunct="1"/>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Freighter Capacity↑</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 Led by NE Asia-</a:t>
                  </a:r>
                  <a:r>
                    <a:rPr kumimoji="0" lang="en-US" altLang="ko-KR" sz="1600" dirty="0" err="1">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N.America</a:t>
                  </a:r>
                  <a:endParaRPr kumimoji="0" lang="ko-KR" altLang="en-US"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grpSp>
        </p:grpSp>
        <p:grpSp>
          <p:nvGrpSpPr>
            <p:cNvPr id="85" name="그룹 62">
              <a:extLst>
                <a:ext uri="{FF2B5EF4-FFF2-40B4-BE49-F238E27FC236}">
                  <a16:creationId xmlns:a16="http://schemas.microsoft.com/office/drawing/2014/main" id="{89DAC4FA-44B8-791A-B3FD-5A955E59DEC9}"/>
                </a:ext>
              </a:extLst>
            </p:cNvPr>
            <p:cNvGrpSpPr/>
            <p:nvPr/>
          </p:nvGrpSpPr>
          <p:grpSpPr>
            <a:xfrm>
              <a:off x="386534" y="1461600"/>
              <a:ext cx="585066" cy="276223"/>
              <a:chOff x="-1523239" y="1275702"/>
              <a:chExt cx="564992" cy="357603"/>
            </a:xfrm>
          </p:grpSpPr>
          <p:sp>
            <p:nvSpPr>
              <p:cNvPr id="89" name="자유형 63">
                <a:extLst>
                  <a:ext uri="{FF2B5EF4-FFF2-40B4-BE49-F238E27FC236}">
                    <a16:creationId xmlns:a16="http://schemas.microsoft.com/office/drawing/2014/main" id="{C8823E62-8A8F-6BDF-22B9-C3634B0463DF}"/>
                  </a:ext>
                </a:extLst>
              </p:cNvPr>
              <p:cNvSpPr/>
              <p:nvPr/>
            </p:nvSpPr>
            <p:spPr>
              <a:xfrm>
                <a:off x="-1523239" y="1275702"/>
                <a:ext cx="564991" cy="357603"/>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90" name="자유형 64">
                <a:extLst>
                  <a:ext uri="{FF2B5EF4-FFF2-40B4-BE49-F238E27FC236}">
                    <a16:creationId xmlns:a16="http://schemas.microsoft.com/office/drawing/2014/main" id="{19D3D275-4326-A2D9-7139-AB7896B9126A}"/>
                  </a:ext>
                </a:extLst>
              </p:cNvPr>
              <p:cNvSpPr/>
              <p:nvPr/>
            </p:nvSpPr>
            <p:spPr>
              <a:xfrm>
                <a:off x="-1523239" y="1275702"/>
                <a:ext cx="564992" cy="357603"/>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grpSp>
        <p:grpSp>
          <p:nvGrpSpPr>
            <p:cNvPr id="86" name="그룹 62">
              <a:extLst>
                <a:ext uri="{FF2B5EF4-FFF2-40B4-BE49-F238E27FC236}">
                  <a16:creationId xmlns:a16="http://schemas.microsoft.com/office/drawing/2014/main" id="{C75155F5-38EF-F848-41BC-CB396915951D}"/>
                </a:ext>
              </a:extLst>
            </p:cNvPr>
            <p:cNvGrpSpPr/>
            <p:nvPr/>
          </p:nvGrpSpPr>
          <p:grpSpPr>
            <a:xfrm>
              <a:off x="4686893" y="1462337"/>
              <a:ext cx="585066" cy="276223"/>
              <a:chOff x="-1523239" y="1275702"/>
              <a:chExt cx="564992" cy="357603"/>
            </a:xfrm>
          </p:grpSpPr>
          <p:sp>
            <p:nvSpPr>
              <p:cNvPr id="87" name="자유형 63">
                <a:extLst>
                  <a:ext uri="{FF2B5EF4-FFF2-40B4-BE49-F238E27FC236}">
                    <a16:creationId xmlns:a16="http://schemas.microsoft.com/office/drawing/2014/main" id="{042E32C4-C202-7E86-FB1E-1B7D7942BD13}"/>
                  </a:ext>
                </a:extLst>
              </p:cNvPr>
              <p:cNvSpPr/>
              <p:nvPr/>
            </p:nvSpPr>
            <p:spPr>
              <a:xfrm>
                <a:off x="-1523239" y="1275702"/>
                <a:ext cx="564991" cy="357603"/>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88" name="자유형 64">
                <a:extLst>
                  <a:ext uri="{FF2B5EF4-FFF2-40B4-BE49-F238E27FC236}">
                    <a16:creationId xmlns:a16="http://schemas.microsoft.com/office/drawing/2014/main" id="{6716A880-5BF1-5D37-E024-B3A7B9EA3E54}"/>
                  </a:ext>
                </a:extLst>
              </p:cNvPr>
              <p:cNvSpPr/>
              <p:nvPr/>
            </p:nvSpPr>
            <p:spPr>
              <a:xfrm>
                <a:off x="-1523239" y="1275702"/>
                <a:ext cx="564992" cy="357603"/>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grpSp>
      </p:grpSp>
      <p:pic>
        <p:nvPicPr>
          <p:cNvPr id="106" name="Picture 200" descr="악세사리">
            <a:extLst>
              <a:ext uri="{FF2B5EF4-FFF2-40B4-BE49-F238E27FC236}">
                <a16:creationId xmlns:a16="http://schemas.microsoft.com/office/drawing/2014/main" id="{F025589C-3CC0-E242-8952-3A1FF103FEF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339689" y="4546810"/>
            <a:ext cx="3535193" cy="91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7" name="TextBox 106">
            <a:extLst>
              <a:ext uri="{FF2B5EF4-FFF2-40B4-BE49-F238E27FC236}">
                <a16:creationId xmlns:a16="http://schemas.microsoft.com/office/drawing/2014/main" id="{B7809B73-68C3-E312-09AA-5D42838524B8}"/>
              </a:ext>
            </a:extLst>
          </p:cNvPr>
          <p:cNvSpPr txBox="1"/>
          <p:nvPr/>
        </p:nvSpPr>
        <p:spPr>
          <a:xfrm>
            <a:off x="525890" y="6498737"/>
            <a:ext cx="1375377" cy="153888"/>
          </a:xfrm>
          <a:prstGeom prst="rect">
            <a:avLst/>
          </a:prstGeom>
          <a:noFill/>
        </p:spPr>
        <p:txBody>
          <a:bodyPr wrap="none" lIns="0" tIns="0" rIns="0" bIns="0" rtlCol="0" anchor="ctr">
            <a:spAutoFit/>
          </a:bodyPr>
          <a:lstStyle/>
          <a:p>
            <a:pPr latinLnBrk="0"/>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Source : IATA / Seabury</a:t>
            </a:r>
          </a:p>
        </p:txBody>
      </p:sp>
      <p:sp>
        <p:nvSpPr>
          <p:cNvPr id="117" name="TextBox 116">
            <a:extLst>
              <a:ext uri="{FF2B5EF4-FFF2-40B4-BE49-F238E27FC236}">
                <a16:creationId xmlns:a16="http://schemas.microsoft.com/office/drawing/2014/main" id="{74707D99-56B1-31F9-02A4-5D09D3313D02}"/>
              </a:ext>
            </a:extLst>
          </p:cNvPr>
          <p:cNvSpPr txBox="1"/>
          <p:nvPr/>
        </p:nvSpPr>
        <p:spPr>
          <a:xfrm>
            <a:off x="7658058" y="2662016"/>
            <a:ext cx="2895473" cy="184666"/>
          </a:xfrm>
          <a:prstGeom prst="rect">
            <a:avLst/>
          </a:prstGeom>
          <a:noFill/>
        </p:spPr>
        <p:txBody>
          <a:bodyPr wrap="none" lIns="0" tIns="0" rIns="0" bIns="0" rtlCol="0" anchor="ctr">
            <a:spAutoFit/>
          </a:bodyPr>
          <a:lstStyle/>
          <a:p>
            <a:pPr lvl="0" algn="ctr">
              <a:defRPr lang="ko-KR" altLang="en-US" sz="1200" b="1" i="0" u="none" strike="noStrike" kern="1200" spc="0" baseline="0">
                <a:solidFill>
                  <a:prstClr val="black">
                    <a:lumMod val="65000"/>
                    <a:lumOff val="35000"/>
                  </a:prstClr>
                </a:solidFill>
                <a:latin typeface="나눔스퀘어" panose="020B0600000101010101" pitchFamily="50" charset="-127"/>
                <a:ea typeface="나눔스퀘어" panose="020B0600000101010101" pitchFamily="50" charset="-127"/>
                <a:cs typeface="+mn-cs"/>
              </a:defRPr>
            </a:pPr>
            <a:r>
              <a:rPr lang="en-US" altLang="ko-KR" sz="1200" b="1" dirty="0" smtClean="0">
                <a:solidFill>
                  <a:prstClr val="black">
                    <a:lumMod val="65000"/>
                    <a:lumOff val="35000"/>
                  </a:prstClr>
                </a:solidFill>
                <a:latin typeface="나눔스퀘어" panose="020B0600000101010101" pitchFamily="50" charset="-127"/>
                <a:ea typeface="나눔스퀘어" panose="020B0600000101010101" pitchFamily="50" charset="-127"/>
              </a:rPr>
              <a:t>['25-</a:t>
            </a:r>
            <a:r>
              <a:rPr lang="en-US" altLang="ko-KR" sz="1200" b="1" dirty="0" smtClean="0"/>
              <a:t>'26</a:t>
            </a:r>
            <a:r>
              <a:rPr lang="en-US" altLang="ko-KR" sz="1200" b="1" dirty="0" smtClean="0">
                <a:solidFill>
                  <a:prstClr val="black">
                    <a:lumMod val="65000"/>
                    <a:lumOff val="35000"/>
                  </a:prstClr>
                </a:solidFill>
                <a:latin typeface="나눔스퀘어" panose="020B0600000101010101" pitchFamily="50" charset="-127"/>
                <a:ea typeface="나눔스퀘어" panose="020B0600000101010101" pitchFamily="50" charset="-127"/>
              </a:rPr>
              <a:t> Cargo Capacity by Aircraft Type]</a:t>
            </a:r>
            <a:endParaRPr lang="en-US" altLang="ko-KR" sz="1200" b="1" dirty="0">
              <a:solidFill>
                <a:prstClr val="black">
                  <a:lumMod val="65000"/>
                  <a:lumOff val="35000"/>
                </a:prstClr>
              </a:solidFill>
              <a:latin typeface="나눔스퀘어" panose="020B0600000101010101" pitchFamily="50" charset="-127"/>
              <a:ea typeface="나눔스퀘어" panose="020B0600000101010101" pitchFamily="50" charset="-127"/>
            </a:endParaRPr>
          </a:p>
        </p:txBody>
      </p:sp>
      <p:sp>
        <p:nvSpPr>
          <p:cNvPr id="128" name="슬라이드 번호 개체 틀 5">
            <a:extLst>
              <a:ext uri="{FF2B5EF4-FFF2-40B4-BE49-F238E27FC236}">
                <a16:creationId xmlns:a16="http://schemas.microsoft.com/office/drawing/2014/main" id="{5BB02739-51E3-22BF-D703-5BF717CFADA8}"/>
              </a:ext>
            </a:extLst>
          </p:cNvPr>
          <p:cNvSpPr txBox="1">
            <a:spLocks/>
          </p:cNvSpPr>
          <p:nvPr/>
        </p:nvSpPr>
        <p:spPr>
          <a:xfrm>
            <a:off x="5419725" y="6426152"/>
            <a:ext cx="788332" cy="326455"/>
          </a:xfrm>
          <a:prstGeom prst="rect">
            <a:avLst/>
          </a:prstGeom>
        </p:spPr>
        <p:txBody>
          <a:bodyPr lIns="162531" tIns="81264" rIns="162531" bIns="81264" anchor="ctr"/>
          <a:lstStyle>
            <a:lvl1pPr algn="r">
              <a:defRPr sz="1200">
                <a:solidFill>
                  <a:schemeClr val="tx1">
                    <a:tint val="75000"/>
                  </a:schemeClr>
                </a:solidFill>
              </a:defRPr>
            </a:lvl1pPr>
          </a:lstStyle>
          <a:p>
            <a:pPr defTabSz="1219048">
              <a:defRPr/>
            </a:pPr>
            <a:r>
              <a:rPr lang="en-US" altLang="ko-KR"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rPr>
              <a:t>6</a:t>
            </a:r>
            <a:endParaRPr lang="ko-KR" altLang="en-US"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endParaRPr>
          </a:p>
        </p:txBody>
      </p:sp>
      <p:graphicFrame>
        <p:nvGraphicFramePr>
          <p:cNvPr id="65" name="Chart 18">
            <a:extLst>
              <a:ext uri="{FF2B5EF4-FFF2-40B4-BE49-F238E27FC236}">
                <a16:creationId xmlns:a16="http://schemas.microsoft.com/office/drawing/2014/main" id="{EE9E5360-0F3F-6A5E-D425-338224BF6B85}"/>
              </a:ext>
            </a:extLst>
          </p:cNvPr>
          <p:cNvGraphicFramePr/>
          <p:nvPr>
            <p:extLst/>
          </p:nvPr>
        </p:nvGraphicFramePr>
        <p:xfrm>
          <a:off x="589551" y="2552283"/>
          <a:ext cx="5313030" cy="3765600"/>
        </p:xfrm>
        <a:graphic>
          <a:graphicData uri="http://schemas.openxmlformats.org/drawingml/2006/chart">
            <c:chart xmlns:c="http://schemas.openxmlformats.org/drawingml/2006/chart" xmlns:r="http://schemas.openxmlformats.org/officeDocument/2006/relationships" r:id="rId4"/>
          </a:graphicData>
        </a:graphic>
      </p:graphicFrame>
      <p:sp>
        <p:nvSpPr>
          <p:cNvPr id="45" name="TextBox 44">
            <a:extLst>
              <a:ext uri="{FF2B5EF4-FFF2-40B4-BE49-F238E27FC236}">
                <a16:creationId xmlns:a16="http://schemas.microsoft.com/office/drawing/2014/main" id="{F419EC2A-DA12-DE70-177E-D060836EC73B}"/>
              </a:ext>
            </a:extLst>
          </p:cNvPr>
          <p:cNvSpPr txBox="1"/>
          <p:nvPr/>
        </p:nvSpPr>
        <p:spPr>
          <a:xfrm>
            <a:off x="6340198" y="2826811"/>
            <a:ext cx="938754" cy="138499"/>
          </a:xfrm>
          <a:prstGeom prst="rect">
            <a:avLst/>
          </a:prstGeom>
          <a:noFill/>
        </p:spPr>
        <p:txBody>
          <a:bodyPr wrap="square" lIns="0" tIns="0" rIns="0" bIns="0" rtlCol="0" anchor="ctr">
            <a:spAutoFit/>
          </a:bodyPr>
          <a:lstStyle/>
          <a:p>
            <a:pPr latinLnBrk="0"/>
            <a:r>
              <a:rPr lang="en-US" altLang="ko-KR"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(k </a:t>
            </a:r>
            <a:r>
              <a:rPr lang="en-US" altLang="ko-KR" sz="900" dirty="0" err="1"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tonnes</a:t>
            </a:r>
            <a:r>
              <a:rPr lang="en-US" altLang="ko-KR"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/week)</a:t>
            </a:r>
          </a:p>
        </p:txBody>
      </p:sp>
      <p:sp>
        <p:nvSpPr>
          <p:cNvPr id="46" name="TextBox 45">
            <a:extLst>
              <a:ext uri="{FF2B5EF4-FFF2-40B4-BE49-F238E27FC236}">
                <a16:creationId xmlns:a16="http://schemas.microsoft.com/office/drawing/2014/main" id="{F419EC2A-DA12-DE70-177E-D060836EC73B}"/>
              </a:ext>
            </a:extLst>
          </p:cNvPr>
          <p:cNvSpPr txBox="1"/>
          <p:nvPr/>
        </p:nvSpPr>
        <p:spPr>
          <a:xfrm>
            <a:off x="10430648" y="3031450"/>
            <a:ext cx="1624769" cy="138499"/>
          </a:xfrm>
          <a:prstGeom prst="rect">
            <a:avLst/>
          </a:prstGeom>
          <a:noFill/>
        </p:spPr>
        <p:txBody>
          <a:bodyPr wrap="square" lIns="0" tIns="0" rIns="0" bIns="0" rtlCol="0" anchor="ctr">
            <a:spAutoFit/>
          </a:bodyPr>
          <a:lstStyle/>
          <a:p>
            <a:pPr latinLnBrk="0"/>
            <a:r>
              <a:rPr lang="en-US" altLang="ko-KR"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*Seabury, May 27- June 21</a:t>
            </a:r>
          </a:p>
        </p:txBody>
      </p:sp>
      <p:pic>
        <p:nvPicPr>
          <p:cNvPr id="48" name="Image 0" descr="preencoded.png"/>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6233287" y="3001443"/>
            <a:ext cx="4213356" cy="2346970"/>
          </a:xfrm>
          <a:prstGeom prst="rect">
            <a:avLst/>
          </a:prstGeom>
        </p:spPr>
      </p:pic>
      <p:sp>
        <p:nvSpPr>
          <p:cNvPr id="49" name="Text 4"/>
          <p:cNvSpPr/>
          <p:nvPr/>
        </p:nvSpPr>
        <p:spPr>
          <a:xfrm>
            <a:off x="10404681" y="3301287"/>
            <a:ext cx="723900" cy="344686"/>
          </a:xfrm>
          <a:prstGeom prst="rect">
            <a:avLst/>
          </a:prstGeom>
          <a:noFill/>
          <a:ln/>
        </p:spPr>
        <p:txBody>
          <a:bodyPr wrap="square" lIns="25400" tIns="25400" rIns="25400" bIns="25400" rtlCol="0" anchor="t">
            <a:normAutofit/>
          </a:bodyPr>
          <a:lstStyle/>
          <a:p>
            <a:pPr marL="0" indent="0" algn="ctr">
              <a:lnSpc>
                <a:spcPct val="115000"/>
              </a:lnSpc>
              <a:buNone/>
            </a:pPr>
            <a:r>
              <a:rPr lang="en-US" sz="1000" dirty="0" smtClean="0">
                <a:solidFill>
                  <a:srgbClr val="1C2127"/>
                </a:solidFill>
                <a:latin typeface="나눔스퀘어 Bold" panose="020B0600000101010101" pitchFamily="50" charset="-127"/>
                <a:ea typeface="나눔스퀘어 Bold" panose="020B0600000101010101" pitchFamily="50" charset="-127"/>
              </a:rPr>
              <a:t>YOY</a:t>
            </a:r>
            <a:endParaRPr lang="en-US" sz="1000" dirty="0">
              <a:latin typeface="나눔스퀘어 Bold" panose="020B0600000101010101" pitchFamily="50" charset="-127"/>
              <a:ea typeface="나눔스퀘어 Bold" panose="020B0600000101010101" pitchFamily="50" charset="-127"/>
            </a:endParaRPr>
          </a:p>
        </p:txBody>
      </p:sp>
      <p:sp>
        <p:nvSpPr>
          <p:cNvPr id="50" name="Text 5"/>
          <p:cNvSpPr/>
          <p:nvPr/>
        </p:nvSpPr>
        <p:spPr>
          <a:xfrm>
            <a:off x="11028756" y="3218850"/>
            <a:ext cx="929218" cy="328533"/>
          </a:xfrm>
          <a:prstGeom prst="rect">
            <a:avLst/>
          </a:prstGeom>
          <a:noFill/>
          <a:ln/>
        </p:spPr>
        <p:txBody>
          <a:bodyPr wrap="square" lIns="25400" tIns="25400" rIns="25400" bIns="25400" rtlCol="0" anchor="t">
            <a:noAutofit/>
          </a:bodyPr>
          <a:lstStyle/>
          <a:p>
            <a:pPr marL="0" indent="0" algn="ctr">
              <a:lnSpc>
                <a:spcPct val="115000"/>
              </a:lnSpc>
              <a:buNone/>
            </a:pPr>
            <a:r>
              <a:rPr lang="en-US" sz="1000" dirty="0">
                <a:solidFill>
                  <a:srgbClr val="1C2127"/>
                </a:solidFill>
                <a:latin typeface="나눔스퀘어 Bold" panose="020B0600000101010101" pitchFamily="50" charset="-127"/>
                <a:ea typeface="나눔스퀘어 Bold" panose="020B0600000101010101" pitchFamily="50" charset="-127"/>
                <a:cs typeface="Noto Sans KR" pitchFamily="34" charset="-120"/>
              </a:rPr>
              <a:t>v</a:t>
            </a:r>
            <a:r>
              <a:rPr lang="en-US" sz="1000" dirty="0" smtClean="0">
                <a:solidFill>
                  <a:srgbClr val="1C2127"/>
                </a:solidFill>
                <a:latin typeface="나눔스퀘어 Bold" panose="020B0600000101010101" pitchFamily="50" charset="-127"/>
                <a:ea typeface="나눔스퀘어 Bold" panose="020B0600000101010101" pitchFamily="50" charset="-127"/>
                <a:cs typeface="Noto Sans KR" pitchFamily="34" charset="-120"/>
              </a:rPr>
              <a:t>s. </a:t>
            </a:r>
          </a:p>
          <a:p>
            <a:pPr marL="0" indent="0" algn="ctr">
              <a:lnSpc>
                <a:spcPct val="115000"/>
              </a:lnSpc>
              <a:buNone/>
            </a:pPr>
            <a:r>
              <a:rPr lang="en-US" sz="1000" dirty="0">
                <a:solidFill>
                  <a:srgbClr val="1C2127"/>
                </a:solidFill>
                <a:latin typeface="나눔스퀘어 Bold" panose="020B0600000101010101" pitchFamily="50" charset="-127"/>
                <a:ea typeface="나눔스퀘어 Bold" panose="020B0600000101010101" pitchFamily="50" charset="-127"/>
                <a:cs typeface="Noto Sans KR" pitchFamily="34" charset="-120"/>
              </a:rPr>
              <a:t>l</a:t>
            </a:r>
            <a:r>
              <a:rPr lang="en-US" sz="1000" dirty="0" smtClean="0">
                <a:solidFill>
                  <a:srgbClr val="1C2127"/>
                </a:solidFill>
                <a:latin typeface="나눔스퀘어 Bold" panose="020B0600000101010101" pitchFamily="50" charset="-127"/>
                <a:ea typeface="나눔스퀘어 Bold" panose="020B0600000101010101" pitchFamily="50" charset="-127"/>
                <a:cs typeface="Noto Sans KR" pitchFamily="34" charset="-120"/>
              </a:rPr>
              <a:t>atest 4W</a:t>
            </a:r>
            <a:endParaRPr lang="en-US" sz="1000" dirty="0">
              <a:latin typeface="나눔스퀘어 Bold" panose="020B0600000101010101" pitchFamily="50" charset="-127"/>
              <a:ea typeface="나눔스퀘어 Bold" panose="020B0600000101010101" pitchFamily="50" charset="-127"/>
            </a:endParaRPr>
          </a:p>
        </p:txBody>
      </p:sp>
      <p:sp>
        <p:nvSpPr>
          <p:cNvPr id="51" name="Text 6"/>
          <p:cNvSpPr/>
          <p:nvPr/>
        </p:nvSpPr>
        <p:spPr>
          <a:xfrm>
            <a:off x="9304346" y="4789663"/>
            <a:ext cx="925276" cy="278011"/>
          </a:xfrm>
          <a:prstGeom prst="rect">
            <a:avLst/>
          </a:prstGeom>
          <a:noFill/>
          <a:ln/>
        </p:spPr>
        <p:txBody>
          <a:bodyPr wrap="square" lIns="25400" tIns="25400" rIns="25400" bIns="25400" rtlCol="0" anchor="t">
            <a:normAutofit/>
          </a:bodyPr>
          <a:lstStyle/>
          <a:p>
            <a:pPr marL="0" indent="0" algn="r">
              <a:buNone/>
            </a:pPr>
            <a:r>
              <a:rPr lang="en-US" sz="1000" dirty="0" smtClean="0">
                <a:solidFill>
                  <a:srgbClr val="1C2127"/>
                </a:solidFill>
                <a:latin typeface="나눔스퀘어 Bold" panose="020B0600000101010101" pitchFamily="50" charset="-127"/>
                <a:ea typeface="나눔스퀘어 Bold" panose="020B0600000101010101" pitchFamily="50" charset="-127"/>
              </a:rPr>
              <a:t>Total capacity</a:t>
            </a:r>
            <a:endParaRPr lang="en-US" sz="1000" dirty="0">
              <a:latin typeface="나눔스퀘어 Bold" panose="020B0600000101010101" pitchFamily="50" charset="-127"/>
              <a:ea typeface="나눔스퀘어 Bold" panose="020B0600000101010101" pitchFamily="50" charset="-127"/>
            </a:endParaRPr>
          </a:p>
        </p:txBody>
      </p:sp>
      <p:sp>
        <p:nvSpPr>
          <p:cNvPr id="52" name="Text 7"/>
          <p:cNvSpPr/>
          <p:nvPr/>
        </p:nvSpPr>
        <p:spPr>
          <a:xfrm>
            <a:off x="10360463" y="4788067"/>
            <a:ext cx="723900" cy="266700"/>
          </a:xfrm>
          <a:prstGeom prst="rect">
            <a:avLst/>
          </a:prstGeom>
          <a:noFill/>
          <a:ln/>
        </p:spPr>
        <p:txBody>
          <a:bodyPr wrap="square" lIns="25400" tIns="25400" rIns="25400" bIns="25400" rtlCol="0" anchor="t">
            <a:normAutofit/>
          </a:bodyPr>
          <a:lstStyle/>
          <a:p>
            <a:pPr marL="0" indent="0" algn="r">
              <a:buNone/>
            </a:pPr>
            <a:r>
              <a:rPr lang="en-US" sz="1000" dirty="0">
                <a:solidFill>
                  <a:srgbClr val="001E54"/>
                </a:solidFill>
                <a:latin typeface="나눔스퀘어 Bold" panose="020B0600000101010101" pitchFamily="50" charset="-127"/>
                <a:ea typeface="나눔스퀘어 Bold" panose="020B0600000101010101" pitchFamily="50" charset="-127"/>
                <a:cs typeface="Noto Sans KR" pitchFamily="34" charset="-120"/>
              </a:rPr>
              <a:t>+1.8%</a:t>
            </a:r>
            <a:endParaRPr lang="en-US" sz="1000" dirty="0">
              <a:latin typeface="나눔스퀘어 Bold" panose="020B0600000101010101" pitchFamily="50" charset="-127"/>
              <a:ea typeface="나눔스퀘어 Bold" panose="020B0600000101010101" pitchFamily="50" charset="-127"/>
            </a:endParaRPr>
          </a:p>
        </p:txBody>
      </p:sp>
      <p:sp>
        <p:nvSpPr>
          <p:cNvPr id="53" name="Text 8"/>
          <p:cNvSpPr/>
          <p:nvPr/>
        </p:nvSpPr>
        <p:spPr>
          <a:xfrm>
            <a:off x="10767514" y="4788067"/>
            <a:ext cx="952500" cy="266700"/>
          </a:xfrm>
          <a:prstGeom prst="rect">
            <a:avLst/>
          </a:prstGeom>
          <a:noFill/>
          <a:ln/>
        </p:spPr>
        <p:txBody>
          <a:bodyPr wrap="square" lIns="25400" tIns="25400" rIns="25400" bIns="25400" rtlCol="0" anchor="t">
            <a:normAutofit/>
          </a:bodyPr>
          <a:lstStyle/>
          <a:p>
            <a:pPr marL="0" indent="0" algn="r">
              <a:buNone/>
            </a:pPr>
            <a:r>
              <a:rPr lang="en-US" sz="1000" dirty="0">
                <a:solidFill>
                  <a:srgbClr val="001E54"/>
                </a:solidFill>
                <a:latin typeface="나눔스퀘어 Bold" panose="020B0600000101010101" pitchFamily="50" charset="-127"/>
                <a:ea typeface="나눔스퀘어 Bold" panose="020B0600000101010101" pitchFamily="50" charset="-127"/>
                <a:cs typeface="Noto Sans KR" pitchFamily="34" charset="-120"/>
              </a:rPr>
              <a:t>+2.2%</a:t>
            </a:r>
            <a:endParaRPr lang="en-US" sz="1000" dirty="0">
              <a:latin typeface="나눔스퀘어 Bold" panose="020B0600000101010101" pitchFamily="50" charset="-127"/>
              <a:ea typeface="나눔스퀘어 Bold" panose="020B0600000101010101" pitchFamily="50" charset="-127"/>
            </a:endParaRPr>
          </a:p>
        </p:txBody>
      </p:sp>
      <p:sp>
        <p:nvSpPr>
          <p:cNvPr id="55" name="Text 9"/>
          <p:cNvSpPr/>
          <p:nvPr/>
        </p:nvSpPr>
        <p:spPr>
          <a:xfrm>
            <a:off x="9362589" y="3728134"/>
            <a:ext cx="1013440" cy="220861"/>
          </a:xfrm>
          <a:prstGeom prst="rect">
            <a:avLst/>
          </a:prstGeom>
          <a:noFill/>
          <a:ln/>
        </p:spPr>
        <p:txBody>
          <a:bodyPr wrap="square" lIns="25400" tIns="25400" rIns="25400" bIns="25400" rtlCol="0" anchor="t">
            <a:normAutofit fontScale="92500"/>
          </a:bodyPr>
          <a:lstStyle/>
          <a:p>
            <a:pPr marL="0" indent="0" algn="l">
              <a:lnSpc>
                <a:spcPct val="120000"/>
              </a:lnSpc>
              <a:buNone/>
            </a:pPr>
            <a:r>
              <a:rPr lang="en-US" sz="1000" dirty="0" smtClean="0">
                <a:solidFill>
                  <a:srgbClr val="001E54"/>
                </a:solidFill>
                <a:latin typeface="나눔스퀘어 Bold" panose="020B0600000101010101" pitchFamily="50" charset="-127"/>
                <a:ea typeface="나눔스퀘어 Bold" panose="020B0600000101010101" pitchFamily="50" charset="-127"/>
                <a:cs typeface="Noto Sans KR" pitchFamily="34" charset="-120"/>
              </a:rPr>
              <a:t>Freighters </a:t>
            </a:r>
            <a:r>
              <a:rPr lang="en-US" sz="1000" dirty="0">
                <a:solidFill>
                  <a:srgbClr val="001E54"/>
                </a:solidFill>
                <a:latin typeface="나눔스퀘어 Bold" panose="020B0600000101010101" pitchFamily="50" charset="-127"/>
                <a:ea typeface="나눔스퀘어 Bold" panose="020B0600000101010101" pitchFamily="50" charset="-127"/>
                <a:cs typeface="Noto Sans KR" pitchFamily="34" charset="-120"/>
              </a:rPr>
              <a:t>(41%)</a:t>
            </a:r>
            <a:endParaRPr lang="en-US" sz="1000" dirty="0">
              <a:latin typeface="나눔스퀘어 Bold" panose="020B0600000101010101" pitchFamily="50" charset="-127"/>
              <a:ea typeface="나눔스퀘어 Bold" panose="020B0600000101010101" pitchFamily="50" charset="-127"/>
            </a:endParaRPr>
          </a:p>
        </p:txBody>
      </p:sp>
      <p:sp>
        <p:nvSpPr>
          <p:cNvPr id="56" name="Text 10"/>
          <p:cNvSpPr/>
          <p:nvPr/>
        </p:nvSpPr>
        <p:spPr>
          <a:xfrm>
            <a:off x="10359580" y="3717722"/>
            <a:ext cx="723900" cy="266700"/>
          </a:xfrm>
          <a:prstGeom prst="rect">
            <a:avLst/>
          </a:prstGeom>
          <a:noFill/>
          <a:ln/>
        </p:spPr>
        <p:txBody>
          <a:bodyPr wrap="square" lIns="25400" tIns="25400" rIns="25400" bIns="25400" rtlCol="0" anchor="t">
            <a:normAutofit/>
          </a:bodyPr>
          <a:lstStyle/>
          <a:p>
            <a:pPr marL="0" indent="0" algn="r">
              <a:buNone/>
            </a:pPr>
            <a:r>
              <a:rPr lang="en-US" sz="1000" dirty="0">
                <a:solidFill>
                  <a:srgbClr val="001E54"/>
                </a:solidFill>
                <a:latin typeface="나눔스퀘어 Bold" panose="020B0600000101010101" pitchFamily="50" charset="-127"/>
                <a:ea typeface="나눔스퀘어 Bold" panose="020B0600000101010101" pitchFamily="50" charset="-127"/>
                <a:cs typeface="Noto Sans KR" pitchFamily="34" charset="-120"/>
              </a:rPr>
              <a:t>+6.3%</a:t>
            </a:r>
            <a:endParaRPr lang="en-US" sz="1000" dirty="0">
              <a:latin typeface="나눔스퀘어 Bold" panose="020B0600000101010101" pitchFamily="50" charset="-127"/>
              <a:ea typeface="나눔스퀘어 Bold" panose="020B0600000101010101" pitchFamily="50" charset="-127"/>
            </a:endParaRPr>
          </a:p>
        </p:txBody>
      </p:sp>
      <p:sp>
        <p:nvSpPr>
          <p:cNvPr id="57" name="Text 11"/>
          <p:cNvSpPr/>
          <p:nvPr/>
        </p:nvSpPr>
        <p:spPr>
          <a:xfrm>
            <a:off x="10766631" y="3717722"/>
            <a:ext cx="952500" cy="266700"/>
          </a:xfrm>
          <a:prstGeom prst="rect">
            <a:avLst/>
          </a:prstGeom>
          <a:noFill/>
          <a:ln/>
        </p:spPr>
        <p:txBody>
          <a:bodyPr wrap="square" lIns="25400" tIns="25400" rIns="25400" bIns="25400" rtlCol="0" anchor="t">
            <a:normAutofit/>
          </a:bodyPr>
          <a:lstStyle/>
          <a:p>
            <a:pPr marL="0" indent="0" algn="r">
              <a:buNone/>
            </a:pPr>
            <a:r>
              <a:rPr lang="en-US" sz="1000" dirty="0">
                <a:solidFill>
                  <a:srgbClr val="001E54"/>
                </a:solidFill>
                <a:latin typeface="나눔스퀘어 Bold" panose="020B0600000101010101" pitchFamily="50" charset="-127"/>
                <a:ea typeface="나눔스퀘어 Bold" panose="020B0600000101010101" pitchFamily="50" charset="-127"/>
                <a:cs typeface="Noto Sans KR" pitchFamily="34" charset="-120"/>
              </a:rPr>
              <a:t>+1.1%</a:t>
            </a:r>
            <a:endParaRPr lang="en-US" sz="1000" dirty="0">
              <a:latin typeface="나눔스퀘어 Bold" panose="020B0600000101010101" pitchFamily="50" charset="-127"/>
              <a:ea typeface="나눔스퀘어 Bold" panose="020B0600000101010101" pitchFamily="50" charset="-127"/>
            </a:endParaRPr>
          </a:p>
        </p:txBody>
      </p:sp>
      <p:sp>
        <p:nvSpPr>
          <p:cNvPr id="67" name="Text 12"/>
          <p:cNvSpPr/>
          <p:nvPr/>
        </p:nvSpPr>
        <p:spPr>
          <a:xfrm>
            <a:off x="9354037" y="3973664"/>
            <a:ext cx="1335330" cy="243719"/>
          </a:xfrm>
          <a:prstGeom prst="rect">
            <a:avLst/>
          </a:prstGeom>
          <a:noFill/>
          <a:ln/>
        </p:spPr>
        <p:txBody>
          <a:bodyPr wrap="square" lIns="25400" tIns="25400" rIns="25400" bIns="25400" rtlCol="0" anchor="t">
            <a:noAutofit/>
          </a:bodyPr>
          <a:lstStyle/>
          <a:p>
            <a:pPr marL="0" indent="0" algn="l">
              <a:lnSpc>
                <a:spcPct val="120000"/>
              </a:lnSpc>
              <a:buNone/>
            </a:pPr>
            <a:r>
              <a:rPr lang="en-US" altLang="ko-KR" sz="900" dirty="0" smtClean="0">
                <a:solidFill>
                  <a:srgbClr val="00B4B0"/>
                </a:solidFill>
                <a:latin typeface="나눔스퀘어 Bold" panose="020B0600000101010101" pitchFamily="50" charset="-127"/>
                <a:ea typeface="나눔스퀘어 Bold" panose="020B0600000101010101" pitchFamily="50" charset="-127"/>
                <a:cs typeface="Noto Sans KR" pitchFamily="34" charset="-120"/>
              </a:rPr>
              <a:t>Passenger belly </a:t>
            </a:r>
            <a:r>
              <a:rPr lang="en-US" sz="900" dirty="0" smtClean="0">
                <a:solidFill>
                  <a:srgbClr val="00B4B0"/>
                </a:solidFill>
                <a:latin typeface="나눔스퀘어 Bold" panose="020B0600000101010101" pitchFamily="50" charset="-127"/>
                <a:ea typeface="나눔스퀘어 Bold" panose="020B0600000101010101" pitchFamily="50" charset="-127"/>
                <a:cs typeface="Noto Sans KR" pitchFamily="34" charset="-120"/>
              </a:rPr>
              <a:t>(</a:t>
            </a:r>
            <a:r>
              <a:rPr lang="en-US" sz="900" dirty="0">
                <a:solidFill>
                  <a:srgbClr val="00B4B0"/>
                </a:solidFill>
                <a:latin typeface="나눔스퀘어 Bold" panose="020B0600000101010101" pitchFamily="50" charset="-127"/>
                <a:ea typeface="나눔스퀘어 Bold" panose="020B0600000101010101" pitchFamily="50" charset="-127"/>
                <a:cs typeface="Noto Sans KR" pitchFamily="34" charset="-120"/>
              </a:rPr>
              <a:t>41</a:t>
            </a:r>
            <a:r>
              <a:rPr lang="en-US" sz="900" dirty="0" smtClean="0">
                <a:solidFill>
                  <a:srgbClr val="00B4B0"/>
                </a:solidFill>
                <a:latin typeface="나눔스퀘어 Bold" panose="020B0600000101010101" pitchFamily="50" charset="-127"/>
                <a:ea typeface="나눔스퀘어 Bold" panose="020B0600000101010101" pitchFamily="50" charset="-127"/>
                <a:cs typeface="Noto Sans KR" pitchFamily="34" charset="-120"/>
              </a:rPr>
              <a:t>%)</a:t>
            </a:r>
          </a:p>
          <a:p>
            <a:pPr marL="0" indent="0" algn="l">
              <a:lnSpc>
                <a:spcPct val="120000"/>
              </a:lnSpc>
              <a:buNone/>
            </a:pPr>
            <a:endParaRPr lang="en-US" sz="900" dirty="0">
              <a:latin typeface="나눔스퀘어 Bold" panose="020B0600000101010101" pitchFamily="50" charset="-127"/>
              <a:ea typeface="나눔스퀘어 Bold" panose="020B0600000101010101" pitchFamily="50" charset="-127"/>
            </a:endParaRPr>
          </a:p>
        </p:txBody>
      </p:sp>
      <p:sp>
        <p:nvSpPr>
          <p:cNvPr id="69" name="Text 14"/>
          <p:cNvSpPr/>
          <p:nvPr/>
        </p:nvSpPr>
        <p:spPr>
          <a:xfrm>
            <a:off x="10344717" y="4071119"/>
            <a:ext cx="723900" cy="266700"/>
          </a:xfrm>
          <a:prstGeom prst="rect">
            <a:avLst/>
          </a:prstGeom>
          <a:noFill/>
          <a:ln/>
        </p:spPr>
        <p:txBody>
          <a:bodyPr wrap="square" lIns="25400" tIns="25400" rIns="25400" bIns="25400" rtlCol="0" anchor="t">
            <a:normAutofit/>
          </a:bodyPr>
          <a:lstStyle/>
          <a:p>
            <a:pPr marL="0" indent="0" algn="r">
              <a:buNone/>
            </a:pPr>
            <a:r>
              <a:rPr lang="en-US" sz="1000" dirty="0">
                <a:solidFill>
                  <a:srgbClr val="001E54"/>
                </a:solidFill>
                <a:latin typeface="나눔스퀘어 Bold" panose="020B0600000101010101" pitchFamily="50" charset="-127"/>
                <a:ea typeface="나눔스퀘어 Bold" panose="020B0600000101010101" pitchFamily="50" charset="-127"/>
                <a:cs typeface="Noto Sans KR" pitchFamily="34" charset="-120"/>
              </a:rPr>
              <a:t>-2.8%</a:t>
            </a:r>
            <a:endParaRPr lang="en-US" sz="1000" dirty="0">
              <a:latin typeface="나눔스퀘어 Bold" panose="020B0600000101010101" pitchFamily="50" charset="-127"/>
              <a:ea typeface="나눔스퀘어 Bold" panose="020B0600000101010101" pitchFamily="50" charset="-127"/>
            </a:endParaRPr>
          </a:p>
        </p:txBody>
      </p:sp>
      <p:sp>
        <p:nvSpPr>
          <p:cNvPr id="70" name="Text 16"/>
          <p:cNvSpPr/>
          <p:nvPr/>
        </p:nvSpPr>
        <p:spPr>
          <a:xfrm>
            <a:off x="11179126" y="4071119"/>
            <a:ext cx="542925" cy="266700"/>
          </a:xfrm>
          <a:prstGeom prst="rect">
            <a:avLst/>
          </a:prstGeom>
          <a:noFill/>
          <a:ln/>
        </p:spPr>
        <p:txBody>
          <a:bodyPr wrap="square" lIns="25400" tIns="25400" rIns="25400" bIns="25400" rtlCol="0" anchor="t">
            <a:normAutofit/>
          </a:bodyPr>
          <a:lstStyle/>
          <a:p>
            <a:pPr marL="0" indent="0" algn="r">
              <a:buNone/>
            </a:pPr>
            <a:r>
              <a:rPr lang="en-US" sz="1000" dirty="0">
                <a:solidFill>
                  <a:srgbClr val="001E54"/>
                </a:solidFill>
                <a:latin typeface="나눔스퀘어 Bold" panose="020B0600000101010101" pitchFamily="50" charset="-127"/>
                <a:ea typeface="나눔스퀘어 Bold" panose="020B0600000101010101" pitchFamily="50" charset="-127"/>
                <a:cs typeface="Noto Sans KR" pitchFamily="34" charset="-120"/>
              </a:rPr>
              <a:t>+3.2%</a:t>
            </a:r>
            <a:endParaRPr lang="en-US" sz="1000" dirty="0">
              <a:latin typeface="나눔스퀘어 Bold" panose="020B0600000101010101" pitchFamily="50" charset="-127"/>
              <a:ea typeface="나눔스퀘어 Bold" panose="020B0600000101010101" pitchFamily="50" charset="-127"/>
            </a:endParaRPr>
          </a:p>
        </p:txBody>
      </p:sp>
      <p:sp>
        <p:nvSpPr>
          <p:cNvPr id="71" name="Text 17"/>
          <p:cNvSpPr/>
          <p:nvPr/>
        </p:nvSpPr>
        <p:spPr>
          <a:xfrm>
            <a:off x="9362588" y="4416360"/>
            <a:ext cx="916725" cy="220861"/>
          </a:xfrm>
          <a:prstGeom prst="rect">
            <a:avLst/>
          </a:prstGeom>
          <a:noFill/>
          <a:ln/>
        </p:spPr>
        <p:txBody>
          <a:bodyPr wrap="square" lIns="25400" tIns="25400" rIns="25400" bIns="25400" rtlCol="0" anchor="t">
            <a:normAutofit/>
          </a:bodyPr>
          <a:lstStyle/>
          <a:p>
            <a:pPr marL="0" indent="0" algn="l">
              <a:lnSpc>
                <a:spcPct val="120000"/>
              </a:lnSpc>
              <a:buNone/>
            </a:pPr>
            <a:r>
              <a:rPr lang="en-US" sz="900" dirty="0" smtClean="0">
                <a:solidFill>
                  <a:srgbClr val="9C9C9C"/>
                </a:solidFill>
                <a:latin typeface="나눔스퀘어 Bold" panose="020B0600000101010101" pitchFamily="50" charset="-127"/>
                <a:ea typeface="나눔스퀘어 Bold" panose="020B0600000101010101" pitchFamily="50" charset="-127"/>
                <a:cs typeface="Noto Sans KR" pitchFamily="34" charset="-120"/>
              </a:rPr>
              <a:t>Express </a:t>
            </a:r>
            <a:r>
              <a:rPr lang="en-US" sz="900" dirty="0">
                <a:solidFill>
                  <a:srgbClr val="9C9C9C"/>
                </a:solidFill>
                <a:latin typeface="나눔스퀘어 Bold" panose="020B0600000101010101" pitchFamily="50" charset="-127"/>
                <a:ea typeface="나눔스퀘어 Bold" panose="020B0600000101010101" pitchFamily="50" charset="-127"/>
                <a:cs typeface="Noto Sans KR" pitchFamily="34" charset="-120"/>
              </a:rPr>
              <a:t>(19%)</a:t>
            </a:r>
            <a:endParaRPr lang="en-US" sz="900" dirty="0">
              <a:latin typeface="나눔스퀘어 Bold" panose="020B0600000101010101" pitchFamily="50" charset="-127"/>
              <a:ea typeface="나눔스퀘어 Bold" panose="020B0600000101010101" pitchFamily="50" charset="-127"/>
            </a:endParaRPr>
          </a:p>
        </p:txBody>
      </p:sp>
      <p:sp>
        <p:nvSpPr>
          <p:cNvPr id="72" name="Text 18"/>
          <p:cNvSpPr/>
          <p:nvPr/>
        </p:nvSpPr>
        <p:spPr>
          <a:xfrm>
            <a:off x="10359580" y="4438321"/>
            <a:ext cx="723900" cy="266700"/>
          </a:xfrm>
          <a:prstGeom prst="rect">
            <a:avLst/>
          </a:prstGeom>
          <a:noFill/>
          <a:ln/>
        </p:spPr>
        <p:txBody>
          <a:bodyPr wrap="square" lIns="25400" tIns="25400" rIns="25400" bIns="25400" rtlCol="0" anchor="t">
            <a:normAutofit/>
          </a:bodyPr>
          <a:lstStyle/>
          <a:p>
            <a:pPr marL="0" indent="0" algn="r">
              <a:buNone/>
            </a:pPr>
            <a:r>
              <a:rPr lang="en-US" sz="1000" dirty="0">
                <a:solidFill>
                  <a:srgbClr val="001E54"/>
                </a:solidFill>
                <a:latin typeface="나눔스퀘어 Bold" panose="020B0600000101010101" pitchFamily="50" charset="-127"/>
                <a:ea typeface="나눔스퀘어 Bold" panose="020B0600000101010101" pitchFamily="50" charset="-127"/>
                <a:cs typeface="Noto Sans KR" pitchFamily="34" charset="-120"/>
              </a:rPr>
              <a:t>+2.9%</a:t>
            </a:r>
            <a:endParaRPr lang="en-US" sz="1000" dirty="0">
              <a:latin typeface="나눔스퀘어 Bold" panose="020B0600000101010101" pitchFamily="50" charset="-127"/>
              <a:ea typeface="나눔스퀘어 Bold" panose="020B0600000101010101" pitchFamily="50" charset="-127"/>
            </a:endParaRPr>
          </a:p>
        </p:txBody>
      </p:sp>
      <p:sp>
        <p:nvSpPr>
          <p:cNvPr id="73" name="Text 19"/>
          <p:cNvSpPr/>
          <p:nvPr/>
        </p:nvSpPr>
        <p:spPr>
          <a:xfrm>
            <a:off x="10766631" y="4438321"/>
            <a:ext cx="952500" cy="266700"/>
          </a:xfrm>
          <a:prstGeom prst="rect">
            <a:avLst/>
          </a:prstGeom>
          <a:noFill/>
          <a:ln/>
        </p:spPr>
        <p:txBody>
          <a:bodyPr wrap="square" lIns="25400" tIns="25400" rIns="25400" bIns="25400" rtlCol="0" anchor="t">
            <a:normAutofit/>
          </a:bodyPr>
          <a:lstStyle/>
          <a:p>
            <a:pPr marL="0" indent="0" algn="r">
              <a:buNone/>
            </a:pPr>
            <a:r>
              <a:rPr lang="en-US" sz="1000" dirty="0">
                <a:solidFill>
                  <a:srgbClr val="001E54"/>
                </a:solidFill>
                <a:latin typeface="나눔스퀘어 Bold" panose="020B0600000101010101" pitchFamily="50" charset="-127"/>
                <a:ea typeface="나눔스퀘어 Bold" panose="020B0600000101010101" pitchFamily="50" charset="-127"/>
                <a:cs typeface="Noto Sans KR" pitchFamily="34" charset="-120"/>
              </a:rPr>
              <a:t>+2.5%</a:t>
            </a:r>
            <a:endParaRPr lang="en-US" sz="1000" dirty="0">
              <a:latin typeface="나눔스퀘어 Bold" panose="020B0600000101010101" pitchFamily="50" charset="-127"/>
              <a:ea typeface="나눔스퀘어 Bold" panose="020B0600000101010101" pitchFamily="50" charset="-127"/>
            </a:endParaRPr>
          </a:p>
        </p:txBody>
      </p:sp>
      <p:pic>
        <p:nvPicPr>
          <p:cNvPr id="74" name="그림 73" descr="채점"/>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228021" y="4051499"/>
            <a:ext cx="530689" cy="305401"/>
          </a:xfrm>
          <a:prstGeom prst="rect">
            <a:avLst/>
          </a:prstGeom>
          <a:noFill/>
          <a:ln>
            <a:noFill/>
          </a:ln>
        </p:spPr>
      </p:pic>
      <p:pic>
        <p:nvPicPr>
          <p:cNvPr id="75" name="그림 74" descr="채점"/>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577484" y="3685215"/>
            <a:ext cx="530689" cy="305401"/>
          </a:xfrm>
          <a:prstGeom prst="rect">
            <a:avLst/>
          </a:prstGeom>
          <a:noFill/>
          <a:ln>
            <a:noFill/>
          </a:ln>
        </p:spPr>
      </p:pic>
      <p:sp>
        <p:nvSpPr>
          <p:cNvPr id="94" name="직사각형 93">
            <a:extLst>
              <a:ext uri="{FF2B5EF4-FFF2-40B4-BE49-F238E27FC236}">
                <a16:creationId xmlns:a16="http://schemas.microsoft.com/office/drawing/2014/main" id="{05375860-E7C3-0988-2972-67EC8026E040}"/>
              </a:ext>
            </a:extLst>
          </p:cNvPr>
          <p:cNvSpPr/>
          <p:nvPr/>
        </p:nvSpPr>
        <p:spPr>
          <a:xfrm>
            <a:off x="6370775" y="5342646"/>
            <a:ext cx="5470040" cy="1152972"/>
          </a:xfrm>
          <a:prstGeom prst="rect">
            <a:avLst/>
          </a:prstGeom>
          <a:noFill/>
        </p:spPr>
        <p:txBody>
          <a:bodyPr wrap="square" lIns="0" tIns="0" rIns="0" bIns="0" anchor="t">
            <a:noAutofit/>
          </a:bodyPr>
          <a:lstStyle/>
          <a:p>
            <a:pPr marL="115200" indent="-115200" algn="just" latinLnBrk="0">
              <a:spcAft>
                <a:spcPts val="800"/>
              </a:spcAft>
              <a:buFont typeface="Arial" panose="020B0604020202020204" pitchFamily="34" charset="0"/>
              <a:buChar char="•"/>
              <a:defRPr/>
            </a:pPr>
            <a:r>
              <a:rPr lang="en-US" altLang="ko-KR" sz="1400" spc="-100" dirty="0" smtClean="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Freighter </a:t>
            </a:r>
            <a:r>
              <a:rPr lang="en-US" altLang="ko-KR" sz="1400" spc="-100" dirty="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capacity share up YoY, led by </a:t>
            </a:r>
            <a:r>
              <a:rPr lang="en-US" altLang="ko-KR" sz="1400" spc="-100" dirty="0" smtClean="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N.E. Asia-</a:t>
            </a:r>
            <a:r>
              <a:rPr lang="en-US" altLang="ko-KR" sz="1400" spc="-100" dirty="0" err="1" smtClean="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N.America</a:t>
            </a:r>
            <a:r>
              <a:rPr lang="en-US" altLang="ko-KR" sz="1400" spc="-100" dirty="0" smtClean="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 </a:t>
            </a:r>
            <a:r>
              <a:rPr lang="en-US" altLang="ko-KR" sz="1400" spc="-100" dirty="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supply </a:t>
            </a:r>
            <a:r>
              <a:rPr lang="en-US" altLang="ko-KR" sz="1400" spc="-100" dirty="0" smtClean="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growth</a:t>
            </a:r>
          </a:p>
          <a:p>
            <a:pPr algn="just" latinLnBrk="0">
              <a:spcAft>
                <a:spcPts val="800"/>
              </a:spcAft>
              <a:defRPr/>
            </a:pPr>
            <a:r>
              <a:rPr lang="en-US" altLang="ko-KR" sz="1400" spc="-100" dirty="0" smtClean="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  - Pacific </a:t>
            </a:r>
            <a:r>
              <a:rPr lang="en-US" altLang="ko-KR" sz="1400" spc="-100" dirty="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freighter </a:t>
            </a:r>
            <a:r>
              <a:rPr lang="en-US" altLang="ko-KR" sz="1400" spc="-100" dirty="0" smtClean="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capacity +16</a:t>
            </a:r>
            <a:r>
              <a:rPr lang="en-US" altLang="ko-KR" sz="1400" spc="-100" dirty="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 YoY (China +38%, Taiwan +12%, Korea +11%)</a:t>
            </a:r>
          </a:p>
          <a:p>
            <a:pPr algn="just" latinLnBrk="0">
              <a:spcAft>
                <a:spcPts val="800"/>
              </a:spcAft>
              <a:defRPr/>
            </a:pPr>
            <a:r>
              <a:rPr lang="ko-KR" altLang="en-US" sz="1400" spc="-100" dirty="0" smtClean="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  ⇒ </a:t>
            </a:r>
            <a:r>
              <a:rPr lang="en-US" altLang="ko-KR" sz="1400" spc="-40" dirty="0" smtClean="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Airlines </a:t>
            </a:r>
            <a:r>
              <a:rPr lang="en-US" altLang="ko-KR" sz="1400" spc="-40" dirty="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reallocating cargo capacity toward high-yield Pacific routes</a:t>
            </a:r>
          </a:p>
          <a:p>
            <a:pPr algn="just" latinLnBrk="0">
              <a:spcAft>
                <a:spcPts val="800"/>
              </a:spcAft>
              <a:defRPr/>
            </a:pPr>
            <a:endParaRPr lang="en-US" altLang="ko-KR" sz="1400" dirty="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endParaRPr>
          </a:p>
        </p:txBody>
      </p:sp>
      <p:sp>
        <p:nvSpPr>
          <p:cNvPr id="96" name="TextBox 95"/>
          <p:cNvSpPr txBox="1"/>
          <p:nvPr/>
        </p:nvSpPr>
        <p:spPr>
          <a:xfrm>
            <a:off x="8149114" y="5784035"/>
            <a:ext cx="3800431" cy="230832"/>
          </a:xfrm>
          <a:prstGeom prst="rect">
            <a:avLst/>
          </a:prstGeom>
          <a:noFill/>
        </p:spPr>
        <p:txBody>
          <a:bodyPr wrap="square" rtlCol="0">
            <a:spAutoFit/>
          </a:bodyPr>
          <a:lstStyle/>
          <a:p>
            <a:r>
              <a:rPr lang="en-US" altLang="ko-KR" sz="900" dirty="0" smtClean="0">
                <a:solidFill>
                  <a:srgbClr val="3333FF"/>
                </a:solidFill>
                <a:latin typeface="나눔스퀘어" panose="020B0600000101010101" pitchFamily="50" charset="-127"/>
                <a:ea typeface="나눔스퀘어" panose="020B0600000101010101" pitchFamily="50" charset="-127"/>
              </a:rPr>
              <a:t>* YOY(May)</a:t>
            </a:r>
            <a:endParaRPr lang="ko-KR" altLang="en-US" sz="900" dirty="0">
              <a:solidFill>
                <a:srgbClr val="3333FF"/>
              </a:solidFill>
              <a:latin typeface="나눔스퀘어" panose="020B0600000101010101" pitchFamily="50" charset="-127"/>
              <a:ea typeface="나눔스퀘어" panose="020B0600000101010101" pitchFamily="50" charset="-127"/>
            </a:endParaRPr>
          </a:p>
        </p:txBody>
      </p:sp>
      <p:sp>
        <p:nvSpPr>
          <p:cNvPr id="66" name="TextBox 65"/>
          <p:cNvSpPr txBox="1"/>
          <p:nvPr/>
        </p:nvSpPr>
        <p:spPr>
          <a:xfrm>
            <a:off x="9243820" y="4089521"/>
            <a:ext cx="2747289" cy="215444"/>
          </a:xfrm>
          <a:prstGeom prst="rect">
            <a:avLst/>
          </a:prstGeom>
          <a:noFill/>
        </p:spPr>
        <p:txBody>
          <a:bodyPr wrap="square" rtlCol="0">
            <a:spAutoFit/>
          </a:bodyPr>
          <a:lstStyle/>
          <a:p>
            <a:r>
              <a:rPr lang="en-US" altLang="ko-KR" sz="800" dirty="0" smtClean="0">
                <a:solidFill>
                  <a:srgbClr val="3333FF"/>
                </a:solidFill>
                <a:latin typeface="나눔스퀘어" panose="020B0600000101010101" pitchFamily="50" charset="-127"/>
                <a:ea typeface="나눔스퀘어" panose="020B0600000101010101" pitchFamily="50" charset="-127"/>
              </a:rPr>
              <a:t>* </a:t>
            </a:r>
            <a:r>
              <a:rPr lang="en-US" altLang="ko-KR" sz="800" dirty="0" err="1" smtClean="0">
                <a:solidFill>
                  <a:srgbClr val="3333FF"/>
                </a:solidFill>
                <a:latin typeface="나눔스퀘어" panose="020B0600000101010101" pitchFamily="50" charset="-127"/>
                <a:ea typeface="나눔스퀘어" panose="020B0600000101010101" pitchFamily="50" charset="-127"/>
              </a:rPr>
              <a:t>Widebody</a:t>
            </a:r>
            <a:r>
              <a:rPr lang="en-US" altLang="ko-KR" sz="800" dirty="0" smtClean="0">
                <a:solidFill>
                  <a:srgbClr val="3333FF"/>
                </a:solidFill>
                <a:latin typeface="나눔스퀘어" panose="020B0600000101010101" pitchFamily="50" charset="-127"/>
                <a:ea typeface="나눔스퀘어" panose="020B0600000101010101" pitchFamily="50" charset="-127"/>
              </a:rPr>
              <a:t> craft only</a:t>
            </a:r>
            <a:endParaRPr lang="ko-KR" altLang="en-US" sz="800" dirty="0">
              <a:solidFill>
                <a:srgbClr val="3333FF"/>
              </a:solidFill>
              <a:latin typeface="나눔스퀘어" panose="020B0600000101010101" pitchFamily="50" charset="-127"/>
              <a:ea typeface="나눔스퀘어" panose="020B0600000101010101" pitchFamily="50" charset="-127"/>
            </a:endParaRPr>
          </a:p>
        </p:txBody>
      </p:sp>
      <p:grpSp>
        <p:nvGrpSpPr>
          <p:cNvPr id="68" name="그룹 67"/>
          <p:cNvGrpSpPr/>
          <p:nvPr/>
        </p:nvGrpSpPr>
        <p:grpSpPr>
          <a:xfrm>
            <a:off x="10020301" y="6290"/>
            <a:ext cx="1722316" cy="552569"/>
            <a:chOff x="10020301" y="6290"/>
            <a:chExt cx="1722316" cy="552569"/>
          </a:xfrm>
        </p:grpSpPr>
        <p:cxnSp>
          <p:nvCxnSpPr>
            <p:cNvPr id="76" name="직선 연결선 75"/>
            <p:cNvCxnSpPr/>
            <p:nvPr/>
          </p:nvCxnSpPr>
          <p:spPr>
            <a:xfrm>
              <a:off x="11671487" y="6290"/>
              <a:ext cx="0" cy="313957"/>
            </a:xfrm>
            <a:prstGeom prst="line">
              <a:avLst/>
            </a:prstGeom>
            <a:ln w="635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10020301" y="381709"/>
              <a:ext cx="1552032" cy="153888"/>
            </a:xfrm>
            <a:prstGeom prst="rect">
              <a:avLst/>
            </a:prstGeom>
            <a:noFill/>
            <a:ln w="9525">
              <a:noFill/>
              <a:miter lim="800000"/>
              <a:headEnd/>
              <a:tailEnd/>
            </a:ln>
          </p:spPr>
          <p:txBody>
            <a:bodyPr wrap="square" lIns="0" tIns="0" rIns="0" bIns="0" anchor="ctr">
              <a:spAutoFit/>
            </a:bodyPr>
            <a:lstStyle>
              <a:defPPr>
                <a:defRPr lang="ko-KR"/>
              </a:defPPr>
              <a:lvl1pPr defTabSz="914125" fontAlgn="base" latinLnBrk="0">
                <a:spcBef>
                  <a:spcPct val="0"/>
                </a:spcBef>
                <a:spcAft>
                  <a:spcPts val="200"/>
                </a:spcAft>
                <a:defRPr sz="1100" spc="-20">
                  <a:ln>
                    <a:solidFill>
                      <a:prstClr val="white">
                        <a:alpha val="0"/>
                      </a:prstClr>
                    </a:solidFill>
                  </a:ln>
                  <a:solidFill>
                    <a:schemeClr val="tx1">
                      <a:lumMod val="75000"/>
                      <a:lumOff val="25000"/>
                    </a:schemeClr>
                  </a:solidFill>
                  <a:latin typeface="KoPub돋움체 Bold" panose="02020603020101020101" pitchFamily="18" charset="-127"/>
                  <a:ea typeface="KoPub돋움체 Bold" panose="02020603020101020101" pitchFamily="18" charset="-127"/>
                  <a:cs typeface="Arial" charset="0"/>
                </a:defRPr>
              </a:lvl1pPr>
            </a:lstStyle>
            <a:p>
              <a:pPr lvl="0" algn="r">
                <a:defRPr/>
              </a:pPr>
              <a:r>
                <a:rPr lang="en-US" altLang="ko-KR"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rPr>
                <a:t>2026 1H Market Review</a:t>
              </a:r>
            </a:p>
          </p:txBody>
        </p:sp>
        <p:sp>
          <p:nvSpPr>
            <p:cNvPr id="78" name="타원 77"/>
            <p:cNvSpPr/>
            <p:nvPr/>
          </p:nvSpPr>
          <p:spPr>
            <a:xfrm>
              <a:off x="11340239" y="290256"/>
              <a:ext cx="51827" cy="51827"/>
            </a:xfrm>
            <a:prstGeom prst="ellipse">
              <a:avLst/>
            </a:prstGeom>
            <a:solidFill>
              <a:schemeClr val="bg1">
                <a:lumMod val="75000"/>
                <a:alpha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79" name="타원 78"/>
            <p:cNvSpPr/>
            <p:nvPr/>
          </p:nvSpPr>
          <p:spPr>
            <a:xfrm>
              <a:off x="11422266" y="290256"/>
              <a:ext cx="51827" cy="51827"/>
            </a:xfrm>
            <a:prstGeom prst="ellipse">
              <a:avLst/>
            </a:prstGeom>
            <a:solidFill>
              <a:srgbClr val="0146A0"/>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80" name="타원 79"/>
            <p:cNvSpPr/>
            <p:nvPr/>
          </p:nvSpPr>
          <p:spPr>
            <a:xfrm>
              <a:off x="11504294" y="290256"/>
              <a:ext cx="51827" cy="51827"/>
            </a:xfrm>
            <a:prstGeom prst="ellipse">
              <a:avLst/>
            </a:prstGeom>
            <a:solidFill>
              <a:schemeClr val="bg1">
                <a:lumMod val="75000"/>
                <a:alpha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81" name="TextBox 80"/>
            <p:cNvSpPr txBox="1"/>
            <p:nvPr/>
          </p:nvSpPr>
          <p:spPr>
            <a:xfrm>
              <a:off x="11646437" y="343415"/>
              <a:ext cx="96180" cy="215444"/>
            </a:xfrm>
            <a:prstGeom prst="rect">
              <a:avLst/>
            </a:prstGeom>
            <a:noFill/>
          </p:spPr>
          <p:txBody>
            <a:bodyPr wrap="none" lIns="0" tIns="0" rIns="0" bIns="0" rtlCol="0" anchor="ctr" anchorCtr="0">
              <a:spAutoFit/>
            </a:bodyPr>
            <a:lstStyle>
              <a:defPPr>
                <a:defRPr lang="ko-KR"/>
              </a:defPPr>
              <a:lvl1pPr>
                <a:spcAft>
                  <a:spcPts val="300"/>
                </a:spcAft>
                <a:defRPr sz="2800" spc="-100">
                  <a:ln>
                    <a:solidFill>
                      <a:schemeClr val="bg1">
                        <a:alpha val="0"/>
                      </a:schemeClr>
                    </a:solidFill>
                  </a:ln>
                  <a:solidFill>
                    <a:srgbClr val="005B8D"/>
                  </a:solidFill>
                  <a:latin typeface="Times New Roman" panose="02020603050405020304" pitchFamily="18" charset="0"/>
                  <a:ea typeface="KoPub돋움체 Bold" panose="02020603020101020101" pitchFamily="18" charset="-127"/>
                  <a:cs typeface="Times New Roman" panose="02020603050405020304" pitchFamily="18" charset="0"/>
                </a:defRPr>
              </a:lvl1pPr>
            </a:lstStyle>
            <a:p>
              <a:pPr latinLnBrk="0">
                <a:defRPr/>
              </a:pPr>
              <a:r>
                <a:rPr lang="en-US" altLang="ko-KR" sz="1400" spc="-150" dirty="0">
                  <a:ln>
                    <a:solidFill>
                      <a:prstClr val="white">
                        <a:alpha val="0"/>
                      </a:prstClr>
                    </a:solidFill>
                  </a:ln>
                  <a:solidFill>
                    <a:srgbClr val="0146A0"/>
                  </a:solidFill>
                  <a:ea typeface="KoPub돋움체 Medium" panose="02020603020101020101" pitchFamily="18" charset="-127"/>
                </a:rPr>
                <a:t>Ⅱ</a:t>
              </a:r>
            </a:p>
          </p:txBody>
        </p:sp>
      </p:grpSp>
    </p:spTree>
    <p:extLst>
      <p:ext uri="{BB962C8B-B14F-4D97-AF65-F5344CB8AC3E}">
        <p14:creationId xmlns:p14="http://schemas.microsoft.com/office/powerpoint/2010/main" val="128144581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Air Market Trends</a:t>
            </a:r>
            <a:endParaRPr lang="ko-KR" altLang="en-US" dirty="0"/>
          </a:p>
        </p:txBody>
      </p:sp>
      <p:sp>
        <p:nvSpPr>
          <p:cNvPr id="3" name="텍스트 개체 틀 2"/>
          <p:cNvSpPr>
            <a:spLocks noGrp="1"/>
          </p:cNvSpPr>
          <p:nvPr>
            <p:ph type="body" sz="quarter" idx="10"/>
          </p:nvPr>
        </p:nvSpPr>
        <p:spPr>
          <a:xfrm>
            <a:off x="515937" y="1163563"/>
            <a:ext cx="11160125" cy="771752"/>
          </a:xfrm>
        </p:spPr>
        <p:txBody>
          <a:bodyPr/>
          <a:lstStyle/>
          <a:p>
            <a:r>
              <a:rPr lang="en-US" altLang="ko-KR" spc="-100" dirty="0" smtClean="0"/>
              <a:t>1H </a:t>
            </a:r>
            <a:r>
              <a:rPr lang="en-US" altLang="ko-KR" spc="-100" dirty="0"/>
              <a:t>rates </a:t>
            </a:r>
            <a:r>
              <a:rPr lang="en-US" altLang="ko-KR" spc="-100" dirty="0" smtClean="0"/>
              <a:t> rose 12.1% vs. previous year’s </a:t>
            </a:r>
            <a:r>
              <a:rPr lang="en-US" altLang="ko-KR" spc="-100" dirty="0"/>
              <a:t>average; hit 3-year </a:t>
            </a:r>
            <a:r>
              <a:rPr lang="en-US" altLang="ko-KR" spc="-100" dirty="0" smtClean="0"/>
              <a:t>high amid </a:t>
            </a:r>
            <a:r>
              <a:rPr lang="en-US" altLang="ko-KR" spc="-100" dirty="0"/>
              <a:t>ME supply </a:t>
            </a:r>
            <a:r>
              <a:rPr lang="en-US" altLang="ko-KR" spc="-100" dirty="0" smtClean="0"/>
              <a:t>shock and sustained </a:t>
            </a:r>
            <a:r>
              <a:rPr lang="en-US" altLang="ko-KR" spc="-100" dirty="0"/>
              <a:t>at high </a:t>
            </a:r>
            <a:r>
              <a:rPr lang="en-US" altLang="ko-KR" spc="-100" dirty="0" smtClean="0"/>
              <a:t>levels</a:t>
            </a:r>
          </a:p>
          <a:p>
            <a:r>
              <a:rPr lang="en-US" altLang="ko-KR" spc="-100" dirty="0" smtClean="0"/>
              <a:t>Rate gains widened on key lanes: Asia–NA with concentrated chip demand, and Asia–EU with high ME transit exposure</a:t>
            </a:r>
            <a:endParaRPr lang="ko-KR" altLang="en-US" spc="-100" dirty="0" smtClean="0"/>
          </a:p>
        </p:txBody>
      </p:sp>
      <p:sp>
        <p:nvSpPr>
          <p:cNvPr id="4" name="TextBox 3">
            <a:extLst>
              <a:ext uri="{FF2B5EF4-FFF2-40B4-BE49-F238E27FC236}">
                <a16:creationId xmlns:a16="http://schemas.microsoft.com/office/drawing/2014/main" id="{082EA1A0-544C-A3CF-E0A0-4CFD7DCAFE2B}"/>
              </a:ext>
            </a:extLst>
          </p:cNvPr>
          <p:cNvSpPr txBox="1"/>
          <p:nvPr/>
        </p:nvSpPr>
        <p:spPr>
          <a:xfrm>
            <a:off x="525890" y="6498737"/>
            <a:ext cx="1136530" cy="153888"/>
          </a:xfrm>
          <a:prstGeom prst="rect">
            <a:avLst/>
          </a:prstGeom>
          <a:noFill/>
        </p:spPr>
        <p:txBody>
          <a:bodyPr wrap="none" lIns="0" tIns="0" rIns="0" bIns="0" rtlCol="0" anchor="ctr">
            <a:spAutoFit/>
          </a:bodyPr>
          <a:lstStyle/>
          <a:p>
            <a:pPr latinLnBrk="0"/>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Source</a:t>
            </a:r>
            <a:r>
              <a:rPr lang="ko-KR" altLang="en-US"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TAC / IATA</a:t>
            </a:r>
          </a:p>
        </p:txBody>
      </p:sp>
      <p:grpSp>
        <p:nvGrpSpPr>
          <p:cNvPr id="5" name="组合 2">
            <a:extLst>
              <a:ext uri="{FF2B5EF4-FFF2-40B4-BE49-F238E27FC236}">
                <a16:creationId xmlns:a16="http://schemas.microsoft.com/office/drawing/2014/main" id="{AED461FF-DD3B-BDE9-6FD2-8FA192897881}"/>
              </a:ext>
            </a:extLst>
          </p:cNvPr>
          <p:cNvGrpSpPr/>
          <p:nvPr/>
        </p:nvGrpSpPr>
        <p:grpSpPr>
          <a:xfrm>
            <a:off x="503790" y="2117975"/>
            <a:ext cx="11167279" cy="374400"/>
            <a:chOff x="386534" y="1461600"/>
            <a:chExt cx="8375459" cy="280800"/>
          </a:xfrm>
        </p:grpSpPr>
        <p:grpSp>
          <p:nvGrpSpPr>
            <p:cNvPr id="6" name="그룹 46">
              <a:extLst>
                <a:ext uri="{FF2B5EF4-FFF2-40B4-BE49-F238E27FC236}">
                  <a16:creationId xmlns:a16="http://schemas.microsoft.com/office/drawing/2014/main" id="{D7C832DA-1780-F525-4E45-45760369F841}"/>
                </a:ext>
              </a:extLst>
            </p:cNvPr>
            <p:cNvGrpSpPr/>
            <p:nvPr/>
          </p:nvGrpSpPr>
          <p:grpSpPr>
            <a:xfrm>
              <a:off x="386535" y="1461600"/>
              <a:ext cx="8375458" cy="280800"/>
              <a:chOff x="386535" y="1383614"/>
              <a:chExt cx="8375458" cy="280800"/>
            </a:xfrm>
          </p:grpSpPr>
          <p:grpSp>
            <p:nvGrpSpPr>
              <p:cNvPr id="13" name="그룹 48">
                <a:extLst>
                  <a:ext uri="{FF2B5EF4-FFF2-40B4-BE49-F238E27FC236}">
                    <a16:creationId xmlns:a16="http://schemas.microsoft.com/office/drawing/2014/main" id="{AF74B205-CD21-8B0C-C34E-4816D6217D7C}"/>
                  </a:ext>
                </a:extLst>
              </p:cNvPr>
              <p:cNvGrpSpPr/>
              <p:nvPr/>
            </p:nvGrpSpPr>
            <p:grpSpPr>
              <a:xfrm>
                <a:off x="386535" y="1383614"/>
                <a:ext cx="4077119" cy="280800"/>
                <a:chOff x="515380" y="1844820"/>
                <a:chExt cx="5436158" cy="374400"/>
              </a:xfrm>
            </p:grpSpPr>
            <p:sp>
              <p:nvSpPr>
                <p:cNvPr id="17" name="Rectangle 215">
                  <a:extLst>
                    <a:ext uri="{FF2B5EF4-FFF2-40B4-BE49-F238E27FC236}">
                      <a16:creationId xmlns:a16="http://schemas.microsoft.com/office/drawing/2014/main" id="{41EB7748-F8FB-7C18-5B51-913E0F05E207}"/>
                    </a:ext>
                  </a:extLst>
                </p:cNvPr>
                <p:cNvSpPr>
                  <a:spLocks noChangeArrowheads="1"/>
                </p:cNvSpPr>
                <p:nvPr/>
              </p:nvSpPr>
              <p:spPr bwMode="auto">
                <a:xfrm>
                  <a:off x="515380" y="1844820"/>
                  <a:ext cx="5436158"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19" name="TextBox 116">
                  <a:extLst>
                    <a:ext uri="{FF2B5EF4-FFF2-40B4-BE49-F238E27FC236}">
                      <a16:creationId xmlns:a16="http://schemas.microsoft.com/office/drawing/2014/main" id="{F337A0C5-18C6-DF39-52CA-2B7F5B78F0D3}"/>
                    </a:ext>
                  </a:extLst>
                </p:cNvPr>
                <p:cNvSpPr txBox="1">
                  <a:spLocks noChangeArrowheads="1"/>
                </p:cNvSpPr>
                <p:nvPr/>
              </p:nvSpPr>
              <p:spPr bwMode="auto">
                <a:xfrm>
                  <a:off x="673467" y="1915641"/>
                  <a:ext cx="511998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algn="ctr" defTabSz="1038977" eaLnBrk="1" hangingPunct="1"/>
                  <a:r>
                    <a:rPr lang="en-US" altLang="ko-KR" sz="1600" dirty="0">
                      <a:solidFill>
                        <a:schemeClr val="bg1"/>
                      </a:solidFill>
                      <a:latin typeface="나눔스퀘어 ExtraBold" panose="020B0600000101010101" pitchFamily="50" charset="-127"/>
                      <a:ea typeface="나눔스퀘어 ExtraBold" panose="020B0600000101010101" pitchFamily="50" charset="-127"/>
                    </a:rPr>
                    <a:t>ME </a:t>
                  </a:r>
                  <a:r>
                    <a:rPr lang="en-US" altLang="ko-KR" sz="1600" dirty="0" smtClean="0">
                      <a:solidFill>
                        <a:schemeClr val="bg1"/>
                      </a:solidFill>
                      <a:latin typeface="나눔스퀘어 ExtraBold" panose="020B0600000101010101" pitchFamily="50" charset="-127"/>
                      <a:ea typeface="나눔스퀘어 ExtraBold" panose="020B0600000101010101" pitchFamily="50" charset="-127"/>
                    </a:rPr>
                    <a:t>War </a:t>
                  </a:r>
                  <a:r>
                    <a:rPr lang="en-US" altLang="ko-KR" sz="1600" dirty="0">
                      <a:solidFill>
                        <a:schemeClr val="bg1"/>
                      </a:solidFill>
                      <a:latin typeface="나눔스퀘어 ExtraBold" panose="020B0600000101010101" pitchFamily="50" charset="-127"/>
                      <a:ea typeface="나눔스퀘어 ExtraBold" panose="020B0600000101010101" pitchFamily="50" charset="-127"/>
                    </a:rPr>
                    <a:t>S</a:t>
                  </a:r>
                  <a:r>
                    <a:rPr lang="en-US" altLang="ko-KR" sz="1600" dirty="0" smtClean="0">
                      <a:solidFill>
                        <a:schemeClr val="bg1"/>
                      </a:solidFill>
                      <a:latin typeface="나눔스퀘어 ExtraBold" panose="020B0600000101010101" pitchFamily="50" charset="-127"/>
                      <a:ea typeface="나눔스퀘어 ExtraBold" panose="020B0600000101010101" pitchFamily="50" charset="-127"/>
                    </a:rPr>
                    <a:t>pike</a:t>
                  </a:r>
                  <a:r>
                    <a:rPr lang="en-US" altLang="ko-KR" sz="1600" dirty="0">
                      <a:solidFill>
                        <a:schemeClr val="bg1"/>
                      </a:solidFill>
                      <a:latin typeface="나눔스퀘어 ExtraBold" panose="020B0600000101010101" pitchFamily="50" charset="-127"/>
                      <a:ea typeface="나눔스퀘어 ExtraBold" panose="020B0600000101010101" pitchFamily="50" charset="-127"/>
                    </a:rPr>
                    <a:t>, </a:t>
                  </a:r>
                  <a:r>
                    <a:rPr lang="en-US" altLang="ko-KR" sz="1600" dirty="0" smtClean="0">
                      <a:solidFill>
                        <a:schemeClr val="bg1"/>
                      </a:solidFill>
                      <a:latin typeface="나눔스퀘어 ExtraBold" panose="020B0600000101010101" pitchFamily="50" charset="-127"/>
                      <a:ea typeface="나눔스퀘어 ExtraBold" panose="020B0600000101010101" pitchFamily="50" charset="-127"/>
                    </a:rPr>
                    <a:t>Rates </a:t>
                  </a:r>
                  <a:r>
                    <a:rPr lang="en-US" altLang="ko-KR" sz="1600" dirty="0">
                      <a:solidFill>
                        <a:schemeClr val="bg1"/>
                      </a:solidFill>
                      <a:latin typeface="나눔스퀘어 ExtraBold" panose="020B0600000101010101" pitchFamily="50" charset="-127"/>
                      <a:ea typeface="나눔스퀘어 ExtraBold" panose="020B0600000101010101" pitchFamily="50" charset="-127"/>
                    </a:rPr>
                    <a:t>S</a:t>
                  </a:r>
                  <a:r>
                    <a:rPr lang="en-US" altLang="ko-KR" sz="1600" dirty="0" smtClean="0">
                      <a:solidFill>
                        <a:schemeClr val="bg1"/>
                      </a:solidFill>
                      <a:latin typeface="나눔스퀘어 ExtraBold" panose="020B0600000101010101" pitchFamily="50" charset="-127"/>
                      <a:ea typeface="나눔스퀘어 ExtraBold" panose="020B0600000101010101" pitchFamily="50" charset="-127"/>
                    </a:rPr>
                    <a:t>taying </a:t>
                  </a:r>
                  <a:r>
                    <a:rPr lang="en-US" altLang="ko-KR" sz="1600" dirty="0">
                      <a:solidFill>
                        <a:schemeClr val="bg1"/>
                      </a:solidFill>
                      <a:latin typeface="나눔스퀘어 ExtraBold" panose="020B0600000101010101" pitchFamily="50" charset="-127"/>
                      <a:ea typeface="나눔스퀘어 ExtraBold" panose="020B0600000101010101" pitchFamily="50" charset="-127"/>
                    </a:rPr>
                    <a:t>H</a:t>
                  </a:r>
                  <a:r>
                    <a:rPr lang="en-US" altLang="ko-KR" sz="1600" dirty="0" smtClean="0">
                      <a:solidFill>
                        <a:schemeClr val="bg1"/>
                      </a:solidFill>
                      <a:latin typeface="나눔스퀘어 ExtraBold" panose="020B0600000101010101" pitchFamily="50" charset="-127"/>
                      <a:ea typeface="나눔스퀘어 ExtraBold" panose="020B0600000101010101" pitchFamily="50" charset="-127"/>
                    </a:rPr>
                    <a:t>igh</a:t>
                  </a:r>
                  <a:endPar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grpSp>
          <p:grpSp>
            <p:nvGrpSpPr>
              <p:cNvPr id="14" name="그룹 52">
                <a:extLst>
                  <a:ext uri="{FF2B5EF4-FFF2-40B4-BE49-F238E27FC236}">
                    <a16:creationId xmlns:a16="http://schemas.microsoft.com/office/drawing/2014/main" id="{4168C7BD-B795-8BDF-6CA6-50E2FB2CAF8D}"/>
                  </a:ext>
                </a:extLst>
              </p:cNvPr>
              <p:cNvGrpSpPr/>
              <p:nvPr/>
            </p:nvGrpSpPr>
            <p:grpSpPr>
              <a:xfrm>
                <a:off x="4684993" y="1383614"/>
                <a:ext cx="4077000" cy="280800"/>
                <a:chOff x="6246657" y="1854463"/>
                <a:chExt cx="5436000" cy="374400"/>
              </a:xfrm>
            </p:grpSpPr>
            <p:sp>
              <p:nvSpPr>
                <p:cNvPr id="15" name="Rectangle 215">
                  <a:extLst>
                    <a:ext uri="{FF2B5EF4-FFF2-40B4-BE49-F238E27FC236}">
                      <a16:creationId xmlns:a16="http://schemas.microsoft.com/office/drawing/2014/main" id="{5E852D03-4037-26A7-B559-825E2928C0F8}"/>
                    </a:ext>
                  </a:extLst>
                </p:cNvPr>
                <p:cNvSpPr>
                  <a:spLocks noChangeArrowheads="1"/>
                </p:cNvSpPr>
                <p:nvPr/>
              </p:nvSpPr>
              <p:spPr bwMode="auto">
                <a:xfrm>
                  <a:off x="6246657" y="1854463"/>
                  <a:ext cx="5436000"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16" name="TextBox 116">
                  <a:extLst>
                    <a:ext uri="{FF2B5EF4-FFF2-40B4-BE49-F238E27FC236}">
                      <a16:creationId xmlns:a16="http://schemas.microsoft.com/office/drawing/2014/main" id="{F0A3FCC2-70A0-CFD9-DEED-C1BEA0649607}"/>
                    </a:ext>
                  </a:extLst>
                </p:cNvPr>
                <p:cNvSpPr txBox="1">
                  <a:spLocks noChangeArrowheads="1"/>
                </p:cNvSpPr>
                <p:nvPr/>
              </p:nvSpPr>
              <p:spPr bwMode="auto">
                <a:xfrm>
                  <a:off x="6404665" y="1907501"/>
                  <a:ext cx="511998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algn="ctr" defTabSz="1038977" eaLnBrk="1" hangingPunct="1"/>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Rate Hikes On Key Routes</a:t>
                  </a:r>
                  <a:r>
                    <a:rPr kumimoji="0" lang="ko-KR" altLang="en-US"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 </a:t>
                  </a:r>
                  <a:endPar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grpSp>
        </p:grpSp>
        <p:grpSp>
          <p:nvGrpSpPr>
            <p:cNvPr id="7" name="그룹 62">
              <a:extLst>
                <a:ext uri="{FF2B5EF4-FFF2-40B4-BE49-F238E27FC236}">
                  <a16:creationId xmlns:a16="http://schemas.microsoft.com/office/drawing/2014/main" id="{27D67AF7-D3C1-D08E-D838-DEF99CD32EBB}"/>
                </a:ext>
              </a:extLst>
            </p:cNvPr>
            <p:cNvGrpSpPr/>
            <p:nvPr/>
          </p:nvGrpSpPr>
          <p:grpSpPr>
            <a:xfrm>
              <a:off x="386534" y="1461600"/>
              <a:ext cx="585066" cy="276223"/>
              <a:chOff x="-1523239" y="1275702"/>
              <a:chExt cx="564992" cy="357603"/>
            </a:xfrm>
          </p:grpSpPr>
          <p:sp>
            <p:nvSpPr>
              <p:cNvPr id="11" name="자유형 63">
                <a:extLst>
                  <a:ext uri="{FF2B5EF4-FFF2-40B4-BE49-F238E27FC236}">
                    <a16:creationId xmlns:a16="http://schemas.microsoft.com/office/drawing/2014/main" id="{9797DD11-41CA-F0C1-3B72-0C4A0075021E}"/>
                  </a:ext>
                </a:extLst>
              </p:cNvPr>
              <p:cNvSpPr/>
              <p:nvPr/>
            </p:nvSpPr>
            <p:spPr>
              <a:xfrm>
                <a:off x="-1523239" y="1275702"/>
                <a:ext cx="564991" cy="357603"/>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12" name="자유형 64">
                <a:extLst>
                  <a:ext uri="{FF2B5EF4-FFF2-40B4-BE49-F238E27FC236}">
                    <a16:creationId xmlns:a16="http://schemas.microsoft.com/office/drawing/2014/main" id="{08E74A6F-C778-A6E7-D556-C5F09352416D}"/>
                  </a:ext>
                </a:extLst>
              </p:cNvPr>
              <p:cNvSpPr/>
              <p:nvPr/>
            </p:nvSpPr>
            <p:spPr>
              <a:xfrm>
                <a:off x="-1523239" y="1275702"/>
                <a:ext cx="564992" cy="357603"/>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grpSp>
        <p:grpSp>
          <p:nvGrpSpPr>
            <p:cNvPr id="8" name="그룹 62">
              <a:extLst>
                <a:ext uri="{FF2B5EF4-FFF2-40B4-BE49-F238E27FC236}">
                  <a16:creationId xmlns:a16="http://schemas.microsoft.com/office/drawing/2014/main" id="{F1AFBC36-A682-B2D9-876D-2769FD49E6BD}"/>
                </a:ext>
              </a:extLst>
            </p:cNvPr>
            <p:cNvGrpSpPr/>
            <p:nvPr/>
          </p:nvGrpSpPr>
          <p:grpSpPr>
            <a:xfrm>
              <a:off x="4686893" y="1462337"/>
              <a:ext cx="585066" cy="276223"/>
              <a:chOff x="-1523239" y="1275702"/>
              <a:chExt cx="564992" cy="357603"/>
            </a:xfrm>
          </p:grpSpPr>
          <p:sp>
            <p:nvSpPr>
              <p:cNvPr id="9" name="자유형 63">
                <a:extLst>
                  <a:ext uri="{FF2B5EF4-FFF2-40B4-BE49-F238E27FC236}">
                    <a16:creationId xmlns:a16="http://schemas.microsoft.com/office/drawing/2014/main" id="{78E1CCBD-BC31-0A93-D877-781DFBC0F573}"/>
                  </a:ext>
                </a:extLst>
              </p:cNvPr>
              <p:cNvSpPr/>
              <p:nvPr/>
            </p:nvSpPr>
            <p:spPr>
              <a:xfrm>
                <a:off x="-1523239" y="1275702"/>
                <a:ext cx="564991" cy="357603"/>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10" name="자유형 64">
                <a:extLst>
                  <a:ext uri="{FF2B5EF4-FFF2-40B4-BE49-F238E27FC236}">
                    <a16:creationId xmlns:a16="http://schemas.microsoft.com/office/drawing/2014/main" id="{9D68DEA9-59C7-ED66-E7B2-51749733FADA}"/>
                  </a:ext>
                </a:extLst>
              </p:cNvPr>
              <p:cNvSpPr/>
              <p:nvPr/>
            </p:nvSpPr>
            <p:spPr>
              <a:xfrm>
                <a:off x="-1523239" y="1275702"/>
                <a:ext cx="564992" cy="357603"/>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grpSp>
      </p:grpSp>
      <p:sp>
        <p:nvSpPr>
          <p:cNvPr id="20" name="슬라이드 번호 개체 틀 5">
            <a:extLst>
              <a:ext uri="{FF2B5EF4-FFF2-40B4-BE49-F238E27FC236}">
                <a16:creationId xmlns:a16="http://schemas.microsoft.com/office/drawing/2014/main" id="{A9086424-5773-C697-5EF7-35AD8B821510}"/>
              </a:ext>
            </a:extLst>
          </p:cNvPr>
          <p:cNvSpPr txBox="1">
            <a:spLocks/>
          </p:cNvSpPr>
          <p:nvPr/>
        </p:nvSpPr>
        <p:spPr>
          <a:xfrm>
            <a:off x="5419725" y="6426152"/>
            <a:ext cx="788332" cy="326455"/>
          </a:xfrm>
          <a:prstGeom prst="rect">
            <a:avLst/>
          </a:prstGeom>
        </p:spPr>
        <p:txBody>
          <a:bodyPr lIns="162531" tIns="81264" rIns="162531" bIns="81264" anchor="ctr"/>
          <a:lstStyle>
            <a:lvl1pPr algn="r">
              <a:defRPr sz="1200">
                <a:solidFill>
                  <a:schemeClr val="tx1">
                    <a:tint val="75000"/>
                  </a:schemeClr>
                </a:solidFill>
              </a:defRPr>
            </a:lvl1pPr>
          </a:lstStyle>
          <a:p>
            <a:pPr defTabSz="1219048">
              <a:defRPr/>
            </a:pPr>
            <a:r>
              <a:rPr lang="en-US" altLang="ko-KR"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rPr>
              <a:t>7</a:t>
            </a:r>
            <a:endParaRPr lang="ko-KR" altLang="en-US"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endParaRPr>
          </a:p>
        </p:txBody>
      </p:sp>
      <p:pic>
        <p:nvPicPr>
          <p:cNvPr id="53" name="Picture 200" descr="악세사리">
            <a:extLst>
              <a:ext uri="{FF2B5EF4-FFF2-40B4-BE49-F238E27FC236}">
                <a16:creationId xmlns:a16="http://schemas.microsoft.com/office/drawing/2014/main" id="{DB33D757-7AF7-A009-4FDF-0A3FA015BB3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339689" y="4546810"/>
            <a:ext cx="3535193" cy="91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aphicFrame>
        <p:nvGraphicFramePr>
          <p:cNvPr id="31" name="차트 30">
            <a:extLst>
              <a:ext uri="{FF2B5EF4-FFF2-40B4-BE49-F238E27FC236}">
                <a16:creationId xmlns:a16="http://schemas.microsoft.com/office/drawing/2014/main" id="{EA156F24-F3AD-EABA-F448-3DB6E3B2DFAE}"/>
              </a:ext>
            </a:extLst>
          </p:cNvPr>
          <p:cNvGraphicFramePr/>
          <p:nvPr>
            <p:extLst>
              <p:ext uri="{D42A27DB-BD31-4B8C-83A1-F6EECF244321}">
                <p14:modId xmlns:p14="http://schemas.microsoft.com/office/powerpoint/2010/main" val="2827965650"/>
              </p:ext>
            </p:extLst>
          </p:nvPr>
        </p:nvGraphicFramePr>
        <p:xfrm>
          <a:off x="515938" y="2559471"/>
          <a:ext cx="5389487" cy="374925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2" name="차트 41"/>
          <p:cNvGraphicFramePr/>
          <p:nvPr>
            <p:extLst/>
          </p:nvPr>
        </p:nvGraphicFramePr>
        <p:xfrm>
          <a:off x="6237602" y="2567164"/>
          <a:ext cx="5389487" cy="3939267"/>
        </p:xfrm>
        <a:graphic>
          <a:graphicData uri="http://schemas.openxmlformats.org/drawingml/2006/chart">
            <c:chart xmlns:c="http://schemas.openxmlformats.org/drawingml/2006/chart" xmlns:r="http://schemas.openxmlformats.org/officeDocument/2006/relationships" r:id="rId5"/>
          </a:graphicData>
        </a:graphic>
      </p:graphicFrame>
      <p:grpSp>
        <p:nvGrpSpPr>
          <p:cNvPr id="43" name="그룹 42"/>
          <p:cNvGrpSpPr/>
          <p:nvPr/>
        </p:nvGrpSpPr>
        <p:grpSpPr>
          <a:xfrm>
            <a:off x="7950729" y="5268584"/>
            <a:ext cx="232560" cy="232560"/>
            <a:chOff x="3090235" y="3812613"/>
            <a:chExt cx="232560" cy="232560"/>
          </a:xfrm>
        </p:grpSpPr>
        <p:sp>
          <p:nvSpPr>
            <p:cNvPr id="44" name="타원 43"/>
            <p:cNvSpPr/>
            <p:nvPr/>
          </p:nvSpPr>
          <p:spPr>
            <a:xfrm>
              <a:off x="3090235" y="3812613"/>
              <a:ext cx="232560" cy="232560"/>
            </a:xfrm>
            <a:prstGeom prst="ellipse">
              <a:avLst/>
            </a:prstGeom>
            <a:solidFill>
              <a:srgbClr val="D6DCE5">
                <a:alpha val="50000"/>
              </a:srgb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타원 44"/>
            <p:cNvSpPr/>
            <p:nvPr/>
          </p:nvSpPr>
          <p:spPr>
            <a:xfrm>
              <a:off x="3156140" y="3878518"/>
              <a:ext cx="100750" cy="100750"/>
            </a:xfrm>
            <a:prstGeom prst="ellipse">
              <a:avLst/>
            </a:prstGeom>
            <a:solidFill>
              <a:srgbClr val="1428A0"/>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46" name="모서리가 둥근 직사각형 45"/>
          <p:cNvSpPr/>
          <p:nvPr/>
        </p:nvSpPr>
        <p:spPr>
          <a:xfrm>
            <a:off x="7557395" y="4432088"/>
            <a:ext cx="978704" cy="291294"/>
          </a:xfrm>
          <a:prstGeom prst="roundRect">
            <a:avLst>
              <a:gd name="adj" fmla="val 50000"/>
            </a:avLst>
          </a:prstGeom>
          <a:solidFill>
            <a:srgbClr val="3CD0B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 name="TextBox 46"/>
          <p:cNvSpPr txBox="1"/>
          <p:nvPr/>
        </p:nvSpPr>
        <p:spPr>
          <a:xfrm>
            <a:off x="7709462" y="4457866"/>
            <a:ext cx="684483" cy="246221"/>
          </a:xfrm>
          <a:prstGeom prst="rect">
            <a:avLst/>
          </a:prstGeom>
          <a:noFill/>
        </p:spPr>
        <p:txBody>
          <a:bodyPr wrap="none" lIns="0" tIns="0" rIns="0" bIns="0" rtlCol="0" anchor="ctr">
            <a:spAutoFit/>
          </a:bodyPr>
          <a:lstStyle/>
          <a:p>
            <a:pPr algn="ctr"/>
            <a:r>
              <a:rPr lang="en-US" altLang="ko-KR" sz="800" b="1" dirty="0">
                <a:latin typeface="나눔스퀘어" panose="020B0600000101010101"/>
                <a:ea typeface="나눔스퀘어" panose="020B0600000101010101"/>
              </a:rPr>
              <a:t>US-Iran War </a:t>
            </a:r>
          </a:p>
          <a:p>
            <a:pPr algn="ctr"/>
            <a:r>
              <a:rPr lang="en-US" altLang="ko-KR" sz="800" b="1" dirty="0" smtClean="0">
                <a:latin typeface="나눔스퀘어" panose="020B0600000101010101"/>
                <a:ea typeface="나눔스퀘어" panose="020B0600000101010101"/>
              </a:rPr>
              <a:t>Outbreak</a:t>
            </a:r>
            <a:endParaRPr lang="en-US" altLang="ko-KR" sz="800" b="1" dirty="0">
              <a:ln>
                <a:solidFill>
                  <a:prstClr val="white">
                    <a:alpha val="0"/>
                  </a:prstClr>
                </a:solidFill>
              </a:ln>
              <a:latin typeface="나눔스퀘어" panose="020B0600000101010101"/>
              <a:ea typeface="나눔스퀘어" panose="020B0600000101010101"/>
            </a:endParaRPr>
          </a:p>
        </p:txBody>
      </p:sp>
      <p:sp>
        <p:nvSpPr>
          <p:cNvPr id="48" name="Freeform 10"/>
          <p:cNvSpPr>
            <a:spLocks/>
          </p:cNvSpPr>
          <p:nvPr/>
        </p:nvSpPr>
        <p:spPr bwMode="auto">
          <a:xfrm flipH="1" flipV="1">
            <a:off x="7969552" y="4723382"/>
            <a:ext cx="194915" cy="657278"/>
          </a:xfrm>
          <a:custGeom>
            <a:avLst/>
            <a:gdLst>
              <a:gd name="T0" fmla="*/ 0 w 283"/>
              <a:gd name="T1" fmla="*/ 94 h 94"/>
              <a:gd name="T2" fmla="*/ 142 w 283"/>
              <a:gd name="T3" fmla="*/ 94 h 94"/>
              <a:gd name="T4" fmla="*/ 283 w 283"/>
              <a:gd name="T5" fmla="*/ 94 h 94"/>
              <a:gd name="T6" fmla="*/ 142 w 283"/>
              <a:gd name="T7" fmla="*/ 0 h 94"/>
              <a:gd name="T8" fmla="*/ 0 w 283"/>
              <a:gd name="T9" fmla="*/ 94 h 94"/>
            </a:gdLst>
            <a:ahLst/>
            <a:cxnLst>
              <a:cxn ang="0">
                <a:pos x="T0" y="T1"/>
              </a:cxn>
              <a:cxn ang="0">
                <a:pos x="T2" y="T3"/>
              </a:cxn>
              <a:cxn ang="0">
                <a:pos x="T4" y="T5"/>
              </a:cxn>
              <a:cxn ang="0">
                <a:pos x="T6" y="T7"/>
              </a:cxn>
              <a:cxn ang="0">
                <a:pos x="T8" y="T9"/>
              </a:cxn>
            </a:cxnLst>
            <a:rect l="0" t="0" r="r" b="b"/>
            <a:pathLst>
              <a:path w="283" h="94">
                <a:moveTo>
                  <a:pt x="0" y="94"/>
                </a:moveTo>
                <a:cubicBezTo>
                  <a:pt x="142" y="94"/>
                  <a:pt x="142" y="94"/>
                  <a:pt x="142" y="94"/>
                </a:cubicBezTo>
                <a:cubicBezTo>
                  <a:pt x="283" y="94"/>
                  <a:pt x="283" y="94"/>
                  <a:pt x="283" y="94"/>
                </a:cubicBezTo>
                <a:cubicBezTo>
                  <a:pt x="182" y="94"/>
                  <a:pt x="142" y="0"/>
                  <a:pt x="142" y="0"/>
                </a:cubicBezTo>
                <a:cubicBezTo>
                  <a:pt x="142" y="0"/>
                  <a:pt x="103" y="94"/>
                  <a:pt x="0" y="94"/>
                </a:cubicBezTo>
                <a:close/>
              </a:path>
            </a:pathLst>
          </a:custGeom>
          <a:solidFill>
            <a:srgbClr val="3CD0B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nvGrpSpPr>
          <p:cNvPr id="57" name="그룹 56"/>
          <p:cNvGrpSpPr/>
          <p:nvPr/>
        </p:nvGrpSpPr>
        <p:grpSpPr>
          <a:xfrm>
            <a:off x="10757080" y="4208413"/>
            <a:ext cx="232560" cy="232560"/>
            <a:chOff x="3090235" y="3812613"/>
            <a:chExt cx="232560" cy="232560"/>
          </a:xfrm>
        </p:grpSpPr>
        <p:sp>
          <p:nvSpPr>
            <p:cNvPr id="58" name="타원 57"/>
            <p:cNvSpPr/>
            <p:nvPr/>
          </p:nvSpPr>
          <p:spPr>
            <a:xfrm>
              <a:off x="3090235" y="3812613"/>
              <a:ext cx="232560" cy="232560"/>
            </a:xfrm>
            <a:prstGeom prst="ellipse">
              <a:avLst/>
            </a:prstGeom>
            <a:solidFill>
              <a:srgbClr val="D6DCE5">
                <a:alpha val="50000"/>
              </a:srgb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타원 58"/>
            <p:cNvSpPr/>
            <p:nvPr/>
          </p:nvSpPr>
          <p:spPr>
            <a:xfrm>
              <a:off x="3156140" y="3878518"/>
              <a:ext cx="100750" cy="100750"/>
            </a:xfrm>
            <a:prstGeom prst="ellipse">
              <a:avLst/>
            </a:prstGeom>
            <a:solidFill>
              <a:srgbClr val="1428A0"/>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60" name="모서리가 둥근 직사각형 59"/>
          <p:cNvSpPr/>
          <p:nvPr/>
        </p:nvSpPr>
        <p:spPr>
          <a:xfrm>
            <a:off x="10378694" y="3324077"/>
            <a:ext cx="962026" cy="291294"/>
          </a:xfrm>
          <a:prstGeom prst="roundRect">
            <a:avLst>
              <a:gd name="adj" fmla="val 50000"/>
            </a:avLst>
          </a:prstGeom>
          <a:solidFill>
            <a:srgbClr val="3CD0B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1" name="Freeform 10"/>
          <p:cNvSpPr>
            <a:spLocks/>
          </p:cNvSpPr>
          <p:nvPr/>
        </p:nvSpPr>
        <p:spPr bwMode="auto">
          <a:xfrm flipH="1" flipV="1">
            <a:off x="10798375" y="3614657"/>
            <a:ext cx="149516" cy="739697"/>
          </a:xfrm>
          <a:custGeom>
            <a:avLst/>
            <a:gdLst>
              <a:gd name="T0" fmla="*/ 0 w 283"/>
              <a:gd name="T1" fmla="*/ 94 h 94"/>
              <a:gd name="T2" fmla="*/ 142 w 283"/>
              <a:gd name="T3" fmla="*/ 94 h 94"/>
              <a:gd name="T4" fmla="*/ 283 w 283"/>
              <a:gd name="T5" fmla="*/ 94 h 94"/>
              <a:gd name="T6" fmla="*/ 142 w 283"/>
              <a:gd name="T7" fmla="*/ 0 h 94"/>
              <a:gd name="T8" fmla="*/ 0 w 283"/>
              <a:gd name="T9" fmla="*/ 94 h 94"/>
            </a:gdLst>
            <a:ahLst/>
            <a:cxnLst>
              <a:cxn ang="0">
                <a:pos x="T0" y="T1"/>
              </a:cxn>
              <a:cxn ang="0">
                <a:pos x="T2" y="T3"/>
              </a:cxn>
              <a:cxn ang="0">
                <a:pos x="T4" y="T5"/>
              </a:cxn>
              <a:cxn ang="0">
                <a:pos x="T6" y="T7"/>
              </a:cxn>
              <a:cxn ang="0">
                <a:pos x="T8" y="T9"/>
              </a:cxn>
            </a:cxnLst>
            <a:rect l="0" t="0" r="r" b="b"/>
            <a:pathLst>
              <a:path w="283" h="94">
                <a:moveTo>
                  <a:pt x="0" y="94"/>
                </a:moveTo>
                <a:cubicBezTo>
                  <a:pt x="142" y="94"/>
                  <a:pt x="142" y="94"/>
                  <a:pt x="142" y="94"/>
                </a:cubicBezTo>
                <a:cubicBezTo>
                  <a:pt x="283" y="94"/>
                  <a:pt x="283" y="94"/>
                  <a:pt x="283" y="94"/>
                </a:cubicBezTo>
                <a:cubicBezTo>
                  <a:pt x="182" y="94"/>
                  <a:pt x="142" y="0"/>
                  <a:pt x="142" y="0"/>
                </a:cubicBezTo>
                <a:cubicBezTo>
                  <a:pt x="142" y="0"/>
                  <a:pt x="103" y="94"/>
                  <a:pt x="0" y="94"/>
                </a:cubicBezTo>
                <a:close/>
              </a:path>
            </a:pathLst>
          </a:custGeom>
          <a:solidFill>
            <a:srgbClr val="3CD0B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sp>
        <p:nvSpPr>
          <p:cNvPr id="62" name="TextBox 61"/>
          <p:cNvSpPr txBox="1"/>
          <p:nvPr/>
        </p:nvSpPr>
        <p:spPr>
          <a:xfrm>
            <a:off x="10536104" y="3343372"/>
            <a:ext cx="670055" cy="246221"/>
          </a:xfrm>
          <a:prstGeom prst="rect">
            <a:avLst/>
          </a:prstGeom>
          <a:noFill/>
        </p:spPr>
        <p:txBody>
          <a:bodyPr wrap="none" lIns="0" tIns="0" rIns="0" bIns="0" rtlCol="0" anchor="ctr">
            <a:spAutoFit/>
          </a:bodyPr>
          <a:lstStyle/>
          <a:p>
            <a:pPr algn="ctr"/>
            <a:r>
              <a:rPr lang="en-US" altLang="ko-KR" sz="800" b="1" dirty="0">
                <a:latin typeface="나눔스퀘어" panose="020B0600000101010101"/>
                <a:ea typeface="나눔스퀘어" panose="020B0600000101010101"/>
              </a:rPr>
              <a:t>US-Iran </a:t>
            </a:r>
          </a:p>
          <a:p>
            <a:pPr algn="ctr"/>
            <a:r>
              <a:rPr lang="en-US" altLang="ko-KR" sz="800" b="1" dirty="0">
                <a:latin typeface="나눔스퀘어" panose="020B0600000101010101"/>
                <a:ea typeface="나눔스퀘어" panose="020B0600000101010101"/>
              </a:rPr>
              <a:t>Ceasefire Deal</a:t>
            </a:r>
          </a:p>
        </p:txBody>
      </p:sp>
      <p:grpSp>
        <p:nvGrpSpPr>
          <p:cNvPr id="63" name="그룹 62"/>
          <p:cNvGrpSpPr/>
          <p:nvPr/>
        </p:nvGrpSpPr>
        <p:grpSpPr>
          <a:xfrm>
            <a:off x="9424411" y="4472822"/>
            <a:ext cx="232560" cy="232560"/>
            <a:chOff x="3090235" y="3812613"/>
            <a:chExt cx="232560" cy="232560"/>
          </a:xfrm>
        </p:grpSpPr>
        <p:sp>
          <p:nvSpPr>
            <p:cNvPr id="64" name="타원 63"/>
            <p:cNvSpPr/>
            <p:nvPr/>
          </p:nvSpPr>
          <p:spPr>
            <a:xfrm>
              <a:off x="3090235" y="3812613"/>
              <a:ext cx="232560" cy="232560"/>
            </a:xfrm>
            <a:prstGeom prst="ellipse">
              <a:avLst/>
            </a:prstGeom>
            <a:solidFill>
              <a:srgbClr val="D6DCE5">
                <a:alpha val="50000"/>
              </a:srgb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5" name="타원 64"/>
            <p:cNvSpPr/>
            <p:nvPr/>
          </p:nvSpPr>
          <p:spPr>
            <a:xfrm>
              <a:off x="3156140" y="3878518"/>
              <a:ext cx="100750" cy="100750"/>
            </a:xfrm>
            <a:prstGeom prst="ellipse">
              <a:avLst/>
            </a:prstGeom>
            <a:solidFill>
              <a:srgbClr val="1428A0"/>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66" name="모서리가 둥근 직사각형 65"/>
          <p:cNvSpPr/>
          <p:nvPr/>
        </p:nvSpPr>
        <p:spPr>
          <a:xfrm>
            <a:off x="8969932" y="3713757"/>
            <a:ext cx="1136750" cy="291294"/>
          </a:xfrm>
          <a:prstGeom prst="roundRect">
            <a:avLst>
              <a:gd name="adj" fmla="val 50000"/>
            </a:avLst>
          </a:prstGeom>
          <a:solidFill>
            <a:srgbClr val="3CD0B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Freeform 10"/>
          <p:cNvSpPr>
            <a:spLocks/>
          </p:cNvSpPr>
          <p:nvPr/>
        </p:nvSpPr>
        <p:spPr bwMode="auto">
          <a:xfrm flipH="1" flipV="1">
            <a:off x="9453467" y="3999959"/>
            <a:ext cx="171390" cy="736151"/>
          </a:xfrm>
          <a:custGeom>
            <a:avLst/>
            <a:gdLst>
              <a:gd name="T0" fmla="*/ 0 w 283"/>
              <a:gd name="T1" fmla="*/ 94 h 94"/>
              <a:gd name="T2" fmla="*/ 142 w 283"/>
              <a:gd name="T3" fmla="*/ 94 h 94"/>
              <a:gd name="T4" fmla="*/ 283 w 283"/>
              <a:gd name="T5" fmla="*/ 94 h 94"/>
              <a:gd name="T6" fmla="*/ 142 w 283"/>
              <a:gd name="T7" fmla="*/ 0 h 94"/>
              <a:gd name="T8" fmla="*/ 0 w 283"/>
              <a:gd name="T9" fmla="*/ 94 h 94"/>
            </a:gdLst>
            <a:ahLst/>
            <a:cxnLst>
              <a:cxn ang="0">
                <a:pos x="T0" y="T1"/>
              </a:cxn>
              <a:cxn ang="0">
                <a:pos x="T2" y="T3"/>
              </a:cxn>
              <a:cxn ang="0">
                <a:pos x="T4" y="T5"/>
              </a:cxn>
              <a:cxn ang="0">
                <a:pos x="T6" y="T7"/>
              </a:cxn>
              <a:cxn ang="0">
                <a:pos x="T8" y="T9"/>
              </a:cxn>
            </a:cxnLst>
            <a:rect l="0" t="0" r="r" b="b"/>
            <a:pathLst>
              <a:path w="283" h="94">
                <a:moveTo>
                  <a:pt x="0" y="94"/>
                </a:moveTo>
                <a:cubicBezTo>
                  <a:pt x="142" y="94"/>
                  <a:pt x="142" y="94"/>
                  <a:pt x="142" y="94"/>
                </a:cubicBezTo>
                <a:cubicBezTo>
                  <a:pt x="283" y="94"/>
                  <a:pt x="283" y="94"/>
                  <a:pt x="283" y="94"/>
                </a:cubicBezTo>
                <a:cubicBezTo>
                  <a:pt x="182" y="94"/>
                  <a:pt x="142" y="0"/>
                  <a:pt x="142" y="0"/>
                </a:cubicBezTo>
                <a:cubicBezTo>
                  <a:pt x="142" y="0"/>
                  <a:pt x="103" y="94"/>
                  <a:pt x="0" y="94"/>
                </a:cubicBezTo>
                <a:close/>
              </a:path>
            </a:pathLst>
          </a:custGeom>
          <a:solidFill>
            <a:srgbClr val="3CD0B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sp>
        <p:nvSpPr>
          <p:cNvPr id="68" name="TextBox 67"/>
          <p:cNvSpPr txBox="1"/>
          <p:nvPr/>
        </p:nvSpPr>
        <p:spPr>
          <a:xfrm>
            <a:off x="8982865" y="3726853"/>
            <a:ext cx="1110882" cy="246221"/>
          </a:xfrm>
          <a:prstGeom prst="rect">
            <a:avLst/>
          </a:prstGeom>
          <a:noFill/>
        </p:spPr>
        <p:txBody>
          <a:bodyPr wrap="square" lIns="0" tIns="0" rIns="0" bIns="0" rtlCol="0" anchor="ctr">
            <a:spAutoFit/>
          </a:bodyPr>
          <a:lstStyle/>
          <a:p>
            <a:pPr algn="ctr"/>
            <a:r>
              <a:rPr lang="en-US" altLang="ko-KR" sz="800" b="1" dirty="0" smtClean="0">
                <a:latin typeface="나눔스퀘어" panose="020B0600000101010101"/>
                <a:ea typeface="나눔스퀘어" panose="020B0600000101010101"/>
              </a:rPr>
              <a:t>Pre-holiday </a:t>
            </a:r>
            <a:r>
              <a:rPr lang="en-US" altLang="ko-KR" sz="800" b="1" dirty="0">
                <a:latin typeface="나눔스퀘어" panose="020B0600000101010101"/>
                <a:ea typeface="나눔스퀘어" panose="020B0600000101010101"/>
              </a:rPr>
              <a:t>Shipping </a:t>
            </a:r>
            <a:endParaRPr lang="en-US" altLang="ko-KR" sz="800" b="1" dirty="0" smtClean="0">
              <a:latin typeface="나눔스퀘어" panose="020B0600000101010101"/>
              <a:ea typeface="나눔스퀘어" panose="020B0600000101010101"/>
            </a:endParaRPr>
          </a:p>
          <a:p>
            <a:pPr algn="ctr"/>
            <a:r>
              <a:rPr lang="en-US" altLang="ko-KR" sz="800" b="1" dirty="0" smtClean="0">
                <a:latin typeface="나눔스퀘어" panose="020B0600000101010101"/>
                <a:ea typeface="나눔스퀘어" panose="020B0600000101010101"/>
              </a:rPr>
              <a:t>Ahead </a:t>
            </a:r>
            <a:r>
              <a:rPr lang="en-US" altLang="ko-KR" sz="800" b="1" dirty="0">
                <a:latin typeface="나눔스퀘어" panose="020B0600000101010101"/>
                <a:ea typeface="나눔스퀘어" panose="020B0600000101010101"/>
              </a:rPr>
              <a:t>of May </a:t>
            </a:r>
            <a:endParaRPr lang="en-US" altLang="ko-KR" sz="800" b="1" dirty="0" smtClean="0">
              <a:ln>
                <a:solidFill>
                  <a:prstClr val="white">
                    <a:alpha val="0"/>
                  </a:prstClr>
                </a:solidFill>
              </a:ln>
              <a:latin typeface="나눔스퀘어" panose="020B0600000101010101"/>
              <a:ea typeface="나눔스퀘어" panose="020B0600000101010101"/>
            </a:endParaRPr>
          </a:p>
        </p:txBody>
      </p:sp>
      <p:grpSp>
        <p:nvGrpSpPr>
          <p:cNvPr id="69" name="그룹 68"/>
          <p:cNvGrpSpPr/>
          <p:nvPr/>
        </p:nvGrpSpPr>
        <p:grpSpPr>
          <a:xfrm>
            <a:off x="8544622" y="5036024"/>
            <a:ext cx="232560" cy="232560"/>
            <a:chOff x="3090235" y="3812613"/>
            <a:chExt cx="232560" cy="232560"/>
          </a:xfrm>
        </p:grpSpPr>
        <p:sp>
          <p:nvSpPr>
            <p:cNvPr id="70" name="타원 69"/>
            <p:cNvSpPr/>
            <p:nvPr/>
          </p:nvSpPr>
          <p:spPr>
            <a:xfrm>
              <a:off x="3090235" y="3812613"/>
              <a:ext cx="232560" cy="232560"/>
            </a:xfrm>
            <a:prstGeom prst="ellipse">
              <a:avLst/>
            </a:prstGeom>
            <a:solidFill>
              <a:srgbClr val="D6DCE5">
                <a:alpha val="50000"/>
              </a:srgb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1" name="타원 70"/>
            <p:cNvSpPr/>
            <p:nvPr/>
          </p:nvSpPr>
          <p:spPr>
            <a:xfrm>
              <a:off x="3156140" y="3878518"/>
              <a:ext cx="100750" cy="100750"/>
            </a:xfrm>
            <a:prstGeom prst="ellipse">
              <a:avLst/>
            </a:prstGeom>
            <a:solidFill>
              <a:srgbClr val="1428A0"/>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2" name="모서리가 둥근 직사각형 71"/>
          <p:cNvSpPr/>
          <p:nvPr/>
        </p:nvSpPr>
        <p:spPr>
          <a:xfrm>
            <a:off x="8016634" y="3978415"/>
            <a:ext cx="1274686" cy="334662"/>
          </a:xfrm>
          <a:prstGeom prst="roundRect">
            <a:avLst>
              <a:gd name="adj" fmla="val 50000"/>
            </a:avLst>
          </a:prstGeom>
          <a:solidFill>
            <a:srgbClr val="3CD0B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TextBox 72"/>
          <p:cNvSpPr txBox="1"/>
          <p:nvPr/>
        </p:nvSpPr>
        <p:spPr>
          <a:xfrm>
            <a:off x="8164433" y="4023848"/>
            <a:ext cx="1000274" cy="246221"/>
          </a:xfrm>
          <a:prstGeom prst="rect">
            <a:avLst/>
          </a:prstGeom>
          <a:noFill/>
        </p:spPr>
        <p:txBody>
          <a:bodyPr wrap="none" lIns="0" tIns="0" rIns="0" bIns="0" rtlCol="0" anchor="ctr">
            <a:spAutoFit/>
          </a:bodyPr>
          <a:lstStyle/>
          <a:p>
            <a:pPr algn="ctr"/>
            <a:r>
              <a:rPr lang="en-US" altLang="ko-KR" sz="800" b="1" dirty="0">
                <a:latin typeface="나눔스퀘어" panose="020B0600000101010101"/>
                <a:ea typeface="나눔스퀘어" panose="020B0600000101010101"/>
              </a:rPr>
              <a:t>Peak Supply Shock </a:t>
            </a:r>
          </a:p>
          <a:p>
            <a:pPr algn="ctr"/>
            <a:r>
              <a:rPr lang="en-US" altLang="ko-KR" sz="800" b="1" dirty="0">
                <a:latin typeface="나눔스퀘어" panose="020B0600000101010101"/>
                <a:ea typeface="나눔스퀘어" panose="020B0600000101010101"/>
              </a:rPr>
              <a:t>&amp; Jet Fuel Price Spike</a:t>
            </a:r>
          </a:p>
        </p:txBody>
      </p:sp>
      <p:sp>
        <p:nvSpPr>
          <p:cNvPr id="74" name="Freeform 10"/>
          <p:cNvSpPr>
            <a:spLocks/>
          </p:cNvSpPr>
          <p:nvPr/>
        </p:nvSpPr>
        <p:spPr bwMode="auto">
          <a:xfrm flipH="1" flipV="1">
            <a:off x="8559496" y="4310678"/>
            <a:ext cx="214013" cy="841539"/>
          </a:xfrm>
          <a:custGeom>
            <a:avLst/>
            <a:gdLst>
              <a:gd name="T0" fmla="*/ 0 w 283"/>
              <a:gd name="T1" fmla="*/ 94 h 94"/>
              <a:gd name="T2" fmla="*/ 142 w 283"/>
              <a:gd name="T3" fmla="*/ 94 h 94"/>
              <a:gd name="T4" fmla="*/ 283 w 283"/>
              <a:gd name="T5" fmla="*/ 94 h 94"/>
              <a:gd name="T6" fmla="*/ 142 w 283"/>
              <a:gd name="T7" fmla="*/ 0 h 94"/>
              <a:gd name="T8" fmla="*/ 0 w 283"/>
              <a:gd name="T9" fmla="*/ 94 h 94"/>
            </a:gdLst>
            <a:ahLst/>
            <a:cxnLst>
              <a:cxn ang="0">
                <a:pos x="T0" y="T1"/>
              </a:cxn>
              <a:cxn ang="0">
                <a:pos x="T2" y="T3"/>
              </a:cxn>
              <a:cxn ang="0">
                <a:pos x="T4" y="T5"/>
              </a:cxn>
              <a:cxn ang="0">
                <a:pos x="T6" y="T7"/>
              </a:cxn>
              <a:cxn ang="0">
                <a:pos x="T8" y="T9"/>
              </a:cxn>
            </a:cxnLst>
            <a:rect l="0" t="0" r="r" b="b"/>
            <a:pathLst>
              <a:path w="283" h="94">
                <a:moveTo>
                  <a:pt x="0" y="94"/>
                </a:moveTo>
                <a:cubicBezTo>
                  <a:pt x="142" y="94"/>
                  <a:pt x="142" y="94"/>
                  <a:pt x="142" y="94"/>
                </a:cubicBezTo>
                <a:cubicBezTo>
                  <a:pt x="283" y="94"/>
                  <a:pt x="283" y="94"/>
                  <a:pt x="283" y="94"/>
                </a:cubicBezTo>
                <a:cubicBezTo>
                  <a:pt x="182" y="94"/>
                  <a:pt x="142" y="0"/>
                  <a:pt x="142" y="0"/>
                </a:cubicBezTo>
                <a:cubicBezTo>
                  <a:pt x="142" y="0"/>
                  <a:pt x="103" y="94"/>
                  <a:pt x="0" y="94"/>
                </a:cubicBezTo>
                <a:close/>
              </a:path>
            </a:pathLst>
          </a:custGeom>
          <a:solidFill>
            <a:srgbClr val="3CD0B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nvGrpSpPr>
          <p:cNvPr id="75" name="그룹 74"/>
          <p:cNvGrpSpPr/>
          <p:nvPr/>
        </p:nvGrpSpPr>
        <p:grpSpPr>
          <a:xfrm>
            <a:off x="10865674" y="4825056"/>
            <a:ext cx="232560" cy="240413"/>
            <a:chOff x="3090235" y="3812613"/>
            <a:chExt cx="232560" cy="232560"/>
          </a:xfrm>
        </p:grpSpPr>
        <p:sp>
          <p:nvSpPr>
            <p:cNvPr id="76" name="타원 75"/>
            <p:cNvSpPr/>
            <p:nvPr/>
          </p:nvSpPr>
          <p:spPr>
            <a:xfrm>
              <a:off x="3090235" y="3812613"/>
              <a:ext cx="232560" cy="232560"/>
            </a:xfrm>
            <a:prstGeom prst="ellipse">
              <a:avLst/>
            </a:prstGeom>
            <a:solidFill>
              <a:srgbClr val="D6DCE5">
                <a:alpha val="50000"/>
              </a:srgb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7" name="타원 76"/>
            <p:cNvSpPr/>
            <p:nvPr/>
          </p:nvSpPr>
          <p:spPr>
            <a:xfrm>
              <a:off x="3156140" y="3878518"/>
              <a:ext cx="100750" cy="97507"/>
            </a:xfrm>
            <a:prstGeom prst="ellipse">
              <a:avLst/>
            </a:prstGeom>
            <a:solidFill>
              <a:srgbClr val="1428A0"/>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8" name="모서리가 둥근 직사각형 77"/>
          <p:cNvSpPr/>
          <p:nvPr/>
        </p:nvSpPr>
        <p:spPr>
          <a:xfrm>
            <a:off x="10308269" y="5528401"/>
            <a:ext cx="1318819" cy="291294"/>
          </a:xfrm>
          <a:prstGeom prst="roundRect">
            <a:avLst>
              <a:gd name="adj" fmla="val 50000"/>
            </a:avLst>
          </a:prstGeom>
          <a:solidFill>
            <a:srgbClr val="3CD0B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9" name="Freeform 10"/>
          <p:cNvSpPr>
            <a:spLocks/>
          </p:cNvSpPr>
          <p:nvPr/>
        </p:nvSpPr>
        <p:spPr bwMode="auto">
          <a:xfrm flipH="1">
            <a:off x="10904139" y="4904967"/>
            <a:ext cx="156403" cy="623434"/>
          </a:xfrm>
          <a:custGeom>
            <a:avLst/>
            <a:gdLst>
              <a:gd name="T0" fmla="*/ 0 w 283"/>
              <a:gd name="T1" fmla="*/ 94 h 94"/>
              <a:gd name="T2" fmla="*/ 142 w 283"/>
              <a:gd name="T3" fmla="*/ 94 h 94"/>
              <a:gd name="T4" fmla="*/ 283 w 283"/>
              <a:gd name="T5" fmla="*/ 94 h 94"/>
              <a:gd name="T6" fmla="*/ 142 w 283"/>
              <a:gd name="T7" fmla="*/ 0 h 94"/>
              <a:gd name="T8" fmla="*/ 0 w 283"/>
              <a:gd name="T9" fmla="*/ 94 h 94"/>
            </a:gdLst>
            <a:ahLst/>
            <a:cxnLst>
              <a:cxn ang="0">
                <a:pos x="T0" y="T1"/>
              </a:cxn>
              <a:cxn ang="0">
                <a:pos x="T2" y="T3"/>
              </a:cxn>
              <a:cxn ang="0">
                <a:pos x="T4" y="T5"/>
              </a:cxn>
              <a:cxn ang="0">
                <a:pos x="T6" y="T7"/>
              </a:cxn>
              <a:cxn ang="0">
                <a:pos x="T8" y="T9"/>
              </a:cxn>
            </a:cxnLst>
            <a:rect l="0" t="0" r="r" b="b"/>
            <a:pathLst>
              <a:path w="283" h="94">
                <a:moveTo>
                  <a:pt x="0" y="94"/>
                </a:moveTo>
                <a:cubicBezTo>
                  <a:pt x="142" y="94"/>
                  <a:pt x="142" y="94"/>
                  <a:pt x="142" y="94"/>
                </a:cubicBezTo>
                <a:cubicBezTo>
                  <a:pt x="283" y="94"/>
                  <a:pt x="283" y="94"/>
                  <a:pt x="283" y="94"/>
                </a:cubicBezTo>
                <a:cubicBezTo>
                  <a:pt x="182" y="94"/>
                  <a:pt x="142" y="0"/>
                  <a:pt x="142" y="0"/>
                </a:cubicBezTo>
                <a:cubicBezTo>
                  <a:pt x="142" y="0"/>
                  <a:pt x="103" y="94"/>
                  <a:pt x="0" y="94"/>
                </a:cubicBezTo>
                <a:close/>
              </a:path>
            </a:pathLst>
          </a:custGeom>
          <a:solidFill>
            <a:srgbClr val="3CD0B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sp>
        <p:nvSpPr>
          <p:cNvPr id="80" name="TextBox 79"/>
          <p:cNvSpPr txBox="1"/>
          <p:nvPr/>
        </p:nvSpPr>
        <p:spPr>
          <a:xfrm>
            <a:off x="10339952" y="5558600"/>
            <a:ext cx="1284006" cy="246221"/>
          </a:xfrm>
          <a:prstGeom prst="rect">
            <a:avLst/>
          </a:prstGeom>
          <a:noFill/>
        </p:spPr>
        <p:txBody>
          <a:bodyPr wrap="none" lIns="0" tIns="0" rIns="0" bIns="0" rtlCol="0" anchor="ctr">
            <a:spAutoFit/>
          </a:bodyPr>
          <a:lstStyle/>
          <a:p>
            <a:pPr algn="ctr"/>
            <a:r>
              <a:rPr lang="en-US" altLang="ko-KR" sz="800" b="1" dirty="0" smtClean="0">
                <a:latin typeface="나눔스퀘어" panose="020B0600000101010101"/>
                <a:ea typeface="나눔스퀘어" panose="020B0600000101010101"/>
              </a:rPr>
              <a:t>Frontloading </a:t>
            </a:r>
            <a:r>
              <a:rPr lang="en-US" altLang="ko-KR" sz="800" b="1" dirty="0">
                <a:latin typeface="나눔스퀘어" panose="020B0600000101010101"/>
                <a:ea typeface="나눔스퀘어" panose="020B0600000101010101"/>
              </a:rPr>
              <a:t>Ahead of </a:t>
            </a:r>
            <a:endParaRPr lang="en-US" altLang="ko-KR" sz="800" b="1" dirty="0" smtClean="0">
              <a:latin typeface="나눔스퀘어" panose="020B0600000101010101"/>
              <a:ea typeface="나눔스퀘어" panose="020B0600000101010101"/>
            </a:endParaRPr>
          </a:p>
          <a:p>
            <a:pPr algn="ctr"/>
            <a:r>
              <a:rPr lang="en-US" altLang="ko-KR" sz="800" b="1" dirty="0" smtClean="0">
                <a:latin typeface="나눔스퀘어" panose="020B0600000101010101"/>
                <a:ea typeface="나눔스퀘어" panose="020B0600000101010101"/>
              </a:rPr>
              <a:t>EU Low-Value </a:t>
            </a:r>
            <a:r>
              <a:rPr lang="en-US" altLang="ko-KR" sz="800" b="1" dirty="0">
                <a:latin typeface="나눔스퀘어" panose="020B0600000101010101"/>
                <a:ea typeface="나눔스퀘어" panose="020B0600000101010101"/>
              </a:rPr>
              <a:t>P</a:t>
            </a:r>
            <a:r>
              <a:rPr lang="en-US" altLang="ko-KR" sz="800" b="1" dirty="0" smtClean="0">
                <a:latin typeface="나눔스퀘어" panose="020B0600000101010101"/>
                <a:ea typeface="나눔스퀘어" panose="020B0600000101010101"/>
              </a:rPr>
              <a:t>arcel </a:t>
            </a:r>
            <a:r>
              <a:rPr lang="en-US" altLang="ko-KR" sz="800" b="1" dirty="0">
                <a:latin typeface="나눔스퀘어" panose="020B0600000101010101"/>
                <a:ea typeface="나눔스퀘어" panose="020B0600000101010101"/>
              </a:rPr>
              <a:t>D</a:t>
            </a:r>
            <a:r>
              <a:rPr lang="en-US" altLang="ko-KR" sz="800" b="1" dirty="0" smtClean="0">
                <a:latin typeface="나눔스퀘어" panose="020B0600000101010101"/>
                <a:ea typeface="나눔스퀘어" panose="020B0600000101010101"/>
              </a:rPr>
              <a:t>uties</a:t>
            </a:r>
            <a:endParaRPr lang="en-US" altLang="ko-KR" sz="800" b="1" dirty="0" smtClean="0">
              <a:ln>
                <a:solidFill>
                  <a:prstClr val="white">
                    <a:alpha val="0"/>
                  </a:prstClr>
                </a:solidFill>
              </a:ln>
              <a:latin typeface="나눔스퀘어" panose="020B0600000101010101"/>
              <a:ea typeface="나눔스퀘어" panose="020B0600000101010101"/>
            </a:endParaRPr>
          </a:p>
        </p:txBody>
      </p:sp>
      <p:grpSp>
        <p:nvGrpSpPr>
          <p:cNvPr id="81" name="그룹 80"/>
          <p:cNvGrpSpPr/>
          <p:nvPr/>
        </p:nvGrpSpPr>
        <p:grpSpPr>
          <a:xfrm>
            <a:off x="10020301" y="6290"/>
            <a:ext cx="1722316" cy="552569"/>
            <a:chOff x="10020301" y="6290"/>
            <a:chExt cx="1722316" cy="552569"/>
          </a:xfrm>
        </p:grpSpPr>
        <p:cxnSp>
          <p:nvCxnSpPr>
            <p:cNvPr id="82" name="직선 연결선 81"/>
            <p:cNvCxnSpPr/>
            <p:nvPr/>
          </p:nvCxnSpPr>
          <p:spPr>
            <a:xfrm>
              <a:off x="11671487" y="6290"/>
              <a:ext cx="0" cy="313957"/>
            </a:xfrm>
            <a:prstGeom prst="line">
              <a:avLst/>
            </a:prstGeom>
            <a:ln w="635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10020301" y="381709"/>
              <a:ext cx="1552032" cy="153888"/>
            </a:xfrm>
            <a:prstGeom prst="rect">
              <a:avLst/>
            </a:prstGeom>
            <a:noFill/>
            <a:ln w="9525">
              <a:noFill/>
              <a:miter lim="800000"/>
              <a:headEnd/>
              <a:tailEnd/>
            </a:ln>
          </p:spPr>
          <p:txBody>
            <a:bodyPr wrap="square" lIns="0" tIns="0" rIns="0" bIns="0" anchor="ctr">
              <a:spAutoFit/>
            </a:bodyPr>
            <a:lstStyle>
              <a:defPPr>
                <a:defRPr lang="ko-KR"/>
              </a:defPPr>
              <a:lvl1pPr defTabSz="914125" fontAlgn="base" latinLnBrk="0">
                <a:spcBef>
                  <a:spcPct val="0"/>
                </a:spcBef>
                <a:spcAft>
                  <a:spcPts val="200"/>
                </a:spcAft>
                <a:defRPr sz="1100" spc="-20">
                  <a:ln>
                    <a:solidFill>
                      <a:prstClr val="white">
                        <a:alpha val="0"/>
                      </a:prstClr>
                    </a:solidFill>
                  </a:ln>
                  <a:solidFill>
                    <a:schemeClr val="tx1">
                      <a:lumMod val="75000"/>
                      <a:lumOff val="25000"/>
                    </a:schemeClr>
                  </a:solidFill>
                  <a:latin typeface="KoPub돋움체 Bold" panose="02020603020101020101" pitchFamily="18" charset="-127"/>
                  <a:ea typeface="KoPub돋움체 Bold" panose="02020603020101020101" pitchFamily="18" charset="-127"/>
                  <a:cs typeface="Arial" charset="0"/>
                </a:defRPr>
              </a:lvl1pPr>
            </a:lstStyle>
            <a:p>
              <a:pPr lvl="0" algn="r">
                <a:defRPr/>
              </a:pPr>
              <a:r>
                <a:rPr lang="en-US" altLang="ko-KR"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rPr>
                <a:t>2026 1H Market Review</a:t>
              </a:r>
            </a:p>
          </p:txBody>
        </p:sp>
        <p:sp>
          <p:nvSpPr>
            <p:cNvPr id="84" name="타원 83"/>
            <p:cNvSpPr/>
            <p:nvPr/>
          </p:nvSpPr>
          <p:spPr>
            <a:xfrm>
              <a:off x="11340239" y="290256"/>
              <a:ext cx="51827" cy="51827"/>
            </a:xfrm>
            <a:prstGeom prst="ellipse">
              <a:avLst/>
            </a:prstGeom>
            <a:solidFill>
              <a:schemeClr val="bg1">
                <a:lumMod val="75000"/>
                <a:alpha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85" name="타원 84"/>
            <p:cNvSpPr/>
            <p:nvPr/>
          </p:nvSpPr>
          <p:spPr>
            <a:xfrm>
              <a:off x="11422266" y="290256"/>
              <a:ext cx="51827" cy="51827"/>
            </a:xfrm>
            <a:prstGeom prst="ellipse">
              <a:avLst/>
            </a:prstGeom>
            <a:solidFill>
              <a:srgbClr val="0146A0"/>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86" name="타원 85"/>
            <p:cNvSpPr/>
            <p:nvPr/>
          </p:nvSpPr>
          <p:spPr>
            <a:xfrm>
              <a:off x="11504294" y="290256"/>
              <a:ext cx="51827" cy="51827"/>
            </a:xfrm>
            <a:prstGeom prst="ellipse">
              <a:avLst/>
            </a:prstGeom>
            <a:solidFill>
              <a:schemeClr val="bg1">
                <a:lumMod val="75000"/>
                <a:alpha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87" name="TextBox 86"/>
            <p:cNvSpPr txBox="1"/>
            <p:nvPr/>
          </p:nvSpPr>
          <p:spPr>
            <a:xfrm>
              <a:off x="11646437" y="343415"/>
              <a:ext cx="96180" cy="215444"/>
            </a:xfrm>
            <a:prstGeom prst="rect">
              <a:avLst/>
            </a:prstGeom>
            <a:noFill/>
          </p:spPr>
          <p:txBody>
            <a:bodyPr wrap="none" lIns="0" tIns="0" rIns="0" bIns="0" rtlCol="0" anchor="ctr" anchorCtr="0">
              <a:spAutoFit/>
            </a:bodyPr>
            <a:lstStyle>
              <a:defPPr>
                <a:defRPr lang="ko-KR"/>
              </a:defPPr>
              <a:lvl1pPr>
                <a:spcAft>
                  <a:spcPts val="300"/>
                </a:spcAft>
                <a:defRPr sz="2800" spc="-100">
                  <a:ln>
                    <a:solidFill>
                      <a:schemeClr val="bg1">
                        <a:alpha val="0"/>
                      </a:schemeClr>
                    </a:solidFill>
                  </a:ln>
                  <a:solidFill>
                    <a:srgbClr val="005B8D"/>
                  </a:solidFill>
                  <a:latin typeface="Times New Roman" panose="02020603050405020304" pitchFamily="18" charset="0"/>
                  <a:ea typeface="KoPub돋움체 Bold" panose="02020603020101020101" pitchFamily="18" charset="-127"/>
                  <a:cs typeface="Times New Roman" panose="02020603050405020304" pitchFamily="18" charset="0"/>
                </a:defRPr>
              </a:lvl1pPr>
            </a:lstStyle>
            <a:p>
              <a:pPr latinLnBrk="0">
                <a:defRPr/>
              </a:pPr>
              <a:r>
                <a:rPr lang="en-US" altLang="ko-KR" sz="1400" spc="-150" dirty="0">
                  <a:ln>
                    <a:solidFill>
                      <a:prstClr val="white">
                        <a:alpha val="0"/>
                      </a:prstClr>
                    </a:solidFill>
                  </a:ln>
                  <a:solidFill>
                    <a:srgbClr val="0146A0"/>
                  </a:solidFill>
                  <a:ea typeface="KoPub돋움체 Medium" panose="02020603020101020101" pitchFamily="18" charset="-127"/>
                </a:rPr>
                <a:t>Ⅱ</a:t>
              </a:r>
            </a:p>
          </p:txBody>
        </p:sp>
      </p:grpSp>
    </p:spTree>
    <p:extLst>
      <p:ext uri="{BB962C8B-B14F-4D97-AF65-F5344CB8AC3E}">
        <p14:creationId xmlns:p14="http://schemas.microsoft.com/office/powerpoint/2010/main" val="7443451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6200E7D-FDD1-7B40-8B62-165CA944F069}"/>
              </a:ext>
            </a:extLst>
          </p:cNvPr>
          <p:cNvSpPr txBox="1"/>
          <p:nvPr/>
        </p:nvSpPr>
        <p:spPr>
          <a:xfrm>
            <a:off x="821897" y="3156506"/>
            <a:ext cx="948845" cy="861774"/>
          </a:xfrm>
          <a:prstGeom prst="rect">
            <a:avLst/>
          </a:prstGeom>
          <a:noFill/>
        </p:spPr>
        <p:txBody>
          <a:bodyPr wrap="square" rtlCol="0" anchor="ctr" anchorCtr="0">
            <a:spAutoFit/>
          </a:bodyPr>
          <a:lstStyle/>
          <a:p>
            <a:pPr lvl="0" defTabSz="912736">
              <a:defRPr/>
            </a:pPr>
            <a:r>
              <a:rPr lang="en-US" altLang="ko-KR" sz="5000" b="1" spc="-50" dirty="0" smtClean="0">
                <a:ln>
                  <a:solidFill>
                    <a:prstClr val="white">
                      <a:alpha val="0"/>
                    </a:prstClr>
                  </a:solidFill>
                </a:ln>
                <a:solidFill>
                  <a:srgbClr val="1428A0"/>
                </a:solidFill>
                <a:latin typeface="나눔스퀘어 Bold" panose="020B0600000101010101" pitchFamily="50" charset="-127"/>
                <a:ea typeface="나눔스퀘어 Bold" panose="020B0600000101010101" pitchFamily="50" charset="-127"/>
              </a:rPr>
              <a:t>Ⅲ.</a:t>
            </a:r>
            <a:endParaRPr lang="en-US" altLang="ko-KR" sz="5000" b="1" spc="-50" dirty="0">
              <a:ln>
                <a:solidFill>
                  <a:prstClr val="white">
                    <a:alpha val="0"/>
                  </a:prstClr>
                </a:solidFill>
              </a:ln>
              <a:solidFill>
                <a:srgbClr val="1428A0"/>
              </a:solidFill>
              <a:latin typeface="나눔스퀘어 Bold" panose="020B0600000101010101" pitchFamily="50" charset="-127"/>
              <a:ea typeface="나눔스퀘어 Bold" panose="020B0600000101010101" pitchFamily="50" charset="-127"/>
            </a:endParaRPr>
          </a:p>
        </p:txBody>
      </p:sp>
      <p:sp>
        <p:nvSpPr>
          <p:cNvPr id="7" name="TextBox 6">
            <a:extLst>
              <a:ext uri="{FF2B5EF4-FFF2-40B4-BE49-F238E27FC236}">
                <a16:creationId xmlns:a16="http://schemas.microsoft.com/office/drawing/2014/main" id="{311EAEE3-D533-2646-9590-C3056B8E1BC0}"/>
              </a:ext>
            </a:extLst>
          </p:cNvPr>
          <p:cNvSpPr txBox="1"/>
          <p:nvPr/>
        </p:nvSpPr>
        <p:spPr>
          <a:xfrm>
            <a:off x="1780989" y="3156506"/>
            <a:ext cx="7356822" cy="861774"/>
          </a:xfrm>
          <a:prstGeom prst="rect">
            <a:avLst/>
          </a:prstGeom>
          <a:noFill/>
        </p:spPr>
        <p:txBody>
          <a:bodyPr wrap="none" rtlCol="0" anchor="t" anchorCtr="0">
            <a:spAutoFit/>
          </a:bodyPr>
          <a:lstStyle/>
          <a:p>
            <a:pPr>
              <a:defRPr/>
            </a:pPr>
            <a:r>
              <a:rPr lang="en-US" altLang="ko-KR" sz="5000" b="1" spc="-70" dirty="0">
                <a:ln>
                  <a:solidFill>
                    <a:prstClr val="white">
                      <a:alpha val="0"/>
                    </a:prstClr>
                  </a:solidFill>
                </a:ln>
                <a:latin typeface="나눔스퀘어 Bold" panose="020B0600000101010101" pitchFamily="50" charset="-127"/>
                <a:ea typeface="나눔스퀘어 Bold" panose="020B0600000101010101" pitchFamily="50" charset="-127"/>
                <a:cs typeface="나눔스퀘어" panose="02000603000000020004" pitchFamily="50" charset="-127"/>
              </a:rPr>
              <a:t>2026 2H Market Outlook</a:t>
            </a:r>
            <a:endParaRPr lang="ko-KR" altLang="en-US" sz="5000" b="1" spc="-70" dirty="0">
              <a:ln>
                <a:solidFill>
                  <a:prstClr val="white">
                    <a:alpha val="0"/>
                  </a:prstClr>
                </a:solidFill>
              </a:ln>
              <a:latin typeface="나눔스퀘어 Bold" panose="020B0600000101010101" pitchFamily="50" charset="-127"/>
              <a:ea typeface="나눔스퀘어 Bold" panose="020B0600000101010101" pitchFamily="50" charset="-127"/>
              <a:cs typeface="나눔스퀘어" panose="02000603000000020004" pitchFamily="50" charset="-127"/>
            </a:endParaRPr>
          </a:p>
        </p:txBody>
      </p:sp>
    </p:spTree>
    <p:extLst>
      <p:ext uri="{BB962C8B-B14F-4D97-AF65-F5344CB8AC3E}">
        <p14:creationId xmlns:p14="http://schemas.microsoft.com/office/powerpoint/2010/main" val="36380920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Ocean Demand Outlook</a:t>
            </a:r>
            <a:endParaRPr lang="ko-KR" altLang="en-US" dirty="0"/>
          </a:p>
        </p:txBody>
      </p:sp>
      <p:sp>
        <p:nvSpPr>
          <p:cNvPr id="3" name="텍스트 개체 틀 2"/>
          <p:cNvSpPr>
            <a:spLocks noGrp="1"/>
          </p:cNvSpPr>
          <p:nvPr>
            <p:ph type="body" sz="quarter" idx="10"/>
          </p:nvPr>
        </p:nvSpPr>
        <p:spPr/>
        <p:txBody>
          <a:bodyPr/>
          <a:lstStyle/>
          <a:p>
            <a:pPr latinLnBrk="0"/>
            <a:r>
              <a:rPr lang="en-US" altLang="ko-KR" spc="-50" dirty="0"/>
              <a:t>Global container demand is expected to remain resilient this year, supported by solid non-Middle East </a:t>
            </a:r>
            <a:r>
              <a:rPr lang="en-US" altLang="ko-KR" spc="-50" dirty="0" smtClean="0"/>
              <a:t>demand</a:t>
            </a:r>
          </a:p>
          <a:p>
            <a:pPr latinLnBrk="0"/>
            <a:r>
              <a:rPr lang="en-US" altLang="ko-KR" dirty="0" smtClean="0"/>
              <a:t>Demand </a:t>
            </a:r>
            <a:r>
              <a:rPr lang="en-US" altLang="ko-KR" dirty="0"/>
              <a:t>is expected to slow in 2H as front-loading limits further growth after the early peak </a:t>
            </a:r>
            <a:r>
              <a:rPr lang="en-US" altLang="ko-KR" dirty="0" smtClean="0"/>
              <a:t>season</a:t>
            </a:r>
          </a:p>
        </p:txBody>
      </p:sp>
      <p:grpSp>
        <p:nvGrpSpPr>
          <p:cNvPr id="47" name="그룹 48"/>
          <p:cNvGrpSpPr/>
          <p:nvPr/>
        </p:nvGrpSpPr>
        <p:grpSpPr>
          <a:xfrm>
            <a:off x="503791" y="2117975"/>
            <a:ext cx="5436159" cy="374400"/>
            <a:chOff x="515380" y="1844820"/>
            <a:chExt cx="5436158" cy="374400"/>
          </a:xfrm>
        </p:grpSpPr>
        <p:sp>
          <p:nvSpPr>
            <p:cNvPr id="51" name="Rectangle 215"/>
            <p:cNvSpPr>
              <a:spLocks noChangeArrowheads="1"/>
            </p:cNvSpPr>
            <p:nvPr/>
          </p:nvSpPr>
          <p:spPr bwMode="auto">
            <a:xfrm>
              <a:off x="515380" y="1844820"/>
              <a:ext cx="5436158"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52" name="TextBox 116"/>
            <p:cNvSpPr txBox="1">
              <a:spLocks noChangeArrowheads="1"/>
            </p:cNvSpPr>
            <p:nvPr/>
          </p:nvSpPr>
          <p:spPr bwMode="auto">
            <a:xfrm>
              <a:off x="673467" y="1915641"/>
              <a:ext cx="511998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lvl="0" algn="ctr" defTabSz="1038977" eaLnBrk="1" hangingPunct="1"/>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Resilient Global Container Demand in 2026</a:t>
              </a:r>
              <a:endParaRPr kumimoji="0" lang="ko-KR" altLang="en-US"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grpSp>
      <p:sp>
        <p:nvSpPr>
          <p:cNvPr id="49" name="Rectangle 215"/>
          <p:cNvSpPr>
            <a:spLocks noChangeArrowheads="1"/>
          </p:cNvSpPr>
          <p:nvPr/>
        </p:nvSpPr>
        <p:spPr bwMode="auto">
          <a:xfrm>
            <a:off x="6235069" y="2117975"/>
            <a:ext cx="5436000"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45" name="자유형 63"/>
          <p:cNvSpPr/>
          <p:nvPr/>
        </p:nvSpPr>
        <p:spPr>
          <a:xfrm>
            <a:off x="503790" y="2117975"/>
            <a:ext cx="780087" cy="368297"/>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46" name="자유형 64"/>
          <p:cNvSpPr/>
          <p:nvPr/>
        </p:nvSpPr>
        <p:spPr>
          <a:xfrm>
            <a:off x="503790" y="2117975"/>
            <a:ext cx="780088" cy="368297"/>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43" name="자유형 63"/>
          <p:cNvSpPr/>
          <p:nvPr/>
        </p:nvSpPr>
        <p:spPr>
          <a:xfrm>
            <a:off x="6237602" y="2118958"/>
            <a:ext cx="780087" cy="368297"/>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44" name="자유형 64"/>
          <p:cNvSpPr/>
          <p:nvPr/>
        </p:nvSpPr>
        <p:spPr>
          <a:xfrm>
            <a:off x="6237602" y="2118958"/>
            <a:ext cx="780088" cy="368297"/>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pic>
        <p:nvPicPr>
          <p:cNvPr id="53" name="Picture 200" descr="악세사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339689" y="4546810"/>
            <a:ext cx="3535193" cy="91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4" name="TextBox 53">
            <a:extLst>
              <a:ext uri="{FF2B5EF4-FFF2-40B4-BE49-F238E27FC236}">
                <a16:creationId xmlns:a16="http://schemas.microsoft.com/office/drawing/2014/main" id="{5C91891D-2B97-7824-4757-F84C493DF63F}"/>
              </a:ext>
            </a:extLst>
          </p:cNvPr>
          <p:cNvSpPr txBox="1"/>
          <p:nvPr/>
        </p:nvSpPr>
        <p:spPr>
          <a:xfrm>
            <a:off x="525890" y="6498737"/>
            <a:ext cx="1779333" cy="153888"/>
          </a:xfrm>
          <a:prstGeom prst="rect">
            <a:avLst/>
          </a:prstGeom>
          <a:noFill/>
        </p:spPr>
        <p:txBody>
          <a:bodyPr wrap="none" lIns="0" tIns="0" rIns="0" bIns="0" rtlCol="0" anchor="ctr">
            <a:spAutoFit/>
          </a:bodyPr>
          <a:lstStyle/>
          <a:p>
            <a:pPr latinLnBrk="0"/>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Source</a:t>
            </a:r>
            <a:r>
              <a:rPr lang="ko-KR" altLang="en-US"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err="1" smtClean="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Clarksons</a:t>
            </a:r>
            <a:r>
              <a:rPr lang="en-US" altLang="ko-KR" sz="1000" dirty="0" smtClean="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 CTS / NRF</a:t>
            </a:r>
            <a:endPar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endParaRPr>
          </a:p>
        </p:txBody>
      </p:sp>
      <p:grpSp>
        <p:nvGrpSpPr>
          <p:cNvPr id="72" name="그룹 71"/>
          <p:cNvGrpSpPr/>
          <p:nvPr/>
        </p:nvGrpSpPr>
        <p:grpSpPr>
          <a:xfrm>
            <a:off x="521699" y="2596048"/>
            <a:ext cx="5410242" cy="230832"/>
            <a:chOff x="522352" y="2590117"/>
            <a:chExt cx="5410242" cy="230832"/>
          </a:xfrm>
        </p:grpSpPr>
        <p:sp>
          <p:nvSpPr>
            <p:cNvPr id="73" name="직사각형 72">
              <a:extLst>
                <a:ext uri="{FF2B5EF4-FFF2-40B4-BE49-F238E27FC236}">
                  <a16:creationId xmlns:a16="http://schemas.microsoft.com/office/drawing/2014/main" id="{5E1BAC51-93E3-4E55-A59B-3BB621CD3405}"/>
                </a:ext>
              </a:extLst>
            </p:cNvPr>
            <p:cNvSpPr/>
            <p:nvPr/>
          </p:nvSpPr>
          <p:spPr>
            <a:xfrm>
              <a:off x="781342" y="2590117"/>
              <a:ext cx="5151252" cy="230832"/>
            </a:xfrm>
            <a:prstGeom prst="rect">
              <a:avLst/>
            </a:prstGeom>
            <a:noFill/>
          </p:spPr>
          <p:txBody>
            <a:bodyPr wrap="none" lIns="0" tIns="0" rIns="0" bIns="0" anchor="t">
              <a:noAutofit/>
            </a:bodyPr>
            <a:lstStyle/>
            <a:p>
              <a:pPr marR="608330" lvl="0" latinLnBrk="0">
                <a:defRPr/>
              </a:pPr>
              <a:r>
                <a:rPr lang="en-US" altLang="ko-KR" sz="1500" b="1" kern="100" spc="-100" dirty="0">
                  <a:latin typeface="나눔스퀘어 ExtraBold" panose="020B0600000101010101" pitchFamily="50" charset="-127"/>
                  <a:ea typeface="나눔스퀘어 ExtraBold" panose="020B0600000101010101" pitchFamily="50" charset="-127"/>
                  <a:cs typeface="바탕" panose="02030600000101010101" pitchFamily="18" charset="-127"/>
                </a:rPr>
                <a:t>Global container volumes are expected to grow </a:t>
              </a:r>
              <a:r>
                <a:rPr lang="en-US" altLang="ko-KR" sz="1500" b="1" kern="100" spc="-100" dirty="0" smtClean="0">
                  <a:latin typeface="나눔스퀘어 ExtraBold" panose="020B0600000101010101" pitchFamily="50" charset="-127"/>
                  <a:ea typeface="나눔스퀘어 ExtraBold" panose="020B0600000101010101" pitchFamily="50" charset="-127"/>
                  <a:cs typeface="바탕" panose="02030600000101010101" pitchFamily="18" charset="-127"/>
                </a:rPr>
                <a:t>3.3% </a:t>
              </a:r>
              <a:r>
                <a:rPr lang="en-US" altLang="ko-KR" sz="1500" b="1" kern="100" spc="-100" dirty="0">
                  <a:latin typeface="나눔스퀘어 ExtraBold" panose="020B0600000101010101" pitchFamily="50" charset="-127"/>
                  <a:ea typeface="나눔스퀘어 ExtraBold" panose="020B0600000101010101" pitchFamily="50" charset="-127"/>
                  <a:cs typeface="바탕" panose="02030600000101010101" pitchFamily="18" charset="-127"/>
                </a:rPr>
                <a:t>YoY in </a:t>
              </a:r>
              <a:r>
                <a:rPr lang="en-US" altLang="ko-KR" sz="1500" b="1" kern="100" spc="-100" dirty="0" smtClean="0">
                  <a:latin typeface="나눔스퀘어 ExtraBold" panose="020B0600000101010101" pitchFamily="50" charset="-127"/>
                  <a:ea typeface="나눔스퀘어 ExtraBold" panose="020B0600000101010101" pitchFamily="50" charset="-127"/>
                  <a:cs typeface="바탕" panose="02030600000101010101" pitchFamily="18" charset="-127"/>
                </a:rPr>
                <a:t>2026</a:t>
              </a:r>
              <a:endParaRPr lang="ko-KR" altLang="en-US" sz="1500" b="1" kern="100" spc="-100" dirty="0">
                <a:latin typeface="나눔스퀘어 ExtraBold" panose="020B0600000101010101" pitchFamily="50" charset="-127"/>
                <a:ea typeface="나눔스퀘어 ExtraBold" panose="020B0600000101010101" pitchFamily="50" charset="-127"/>
                <a:cs typeface="바탕" panose="02030600000101010101" pitchFamily="18" charset="-127"/>
              </a:endParaRPr>
            </a:p>
          </p:txBody>
        </p:sp>
        <p:grpSp>
          <p:nvGrpSpPr>
            <p:cNvPr id="74" name="그룹 73"/>
            <p:cNvGrpSpPr/>
            <p:nvPr/>
          </p:nvGrpSpPr>
          <p:grpSpPr>
            <a:xfrm>
              <a:off x="522352" y="2609533"/>
              <a:ext cx="192000" cy="192000"/>
              <a:chOff x="412816" y="1633655"/>
              <a:chExt cx="184804" cy="185998"/>
            </a:xfrm>
          </p:grpSpPr>
          <p:sp>
            <p:nvSpPr>
              <p:cNvPr id="75" name="모서리가 둥근 직사각형 74"/>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76" name="그룹 186"/>
              <p:cNvGrpSpPr/>
              <p:nvPr/>
            </p:nvGrpSpPr>
            <p:grpSpPr>
              <a:xfrm>
                <a:off x="454440" y="1688440"/>
                <a:ext cx="106516" cy="76455"/>
                <a:chOff x="3366478" y="5412581"/>
                <a:chExt cx="126078" cy="89916"/>
              </a:xfrm>
              <a:solidFill>
                <a:schemeClr val="bg1"/>
              </a:solidFill>
            </p:grpSpPr>
            <p:sp>
              <p:nvSpPr>
                <p:cNvPr id="77" name="모서리가 둥근 직사각형 76"/>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78" name="모서리가 둥근 직사각형 77"/>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sp>
        <p:nvSpPr>
          <p:cNvPr id="79" name="직사각형 25"/>
          <p:cNvSpPr/>
          <p:nvPr/>
        </p:nvSpPr>
        <p:spPr>
          <a:xfrm>
            <a:off x="650244" y="2897229"/>
            <a:ext cx="5619510" cy="1897955"/>
          </a:xfrm>
          <a:prstGeom prst="rect">
            <a:avLst/>
          </a:prstGeom>
        </p:spPr>
        <p:txBody>
          <a:bodyPr wrap="square">
            <a:spAutoFit/>
          </a:bodyPr>
          <a:lstStyle/>
          <a:p>
            <a:pPr marL="144000" indent="-144000" defTabSz="1038977" latinLnBrk="0">
              <a:spcAft>
                <a:spcPts val="800"/>
              </a:spcAft>
              <a:buFont typeface="Arial" panose="020B0604020202020204" pitchFamily="34" charset="0"/>
              <a:buChar char="•"/>
            </a:pPr>
            <a:r>
              <a:rPr lang="en-US" altLang="ko-KR" sz="1400" spc="-20" dirty="0">
                <a:latin typeface="나눔스퀘어" panose="020B0600000101010101" pitchFamily="50" charset="-127"/>
                <a:ea typeface="나눔스퀘어" panose="020B0600000101010101" pitchFamily="50" charset="-127"/>
              </a:rPr>
              <a:t>Solid non-Middle East demand supports global </a:t>
            </a:r>
            <a:r>
              <a:rPr lang="en-US" altLang="ko-KR" sz="1400" spc="-20" dirty="0" smtClean="0">
                <a:latin typeface="나눔스퀘어" panose="020B0600000101010101" pitchFamily="50" charset="-127"/>
                <a:ea typeface="나눔스퀘어" panose="020B0600000101010101" pitchFamily="50" charset="-127"/>
              </a:rPr>
              <a:t>demand</a:t>
            </a:r>
          </a:p>
          <a:p>
            <a:pPr defTabSz="1038977" latinLnBrk="0">
              <a:spcAft>
                <a:spcPts val="800"/>
              </a:spcAft>
            </a:pPr>
            <a:r>
              <a:rPr lang="en-US" altLang="ko-KR" sz="1400" spc="-10" dirty="0">
                <a:latin typeface="나눔스퀘어" panose="020B0600000101010101" pitchFamily="50" charset="-127"/>
                <a:ea typeface="나눔스퀘어" panose="020B0600000101010101" pitchFamily="50" charset="-127"/>
              </a:rPr>
              <a:t>   - </a:t>
            </a:r>
            <a:r>
              <a:rPr lang="en-US" altLang="ko-KR" sz="1400" spc="-100" dirty="0">
                <a:latin typeface="나눔스퀘어" panose="020B0600000101010101" pitchFamily="50" charset="-127"/>
                <a:ea typeface="나눔스퀘어" panose="020B0600000101010101" pitchFamily="50" charset="-127"/>
              </a:rPr>
              <a:t>Strong 1H non-Middle East demand offset weaker Middle East </a:t>
            </a:r>
            <a:r>
              <a:rPr lang="en-US" altLang="ko-KR" sz="1400" spc="-100" dirty="0" smtClean="0">
                <a:latin typeface="나눔스퀘어" panose="020B0600000101010101" pitchFamily="50" charset="-127"/>
                <a:ea typeface="나눔스퀘어" panose="020B0600000101010101" pitchFamily="50" charset="-127"/>
              </a:rPr>
              <a:t>volumes</a:t>
            </a: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a:t>
            </a:r>
            <a:r>
              <a:rPr lang="en-US" altLang="ko-KR" sz="1400" dirty="0">
                <a:latin typeface="나눔스퀘어" panose="020B0600000101010101" pitchFamily="50" charset="-127"/>
                <a:ea typeface="나눔스퀘어" panose="020B0600000101010101" pitchFamily="50" charset="-127"/>
              </a:rPr>
              <a:t>- </a:t>
            </a:r>
            <a:r>
              <a:rPr lang="en-US" altLang="ko-KR" sz="1400" spc="-100" dirty="0">
                <a:latin typeface="나눔스퀘어" panose="020B0600000101010101" pitchFamily="50" charset="-127"/>
                <a:ea typeface="나눔스퀘어" panose="020B0600000101010101" pitchFamily="50" charset="-127"/>
              </a:rPr>
              <a:t>Europe front-loading and emerging exports boosted Asia-origin </a:t>
            </a:r>
            <a:r>
              <a:rPr lang="en-US" altLang="ko-KR" sz="1400" spc="-100" dirty="0" smtClean="0">
                <a:latin typeface="나눔스퀘어" panose="020B0600000101010101" pitchFamily="50" charset="-127"/>
                <a:ea typeface="나눔스퀘어" panose="020B0600000101010101" pitchFamily="50" charset="-127"/>
              </a:rPr>
              <a:t>growth</a:t>
            </a:r>
          </a:p>
          <a:p>
            <a:pPr marL="144000" indent="-144000" defTabSz="1038977" latinLnBrk="0">
              <a:spcAft>
                <a:spcPts val="800"/>
              </a:spcAft>
              <a:buFont typeface="Arial" panose="020B0604020202020204" pitchFamily="34" charset="0"/>
              <a:buChar char="•"/>
            </a:pPr>
            <a:r>
              <a:rPr lang="en-US" altLang="ko-KR" sz="1400" spc="-20" dirty="0">
                <a:latin typeface="나눔스퀘어" panose="020B0600000101010101" pitchFamily="50" charset="-127"/>
                <a:ea typeface="나눔스퀘어" panose="020B0600000101010101" pitchFamily="50" charset="-127"/>
              </a:rPr>
              <a:t>Middle East trade recovery remains a potential </a:t>
            </a:r>
            <a:r>
              <a:rPr lang="en-US" altLang="ko-KR" sz="1400" spc="-20" dirty="0" smtClean="0">
                <a:latin typeface="나눔스퀘어" panose="020B0600000101010101" pitchFamily="50" charset="-127"/>
                <a:ea typeface="나눔스퀘어" panose="020B0600000101010101" pitchFamily="50" charset="-127"/>
              </a:rPr>
              <a:t>upside</a:t>
            </a:r>
            <a:endParaRPr lang="en-US" altLang="ko-KR" sz="1400" spc="-20" dirty="0">
              <a:latin typeface="나눔스퀘어" panose="020B0600000101010101" pitchFamily="50" charset="-127"/>
              <a:ea typeface="나눔스퀘어" panose="020B0600000101010101" pitchFamily="50" charset="-127"/>
            </a:endParaRP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 </a:t>
            </a:r>
            <a:r>
              <a:rPr lang="en-US" altLang="ko-KR" sz="1400" dirty="0">
                <a:latin typeface="나눔스퀘어" panose="020B0600000101010101" pitchFamily="50" charset="-127"/>
                <a:ea typeface="나눔스퀘어" panose="020B0600000101010101" pitchFamily="50" charset="-127"/>
              </a:rPr>
              <a:t>Service normalization could support direct Middle East </a:t>
            </a:r>
            <a:r>
              <a:rPr lang="en-US" altLang="ko-KR" sz="1400" dirty="0" smtClean="0">
                <a:latin typeface="나눔스퀘어" panose="020B0600000101010101" pitchFamily="50" charset="-127"/>
                <a:ea typeface="나눔스퀘어" panose="020B0600000101010101" pitchFamily="50" charset="-127"/>
              </a:rPr>
              <a:t>trade</a:t>
            </a:r>
            <a:endParaRPr lang="en-US" altLang="ko-KR" sz="1400" spc="-70" dirty="0" smtClean="0">
              <a:latin typeface="나눔스퀘어" panose="020B0600000101010101" pitchFamily="50" charset="-127"/>
              <a:ea typeface="나눔스퀘어" panose="020B0600000101010101" pitchFamily="50" charset="-127"/>
            </a:endParaRPr>
          </a:p>
          <a:p>
            <a:pPr defTabSz="1038977" latinLnBrk="0">
              <a:spcAft>
                <a:spcPts val="800"/>
              </a:spcAft>
            </a:pPr>
            <a:r>
              <a:rPr lang="en-US" altLang="ko-KR" sz="1400" dirty="0">
                <a:latin typeface="나눔스퀘어" panose="020B0600000101010101" pitchFamily="50" charset="-127"/>
                <a:ea typeface="나눔스퀘어" panose="020B0600000101010101" pitchFamily="50" charset="-127"/>
              </a:rPr>
              <a:t> </a:t>
            </a:r>
            <a:r>
              <a:rPr lang="en-US" altLang="ko-KR" sz="1400" dirty="0" smtClean="0">
                <a:latin typeface="나눔스퀘어" panose="020B0600000101010101" pitchFamily="50" charset="-127"/>
                <a:ea typeface="나눔스퀘어" panose="020B0600000101010101" pitchFamily="50" charset="-127"/>
              </a:rPr>
              <a:t>  - </a:t>
            </a:r>
            <a:r>
              <a:rPr lang="en-US" altLang="ko-KR" sz="1400" dirty="0">
                <a:latin typeface="나눔스퀘어" panose="020B0600000101010101" pitchFamily="50" charset="-127"/>
                <a:ea typeface="나눔스퀘어" panose="020B0600000101010101" pitchFamily="50" charset="-127"/>
              </a:rPr>
              <a:t>Gradual recovery is expected, limiting near-term volume </a:t>
            </a:r>
            <a:r>
              <a:rPr lang="en-US" altLang="ko-KR" sz="1400" dirty="0" smtClean="0">
                <a:latin typeface="나눔스퀘어" panose="020B0600000101010101" pitchFamily="50" charset="-127"/>
                <a:ea typeface="나눔스퀘어" panose="020B0600000101010101" pitchFamily="50" charset="-127"/>
              </a:rPr>
              <a:t>gains</a:t>
            </a:r>
            <a:endParaRPr lang="en-US" altLang="ko-KR" sz="1400" spc="-50" dirty="0">
              <a:latin typeface="나눔스퀘어" panose="020B0600000101010101" pitchFamily="50" charset="-127"/>
              <a:ea typeface="나눔스퀘어" panose="020B0600000101010101" pitchFamily="50" charset="-127"/>
            </a:endParaRPr>
          </a:p>
        </p:txBody>
      </p:sp>
      <p:grpSp>
        <p:nvGrpSpPr>
          <p:cNvPr id="80" name="그룹 79"/>
          <p:cNvGrpSpPr/>
          <p:nvPr/>
        </p:nvGrpSpPr>
        <p:grpSpPr>
          <a:xfrm>
            <a:off x="6290801" y="2596048"/>
            <a:ext cx="5410242" cy="230832"/>
            <a:chOff x="522352" y="2590117"/>
            <a:chExt cx="5410242" cy="230832"/>
          </a:xfrm>
        </p:grpSpPr>
        <p:sp>
          <p:nvSpPr>
            <p:cNvPr id="81" name="직사각형 80">
              <a:extLst>
                <a:ext uri="{FF2B5EF4-FFF2-40B4-BE49-F238E27FC236}">
                  <a16:creationId xmlns:a16="http://schemas.microsoft.com/office/drawing/2014/main" id="{5E1BAC51-93E3-4E55-A59B-3BB621CD3405}"/>
                </a:ext>
              </a:extLst>
            </p:cNvPr>
            <p:cNvSpPr/>
            <p:nvPr/>
          </p:nvSpPr>
          <p:spPr>
            <a:xfrm>
              <a:off x="781342" y="2590117"/>
              <a:ext cx="5151252" cy="230832"/>
            </a:xfrm>
            <a:prstGeom prst="rect">
              <a:avLst/>
            </a:prstGeom>
            <a:noFill/>
          </p:spPr>
          <p:txBody>
            <a:bodyPr wrap="none" lIns="0" tIns="0" rIns="0" bIns="0" anchor="t">
              <a:noAutofit/>
            </a:bodyPr>
            <a:lstStyle/>
            <a:p>
              <a:pPr marR="608330" lvl="0" latinLnBrk="0">
                <a:defRPr/>
              </a:pPr>
              <a:r>
                <a:rPr lang="en-US" altLang="ko-KR"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Demand expected to soften after front-loading</a:t>
              </a:r>
              <a:endParaRPr lang="ko-KR" altLang="en-US"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endParaRPr>
            </a:p>
          </p:txBody>
        </p:sp>
        <p:grpSp>
          <p:nvGrpSpPr>
            <p:cNvPr id="82" name="그룹 81"/>
            <p:cNvGrpSpPr/>
            <p:nvPr/>
          </p:nvGrpSpPr>
          <p:grpSpPr>
            <a:xfrm>
              <a:off x="522352" y="2609533"/>
              <a:ext cx="192000" cy="192000"/>
              <a:chOff x="412816" y="1633655"/>
              <a:chExt cx="184804" cy="185998"/>
            </a:xfrm>
          </p:grpSpPr>
          <p:sp>
            <p:nvSpPr>
              <p:cNvPr id="83" name="모서리가 둥근 직사각형 82"/>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84" name="그룹 186"/>
              <p:cNvGrpSpPr/>
              <p:nvPr/>
            </p:nvGrpSpPr>
            <p:grpSpPr>
              <a:xfrm>
                <a:off x="454440" y="1688440"/>
                <a:ext cx="106516" cy="76455"/>
                <a:chOff x="3366478" y="5412581"/>
                <a:chExt cx="126078" cy="89916"/>
              </a:xfrm>
              <a:solidFill>
                <a:schemeClr val="bg1"/>
              </a:solidFill>
            </p:grpSpPr>
            <p:sp>
              <p:nvSpPr>
                <p:cNvPr id="85" name="모서리가 둥근 직사각형 84"/>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86" name="모서리가 둥근 직사각형 85"/>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sp>
        <p:nvSpPr>
          <p:cNvPr id="88" name="직사각형 25"/>
          <p:cNvSpPr/>
          <p:nvPr/>
        </p:nvSpPr>
        <p:spPr>
          <a:xfrm>
            <a:off x="6432810" y="2897228"/>
            <a:ext cx="5744910" cy="1200536"/>
          </a:xfrm>
          <a:prstGeom prst="rect">
            <a:avLst/>
          </a:prstGeom>
        </p:spPr>
        <p:txBody>
          <a:bodyPr wrap="square">
            <a:noAutofit/>
          </a:bodyPr>
          <a:lstStyle/>
          <a:p>
            <a:pPr marL="144000" indent="-144000" defTabSz="1038977" latinLnBrk="0">
              <a:spcAft>
                <a:spcPts val="800"/>
              </a:spcAft>
              <a:buFont typeface="Arial" panose="020B0604020202020204" pitchFamily="34" charset="0"/>
              <a:buChar char="•"/>
            </a:pPr>
            <a:r>
              <a:rPr lang="en-US" altLang="ko-KR" sz="1400" dirty="0">
                <a:latin typeface="나눔스퀘어" panose="020B0600000101010101" pitchFamily="50" charset="-127"/>
                <a:ea typeface="나눔스퀘어" panose="020B0600000101010101" pitchFamily="50" charset="-127"/>
              </a:rPr>
              <a:t>Inventory drawdown after 1H front-loading is expected in </a:t>
            </a:r>
            <a:r>
              <a:rPr lang="en-US" altLang="ko-KR" sz="1400" dirty="0" smtClean="0">
                <a:latin typeface="나눔스퀘어" panose="020B0600000101010101" pitchFamily="50" charset="-127"/>
                <a:ea typeface="나눔스퀘어" panose="020B0600000101010101" pitchFamily="50" charset="-127"/>
              </a:rPr>
              <a:t>2H</a:t>
            </a: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 </a:t>
            </a:r>
            <a:r>
              <a:rPr lang="en-US" altLang="ko-KR" sz="1400" spc="-100" dirty="0">
                <a:latin typeface="나눔스퀘어" panose="020B0600000101010101" pitchFamily="50" charset="-127"/>
                <a:ea typeface="나눔스퀘어" panose="020B0600000101010101" pitchFamily="50" charset="-127"/>
              </a:rPr>
              <a:t>Early peak season shipments are expected to limit further demand </a:t>
            </a:r>
            <a:r>
              <a:rPr lang="en-US" altLang="ko-KR" sz="1400" spc="-100" dirty="0" smtClean="0">
                <a:latin typeface="나눔스퀘어" panose="020B0600000101010101" pitchFamily="50" charset="-127"/>
                <a:ea typeface="나눔스퀘어" panose="020B0600000101010101" pitchFamily="50" charset="-127"/>
              </a:rPr>
              <a:t>growth</a:t>
            </a: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 </a:t>
            </a:r>
            <a:r>
              <a:rPr lang="en-US" altLang="ko-KR" sz="1400" dirty="0">
                <a:latin typeface="나눔스퀘어" panose="020B0600000101010101" pitchFamily="50" charset="-127"/>
                <a:ea typeface="나눔스퀘어" panose="020B0600000101010101" pitchFamily="50" charset="-127"/>
              </a:rPr>
              <a:t>U.S. import volumes are expected to decline after the July </a:t>
            </a:r>
            <a:r>
              <a:rPr lang="en-US" altLang="ko-KR" sz="1400" dirty="0" smtClean="0">
                <a:latin typeface="나눔스퀘어" panose="020B0600000101010101" pitchFamily="50" charset="-127"/>
                <a:ea typeface="나눔스퀘어" panose="020B0600000101010101" pitchFamily="50" charset="-127"/>
              </a:rPr>
              <a:t>peak</a:t>
            </a:r>
            <a:endParaRPr lang="en-US" altLang="ko-KR" sz="1400" dirty="0">
              <a:latin typeface="나눔스퀘어" panose="020B0600000101010101" pitchFamily="50" charset="-127"/>
              <a:ea typeface="나눔스퀘어" panose="020B0600000101010101" pitchFamily="50" charset="-127"/>
            </a:endParaRPr>
          </a:p>
        </p:txBody>
      </p:sp>
      <p:sp>
        <p:nvSpPr>
          <p:cNvPr id="63" name="슬라이드 번호 개체 틀 5">
            <a:extLst>
              <a:ext uri="{FF2B5EF4-FFF2-40B4-BE49-F238E27FC236}">
                <a16:creationId xmlns:a16="http://schemas.microsoft.com/office/drawing/2014/main" id="{FAC1EB1B-E602-0247-88AB-A89AF71255A6}"/>
              </a:ext>
            </a:extLst>
          </p:cNvPr>
          <p:cNvSpPr txBox="1">
            <a:spLocks/>
          </p:cNvSpPr>
          <p:nvPr/>
        </p:nvSpPr>
        <p:spPr>
          <a:xfrm>
            <a:off x="5419725" y="6426152"/>
            <a:ext cx="788332" cy="326455"/>
          </a:xfrm>
          <a:prstGeom prst="rect">
            <a:avLst/>
          </a:prstGeom>
        </p:spPr>
        <p:txBody>
          <a:bodyPr lIns="162531" tIns="81264" rIns="162531" bIns="81264" anchor="ctr"/>
          <a:lstStyle>
            <a:lvl1pPr algn="r">
              <a:defRPr sz="1200">
                <a:solidFill>
                  <a:schemeClr val="tx1">
                    <a:tint val="75000"/>
                  </a:schemeClr>
                </a:solidFill>
              </a:defRPr>
            </a:lvl1pPr>
          </a:lstStyle>
          <a:p>
            <a:pPr defTabSz="1219048">
              <a:defRPr/>
            </a:pPr>
            <a:r>
              <a:rPr lang="en-US" altLang="ko-KR"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rPr>
              <a:t>8</a:t>
            </a:r>
            <a:endParaRPr lang="ko-KR" altLang="en-US"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endParaRPr>
          </a:p>
        </p:txBody>
      </p:sp>
      <p:graphicFrame>
        <p:nvGraphicFramePr>
          <p:cNvPr id="7" name="차트 6"/>
          <p:cNvGraphicFramePr/>
          <p:nvPr>
            <p:extLst>
              <p:ext uri="{D42A27DB-BD31-4B8C-83A1-F6EECF244321}">
                <p14:modId xmlns:p14="http://schemas.microsoft.com/office/powerpoint/2010/main" val="321370013"/>
              </p:ext>
            </p:extLst>
          </p:nvPr>
        </p:nvGraphicFramePr>
        <p:xfrm>
          <a:off x="601980" y="4780930"/>
          <a:ext cx="5062801" cy="1684801"/>
        </p:xfrm>
        <a:graphic>
          <a:graphicData uri="http://schemas.openxmlformats.org/drawingml/2006/chart">
            <c:chart xmlns:c="http://schemas.openxmlformats.org/drawingml/2006/chart" xmlns:r="http://schemas.openxmlformats.org/officeDocument/2006/relationships" r:id="rId4"/>
          </a:graphicData>
        </a:graphic>
      </p:graphicFrame>
      <p:grpSp>
        <p:nvGrpSpPr>
          <p:cNvPr id="92" name="그룹 91"/>
          <p:cNvGrpSpPr/>
          <p:nvPr/>
        </p:nvGrpSpPr>
        <p:grpSpPr>
          <a:xfrm>
            <a:off x="6290801" y="4285281"/>
            <a:ext cx="5410242" cy="230832"/>
            <a:chOff x="522352" y="2590117"/>
            <a:chExt cx="5410242" cy="230832"/>
          </a:xfrm>
        </p:grpSpPr>
        <p:sp>
          <p:nvSpPr>
            <p:cNvPr id="93" name="직사각형 92">
              <a:extLst>
                <a:ext uri="{FF2B5EF4-FFF2-40B4-BE49-F238E27FC236}">
                  <a16:creationId xmlns:a16="http://schemas.microsoft.com/office/drawing/2014/main" id="{5E1BAC51-93E3-4E55-A59B-3BB621CD3405}"/>
                </a:ext>
              </a:extLst>
            </p:cNvPr>
            <p:cNvSpPr/>
            <p:nvPr/>
          </p:nvSpPr>
          <p:spPr>
            <a:xfrm>
              <a:off x="781342" y="2590117"/>
              <a:ext cx="5151252" cy="230832"/>
            </a:xfrm>
            <a:prstGeom prst="rect">
              <a:avLst/>
            </a:prstGeom>
            <a:noFill/>
          </p:spPr>
          <p:txBody>
            <a:bodyPr wrap="none" lIns="0" tIns="0" rIns="0" bIns="0" anchor="t">
              <a:noAutofit/>
            </a:bodyPr>
            <a:lstStyle/>
            <a:p>
              <a:pPr marR="608330" lvl="0" latinLnBrk="0">
                <a:defRPr/>
              </a:pPr>
              <a:r>
                <a:rPr lang="en-US" altLang="ko-KR"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High inflation and interest rates weigh on demand</a:t>
              </a:r>
              <a:endParaRPr lang="ko-KR" altLang="en-US"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endParaRPr>
            </a:p>
          </p:txBody>
        </p:sp>
        <p:grpSp>
          <p:nvGrpSpPr>
            <p:cNvPr id="94" name="그룹 93"/>
            <p:cNvGrpSpPr/>
            <p:nvPr/>
          </p:nvGrpSpPr>
          <p:grpSpPr>
            <a:xfrm>
              <a:off x="522352" y="2609533"/>
              <a:ext cx="192000" cy="192000"/>
              <a:chOff x="412816" y="1633655"/>
              <a:chExt cx="184804" cy="185998"/>
            </a:xfrm>
          </p:grpSpPr>
          <p:sp>
            <p:nvSpPr>
              <p:cNvPr id="95" name="모서리가 둥근 직사각형 94"/>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96" name="그룹 186"/>
              <p:cNvGrpSpPr/>
              <p:nvPr/>
            </p:nvGrpSpPr>
            <p:grpSpPr>
              <a:xfrm>
                <a:off x="454440" y="1688440"/>
                <a:ext cx="106516" cy="76455"/>
                <a:chOff x="3366478" y="5412581"/>
                <a:chExt cx="126078" cy="89916"/>
              </a:xfrm>
              <a:solidFill>
                <a:schemeClr val="bg1"/>
              </a:solidFill>
            </p:grpSpPr>
            <p:sp>
              <p:nvSpPr>
                <p:cNvPr id="97" name="모서리가 둥근 직사각형 96"/>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98" name="모서리가 둥근 직사각형 97"/>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sp>
        <p:nvSpPr>
          <p:cNvPr id="99" name="직사각형 25"/>
          <p:cNvSpPr/>
          <p:nvPr/>
        </p:nvSpPr>
        <p:spPr>
          <a:xfrm>
            <a:off x="6432810" y="4609320"/>
            <a:ext cx="5690606" cy="1647041"/>
          </a:xfrm>
          <a:prstGeom prst="rect">
            <a:avLst/>
          </a:prstGeom>
        </p:spPr>
        <p:txBody>
          <a:bodyPr wrap="square">
            <a:noAutofit/>
          </a:bodyPr>
          <a:lstStyle/>
          <a:p>
            <a:pPr marL="144000" indent="-144000" defTabSz="1038977" latinLnBrk="0">
              <a:spcAft>
                <a:spcPts val="800"/>
              </a:spcAft>
              <a:buFont typeface="Arial" panose="020B0604020202020204" pitchFamily="34" charset="0"/>
              <a:buChar char="•"/>
            </a:pPr>
            <a:r>
              <a:rPr lang="en-US" altLang="ko-KR" sz="1400" spc="-100" dirty="0">
                <a:latin typeface="나눔스퀘어" panose="020B0600000101010101" pitchFamily="50" charset="-127"/>
                <a:ea typeface="나눔스퀘어" panose="020B0600000101010101" pitchFamily="50" charset="-127"/>
              </a:rPr>
              <a:t>High interest rates are likely to persist amid inflation and energy </a:t>
            </a:r>
            <a:r>
              <a:rPr lang="en-US" altLang="ko-KR" sz="1400" spc="-100" dirty="0" smtClean="0">
                <a:latin typeface="나눔스퀘어" panose="020B0600000101010101" pitchFamily="50" charset="-127"/>
                <a:ea typeface="나눔스퀘어" panose="020B0600000101010101" pitchFamily="50" charset="-127"/>
              </a:rPr>
              <a:t>uncertainty</a:t>
            </a:r>
          </a:p>
          <a:p>
            <a:pPr defTabSz="1038977" latinLnBrk="0">
              <a:spcAft>
                <a:spcPts val="800"/>
              </a:spcAft>
            </a:pPr>
            <a:r>
              <a:rPr lang="ko-KR" altLang="en-US" sz="1400" spc="-10" dirty="0" smtClean="0">
                <a:latin typeface="나눔스퀘어" panose="020B0600000101010101" pitchFamily="50" charset="-127"/>
                <a:ea typeface="나눔스퀘어" panose="020B0600000101010101" pitchFamily="50" charset="-127"/>
              </a:rPr>
              <a:t>   </a:t>
            </a:r>
            <a:r>
              <a:rPr lang="en-US" altLang="ko-KR" sz="1400" spc="-10" dirty="0" smtClean="0">
                <a:latin typeface="나눔스퀘어" panose="020B0600000101010101" pitchFamily="50" charset="-127"/>
                <a:ea typeface="나눔스퀘어" panose="020B0600000101010101" pitchFamily="50" charset="-127"/>
              </a:rPr>
              <a:t>-</a:t>
            </a:r>
            <a:r>
              <a:rPr lang="ko-KR" altLang="en-US" sz="1400" spc="-10" dirty="0" smtClean="0">
                <a:latin typeface="나눔스퀘어" panose="020B0600000101010101" pitchFamily="50" charset="-127"/>
                <a:ea typeface="나눔스퀘어" panose="020B0600000101010101" pitchFamily="50" charset="-127"/>
              </a:rPr>
              <a:t> </a:t>
            </a:r>
            <a:r>
              <a:rPr lang="en-US" altLang="ko-KR" sz="1400" spc="-50" dirty="0">
                <a:latin typeface="나눔스퀘어" panose="020B0600000101010101" pitchFamily="50" charset="-127"/>
                <a:ea typeface="나눔스퀘어" panose="020B0600000101010101" pitchFamily="50" charset="-127"/>
              </a:rPr>
              <a:t>June rate hikes in Europe and Japan signal hikes in Korea and the U.S.</a:t>
            </a:r>
            <a:endParaRPr lang="en-US" altLang="ko-KR" sz="1400" spc="-50" dirty="0" smtClean="0">
              <a:latin typeface="나눔스퀘어" panose="020B0600000101010101" pitchFamily="50" charset="-127"/>
              <a:ea typeface="나눔스퀘어" panose="020B0600000101010101" pitchFamily="50" charset="-127"/>
            </a:endParaRPr>
          </a:p>
          <a:p>
            <a:pPr marL="144000" indent="-144000" defTabSz="1038977" latinLnBrk="0">
              <a:spcAft>
                <a:spcPts val="800"/>
              </a:spcAft>
              <a:buFont typeface="Arial" panose="020B0604020202020204" pitchFamily="34" charset="0"/>
              <a:buChar char="•"/>
            </a:pPr>
            <a:r>
              <a:rPr lang="en-US" altLang="ko-KR" sz="1400" spc="-100" dirty="0" smtClean="0">
                <a:latin typeface="나눔스퀘어" panose="020B0600000101010101" pitchFamily="50" charset="-127"/>
                <a:ea typeface="나눔스퀘어" panose="020B0600000101010101" pitchFamily="50" charset="-127"/>
              </a:rPr>
              <a:t>Prolonged </a:t>
            </a:r>
            <a:r>
              <a:rPr lang="en-US" altLang="ko-KR" sz="1400" spc="-100" dirty="0">
                <a:latin typeface="나눔스퀘어" panose="020B0600000101010101" pitchFamily="50" charset="-127"/>
                <a:ea typeface="나눔스퀘어" panose="020B0600000101010101" pitchFamily="50" charset="-127"/>
              </a:rPr>
              <a:t>high interest rates remain a downside risk to container </a:t>
            </a:r>
            <a:r>
              <a:rPr lang="en-US" altLang="ko-KR" sz="1400" spc="-100" dirty="0" smtClean="0">
                <a:latin typeface="나눔스퀘어" panose="020B0600000101010101" pitchFamily="50" charset="-127"/>
                <a:ea typeface="나눔스퀘어" panose="020B0600000101010101" pitchFamily="50" charset="-127"/>
              </a:rPr>
              <a:t>demand</a:t>
            </a: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 </a:t>
            </a:r>
            <a:r>
              <a:rPr lang="en-US" altLang="ko-KR" sz="1400" dirty="0">
                <a:latin typeface="나눔스퀘어" panose="020B0600000101010101" pitchFamily="50" charset="-127"/>
                <a:ea typeface="나눔스퀘어" panose="020B0600000101010101" pitchFamily="50" charset="-127"/>
              </a:rPr>
              <a:t>Consumer-driven cargo is more exposed to weaker </a:t>
            </a:r>
            <a:r>
              <a:rPr lang="en-US" altLang="ko-KR" sz="1400" dirty="0" smtClean="0">
                <a:latin typeface="나눔스퀘어" panose="020B0600000101010101" pitchFamily="50" charset="-127"/>
                <a:ea typeface="나눔스퀘어" panose="020B0600000101010101" pitchFamily="50" charset="-127"/>
              </a:rPr>
              <a:t>spending</a:t>
            </a:r>
            <a:endParaRPr lang="en-US" altLang="ko-KR" sz="1400" spc="-50" dirty="0" smtClean="0">
              <a:latin typeface="나눔스퀘어" panose="020B0600000101010101" pitchFamily="50" charset="-127"/>
              <a:ea typeface="나눔스퀘어" panose="020B0600000101010101" pitchFamily="50" charset="-127"/>
            </a:endParaRPr>
          </a:p>
          <a:p>
            <a:pPr defTabSz="1038977" latinLnBrk="0">
              <a:spcAft>
                <a:spcPts val="800"/>
              </a:spcAft>
            </a:pPr>
            <a:r>
              <a:rPr lang="en-US" altLang="ko-KR" sz="1400" spc="-70" dirty="0" smtClean="0">
                <a:latin typeface="나눔스퀘어" panose="020B0600000101010101" pitchFamily="50" charset="-127"/>
                <a:ea typeface="나눔스퀘어" panose="020B0600000101010101" pitchFamily="50" charset="-127"/>
              </a:rPr>
              <a:t>   - </a:t>
            </a:r>
            <a:r>
              <a:rPr lang="en-US" altLang="ko-KR" sz="1400" spc="-70" dirty="0">
                <a:latin typeface="나눔스퀘어" panose="020B0600000101010101" pitchFamily="50" charset="-127"/>
                <a:ea typeface="나눔스퀘어" panose="020B0600000101010101" pitchFamily="50" charset="-127"/>
              </a:rPr>
              <a:t>Cautious inventories and slower orders may further weaken 2H </a:t>
            </a:r>
            <a:r>
              <a:rPr lang="en-US" altLang="ko-KR" sz="1400" spc="-70" dirty="0" smtClean="0">
                <a:latin typeface="나눔스퀘어" panose="020B0600000101010101" pitchFamily="50" charset="-127"/>
                <a:ea typeface="나눔스퀘어" panose="020B0600000101010101" pitchFamily="50" charset="-127"/>
              </a:rPr>
              <a:t>demand</a:t>
            </a:r>
          </a:p>
        </p:txBody>
      </p:sp>
      <p:sp>
        <p:nvSpPr>
          <p:cNvPr id="66" name="TextBox 65"/>
          <p:cNvSpPr txBox="1"/>
          <p:nvPr/>
        </p:nvSpPr>
        <p:spPr>
          <a:xfrm>
            <a:off x="6799404" y="3784039"/>
            <a:ext cx="5115228" cy="138499"/>
          </a:xfrm>
          <a:prstGeom prst="rect">
            <a:avLst/>
          </a:prstGeom>
          <a:noFill/>
        </p:spPr>
        <p:txBody>
          <a:bodyPr wrap="square" lIns="0" tIns="0" rIns="0" bIns="0" rtlCol="0">
            <a:spAutoFit/>
          </a:bodyPr>
          <a:lstStyle/>
          <a:p>
            <a:r>
              <a:rPr lang="en-US" altLang="ko-KR" sz="900" dirty="0">
                <a:solidFill>
                  <a:srgbClr val="0000FF"/>
                </a:solidFill>
                <a:latin typeface="나눔스퀘어" panose="020B0600000101010101" pitchFamily="50" charset="-127"/>
                <a:ea typeface="나눔스퀘어" panose="020B0600000101010101" pitchFamily="50" charset="-127"/>
              </a:rPr>
              <a:t>* 2.47m TEU (Jul.) → 2.22m (Aug.) → 1.99m (Sep.) → 1.99m (Oct.) → 1.92m (Nov</a:t>
            </a:r>
            <a:r>
              <a:rPr lang="en-US" altLang="ko-KR" sz="900" dirty="0" smtClean="0">
                <a:solidFill>
                  <a:srgbClr val="0000FF"/>
                </a:solidFill>
                <a:latin typeface="나눔스퀘어" panose="020B0600000101010101" pitchFamily="50" charset="-127"/>
                <a:ea typeface="나눔스퀘어" panose="020B0600000101010101" pitchFamily="50" charset="-127"/>
              </a:rPr>
              <a:t>.)</a:t>
            </a:r>
            <a:endParaRPr lang="en-US" altLang="ko-KR" sz="900" dirty="0">
              <a:solidFill>
                <a:srgbClr val="0000FF"/>
              </a:solidFill>
              <a:latin typeface="나눔스퀘어" panose="020B0600000101010101" pitchFamily="50" charset="-127"/>
              <a:ea typeface="나눔스퀘어" panose="020B0600000101010101" pitchFamily="50" charset="-127"/>
            </a:endParaRPr>
          </a:p>
        </p:txBody>
      </p:sp>
      <p:sp>
        <p:nvSpPr>
          <p:cNvPr id="67" name="TextBox 66"/>
          <p:cNvSpPr txBox="1"/>
          <p:nvPr/>
        </p:nvSpPr>
        <p:spPr>
          <a:xfrm>
            <a:off x="6794706" y="3450816"/>
            <a:ext cx="3965520" cy="138499"/>
          </a:xfrm>
          <a:prstGeom prst="rect">
            <a:avLst/>
          </a:prstGeom>
          <a:noFill/>
        </p:spPr>
        <p:txBody>
          <a:bodyPr wrap="square" lIns="0" tIns="0" rIns="0" bIns="0" rtlCol="0">
            <a:spAutoFit/>
          </a:bodyPr>
          <a:lstStyle/>
          <a:p>
            <a:r>
              <a:rPr lang="en-US" altLang="ko-KR" sz="900" dirty="0">
                <a:solidFill>
                  <a:srgbClr val="0000FF"/>
                </a:solidFill>
                <a:latin typeface="나눔스퀘어" panose="020B0600000101010101" pitchFamily="50" charset="-127"/>
                <a:ea typeface="나눔스퀘어" panose="020B0600000101010101" pitchFamily="50" charset="-127"/>
              </a:rPr>
              <a:t>* Black Friday (Nov.), Christmas (Dec.)</a:t>
            </a:r>
          </a:p>
        </p:txBody>
      </p:sp>
      <p:sp>
        <p:nvSpPr>
          <p:cNvPr id="69" name="TextBox 68"/>
          <p:cNvSpPr txBox="1"/>
          <p:nvPr/>
        </p:nvSpPr>
        <p:spPr>
          <a:xfrm>
            <a:off x="6790008" y="5165972"/>
            <a:ext cx="1503530" cy="138499"/>
          </a:xfrm>
          <a:prstGeom prst="rect">
            <a:avLst/>
          </a:prstGeom>
          <a:noFill/>
        </p:spPr>
        <p:txBody>
          <a:bodyPr wrap="square" lIns="0" tIns="0" rIns="0" bIns="0" rtlCol="0">
            <a:spAutoFit/>
          </a:bodyPr>
          <a:lstStyle/>
          <a:p>
            <a:r>
              <a:rPr lang="en-US" altLang="ko-KR" sz="900" dirty="0">
                <a:solidFill>
                  <a:srgbClr val="0000FF"/>
                </a:solidFill>
                <a:latin typeface="나눔스퀘어" panose="020B0600000101010101" pitchFamily="50" charset="-127"/>
                <a:ea typeface="나눔스퀘어" panose="020B0600000101010101" pitchFamily="50" charset="-127"/>
              </a:rPr>
              <a:t>* 25 </a:t>
            </a:r>
            <a:r>
              <a:rPr lang="en-US" altLang="ko-KR" sz="900" dirty="0" err="1">
                <a:solidFill>
                  <a:srgbClr val="0000FF"/>
                </a:solidFill>
                <a:latin typeface="나눔스퀘어" panose="020B0600000101010101" pitchFamily="50" charset="-127"/>
                <a:ea typeface="나눔스퀘어" panose="020B0600000101010101" pitchFamily="50" charset="-127"/>
              </a:rPr>
              <a:t>bp</a:t>
            </a:r>
            <a:r>
              <a:rPr lang="en-US" altLang="ko-KR" sz="900" dirty="0">
                <a:solidFill>
                  <a:srgbClr val="0000FF"/>
                </a:solidFill>
                <a:latin typeface="나눔스퀘어" panose="020B0600000101010101" pitchFamily="50" charset="-127"/>
                <a:ea typeface="나눔스퀘어" panose="020B0600000101010101" pitchFamily="50" charset="-127"/>
              </a:rPr>
              <a:t> rate hike (Jun.)</a:t>
            </a:r>
          </a:p>
        </p:txBody>
      </p:sp>
      <p:sp>
        <p:nvSpPr>
          <p:cNvPr id="58" name="TextBox 57"/>
          <p:cNvSpPr txBox="1"/>
          <p:nvPr/>
        </p:nvSpPr>
        <p:spPr>
          <a:xfrm>
            <a:off x="2763242" y="3763723"/>
            <a:ext cx="1542058" cy="138499"/>
          </a:xfrm>
          <a:prstGeom prst="rect">
            <a:avLst/>
          </a:prstGeom>
          <a:noFill/>
        </p:spPr>
        <p:txBody>
          <a:bodyPr wrap="square" lIns="0" tIns="0" rIns="0" bIns="0" rtlCol="0">
            <a:spAutoFit/>
          </a:bodyPr>
          <a:lstStyle/>
          <a:p>
            <a:r>
              <a:rPr lang="en-US" altLang="ko-KR" sz="900" dirty="0">
                <a:solidFill>
                  <a:srgbClr val="0000FF"/>
                </a:solidFill>
                <a:latin typeface="나눔스퀘어" panose="020B0600000101010101" pitchFamily="50" charset="-127"/>
                <a:ea typeface="나눔스퀘어" panose="020B0600000101010101" pitchFamily="50" charset="-127"/>
              </a:rPr>
              <a:t>* Africa/ECSA exports</a:t>
            </a:r>
          </a:p>
        </p:txBody>
      </p:sp>
      <p:grpSp>
        <p:nvGrpSpPr>
          <p:cNvPr id="57" name="그룹 56"/>
          <p:cNvGrpSpPr/>
          <p:nvPr/>
        </p:nvGrpSpPr>
        <p:grpSpPr>
          <a:xfrm>
            <a:off x="10020301" y="6290"/>
            <a:ext cx="1778422" cy="552569"/>
            <a:chOff x="10020301" y="6290"/>
            <a:chExt cx="1778422" cy="552569"/>
          </a:xfrm>
        </p:grpSpPr>
        <p:cxnSp>
          <p:nvCxnSpPr>
            <p:cNvPr id="64" name="직선 연결선 63"/>
            <p:cNvCxnSpPr/>
            <p:nvPr/>
          </p:nvCxnSpPr>
          <p:spPr>
            <a:xfrm>
              <a:off x="11671487" y="6290"/>
              <a:ext cx="0" cy="313957"/>
            </a:xfrm>
            <a:prstGeom prst="line">
              <a:avLst/>
            </a:prstGeom>
            <a:ln w="635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10020301" y="381709"/>
              <a:ext cx="1552032" cy="153888"/>
            </a:xfrm>
            <a:prstGeom prst="rect">
              <a:avLst/>
            </a:prstGeom>
            <a:noFill/>
            <a:ln w="9525">
              <a:noFill/>
              <a:miter lim="800000"/>
              <a:headEnd/>
              <a:tailEnd/>
            </a:ln>
          </p:spPr>
          <p:txBody>
            <a:bodyPr wrap="square" lIns="0" tIns="0" rIns="0" bIns="0" anchor="ctr">
              <a:spAutoFit/>
            </a:bodyPr>
            <a:lstStyle>
              <a:defPPr>
                <a:defRPr lang="ko-KR"/>
              </a:defPPr>
              <a:lvl1pPr defTabSz="914125" fontAlgn="base" latinLnBrk="0">
                <a:spcBef>
                  <a:spcPct val="0"/>
                </a:spcBef>
                <a:spcAft>
                  <a:spcPts val="200"/>
                </a:spcAft>
                <a:defRPr sz="1100" spc="-20">
                  <a:ln>
                    <a:solidFill>
                      <a:prstClr val="white">
                        <a:alpha val="0"/>
                      </a:prstClr>
                    </a:solidFill>
                  </a:ln>
                  <a:solidFill>
                    <a:schemeClr val="tx1">
                      <a:lumMod val="75000"/>
                      <a:lumOff val="25000"/>
                    </a:schemeClr>
                  </a:solidFill>
                  <a:latin typeface="KoPub돋움체 Bold" panose="02020603020101020101" pitchFamily="18" charset="-127"/>
                  <a:ea typeface="KoPub돋움체 Bold" panose="02020603020101020101" pitchFamily="18" charset="-127"/>
                  <a:cs typeface="Arial" charset="0"/>
                </a:defRPr>
              </a:lvl1pPr>
            </a:lstStyle>
            <a:p>
              <a:pPr lvl="0" algn="r">
                <a:defRPr/>
              </a:pPr>
              <a:r>
                <a:rPr lang="en-US" altLang="ko-KR"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rPr>
                <a:t>2026 2H Market Outlook</a:t>
              </a:r>
            </a:p>
          </p:txBody>
        </p:sp>
        <p:sp>
          <p:nvSpPr>
            <p:cNvPr id="68" name="타원 67"/>
            <p:cNvSpPr/>
            <p:nvPr/>
          </p:nvSpPr>
          <p:spPr>
            <a:xfrm>
              <a:off x="11340239"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20" normalizeH="0" baseline="0" noProof="0" dirty="0">
                <a:ln>
                  <a:solidFill>
                    <a:srgbClr val="C00000">
                      <a:alpha val="0"/>
                    </a:srgbClr>
                  </a:solidFill>
                </a:ln>
                <a:solidFill>
                  <a:prstClr val="white"/>
                </a:solidFill>
                <a:effectLst/>
                <a:uLnTx/>
                <a:uFillTx/>
                <a:latin typeface="나눔스퀘어" panose="020B0600000101010101" pitchFamily="50" charset="-127"/>
                <a:ea typeface="나눔스퀘어" panose="020B0600000101010101" pitchFamily="50" charset="-127"/>
                <a:cs typeface="+mn-cs"/>
              </a:endParaRPr>
            </a:p>
          </p:txBody>
        </p:sp>
        <p:sp>
          <p:nvSpPr>
            <p:cNvPr id="70" name="타원 69"/>
            <p:cNvSpPr/>
            <p:nvPr/>
          </p:nvSpPr>
          <p:spPr>
            <a:xfrm>
              <a:off x="11422266"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89" name="타원 88"/>
            <p:cNvSpPr/>
            <p:nvPr/>
          </p:nvSpPr>
          <p:spPr>
            <a:xfrm>
              <a:off x="11504294" y="290256"/>
              <a:ext cx="51827" cy="51827"/>
            </a:xfrm>
            <a:prstGeom prst="ellipse">
              <a:avLst/>
            </a:prstGeom>
            <a:solidFill>
              <a:srgbClr val="0146A0"/>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90" name="TextBox 89"/>
            <p:cNvSpPr txBox="1"/>
            <p:nvPr/>
          </p:nvSpPr>
          <p:spPr>
            <a:xfrm>
              <a:off x="11646437" y="343415"/>
              <a:ext cx="152286" cy="215444"/>
            </a:xfrm>
            <a:prstGeom prst="rect">
              <a:avLst/>
            </a:prstGeom>
            <a:noFill/>
          </p:spPr>
          <p:txBody>
            <a:bodyPr wrap="none" lIns="0" tIns="0" rIns="0" bIns="0" rtlCol="0" anchor="ctr" anchorCtr="0">
              <a:spAutoFit/>
            </a:bodyPr>
            <a:lstStyle>
              <a:defPPr>
                <a:defRPr lang="ko-KR"/>
              </a:defPPr>
              <a:lvl1pPr>
                <a:spcAft>
                  <a:spcPts val="300"/>
                </a:spcAft>
                <a:defRPr sz="2800" spc="-100">
                  <a:ln>
                    <a:solidFill>
                      <a:schemeClr val="bg1">
                        <a:alpha val="0"/>
                      </a:schemeClr>
                    </a:solidFill>
                  </a:ln>
                  <a:solidFill>
                    <a:srgbClr val="005B8D"/>
                  </a:solidFill>
                  <a:latin typeface="Times New Roman" panose="02020603050405020304" pitchFamily="18" charset="0"/>
                  <a:ea typeface="KoPub돋움체 Bold" panose="02020603020101020101" pitchFamily="18" charset="-127"/>
                  <a:cs typeface="Times New Roman" panose="02020603050405020304" pitchFamily="18" charset="0"/>
                </a:defRPr>
              </a:lvl1pPr>
            </a:lstStyle>
            <a:p>
              <a:pPr latinLnBrk="0">
                <a:defRPr/>
              </a:pPr>
              <a:r>
                <a:rPr lang="en-US" altLang="ko-KR" sz="1400" spc="-150" dirty="0" smtClean="0">
                  <a:ln>
                    <a:solidFill>
                      <a:prstClr val="white">
                        <a:alpha val="0"/>
                      </a:prstClr>
                    </a:solidFill>
                  </a:ln>
                  <a:solidFill>
                    <a:srgbClr val="0146A0"/>
                  </a:solidFill>
                  <a:ea typeface="KoPub돋움체 Medium" panose="02020603020101020101" pitchFamily="18" charset="-127"/>
                </a:rPr>
                <a:t>Ⅲ</a:t>
              </a:r>
              <a:endParaRPr lang="en-US" altLang="ko-KR" sz="1400" spc="-150" dirty="0">
                <a:ln>
                  <a:solidFill>
                    <a:prstClr val="white">
                      <a:alpha val="0"/>
                    </a:prstClr>
                  </a:solidFill>
                </a:ln>
                <a:solidFill>
                  <a:srgbClr val="0146A0"/>
                </a:solidFill>
                <a:ea typeface="KoPub돋움체 Medium" panose="02020603020101020101" pitchFamily="18" charset="-127"/>
              </a:endParaRPr>
            </a:p>
          </p:txBody>
        </p:sp>
      </p:grpSp>
      <p:sp>
        <p:nvSpPr>
          <p:cNvPr id="50" name="TextBox 116"/>
          <p:cNvSpPr txBox="1">
            <a:spLocks noChangeArrowheads="1"/>
          </p:cNvSpPr>
          <p:nvPr/>
        </p:nvSpPr>
        <p:spPr bwMode="auto">
          <a:xfrm>
            <a:off x="6393077" y="2171013"/>
            <a:ext cx="511998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algn="ctr" defTabSz="1038977" eaLnBrk="1" hangingPunct="1"/>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2H </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Demand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is </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Expected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to </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Slow Markedly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from 1H</a:t>
            </a:r>
            <a:endParaRPr kumimoji="0" lang="ko-KR" altLang="en-US"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spTree>
    <p:extLst>
      <p:ext uri="{BB962C8B-B14F-4D97-AF65-F5344CB8AC3E}">
        <p14:creationId xmlns:p14="http://schemas.microsoft.com/office/powerpoint/2010/main" val="34532775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Ocean Supply Outlook</a:t>
            </a:r>
            <a:endParaRPr lang="ko-KR" altLang="en-US" dirty="0"/>
          </a:p>
        </p:txBody>
      </p:sp>
      <p:sp>
        <p:nvSpPr>
          <p:cNvPr id="3" name="텍스트 개체 틀 2"/>
          <p:cNvSpPr>
            <a:spLocks noGrp="1"/>
          </p:cNvSpPr>
          <p:nvPr>
            <p:ph type="body" sz="quarter" idx="10"/>
          </p:nvPr>
        </p:nvSpPr>
        <p:spPr/>
        <p:txBody>
          <a:bodyPr/>
          <a:lstStyle/>
          <a:p>
            <a:pPr latinLnBrk="0"/>
            <a:r>
              <a:rPr lang="en-US" altLang="ko-KR" spc="-50" dirty="0" smtClean="0"/>
              <a:t>Supply </a:t>
            </a:r>
            <a:r>
              <a:rPr lang="en-US" altLang="ko-KR" spc="-50" dirty="0"/>
              <a:t>is expected to remain above demand in 2026, with 2H deliveries and capacity recovery adding </a:t>
            </a:r>
            <a:r>
              <a:rPr lang="en-US" altLang="ko-KR" spc="-50" dirty="0" smtClean="0"/>
              <a:t>pressure</a:t>
            </a:r>
          </a:p>
          <a:p>
            <a:pPr latinLnBrk="0"/>
            <a:r>
              <a:rPr lang="en-US" altLang="ko-KR" dirty="0" smtClean="0"/>
              <a:t>Large-scale </a:t>
            </a:r>
            <a:r>
              <a:rPr lang="en-US" altLang="ko-KR" dirty="0"/>
              <a:t>deliveries from 2027 are expected to deepen oversupply and freight rate </a:t>
            </a:r>
            <a:r>
              <a:rPr lang="en-US" altLang="ko-KR" dirty="0" smtClean="0"/>
              <a:t>pressure</a:t>
            </a:r>
            <a:endParaRPr lang="en-US" altLang="ko-KR" dirty="0"/>
          </a:p>
        </p:txBody>
      </p:sp>
      <p:grpSp>
        <p:nvGrpSpPr>
          <p:cNvPr id="40" name="组合 2"/>
          <p:cNvGrpSpPr/>
          <p:nvPr/>
        </p:nvGrpSpPr>
        <p:grpSpPr>
          <a:xfrm>
            <a:off x="503790" y="2117975"/>
            <a:ext cx="11167279" cy="374400"/>
            <a:chOff x="386534" y="1461600"/>
            <a:chExt cx="8375459" cy="280800"/>
          </a:xfrm>
        </p:grpSpPr>
        <p:grpSp>
          <p:nvGrpSpPr>
            <p:cNvPr id="41" name="그룹 46"/>
            <p:cNvGrpSpPr/>
            <p:nvPr/>
          </p:nvGrpSpPr>
          <p:grpSpPr>
            <a:xfrm>
              <a:off x="386535" y="1461600"/>
              <a:ext cx="8375458" cy="280800"/>
              <a:chOff x="386535" y="1383614"/>
              <a:chExt cx="8375458" cy="280800"/>
            </a:xfrm>
          </p:grpSpPr>
          <p:grpSp>
            <p:nvGrpSpPr>
              <p:cNvPr id="48" name="그룹 48"/>
              <p:cNvGrpSpPr/>
              <p:nvPr/>
            </p:nvGrpSpPr>
            <p:grpSpPr>
              <a:xfrm>
                <a:off x="386535" y="1383614"/>
                <a:ext cx="4077119" cy="280800"/>
                <a:chOff x="515380" y="1844820"/>
                <a:chExt cx="5436158" cy="374400"/>
              </a:xfrm>
            </p:grpSpPr>
            <p:sp>
              <p:nvSpPr>
                <p:cNvPr id="52" name="Rectangle 215"/>
                <p:cNvSpPr>
                  <a:spLocks noChangeArrowheads="1"/>
                </p:cNvSpPr>
                <p:nvPr/>
              </p:nvSpPr>
              <p:spPr bwMode="auto">
                <a:xfrm>
                  <a:off x="515380" y="1844820"/>
                  <a:ext cx="5436158"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53" name="TextBox 116"/>
                <p:cNvSpPr txBox="1">
                  <a:spLocks noChangeArrowheads="1"/>
                </p:cNvSpPr>
                <p:nvPr/>
              </p:nvSpPr>
              <p:spPr bwMode="auto">
                <a:xfrm>
                  <a:off x="673467" y="1915641"/>
                  <a:ext cx="511998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lvl="0" algn="ctr" defTabSz="1038977" eaLnBrk="1" hangingPunct="1"/>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Supply to Remain Above Demand</a:t>
                  </a:r>
                </a:p>
              </p:txBody>
            </p:sp>
          </p:grpSp>
          <p:grpSp>
            <p:nvGrpSpPr>
              <p:cNvPr id="49" name="그룹 52"/>
              <p:cNvGrpSpPr/>
              <p:nvPr/>
            </p:nvGrpSpPr>
            <p:grpSpPr>
              <a:xfrm>
                <a:off x="4684993" y="1383614"/>
                <a:ext cx="4077000" cy="280800"/>
                <a:chOff x="6246657" y="1854463"/>
                <a:chExt cx="5436000" cy="374400"/>
              </a:xfrm>
            </p:grpSpPr>
            <p:sp>
              <p:nvSpPr>
                <p:cNvPr id="50" name="Rectangle 215"/>
                <p:cNvSpPr>
                  <a:spLocks noChangeArrowheads="1"/>
                </p:cNvSpPr>
                <p:nvPr/>
              </p:nvSpPr>
              <p:spPr bwMode="auto">
                <a:xfrm>
                  <a:off x="6246657" y="1854463"/>
                  <a:ext cx="5436000"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51" name="TextBox 116"/>
                <p:cNvSpPr txBox="1">
                  <a:spLocks noChangeArrowheads="1"/>
                </p:cNvSpPr>
                <p:nvPr/>
              </p:nvSpPr>
              <p:spPr bwMode="auto">
                <a:xfrm>
                  <a:off x="6404665" y="1907501"/>
                  <a:ext cx="511998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algn="ctr" defTabSz="1038977" eaLnBrk="1" hangingPunct="1"/>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Growing Oversupply Pressure Beyond 2027</a:t>
                  </a:r>
                  <a:endParaRPr kumimoji="0" lang="ko-KR" altLang="en-US"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grpSp>
        </p:grpSp>
        <p:grpSp>
          <p:nvGrpSpPr>
            <p:cNvPr id="42" name="그룹 62"/>
            <p:cNvGrpSpPr/>
            <p:nvPr/>
          </p:nvGrpSpPr>
          <p:grpSpPr>
            <a:xfrm>
              <a:off x="386534" y="1461600"/>
              <a:ext cx="585066" cy="276223"/>
              <a:chOff x="-1523239" y="1275702"/>
              <a:chExt cx="564992" cy="357603"/>
            </a:xfrm>
          </p:grpSpPr>
          <p:sp>
            <p:nvSpPr>
              <p:cNvPr id="46" name="자유형 63"/>
              <p:cNvSpPr/>
              <p:nvPr/>
            </p:nvSpPr>
            <p:spPr>
              <a:xfrm>
                <a:off x="-1523239" y="1275702"/>
                <a:ext cx="564991" cy="357603"/>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47" name="자유형 64"/>
              <p:cNvSpPr/>
              <p:nvPr/>
            </p:nvSpPr>
            <p:spPr>
              <a:xfrm>
                <a:off x="-1523239" y="1275702"/>
                <a:ext cx="564992" cy="357603"/>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grpSp>
        <p:grpSp>
          <p:nvGrpSpPr>
            <p:cNvPr id="43" name="그룹 62"/>
            <p:cNvGrpSpPr/>
            <p:nvPr/>
          </p:nvGrpSpPr>
          <p:grpSpPr>
            <a:xfrm>
              <a:off x="4686893" y="1462337"/>
              <a:ext cx="585066" cy="276223"/>
              <a:chOff x="-1523239" y="1275702"/>
              <a:chExt cx="564992" cy="357603"/>
            </a:xfrm>
          </p:grpSpPr>
          <p:sp>
            <p:nvSpPr>
              <p:cNvPr id="44" name="자유형 63"/>
              <p:cNvSpPr/>
              <p:nvPr/>
            </p:nvSpPr>
            <p:spPr>
              <a:xfrm>
                <a:off x="-1523239" y="1275702"/>
                <a:ext cx="564991" cy="357603"/>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45" name="자유형 64"/>
              <p:cNvSpPr/>
              <p:nvPr/>
            </p:nvSpPr>
            <p:spPr>
              <a:xfrm>
                <a:off x="-1523239" y="1275702"/>
                <a:ext cx="564992" cy="357603"/>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grpSp>
      </p:grpSp>
      <p:pic>
        <p:nvPicPr>
          <p:cNvPr id="54" name="Picture 200" descr="악세사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339689" y="4546810"/>
            <a:ext cx="3535193" cy="91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5" name="TextBox 54">
            <a:extLst>
              <a:ext uri="{FF2B5EF4-FFF2-40B4-BE49-F238E27FC236}">
                <a16:creationId xmlns:a16="http://schemas.microsoft.com/office/drawing/2014/main" id="{5C91891D-2B97-7824-4757-F84C493DF63F}"/>
              </a:ext>
            </a:extLst>
          </p:cNvPr>
          <p:cNvSpPr txBox="1"/>
          <p:nvPr/>
        </p:nvSpPr>
        <p:spPr>
          <a:xfrm>
            <a:off x="525890" y="6498737"/>
            <a:ext cx="1082027" cy="153888"/>
          </a:xfrm>
          <a:prstGeom prst="rect">
            <a:avLst/>
          </a:prstGeom>
          <a:noFill/>
        </p:spPr>
        <p:txBody>
          <a:bodyPr wrap="none" lIns="0" tIns="0" rIns="0" bIns="0" rtlCol="0" anchor="t">
            <a:spAutoFit/>
          </a:bodyPr>
          <a:lstStyle/>
          <a:p>
            <a:pPr latinLnBrk="0"/>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Source</a:t>
            </a:r>
            <a:r>
              <a:rPr lang="ko-KR" altLang="en-US"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err="1" smtClean="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Clarksons</a:t>
            </a:r>
            <a:endPar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endParaRPr>
          </a:p>
        </p:txBody>
      </p:sp>
      <p:grpSp>
        <p:nvGrpSpPr>
          <p:cNvPr id="73" name="그룹 72"/>
          <p:cNvGrpSpPr/>
          <p:nvPr/>
        </p:nvGrpSpPr>
        <p:grpSpPr>
          <a:xfrm>
            <a:off x="521699" y="2596048"/>
            <a:ext cx="5410242" cy="230832"/>
            <a:chOff x="522352" y="2590117"/>
            <a:chExt cx="5410242" cy="230832"/>
          </a:xfrm>
        </p:grpSpPr>
        <p:sp>
          <p:nvSpPr>
            <p:cNvPr id="74" name="직사각형 73">
              <a:extLst>
                <a:ext uri="{FF2B5EF4-FFF2-40B4-BE49-F238E27FC236}">
                  <a16:creationId xmlns:a16="http://schemas.microsoft.com/office/drawing/2014/main" id="{5E1BAC51-93E3-4E55-A59B-3BB621CD3405}"/>
                </a:ext>
              </a:extLst>
            </p:cNvPr>
            <p:cNvSpPr/>
            <p:nvPr/>
          </p:nvSpPr>
          <p:spPr>
            <a:xfrm>
              <a:off x="781342" y="2590117"/>
              <a:ext cx="5151252" cy="230832"/>
            </a:xfrm>
            <a:prstGeom prst="rect">
              <a:avLst/>
            </a:prstGeom>
            <a:noFill/>
          </p:spPr>
          <p:txBody>
            <a:bodyPr wrap="none" lIns="0" tIns="0" rIns="0" bIns="0" anchor="t">
              <a:noAutofit/>
            </a:bodyPr>
            <a:lstStyle/>
            <a:p>
              <a:pPr marR="608330" lvl="0" latinLnBrk="0">
                <a:defRPr/>
              </a:pPr>
              <a:r>
                <a:rPr lang="en-US" altLang="ko-KR"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Supply </a:t>
              </a:r>
              <a:r>
                <a:rPr lang="en-US" altLang="ko-KR" sz="1500" b="1" kern="100" dirty="0" smtClean="0">
                  <a:latin typeface="나눔스퀘어 ExtraBold" panose="020B0600000101010101" pitchFamily="50" charset="-127"/>
                  <a:ea typeface="나눔스퀘어 ExtraBold" panose="020B0600000101010101" pitchFamily="50" charset="-127"/>
                  <a:cs typeface="바탕" panose="02030600000101010101" pitchFamily="18" charset="-127"/>
                </a:rPr>
                <a:t>is </a:t>
              </a:r>
              <a:r>
                <a:rPr lang="en-US" altLang="ko-KR"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expected to remain above demand in </a:t>
              </a:r>
              <a:r>
                <a:rPr lang="en-US" altLang="ko-KR" sz="1500" b="1" kern="100" dirty="0" smtClean="0">
                  <a:latin typeface="나눔스퀘어 ExtraBold" panose="020B0600000101010101" pitchFamily="50" charset="-127"/>
                  <a:ea typeface="나눔스퀘어 ExtraBold" panose="020B0600000101010101" pitchFamily="50" charset="-127"/>
                  <a:cs typeface="바탕" panose="02030600000101010101" pitchFamily="18" charset="-127"/>
                </a:rPr>
                <a:t>2026</a:t>
              </a:r>
              <a:endParaRPr lang="ko-KR" altLang="en-US"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endParaRPr>
            </a:p>
          </p:txBody>
        </p:sp>
        <p:grpSp>
          <p:nvGrpSpPr>
            <p:cNvPr id="75" name="그룹 74"/>
            <p:cNvGrpSpPr/>
            <p:nvPr/>
          </p:nvGrpSpPr>
          <p:grpSpPr>
            <a:xfrm>
              <a:off x="522352" y="2609533"/>
              <a:ext cx="192000" cy="192000"/>
              <a:chOff x="412816" y="1633655"/>
              <a:chExt cx="184804" cy="185998"/>
            </a:xfrm>
          </p:grpSpPr>
          <p:sp>
            <p:nvSpPr>
              <p:cNvPr id="76" name="모서리가 둥근 직사각형 75"/>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77" name="그룹 186"/>
              <p:cNvGrpSpPr/>
              <p:nvPr/>
            </p:nvGrpSpPr>
            <p:grpSpPr>
              <a:xfrm>
                <a:off x="454440" y="1688440"/>
                <a:ext cx="106516" cy="76455"/>
                <a:chOff x="3366478" y="5412581"/>
                <a:chExt cx="126078" cy="89916"/>
              </a:xfrm>
              <a:solidFill>
                <a:schemeClr val="bg1"/>
              </a:solidFill>
            </p:grpSpPr>
            <p:sp>
              <p:nvSpPr>
                <p:cNvPr id="78" name="모서리가 둥근 직사각형 77"/>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79" name="모서리가 둥근 직사각형 78"/>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sp>
        <p:nvSpPr>
          <p:cNvPr id="80" name="직사각형 25"/>
          <p:cNvSpPr/>
          <p:nvPr/>
        </p:nvSpPr>
        <p:spPr>
          <a:xfrm>
            <a:off x="650245" y="2897229"/>
            <a:ext cx="5545618" cy="1897955"/>
          </a:xfrm>
          <a:prstGeom prst="rect">
            <a:avLst/>
          </a:prstGeom>
        </p:spPr>
        <p:txBody>
          <a:bodyPr wrap="square">
            <a:spAutoFit/>
          </a:bodyPr>
          <a:lstStyle/>
          <a:p>
            <a:pPr marL="144000" indent="-144000" defTabSz="1038977" latinLnBrk="0">
              <a:spcAft>
                <a:spcPts val="800"/>
              </a:spcAft>
              <a:buFont typeface="Arial" panose="020B0604020202020204" pitchFamily="34" charset="0"/>
              <a:buChar char="•"/>
            </a:pPr>
            <a:r>
              <a:rPr lang="en-US" altLang="ko-KR" sz="1400" spc="-50" dirty="0">
                <a:latin typeface="나눔스퀘어" panose="020B0600000101010101" pitchFamily="50" charset="-127"/>
                <a:ea typeface="나눔스퀘어" panose="020B0600000101010101" pitchFamily="50" charset="-127"/>
              </a:rPr>
              <a:t>Global supply growth is expected at 4.6%, remaining above </a:t>
            </a:r>
            <a:r>
              <a:rPr lang="en-US" altLang="ko-KR" sz="1400" spc="-50" dirty="0" smtClean="0">
                <a:latin typeface="나눔스퀘어" panose="020B0600000101010101" pitchFamily="50" charset="-127"/>
                <a:ea typeface="나눔스퀘어" panose="020B0600000101010101" pitchFamily="50" charset="-127"/>
              </a:rPr>
              <a:t>demand</a:t>
            </a: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 </a:t>
            </a:r>
            <a:r>
              <a:rPr lang="en-US" altLang="ko-KR" sz="1400" spc="-40" dirty="0">
                <a:latin typeface="나눔스퀘어" panose="020B0600000101010101" pitchFamily="50" charset="-127"/>
                <a:ea typeface="나눔스퀘어" panose="020B0600000101010101" pitchFamily="50" charset="-127"/>
              </a:rPr>
              <a:t>Supply growth is expected to exceed demand </a:t>
            </a:r>
            <a:r>
              <a:rPr lang="en-US" altLang="ko-KR" sz="1400" spc="-40" dirty="0" smtClean="0">
                <a:latin typeface="나눔스퀘어" panose="020B0600000101010101" pitchFamily="50" charset="-127"/>
                <a:ea typeface="나눔스퀘어" panose="020B0600000101010101" pitchFamily="50" charset="-127"/>
              </a:rPr>
              <a:t>(</a:t>
            </a:r>
            <a:r>
              <a:rPr lang="en-US" altLang="ko-KR" sz="1400" spc="-40" dirty="0">
                <a:latin typeface="나눔스퀘어" panose="020B0600000101010101" pitchFamily="50" charset="-127"/>
                <a:ea typeface="나눔스퀘어" panose="020B0600000101010101" pitchFamily="50" charset="-127"/>
              </a:rPr>
              <a:t>3.3%) by over </a:t>
            </a:r>
            <a:r>
              <a:rPr lang="en-US" altLang="ko-KR" sz="1400" spc="-40" dirty="0" smtClean="0">
                <a:latin typeface="나눔스퀘어" panose="020B0600000101010101" pitchFamily="50" charset="-127"/>
                <a:ea typeface="나눔스퀘어" panose="020B0600000101010101" pitchFamily="50" charset="-127"/>
              </a:rPr>
              <a:t>1%p</a:t>
            </a: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 </a:t>
            </a:r>
            <a:r>
              <a:rPr lang="en-US" altLang="ko-KR" sz="1400" spc="-50" dirty="0">
                <a:latin typeface="나눔스퀘어" panose="020B0600000101010101" pitchFamily="50" charset="-127"/>
                <a:ea typeface="나눔스퀘어" panose="020B0600000101010101" pitchFamily="50" charset="-127"/>
              </a:rPr>
              <a:t>Supply is expected to remain above demand despite slower </a:t>
            </a:r>
            <a:r>
              <a:rPr lang="en-US" altLang="ko-KR" sz="1400" spc="-50" dirty="0" smtClean="0">
                <a:latin typeface="나눔스퀘어" panose="020B0600000101010101" pitchFamily="50" charset="-127"/>
                <a:ea typeface="나눔스퀘어" panose="020B0600000101010101" pitchFamily="50" charset="-127"/>
              </a:rPr>
              <a:t>growth</a:t>
            </a:r>
          </a:p>
          <a:p>
            <a:pPr marL="144000" indent="-144000" defTabSz="1038977" latinLnBrk="0">
              <a:spcAft>
                <a:spcPts val="800"/>
              </a:spcAft>
              <a:buFont typeface="Arial" panose="020B0604020202020204" pitchFamily="34" charset="0"/>
              <a:buChar char="•"/>
            </a:pPr>
            <a:r>
              <a:rPr lang="en-US" altLang="ko-KR" sz="1400" dirty="0">
                <a:latin typeface="나눔스퀘어" panose="020B0600000101010101" pitchFamily="50" charset="-127"/>
                <a:ea typeface="나눔스퀘어" panose="020B0600000101010101" pitchFamily="50" charset="-127"/>
              </a:rPr>
              <a:t>Supply pressure is expected to increase in </a:t>
            </a:r>
            <a:r>
              <a:rPr lang="en-US" altLang="ko-KR" sz="1400" dirty="0" smtClean="0">
                <a:latin typeface="나눔스퀘어" panose="020B0600000101010101" pitchFamily="50" charset="-127"/>
                <a:ea typeface="나눔스퀘어" panose="020B0600000101010101" pitchFamily="50" charset="-127"/>
              </a:rPr>
              <a:t>2H</a:t>
            </a: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 </a:t>
            </a:r>
            <a:r>
              <a:rPr lang="en-US" altLang="ko-KR" sz="1400" spc="-70" dirty="0" smtClean="0">
                <a:latin typeface="나눔스퀘어" panose="020B0600000101010101" pitchFamily="50" charset="-127"/>
                <a:ea typeface="나눔스퀘어" panose="020B0600000101010101" pitchFamily="50" charset="-127"/>
              </a:rPr>
              <a:t>45</a:t>
            </a:r>
            <a:r>
              <a:rPr lang="en-US" altLang="ko-KR" sz="1400" spc="-70" dirty="0">
                <a:latin typeface="나눔스퀘어" panose="020B0600000101010101" pitchFamily="50" charset="-127"/>
                <a:ea typeface="나눔스퀘어" panose="020B0600000101010101" pitchFamily="50" charset="-127"/>
              </a:rPr>
              <a:t>% of </a:t>
            </a:r>
            <a:r>
              <a:rPr lang="en-US" altLang="ko-KR" sz="1400" spc="-70" dirty="0" err="1">
                <a:latin typeface="나눔스퀘어" panose="020B0600000101010101" pitchFamily="50" charset="-127"/>
                <a:ea typeface="나눔스퀘어" panose="020B0600000101010101" pitchFamily="50" charset="-127"/>
              </a:rPr>
              <a:t>newbuilds</a:t>
            </a:r>
            <a:r>
              <a:rPr lang="en-US" altLang="ko-KR" sz="1400" spc="-70" dirty="0">
                <a:latin typeface="나눔스퀘어" panose="020B0600000101010101" pitchFamily="50" charset="-127"/>
                <a:ea typeface="나눔스퀘어" panose="020B0600000101010101" pitchFamily="50" charset="-127"/>
              </a:rPr>
              <a:t> were delivered in 1H, leaving more </a:t>
            </a:r>
            <a:r>
              <a:rPr lang="en-US" altLang="ko-KR" sz="1400" spc="-70" dirty="0" smtClean="0">
                <a:latin typeface="나눔스퀘어" panose="020B0600000101010101" pitchFamily="50" charset="-127"/>
                <a:ea typeface="나눔스퀘어" panose="020B0600000101010101" pitchFamily="50" charset="-127"/>
              </a:rPr>
              <a:t>deliveries in 2H</a:t>
            </a: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 </a:t>
            </a:r>
            <a:r>
              <a:rPr lang="en-US" altLang="ko-KR" sz="1400" spc="-100" dirty="0">
                <a:latin typeface="나눔스퀘어" panose="020B0600000101010101" pitchFamily="50" charset="-127"/>
                <a:ea typeface="나눔스퀘어" panose="020B0600000101010101" pitchFamily="50" charset="-127"/>
              </a:rPr>
              <a:t>Capacity recovery from easing Middle East risks may add supply </a:t>
            </a:r>
            <a:r>
              <a:rPr lang="en-US" altLang="ko-KR" sz="1400" spc="-100" dirty="0" smtClean="0">
                <a:latin typeface="나눔스퀘어" panose="020B0600000101010101" pitchFamily="50" charset="-127"/>
                <a:ea typeface="나눔스퀘어" panose="020B0600000101010101" pitchFamily="50" charset="-127"/>
              </a:rPr>
              <a:t>pressure</a:t>
            </a:r>
          </a:p>
        </p:txBody>
      </p:sp>
      <p:grpSp>
        <p:nvGrpSpPr>
          <p:cNvPr id="81" name="그룹 80"/>
          <p:cNvGrpSpPr/>
          <p:nvPr/>
        </p:nvGrpSpPr>
        <p:grpSpPr>
          <a:xfrm>
            <a:off x="6290801" y="2596048"/>
            <a:ext cx="5410242" cy="230832"/>
            <a:chOff x="522352" y="2590117"/>
            <a:chExt cx="5410242" cy="230832"/>
          </a:xfrm>
        </p:grpSpPr>
        <p:sp>
          <p:nvSpPr>
            <p:cNvPr id="82" name="직사각형 81">
              <a:extLst>
                <a:ext uri="{FF2B5EF4-FFF2-40B4-BE49-F238E27FC236}">
                  <a16:creationId xmlns:a16="http://schemas.microsoft.com/office/drawing/2014/main" id="{5E1BAC51-93E3-4E55-A59B-3BB621CD3405}"/>
                </a:ext>
              </a:extLst>
            </p:cNvPr>
            <p:cNvSpPr/>
            <p:nvPr/>
          </p:nvSpPr>
          <p:spPr>
            <a:xfrm>
              <a:off x="781342" y="2590117"/>
              <a:ext cx="5151252" cy="230832"/>
            </a:xfrm>
            <a:prstGeom prst="rect">
              <a:avLst/>
            </a:prstGeom>
            <a:noFill/>
          </p:spPr>
          <p:txBody>
            <a:bodyPr wrap="none" lIns="0" tIns="0" rIns="0" bIns="0" anchor="t">
              <a:noAutofit/>
            </a:bodyPr>
            <a:lstStyle/>
            <a:p>
              <a:pPr marR="608330" lvl="0" latinLnBrk="0">
                <a:defRPr/>
              </a:pPr>
              <a:r>
                <a:rPr lang="en-US" altLang="ko-KR"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Long-Term Supply Risks to Rise After 2027</a:t>
              </a:r>
            </a:p>
          </p:txBody>
        </p:sp>
        <p:grpSp>
          <p:nvGrpSpPr>
            <p:cNvPr id="83" name="그룹 82"/>
            <p:cNvGrpSpPr/>
            <p:nvPr/>
          </p:nvGrpSpPr>
          <p:grpSpPr>
            <a:xfrm>
              <a:off x="522352" y="2609533"/>
              <a:ext cx="192000" cy="192000"/>
              <a:chOff x="412816" y="1633655"/>
              <a:chExt cx="184804" cy="185998"/>
            </a:xfrm>
          </p:grpSpPr>
          <p:sp>
            <p:nvSpPr>
              <p:cNvPr id="84" name="모서리가 둥근 직사각형 83"/>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85" name="그룹 186"/>
              <p:cNvGrpSpPr/>
              <p:nvPr/>
            </p:nvGrpSpPr>
            <p:grpSpPr>
              <a:xfrm>
                <a:off x="454440" y="1688440"/>
                <a:ext cx="106516" cy="76455"/>
                <a:chOff x="3366478" y="5412581"/>
                <a:chExt cx="126078" cy="89916"/>
              </a:xfrm>
              <a:solidFill>
                <a:schemeClr val="bg1"/>
              </a:solidFill>
            </p:grpSpPr>
            <p:sp>
              <p:nvSpPr>
                <p:cNvPr id="86" name="모서리가 둥근 직사각형 85"/>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87" name="모서리가 둥근 직사각형 86"/>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sp>
        <p:nvSpPr>
          <p:cNvPr id="89" name="직사각형 25"/>
          <p:cNvSpPr/>
          <p:nvPr/>
        </p:nvSpPr>
        <p:spPr>
          <a:xfrm>
            <a:off x="6441534" y="2852931"/>
            <a:ext cx="5750465" cy="1902780"/>
          </a:xfrm>
          <a:prstGeom prst="rect">
            <a:avLst/>
          </a:prstGeom>
        </p:spPr>
        <p:txBody>
          <a:bodyPr wrap="square">
            <a:noAutofit/>
          </a:bodyPr>
          <a:lstStyle/>
          <a:p>
            <a:pPr marL="144000" indent="-144000" defTabSz="1038977" latinLnBrk="0">
              <a:spcAft>
                <a:spcPts val="800"/>
              </a:spcAft>
              <a:buFont typeface="Arial" panose="020B0604020202020204" pitchFamily="34" charset="0"/>
              <a:buChar char="•"/>
            </a:pPr>
            <a:r>
              <a:rPr lang="en-US" altLang="ko-KR" sz="1400" dirty="0">
                <a:latin typeface="나눔스퀘어" panose="020B0600000101010101" pitchFamily="50" charset="-127"/>
                <a:ea typeface="나눔스퀘어" panose="020B0600000101010101" pitchFamily="50" charset="-127"/>
              </a:rPr>
              <a:t>Containership </a:t>
            </a:r>
            <a:r>
              <a:rPr lang="en-US" altLang="ko-KR" sz="1400" dirty="0" err="1">
                <a:latin typeface="나눔스퀘어" panose="020B0600000101010101" pitchFamily="50" charset="-127"/>
                <a:ea typeface="나눔스퀘어" panose="020B0600000101010101" pitchFamily="50" charset="-127"/>
              </a:rPr>
              <a:t>orderbooks</a:t>
            </a:r>
            <a:r>
              <a:rPr lang="en-US" altLang="ko-KR" sz="1400" dirty="0">
                <a:latin typeface="나눔스퀘어" panose="020B0600000101010101" pitchFamily="50" charset="-127"/>
                <a:ea typeface="나눔스퀘어" panose="020B0600000101010101" pitchFamily="50" charset="-127"/>
              </a:rPr>
              <a:t> remain at record </a:t>
            </a:r>
            <a:r>
              <a:rPr lang="en-US" altLang="ko-KR" sz="1400" dirty="0" smtClean="0">
                <a:latin typeface="나눔스퀘어" panose="020B0600000101010101" pitchFamily="50" charset="-127"/>
                <a:ea typeface="나눔스퀘어" panose="020B0600000101010101" pitchFamily="50" charset="-127"/>
              </a:rPr>
              <a:t>levels</a:t>
            </a: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 </a:t>
            </a:r>
            <a:r>
              <a:rPr lang="en-US" altLang="ko-KR" sz="1400" spc="-50" dirty="0" err="1">
                <a:latin typeface="나눔스퀘어" panose="020B0600000101010101" pitchFamily="50" charset="-127"/>
                <a:ea typeface="나눔스퀘어" panose="020B0600000101010101" pitchFamily="50" charset="-127"/>
              </a:rPr>
              <a:t>Orderbooks</a:t>
            </a:r>
            <a:r>
              <a:rPr lang="en-US" altLang="ko-KR" sz="1400" spc="-50" dirty="0">
                <a:latin typeface="나눔스퀘어" panose="020B0600000101010101" pitchFamily="50" charset="-127"/>
                <a:ea typeface="나눔스퀘어" panose="020B0600000101010101" pitchFamily="50" charset="-127"/>
              </a:rPr>
              <a:t> reached 12.91m TEU in Jun. 2026, the highest since </a:t>
            </a:r>
            <a:r>
              <a:rPr lang="en-US" altLang="ko-KR" sz="1400" spc="-50" dirty="0" smtClean="0">
                <a:latin typeface="나눔스퀘어" panose="020B0600000101010101" pitchFamily="50" charset="-127"/>
                <a:ea typeface="나눔스퀘어" panose="020B0600000101010101" pitchFamily="50" charset="-127"/>
              </a:rPr>
              <a:t>2010</a:t>
            </a: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 </a:t>
            </a:r>
            <a:r>
              <a:rPr lang="en-US" altLang="ko-KR" sz="1400" spc="-100" dirty="0" smtClean="0">
                <a:latin typeface="나눔스퀘어" panose="020B0600000101010101" pitchFamily="50" charset="-127"/>
                <a:ea typeface="나눔스퀘어" panose="020B0600000101010101" pitchFamily="50" charset="-127"/>
              </a:rPr>
              <a:t>Newbuilding </a:t>
            </a:r>
            <a:r>
              <a:rPr lang="en-US" altLang="ko-KR" sz="1400" spc="-100" dirty="0">
                <a:latin typeface="나눔스퀘어" panose="020B0600000101010101" pitchFamily="50" charset="-127"/>
                <a:ea typeface="나눔스퀘어" panose="020B0600000101010101" pitchFamily="50" charset="-127"/>
              </a:rPr>
              <a:t>orders remain strong on fleet renewal and capacity </a:t>
            </a:r>
            <a:r>
              <a:rPr lang="en-US" altLang="ko-KR" sz="1400" spc="-100" dirty="0" smtClean="0">
                <a:latin typeface="나눔스퀘어" panose="020B0600000101010101" pitchFamily="50" charset="-127"/>
                <a:ea typeface="나눔스퀘어" panose="020B0600000101010101" pitchFamily="50" charset="-127"/>
              </a:rPr>
              <a:t>expansion</a:t>
            </a:r>
          </a:p>
          <a:p>
            <a:pPr marL="144000" indent="-144000" defTabSz="1038977" latinLnBrk="0">
              <a:spcAft>
                <a:spcPts val="800"/>
              </a:spcAft>
              <a:buFont typeface="Arial" panose="020B0604020202020204" pitchFamily="34" charset="0"/>
              <a:buChar char="•"/>
            </a:pPr>
            <a:r>
              <a:rPr lang="en-US" altLang="ko-KR" sz="1400" dirty="0">
                <a:latin typeface="나눔스퀘어" panose="020B0600000101010101" pitchFamily="50" charset="-127"/>
                <a:ea typeface="나눔스퀘어" panose="020B0600000101010101" pitchFamily="50" charset="-127"/>
              </a:rPr>
              <a:t>Supply pressure is expected to intensify beyond </a:t>
            </a:r>
            <a:r>
              <a:rPr lang="en-US" altLang="ko-KR" sz="1400" dirty="0" smtClean="0">
                <a:latin typeface="나눔스퀘어" panose="020B0600000101010101" pitchFamily="50" charset="-127"/>
                <a:ea typeface="나눔스퀘어" panose="020B0600000101010101" pitchFamily="50" charset="-127"/>
              </a:rPr>
              <a:t>2027</a:t>
            </a:r>
            <a:endParaRPr lang="en-US" altLang="ko-KR" sz="1400" dirty="0">
              <a:latin typeface="나눔스퀘어" panose="020B0600000101010101" pitchFamily="50" charset="-127"/>
              <a:ea typeface="나눔스퀘어" panose="020B0600000101010101" pitchFamily="50" charset="-127"/>
            </a:endParaRPr>
          </a:p>
          <a:p>
            <a:pPr defTabSz="1038977" latinLnBrk="0">
              <a:spcAft>
                <a:spcPts val="800"/>
              </a:spcAft>
            </a:pPr>
            <a:r>
              <a:rPr lang="en-US" altLang="ko-KR" sz="1400" spc="-50" dirty="0" smtClean="0">
                <a:latin typeface="나눔스퀘어" panose="020B0600000101010101" pitchFamily="50" charset="-127"/>
                <a:ea typeface="나눔스퀘어" panose="020B0600000101010101" pitchFamily="50" charset="-127"/>
              </a:rPr>
              <a:t>   - </a:t>
            </a:r>
            <a:r>
              <a:rPr lang="en-US" altLang="ko-KR" sz="1400" spc="-50" dirty="0" err="1">
                <a:latin typeface="나눔스퀘어" panose="020B0600000101010101" pitchFamily="50" charset="-127"/>
                <a:ea typeface="나눔스퀘어" panose="020B0600000101010101" pitchFamily="50" charset="-127"/>
              </a:rPr>
              <a:t>Newbuild</a:t>
            </a:r>
            <a:r>
              <a:rPr lang="en-US" altLang="ko-KR" sz="1400" spc="-50" dirty="0">
                <a:latin typeface="나눔스퀘어" panose="020B0600000101010101" pitchFamily="50" charset="-127"/>
                <a:ea typeface="나눔스퀘어" panose="020B0600000101010101" pitchFamily="50" charset="-127"/>
              </a:rPr>
              <a:t> deliveries: 1.57m ('26) → 3.06m ('27) → 4.89m TEU ('28</a:t>
            </a:r>
            <a:r>
              <a:rPr lang="en-US" altLang="ko-KR" sz="1400" spc="-50" dirty="0" smtClean="0">
                <a:latin typeface="나눔스퀘어" panose="020B0600000101010101" pitchFamily="50" charset="-127"/>
                <a:ea typeface="나눔스퀘어" panose="020B0600000101010101" pitchFamily="50" charset="-127"/>
              </a:rPr>
              <a:t>)</a:t>
            </a: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a:t>
            </a:r>
            <a:r>
              <a:rPr lang="en-US" altLang="ko-KR" sz="1400" dirty="0">
                <a:latin typeface="나눔스퀘어" panose="020B0600000101010101" pitchFamily="50" charset="-127"/>
                <a:ea typeface="나눔스퀘어" panose="020B0600000101010101" pitchFamily="50" charset="-127"/>
              </a:rPr>
              <a:t>- Rising oversupply may prolong downward pressure on </a:t>
            </a:r>
            <a:r>
              <a:rPr lang="en-US" altLang="ko-KR" sz="1400" dirty="0" smtClean="0">
                <a:latin typeface="나눔스퀘어" panose="020B0600000101010101" pitchFamily="50" charset="-127"/>
                <a:ea typeface="나눔스퀘어" panose="020B0600000101010101" pitchFamily="50" charset="-127"/>
              </a:rPr>
              <a:t>rates</a:t>
            </a:r>
          </a:p>
        </p:txBody>
      </p:sp>
      <p:graphicFrame>
        <p:nvGraphicFramePr>
          <p:cNvPr id="67" name="차트 66"/>
          <p:cNvGraphicFramePr/>
          <p:nvPr>
            <p:extLst>
              <p:ext uri="{D42A27DB-BD31-4B8C-83A1-F6EECF244321}">
                <p14:modId xmlns:p14="http://schemas.microsoft.com/office/powerpoint/2010/main" val="2436238875"/>
              </p:ext>
            </p:extLst>
          </p:nvPr>
        </p:nvGraphicFramePr>
        <p:xfrm>
          <a:off x="503790" y="4800600"/>
          <a:ext cx="5310101" cy="1626078"/>
        </p:xfrm>
        <a:graphic>
          <a:graphicData uri="http://schemas.openxmlformats.org/drawingml/2006/chart">
            <c:chart xmlns:c="http://schemas.openxmlformats.org/drawingml/2006/chart" xmlns:r="http://schemas.openxmlformats.org/officeDocument/2006/relationships" r:id="rId4"/>
          </a:graphicData>
        </a:graphic>
      </p:graphicFrame>
      <p:sp>
        <p:nvSpPr>
          <p:cNvPr id="58" name="슬라이드 번호 개체 틀 5">
            <a:extLst>
              <a:ext uri="{FF2B5EF4-FFF2-40B4-BE49-F238E27FC236}">
                <a16:creationId xmlns:a16="http://schemas.microsoft.com/office/drawing/2014/main" id="{FAC1EB1B-E602-0247-88AB-A89AF71255A6}"/>
              </a:ext>
            </a:extLst>
          </p:cNvPr>
          <p:cNvSpPr txBox="1">
            <a:spLocks/>
          </p:cNvSpPr>
          <p:nvPr/>
        </p:nvSpPr>
        <p:spPr>
          <a:xfrm>
            <a:off x="5419725" y="6426152"/>
            <a:ext cx="788332" cy="326455"/>
          </a:xfrm>
          <a:prstGeom prst="rect">
            <a:avLst/>
          </a:prstGeom>
        </p:spPr>
        <p:txBody>
          <a:bodyPr lIns="162531" tIns="81264" rIns="162531" bIns="81264" anchor="ctr"/>
          <a:lstStyle>
            <a:lvl1pPr algn="r">
              <a:defRPr sz="1200">
                <a:solidFill>
                  <a:schemeClr val="tx1">
                    <a:tint val="75000"/>
                  </a:schemeClr>
                </a:solidFill>
              </a:defRPr>
            </a:lvl1pPr>
          </a:lstStyle>
          <a:p>
            <a:pPr defTabSz="1219048">
              <a:defRPr/>
            </a:pPr>
            <a:r>
              <a:rPr lang="en-US" altLang="ko-KR" dirty="0" smtClean="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rPr>
              <a:t>9</a:t>
            </a:r>
            <a:endParaRPr lang="ko-KR" altLang="en-US"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endParaRPr>
          </a:p>
        </p:txBody>
      </p:sp>
      <p:graphicFrame>
        <p:nvGraphicFramePr>
          <p:cNvPr id="93" name="차트 92"/>
          <p:cNvGraphicFramePr/>
          <p:nvPr>
            <p:extLst>
              <p:ext uri="{D42A27DB-BD31-4B8C-83A1-F6EECF244321}">
                <p14:modId xmlns:p14="http://schemas.microsoft.com/office/powerpoint/2010/main" val="3832163166"/>
              </p:ext>
            </p:extLst>
          </p:nvPr>
        </p:nvGraphicFramePr>
        <p:xfrm>
          <a:off x="6242396" y="4696691"/>
          <a:ext cx="5428673" cy="1731458"/>
        </p:xfrm>
        <a:graphic>
          <a:graphicData uri="http://schemas.openxmlformats.org/drawingml/2006/chart">
            <c:chart xmlns:c="http://schemas.openxmlformats.org/drawingml/2006/chart" xmlns:r="http://schemas.openxmlformats.org/officeDocument/2006/relationships" r:id="rId5"/>
          </a:graphicData>
        </a:graphic>
      </p:graphicFrame>
      <p:sp>
        <p:nvSpPr>
          <p:cNvPr id="60" name="TextBox 59"/>
          <p:cNvSpPr txBox="1"/>
          <p:nvPr/>
        </p:nvSpPr>
        <p:spPr>
          <a:xfrm>
            <a:off x="8378243" y="3385782"/>
            <a:ext cx="2078161" cy="138499"/>
          </a:xfrm>
          <a:prstGeom prst="rect">
            <a:avLst/>
          </a:prstGeom>
          <a:noFill/>
        </p:spPr>
        <p:txBody>
          <a:bodyPr wrap="square" lIns="0" tIns="0" rIns="0" bIns="0" rtlCol="0">
            <a:spAutoFit/>
          </a:bodyPr>
          <a:lstStyle/>
          <a:p>
            <a:r>
              <a:rPr lang="en-US" altLang="ko-KR" sz="900" dirty="0">
                <a:solidFill>
                  <a:srgbClr val="0000FF"/>
                </a:solidFill>
                <a:latin typeface="나눔스퀘어" panose="020B0600000101010101" pitchFamily="50" charset="-127"/>
                <a:ea typeface="나눔스퀘어" panose="020B0600000101010101" pitchFamily="50" charset="-127"/>
              </a:rPr>
              <a:t>* ~38% of the existing fleet</a:t>
            </a:r>
          </a:p>
        </p:txBody>
      </p:sp>
      <p:cxnSp>
        <p:nvCxnSpPr>
          <p:cNvPr id="99" name="직선 화살표 연결선 98"/>
          <p:cNvCxnSpPr/>
          <p:nvPr/>
        </p:nvCxnSpPr>
        <p:spPr>
          <a:xfrm>
            <a:off x="8577089" y="5495721"/>
            <a:ext cx="3562" cy="146662"/>
          </a:xfrm>
          <a:prstGeom prst="straightConnector1">
            <a:avLst/>
          </a:prstGeom>
          <a:ln w="3175">
            <a:solidFill>
              <a:srgbClr val="3CD0BA"/>
            </a:solidFill>
            <a:prstDash val="sysDot"/>
            <a:tailEnd type="stealth"/>
          </a:ln>
        </p:spPr>
        <p:style>
          <a:lnRef idx="1">
            <a:schemeClr val="accent1"/>
          </a:lnRef>
          <a:fillRef idx="0">
            <a:schemeClr val="accent1"/>
          </a:fillRef>
          <a:effectRef idx="0">
            <a:schemeClr val="accent1"/>
          </a:effectRef>
          <a:fontRef idx="minor">
            <a:schemeClr val="tx1"/>
          </a:fontRef>
        </p:style>
      </p:cxnSp>
      <p:cxnSp>
        <p:nvCxnSpPr>
          <p:cNvPr id="120" name="직선 화살표 연결선 119"/>
          <p:cNvCxnSpPr/>
          <p:nvPr/>
        </p:nvCxnSpPr>
        <p:spPr>
          <a:xfrm>
            <a:off x="9704601" y="5247072"/>
            <a:ext cx="0" cy="108463"/>
          </a:xfrm>
          <a:prstGeom prst="straightConnector1">
            <a:avLst/>
          </a:prstGeom>
          <a:ln w="3175">
            <a:solidFill>
              <a:srgbClr val="3CD0BA"/>
            </a:solidFill>
            <a:prstDash val="sysDot"/>
            <a:tailEnd type="stealth"/>
          </a:ln>
        </p:spPr>
        <p:style>
          <a:lnRef idx="1">
            <a:schemeClr val="accent1"/>
          </a:lnRef>
          <a:fillRef idx="0">
            <a:schemeClr val="accent1"/>
          </a:fillRef>
          <a:effectRef idx="0">
            <a:schemeClr val="accent1"/>
          </a:effectRef>
          <a:fontRef idx="minor">
            <a:schemeClr val="tx1"/>
          </a:fontRef>
        </p:style>
      </p:cxnSp>
      <p:cxnSp>
        <p:nvCxnSpPr>
          <p:cNvPr id="121" name="직선 화살표 연결선 120"/>
          <p:cNvCxnSpPr/>
          <p:nvPr/>
        </p:nvCxnSpPr>
        <p:spPr>
          <a:xfrm flipH="1">
            <a:off x="10842568" y="5116267"/>
            <a:ext cx="9280" cy="499438"/>
          </a:xfrm>
          <a:prstGeom prst="straightConnector1">
            <a:avLst/>
          </a:prstGeom>
          <a:ln w="3175">
            <a:solidFill>
              <a:srgbClr val="3CD0BA"/>
            </a:solidFill>
            <a:prstDash val="sysDot"/>
            <a:tailEnd type="stealth"/>
          </a:ln>
        </p:spPr>
        <p:style>
          <a:lnRef idx="1">
            <a:schemeClr val="accent1"/>
          </a:lnRef>
          <a:fillRef idx="0">
            <a:schemeClr val="accent1"/>
          </a:fillRef>
          <a:effectRef idx="0">
            <a:schemeClr val="accent1"/>
          </a:effectRef>
          <a:fontRef idx="minor">
            <a:schemeClr val="tx1"/>
          </a:fontRef>
        </p:style>
      </p:cxnSp>
      <p:cxnSp>
        <p:nvCxnSpPr>
          <p:cNvPr id="122" name="직선 화살표 연결선 121"/>
          <p:cNvCxnSpPr/>
          <p:nvPr/>
        </p:nvCxnSpPr>
        <p:spPr>
          <a:xfrm>
            <a:off x="7500357" y="5495721"/>
            <a:ext cx="0" cy="393058"/>
          </a:xfrm>
          <a:prstGeom prst="straightConnector1">
            <a:avLst/>
          </a:prstGeom>
          <a:ln w="3175">
            <a:solidFill>
              <a:srgbClr val="3CD0BA"/>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23" name="직선 화살표 연결선 122"/>
          <p:cNvCxnSpPr/>
          <p:nvPr/>
        </p:nvCxnSpPr>
        <p:spPr>
          <a:xfrm>
            <a:off x="7459876" y="5247072"/>
            <a:ext cx="0" cy="641707"/>
          </a:xfrm>
          <a:prstGeom prst="straightConnector1">
            <a:avLst/>
          </a:prstGeom>
          <a:ln w="3175">
            <a:solidFill>
              <a:srgbClr val="3CD0BA"/>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24" name="직선 화살표 연결선 123"/>
          <p:cNvCxnSpPr/>
          <p:nvPr/>
        </p:nvCxnSpPr>
        <p:spPr>
          <a:xfrm>
            <a:off x="7421775" y="5116267"/>
            <a:ext cx="0" cy="772512"/>
          </a:xfrm>
          <a:prstGeom prst="straightConnector1">
            <a:avLst/>
          </a:prstGeom>
          <a:ln w="3175">
            <a:solidFill>
              <a:srgbClr val="3CD0BA"/>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28" name="직선 화살표 연결선 127"/>
          <p:cNvCxnSpPr/>
          <p:nvPr/>
        </p:nvCxnSpPr>
        <p:spPr>
          <a:xfrm>
            <a:off x="7500357" y="5495721"/>
            <a:ext cx="1076732" cy="0"/>
          </a:xfrm>
          <a:prstGeom prst="straightConnector1">
            <a:avLst/>
          </a:prstGeom>
          <a:ln w="3175">
            <a:solidFill>
              <a:srgbClr val="3CD0BA"/>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33" name="직선 화살표 연결선 132"/>
          <p:cNvCxnSpPr/>
          <p:nvPr/>
        </p:nvCxnSpPr>
        <p:spPr>
          <a:xfrm>
            <a:off x="7461139" y="5247072"/>
            <a:ext cx="2243462" cy="0"/>
          </a:xfrm>
          <a:prstGeom prst="straightConnector1">
            <a:avLst/>
          </a:prstGeom>
          <a:ln w="3175">
            <a:solidFill>
              <a:srgbClr val="3CD0BA"/>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37" name="직선 화살표 연결선 136"/>
          <p:cNvCxnSpPr/>
          <p:nvPr/>
        </p:nvCxnSpPr>
        <p:spPr>
          <a:xfrm flipV="1">
            <a:off x="7421775" y="5110301"/>
            <a:ext cx="3430073" cy="2218"/>
          </a:xfrm>
          <a:prstGeom prst="straightConnector1">
            <a:avLst/>
          </a:prstGeom>
          <a:ln w="3175">
            <a:solidFill>
              <a:srgbClr val="3CD0BA"/>
            </a:solidFill>
            <a:prstDash val="sysDot"/>
            <a:tailEnd type="none"/>
          </a:ln>
        </p:spPr>
        <p:style>
          <a:lnRef idx="1">
            <a:schemeClr val="accent1"/>
          </a:lnRef>
          <a:fillRef idx="0">
            <a:schemeClr val="accent1"/>
          </a:fillRef>
          <a:effectRef idx="0">
            <a:schemeClr val="accent1"/>
          </a:effectRef>
          <a:fontRef idx="minor">
            <a:schemeClr val="tx1"/>
          </a:fontRef>
        </p:style>
      </p:cxnSp>
      <p:grpSp>
        <p:nvGrpSpPr>
          <p:cNvPr id="14" name="그룹 13"/>
          <p:cNvGrpSpPr/>
          <p:nvPr/>
        </p:nvGrpSpPr>
        <p:grpSpPr>
          <a:xfrm>
            <a:off x="7743666" y="5364916"/>
            <a:ext cx="511679" cy="261610"/>
            <a:chOff x="7567251" y="5624261"/>
            <a:chExt cx="511679" cy="261610"/>
          </a:xfrm>
        </p:grpSpPr>
        <p:sp>
          <p:nvSpPr>
            <p:cNvPr id="66" name="타원 65"/>
            <p:cNvSpPr/>
            <p:nvPr/>
          </p:nvSpPr>
          <p:spPr>
            <a:xfrm>
              <a:off x="7622381" y="5636676"/>
              <a:ext cx="436601" cy="236780"/>
            </a:xfrm>
            <a:prstGeom prst="ellipse">
              <a:avLst/>
            </a:prstGeom>
            <a:solidFill>
              <a:srgbClr val="3CD0BA"/>
            </a:solidFill>
            <a:ln>
              <a:noFill/>
            </a:ln>
            <a:effectLst/>
          </p:spPr>
          <p:txBody>
            <a:bodyPr vert="horz" wrap="square" lIns="0" tIns="0" rIns="0" bIns="0" numCol="1" rtlCol="0" anchor="ctr" anchorCtr="0" compatLnSpc="1">
              <a:prstTxWarp prst="textNoShape">
                <a:avLst/>
              </a:prstTxWarp>
            </a:bodyPr>
            <a:lstStyle/>
            <a:p>
              <a:pPr algn="ctr"/>
              <a:endParaRPr lang="ko-KR" altLang="en-US" sz="1100" b="1" dirty="0" smtClean="0">
                <a:solidFill>
                  <a:schemeClr val="bg1"/>
                </a:solidFill>
                <a:latin typeface="나눔스퀘어" panose="020B0600000101010101" pitchFamily="50" charset="-127"/>
                <a:ea typeface="나눔스퀘어" panose="020B0600000101010101" pitchFamily="50" charset="-127"/>
              </a:endParaRPr>
            </a:p>
          </p:txBody>
        </p:sp>
        <p:sp>
          <p:nvSpPr>
            <p:cNvPr id="94" name="TextBox 93"/>
            <p:cNvSpPr txBox="1"/>
            <p:nvPr/>
          </p:nvSpPr>
          <p:spPr>
            <a:xfrm>
              <a:off x="7567251" y="5624261"/>
              <a:ext cx="511679" cy="261610"/>
            </a:xfrm>
            <a:prstGeom prst="rect">
              <a:avLst/>
            </a:prstGeom>
            <a:noFill/>
            <a:ln>
              <a:noFill/>
            </a:ln>
          </p:spPr>
          <p:txBody>
            <a:bodyPr wrap="none" rtlCol="0">
              <a:spAutoFit/>
            </a:bodyPr>
            <a:lstStyle/>
            <a:p>
              <a:pPr algn="ctr"/>
              <a:r>
                <a:rPr lang="en-US" altLang="ko-KR" sz="1100" b="1" spc="-100" dirty="0" smtClean="0">
                  <a:solidFill>
                    <a:schemeClr val="bg1"/>
                  </a:solidFill>
                  <a:latin typeface="나눔스퀘어" panose="020B0600000101010101" pitchFamily="50" charset="-127"/>
                  <a:ea typeface="나눔스퀘어" panose="020B0600000101010101" pitchFamily="50" charset="-127"/>
                </a:rPr>
                <a:t>+94%</a:t>
              </a:r>
              <a:endParaRPr lang="ko-KR" altLang="en-US" sz="1100" b="1" spc="-100" dirty="0">
                <a:solidFill>
                  <a:schemeClr val="bg1"/>
                </a:solidFill>
                <a:latin typeface="나눔스퀘어" panose="020B0600000101010101" pitchFamily="50" charset="-127"/>
                <a:ea typeface="나눔스퀘어" panose="020B0600000101010101" pitchFamily="50" charset="-127"/>
              </a:endParaRPr>
            </a:p>
          </p:txBody>
        </p:sp>
      </p:grpSp>
      <p:grpSp>
        <p:nvGrpSpPr>
          <p:cNvPr id="111" name="그룹 110"/>
          <p:cNvGrpSpPr/>
          <p:nvPr/>
        </p:nvGrpSpPr>
        <p:grpSpPr>
          <a:xfrm>
            <a:off x="8833510" y="5144845"/>
            <a:ext cx="583814" cy="261610"/>
            <a:chOff x="7531183" y="5624261"/>
            <a:chExt cx="583814" cy="261610"/>
          </a:xfrm>
        </p:grpSpPr>
        <p:sp>
          <p:nvSpPr>
            <p:cNvPr id="112" name="타원 111"/>
            <p:cNvSpPr/>
            <p:nvPr/>
          </p:nvSpPr>
          <p:spPr>
            <a:xfrm>
              <a:off x="7622381" y="5636676"/>
              <a:ext cx="436601" cy="236780"/>
            </a:xfrm>
            <a:prstGeom prst="ellipse">
              <a:avLst/>
            </a:prstGeom>
            <a:solidFill>
              <a:srgbClr val="3CD0BA"/>
            </a:solidFill>
            <a:ln>
              <a:noFill/>
            </a:ln>
            <a:effectLst/>
          </p:spPr>
          <p:txBody>
            <a:bodyPr vert="horz" wrap="square" lIns="0" tIns="0" rIns="0" bIns="0" numCol="1" rtlCol="0" anchor="ctr" anchorCtr="0" compatLnSpc="1">
              <a:prstTxWarp prst="textNoShape">
                <a:avLst/>
              </a:prstTxWarp>
            </a:bodyPr>
            <a:lstStyle/>
            <a:p>
              <a:pPr algn="ctr"/>
              <a:endParaRPr lang="ko-KR" altLang="en-US" sz="1100" b="1" dirty="0" smtClean="0">
                <a:solidFill>
                  <a:schemeClr val="bg1"/>
                </a:solidFill>
                <a:latin typeface="나눔스퀘어" panose="020B0600000101010101" pitchFamily="50" charset="-127"/>
                <a:ea typeface="나눔스퀘어" panose="020B0600000101010101" pitchFamily="50" charset="-127"/>
              </a:endParaRPr>
            </a:p>
          </p:txBody>
        </p:sp>
        <p:sp>
          <p:nvSpPr>
            <p:cNvPr id="113" name="TextBox 112"/>
            <p:cNvSpPr txBox="1"/>
            <p:nvPr/>
          </p:nvSpPr>
          <p:spPr>
            <a:xfrm>
              <a:off x="7531183" y="5624261"/>
              <a:ext cx="583814" cy="261610"/>
            </a:xfrm>
            <a:prstGeom prst="rect">
              <a:avLst/>
            </a:prstGeom>
            <a:noFill/>
            <a:ln>
              <a:noFill/>
            </a:ln>
          </p:spPr>
          <p:txBody>
            <a:bodyPr wrap="none" rtlCol="0">
              <a:spAutoFit/>
            </a:bodyPr>
            <a:lstStyle/>
            <a:p>
              <a:pPr algn="ctr"/>
              <a:r>
                <a:rPr lang="en-US" altLang="ko-KR" sz="1100" b="1" spc="-100" dirty="0" smtClean="0">
                  <a:solidFill>
                    <a:schemeClr val="bg1"/>
                  </a:solidFill>
                  <a:latin typeface="나눔스퀘어" panose="020B0600000101010101" pitchFamily="50" charset="-127"/>
                  <a:ea typeface="나눔스퀘어" panose="020B0600000101010101" pitchFamily="50" charset="-127"/>
                </a:rPr>
                <a:t>+211%</a:t>
              </a:r>
              <a:endParaRPr lang="ko-KR" altLang="en-US" sz="1100" b="1" spc="-100" dirty="0">
                <a:solidFill>
                  <a:schemeClr val="bg1"/>
                </a:solidFill>
                <a:latin typeface="나눔스퀘어" panose="020B0600000101010101" pitchFamily="50" charset="-127"/>
                <a:ea typeface="나눔스퀘어" panose="020B0600000101010101" pitchFamily="50" charset="-127"/>
              </a:endParaRPr>
            </a:p>
          </p:txBody>
        </p:sp>
      </p:grpSp>
      <p:grpSp>
        <p:nvGrpSpPr>
          <p:cNvPr id="114" name="그룹 113"/>
          <p:cNvGrpSpPr/>
          <p:nvPr/>
        </p:nvGrpSpPr>
        <p:grpSpPr>
          <a:xfrm>
            <a:off x="9990859" y="4994129"/>
            <a:ext cx="583814" cy="261610"/>
            <a:chOff x="7531183" y="5624261"/>
            <a:chExt cx="583814" cy="261610"/>
          </a:xfrm>
        </p:grpSpPr>
        <p:sp>
          <p:nvSpPr>
            <p:cNvPr id="115" name="타원 114"/>
            <p:cNvSpPr/>
            <p:nvPr/>
          </p:nvSpPr>
          <p:spPr>
            <a:xfrm>
              <a:off x="7622381" y="5636676"/>
              <a:ext cx="436601" cy="236780"/>
            </a:xfrm>
            <a:prstGeom prst="ellipse">
              <a:avLst/>
            </a:prstGeom>
            <a:solidFill>
              <a:srgbClr val="3CD0BA"/>
            </a:solidFill>
            <a:ln>
              <a:noFill/>
            </a:ln>
            <a:effectLst/>
          </p:spPr>
          <p:txBody>
            <a:bodyPr vert="horz" wrap="square" lIns="0" tIns="0" rIns="0" bIns="0" numCol="1" rtlCol="0" anchor="ctr" anchorCtr="0" compatLnSpc="1">
              <a:prstTxWarp prst="textNoShape">
                <a:avLst/>
              </a:prstTxWarp>
            </a:bodyPr>
            <a:lstStyle/>
            <a:p>
              <a:pPr algn="ctr"/>
              <a:endParaRPr lang="ko-KR" altLang="en-US" sz="1100" b="1" dirty="0" smtClean="0">
                <a:solidFill>
                  <a:schemeClr val="bg1"/>
                </a:solidFill>
                <a:latin typeface="나눔스퀘어" panose="020B0600000101010101" pitchFamily="50" charset="-127"/>
                <a:ea typeface="나눔스퀘어" panose="020B0600000101010101" pitchFamily="50" charset="-127"/>
              </a:endParaRPr>
            </a:p>
          </p:txBody>
        </p:sp>
        <p:sp>
          <p:nvSpPr>
            <p:cNvPr id="116" name="TextBox 115"/>
            <p:cNvSpPr txBox="1"/>
            <p:nvPr/>
          </p:nvSpPr>
          <p:spPr>
            <a:xfrm>
              <a:off x="7531183" y="5624261"/>
              <a:ext cx="583814" cy="261610"/>
            </a:xfrm>
            <a:prstGeom prst="rect">
              <a:avLst/>
            </a:prstGeom>
            <a:noFill/>
            <a:ln>
              <a:noFill/>
            </a:ln>
          </p:spPr>
          <p:txBody>
            <a:bodyPr wrap="none" rtlCol="0">
              <a:spAutoFit/>
            </a:bodyPr>
            <a:lstStyle/>
            <a:p>
              <a:pPr algn="ctr"/>
              <a:r>
                <a:rPr lang="en-US" altLang="ko-KR" sz="1100" b="1" spc="-100" dirty="0" smtClean="0">
                  <a:solidFill>
                    <a:schemeClr val="bg1"/>
                  </a:solidFill>
                  <a:latin typeface="나눔스퀘어" panose="020B0600000101010101" pitchFamily="50" charset="-127"/>
                  <a:ea typeface="나눔스퀘어" panose="020B0600000101010101" pitchFamily="50" charset="-127"/>
                </a:rPr>
                <a:t>+110%</a:t>
              </a:r>
              <a:endParaRPr lang="ko-KR" altLang="en-US" sz="1100" b="1" spc="-100" dirty="0">
                <a:solidFill>
                  <a:schemeClr val="bg1"/>
                </a:solidFill>
                <a:latin typeface="나눔스퀘어" panose="020B0600000101010101" pitchFamily="50" charset="-127"/>
                <a:ea typeface="나눔스퀘어" panose="020B0600000101010101" pitchFamily="50" charset="-127"/>
              </a:endParaRPr>
            </a:p>
          </p:txBody>
        </p:sp>
      </p:grpSp>
      <p:grpSp>
        <p:nvGrpSpPr>
          <p:cNvPr id="65" name="그룹 64"/>
          <p:cNvGrpSpPr/>
          <p:nvPr/>
        </p:nvGrpSpPr>
        <p:grpSpPr>
          <a:xfrm>
            <a:off x="10020301" y="6290"/>
            <a:ext cx="1778422" cy="552569"/>
            <a:chOff x="10020301" y="6290"/>
            <a:chExt cx="1778422" cy="552569"/>
          </a:xfrm>
        </p:grpSpPr>
        <p:cxnSp>
          <p:nvCxnSpPr>
            <p:cNvPr id="68" name="직선 연결선 67"/>
            <p:cNvCxnSpPr/>
            <p:nvPr/>
          </p:nvCxnSpPr>
          <p:spPr>
            <a:xfrm>
              <a:off x="11671487" y="6290"/>
              <a:ext cx="0" cy="313957"/>
            </a:xfrm>
            <a:prstGeom prst="line">
              <a:avLst/>
            </a:prstGeom>
            <a:ln w="635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10020301" y="381709"/>
              <a:ext cx="1552032" cy="153888"/>
            </a:xfrm>
            <a:prstGeom prst="rect">
              <a:avLst/>
            </a:prstGeom>
            <a:noFill/>
            <a:ln w="9525">
              <a:noFill/>
              <a:miter lim="800000"/>
              <a:headEnd/>
              <a:tailEnd/>
            </a:ln>
          </p:spPr>
          <p:txBody>
            <a:bodyPr wrap="square" lIns="0" tIns="0" rIns="0" bIns="0" anchor="ctr">
              <a:spAutoFit/>
            </a:bodyPr>
            <a:lstStyle>
              <a:defPPr>
                <a:defRPr lang="ko-KR"/>
              </a:defPPr>
              <a:lvl1pPr defTabSz="914125" fontAlgn="base" latinLnBrk="0">
                <a:spcBef>
                  <a:spcPct val="0"/>
                </a:spcBef>
                <a:spcAft>
                  <a:spcPts val="200"/>
                </a:spcAft>
                <a:defRPr sz="1100" spc="-20">
                  <a:ln>
                    <a:solidFill>
                      <a:prstClr val="white">
                        <a:alpha val="0"/>
                      </a:prstClr>
                    </a:solidFill>
                  </a:ln>
                  <a:solidFill>
                    <a:schemeClr val="tx1">
                      <a:lumMod val="75000"/>
                      <a:lumOff val="25000"/>
                    </a:schemeClr>
                  </a:solidFill>
                  <a:latin typeface="KoPub돋움체 Bold" panose="02020603020101020101" pitchFamily="18" charset="-127"/>
                  <a:ea typeface="KoPub돋움체 Bold" panose="02020603020101020101" pitchFamily="18" charset="-127"/>
                  <a:cs typeface="Arial" charset="0"/>
                </a:defRPr>
              </a:lvl1pPr>
            </a:lstStyle>
            <a:p>
              <a:pPr lvl="0" algn="r">
                <a:defRPr/>
              </a:pPr>
              <a:r>
                <a:rPr lang="en-US" altLang="ko-KR"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rPr>
                <a:t>2026 2H Market Outlook</a:t>
              </a:r>
            </a:p>
          </p:txBody>
        </p:sp>
        <p:sp>
          <p:nvSpPr>
            <p:cNvPr id="95" name="타원 94"/>
            <p:cNvSpPr/>
            <p:nvPr/>
          </p:nvSpPr>
          <p:spPr>
            <a:xfrm>
              <a:off x="11340239"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20" normalizeH="0" baseline="0" noProof="0" dirty="0">
                <a:ln>
                  <a:solidFill>
                    <a:srgbClr val="C00000">
                      <a:alpha val="0"/>
                    </a:srgbClr>
                  </a:solidFill>
                </a:ln>
                <a:solidFill>
                  <a:prstClr val="white"/>
                </a:solidFill>
                <a:effectLst/>
                <a:uLnTx/>
                <a:uFillTx/>
                <a:latin typeface="나눔스퀘어" panose="020B0600000101010101" pitchFamily="50" charset="-127"/>
                <a:ea typeface="나눔스퀘어" panose="020B0600000101010101" pitchFamily="50" charset="-127"/>
                <a:cs typeface="+mn-cs"/>
              </a:endParaRPr>
            </a:p>
          </p:txBody>
        </p:sp>
        <p:sp>
          <p:nvSpPr>
            <p:cNvPr id="96" name="타원 95"/>
            <p:cNvSpPr/>
            <p:nvPr/>
          </p:nvSpPr>
          <p:spPr>
            <a:xfrm>
              <a:off x="11422266"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97" name="타원 96"/>
            <p:cNvSpPr/>
            <p:nvPr/>
          </p:nvSpPr>
          <p:spPr>
            <a:xfrm>
              <a:off x="11504294" y="290256"/>
              <a:ext cx="51827" cy="51827"/>
            </a:xfrm>
            <a:prstGeom prst="ellipse">
              <a:avLst/>
            </a:prstGeom>
            <a:solidFill>
              <a:srgbClr val="0146A0"/>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98" name="TextBox 97"/>
            <p:cNvSpPr txBox="1"/>
            <p:nvPr/>
          </p:nvSpPr>
          <p:spPr>
            <a:xfrm>
              <a:off x="11646437" y="343415"/>
              <a:ext cx="152286" cy="215444"/>
            </a:xfrm>
            <a:prstGeom prst="rect">
              <a:avLst/>
            </a:prstGeom>
            <a:noFill/>
          </p:spPr>
          <p:txBody>
            <a:bodyPr wrap="none" lIns="0" tIns="0" rIns="0" bIns="0" rtlCol="0" anchor="ctr" anchorCtr="0">
              <a:spAutoFit/>
            </a:bodyPr>
            <a:lstStyle>
              <a:defPPr>
                <a:defRPr lang="ko-KR"/>
              </a:defPPr>
              <a:lvl1pPr>
                <a:spcAft>
                  <a:spcPts val="300"/>
                </a:spcAft>
                <a:defRPr sz="2800" spc="-100">
                  <a:ln>
                    <a:solidFill>
                      <a:schemeClr val="bg1">
                        <a:alpha val="0"/>
                      </a:schemeClr>
                    </a:solidFill>
                  </a:ln>
                  <a:solidFill>
                    <a:srgbClr val="005B8D"/>
                  </a:solidFill>
                  <a:latin typeface="Times New Roman" panose="02020603050405020304" pitchFamily="18" charset="0"/>
                  <a:ea typeface="KoPub돋움체 Bold" panose="02020603020101020101" pitchFamily="18" charset="-127"/>
                  <a:cs typeface="Times New Roman" panose="02020603050405020304" pitchFamily="18" charset="0"/>
                </a:defRPr>
              </a:lvl1pPr>
            </a:lstStyle>
            <a:p>
              <a:pPr latinLnBrk="0">
                <a:defRPr/>
              </a:pPr>
              <a:r>
                <a:rPr lang="en-US" altLang="ko-KR" sz="1400" spc="-150" dirty="0" smtClean="0">
                  <a:ln>
                    <a:solidFill>
                      <a:prstClr val="white">
                        <a:alpha val="0"/>
                      </a:prstClr>
                    </a:solidFill>
                  </a:ln>
                  <a:solidFill>
                    <a:srgbClr val="0146A0"/>
                  </a:solidFill>
                  <a:ea typeface="KoPub돋움체 Medium" panose="02020603020101020101" pitchFamily="18" charset="-127"/>
                </a:rPr>
                <a:t>Ⅲ</a:t>
              </a:r>
              <a:endParaRPr lang="en-US" altLang="ko-KR" sz="1400" spc="-150" dirty="0">
                <a:ln>
                  <a:solidFill>
                    <a:prstClr val="white">
                      <a:alpha val="0"/>
                    </a:prstClr>
                  </a:solidFill>
                </a:ln>
                <a:solidFill>
                  <a:srgbClr val="0146A0"/>
                </a:solidFill>
                <a:ea typeface="KoPub돋움체 Medium" panose="02020603020101020101" pitchFamily="18" charset="-127"/>
              </a:endParaRPr>
            </a:p>
          </p:txBody>
        </p:sp>
      </p:grpSp>
    </p:spTree>
    <p:extLst>
      <p:ext uri="{BB962C8B-B14F-4D97-AF65-F5344CB8AC3E}">
        <p14:creationId xmlns:p14="http://schemas.microsoft.com/office/powerpoint/2010/main" val="10433421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Ocean Market Outlook</a:t>
            </a:r>
            <a:endParaRPr lang="ko-KR" altLang="en-US" dirty="0"/>
          </a:p>
        </p:txBody>
      </p:sp>
      <p:sp>
        <p:nvSpPr>
          <p:cNvPr id="3" name="텍스트 개체 틀 2"/>
          <p:cNvSpPr>
            <a:spLocks noGrp="1"/>
          </p:cNvSpPr>
          <p:nvPr>
            <p:ph type="body" sz="quarter" idx="10"/>
          </p:nvPr>
        </p:nvSpPr>
        <p:spPr/>
        <p:txBody>
          <a:bodyPr/>
          <a:lstStyle/>
          <a:p>
            <a:pPr latinLnBrk="0"/>
            <a:r>
              <a:rPr lang="en-US" altLang="ko-KR" dirty="0"/>
              <a:t>Freight rates are expected to remain firm through early 3Q on fuel surcharges and </a:t>
            </a:r>
            <a:r>
              <a:rPr lang="en-US" altLang="ko-KR" dirty="0" smtClean="0"/>
              <a:t>front-loading</a:t>
            </a:r>
          </a:p>
          <a:p>
            <a:pPr latinLnBrk="0"/>
            <a:r>
              <a:rPr lang="en-US" altLang="ko-KR" dirty="0"/>
              <a:t>Rates are expected to weaken in 4Q as costs ease, supply recovers, and demand </a:t>
            </a:r>
            <a:r>
              <a:rPr lang="en-US" altLang="ko-KR" dirty="0" smtClean="0"/>
              <a:t>slows</a:t>
            </a:r>
          </a:p>
        </p:txBody>
      </p:sp>
      <p:pic>
        <p:nvPicPr>
          <p:cNvPr id="24" name="그림 235"/>
          <p:cNvPicPr preferRelativeResize="0">
            <a:picLocks/>
          </p:cNvPicPr>
          <p:nvPr/>
        </p:nvPicPr>
        <p:blipFill>
          <a:blip r:embed="rId3" cstate="print">
            <a:extLst>
              <a:ext uri="{28A0092B-C50C-407E-A947-70E740481C1C}">
                <a14:useLocalDpi xmlns:a14="http://schemas.microsoft.com/office/drawing/2010/main" val="0"/>
              </a:ext>
            </a:extLst>
          </a:blip>
          <a:stretch>
            <a:fillRect/>
          </a:stretch>
        </p:blipFill>
        <p:spPr>
          <a:xfrm>
            <a:off x="6096000" y="1340768"/>
            <a:ext cx="115035" cy="4962877"/>
          </a:xfrm>
          <a:prstGeom prst="rect">
            <a:avLst/>
          </a:prstGeom>
        </p:spPr>
      </p:pic>
      <p:grpSp>
        <p:nvGrpSpPr>
          <p:cNvPr id="61" name="그룹 60"/>
          <p:cNvGrpSpPr/>
          <p:nvPr/>
        </p:nvGrpSpPr>
        <p:grpSpPr>
          <a:xfrm>
            <a:off x="6290801" y="2627183"/>
            <a:ext cx="5410242" cy="230832"/>
            <a:chOff x="522352" y="2590117"/>
            <a:chExt cx="5410242" cy="230832"/>
          </a:xfrm>
        </p:grpSpPr>
        <p:sp>
          <p:nvSpPr>
            <p:cNvPr id="62" name="직사각형 61">
              <a:extLst>
                <a:ext uri="{FF2B5EF4-FFF2-40B4-BE49-F238E27FC236}">
                  <a16:creationId xmlns:a16="http://schemas.microsoft.com/office/drawing/2014/main" id="{5E1BAC51-93E3-4E55-A59B-3BB621CD3405}"/>
                </a:ext>
              </a:extLst>
            </p:cNvPr>
            <p:cNvSpPr/>
            <p:nvPr/>
          </p:nvSpPr>
          <p:spPr>
            <a:xfrm>
              <a:off x="781342" y="2590117"/>
              <a:ext cx="5151252" cy="230832"/>
            </a:xfrm>
            <a:prstGeom prst="rect">
              <a:avLst/>
            </a:prstGeom>
            <a:noFill/>
          </p:spPr>
          <p:txBody>
            <a:bodyPr wrap="none" lIns="0" tIns="0" rIns="0" bIns="0" anchor="t">
              <a:noAutofit/>
            </a:bodyPr>
            <a:lstStyle/>
            <a:p>
              <a:pPr marR="608330" lvl="0" latinLnBrk="0">
                <a:defRPr/>
              </a:pPr>
              <a:r>
                <a:rPr lang="en-US" altLang="ko-KR"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Key Drivers in 3Q</a:t>
              </a:r>
              <a:endParaRPr lang="ko-KR" altLang="en-US"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endParaRPr>
            </a:p>
          </p:txBody>
        </p:sp>
        <p:grpSp>
          <p:nvGrpSpPr>
            <p:cNvPr id="63" name="그룹 62"/>
            <p:cNvGrpSpPr/>
            <p:nvPr/>
          </p:nvGrpSpPr>
          <p:grpSpPr>
            <a:xfrm>
              <a:off x="522352" y="2609533"/>
              <a:ext cx="192000" cy="192000"/>
              <a:chOff x="412816" y="1633655"/>
              <a:chExt cx="184804" cy="185998"/>
            </a:xfrm>
          </p:grpSpPr>
          <p:sp>
            <p:nvSpPr>
              <p:cNvPr id="64" name="모서리가 둥근 직사각형 63"/>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65" name="그룹 186"/>
              <p:cNvGrpSpPr/>
              <p:nvPr/>
            </p:nvGrpSpPr>
            <p:grpSpPr>
              <a:xfrm>
                <a:off x="454440" y="1688440"/>
                <a:ext cx="106516" cy="76455"/>
                <a:chOff x="3366478" y="5412581"/>
                <a:chExt cx="126078" cy="89916"/>
              </a:xfrm>
              <a:solidFill>
                <a:schemeClr val="bg1"/>
              </a:solidFill>
            </p:grpSpPr>
            <p:sp>
              <p:nvSpPr>
                <p:cNvPr id="66" name="모서리가 둥근 직사각형 65"/>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67" name="모서리가 둥근 직사각형 66"/>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sp>
        <p:nvSpPr>
          <p:cNvPr id="68" name="직사각형 25"/>
          <p:cNvSpPr/>
          <p:nvPr/>
        </p:nvSpPr>
        <p:spPr>
          <a:xfrm>
            <a:off x="6470911" y="2893548"/>
            <a:ext cx="5721090" cy="1438351"/>
          </a:xfrm>
          <a:prstGeom prst="rect">
            <a:avLst/>
          </a:prstGeom>
        </p:spPr>
        <p:txBody>
          <a:bodyPr wrap="square">
            <a:noAutofit/>
          </a:bodyPr>
          <a:lstStyle/>
          <a:p>
            <a:pPr defTabSz="1038977" latinLnBrk="0">
              <a:spcAft>
                <a:spcPts val="800"/>
              </a:spcAft>
            </a:pPr>
            <a:r>
              <a:rPr lang="ko-KR" altLang="en-US" sz="1400" dirty="0">
                <a:latin typeface="나눔스퀘어" panose="020B0600000101010101" pitchFamily="50" charset="-127"/>
                <a:ea typeface="나눔스퀘어" panose="020B0600000101010101" pitchFamily="50" charset="-127"/>
              </a:rPr>
              <a:t>① </a:t>
            </a:r>
            <a:r>
              <a:rPr lang="en-US" altLang="ko-KR" sz="1400" dirty="0">
                <a:latin typeface="나눔스퀘어" panose="020B0600000101010101" pitchFamily="50" charset="-127"/>
                <a:ea typeface="나눔스퀘어" panose="020B0600000101010101" pitchFamily="50" charset="-127"/>
              </a:rPr>
              <a:t>Front-loading on fuel surcharges and tariff </a:t>
            </a:r>
            <a:r>
              <a:rPr lang="en-US" altLang="ko-KR" sz="1400" dirty="0" smtClean="0">
                <a:latin typeface="나눔스퀘어" panose="020B0600000101010101" pitchFamily="50" charset="-127"/>
                <a:ea typeface="나눔스퀘어" panose="020B0600000101010101" pitchFamily="50" charset="-127"/>
              </a:rPr>
              <a:t>uncertainty</a:t>
            </a:r>
            <a:endParaRPr lang="en-US" altLang="ko-KR" sz="1400" spc="-20" dirty="0" smtClean="0">
              <a:latin typeface="나눔스퀘어" panose="020B0600000101010101" pitchFamily="50" charset="-127"/>
              <a:ea typeface="나눔스퀘어" panose="020B0600000101010101" pitchFamily="50" charset="-127"/>
            </a:endParaRPr>
          </a:p>
          <a:p>
            <a:pPr defTabSz="1038977" latinLnBrk="0">
              <a:spcAft>
                <a:spcPts val="800"/>
              </a:spcAft>
            </a:pPr>
            <a:r>
              <a:rPr lang="en-US" altLang="ko-KR" sz="1400" spc="-20" dirty="0" smtClean="0">
                <a:latin typeface="나눔스퀘어" panose="020B0600000101010101" pitchFamily="50" charset="-127"/>
                <a:ea typeface="나눔스퀘어" panose="020B0600000101010101" pitchFamily="50" charset="-127"/>
              </a:rPr>
              <a:t>   - </a:t>
            </a:r>
            <a:r>
              <a:rPr lang="en-US" altLang="ko-KR" sz="1400" spc="-100" dirty="0">
                <a:latin typeface="나눔스퀘어" panose="020B0600000101010101" pitchFamily="50" charset="-127"/>
                <a:ea typeface="나눔스퀘어" panose="020B0600000101010101" pitchFamily="50" charset="-127"/>
              </a:rPr>
              <a:t>Higher fuel surcharges and potential U.S. tariffs may support </a:t>
            </a:r>
            <a:r>
              <a:rPr lang="en-US" altLang="ko-KR" sz="1400" spc="-100" dirty="0" smtClean="0">
                <a:latin typeface="나눔스퀘어" panose="020B0600000101010101" pitchFamily="50" charset="-127"/>
                <a:ea typeface="나눔스퀘어" panose="020B0600000101010101" pitchFamily="50" charset="-127"/>
              </a:rPr>
              <a:t>front-loading</a:t>
            </a:r>
          </a:p>
          <a:p>
            <a:pPr defTabSz="1038977" latinLnBrk="0">
              <a:spcAft>
                <a:spcPts val="800"/>
              </a:spcAft>
            </a:pPr>
            <a:r>
              <a:rPr lang="ko-KR" altLang="en-US" sz="1400" spc="-20" dirty="0" smtClean="0">
                <a:latin typeface="나눔스퀘어" panose="020B0600000101010101" pitchFamily="50" charset="-127"/>
                <a:ea typeface="나눔스퀘어" panose="020B0600000101010101" pitchFamily="50" charset="-127"/>
              </a:rPr>
              <a:t>② </a:t>
            </a:r>
            <a:r>
              <a:rPr lang="en-US" altLang="ko-KR" sz="1400" spc="-20" dirty="0">
                <a:latin typeface="나눔스퀘어" panose="020B0600000101010101" pitchFamily="50" charset="-127"/>
                <a:ea typeface="나눔스퀘어" panose="020B0600000101010101" pitchFamily="50" charset="-127"/>
              </a:rPr>
              <a:t>Short-Term Supply Constraints on Delayed Gulf </a:t>
            </a:r>
            <a:r>
              <a:rPr lang="en-US" altLang="ko-KR" sz="1400" spc="-20" dirty="0" smtClean="0">
                <a:latin typeface="나눔스퀘어" panose="020B0600000101010101" pitchFamily="50" charset="-127"/>
                <a:ea typeface="나눔스퀘어" panose="020B0600000101010101" pitchFamily="50" charset="-127"/>
              </a:rPr>
              <a:t>Recovery</a:t>
            </a:r>
          </a:p>
          <a:p>
            <a:pPr defTabSz="1038977" latinLnBrk="0">
              <a:spcAft>
                <a:spcPts val="800"/>
              </a:spcAft>
            </a:pPr>
            <a:r>
              <a:rPr lang="en-US" altLang="ko-KR" sz="1400" spc="-70" dirty="0" smtClean="0">
                <a:latin typeface="나눔스퀘어" panose="020B0600000101010101" pitchFamily="50" charset="-127"/>
                <a:ea typeface="나눔스퀘어" panose="020B0600000101010101" pitchFamily="50" charset="-127"/>
              </a:rPr>
              <a:t>   - </a:t>
            </a:r>
            <a:r>
              <a:rPr lang="en-US" altLang="ko-KR" sz="1400" spc="-100" dirty="0">
                <a:latin typeface="나눔스퀘어" panose="020B0600000101010101" pitchFamily="50" charset="-127"/>
                <a:ea typeface="나눔스퀘어" panose="020B0600000101010101" pitchFamily="50" charset="-127"/>
              </a:rPr>
              <a:t>Fleet redeployment and schedule delays may limit effective capacity in </a:t>
            </a:r>
            <a:r>
              <a:rPr lang="en-US" altLang="ko-KR" sz="1400" spc="-100" dirty="0" smtClean="0">
                <a:latin typeface="나눔스퀘어" panose="020B0600000101010101" pitchFamily="50" charset="-127"/>
                <a:ea typeface="나눔스퀘어" panose="020B0600000101010101" pitchFamily="50" charset="-127"/>
              </a:rPr>
              <a:t>3Q</a:t>
            </a:r>
          </a:p>
        </p:txBody>
      </p:sp>
      <p:grpSp>
        <p:nvGrpSpPr>
          <p:cNvPr id="69" name="그룹 68"/>
          <p:cNvGrpSpPr/>
          <p:nvPr/>
        </p:nvGrpSpPr>
        <p:grpSpPr>
          <a:xfrm>
            <a:off x="6290801" y="4271220"/>
            <a:ext cx="5410242" cy="230832"/>
            <a:chOff x="522352" y="2590117"/>
            <a:chExt cx="5410242" cy="230832"/>
          </a:xfrm>
        </p:grpSpPr>
        <p:sp>
          <p:nvSpPr>
            <p:cNvPr id="70" name="직사각형 69">
              <a:extLst>
                <a:ext uri="{FF2B5EF4-FFF2-40B4-BE49-F238E27FC236}">
                  <a16:creationId xmlns:a16="http://schemas.microsoft.com/office/drawing/2014/main" id="{5E1BAC51-93E3-4E55-A59B-3BB621CD3405}"/>
                </a:ext>
              </a:extLst>
            </p:cNvPr>
            <p:cNvSpPr/>
            <p:nvPr/>
          </p:nvSpPr>
          <p:spPr>
            <a:xfrm>
              <a:off x="781342" y="2590117"/>
              <a:ext cx="5151252" cy="230832"/>
            </a:xfrm>
            <a:prstGeom prst="rect">
              <a:avLst/>
            </a:prstGeom>
            <a:noFill/>
          </p:spPr>
          <p:txBody>
            <a:bodyPr wrap="none" lIns="0" tIns="0" rIns="0" bIns="0" anchor="t">
              <a:noAutofit/>
            </a:bodyPr>
            <a:lstStyle/>
            <a:p>
              <a:pPr marR="608330" lvl="0" latinLnBrk="0">
                <a:defRPr/>
              </a:pPr>
              <a:r>
                <a:rPr lang="en-US" altLang="ko-KR"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Key Drivers in 4Q</a:t>
              </a:r>
              <a:endParaRPr lang="ko-KR" altLang="en-US"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endParaRPr>
            </a:p>
          </p:txBody>
        </p:sp>
        <p:grpSp>
          <p:nvGrpSpPr>
            <p:cNvPr id="71" name="그룹 70"/>
            <p:cNvGrpSpPr/>
            <p:nvPr/>
          </p:nvGrpSpPr>
          <p:grpSpPr>
            <a:xfrm>
              <a:off x="522352" y="2609533"/>
              <a:ext cx="192000" cy="192000"/>
              <a:chOff x="412816" y="1633655"/>
              <a:chExt cx="184804" cy="185998"/>
            </a:xfrm>
          </p:grpSpPr>
          <p:sp>
            <p:nvSpPr>
              <p:cNvPr id="72" name="모서리가 둥근 직사각형 71"/>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73" name="그룹 186"/>
              <p:cNvGrpSpPr/>
              <p:nvPr/>
            </p:nvGrpSpPr>
            <p:grpSpPr>
              <a:xfrm>
                <a:off x="454440" y="1688440"/>
                <a:ext cx="106516" cy="76455"/>
                <a:chOff x="3366478" y="5412581"/>
                <a:chExt cx="126078" cy="89916"/>
              </a:xfrm>
              <a:solidFill>
                <a:schemeClr val="bg1"/>
              </a:solidFill>
            </p:grpSpPr>
            <p:sp>
              <p:nvSpPr>
                <p:cNvPr id="74" name="모서리가 둥근 직사각형 73"/>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75" name="모서리가 둥근 직사각형 74"/>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sp>
        <p:nvSpPr>
          <p:cNvPr id="76" name="직사각형 25"/>
          <p:cNvSpPr/>
          <p:nvPr/>
        </p:nvSpPr>
        <p:spPr>
          <a:xfrm>
            <a:off x="6470910" y="4548957"/>
            <a:ext cx="5721090" cy="1877195"/>
          </a:xfrm>
          <a:prstGeom prst="rect">
            <a:avLst/>
          </a:prstGeom>
        </p:spPr>
        <p:txBody>
          <a:bodyPr wrap="square">
            <a:noAutofit/>
          </a:bodyPr>
          <a:lstStyle/>
          <a:p>
            <a:pPr defTabSz="1038977" latinLnBrk="0">
              <a:spcAft>
                <a:spcPts val="800"/>
              </a:spcAft>
            </a:pPr>
            <a:r>
              <a:rPr lang="ko-KR" altLang="en-US" sz="1400" dirty="0">
                <a:latin typeface="나눔스퀘어" panose="020B0600000101010101" pitchFamily="50" charset="-127"/>
                <a:ea typeface="나눔스퀘어" panose="020B0600000101010101" pitchFamily="50" charset="-127"/>
              </a:rPr>
              <a:t>①</a:t>
            </a:r>
            <a:r>
              <a:rPr lang="ko-KR" altLang="en-US" sz="1400" dirty="0" smtClean="0">
                <a:latin typeface="나눔스퀘어" panose="020B0600000101010101" pitchFamily="50" charset="-127"/>
                <a:ea typeface="나눔스퀘어" panose="020B0600000101010101" pitchFamily="50" charset="-127"/>
              </a:rPr>
              <a:t> </a:t>
            </a:r>
            <a:r>
              <a:rPr lang="en-US" altLang="ko-KR" sz="1400" dirty="0">
                <a:latin typeface="나눔스퀘어" panose="020B0600000101010101" pitchFamily="50" charset="-127"/>
                <a:ea typeface="나눔스퀘어" panose="020B0600000101010101" pitchFamily="50" charset="-127"/>
              </a:rPr>
              <a:t>Lower bunker prices and lower fuel </a:t>
            </a:r>
            <a:r>
              <a:rPr lang="en-US" altLang="ko-KR" sz="1400" dirty="0" smtClean="0">
                <a:latin typeface="나눔스퀘어" panose="020B0600000101010101" pitchFamily="50" charset="-127"/>
                <a:ea typeface="나눔스퀘어" panose="020B0600000101010101" pitchFamily="50" charset="-127"/>
              </a:rPr>
              <a:t>surcharges</a:t>
            </a: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a:t>
            </a:r>
            <a:r>
              <a:rPr lang="en-US" altLang="ko-KR" sz="1400" dirty="0">
                <a:latin typeface="나눔스퀘어" panose="020B0600000101010101" pitchFamily="50" charset="-127"/>
                <a:ea typeface="나눔스퀘어" panose="020B0600000101010101" pitchFamily="50" charset="-127"/>
              </a:rPr>
              <a:t>- </a:t>
            </a:r>
            <a:r>
              <a:rPr lang="en-US" altLang="ko-KR" sz="1400" spc="-70" dirty="0">
                <a:latin typeface="나눔스퀘어" panose="020B0600000101010101" pitchFamily="50" charset="-127"/>
                <a:ea typeface="나눔스퀘어" panose="020B0600000101010101" pitchFamily="50" charset="-127"/>
              </a:rPr>
              <a:t>Lower oil and bunker prices may reduce fuel surcharges in </a:t>
            </a:r>
            <a:r>
              <a:rPr lang="en-US" altLang="ko-KR" sz="1400" spc="-70" dirty="0" smtClean="0">
                <a:latin typeface="나눔스퀘어" panose="020B0600000101010101" pitchFamily="50" charset="-127"/>
                <a:ea typeface="나눔스퀘어" panose="020B0600000101010101" pitchFamily="50" charset="-127"/>
              </a:rPr>
              <a:t>4Q</a:t>
            </a:r>
          </a:p>
          <a:p>
            <a:pPr defTabSz="1038977" latinLnBrk="0">
              <a:spcAft>
                <a:spcPts val="800"/>
              </a:spcAft>
            </a:pPr>
            <a:r>
              <a:rPr lang="ko-KR" altLang="en-US" sz="1400" dirty="0" smtClean="0">
                <a:latin typeface="나눔스퀘어" panose="020B0600000101010101" pitchFamily="50" charset="-127"/>
                <a:ea typeface="나눔스퀘어" panose="020B0600000101010101" pitchFamily="50" charset="-127"/>
              </a:rPr>
              <a:t>② </a:t>
            </a:r>
            <a:r>
              <a:rPr lang="en-US" altLang="ko-KR" sz="1400" dirty="0">
                <a:latin typeface="나눔스퀘어" panose="020B0600000101010101" pitchFamily="50" charset="-127"/>
                <a:ea typeface="나눔스퀘어" panose="020B0600000101010101" pitchFamily="50" charset="-127"/>
              </a:rPr>
              <a:t>Capacity recovery after Hormuz </a:t>
            </a:r>
            <a:r>
              <a:rPr lang="en-US" altLang="ko-KR" sz="1400" dirty="0" smtClean="0">
                <a:latin typeface="나눔스퀘어" panose="020B0600000101010101" pitchFamily="50" charset="-127"/>
                <a:ea typeface="나눔스퀘어" panose="020B0600000101010101" pitchFamily="50" charset="-127"/>
              </a:rPr>
              <a:t>reopening</a:t>
            </a:r>
          </a:p>
          <a:p>
            <a:pPr defTabSz="1038977" latinLnBrk="0">
              <a:spcAft>
                <a:spcPts val="800"/>
              </a:spcAft>
            </a:pPr>
            <a:r>
              <a:rPr lang="en-US" altLang="ko-KR" sz="1400" spc="-50" dirty="0" smtClean="0">
                <a:latin typeface="나눔스퀘어" panose="020B0600000101010101" pitchFamily="50" charset="-127"/>
                <a:ea typeface="나눔스퀘어" panose="020B0600000101010101" pitchFamily="50" charset="-127"/>
              </a:rPr>
              <a:t>   - </a:t>
            </a:r>
            <a:r>
              <a:rPr lang="en-US" altLang="ko-KR" sz="1400" spc="-50" dirty="0">
                <a:latin typeface="나눔스퀘어" panose="020B0600000101010101" pitchFamily="50" charset="-127"/>
                <a:ea typeface="나눔스퀘어" panose="020B0600000101010101" pitchFamily="50" charset="-127"/>
              </a:rPr>
              <a:t>Gradual service and capacity recovery may weigh on </a:t>
            </a:r>
            <a:r>
              <a:rPr lang="en-US" altLang="ko-KR" sz="1400" spc="-50" dirty="0" smtClean="0">
                <a:latin typeface="나눔스퀘어" panose="020B0600000101010101" pitchFamily="50" charset="-127"/>
                <a:ea typeface="나눔스퀘어" panose="020B0600000101010101" pitchFamily="50" charset="-127"/>
              </a:rPr>
              <a:t>rates </a:t>
            </a:r>
            <a:r>
              <a:rPr lang="en-US" altLang="ko-KR" sz="1400" spc="-50" dirty="0">
                <a:latin typeface="나눔스퀘어" panose="020B0600000101010101" pitchFamily="50" charset="-127"/>
                <a:ea typeface="나눔스퀘어" panose="020B0600000101010101" pitchFamily="50" charset="-127"/>
              </a:rPr>
              <a:t>from </a:t>
            </a:r>
            <a:r>
              <a:rPr lang="en-US" altLang="ko-KR" sz="1400" spc="-50" dirty="0" smtClean="0">
                <a:latin typeface="나눔스퀘어" panose="020B0600000101010101" pitchFamily="50" charset="-127"/>
                <a:ea typeface="나눔스퀘어" panose="020B0600000101010101" pitchFamily="50" charset="-127"/>
              </a:rPr>
              <a:t>4Q</a:t>
            </a:r>
          </a:p>
          <a:p>
            <a:pPr defTabSz="1038977" latinLnBrk="0">
              <a:spcAft>
                <a:spcPts val="800"/>
              </a:spcAft>
            </a:pPr>
            <a:r>
              <a:rPr lang="ko-KR" altLang="en-US" sz="1400" dirty="0" smtClean="0">
                <a:latin typeface="나눔스퀘어" panose="020B0600000101010101" pitchFamily="50" charset="-127"/>
                <a:ea typeface="나눔스퀘어" panose="020B0600000101010101" pitchFamily="50" charset="-127"/>
              </a:rPr>
              <a:t>③</a:t>
            </a:r>
            <a:r>
              <a:rPr lang="en-US" altLang="ko-KR" sz="1400" dirty="0" smtClean="0">
                <a:latin typeface="나눔스퀘어" panose="020B0600000101010101" pitchFamily="50" charset="-127"/>
                <a:ea typeface="나눔스퀘어" panose="020B0600000101010101" pitchFamily="50" charset="-127"/>
              </a:rPr>
              <a:t> </a:t>
            </a:r>
            <a:r>
              <a:rPr lang="en-US" altLang="ko-KR" sz="1400" dirty="0">
                <a:latin typeface="나눔스퀘어" panose="020B0600000101010101" pitchFamily="50" charset="-127"/>
                <a:ea typeface="나눔스퀘어" panose="020B0600000101010101" pitchFamily="50" charset="-127"/>
              </a:rPr>
              <a:t>Stronger demand slowdown after </a:t>
            </a:r>
            <a:r>
              <a:rPr lang="en-US" altLang="ko-KR" sz="1400" dirty="0" smtClean="0">
                <a:latin typeface="나눔스퀘어" panose="020B0600000101010101" pitchFamily="50" charset="-127"/>
                <a:ea typeface="나눔스퀘어" panose="020B0600000101010101" pitchFamily="50" charset="-127"/>
              </a:rPr>
              <a:t>front-loading</a:t>
            </a:r>
            <a:endParaRPr lang="en-US" altLang="ko-KR" sz="1400" dirty="0">
              <a:latin typeface="나눔스퀘어" panose="020B0600000101010101" pitchFamily="50" charset="-127"/>
              <a:ea typeface="나눔스퀘어" panose="020B0600000101010101" pitchFamily="50" charset="-127"/>
            </a:endParaRPr>
          </a:p>
          <a:p>
            <a:pPr defTabSz="1038977" latinLnBrk="0">
              <a:spcAft>
                <a:spcPts val="800"/>
              </a:spcAft>
            </a:pPr>
            <a:r>
              <a:rPr lang="en-US" altLang="ko-KR" sz="1400" dirty="0">
                <a:latin typeface="나눔스퀘어" panose="020B0600000101010101" pitchFamily="50" charset="-127"/>
                <a:ea typeface="나눔스퀘어" panose="020B0600000101010101" pitchFamily="50" charset="-127"/>
              </a:rPr>
              <a:t>   -</a:t>
            </a:r>
            <a:r>
              <a:rPr lang="en-US" altLang="ko-KR" sz="1400" spc="-80" dirty="0">
                <a:latin typeface="나눔스퀘어" panose="020B0600000101010101" pitchFamily="50" charset="-127"/>
                <a:ea typeface="나눔스퀘어" panose="020B0600000101010101" pitchFamily="50" charset="-127"/>
              </a:rPr>
              <a:t> Demand may soften on inventory drawdown, inflation, and the </a:t>
            </a:r>
            <a:r>
              <a:rPr lang="en-US" altLang="ko-KR" sz="1400" spc="-80" dirty="0" smtClean="0">
                <a:latin typeface="나눔스퀘어" panose="020B0600000101010101" pitchFamily="50" charset="-127"/>
                <a:ea typeface="나눔스퀘어" panose="020B0600000101010101" pitchFamily="50" charset="-127"/>
              </a:rPr>
              <a:t>off-season</a:t>
            </a:r>
          </a:p>
        </p:txBody>
      </p:sp>
      <p:grpSp>
        <p:nvGrpSpPr>
          <p:cNvPr id="77" name="组合 2"/>
          <p:cNvGrpSpPr/>
          <p:nvPr/>
        </p:nvGrpSpPr>
        <p:grpSpPr>
          <a:xfrm>
            <a:off x="503790" y="2117975"/>
            <a:ext cx="11167279" cy="374400"/>
            <a:chOff x="386534" y="1461600"/>
            <a:chExt cx="8375459" cy="280800"/>
          </a:xfrm>
        </p:grpSpPr>
        <p:grpSp>
          <p:nvGrpSpPr>
            <p:cNvPr id="78" name="그룹 46"/>
            <p:cNvGrpSpPr/>
            <p:nvPr/>
          </p:nvGrpSpPr>
          <p:grpSpPr>
            <a:xfrm>
              <a:off x="386535" y="1461600"/>
              <a:ext cx="8375458" cy="280800"/>
              <a:chOff x="386535" y="1383614"/>
              <a:chExt cx="8375458" cy="280800"/>
            </a:xfrm>
          </p:grpSpPr>
          <p:grpSp>
            <p:nvGrpSpPr>
              <p:cNvPr id="101" name="그룹 48"/>
              <p:cNvGrpSpPr/>
              <p:nvPr/>
            </p:nvGrpSpPr>
            <p:grpSpPr>
              <a:xfrm>
                <a:off x="386535" y="1383614"/>
                <a:ext cx="4077119" cy="280800"/>
                <a:chOff x="515380" y="1844820"/>
                <a:chExt cx="5436158" cy="374400"/>
              </a:xfrm>
            </p:grpSpPr>
            <p:sp>
              <p:nvSpPr>
                <p:cNvPr id="105" name="Rectangle 215"/>
                <p:cNvSpPr>
                  <a:spLocks noChangeArrowheads="1"/>
                </p:cNvSpPr>
                <p:nvPr/>
              </p:nvSpPr>
              <p:spPr bwMode="auto">
                <a:xfrm>
                  <a:off x="515380" y="1844820"/>
                  <a:ext cx="5436158"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106" name="TextBox 116"/>
                <p:cNvSpPr txBox="1">
                  <a:spLocks noChangeArrowheads="1"/>
                </p:cNvSpPr>
                <p:nvPr/>
              </p:nvSpPr>
              <p:spPr bwMode="auto">
                <a:xfrm>
                  <a:off x="673467" y="1915641"/>
                  <a:ext cx="511998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lvl="0" algn="ctr" defTabSz="1038977" eaLnBrk="1" hangingPunct="1"/>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Freight Rate Outlook</a:t>
                  </a:r>
                </a:p>
              </p:txBody>
            </p:sp>
          </p:grpSp>
          <p:grpSp>
            <p:nvGrpSpPr>
              <p:cNvPr id="102" name="그룹 52"/>
              <p:cNvGrpSpPr/>
              <p:nvPr/>
            </p:nvGrpSpPr>
            <p:grpSpPr>
              <a:xfrm>
                <a:off x="4684993" y="1383614"/>
                <a:ext cx="4077000" cy="280800"/>
                <a:chOff x="6246657" y="1854463"/>
                <a:chExt cx="5436000" cy="374400"/>
              </a:xfrm>
            </p:grpSpPr>
            <p:sp>
              <p:nvSpPr>
                <p:cNvPr id="103" name="Rectangle 215"/>
                <p:cNvSpPr>
                  <a:spLocks noChangeArrowheads="1"/>
                </p:cNvSpPr>
                <p:nvPr/>
              </p:nvSpPr>
              <p:spPr bwMode="auto">
                <a:xfrm>
                  <a:off x="6246657" y="1854463"/>
                  <a:ext cx="5436000"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104" name="TextBox 116"/>
                <p:cNvSpPr txBox="1">
                  <a:spLocks noChangeArrowheads="1"/>
                </p:cNvSpPr>
                <p:nvPr/>
              </p:nvSpPr>
              <p:spPr bwMode="auto">
                <a:xfrm>
                  <a:off x="6404665" y="1907501"/>
                  <a:ext cx="511998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algn="ctr" defTabSz="1038977" eaLnBrk="1" hangingPunct="1"/>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Key Drivers by Quarter</a:t>
                  </a:r>
                  <a:endParaRPr kumimoji="0" lang="ko-KR" altLang="en-US"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grpSp>
        </p:grpSp>
        <p:grpSp>
          <p:nvGrpSpPr>
            <p:cNvPr id="79" name="그룹 62"/>
            <p:cNvGrpSpPr/>
            <p:nvPr/>
          </p:nvGrpSpPr>
          <p:grpSpPr>
            <a:xfrm>
              <a:off x="386534" y="1461600"/>
              <a:ext cx="585066" cy="276223"/>
              <a:chOff x="-1523239" y="1275702"/>
              <a:chExt cx="564992" cy="357603"/>
            </a:xfrm>
          </p:grpSpPr>
          <p:sp>
            <p:nvSpPr>
              <p:cNvPr id="99" name="자유형 63"/>
              <p:cNvSpPr/>
              <p:nvPr/>
            </p:nvSpPr>
            <p:spPr>
              <a:xfrm>
                <a:off x="-1523239" y="1275702"/>
                <a:ext cx="564991" cy="357603"/>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100" name="자유형 64"/>
              <p:cNvSpPr/>
              <p:nvPr/>
            </p:nvSpPr>
            <p:spPr>
              <a:xfrm>
                <a:off x="-1523239" y="1275702"/>
                <a:ext cx="564992" cy="357603"/>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grpSp>
        <p:grpSp>
          <p:nvGrpSpPr>
            <p:cNvPr id="80" name="그룹 62"/>
            <p:cNvGrpSpPr/>
            <p:nvPr/>
          </p:nvGrpSpPr>
          <p:grpSpPr>
            <a:xfrm>
              <a:off x="4686893" y="1462337"/>
              <a:ext cx="585066" cy="276223"/>
              <a:chOff x="-1523239" y="1275702"/>
              <a:chExt cx="564992" cy="357603"/>
            </a:xfrm>
          </p:grpSpPr>
          <p:sp>
            <p:nvSpPr>
              <p:cNvPr id="81" name="자유형 63"/>
              <p:cNvSpPr/>
              <p:nvPr/>
            </p:nvSpPr>
            <p:spPr>
              <a:xfrm>
                <a:off x="-1523239" y="1275702"/>
                <a:ext cx="564991" cy="357603"/>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98" name="자유형 64"/>
              <p:cNvSpPr/>
              <p:nvPr/>
            </p:nvSpPr>
            <p:spPr>
              <a:xfrm>
                <a:off x="-1523239" y="1275702"/>
                <a:ext cx="564992" cy="357603"/>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grpSp>
      </p:grpSp>
      <p:pic>
        <p:nvPicPr>
          <p:cNvPr id="107" name="Picture 200" descr="악세사리"/>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6200000">
            <a:off x="4339689" y="4546810"/>
            <a:ext cx="3535193" cy="91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2" name="슬라이드 번호 개체 틀 5">
            <a:extLst>
              <a:ext uri="{FF2B5EF4-FFF2-40B4-BE49-F238E27FC236}">
                <a16:creationId xmlns:a16="http://schemas.microsoft.com/office/drawing/2014/main" id="{FAC1EB1B-E602-0247-88AB-A89AF71255A6}"/>
              </a:ext>
            </a:extLst>
          </p:cNvPr>
          <p:cNvSpPr txBox="1">
            <a:spLocks/>
          </p:cNvSpPr>
          <p:nvPr/>
        </p:nvSpPr>
        <p:spPr>
          <a:xfrm>
            <a:off x="5419725" y="6426152"/>
            <a:ext cx="788332" cy="326455"/>
          </a:xfrm>
          <a:prstGeom prst="rect">
            <a:avLst/>
          </a:prstGeom>
        </p:spPr>
        <p:txBody>
          <a:bodyPr lIns="162531" tIns="81264" rIns="162531" bIns="81264" anchor="ctr"/>
          <a:lstStyle>
            <a:lvl1pPr algn="r">
              <a:defRPr sz="1200">
                <a:solidFill>
                  <a:schemeClr val="tx1">
                    <a:tint val="75000"/>
                  </a:schemeClr>
                </a:solidFill>
              </a:defRPr>
            </a:lvl1pPr>
          </a:lstStyle>
          <a:p>
            <a:pPr defTabSz="1219048">
              <a:defRPr/>
            </a:pPr>
            <a:r>
              <a:rPr lang="en-US" altLang="ko-KR" dirty="0" smtClean="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rPr>
              <a:t>10</a:t>
            </a:r>
            <a:endParaRPr lang="ko-KR" altLang="en-US"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endParaRPr>
          </a:p>
        </p:txBody>
      </p:sp>
      <p:graphicFrame>
        <p:nvGraphicFramePr>
          <p:cNvPr id="50" name="차트 49">
            <a:extLst>
              <a:ext uri="{FF2B5EF4-FFF2-40B4-BE49-F238E27FC236}">
                <a16:creationId xmlns:a16="http://schemas.microsoft.com/office/drawing/2014/main" id="{7741D2C9-0DA3-F642-83D2-4D9B60797901}"/>
              </a:ext>
            </a:extLst>
          </p:cNvPr>
          <p:cNvGraphicFramePr/>
          <p:nvPr>
            <p:extLst>
              <p:ext uri="{D42A27DB-BD31-4B8C-83A1-F6EECF244321}">
                <p14:modId xmlns:p14="http://schemas.microsoft.com/office/powerpoint/2010/main" val="1929153736"/>
              </p:ext>
            </p:extLst>
          </p:nvPr>
        </p:nvGraphicFramePr>
        <p:xfrm>
          <a:off x="463150" y="2790540"/>
          <a:ext cx="5422225" cy="3630580"/>
        </p:xfrm>
        <a:graphic>
          <a:graphicData uri="http://schemas.openxmlformats.org/drawingml/2006/chart">
            <c:chart xmlns:c="http://schemas.openxmlformats.org/drawingml/2006/chart" xmlns:r="http://schemas.openxmlformats.org/officeDocument/2006/relationships" r:id="rId5"/>
          </a:graphicData>
        </a:graphic>
      </p:graphicFrame>
      <p:sp>
        <p:nvSpPr>
          <p:cNvPr id="52" name="모서리가 둥근 직사각형 51">
            <a:extLst>
              <a:ext uri="{FF2B5EF4-FFF2-40B4-BE49-F238E27FC236}">
                <a16:creationId xmlns:a16="http://schemas.microsoft.com/office/drawing/2014/main" id="{8E607A89-454A-C840-AB25-AB2CF56A0059}"/>
              </a:ext>
            </a:extLst>
          </p:cNvPr>
          <p:cNvSpPr/>
          <p:nvPr/>
        </p:nvSpPr>
        <p:spPr>
          <a:xfrm>
            <a:off x="1420586" y="5195470"/>
            <a:ext cx="3051053" cy="215901"/>
          </a:xfrm>
          <a:prstGeom prst="roundRect">
            <a:avLst>
              <a:gd name="adj" fmla="val 50000"/>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b="1" dirty="0">
                <a:ln>
                  <a:solidFill>
                    <a:prstClr val="white">
                      <a:alpha val="0"/>
                    </a:prstClr>
                  </a:solidFill>
                </a:ln>
                <a:solidFill>
                  <a:prstClr val="white"/>
                </a:solidFill>
                <a:latin typeface="나눔스퀘어 ExtraBold" panose="020B0600000101010101" pitchFamily="34" charset="-127"/>
                <a:ea typeface="나눔스퀘어 ExtraBold" panose="020B0600000101010101" pitchFamily="34" charset="-127"/>
              </a:rPr>
              <a:t>U.S.-Iran Conflict Risks</a:t>
            </a:r>
            <a:endParaRPr lang="ko-KR" altLang="en-US" sz="1000" b="1" dirty="0">
              <a:ln>
                <a:solidFill>
                  <a:prstClr val="white">
                    <a:alpha val="0"/>
                  </a:prstClr>
                </a:solidFill>
              </a:ln>
              <a:solidFill>
                <a:prstClr val="white"/>
              </a:solidFill>
              <a:latin typeface="나눔스퀘어 ExtraBold" panose="020B0600000101010101" pitchFamily="34" charset="-127"/>
              <a:ea typeface="나눔스퀘어 ExtraBold" panose="020B0600000101010101" pitchFamily="34" charset="-127"/>
            </a:endParaRPr>
          </a:p>
        </p:txBody>
      </p:sp>
      <p:sp>
        <p:nvSpPr>
          <p:cNvPr id="108" name="모서리가 둥근 직사각형 107">
            <a:extLst>
              <a:ext uri="{FF2B5EF4-FFF2-40B4-BE49-F238E27FC236}">
                <a16:creationId xmlns:a16="http://schemas.microsoft.com/office/drawing/2014/main" id="{CC63D415-C16C-BF4C-98AB-622ED609EE13}"/>
              </a:ext>
            </a:extLst>
          </p:cNvPr>
          <p:cNvSpPr/>
          <p:nvPr/>
        </p:nvSpPr>
        <p:spPr>
          <a:xfrm>
            <a:off x="3208565" y="5470389"/>
            <a:ext cx="2606448" cy="215901"/>
          </a:xfrm>
          <a:prstGeom prst="roundRect">
            <a:avLst>
              <a:gd name="adj" fmla="val 50000"/>
            </a:avLst>
          </a:prstGeom>
          <a:solidFill>
            <a:srgbClr val="3CD0B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b="1" dirty="0" err="1" smtClean="0">
                <a:ln>
                  <a:solidFill>
                    <a:prstClr val="white">
                      <a:alpha val="0"/>
                    </a:prstClr>
                  </a:solidFill>
                </a:ln>
                <a:solidFill>
                  <a:prstClr val="white"/>
                </a:solidFill>
                <a:latin typeface="나눔스퀘어 ExtraBold" panose="020B0600000101010101" pitchFamily="34" charset="-127"/>
                <a:ea typeface="나눔스퀘어 ExtraBold" panose="020B0600000101010101" pitchFamily="34" charset="-127"/>
              </a:rPr>
              <a:t>Newbuild</a:t>
            </a:r>
            <a:r>
              <a:rPr lang="en-US" altLang="ko-KR" sz="1000" b="1" dirty="0" smtClean="0">
                <a:ln>
                  <a:solidFill>
                    <a:prstClr val="white">
                      <a:alpha val="0"/>
                    </a:prstClr>
                  </a:solidFill>
                </a:ln>
                <a:solidFill>
                  <a:prstClr val="white"/>
                </a:solidFill>
                <a:latin typeface="나눔스퀘어 ExtraBold" panose="020B0600000101010101" pitchFamily="34" charset="-127"/>
                <a:ea typeface="나눔스퀘어 ExtraBold" panose="020B0600000101010101" pitchFamily="34" charset="-127"/>
              </a:rPr>
              <a:t> </a:t>
            </a:r>
            <a:r>
              <a:rPr lang="en-US" altLang="ko-KR" sz="1000" b="1" dirty="0">
                <a:ln>
                  <a:solidFill>
                    <a:prstClr val="white">
                      <a:alpha val="0"/>
                    </a:prstClr>
                  </a:solidFill>
                </a:ln>
                <a:solidFill>
                  <a:prstClr val="white"/>
                </a:solidFill>
                <a:latin typeface="나눔스퀘어 ExtraBold" panose="020B0600000101010101" pitchFamily="34" charset="-127"/>
                <a:ea typeface="나눔스퀘어 ExtraBold" panose="020B0600000101010101" pitchFamily="34" charset="-127"/>
              </a:rPr>
              <a:t>Deliveries</a:t>
            </a:r>
            <a:endParaRPr lang="en-US" altLang="ko-KR" sz="1000" b="1" dirty="0">
              <a:ln>
                <a:solidFill>
                  <a:prstClr val="white">
                    <a:alpha val="0"/>
                  </a:prstClr>
                </a:solidFill>
              </a:ln>
              <a:solidFill>
                <a:srgbClr val="FF0000"/>
              </a:solidFill>
              <a:latin typeface="나눔스퀘어 ExtraBold" panose="020B0600000101010101" pitchFamily="34" charset="-127"/>
              <a:ea typeface="나눔스퀘어 ExtraBold" panose="020B0600000101010101" pitchFamily="34" charset="-127"/>
            </a:endParaRPr>
          </a:p>
        </p:txBody>
      </p:sp>
      <p:sp>
        <p:nvSpPr>
          <p:cNvPr id="83" name="모서리가 둥근 직사각형 82">
            <a:extLst>
              <a:ext uri="{FF2B5EF4-FFF2-40B4-BE49-F238E27FC236}">
                <a16:creationId xmlns:a16="http://schemas.microsoft.com/office/drawing/2014/main" id="{CC63D415-C16C-BF4C-98AB-622ED609EE13}"/>
              </a:ext>
            </a:extLst>
          </p:cNvPr>
          <p:cNvSpPr/>
          <p:nvPr/>
        </p:nvSpPr>
        <p:spPr>
          <a:xfrm>
            <a:off x="4521439" y="5195470"/>
            <a:ext cx="1293574" cy="215901"/>
          </a:xfrm>
          <a:prstGeom prst="roundRect">
            <a:avLst>
              <a:gd name="adj" fmla="val 50000"/>
            </a:avLst>
          </a:prstGeom>
          <a:solidFill>
            <a:srgbClr val="3CD0B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b="1" spc="-30" dirty="0">
                <a:ln>
                  <a:solidFill>
                    <a:prstClr val="white">
                      <a:alpha val="0"/>
                    </a:prstClr>
                  </a:solidFill>
                </a:ln>
                <a:solidFill>
                  <a:schemeClr val="bg1"/>
                </a:solidFill>
                <a:latin typeface="나눔스퀘어 ExtraBold" panose="020B0600000101010101" pitchFamily="34" charset="-127"/>
                <a:ea typeface="나눔스퀘어 ExtraBold" panose="020B0600000101010101" pitchFamily="34" charset="-127"/>
              </a:rPr>
              <a:t>Demand Slowdown</a:t>
            </a:r>
          </a:p>
        </p:txBody>
      </p:sp>
      <p:sp>
        <p:nvSpPr>
          <p:cNvPr id="85" name="모서리가 둥근 직사각형 84">
            <a:extLst>
              <a:ext uri="{FF2B5EF4-FFF2-40B4-BE49-F238E27FC236}">
                <a16:creationId xmlns:a16="http://schemas.microsoft.com/office/drawing/2014/main" id="{8E607A89-454A-C840-AB25-AB2CF56A0059}"/>
              </a:ext>
            </a:extLst>
          </p:cNvPr>
          <p:cNvSpPr/>
          <p:nvPr/>
        </p:nvSpPr>
        <p:spPr>
          <a:xfrm>
            <a:off x="1420585" y="5470389"/>
            <a:ext cx="1708213" cy="215901"/>
          </a:xfrm>
          <a:prstGeom prst="roundRect">
            <a:avLst>
              <a:gd name="adj" fmla="val 50000"/>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b="1" dirty="0">
                <a:ln>
                  <a:solidFill>
                    <a:prstClr val="white">
                      <a:alpha val="0"/>
                    </a:prstClr>
                  </a:solidFill>
                </a:ln>
                <a:solidFill>
                  <a:prstClr val="white"/>
                </a:solidFill>
                <a:latin typeface="나눔스퀘어 ExtraBold" panose="020B0600000101010101" pitchFamily="34" charset="-127"/>
                <a:ea typeface="나눔스퀘어 ExtraBold" panose="020B0600000101010101" pitchFamily="34" charset="-127"/>
              </a:rPr>
              <a:t>Higher Oil Prices</a:t>
            </a:r>
            <a:endParaRPr lang="ko-KR" altLang="en-US" sz="1000" b="1" dirty="0">
              <a:ln>
                <a:solidFill>
                  <a:prstClr val="white">
                    <a:alpha val="0"/>
                  </a:prstClr>
                </a:solidFill>
              </a:ln>
              <a:solidFill>
                <a:prstClr val="white"/>
              </a:solidFill>
              <a:latin typeface="나눔스퀘어 ExtraBold" panose="020B0600000101010101" pitchFamily="34" charset="-127"/>
              <a:ea typeface="나눔스퀘어 ExtraBold" panose="020B0600000101010101" pitchFamily="34" charset="-127"/>
            </a:endParaRPr>
          </a:p>
        </p:txBody>
      </p:sp>
      <p:sp>
        <p:nvSpPr>
          <p:cNvPr id="91" name="모서리가 둥근 직사각형 90">
            <a:extLst>
              <a:ext uri="{FF2B5EF4-FFF2-40B4-BE49-F238E27FC236}">
                <a16:creationId xmlns:a16="http://schemas.microsoft.com/office/drawing/2014/main" id="{8E607A89-454A-C840-AB25-AB2CF56A0059}"/>
              </a:ext>
            </a:extLst>
          </p:cNvPr>
          <p:cNvSpPr/>
          <p:nvPr/>
        </p:nvSpPr>
        <p:spPr>
          <a:xfrm>
            <a:off x="2310494" y="4921249"/>
            <a:ext cx="2161146" cy="215901"/>
          </a:xfrm>
          <a:prstGeom prst="roundRect">
            <a:avLst>
              <a:gd name="adj" fmla="val 50000"/>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b="1" dirty="0">
                <a:ln>
                  <a:solidFill>
                    <a:prstClr val="white">
                      <a:alpha val="0"/>
                    </a:prstClr>
                  </a:solidFill>
                </a:ln>
                <a:solidFill>
                  <a:prstClr val="white"/>
                </a:solidFill>
                <a:latin typeface="나눔스퀘어 ExtraBold" panose="020B0600000101010101" pitchFamily="34" charset="-127"/>
                <a:ea typeface="나눔스퀘어 ExtraBold" panose="020B0600000101010101" pitchFamily="34" charset="-127"/>
              </a:rPr>
              <a:t>Early Peak Season</a:t>
            </a:r>
            <a:endParaRPr lang="ko-KR" altLang="en-US" sz="1000" b="1" dirty="0">
              <a:ln>
                <a:solidFill>
                  <a:prstClr val="white">
                    <a:alpha val="0"/>
                  </a:prstClr>
                </a:solidFill>
              </a:ln>
              <a:solidFill>
                <a:prstClr val="white"/>
              </a:solidFill>
              <a:latin typeface="나눔스퀘어 ExtraBold" panose="020B0600000101010101" pitchFamily="34" charset="-127"/>
              <a:ea typeface="나눔스퀘어 ExtraBold" panose="020B0600000101010101" pitchFamily="34" charset="-127"/>
            </a:endParaRPr>
          </a:p>
        </p:txBody>
      </p:sp>
      <p:sp>
        <p:nvSpPr>
          <p:cNvPr id="84" name="모서리가 둥근 직사각형 83">
            <a:extLst>
              <a:ext uri="{FF2B5EF4-FFF2-40B4-BE49-F238E27FC236}">
                <a16:creationId xmlns:a16="http://schemas.microsoft.com/office/drawing/2014/main" id="{8E607A89-454A-C840-AB25-AB2CF56A0059}"/>
              </a:ext>
            </a:extLst>
          </p:cNvPr>
          <p:cNvSpPr/>
          <p:nvPr/>
        </p:nvSpPr>
        <p:spPr>
          <a:xfrm>
            <a:off x="4521439" y="4646569"/>
            <a:ext cx="1293574" cy="215901"/>
          </a:xfrm>
          <a:prstGeom prst="roundRect">
            <a:avLst>
              <a:gd name="adj" fmla="val 47435"/>
            </a:avLst>
          </a:prstGeom>
          <a:solidFill>
            <a:srgbClr val="3CD0B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b="1" spc="-70" dirty="0">
                <a:ln>
                  <a:solidFill>
                    <a:prstClr val="white">
                      <a:alpha val="0"/>
                    </a:prstClr>
                  </a:solidFill>
                </a:ln>
                <a:solidFill>
                  <a:prstClr val="white"/>
                </a:solidFill>
                <a:latin typeface="나눔스퀘어 ExtraBold" panose="020B0600000101010101" pitchFamily="34" charset="-127"/>
                <a:ea typeface="나눔스퀘어 ExtraBold" panose="020B0600000101010101" pitchFamily="34" charset="-127"/>
              </a:rPr>
              <a:t>Lower Fuel Surcharges</a:t>
            </a:r>
            <a:endParaRPr lang="ko-KR" altLang="en-US" sz="1000" b="1" spc="-70" dirty="0">
              <a:ln>
                <a:solidFill>
                  <a:prstClr val="white">
                    <a:alpha val="0"/>
                  </a:prstClr>
                </a:solidFill>
              </a:ln>
              <a:solidFill>
                <a:prstClr val="white"/>
              </a:solidFill>
              <a:latin typeface="나눔스퀘어 ExtraBold" panose="020B0600000101010101" pitchFamily="34" charset="-127"/>
              <a:ea typeface="나눔스퀘어 ExtraBold" panose="020B0600000101010101" pitchFamily="34" charset="-127"/>
            </a:endParaRPr>
          </a:p>
        </p:txBody>
      </p:sp>
      <p:sp>
        <p:nvSpPr>
          <p:cNvPr id="89" name="TextBox 88"/>
          <p:cNvSpPr txBox="1"/>
          <p:nvPr/>
        </p:nvSpPr>
        <p:spPr>
          <a:xfrm>
            <a:off x="8794062" y="3456503"/>
            <a:ext cx="3578049" cy="138499"/>
          </a:xfrm>
          <a:prstGeom prst="rect">
            <a:avLst/>
          </a:prstGeom>
          <a:noFill/>
        </p:spPr>
        <p:txBody>
          <a:bodyPr wrap="square" lIns="0" tIns="0" rIns="0" bIns="0" rtlCol="0">
            <a:spAutoFit/>
          </a:bodyPr>
          <a:lstStyle/>
          <a:p>
            <a:r>
              <a:rPr lang="en-US" altLang="ko-KR" sz="900" dirty="0" smtClean="0">
                <a:solidFill>
                  <a:srgbClr val="0000FF"/>
                </a:solidFill>
                <a:latin typeface="나눔스퀘어" panose="020B0600000101010101" pitchFamily="50" charset="-127"/>
                <a:ea typeface="나눔스퀘어" panose="020B0600000101010101" pitchFamily="50" charset="-127"/>
              </a:rPr>
              <a:t>* </a:t>
            </a:r>
            <a:r>
              <a:rPr lang="en-US" altLang="ko-KR" sz="900" dirty="0">
                <a:solidFill>
                  <a:srgbClr val="0000FF"/>
                </a:solidFill>
                <a:latin typeface="나눔스퀘어" panose="020B0600000101010101" pitchFamily="50" charset="-127"/>
                <a:ea typeface="나눔스퀘어" panose="020B0600000101010101" pitchFamily="50" charset="-127"/>
              </a:rPr>
              <a:t>Potential U.S. tariffs after Jul. 24</a:t>
            </a:r>
          </a:p>
        </p:txBody>
      </p:sp>
      <p:sp>
        <p:nvSpPr>
          <p:cNvPr id="87" name="모서리가 둥근 직사각형 86">
            <a:extLst>
              <a:ext uri="{FF2B5EF4-FFF2-40B4-BE49-F238E27FC236}">
                <a16:creationId xmlns:a16="http://schemas.microsoft.com/office/drawing/2014/main" id="{CC63D415-C16C-BF4C-98AB-622ED609EE13}"/>
              </a:ext>
            </a:extLst>
          </p:cNvPr>
          <p:cNvSpPr/>
          <p:nvPr/>
        </p:nvSpPr>
        <p:spPr>
          <a:xfrm>
            <a:off x="4521439" y="4921249"/>
            <a:ext cx="1293574" cy="215901"/>
          </a:xfrm>
          <a:prstGeom prst="roundRect">
            <a:avLst>
              <a:gd name="adj" fmla="val 50000"/>
            </a:avLst>
          </a:prstGeom>
          <a:solidFill>
            <a:srgbClr val="3CD0B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b="1" spc="-50" dirty="0">
                <a:ln>
                  <a:solidFill>
                    <a:prstClr val="white">
                      <a:alpha val="0"/>
                    </a:prstClr>
                  </a:solidFill>
                </a:ln>
                <a:solidFill>
                  <a:schemeClr val="bg1"/>
                </a:solidFill>
                <a:latin typeface="나눔스퀘어 ExtraBold" panose="020B0600000101010101" pitchFamily="34" charset="-127"/>
                <a:ea typeface="나눔스퀘어 ExtraBold" panose="020B0600000101010101" pitchFamily="34" charset="-127"/>
              </a:rPr>
              <a:t>Gulf </a:t>
            </a:r>
            <a:r>
              <a:rPr lang="en-US" altLang="ko-KR" sz="1000" b="1" spc="-50" dirty="0" smtClean="0">
                <a:ln>
                  <a:solidFill>
                    <a:prstClr val="white">
                      <a:alpha val="0"/>
                    </a:prstClr>
                  </a:solidFill>
                </a:ln>
                <a:solidFill>
                  <a:schemeClr val="bg1"/>
                </a:solidFill>
                <a:latin typeface="나눔스퀘어 ExtraBold" panose="020B0600000101010101" pitchFamily="34" charset="-127"/>
                <a:ea typeface="나눔스퀘어 ExtraBold" panose="020B0600000101010101" pitchFamily="34" charset="-127"/>
              </a:rPr>
              <a:t>Service </a:t>
            </a:r>
            <a:r>
              <a:rPr lang="en-US" altLang="ko-KR" sz="1000" b="1" spc="-50" dirty="0">
                <a:ln>
                  <a:solidFill>
                    <a:prstClr val="white">
                      <a:alpha val="0"/>
                    </a:prstClr>
                  </a:solidFill>
                </a:ln>
                <a:solidFill>
                  <a:schemeClr val="bg1"/>
                </a:solidFill>
                <a:latin typeface="나눔스퀘어 ExtraBold" panose="020B0600000101010101" pitchFamily="34" charset="-127"/>
                <a:ea typeface="나눔스퀘어 ExtraBold" panose="020B0600000101010101" pitchFamily="34" charset="-127"/>
              </a:rPr>
              <a:t>Recovery</a:t>
            </a:r>
          </a:p>
        </p:txBody>
      </p:sp>
      <p:sp>
        <p:nvSpPr>
          <p:cNvPr id="86" name="TextBox 85"/>
          <p:cNvSpPr txBox="1"/>
          <p:nvPr/>
        </p:nvSpPr>
        <p:spPr>
          <a:xfrm>
            <a:off x="6801231" y="4077059"/>
            <a:ext cx="1215495" cy="143273"/>
          </a:xfrm>
          <a:prstGeom prst="rect">
            <a:avLst/>
          </a:prstGeom>
          <a:noFill/>
        </p:spPr>
        <p:txBody>
          <a:bodyPr wrap="square" lIns="0" tIns="0" rIns="0" bIns="0" rtlCol="0">
            <a:spAutoFit/>
          </a:bodyPr>
          <a:lstStyle/>
          <a:p>
            <a:r>
              <a:rPr lang="en-US" altLang="ko-KR" sz="900" dirty="0" smtClean="0">
                <a:solidFill>
                  <a:srgbClr val="0000FF"/>
                </a:solidFill>
                <a:latin typeface="나눔스퀘어" panose="020B0600000101010101" pitchFamily="50" charset="-127"/>
                <a:ea typeface="나눔스퀘어" panose="020B0600000101010101" pitchFamily="50" charset="-127"/>
              </a:rPr>
              <a:t>* </a:t>
            </a:r>
            <a:r>
              <a:rPr lang="en-US" altLang="ko-KR" sz="900" dirty="0" err="1" smtClean="0">
                <a:solidFill>
                  <a:srgbClr val="0000FF"/>
                </a:solidFill>
                <a:latin typeface="나눔스퀘어" panose="020B0600000101010101" pitchFamily="50" charset="-127"/>
                <a:ea typeface="나눔스퀘어" panose="020B0600000101010101" pitchFamily="50" charset="-127"/>
              </a:rPr>
              <a:t>Xeneta</a:t>
            </a:r>
            <a:endParaRPr lang="en-US" altLang="ko-KR" sz="900" dirty="0">
              <a:solidFill>
                <a:srgbClr val="0000FF"/>
              </a:solidFill>
              <a:latin typeface="나눔스퀘어" panose="020B0600000101010101" pitchFamily="50" charset="-127"/>
              <a:ea typeface="나눔스퀘어" panose="020B0600000101010101" pitchFamily="50" charset="-127"/>
            </a:endParaRPr>
          </a:p>
        </p:txBody>
      </p:sp>
      <p:sp>
        <p:nvSpPr>
          <p:cNvPr id="88" name="모서리가 둥근 직사각형 87">
            <a:extLst>
              <a:ext uri="{FF2B5EF4-FFF2-40B4-BE49-F238E27FC236}">
                <a16:creationId xmlns:a16="http://schemas.microsoft.com/office/drawing/2014/main" id="{8E607A89-454A-C840-AB25-AB2CF56A0059}"/>
              </a:ext>
            </a:extLst>
          </p:cNvPr>
          <p:cNvSpPr/>
          <p:nvPr/>
        </p:nvSpPr>
        <p:spPr>
          <a:xfrm>
            <a:off x="357310" y="5305530"/>
            <a:ext cx="647523" cy="380760"/>
          </a:xfrm>
          <a:prstGeom prst="roundRect">
            <a:avLst>
              <a:gd name="adj" fmla="val 32431"/>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b="1" spc="-100" dirty="0">
                <a:ln>
                  <a:solidFill>
                    <a:prstClr val="white">
                      <a:alpha val="0"/>
                    </a:prstClr>
                  </a:solidFill>
                </a:ln>
                <a:solidFill>
                  <a:prstClr val="white"/>
                </a:solidFill>
                <a:latin typeface="나눔스퀘어 ExtraBold" panose="020B0600000101010101" pitchFamily="34" charset="-127"/>
                <a:ea typeface="나눔스퀘어 ExtraBold" panose="020B0600000101010101" pitchFamily="34" charset="-127"/>
              </a:rPr>
              <a:t>Pre-CNY Shipments</a:t>
            </a:r>
            <a:endParaRPr lang="ko-KR" altLang="en-US" sz="1000" b="1" spc="-100" dirty="0">
              <a:ln>
                <a:solidFill>
                  <a:prstClr val="white">
                    <a:alpha val="0"/>
                  </a:prstClr>
                </a:solidFill>
              </a:ln>
              <a:solidFill>
                <a:prstClr val="white"/>
              </a:solidFill>
              <a:latin typeface="나눔스퀘어 ExtraBold" panose="020B0600000101010101" pitchFamily="34" charset="-127"/>
              <a:ea typeface="나눔스퀘어 ExtraBold" panose="020B0600000101010101" pitchFamily="34" charset="-127"/>
            </a:endParaRPr>
          </a:p>
        </p:txBody>
      </p:sp>
      <p:grpSp>
        <p:nvGrpSpPr>
          <p:cNvPr id="93" name="그룹 92"/>
          <p:cNvGrpSpPr/>
          <p:nvPr/>
        </p:nvGrpSpPr>
        <p:grpSpPr>
          <a:xfrm>
            <a:off x="10020301" y="6290"/>
            <a:ext cx="1778422" cy="552569"/>
            <a:chOff x="10020301" y="6290"/>
            <a:chExt cx="1778422" cy="552569"/>
          </a:xfrm>
        </p:grpSpPr>
        <p:cxnSp>
          <p:nvCxnSpPr>
            <p:cNvPr id="94" name="직선 연결선 93"/>
            <p:cNvCxnSpPr/>
            <p:nvPr/>
          </p:nvCxnSpPr>
          <p:spPr>
            <a:xfrm>
              <a:off x="11671487" y="6290"/>
              <a:ext cx="0" cy="313957"/>
            </a:xfrm>
            <a:prstGeom prst="line">
              <a:avLst/>
            </a:prstGeom>
            <a:ln w="635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10020301" y="381709"/>
              <a:ext cx="1552032" cy="153888"/>
            </a:xfrm>
            <a:prstGeom prst="rect">
              <a:avLst/>
            </a:prstGeom>
            <a:noFill/>
            <a:ln w="9525">
              <a:noFill/>
              <a:miter lim="800000"/>
              <a:headEnd/>
              <a:tailEnd/>
            </a:ln>
          </p:spPr>
          <p:txBody>
            <a:bodyPr wrap="square" lIns="0" tIns="0" rIns="0" bIns="0" anchor="ctr">
              <a:spAutoFit/>
            </a:bodyPr>
            <a:lstStyle>
              <a:defPPr>
                <a:defRPr lang="ko-KR"/>
              </a:defPPr>
              <a:lvl1pPr defTabSz="914125" fontAlgn="base" latinLnBrk="0">
                <a:spcBef>
                  <a:spcPct val="0"/>
                </a:spcBef>
                <a:spcAft>
                  <a:spcPts val="200"/>
                </a:spcAft>
                <a:defRPr sz="1100" spc="-20">
                  <a:ln>
                    <a:solidFill>
                      <a:prstClr val="white">
                        <a:alpha val="0"/>
                      </a:prstClr>
                    </a:solidFill>
                  </a:ln>
                  <a:solidFill>
                    <a:schemeClr val="tx1">
                      <a:lumMod val="75000"/>
                      <a:lumOff val="25000"/>
                    </a:schemeClr>
                  </a:solidFill>
                  <a:latin typeface="KoPub돋움체 Bold" panose="02020603020101020101" pitchFamily="18" charset="-127"/>
                  <a:ea typeface="KoPub돋움체 Bold" panose="02020603020101020101" pitchFamily="18" charset="-127"/>
                  <a:cs typeface="Arial" charset="0"/>
                </a:defRPr>
              </a:lvl1pPr>
            </a:lstStyle>
            <a:p>
              <a:pPr lvl="0" algn="r">
                <a:defRPr/>
              </a:pPr>
              <a:r>
                <a:rPr lang="en-US" altLang="ko-KR"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rPr>
                <a:t>2026 2H Market Outlook</a:t>
              </a:r>
            </a:p>
          </p:txBody>
        </p:sp>
        <p:sp>
          <p:nvSpPr>
            <p:cNvPr id="96" name="타원 95"/>
            <p:cNvSpPr/>
            <p:nvPr/>
          </p:nvSpPr>
          <p:spPr>
            <a:xfrm>
              <a:off x="11340239"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20" normalizeH="0" baseline="0" noProof="0" dirty="0">
                <a:ln>
                  <a:solidFill>
                    <a:srgbClr val="C00000">
                      <a:alpha val="0"/>
                    </a:srgbClr>
                  </a:solidFill>
                </a:ln>
                <a:solidFill>
                  <a:prstClr val="white"/>
                </a:solidFill>
                <a:effectLst/>
                <a:uLnTx/>
                <a:uFillTx/>
                <a:latin typeface="나눔스퀘어" panose="020B0600000101010101" pitchFamily="50" charset="-127"/>
                <a:ea typeface="나눔스퀘어" panose="020B0600000101010101" pitchFamily="50" charset="-127"/>
                <a:cs typeface="+mn-cs"/>
              </a:endParaRPr>
            </a:p>
          </p:txBody>
        </p:sp>
        <p:sp>
          <p:nvSpPr>
            <p:cNvPr id="97" name="타원 96"/>
            <p:cNvSpPr/>
            <p:nvPr/>
          </p:nvSpPr>
          <p:spPr>
            <a:xfrm>
              <a:off x="11422266"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109" name="타원 108"/>
            <p:cNvSpPr/>
            <p:nvPr/>
          </p:nvSpPr>
          <p:spPr>
            <a:xfrm>
              <a:off x="11504294" y="290256"/>
              <a:ext cx="51827" cy="51827"/>
            </a:xfrm>
            <a:prstGeom prst="ellipse">
              <a:avLst/>
            </a:prstGeom>
            <a:solidFill>
              <a:srgbClr val="0146A0"/>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112" name="TextBox 111"/>
            <p:cNvSpPr txBox="1"/>
            <p:nvPr/>
          </p:nvSpPr>
          <p:spPr>
            <a:xfrm>
              <a:off x="11646437" y="343415"/>
              <a:ext cx="152286" cy="215444"/>
            </a:xfrm>
            <a:prstGeom prst="rect">
              <a:avLst/>
            </a:prstGeom>
            <a:noFill/>
          </p:spPr>
          <p:txBody>
            <a:bodyPr wrap="none" lIns="0" tIns="0" rIns="0" bIns="0" rtlCol="0" anchor="ctr" anchorCtr="0">
              <a:spAutoFit/>
            </a:bodyPr>
            <a:lstStyle>
              <a:defPPr>
                <a:defRPr lang="ko-KR"/>
              </a:defPPr>
              <a:lvl1pPr>
                <a:spcAft>
                  <a:spcPts val="300"/>
                </a:spcAft>
                <a:defRPr sz="2800" spc="-100">
                  <a:ln>
                    <a:solidFill>
                      <a:schemeClr val="bg1">
                        <a:alpha val="0"/>
                      </a:schemeClr>
                    </a:solidFill>
                  </a:ln>
                  <a:solidFill>
                    <a:srgbClr val="005B8D"/>
                  </a:solidFill>
                  <a:latin typeface="Times New Roman" panose="02020603050405020304" pitchFamily="18" charset="0"/>
                  <a:ea typeface="KoPub돋움체 Bold" panose="02020603020101020101" pitchFamily="18" charset="-127"/>
                  <a:cs typeface="Times New Roman" panose="02020603050405020304" pitchFamily="18" charset="0"/>
                </a:defRPr>
              </a:lvl1pPr>
            </a:lstStyle>
            <a:p>
              <a:pPr latinLnBrk="0">
                <a:defRPr/>
              </a:pPr>
              <a:r>
                <a:rPr lang="en-US" altLang="ko-KR" sz="1400" spc="-150" dirty="0" smtClean="0">
                  <a:ln>
                    <a:solidFill>
                      <a:prstClr val="white">
                        <a:alpha val="0"/>
                      </a:prstClr>
                    </a:solidFill>
                  </a:ln>
                  <a:solidFill>
                    <a:srgbClr val="0146A0"/>
                  </a:solidFill>
                  <a:ea typeface="KoPub돋움체 Medium" panose="02020603020101020101" pitchFamily="18" charset="-127"/>
                </a:rPr>
                <a:t>Ⅲ</a:t>
              </a:r>
              <a:endParaRPr lang="en-US" altLang="ko-KR" sz="1400" spc="-150" dirty="0">
                <a:ln>
                  <a:solidFill>
                    <a:prstClr val="white">
                      <a:alpha val="0"/>
                    </a:prstClr>
                  </a:solidFill>
                </a:ln>
                <a:solidFill>
                  <a:srgbClr val="0146A0"/>
                </a:solidFill>
                <a:ea typeface="KoPub돋움체 Medium" panose="02020603020101020101" pitchFamily="18" charset="-127"/>
              </a:endParaRPr>
            </a:p>
          </p:txBody>
        </p:sp>
      </p:grpSp>
      <p:sp>
        <p:nvSpPr>
          <p:cNvPr id="122" name="직사각형 121"/>
          <p:cNvSpPr/>
          <p:nvPr/>
        </p:nvSpPr>
        <p:spPr>
          <a:xfrm>
            <a:off x="3476625" y="2628756"/>
            <a:ext cx="2413237" cy="238493"/>
          </a:xfrm>
          <a:prstGeom prst="rect">
            <a:avLst/>
          </a:prstGeom>
          <a:solidFill>
            <a:schemeClr val="bg1"/>
          </a:solidFill>
          <a:ln w="3175">
            <a:solidFill>
              <a:schemeClr val="bg1">
                <a:lumMod val="75000"/>
              </a:schemeClr>
            </a:solidFill>
          </a:ln>
          <a:effectLst/>
        </p:spPr>
        <p:txBody>
          <a:bodyPr vert="horz" wrap="square" lIns="91440" tIns="45720" rIns="91440" bIns="45720" numCol="1" rtlCol="0" anchor="ctr" anchorCtr="0" compatLnSpc="1">
            <a:prstTxWarp prst="textNoShape">
              <a:avLst/>
            </a:prstTxWarp>
          </a:bodyPr>
          <a:lstStyle/>
          <a:p>
            <a:pPr algn="ctr"/>
            <a:endParaRPr lang="ko-KR" altLang="en-US" sz="2000" dirty="0">
              <a:solidFill>
                <a:srgbClr val="191A1A"/>
              </a:solidFill>
            </a:endParaRPr>
          </a:p>
        </p:txBody>
      </p:sp>
      <p:grpSp>
        <p:nvGrpSpPr>
          <p:cNvPr id="123" name="그룹 122"/>
          <p:cNvGrpSpPr/>
          <p:nvPr/>
        </p:nvGrpSpPr>
        <p:grpSpPr>
          <a:xfrm>
            <a:off x="3533913" y="2677234"/>
            <a:ext cx="2304983" cy="153888"/>
            <a:chOff x="3422738" y="2780554"/>
            <a:chExt cx="2304983" cy="153888"/>
          </a:xfrm>
        </p:grpSpPr>
        <p:sp>
          <p:nvSpPr>
            <p:cNvPr id="124" name="TextBox 123">
              <a:extLst>
                <a:ext uri="{FF2B5EF4-FFF2-40B4-BE49-F238E27FC236}">
                  <a16:creationId xmlns:a16="http://schemas.microsoft.com/office/drawing/2014/main" id="{927BC5EA-4832-7541-8F4A-F9233B12602F}"/>
                </a:ext>
              </a:extLst>
            </p:cNvPr>
            <p:cNvSpPr txBox="1"/>
            <p:nvPr/>
          </p:nvSpPr>
          <p:spPr>
            <a:xfrm>
              <a:off x="3568423" y="2780554"/>
              <a:ext cx="872034" cy="153888"/>
            </a:xfrm>
            <a:prstGeom prst="rect">
              <a:avLst/>
            </a:prstGeom>
            <a:noFill/>
          </p:spPr>
          <p:txBody>
            <a:bodyPr wrap="none" lIns="0" tIns="0" rIns="0" bIns="0" rtlCol="0" anchor="ctr">
              <a:spAutoFit/>
            </a:bodyPr>
            <a:lstStyle/>
            <a:p>
              <a:r>
                <a:rPr lang="en-US" altLang="ko-KR" sz="1000" dirty="0">
                  <a:ln>
                    <a:solidFill>
                      <a:prstClr val="white">
                        <a:alpha val="0"/>
                      </a:prstClr>
                    </a:solidFill>
                  </a:ln>
                  <a:latin typeface="나눔스퀘어" panose="020B0600000101010101" pitchFamily="50" charset="-127"/>
                  <a:ea typeface="나눔스퀘어" panose="020B0600000101010101" pitchFamily="50" charset="-127"/>
                </a:rPr>
                <a:t>Upside Factors</a:t>
              </a:r>
            </a:p>
          </p:txBody>
        </p:sp>
        <p:sp>
          <p:nvSpPr>
            <p:cNvPr id="125" name="TextBox 124">
              <a:extLst>
                <a:ext uri="{FF2B5EF4-FFF2-40B4-BE49-F238E27FC236}">
                  <a16:creationId xmlns:a16="http://schemas.microsoft.com/office/drawing/2014/main" id="{BA95AA20-56AE-F14B-AD6A-FBE501223DC8}"/>
                </a:ext>
              </a:extLst>
            </p:cNvPr>
            <p:cNvSpPr txBox="1"/>
            <p:nvPr/>
          </p:nvSpPr>
          <p:spPr>
            <a:xfrm>
              <a:off x="4696990" y="2780554"/>
              <a:ext cx="1030731" cy="153888"/>
            </a:xfrm>
            <a:prstGeom prst="rect">
              <a:avLst/>
            </a:prstGeom>
            <a:noFill/>
          </p:spPr>
          <p:txBody>
            <a:bodyPr wrap="none" lIns="0" tIns="0" rIns="0" bIns="0" rtlCol="0" anchor="ctr">
              <a:spAutoFit/>
            </a:bodyPr>
            <a:lstStyle/>
            <a:p>
              <a:r>
                <a:rPr lang="en-US" altLang="ko-KR" sz="1000" dirty="0">
                  <a:latin typeface="나눔스퀘어" panose="020B0600000101010101" pitchFamily="50" charset="-127"/>
                  <a:ea typeface="나눔스퀘어" panose="020B0600000101010101" pitchFamily="50" charset="-127"/>
                </a:rPr>
                <a:t>Downside Factors</a:t>
              </a:r>
              <a:endParaRPr lang="en-US" altLang="ko-KR" sz="1000" dirty="0">
                <a:ln>
                  <a:solidFill>
                    <a:prstClr val="white">
                      <a:alpha val="0"/>
                    </a:prstClr>
                  </a:solidFill>
                </a:ln>
                <a:latin typeface="나눔스퀘어" panose="020B0600000101010101" pitchFamily="50" charset="-127"/>
                <a:ea typeface="나눔스퀘어" panose="020B0600000101010101" pitchFamily="50" charset="-127"/>
              </a:endParaRPr>
            </a:p>
          </p:txBody>
        </p:sp>
        <p:sp>
          <p:nvSpPr>
            <p:cNvPr id="126" name="직사각형 125"/>
            <p:cNvSpPr/>
            <p:nvPr/>
          </p:nvSpPr>
          <p:spPr>
            <a:xfrm>
              <a:off x="3422738" y="2803498"/>
              <a:ext cx="108000" cy="108000"/>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00" dirty="0">
                <a:latin typeface="나눔스퀘어" panose="020B0600000101010101" pitchFamily="50" charset="-127"/>
                <a:ea typeface="나눔스퀘어" panose="020B0600000101010101" pitchFamily="50" charset="-127"/>
              </a:endParaRPr>
            </a:p>
          </p:txBody>
        </p:sp>
        <p:sp>
          <p:nvSpPr>
            <p:cNvPr id="127" name="직사각형 126"/>
            <p:cNvSpPr/>
            <p:nvPr/>
          </p:nvSpPr>
          <p:spPr>
            <a:xfrm>
              <a:off x="4554331" y="2803498"/>
              <a:ext cx="108000" cy="108000"/>
            </a:xfrm>
            <a:prstGeom prst="rect">
              <a:avLst/>
            </a:prstGeom>
            <a:solidFill>
              <a:srgbClr val="3CD0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00" dirty="0">
                <a:latin typeface="나눔스퀘어" panose="020B0600000101010101" pitchFamily="50" charset="-127"/>
                <a:ea typeface="나눔스퀘어" panose="020B0600000101010101" pitchFamily="50" charset="-127"/>
              </a:endParaRPr>
            </a:p>
          </p:txBody>
        </p:sp>
      </p:grpSp>
    </p:spTree>
    <p:extLst>
      <p:ext uri="{BB962C8B-B14F-4D97-AF65-F5344CB8AC3E}">
        <p14:creationId xmlns:p14="http://schemas.microsoft.com/office/powerpoint/2010/main" val="137393366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515938" y="333375"/>
            <a:ext cx="11447462" cy="880283"/>
          </a:xfrm>
        </p:spPr>
        <p:txBody>
          <a:bodyPr/>
          <a:lstStyle/>
          <a:p>
            <a:r>
              <a:rPr lang="en-US" altLang="ko-KR" spc="-100" dirty="0">
                <a:solidFill>
                  <a:prstClr val="black"/>
                </a:solidFill>
              </a:rPr>
              <a:t>Ocean Market Outlook</a:t>
            </a:r>
            <a:r>
              <a:rPr lang="ko-KR" altLang="en-US" spc="-100" dirty="0">
                <a:solidFill>
                  <a:prstClr val="black"/>
                </a:solidFill>
              </a:rPr>
              <a:t> </a:t>
            </a:r>
            <a:r>
              <a:rPr lang="en-US" altLang="ko-KR" sz="2400" spc="-100" dirty="0">
                <a:solidFill>
                  <a:prstClr val="black"/>
                </a:solidFill>
              </a:rPr>
              <a:t>| Key Driver</a:t>
            </a:r>
            <a:r>
              <a:rPr lang="ko-KR" altLang="en-US" sz="2400" spc="-100" dirty="0">
                <a:solidFill>
                  <a:prstClr val="black"/>
                </a:solidFill>
              </a:rPr>
              <a:t> ① </a:t>
            </a:r>
            <a:r>
              <a:rPr lang="en-US" altLang="ko-KR" sz="2400" spc="-100" dirty="0">
                <a:solidFill>
                  <a:prstClr val="black"/>
                </a:solidFill>
              </a:rPr>
              <a:t>- Stabilization of Global Oil Prices</a:t>
            </a:r>
            <a:r>
              <a:rPr lang="ko-KR" altLang="en-US" sz="2400" spc="-100" dirty="0">
                <a:solidFill>
                  <a:prstClr val="black"/>
                </a:solidFill>
              </a:rPr>
              <a:t> </a:t>
            </a:r>
            <a:r>
              <a:rPr lang="en-US" altLang="ko-KR" sz="2400" spc="-100" dirty="0">
                <a:solidFill>
                  <a:prstClr val="black"/>
                </a:solidFill>
              </a:rPr>
              <a:t>(1/2)</a:t>
            </a:r>
            <a:endParaRPr lang="ko-KR" altLang="en-US" dirty="0"/>
          </a:p>
        </p:txBody>
      </p:sp>
      <p:sp>
        <p:nvSpPr>
          <p:cNvPr id="3" name="텍스트 개체 틀 2"/>
          <p:cNvSpPr>
            <a:spLocks noGrp="1"/>
          </p:cNvSpPr>
          <p:nvPr>
            <p:ph type="body" sz="quarter" idx="10"/>
          </p:nvPr>
        </p:nvSpPr>
        <p:spPr/>
        <p:txBody>
          <a:bodyPr/>
          <a:lstStyle/>
          <a:p>
            <a:r>
              <a:rPr lang="en-US" altLang="ko-KR" spc="-50" dirty="0"/>
              <a:t>The U.S.-Iran conflict drove bunker prices sharply higher, lifting ocean freight rates through higher fuel </a:t>
            </a:r>
            <a:r>
              <a:rPr lang="en-US" altLang="ko-KR" spc="-50" dirty="0" smtClean="0"/>
              <a:t>costs</a:t>
            </a:r>
          </a:p>
          <a:p>
            <a:r>
              <a:rPr lang="en-US" altLang="ko-KR" dirty="0"/>
              <a:t>Higher 3Q fuel surcharges are expected to pass through fuel costs, supporting near-term freight </a:t>
            </a:r>
            <a:r>
              <a:rPr lang="en-US" altLang="ko-KR" dirty="0" smtClean="0"/>
              <a:t>rates</a:t>
            </a:r>
            <a:endParaRPr lang="ko-KR" altLang="en-US" dirty="0"/>
          </a:p>
        </p:txBody>
      </p:sp>
      <p:sp>
        <p:nvSpPr>
          <p:cNvPr id="19" name="Rectangle 215"/>
          <p:cNvSpPr>
            <a:spLocks noChangeArrowheads="1"/>
          </p:cNvSpPr>
          <p:nvPr/>
        </p:nvSpPr>
        <p:spPr bwMode="auto">
          <a:xfrm>
            <a:off x="503791" y="2117975"/>
            <a:ext cx="5436159"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grpSp>
        <p:nvGrpSpPr>
          <p:cNvPr id="16" name="그룹 52"/>
          <p:cNvGrpSpPr/>
          <p:nvPr/>
        </p:nvGrpSpPr>
        <p:grpSpPr>
          <a:xfrm>
            <a:off x="6235069" y="2117975"/>
            <a:ext cx="5436000" cy="374400"/>
            <a:chOff x="6246657" y="1854463"/>
            <a:chExt cx="5436000" cy="374400"/>
          </a:xfrm>
        </p:grpSpPr>
        <p:sp>
          <p:nvSpPr>
            <p:cNvPr id="17" name="Rectangle 215"/>
            <p:cNvSpPr>
              <a:spLocks noChangeArrowheads="1"/>
            </p:cNvSpPr>
            <p:nvPr/>
          </p:nvSpPr>
          <p:spPr bwMode="auto">
            <a:xfrm>
              <a:off x="6246657" y="1854463"/>
              <a:ext cx="5436000"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18" name="TextBox 116"/>
            <p:cNvSpPr txBox="1">
              <a:spLocks noChangeArrowheads="1"/>
            </p:cNvSpPr>
            <p:nvPr/>
          </p:nvSpPr>
          <p:spPr bwMode="auto">
            <a:xfrm>
              <a:off x="6404665" y="1907501"/>
              <a:ext cx="511998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algn="ctr" defTabSz="1038977" eaLnBrk="1" hangingPunct="1"/>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Higher Fuel Cost Pass-Through</a:t>
              </a:r>
              <a:endPar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grpSp>
      <p:sp>
        <p:nvSpPr>
          <p:cNvPr id="13" name="자유형 63"/>
          <p:cNvSpPr/>
          <p:nvPr/>
        </p:nvSpPr>
        <p:spPr>
          <a:xfrm>
            <a:off x="503790" y="2117975"/>
            <a:ext cx="780087" cy="368297"/>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14" name="자유형 64"/>
          <p:cNvSpPr/>
          <p:nvPr/>
        </p:nvSpPr>
        <p:spPr>
          <a:xfrm>
            <a:off x="503790" y="2117975"/>
            <a:ext cx="780088" cy="368297"/>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11" name="자유형 63"/>
          <p:cNvSpPr/>
          <p:nvPr/>
        </p:nvSpPr>
        <p:spPr>
          <a:xfrm>
            <a:off x="6237602" y="2118958"/>
            <a:ext cx="780087" cy="368297"/>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12" name="자유형 64"/>
          <p:cNvSpPr/>
          <p:nvPr/>
        </p:nvSpPr>
        <p:spPr>
          <a:xfrm>
            <a:off x="6237602" y="2118958"/>
            <a:ext cx="780088" cy="368297"/>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pic>
        <p:nvPicPr>
          <p:cNvPr id="21" name="Picture 200" descr="악세사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339689" y="4546810"/>
            <a:ext cx="3535193" cy="91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nvGrpSpPr>
          <p:cNvPr id="22" name="그룹 21">
            <a:extLst>
              <a:ext uri="{FF2B5EF4-FFF2-40B4-BE49-F238E27FC236}">
                <a16:creationId xmlns:a16="http://schemas.microsoft.com/office/drawing/2014/main" id="{F1901E48-B53D-6506-5405-7DEBF109E30B}"/>
              </a:ext>
            </a:extLst>
          </p:cNvPr>
          <p:cNvGrpSpPr/>
          <p:nvPr/>
        </p:nvGrpSpPr>
        <p:grpSpPr>
          <a:xfrm>
            <a:off x="521699" y="2599033"/>
            <a:ext cx="5410242" cy="230832"/>
            <a:chOff x="522352" y="2590117"/>
            <a:chExt cx="5410242" cy="230832"/>
          </a:xfrm>
        </p:grpSpPr>
        <p:sp>
          <p:nvSpPr>
            <p:cNvPr id="23" name="직사각형 22">
              <a:extLst>
                <a:ext uri="{FF2B5EF4-FFF2-40B4-BE49-F238E27FC236}">
                  <a16:creationId xmlns:a16="http://schemas.microsoft.com/office/drawing/2014/main" id="{23A877DC-AE7A-42B7-FA1C-82DDBA18195D}"/>
                </a:ext>
              </a:extLst>
            </p:cNvPr>
            <p:cNvSpPr/>
            <p:nvPr/>
          </p:nvSpPr>
          <p:spPr>
            <a:xfrm>
              <a:off x="781342" y="2590117"/>
              <a:ext cx="5151252" cy="230832"/>
            </a:xfrm>
            <a:prstGeom prst="rect">
              <a:avLst/>
            </a:prstGeom>
            <a:noFill/>
          </p:spPr>
          <p:txBody>
            <a:bodyPr wrap="none" lIns="0" tIns="0" rIns="0" bIns="0" anchor="t">
              <a:noAutofit/>
            </a:bodyPr>
            <a:lstStyle/>
            <a:p>
              <a:pPr marR="608330" lvl="0" latinLnBrk="0">
                <a:defRPr/>
              </a:pPr>
              <a:r>
                <a:rPr lang="en-US" altLang="ko-KR"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Surging bunker prices lifted freight </a:t>
              </a:r>
              <a:r>
                <a:rPr lang="en-US" altLang="ko-KR" sz="1500" b="1" kern="100" dirty="0" smtClean="0">
                  <a:latin typeface="나눔스퀘어 ExtraBold" panose="020B0600000101010101" pitchFamily="50" charset="-127"/>
                  <a:ea typeface="나눔스퀘어 ExtraBold" panose="020B0600000101010101" pitchFamily="50" charset="-127"/>
                  <a:cs typeface="바탕" panose="02030600000101010101" pitchFamily="18" charset="-127"/>
                </a:rPr>
                <a:t>rates</a:t>
              </a:r>
              <a:endParaRPr lang="ko-KR" altLang="en-US"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endParaRPr>
            </a:p>
          </p:txBody>
        </p:sp>
        <p:grpSp>
          <p:nvGrpSpPr>
            <p:cNvPr id="24" name="그룹 23">
              <a:extLst>
                <a:ext uri="{FF2B5EF4-FFF2-40B4-BE49-F238E27FC236}">
                  <a16:creationId xmlns:a16="http://schemas.microsoft.com/office/drawing/2014/main" id="{E7DF7FF3-3A0C-54A6-2CFC-EFC803C02E75}"/>
                </a:ext>
              </a:extLst>
            </p:cNvPr>
            <p:cNvGrpSpPr/>
            <p:nvPr/>
          </p:nvGrpSpPr>
          <p:grpSpPr>
            <a:xfrm>
              <a:off x="522352" y="2609533"/>
              <a:ext cx="192000" cy="192000"/>
              <a:chOff x="412816" y="1633655"/>
              <a:chExt cx="184804" cy="185998"/>
            </a:xfrm>
          </p:grpSpPr>
          <p:sp>
            <p:nvSpPr>
              <p:cNvPr id="25" name="모서리가 둥근 직사각형 24">
                <a:extLst>
                  <a:ext uri="{FF2B5EF4-FFF2-40B4-BE49-F238E27FC236}">
                    <a16:creationId xmlns:a16="http://schemas.microsoft.com/office/drawing/2014/main" id="{ACFD4B78-44F3-C9EC-0E4C-CDFEBFA96E65}"/>
                  </a:ext>
                </a:extLst>
              </p:cNvPr>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26" name="그룹 186">
                <a:extLst>
                  <a:ext uri="{FF2B5EF4-FFF2-40B4-BE49-F238E27FC236}">
                    <a16:creationId xmlns:a16="http://schemas.microsoft.com/office/drawing/2014/main" id="{8FAD1D07-96B7-2F90-2D67-D8FE24112EC3}"/>
                  </a:ext>
                </a:extLst>
              </p:cNvPr>
              <p:cNvGrpSpPr/>
              <p:nvPr/>
            </p:nvGrpSpPr>
            <p:grpSpPr>
              <a:xfrm>
                <a:off x="454440" y="1688440"/>
                <a:ext cx="106516" cy="76455"/>
                <a:chOff x="3366478" y="5412581"/>
                <a:chExt cx="126078" cy="89916"/>
              </a:xfrm>
              <a:solidFill>
                <a:schemeClr val="bg1"/>
              </a:solidFill>
            </p:grpSpPr>
            <p:sp>
              <p:nvSpPr>
                <p:cNvPr id="27" name="모서리가 둥근 직사각형 26">
                  <a:extLst>
                    <a:ext uri="{FF2B5EF4-FFF2-40B4-BE49-F238E27FC236}">
                      <a16:creationId xmlns:a16="http://schemas.microsoft.com/office/drawing/2014/main" id="{CCFA7DFB-B7B8-EE41-E1CC-E9D7BE39369E}"/>
                    </a:ext>
                  </a:extLst>
                </p:cNvPr>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28" name="모서리가 둥근 직사각형 27">
                  <a:extLst>
                    <a:ext uri="{FF2B5EF4-FFF2-40B4-BE49-F238E27FC236}">
                      <a16:creationId xmlns:a16="http://schemas.microsoft.com/office/drawing/2014/main" id="{F3DDF330-44BF-7DB5-CBAB-F5DE83FFCD3A}"/>
                    </a:ext>
                  </a:extLst>
                </p:cNvPr>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grpSp>
        <p:nvGrpSpPr>
          <p:cNvPr id="29" name="그룹 28">
            <a:extLst>
              <a:ext uri="{FF2B5EF4-FFF2-40B4-BE49-F238E27FC236}">
                <a16:creationId xmlns:a16="http://schemas.microsoft.com/office/drawing/2014/main" id="{EF295706-448F-E9F8-6950-97D9B68EEEB9}"/>
              </a:ext>
            </a:extLst>
          </p:cNvPr>
          <p:cNvGrpSpPr/>
          <p:nvPr/>
        </p:nvGrpSpPr>
        <p:grpSpPr>
          <a:xfrm>
            <a:off x="6290801" y="2599033"/>
            <a:ext cx="5410242" cy="230832"/>
            <a:chOff x="522352" y="2590117"/>
            <a:chExt cx="5410242" cy="230832"/>
          </a:xfrm>
        </p:grpSpPr>
        <p:sp>
          <p:nvSpPr>
            <p:cNvPr id="30" name="직사각형 29">
              <a:extLst>
                <a:ext uri="{FF2B5EF4-FFF2-40B4-BE49-F238E27FC236}">
                  <a16:creationId xmlns:a16="http://schemas.microsoft.com/office/drawing/2014/main" id="{4046860D-C324-CEDE-CB74-5CA6C157F262}"/>
                </a:ext>
              </a:extLst>
            </p:cNvPr>
            <p:cNvSpPr/>
            <p:nvPr/>
          </p:nvSpPr>
          <p:spPr>
            <a:xfrm>
              <a:off x="781342" y="2590117"/>
              <a:ext cx="5151252" cy="230832"/>
            </a:xfrm>
            <a:prstGeom prst="rect">
              <a:avLst/>
            </a:prstGeom>
            <a:noFill/>
          </p:spPr>
          <p:txBody>
            <a:bodyPr wrap="none" lIns="0" tIns="0" rIns="0" bIns="0" anchor="t">
              <a:noAutofit/>
            </a:bodyPr>
            <a:lstStyle/>
            <a:p>
              <a:pPr marR="608330" lvl="0" latinLnBrk="0">
                <a:defRPr/>
              </a:pPr>
              <a:r>
                <a:rPr lang="fr-FR" altLang="ko-KR"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Carriers raise 3Q fuel surcharges</a:t>
              </a:r>
              <a:endParaRPr lang="ko-KR" altLang="en-US"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endParaRPr>
            </a:p>
          </p:txBody>
        </p:sp>
        <p:grpSp>
          <p:nvGrpSpPr>
            <p:cNvPr id="31" name="그룹 30">
              <a:extLst>
                <a:ext uri="{FF2B5EF4-FFF2-40B4-BE49-F238E27FC236}">
                  <a16:creationId xmlns:a16="http://schemas.microsoft.com/office/drawing/2014/main" id="{60F9DA37-A4B6-8083-096A-75F9B9A801BD}"/>
                </a:ext>
              </a:extLst>
            </p:cNvPr>
            <p:cNvGrpSpPr/>
            <p:nvPr/>
          </p:nvGrpSpPr>
          <p:grpSpPr>
            <a:xfrm>
              <a:off x="522352" y="2609533"/>
              <a:ext cx="192000" cy="192000"/>
              <a:chOff x="412816" y="1633655"/>
              <a:chExt cx="184804" cy="185998"/>
            </a:xfrm>
          </p:grpSpPr>
          <p:sp>
            <p:nvSpPr>
              <p:cNvPr id="32" name="모서리가 둥근 직사각형 31">
                <a:extLst>
                  <a:ext uri="{FF2B5EF4-FFF2-40B4-BE49-F238E27FC236}">
                    <a16:creationId xmlns:a16="http://schemas.microsoft.com/office/drawing/2014/main" id="{24C50D10-136A-C13B-7860-B3159558891F}"/>
                  </a:ext>
                </a:extLst>
              </p:cNvPr>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33" name="그룹 186">
                <a:extLst>
                  <a:ext uri="{FF2B5EF4-FFF2-40B4-BE49-F238E27FC236}">
                    <a16:creationId xmlns:a16="http://schemas.microsoft.com/office/drawing/2014/main" id="{7F155D93-9560-DFB2-BBD9-BAED35A39F72}"/>
                  </a:ext>
                </a:extLst>
              </p:cNvPr>
              <p:cNvGrpSpPr/>
              <p:nvPr/>
            </p:nvGrpSpPr>
            <p:grpSpPr>
              <a:xfrm>
                <a:off x="454440" y="1688440"/>
                <a:ext cx="106516" cy="76455"/>
                <a:chOff x="3366478" y="5412581"/>
                <a:chExt cx="126078" cy="89916"/>
              </a:xfrm>
              <a:solidFill>
                <a:schemeClr val="bg1"/>
              </a:solidFill>
            </p:grpSpPr>
            <p:sp>
              <p:nvSpPr>
                <p:cNvPr id="34" name="모서리가 둥근 직사각형 33">
                  <a:extLst>
                    <a:ext uri="{FF2B5EF4-FFF2-40B4-BE49-F238E27FC236}">
                      <a16:creationId xmlns:a16="http://schemas.microsoft.com/office/drawing/2014/main" id="{CAE7FADE-62C4-5B41-9772-EEDDAB1BD5C2}"/>
                    </a:ext>
                  </a:extLst>
                </p:cNvPr>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35" name="모서리가 둥근 직사각형 34">
                  <a:extLst>
                    <a:ext uri="{FF2B5EF4-FFF2-40B4-BE49-F238E27FC236}">
                      <a16:creationId xmlns:a16="http://schemas.microsoft.com/office/drawing/2014/main" id="{8D39F778-6FBA-9465-6FDC-3682D55B9DFB}"/>
                    </a:ext>
                  </a:extLst>
                </p:cNvPr>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sp>
        <p:nvSpPr>
          <p:cNvPr id="36" name="직사각형 25">
            <a:extLst>
              <a:ext uri="{FF2B5EF4-FFF2-40B4-BE49-F238E27FC236}">
                <a16:creationId xmlns:a16="http://schemas.microsoft.com/office/drawing/2014/main" id="{3F2A1EA1-CAA6-5D90-657A-21DA48D04A7D}"/>
              </a:ext>
            </a:extLst>
          </p:cNvPr>
          <p:cNvSpPr/>
          <p:nvPr/>
        </p:nvSpPr>
        <p:spPr>
          <a:xfrm>
            <a:off x="650245" y="2900214"/>
            <a:ext cx="5344932" cy="1261884"/>
          </a:xfrm>
          <a:prstGeom prst="rect">
            <a:avLst/>
          </a:prstGeom>
        </p:spPr>
        <p:txBody>
          <a:bodyPr wrap="square">
            <a:spAutoFit/>
          </a:bodyPr>
          <a:lstStyle/>
          <a:p>
            <a:pPr marL="144000" indent="-144000" defTabSz="1038977" latinLnBrk="0">
              <a:spcAft>
                <a:spcPts val="800"/>
              </a:spcAft>
              <a:buFont typeface="Arial" panose="020B0604020202020204" pitchFamily="34" charset="0"/>
              <a:buChar char="•"/>
            </a:pPr>
            <a:r>
              <a:rPr lang="en-US" altLang="ko-KR" sz="1400" dirty="0">
                <a:latin typeface="나눔스퀘어" panose="020B0600000101010101" pitchFamily="50" charset="-127"/>
                <a:ea typeface="나눔스퀘어" panose="020B0600000101010101" pitchFamily="50" charset="-127"/>
              </a:rPr>
              <a:t>Bunker prices at 20 major hubs surged after the Iran </a:t>
            </a:r>
            <a:r>
              <a:rPr lang="en-US" altLang="ko-KR" sz="1400" dirty="0" smtClean="0">
                <a:latin typeface="나눔스퀘어" panose="020B0600000101010101" pitchFamily="50" charset="-127"/>
                <a:ea typeface="나눔스퀘어" panose="020B0600000101010101" pitchFamily="50" charset="-127"/>
              </a:rPr>
              <a:t>conflict</a:t>
            </a: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 </a:t>
            </a:r>
            <a:r>
              <a:rPr lang="sv-SE" altLang="ko-KR" sz="1400" spc="-50" dirty="0">
                <a:latin typeface="나눔스퀘어" panose="020B0600000101010101" pitchFamily="50" charset="-127"/>
                <a:ea typeface="나눔스퀘어" panose="020B0600000101010101" pitchFamily="50" charset="-127"/>
              </a:rPr>
              <a:t>536 $/mt ('25 avg.) → 875 $/mt ('26 Mar–Jun avg.), up 63</a:t>
            </a:r>
            <a:r>
              <a:rPr lang="sv-SE" altLang="ko-KR" sz="1400" spc="-50" dirty="0" smtClean="0">
                <a:latin typeface="나눔스퀘어" panose="020B0600000101010101" pitchFamily="50" charset="-127"/>
                <a:ea typeface="나눔스퀘어" panose="020B0600000101010101" pitchFamily="50" charset="-127"/>
              </a:rPr>
              <a:t>%</a:t>
            </a:r>
          </a:p>
          <a:p>
            <a:pPr marL="144000" indent="-144000" defTabSz="1038977" latinLnBrk="0">
              <a:spcAft>
                <a:spcPts val="800"/>
              </a:spcAft>
              <a:buFont typeface="Arial" panose="020B0604020202020204" pitchFamily="34" charset="0"/>
              <a:buChar char="•"/>
            </a:pPr>
            <a:r>
              <a:rPr lang="en-US" altLang="ko-KR" sz="1400" dirty="0">
                <a:latin typeface="나눔스퀘어" panose="020B0600000101010101" pitchFamily="50" charset="-127"/>
                <a:ea typeface="나눔스퀘어" panose="020B0600000101010101" pitchFamily="50" charset="-127"/>
              </a:rPr>
              <a:t>Higher bunker prices lifted SCFI across all trade </a:t>
            </a:r>
            <a:r>
              <a:rPr lang="en-US" altLang="ko-KR" sz="1400" dirty="0" smtClean="0">
                <a:latin typeface="나눔스퀘어" panose="020B0600000101010101" pitchFamily="50" charset="-127"/>
                <a:ea typeface="나눔스퀘어" panose="020B0600000101010101" pitchFamily="50" charset="-127"/>
              </a:rPr>
              <a:t>lanes</a:t>
            </a:r>
            <a:endParaRPr lang="en-US" altLang="ko-KR" sz="1400" dirty="0">
              <a:latin typeface="나눔스퀘어" panose="020B0600000101010101" pitchFamily="50" charset="-127"/>
              <a:ea typeface="나눔스퀘어" panose="020B0600000101010101" pitchFamily="50" charset="-127"/>
            </a:endParaRP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 </a:t>
            </a:r>
            <a:r>
              <a:rPr lang="sv-SE" altLang="ko-KR" sz="1400" dirty="0">
                <a:latin typeface="나눔스퀘어" panose="020B0600000101010101" pitchFamily="50" charset="-127"/>
                <a:ea typeface="나눔스퀘어" panose="020B0600000101010101" pitchFamily="50" charset="-127"/>
              </a:rPr>
              <a:t>1,581 ('25 avg.) → 1,957 ('26 Mar–Jun avg.), up 24%</a:t>
            </a:r>
            <a:endParaRPr lang="en-US" altLang="ko-KR" sz="1400" spc="-30" dirty="0" smtClean="0">
              <a:latin typeface="나눔스퀘어" panose="020B0600000101010101" pitchFamily="50" charset="-127"/>
              <a:ea typeface="나눔스퀘어" panose="020B0600000101010101" pitchFamily="50" charset="-127"/>
            </a:endParaRPr>
          </a:p>
        </p:txBody>
      </p:sp>
      <p:sp>
        <p:nvSpPr>
          <p:cNvPr id="37" name="직사각형 25">
            <a:extLst>
              <a:ext uri="{FF2B5EF4-FFF2-40B4-BE49-F238E27FC236}">
                <a16:creationId xmlns:a16="http://schemas.microsoft.com/office/drawing/2014/main" id="{3F2A1EA1-CAA6-5D90-657A-21DA48D04A7D}"/>
              </a:ext>
            </a:extLst>
          </p:cNvPr>
          <p:cNvSpPr/>
          <p:nvPr/>
        </p:nvSpPr>
        <p:spPr>
          <a:xfrm>
            <a:off x="6395854" y="2900214"/>
            <a:ext cx="5796146" cy="1897955"/>
          </a:xfrm>
          <a:prstGeom prst="rect">
            <a:avLst/>
          </a:prstGeom>
        </p:spPr>
        <p:txBody>
          <a:bodyPr wrap="square">
            <a:spAutoFit/>
          </a:bodyPr>
          <a:lstStyle/>
          <a:p>
            <a:pPr marL="144000" indent="-144000" defTabSz="1038977" latinLnBrk="0">
              <a:spcAft>
                <a:spcPts val="800"/>
              </a:spcAft>
              <a:buFont typeface="Arial" panose="020B0604020202020204" pitchFamily="34" charset="0"/>
              <a:buChar char="•"/>
            </a:pPr>
            <a:r>
              <a:rPr lang="en-US" altLang="ko-KR" sz="1400" dirty="0">
                <a:latin typeface="나눔스퀘어" panose="020B0600000101010101" pitchFamily="50" charset="-127"/>
                <a:ea typeface="나눔스퀘어" panose="020B0600000101010101" pitchFamily="50" charset="-127"/>
              </a:rPr>
              <a:t>Carriers imposed </a:t>
            </a:r>
            <a:r>
              <a:rPr lang="en-US" altLang="ko-KR" sz="1400" dirty="0" smtClean="0">
                <a:latin typeface="나눔스퀘어" panose="020B0600000101010101" pitchFamily="50" charset="-127"/>
                <a:ea typeface="나눔스퀘어" panose="020B0600000101010101" pitchFamily="50" charset="-127"/>
              </a:rPr>
              <a:t>emergency </a:t>
            </a:r>
            <a:r>
              <a:rPr lang="en-US" altLang="ko-KR" sz="1400" dirty="0">
                <a:latin typeface="나눔스퀘어" panose="020B0600000101010101" pitchFamily="50" charset="-127"/>
                <a:ea typeface="나눔스퀘어" panose="020B0600000101010101" pitchFamily="50" charset="-127"/>
              </a:rPr>
              <a:t>fuel surcharges after the </a:t>
            </a:r>
            <a:r>
              <a:rPr lang="en-US" altLang="ko-KR" sz="1400" dirty="0" smtClean="0">
                <a:latin typeface="나눔스퀘어" panose="020B0600000101010101" pitchFamily="50" charset="-127"/>
                <a:ea typeface="나눔스퀘어" panose="020B0600000101010101" pitchFamily="50" charset="-127"/>
              </a:rPr>
              <a:t>conflict</a:t>
            </a: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 </a:t>
            </a:r>
            <a:r>
              <a:rPr lang="en-US" altLang="ko-KR" sz="1400" dirty="0">
                <a:latin typeface="나눔스퀘어" panose="020B0600000101010101" pitchFamily="50" charset="-127"/>
                <a:ea typeface="나눔스퀘어" panose="020B0600000101010101" pitchFamily="50" charset="-127"/>
              </a:rPr>
              <a:t>Fuel surcharges are typically adjusted on a quarterly </a:t>
            </a:r>
            <a:r>
              <a:rPr lang="en-US" altLang="ko-KR" sz="1400" dirty="0" smtClean="0">
                <a:latin typeface="나눔스퀘어" panose="020B0600000101010101" pitchFamily="50" charset="-127"/>
                <a:ea typeface="나눔스퀘어" panose="020B0600000101010101" pitchFamily="50" charset="-127"/>
              </a:rPr>
              <a:t>basis</a:t>
            </a: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 </a:t>
            </a:r>
            <a:r>
              <a:rPr lang="en-US" altLang="ko-KR" sz="1400" spc="-100" dirty="0">
                <a:latin typeface="나눔스퀘어" panose="020B0600000101010101" pitchFamily="50" charset="-127"/>
                <a:ea typeface="나눔스퀘어" panose="020B0600000101010101" pitchFamily="50" charset="-127"/>
              </a:rPr>
              <a:t>Carriers passed higher fuel costs through emergency surcharges in </a:t>
            </a:r>
            <a:r>
              <a:rPr lang="en-US" altLang="ko-KR" sz="1400" spc="-100" dirty="0" smtClean="0">
                <a:latin typeface="나눔스퀘어" panose="020B0600000101010101" pitchFamily="50" charset="-127"/>
                <a:ea typeface="나눔스퀘어" panose="020B0600000101010101" pitchFamily="50" charset="-127"/>
              </a:rPr>
              <a:t>2Q26</a:t>
            </a:r>
          </a:p>
          <a:p>
            <a:pPr marL="144000" indent="-144000" defTabSz="1038977" latinLnBrk="0">
              <a:spcAft>
                <a:spcPts val="800"/>
              </a:spcAft>
              <a:buFont typeface="Arial" panose="020B0604020202020204" pitchFamily="34" charset="0"/>
              <a:buChar char="•"/>
            </a:pPr>
            <a:r>
              <a:rPr lang="en-US" altLang="ko-KR" sz="1400" spc="-50" dirty="0">
                <a:latin typeface="나눔스퀘어" panose="020B0600000101010101" pitchFamily="50" charset="-127"/>
                <a:ea typeface="나눔스퀘어" panose="020B0600000101010101" pitchFamily="50" charset="-127"/>
              </a:rPr>
              <a:t>Higher 3Q fuel surcharges may add upward pressure on freight </a:t>
            </a:r>
            <a:r>
              <a:rPr lang="en-US" altLang="ko-KR" sz="1400" spc="-50" dirty="0" smtClean="0">
                <a:latin typeface="나눔스퀘어" panose="020B0600000101010101" pitchFamily="50" charset="-127"/>
                <a:ea typeface="나눔스퀘어" panose="020B0600000101010101" pitchFamily="50" charset="-127"/>
              </a:rPr>
              <a:t>rates</a:t>
            </a: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 </a:t>
            </a:r>
            <a:r>
              <a:rPr lang="en-US" altLang="ko-KR" sz="1400" dirty="0">
                <a:latin typeface="나눔스퀘어" panose="020B0600000101010101" pitchFamily="50" charset="-127"/>
                <a:ea typeface="나눔스퀘어" panose="020B0600000101010101" pitchFamily="50" charset="-127"/>
              </a:rPr>
              <a:t>Maersk raised fuel surcharges by 36–47% on major Asia </a:t>
            </a:r>
            <a:r>
              <a:rPr lang="en-US" altLang="ko-KR" sz="1400" dirty="0" smtClean="0">
                <a:latin typeface="나눔스퀘어" panose="020B0600000101010101" pitchFamily="50" charset="-127"/>
                <a:ea typeface="나눔스퀘어" panose="020B0600000101010101" pitchFamily="50" charset="-127"/>
              </a:rPr>
              <a:t>routes</a:t>
            </a: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 </a:t>
            </a:r>
            <a:r>
              <a:rPr lang="en-US" altLang="ko-KR" sz="1400" dirty="0">
                <a:latin typeface="나눔스퀘어" panose="020B0600000101010101" pitchFamily="50" charset="-127"/>
                <a:ea typeface="나눔스퀘어" panose="020B0600000101010101" pitchFamily="50" charset="-127"/>
              </a:rPr>
              <a:t>Higher surcharges may accelerate </a:t>
            </a:r>
            <a:r>
              <a:rPr lang="en-US" altLang="ko-KR" sz="1400" dirty="0" smtClean="0">
                <a:latin typeface="나눔스퀘어" panose="020B0600000101010101" pitchFamily="50" charset="-127"/>
                <a:ea typeface="나눔스퀘어" panose="020B0600000101010101" pitchFamily="50" charset="-127"/>
              </a:rPr>
              <a:t>front-loading</a:t>
            </a:r>
          </a:p>
        </p:txBody>
      </p:sp>
      <p:sp>
        <p:nvSpPr>
          <p:cNvPr id="38" name="TextBox 37">
            <a:extLst>
              <a:ext uri="{FF2B5EF4-FFF2-40B4-BE49-F238E27FC236}">
                <a16:creationId xmlns:a16="http://schemas.microsoft.com/office/drawing/2014/main" id="{F419EC2A-DA12-DE70-177E-D060836EC73B}"/>
              </a:ext>
            </a:extLst>
          </p:cNvPr>
          <p:cNvSpPr txBox="1"/>
          <p:nvPr/>
        </p:nvSpPr>
        <p:spPr>
          <a:xfrm>
            <a:off x="525890" y="6506819"/>
            <a:ext cx="2521524" cy="153888"/>
          </a:xfrm>
          <a:prstGeom prst="rect">
            <a:avLst/>
          </a:prstGeom>
          <a:noFill/>
        </p:spPr>
        <p:txBody>
          <a:bodyPr wrap="none" lIns="0" tIns="0" rIns="0" bIns="0" rtlCol="0" anchor="ctr">
            <a:spAutoFit/>
          </a:bodyPr>
          <a:lstStyle/>
          <a:p>
            <a:pPr latinLnBrk="0"/>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Source</a:t>
            </a:r>
            <a:r>
              <a:rPr lang="ko-KR" altLang="en-US"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smtClean="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EIA / Ship &amp; Bunker / SSE / Maersk</a:t>
            </a:r>
            <a:endPar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endParaRPr>
          </a:p>
        </p:txBody>
      </p:sp>
      <p:graphicFrame>
        <p:nvGraphicFramePr>
          <p:cNvPr id="5" name="표 4"/>
          <p:cNvGraphicFramePr>
            <a:graphicFrameLocks noGrp="1"/>
          </p:cNvGraphicFramePr>
          <p:nvPr>
            <p:extLst>
              <p:ext uri="{D42A27DB-BD31-4B8C-83A1-F6EECF244321}">
                <p14:modId xmlns:p14="http://schemas.microsoft.com/office/powerpoint/2010/main" val="2883662625"/>
              </p:ext>
            </p:extLst>
          </p:nvPr>
        </p:nvGraphicFramePr>
        <p:xfrm>
          <a:off x="6288014" y="5069030"/>
          <a:ext cx="5402106" cy="1473228"/>
        </p:xfrm>
        <a:graphic>
          <a:graphicData uri="http://schemas.openxmlformats.org/drawingml/2006/table">
            <a:tbl>
              <a:tblPr>
                <a:tableStyleId>{5940675A-B579-460E-94D1-54222C63F5DA}</a:tableStyleId>
              </a:tblPr>
              <a:tblGrid>
                <a:gridCol w="519186">
                  <a:extLst>
                    <a:ext uri="{9D8B030D-6E8A-4147-A177-3AD203B41FA5}">
                      <a16:colId xmlns:a16="http://schemas.microsoft.com/office/drawing/2014/main" val="2606638105"/>
                    </a:ext>
                  </a:extLst>
                </a:gridCol>
                <a:gridCol w="406910">
                  <a:extLst>
                    <a:ext uri="{9D8B030D-6E8A-4147-A177-3AD203B41FA5}">
                      <a16:colId xmlns:a16="http://schemas.microsoft.com/office/drawing/2014/main" val="3161690573"/>
                    </a:ext>
                  </a:extLst>
                </a:gridCol>
                <a:gridCol w="406910">
                  <a:extLst>
                    <a:ext uri="{9D8B030D-6E8A-4147-A177-3AD203B41FA5}">
                      <a16:colId xmlns:a16="http://schemas.microsoft.com/office/drawing/2014/main" val="644219058"/>
                    </a:ext>
                  </a:extLst>
                </a:gridCol>
                <a:gridCol w="406910">
                  <a:extLst>
                    <a:ext uri="{9D8B030D-6E8A-4147-A177-3AD203B41FA5}">
                      <a16:colId xmlns:a16="http://schemas.microsoft.com/office/drawing/2014/main" val="65136641"/>
                    </a:ext>
                  </a:extLst>
                </a:gridCol>
                <a:gridCol w="406910">
                  <a:extLst>
                    <a:ext uri="{9D8B030D-6E8A-4147-A177-3AD203B41FA5}">
                      <a16:colId xmlns:a16="http://schemas.microsoft.com/office/drawing/2014/main" val="2164030466"/>
                    </a:ext>
                  </a:extLst>
                </a:gridCol>
                <a:gridCol w="406910">
                  <a:extLst>
                    <a:ext uri="{9D8B030D-6E8A-4147-A177-3AD203B41FA5}">
                      <a16:colId xmlns:a16="http://schemas.microsoft.com/office/drawing/2014/main" val="3180567574"/>
                    </a:ext>
                  </a:extLst>
                </a:gridCol>
                <a:gridCol w="406910">
                  <a:extLst>
                    <a:ext uri="{9D8B030D-6E8A-4147-A177-3AD203B41FA5}">
                      <a16:colId xmlns:a16="http://schemas.microsoft.com/office/drawing/2014/main" val="1873617259"/>
                    </a:ext>
                  </a:extLst>
                </a:gridCol>
                <a:gridCol w="406910">
                  <a:extLst>
                    <a:ext uri="{9D8B030D-6E8A-4147-A177-3AD203B41FA5}">
                      <a16:colId xmlns:a16="http://schemas.microsoft.com/office/drawing/2014/main" val="1163446919"/>
                    </a:ext>
                  </a:extLst>
                </a:gridCol>
                <a:gridCol w="406910">
                  <a:extLst>
                    <a:ext uri="{9D8B030D-6E8A-4147-A177-3AD203B41FA5}">
                      <a16:colId xmlns:a16="http://schemas.microsoft.com/office/drawing/2014/main" val="3873819116"/>
                    </a:ext>
                  </a:extLst>
                </a:gridCol>
                <a:gridCol w="406910">
                  <a:extLst>
                    <a:ext uri="{9D8B030D-6E8A-4147-A177-3AD203B41FA5}">
                      <a16:colId xmlns:a16="http://schemas.microsoft.com/office/drawing/2014/main" val="520515724"/>
                    </a:ext>
                  </a:extLst>
                </a:gridCol>
                <a:gridCol w="406910">
                  <a:extLst>
                    <a:ext uri="{9D8B030D-6E8A-4147-A177-3AD203B41FA5}">
                      <a16:colId xmlns:a16="http://schemas.microsoft.com/office/drawing/2014/main" val="3050719510"/>
                    </a:ext>
                  </a:extLst>
                </a:gridCol>
                <a:gridCol w="406910">
                  <a:extLst>
                    <a:ext uri="{9D8B030D-6E8A-4147-A177-3AD203B41FA5}">
                      <a16:colId xmlns:a16="http://schemas.microsoft.com/office/drawing/2014/main" val="3620587425"/>
                    </a:ext>
                  </a:extLst>
                </a:gridCol>
                <a:gridCol w="406910">
                  <a:extLst>
                    <a:ext uri="{9D8B030D-6E8A-4147-A177-3AD203B41FA5}">
                      <a16:colId xmlns:a16="http://schemas.microsoft.com/office/drawing/2014/main" val="2308834669"/>
                    </a:ext>
                  </a:extLst>
                </a:gridCol>
              </a:tblGrid>
              <a:tr h="199550">
                <a:tc rowSpan="3">
                  <a:txBody>
                    <a:bodyPr/>
                    <a:lstStyle/>
                    <a:p>
                      <a:pPr algn="ctr" fontAlgn="ctr"/>
                      <a:r>
                        <a:rPr lang="en-US" altLang="ko-KR" sz="1100" b="1" u="none" strike="noStrike" dirty="0" smtClean="0">
                          <a:effectLst/>
                          <a:latin typeface="나눔스퀘어" panose="020B0600000101010101" pitchFamily="50" charset="-127"/>
                          <a:ea typeface="나눔스퀘어" panose="020B0600000101010101" pitchFamily="50" charset="-127"/>
                        </a:rPr>
                        <a:t>Period</a:t>
                      </a: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gridSpan="4">
                  <a:txBody>
                    <a:bodyPr/>
                    <a:lstStyle/>
                    <a:p>
                      <a:pPr algn="ctr" fontAlgn="ctr"/>
                      <a:r>
                        <a:rPr lang="ko-KR" altLang="en-US" sz="1100" b="1" u="none" strike="noStrike" dirty="0" smtClean="0">
                          <a:effectLst/>
                          <a:latin typeface="나눔스퀘어" panose="020B0600000101010101" pitchFamily="50" charset="-127"/>
                          <a:ea typeface="나눔스퀘어" panose="020B0600000101010101" pitchFamily="50" charset="-127"/>
                        </a:rPr>
                        <a:t>① </a:t>
                      </a:r>
                      <a:r>
                        <a:rPr lang="en-US" altLang="ko-KR" sz="1100" b="1" u="none" strike="noStrike" baseline="0" dirty="0" smtClean="0">
                          <a:effectLst/>
                          <a:latin typeface="나눔스퀘어" panose="020B0600000101010101" pitchFamily="50" charset="-127"/>
                          <a:ea typeface="나눔스퀘어" panose="020B0600000101010101" pitchFamily="50" charset="-127"/>
                        </a:rPr>
                        <a:t>Far East</a:t>
                      </a:r>
                      <a:r>
                        <a:rPr lang="en-US" altLang="ko-KR" sz="1100" b="1" u="none" strike="noStrike" dirty="0" smtClean="0">
                          <a:effectLst/>
                          <a:latin typeface="나눔스퀘어" panose="020B0600000101010101" pitchFamily="50" charset="-127"/>
                          <a:ea typeface="나눔스퀘어" panose="020B0600000101010101" pitchFamily="50" charset="-127"/>
                        </a:rPr>
                        <a:t>-Europe</a:t>
                      </a:r>
                      <a:endParaRPr lang="ko-KR" alt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gridSpan="4">
                  <a:txBody>
                    <a:bodyPr/>
                    <a:lstStyle/>
                    <a:p>
                      <a:pPr algn="ctr" fontAlgn="ctr"/>
                      <a:r>
                        <a:rPr lang="ko-KR" altLang="en-US" sz="1100" b="1" u="none" strike="noStrike" dirty="0" smtClean="0">
                          <a:effectLst/>
                          <a:latin typeface="나눔스퀘어" panose="020B0600000101010101" pitchFamily="50" charset="-127"/>
                          <a:ea typeface="나눔스퀘어" panose="020B0600000101010101" pitchFamily="50" charset="-127"/>
                        </a:rPr>
                        <a:t>② </a:t>
                      </a:r>
                      <a:r>
                        <a:rPr lang="en-US" altLang="ko-KR" sz="1100" b="1" u="none" strike="noStrike" baseline="0" dirty="0" smtClean="0">
                          <a:effectLst/>
                          <a:latin typeface="나눔스퀘어" panose="020B0600000101010101" pitchFamily="50" charset="-127"/>
                          <a:ea typeface="나눔스퀘어" panose="020B0600000101010101" pitchFamily="50" charset="-127"/>
                        </a:rPr>
                        <a:t>Far East</a:t>
                      </a:r>
                      <a:r>
                        <a:rPr lang="en-US" altLang="ko-KR" sz="1100" b="1" u="none" strike="noStrike" dirty="0" smtClean="0">
                          <a:effectLst/>
                          <a:latin typeface="나눔스퀘어" panose="020B0600000101010101" pitchFamily="50" charset="-127"/>
                          <a:ea typeface="나눔스퀘어" panose="020B0600000101010101" pitchFamily="50" charset="-127"/>
                        </a:rPr>
                        <a:t>-USWC</a:t>
                      </a:r>
                      <a:endParaRPr lang="ko-KR" alt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gridSpan="4">
                  <a:txBody>
                    <a:bodyPr/>
                    <a:lstStyle/>
                    <a:p>
                      <a:pPr algn="ctr" rtl="0" fontAlgn="ctr"/>
                      <a:r>
                        <a:rPr lang="ko-KR" altLang="en-US" sz="1100" b="1" u="none" strike="noStrike" dirty="0" smtClean="0">
                          <a:effectLst/>
                          <a:latin typeface="나눔스퀘어" panose="020B0600000101010101" pitchFamily="50" charset="-127"/>
                          <a:ea typeface="나눔스퀘어" panose="020B0600000101010101" pitchFamily="50" charset="-127"/>
                        </a:rPr>
                        <a:t>③ </a:t>
                      </a:r>
                      <a:r>
                        <a:rPr lang="en-US" altLang="ko-KR" sz="1100" b="1" u="none" strike="noStrike" baseline="0" dirty="0" smtClean="0">
                          <a:effectLst/>
                          <a:latin typeface="나눔스퀘어" panose="020B0600000101010101" pitchFamily="50" charset="-127"/>
                          <a:ea typeface="나눔스퀘어" panose="020B0600000101010101" pitchFamily="50" charset="-127"/>
                        </a:rPr>
                        <a:t>Far East-USEC</a:t>
                      </a:r>
                      <a:endParaRPr lang="ko-KR" alt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hMerge="1">
                  <a:txBody>
                    <a:bodyPr/>
                    <a:lstStyle/>
                    <a:p>
                      <a:pPr latinLnBrk="1"/>
                      <a:endParaRPr lang="ko-KR" altLang="en-US" dirty="0"/>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808443185"/>
                  </a:ext>
                </a:extLst>
              </a:tr>
              <a:tr h="204018">
                <a:tc vMerge="1">
                  <a:txBody>
                    <a:bodyPr/>
                    <a:lstStyle/>
                    <a:p>
                      <a:pPr latinLnBrk="1"/>
                      <a:endParaRPr lang="ko-KR" altLang="en-US"/>
                    </a:p>
                  </a:txBody>
                  <a:tcPr/>
                </a:tc>
                <a:tc gridSpan="3">
                  <a:txBody>
                    <a:bodyPr/>
                    <a:lstStyle/>
                    <a:p>
                      <a:pPr algn="ctr" rtl="0" fontAlgn="ctr"/>
                      <a:r>
                        <a:rPr lang="en-US" altLang="ko-KR" sz="1100" b="1" u="none" strike="noStrike" dirty="0" smtClean="0">
                          <a:effectLst/>
                          <a:latin typeface="나눔스퀘어" panose="020B0600000101010101" pitchFamily="50" charset="-127"/>
                          <a:ea typeface="나눔스퀘어" panose="020B0600000101010101" pitchFamily="50" charset="-127"/>
                        </a:rPr>
                        <a:t>Fuel Surcharge</a:t>
                      </a:r>
                      <a:endParaRPr lang="ko-KR" alt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lumMod val="95000"/>
                      </a:schemeClr>
                    </a:solidFill>
                  </a:tcPr>
                </a:tc>
                <a:tc hMerge="1">
                  <a:txBody>
                    <a:bodyPr/>
                    <a:lstStyle/>
                    <a:p>
                      <a:pPr algn="ctr" fontAlgn="ct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7620" marR="7620" marT="762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hMerge="1">
                  <a:txBody>
                    <a:bodyPr/>
                    <a:lstStyle/>
                    <a:p>
                      <a:pPr algn="ctr" fontAlgn="ct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7620" marR="7620" marT="762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rowSpan="2">
                  <a:txBody>
                    <a:bodyPr/>
                    <a:lstStyle/>
                    <a:p>
                      <a:pPr algn="ctr" fontAlgn="ctr"/>
                      <a:r>
                        <a:rPr lang="en-US" sz="1100" b="1" u="none" strike="noStrike" dirty="0">
                          <a:effectLst/>
                          <a:latin typeface="나눔스퀘어" panose="020B0600000101010101" pitchFamily="50" charset="-127"/>
                          <a:ea typeface="나눔스퀘어" panose="020B0600000101010101" pitchFamily="50" charset="-127"/>
                        </a:rPr>
                        <a:t>%</a:t>
                      </a:r>
                      <a:r>
                        <a:rPr lang="en-US" sz="1100" b="1" u="none" strike="noStrike" dirty="0" err="1">
                          <a:effectLst/>
                          <a:latin typeface="나눔스퀘어" panose="020B0600000101010101" pitchFamily="50" charset="-127"/>
                          <a:ea typeface="나눔스퀘어" panose="020B0600000101010101" pitchFamily="50" charset="-127"/>
                        </a:rPr>
                        <a:t>QoQ</a:t>
                      </a: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gridSpan="3">
                  <a:txBody>
                    <a:bodyPr/>
                    <a:lstStyle/>
                    <a:p>
                      <a:pPr algn="ctr" rtl="0" fontAlgn="ctr"/>
                      <a:r>
                        <a:rPr lang="en-US" altLang="ko-KR" sz="1100" b="1" u="none" strike="noStrike" dirty="0" smtClean="0">
                          <a:effectLst/>
                          <a:latin typeface="나눔스퀘어" panose="020B0600000101010101" pitchFamily="50" charset="-127"/>
                          <a:ea typeface="나눔스퀘어" panose="020B0600000101010101" pitchFamily="50" charset="-127"/>
                        </a:rPr>
                        <a:t>Fuel Surcharge</a:t>
                      </a:r>
                      <a:endParaRPr lang="ko-KR" alt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lumMod val="95000"/>
                      </a:schemeClr>
                    </a:solidFill>
                  </a:tcPr>
                </a:tc>
                <a:tc hMerge="1">
                  <a:txBody>
                    <a:bodyPr/>
                    <a:lstStyle/>
                    <a:p>
                      <a:pPr algn="ctr" fontAlgn="ct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7620" marR="7620" marT="762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hMerge="1">
                  <a:txBody>
                    <a:bodyPr/>
                    <a:lstStyle/>
                    <a:p>
                      <a:pPr algn="ctr" fontAlgn="ct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7620" marR="7620" marT="762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rowSpan="2">
                  <a:txBody>
                    <a:bodyPr/>
                    <a:lstStyle/>
                    <a:p>
                      <a:pPr algn="ctr" fontAlgn="ctr"/>
                      <a:r>
                        <a:rPr lang="en-US" sz="1100" b="1" u="none" strike="noStrike" dirty="0">
                          <a:effectLst/>
                          <a:latin typeface="나눔스퀘어" panose="020B0600000101010101" pitchFamily="50" charset="-127"/>
                          <a:ea typeface="나눔스퀘어" panose="020B0600000101010101" pitchFamily="50" charset="-127"/>
                        </a:rPr>
                        <a:t>%</a:t>
                      </a:r>
                      <a:r>
                        <a:rPr lang="en-US" sz="1100" b="1" u="none" strike="noStrike" dirty="0" err="1">
                          <a:effectLst/>
                          <a:latin typeface="나눔스퀘어" panose="020B0600000101010101" pitchFamily="50" charset="-127"/>
                          <a:ea typeface="나눔스퀘어" panose="020B0600000101010101" pitchFamily="50" charset="-127"/>
                        </a:rPr>
                        <a:t>QoQ</a:t>
                      </a: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gridSpan="3">
                  <a:txBody>
                    <a:bodyPr/>
                    <a:lstStyle/>
                    <a:p>
                      <a:pPr algn="ctr" rtl="0" fontAlgn="ctr"/>
                      <a:r>
                        <a:rPr lang="en-US" altLang="ko-KR" sz="1100" b="1" u="none" strike="noStrike" dirty="0" smtClean="0">
                          <a:effectLst/>
                          <a:latin typeface="나눔스퀘어" panose="020B0600000101010101" pitchFamily="50" charset="-127"/>
                          <a:ea typeface="나눔스퀘어" panose="020B0600000101010101" pitchFamily="50" charset="-127"/>
                        </a:rPr>
                        <a:t>Fuel Surcharge</a:t>
                      </a:r>
                      <a:endParaRPr lang="ko-KR" alt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lumMod val="95000"/>
                      </a:schemeClr>
                    </a:solidFill>
                  </a:tcPr>
                </a:tc>
                <a:tc hMerge="1">
                  <a:txBody>
                    <a:bodyPr/>
                    <a:lstStyle/>
                    <a:p>
                      <a:pPr algn="ctr" fontAlgn="ct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7620" marR="7620" marT="762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hMerge="1">
                  <a:txBody>
                    <a:bodyPr/>
                    <a:lstStyle/>
                    <a:p>
                      <a:pPr algn="ctr" fontAlgn="ct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7620" marR="7620" marT="762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rowSpan="2">
                  <a:txBody>
                    <a:bodyPr/>
                    <a:lstStyle/>
                    <a:p>
                      <a:pPr algn="ctr" fontAlgn="ctr"/>
                      <a:r>
                        <a:rPr lang="en-US" sz="1100" b="1" u="none" strike="noStrike" dirty="0">
                          <a:effectLst/>
                          <a:latin typeface="나눔스퀘어" panose="020B0600000101010101" pitchFamily="50" charset="-127"/>
                          <a:ea typeface="나눔스퀘어" panose="020B0600000101010101" pitchFamily="50" charset="-127"/>
                        </a:rPr>
                        <a:t>%</a:t>
                      </a:r>
                      <a:r>
                        <a:rPr lang="en-US" sz="1100" b="1" u="none" strike="noStrike" dirty="0" err="1">
                          <a:effectLst/>
                          <a:latin typeface="나눔스퀘어" panose="020B0600000101010101" pitchFamily="50" charset="-127"/>
                          <a:ea typeface="나눔스퀘어" panose="020B0600000101010101" pitchFamily="50" charset="-127"/>
                        </a:rPr>
                        <a:t>QoQ</a:t>
                      </a: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16149897"/>
                  </a:ext>
                </a:extLst>
              </a:tr>
              <a:tr h="199550">
                <a:tc vMerge="1">
                  <a:txBody>
                    <a:bodyPr/>
                    <a:lstStyle/>
                    <a:p>
                      <a:pPr latinLnBrk="1"/>
                      <a:endParaRPr lang="ko-KR" altLang="en-US"/>
                    </a:p>
                  </a:txBody>
                  <a:tcPr/>
                </a:tc>
                <a:tc>
                  <a:txBody>
                    <a:bodyPr/>
                    <a:lstStyle/>
                    <a:p>
                      <a:pPr algn="ctr" fontAlgn="ctr"/>
                      <a:r>
                        <a:rPr lang="en-US" sz="1100" b="1" i="0" u="none" strike="noStrike" dirty="0" smtClean="0">
                          <a:solidFill>
                            <a:srgbClr val="000000"/>
                          </a:solidFill>
                          <a:effectLst/>
                          <a:latin typeface="나눔스퀘어" panose="020B0600000101010101" pitchFamily="50" charset="-127"/>
                          <a:ea typeface="나눔스퀘어" panose="020B0600000101010101" pitchFamily="50" charset="-127"/>
                        </a:rPr>
                        <a:t>Total</a:t>
                      </a: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fontAlgn="ctr"/>
                      <a:r>
                        <a:rPr lang="en-US" sz="1100" b="1" i="0" u="none" strike="noStrike" dirty="0" smtClean="0">
                          <a:solidFill>
                            <a:srgbClr val="000000"/>
                          </a:solidFill>
                          <a:effectLst/>
                          <a:latin typeface="나눔스퀘어" panose="020B0600000101010101" pitchFamily="50" charset="-127"/>
                          <a:ea typeface="나눔스퀘어" panose="020B0600000101010101" pitchFamily="50" charset="-127"/>
                        </a:rPr>
                        <a:t>FFF</a:t>
                      </a: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fontAlgn="ctr"/>
                      <a:r>
                        <a:rPr lang="en-US" sz="1100" b="1" i="0" u="none" strike="noStrike" dirty="0" smtClean="0">
                          <a:solidFill>
                            <a:srgbClr val="000000"/>
                          </a:solidFill>
                          <a:effectLst/>
                          <a:latin typeface="나눔스퀘어" panose="020B0600000101010101" pitchFamily="50" charset="-127"/>
                          <a:ea typeface="나눔스퀘어" panose="020B0600000101010101" pitchFamily="50" charset="-127"/>
                        </a:rPr>
                        <a:t>EBS</a:t>
                      </a: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vMerge="1">
                  <a:txBody>
                    <a:bodyPr/>
                    <a:lstStyle/>
                    <a:p>
                      <a:pPr algn="ctr" fontAlgn="ct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7620" marR="7620" marT="762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fontAlgn="ctr"/>
                      <a:r>
                        <a:rPr lang="en-US" sz="1100" b="1" i="0" u="none" strike="noStrike" dirty="0" smtClean="0">
                          <a:solidFill>
                            <a:srgbClr val="000000"/>
                          </a:solidFill>
                          <a:effectLst/>
                          <a:latin typeface="나눔스퀘어" panose="020B0600000101010101" pitchFamily="50" charset="-127"/>
                          <a:ea typeface="나눔스퀘어" panose="020B0600000101010101" pitchFamily="50" charset="-127"/>
                        </a:rPr>
                        <a:t>Total</a:t>
                      </a: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fontAlgn="ctr"/>
                      <a:r>
                        <a:rPr lang="en-US" sz="1100" b="1" i="0" u="none" strike="noStrike" dirty="0" smtClean="0">
                          <a:solidFill>
                            <a:srgbClr val="000000"/>
                          </a:solidFill>
                          <a:effectLst/>
                          <a:latin typeface="나눔스퀘어" panose="020B0600000101010101" pitchFamily="50" charset="-127"/>
                          <a:ea typeface="나눔스퀘어" panose="020B0600000101010101" pitchFamily="50" charset="-127"/>
                        </a:rPr>
                        <a:t>FFF</a:t>
                      </a: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fontAlgn="ctr"/>
                      <a:r>
                        <a:rPr lang="en-US" sz="1100" b="1" i="0" u="none" strike="noStrike" dirty="0" smtClean="0">
                          <a:solidFill>
                            <a:srgbClr val="000000"/>
                          </a:solidFill>
                          <a:effectLst/>
                          <a:latin typeface="나눔스퀘어" panose="020B0600000101010101" pitchFamily="50" charset="-127"/>
                          <a:ea typeface="나눔스퀘어" panose="020B0600000101010101" pitchFamily="50" charset="-127"/>
                        </a:rPr>
                        <a:t>EBS</a:t>
                      </a: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vMerge="1">
                  <a:txBody>
                    <a:bodyPr/>
                    <a:lstStyle/>
                    <a:p>
                      <a:pPr algn="ctr" fontAlgn="ct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fontAlgn="ctr"/>
                      <a:r>
                        <a:rPr lang="en-US" sz="1100" b="1" i="0" u="none" strike="noStrike" dirty="0" smtClean="0">
                          <a:solidFill>
                            <a:srgbClr val="000000"/>
                          </a:solidFill>
                          <a:effectLst/>
                          <a:latin typeface="나눔스퀘어" panose="020B0600000101010101" pitchFamily="50" charset="-127"/>
                          <a:ea typeface="나눔스퀘어" panose="020B0600000101010101" pitchFamily="50" charset="-127"/>
                        </a:rPr>
                        <a:t>Total</a:t>
                      </a: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fontAlgn="ctr"/>
                      <a:r>
                        <a:rPr lang="en-US" sz="1100" b="1" i="0" u="none" strike="noStrike" dirty="0" smtClean="0">
                          <a:solidFill>
                            <a:srgbClr val="000000"/>
                          </a:solidFill>
                          <a:effectLst/>
                          <a:latin typeface="나눔스퀘어" panose="020B0600000101010101" pitchFamily="50" charset="-127"/>
                          <a:ea typeface="나눔스퀘어" panose="020B0600000101010101" pitchFamily="50" charset="-127"/>
                        </a:rPr>
                        <a:t>FFF</a:t>
                      </a: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fontAlgn="ctr"/>
                      <a:r>
                        <a:rPr lang="en-US" sz="1100" b="1" i="0" u="none" strike="noStrike" dirty="0" smtClean="0">
                          <a:solidFill>
                            <a:srgbClr val="000000"/>
                          </a:solidFill>
                          <a:effectLst/>
                          <a:latin typeface="나눔스퀘어" panose="020B0600000101010101" pitchFamily="50" charset="-127"/>
                          <a:ea typeface="나눔스퀘어" panose="020B0600000101010101" pitchFamily="50" charset="-127"/>
                        </a:rPr>
                        <a:t>EBS</a:t>
                      </a: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vMerge="1">
                  <a:txBody>
                    <a:bodyPr/>
                    <a:lstStyle/>
                    <a:p>
                      <a:pPr algn="ctr" fontAlgn="ct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7620" marR="7620" marT="762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91002280"/>
                  </a:ext>
                </a:extLst>
              </a:tr>
              <a:tr h="199550">
                <a:tc>
                  <a:txBody>
                    <a:bodyPr/>
                    <a:lstStyle/>
                    <a:p>
                      <a:pPr algn="ctr" fontAlgn="ctr"/>
                      <a:r>
                        <a:rPr lang="en-US" sz="1100" u="none" strike="noStrike" dirty="0" smtClean="0">
                          <a:effectLst/>
                          <a:latin typeface="나눔스퀘어" panose="020B0600000101010101" pitchFamily="50" charset="-127"/>
                          <a:ea typeface="나눔스퀘어" panose="020B0600000101010101" pitchFamily="50" charset="-127"/>
                        </a:rPr>
                        <a:t>'26.1Q</a:t>
                      </a:r>
                      <a:endParaRPr lang="en-US"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ctr"/>
                      <a:r>
                        <a:rPr lang="en-US" altLang="ko-KR" sz="1100" u="none" strike="noStrike" dirty="0">
                          <a:effectLst/>
                          <a:latin typeface="나눔스퀘어" panose="020B0600000101010101" pitchFamily="50" charset="-127"/>
                          <a:ea typeface="나눔스퀘어" panose="020B0600000101010101" pitchFamily="50" charset="-127"/>
                        </a:rPr>
                        <a:t>353</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ctr"/>
                      <a:r>
                        <a:rPr lang="en-US" altLang="ko-KR" sz="1100" b="0" i="0" u="none" strike="noStrike" dirty="0" smtClean="0">
                          <a:solidFill>
                            <a:srgbClr val="000000"/>
                          </a:solidFill>
                          <a:effectLst/>
                          <a:latin typeface="나눔스퀘어" panose="020B0600000101010101" pitchFamily="50" charset="-127"/>
                          <a:ea typeface="나눔스퀘어" panose="020B0600000101010101" pitchFamily="50" charset="-127"/>
                        </a:rPr>
                        <a:t>353</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ctr" fontAlgn="ctr"/>
                      <a:r>
                        <a:rPr lang="en-US" altLang="ko-KR" sz="1100" b="0" i="0" u="none" strike="noStrike" dirty="0" smtClean="0">
                          <a:solidFill>
                            <a:srgbClr val="000000"/>
                          </a:solidFill>
                          <a:effectLst/>
                          <a:latin typeface="나눔스퀘어" panose="020B0600000101010101" pitchFamily="50" charset="-127"/>
                          <a:ea typeface="나눔스퀘어" panose="020B0600000101010101" pitchFamily="50" charset="-127"/>
                        </a:rPr>
                        <a:t>-</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ctr"/>
                      <a:r>
                        <a:rPr lang="en-US" altLang="ko-KR" sz="1100" u="none" strike="noStrike" dirty="0">
                          <a:effectLst/>
                          <a:latin typeface="나눔스퀘어" panose="020B0600000101010101" pitchFamily="50" charset="-127"/>
                          <a:ea typeface="나눔스퀘어" panose="020B0600000101010101" pitchFamily="50" charset="-127"/>
                        </a:rPr>
                        <a:t>-6%</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ctr"/>
                      <a:r>
                        <a:rPr lang="en-US" altLang="ko-KR" sz="1100" u="none" strike="noStrike" dirty="0">
                          <a:effectLst/>
                          <a:latin typeface="나눔스퀘어" panose="020B0600000101010101" pitchFamily="50" charset="-127"/>
                          <a:ea typeface="나눔스퀘어" panose="020B0600000101010101" pitchFamily="50" charset="-127"/>
                        </a:rPr>
                        <a:t>359</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ctr"/>
                      <a:r>
                        <a:rPr lang="en-US" altLang="ko-KR" sz="1100" b="0" i="0" u="none" strike="noStrike" dirty="0" smtClean="0">
                          <a:solidFill>
                            <a:srgbClr val="000000"/>
                          </a:solidFill>
                          <a:effectLst/>
                          <a:latin typeface="나눔스퀘어" panose="020B0600000101010101" pitchFamily="50" charset="-127"/>
                          <a:ea typeface="나눔스퀘어" panose="020B0600000101010101" pitchFamily="50" charset="-127"/>
                        </a:rPr>
                        <a:t>359</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ctr" fontAlgn="ctr"/>
                      <a:r>
                        <a:rPr lang="en-US" altLang="ko-KR" sz="1100" b="0" i="0" u="none" strike="noStrike" dirty="0" smtClean="0">
                          <a:solidFill>
                            <a:srgbClr val="000000"/>
                          </a:solidFill>
                          <a:effectLst/>
                          <a:latin typeface="나눔스퀘어" panose="020B0600000101010101" pitchFamily="50" charset="-127"/>
                          <a:ea typeface="나눔스퀘어" panose="020B0600000101010101" pitchFamily="50" charset="-127"/>
                        </a:rPr>
                        <a:t>-</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ctr"/>
                      <a:r>
                        <a:rPr lang="en-US" altLang="ko-KR" sz="1100" u="none" strike="noStrike" dirty="0">
                          <a:effectLst/>
                          <a:latin typeface="나눔스퀘어" panose="020B0600000101010101" pitchFamily="50" charset="-127"/>
                          <a:ea typeface="나눔스퀘어" panose="020B0600000101010101" pitchFamily="50" charset="-127"/>
                        </a:rPr>
                        <a:t>-7%</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ctr"/>
                      <a:r>
                        <a:rPr lang="en-US" altLang="ko-KR" sz="1100" u="none" strike="noStrike" dirty="0">
                          <a:effectLst/>
                          <a:latin typeface="나눔스퀘어" panose="020B0600000101010101" pitchFamily="50" charset="-127"/>
                          <a:ea typeface="나눔스퀘어" panose="020B0600000101010101" pitchFamily="50" charset="-127"/>
                        </a:rPr>
                        <a:t>657</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ctr"/>
                      <a:r>
                        <a:rPr lang="en-US" altLang="ko-KR" sz="1100" b="0" i="0" u="none" strike="noStrike" dirty="0" smtClean="0">
                          <a:solidFill>
                            <a:srgbClr val="000000"/>
                          </a:solidFill>
                          <a:effectLst/>
                          <a:latin typeface="나눔스퀘어" panose="020B0600000101010101" pitchFamily="50" charset="-127"/>
                          <a:ea typeface="나눔스퀘어" panose="020B0600000101010101" pitchFamily="50" charset="-127"/>
                        </a:rPr>
                        <a:t>657</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ctr" fontAlgn="ctr"/>
                      <a:r>
                        <a:rPr lang="en-US" altLang="ko-KR" sz="1100" b="0" i="0" u="none" strike="noStrike" dirty="0" smtClean="0">
                          <a:solidFill>
                            <a:srgbClr val="000000"/>
                          </a:solidFill>
                          <a:effectLst/>
                          <a:latin typeface="나눔스퀘어" panose="020B0600000101010101" pitchFamily="50" charset="-127"/>
                          <a:ea typeface="나눔스퀘어" panose="020B0600000101010101" pitchFamily="50" charset="-127"/>
                        </a:rPr>
                        <a:t>-</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ctr"/>
                      <a:r>
                        <a:rPr lang="en-US" altLang="ko-KR" sz="1100" u="none" strike="noStrike" dirty="0">
                          <a:effectLst/>
                          <a:latin typeface="나눔스퀘어" panose="020B0600000101010101" pitchFamily="50" charset="-127"/>
                          <a:ea typeface="나눔스퀘어" panose="020B0600000101010101" pitchFamily="50" charset="-127"/>
                        </a:rPr>
                        <a:t>-7%</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3563662750"/>
                  </a:ext>
                </a:extLst>
              </a:tr>
              <a:tr h="204018">
                <a:tc>
                  <a:txBody>
                    <a:bodyPr/>
                    <a:lstStyle/>
                    <a:p>
                      <a:pPr algn="ctr" fontAlgn="ctr"/>
                      <a:r>
                        <a:rPr lang="en-US" altLang="ko-KR" sz="1100" u="none" strike="noStrike" dirty="0" smtClean="0">
                          <a:effectLst/>
                          <a:latin typeface="나눔스퀘어" panose="020B0600000101010101" pitchFamily="50" charset="-127"/>
                          <a:ea typeface="나눔스퀘어" panose="020B0600000101010101" pitchFamily="50" charset="-127"/>
                        </a:rPr>
                        <a:t>'</a:t>
                      </a:r>
                      <a:r>
                        <a:rPr lang="en-US" sz="1100" u="none" strike="noStrike" dirty="0" smtClean="0">
                          <a:effectLst/>
                          <a:latin typeface="나눔스퀘어" panose="020B0600000101010101" pitchFamily="50" charset="-127"/>
                          <a:ea typeface="나눔스퀘어" panose="020B0600000101010101" pitchFamily="50" charset="-127"/>
                        </a:rPr>
                        <a:t>26.2Q</a:t>
                      </a:r>
                      <a:endParaRPr lang="en-US"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ctr"/>
                      <a:r>
                        <a:rPr lang="en-US" altLang="ko-KR" sz="1100" u="none" strike="noStrike" dirty="0">
                          <a:effectLst/>
                          <a:latin typeface="나눔스퀘어" panose="020B0600000101010101" pitchFamily="50" charset="-127"/>
                          <a:ea typeface="나눔스퀘어" panose="020B0600000101010101" pitchFamily="50" charset="-127"/>
                        </a:rPr>
                        <a:t>732</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ctr"/>
                      <a:r>
                        <a:rPr lang="en-US" altLang="ko-KR" sz="1100" b="0" i="0" u="none" strike="noStrike" dirty="0" smtClean="0">
                          <a:solidFill>
                            <a:srgbClr val="000000"/>
                          </a:solidFill>
                          <a:effectLst/>
                          <a:latin typeface="나눔스퀘어" panose="020B0600000101010101" pitchFamily="50" charset="-127"/>
                          <a:ea typeface="나눔스퀘어" panose="020B0600000101010101" pitchFamily="50" charset="-127"/>
                        </a:rPr>
                        <a:t>332</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ctr"/>
                      <a:r>
                        <a:rPr lang="en-US" altLang="ko-KR" sz="1100" b="0" i="0" u="none" strike="noStrike" dirty="0" smtClean="0">
                          <a:solidFill>
                            <a:srgbClr val="000000"/>
                          </a:solidFill>
                          <a:effectLst/>
                          <a:latin typeface="나눔스퀘어" panose="020B0600000101010101" pitchFamily="50" charset="-127"/>
                          <a:ea typeface="나눔스퀘어" panose="020B0600000101010101" pitchFamily="50" charset="-127"/>
                        </a:rPr>
                        <a:t>400</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ctr"/>
                      <a:r>
                        <a:rPr lang="en-US" altLang="ko-KR" sz="1100" u="none" strike="noStrike" dirty="0">
                          <a:effectLst/>
                          <a:latin typeface="나눔스퀘어" panose="020B0600000101010101" pitchFamily="50" charset="-127"/>
                          <a:ea typeface="나눔스퀘어" panose="020B0600000101010101" pitchFamily="50" charset="-127"/>
                        </a:rPr>
                        <a:t>107%</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ctr"/>
                      <a:r>
                        <a:rPr lang="en-US" altLang="ko-KR" sz="1100" u="none" strike="noStrike" dirty="0">
                          <a:effectLst/>
                          <a:latin typeface="나눔스퀘어" panose="020B0600000101010101" pitchFamily="50" charset="-127"/>
                          <a:ea typeface="나눔스퀘어" panose="020B0600000101010101" pitchFamily="50" charset="-127"/>
                        </a:rPr>
                        <a:t>737</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ctr"/>
                      <a:r>
                        <a:rPr lang="en-US" altLang="ko-KR" sz="1100" b="0" i="0" u="none" strike="noStrike" dirty="0" smtClean="0">
                          <a:solidFill>
                            <a:srgbClr val="000000"/>
                          </a:solidFill>
                          <a:effectLst/>
                          <a:latin typeface="나눔스퀘어" panose="020B0600000101010101" pitchFamily="50" charset="-127"/>
                          <a:ea typeface="나눔스퀘어" panose="020B0600000101010101" pitchFamily="50" charset="-127"/>
                        </a:rPr>
                        <a:t>337</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ctr"/>
                      <a:r>
                        <a:rPr lang="en-US" altLang="ko-KR" sz="1100" b="0" i="0" u="none" strike="noStrike" dirty="0" smtClean="0">
                          <a:solidFill>
                            <a:srgbClr val="000000"/>
                          </a:solidFill>
                          <a:effectLst/>
                          <a:latin typeface="나눔스퀘어" panose="020B0600000101010101" pitchFamily="50" charset="-127"/>
                          <a:ea typeface="나눔스퀘어" panose="020B0600000101010101" pitchFamily="50" charset="-127"/>
                        </a:rPr>
                        <a:t>400</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ctr"/>
                      <a:r>
                        <a:rPr lang="en-US" altLang="ko-KR" sz="1100" u="none" strike="noStrike" dirty="0">
                          <a:effectLst/>
                          <a:latin typeface="나눔스퀘어" panose="020B0600000101010101" pitchFamily="50" charset="-127"/>
                          <a:ea typeface="나눔스퀘어" panose="020B0600000101010101" pitchFamily="50" charset="-127"/>
                        </a:rPr>
                        <a:t>105%</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ctr"/>
                      <a:r>
                        <a:rPr lang="en-US" altLang="ko-KR" sz="1100" u="none" strike="noStrike" dirty="0" smtClean="0">
                          <a:effectLst/>
                          <a:latin typeface="나눔스퀘어" panose="020B0600000101010101" pitchFamily="50" charset="-127"/>
                          <a:ea typeface="나눔스퀘어" panose="020B0600000101010101" pitchFamily="50" charset="-127"/>
                        </a:rPr>
                        <a:t>1,017</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ctr"/>
                      <a:r>
                        <a:rPr lang="en-US" altLang="ko-KR" sz="1100" b="0" i="0" u="none" strike="noStrike" dirty="0" smtClean="0">
                          <a:solidFill>
                            <a:srgbClr val="000000"/>
                          </a:solidFill>
                          <a:effectLst/>
                          <a:latin typeface="나눔스퀘어" panose="020B0600000101010101" pitchFamily="50" charset="-127"/>
                          <a:ea typeface="나눔스퀘어" panose="020B0600000101010101" pitchFamily="50" charset="-127"/>
                        </a:rPr>
                        <a:t>617</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ctr"/>
                      <a:r>
                        <a:rPr lang="en-US" altLang="ko-KR" sz="1100" b="0" i="0" u="none" strike="noStrike" dirty="0" smtClean="0">
                          <a:solidFill>
                            <a:srgbClr val="000000"/>
                          </a:solidFill>
                          <a:effectLst/>
                          <a:latin typeface="나눔스퀘어" panose="020B0600000101010101" pitchFamily="50" charset="-127"/>
                          <a:ea typeface="나눔스퀘어" panose="020B0600000101010101" pitchFamily="50" charset="-127"/>
                        </a:rPr>
                        <a:t>400</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ctr"/>
                      <a:r>
                        <a:rPr lang="en-US" altLang="ko-KR" sz="1100" u="none" strike="noStrike" dirty="0">
                          <a:effectLst/>
                          <a:latin typeface="나눔스퀘어" panose="020B0600000101010101" pitchFamily="50" charset="-127"/>
                          <a:ea typeface="나눔스퀘어" panose="020B0600000101010101" pitchFamily="50" charset="-127"/>
                        </a:rPr>
                        <a:t>55%</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4107529"/>
                  </a:ext>
                </a:extLst>
              </a:tr>
              <a:tr h="204018">
                <a:tc>
                  <a:txBody>
                    <a:bodyPr/>
                    <a:lstStyle/>
                    <a:p>
                      <a:pPr algn="ctr" fontAlgn="ctr"/>
                      <a:r>
                        <a:rPr lang="en-US" altLang="ko-KR" sz="1100" u="none" strike="noStrike" dirty="0" smtClean="0">
                          <a:effectLst/>
                          <a:latin typeface="나눔스퀘어" panose="020B0600000101010101" pitchFamily="50" charset="-127"/>
                          <a:ea typeface="나눔스퀘어" panose="020B0600000101010101" pitchFamily="50" charset="-127"/>
                        </a:rPr>
                        <a:t>'</a:t>
                      </a:r>
                      <a:r>
                        <a:rPr lang="en-US" sz="1100" u="none" strike="noStrike" dirty="0" smtClean="0">
                          <a:effectLst/>
                          <a:latin typeface="나눔스퀘어" panose="020B0600000101010101" pitchFamily="50" charset="-127"/>
                          <a:ea typeface="나눔스퀘어" panose="020B0600000101010101" pitchFamily="50" charset="-127"/>
                        </a:rPr>
                        <a:t>26.3Q</a:t>
                      </a:r>
                      <a:endParaRPr lang="en-US"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r>
                        <a:rPr lang="en-US" altLang="ko-KR" sz="1100" u="none" strike="noStrike" dirty="0">
                          <a:effectLst/>
                          <a:latin typeface="나눔스퀘어" panose="020B0600000101010101" pitchFamily="50" charset="-127"/>
                          <a:ea typeface="나눔스퀘어" panose="020B0600000101010101" pitchFamily="50" charset="-127"/>
                        </a:rPr>
                        <a:t>995</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r>
                        <a:rPr lang="en-US" altLang="ko-KR" sz="1100" b="0" i="0" u="none" strike="noStrike" dirty="0" smtClean="0">
                          <a:solidFill>
                            <a:srgbClr val="000000"/>
                          </a:solidFill>
                          <a:effectLst/>
                          <a:latin typeface="나눔스퀘어" panose="020B0600000101010101" pitchFamily="50" charset="-127"/>
                          <a:ea typeface="나눔스퀘어" panose="020B0600000101010101" pitchFamily="50" charset="-127"/>
                        </a:rPr>
                        <a:t>595</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r>
                        <a:rPr lang="en-US" altLang="ko-KR" sz="1100" b="0" i="0" u="none" strike="noStrike" dirty="0" smtClean="0">
                          <a:solidFill>
                            <a:srgbClr val="000000"/>
                          </a:solidFill>
                          <a:effectLst/>
                          <a:latin typeface="나눔스퀘어" panose="020B0600000101010101" pitchFamily="50" charset="-127"/>
                          <a:ea typeface="나눔스퀘어" panose="020B0600000101010101" pitchFamily="50" charset="-127"/>
                        </a:rPr>
                        <a:t>400</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r>
                        <a:rPr lang="en-US" altLang="ko-KR" sz="1100" u="none" strike="noStrike" dirty="0">
                          <a:effectLst/>
                          <a:latin typeface="나눔스퀘어" panose="020B0600000101010101" pitchFamily="50" charset="-127"/>
                          <a:ea typeface="나눔스퀘어" panose="020B0600000101010101" pitchFamily="50" charset="-127"/>
                        </a:rPr>
                        <a:t>36%</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r>
                        <a:rPr lang="en-US" altLang="ko-KR" sz="1100" u="none" strike="noStrike" dirty="0" smtClean="0">
                          <a:effectLst/>
                          <a:latin typeface="나눔스퀘어" panose="020B0600000101010101" pitchFamily="50" charset="-127"/>
                          <a:ea typeface="나눔스퀘어" panose="020B0600000101010101" pitchFamily="50" charset="-127"/>
                        </a:rPr>
                        <a:t>1,002</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r>
                        <a:rPr lang="en-US" altLang="ko-KR" sz="1100" b="0" i="0" u="none" strike="noStrike" dirty="0" smtClean="0">
                          <a:solidFill>
                            <a:srgbClr val="000000"/>
                          </a:solidFill>
                          <a:effectLst/>
                          <a:latin typeface="나눔스퀘어" panose="020B0600000101010101" pitchFamily="50" charset="-127"/>
                          <a:ea typeface="나눔스퀘어" panose="020B0600000101010101" pitchFamily="50" charset="-127"/>
                        </a:rPr>
                        <a:t>602</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r>
                        <a:rPr lang="en-US" altLang="ko-KR" sz="1100" b="0" i="0" u="none" strike="noStrike" dirty="0" smtClean="0">
                          <a:solidFill>
                            <a:srgbClr val="000000"/>
                          </a:solidFill>
                          <a:effectLst/>
                          <a:latin typeface="나눔스퀘어" panose="020B0600000101010101" pitchFamily="50" charset="-127"/>
                          <a:ea typeface="나눔스퀘어" panose="020B0600000101010101" pitchFamily="50" charset="-127"/>
                        </a:rPr>
                        <a:t>400</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r>
                        <a:rPr lang="en-US" altLang="ko-KR" sz="1100" u="none" strike="noStrike" dirty="0">
                          <a:effectLst/>
                          <a:latin typeface="나눔스퀘어" panose="020B0600000101010101" pitchFamily="50" charset="-127"/>
                          <a:ea typeface="나눔스퀘어" panose="020B0600000101010101" pitchFamily="50" charset="-127"/>
                        </a:rPr>
                        <a:t>36%</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r>
                        <a:rPr lang="en-US" altLang="ko-KR" sz="1100" u="none" strike="noStrike" dirty="0" smtClean="0">
                          <a:effectLst/>
                          <a:latin typeface="나눔스퀘어" panose="020B0600000101010101" pitchFamily="50" charset="-127"/>
                          <a:ea typeface="나눔스퀘어" panose="020B0600000101010101" pitchFamily="50" charset="-127"/>
                        </a:rPr>
                        <a:t>1,499</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r>
                        <a:rPr lang="en-US" altLang="ko-KR" sz="1100" b="0" i="0" u="none" strike="noStrike" dirty="0" smtClean="0">
                          <a:solidFill>
                            <a:srgbClr val="000000"/>
                          </a:solidFill>
                          <a:effectLst/>
                          <a:latin typeface="나눔스퀘어" panose="020B0600000101010101" pitchFamily="50" charset="-127"/>
                          <a:ea typeface="나눔스퀘어" panose="020B0600000101010101" pitchFamily="50" charset="-127"/>
                        </a:rPr>
                        <a:t>1,099</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r>
                        <a:rPr lang="en-US" altLang="ko-KR" sz="1100" b="0" i="0" u="none" strike="noStrike" dirty="0" smtClean="0">
                          <a:solidFill>
                            <a:srgbClr val="000000"/>
                          </a:solidFill>
                          <a:effectLst/>
                          <a:latin typeface="나눔스퀘어" panose="020B0600000101010101" pitchFamily="50" charset="-127"/>
                          <a:ea typeface="나눔스퀘어" panose="020B0600000101010101" pitchFamily="50" charset="-127"/>
                        </a:rPr>
                        <a:t>400</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r>
                        <a:rPr lang="en-US" altLang="ko-KR" sz="1100" u="none" strike="noStrike" dirty="0">
                          <a:effectLst/>
                          <a:latin typeface="나눔스퀘어" panose="020B0600000101010101" pitchFamily="50" charset="-127"/>
                          <a:ea typeface="나눔스퀘어" panose="020B0600000101010101" pitchFamily="50" charset="-127"/>
                        </a:rPr>
                        <a:t>47%</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997286944"/>
                  </a:ext>
                </a:extLst>
              </a:tr>
            </a:tbl>
          </a:graphicData>
        </a:graphic>
      </p:graphicFrame>
      <p:sp>
        <p:nvSpPr>
          <p:cNvPr id="76" name="TextBox 75">
            <a:extLst>
              <a:ext uri="{FF2B5EF4-FFF2-40B4-BE49-F238E27FC236}">
                <a16:creationId xmlns:a16="http://schemas.microsoft.com/office/drawing/2014/main" id="{F419EC2A-DA12-DE70-177E-D060836EC73B}"/>
              </a:ext>
            </a:extLst>
          </p:cNvPr>
          <p:cNvSpPr txBox="1"/>
          <p:nvPr/>
        </p:nvSpPr>
        <p:spPr>
          <a:xfrm>
            <a:off x="726370" y="6283196"/>
            <a:ext cx="1970091" cy="153888"/>
          </a:xfrm>
          <a:prstGeom prst="rect">
            <a:avLst/>
          </a:prstGeom>
          <a:noFill/>
        </p:spPr>
        <p:txBody>
          <a:bodyPr wrap="none" lIns="0" tIns="0" rIns="0" bIns="0" rtlCol="0" anchor="ctr">
            <a:spAutoFit/>
          </a:bodyPr>
          <a:lstStyle/>
          <a:p>
            <a:pPr latinLnBrk="0"/>
            <a:r>
              <a:rPr lang="en-US" altLang="ko-KR" sz="10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Global </a:t>
            </a:r>
            <a:r>
              <a:rPr lang="en-US" altLang="ko-KR" sz="100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20 Ports Average </a:t>
            </a:r>
            <a:r>
              <a:rPr lang="en-US" altLang="ko-KR" sz="10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VLSFO</a:t>
            </a:r>
            <a:endParaRPr lang="en-US" altLang="ko-KR" sz="100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endParaRPr>
          </a:p>
        </p:txBody>
      </p:sp>
      <p:sp>
        <p:nvSpPr>
          <p:cNvPr id="94" name="TextBox 93">
            <a:extLst>
              <a:ext uri="{FF2B5EF4-FFF2-40B4-BE49-F238E27FC236}">
                <a16:creationId xmlns:a16="http://schemas.microsoft.com/office/drawing/2014/main" id="{F419EC2A-DA12-DE70-177E-D060836EC73B}"/>
              </a:ext>
            </a:extLst>
          </p:cNvPr>
          <p:cNvSpPr txBox="1"/>
          <p:nvPr/>
        </p:nvSpPr>
        <p:spPr>
          <a:xfrm>
            <a:off x="6906482" y="4818681"/>
            <a:ext cx="4279569" cy="184666"/>
          </a:xfrm>
          <a:prstGeom prst="rect">
            <a:avLst/>
          </a:prstGeom>
          <a:noFill/>
        </p:spPr>
        <p:txBody>
          <a:bodyPr wrap="none" lIns="0" tIns="0" rIns="0" bIns="0" rtlCol="0" anchor="ctr">
            <a:spAutoFit/>
          </a:bodyPr>
          <a:lstStyle/>
          <a:p>
            <a:pPr latinLnBrk="0"/>
            <a:r>
              <a:rPr lang="en-US" altLang="ko-KR" sz="1200" b="1" dirty="0">
                <a:ln>
                  <a:solidFill>
                    <a:srgbClr val="0FEFC4">
                      <a:alpha val="0"/>
                    </a:srgbClr>
                  </a:solidFill>
                </a:ln>
                <a:solidFill>
                  <a:schemeClr val="tx1">
                    <a:lumMod val="75000"/>
                    <a:lumOff val="25000"/>
                  </a:schemeClr>
                </a:solidFill>
                <a:latin typeface="나눔스퀘어" panose="020B0600000101010101" pitchFamily="50" charset="-127"/>
                <a:ea typeface="나눔스퀘어" panose="020B0600000101010101" pitchFamily="50" charset="-127"/>
              </a:rPr>
              <a:t>[Maersk's 2026 Fuel Surcharge Rates by Major Trade Route*]</a:t>
            </a:r>
          </a:p>
        </p:txBody>
      </p:sp>
      <p:sp>
        <p:nvSpPr>
          <p:cNvPr id="95" name="TextBox 94">
            <a:extLst>
              <a:ext uri="{FF2B5EF4-FFF2-40B4-BE49-F238E27FC236}">
                <a16:creationId xmlns:a16="http://schemas.microsoft.com/office/drawing/2014/main" id="{F419EC2A-DA12-DE70-177E-D060836EC73B}"/>
              </a:ext>
            </a:extLst>
          </p:cNvPr>
          <p:cNvSpPr txBox="1"/>
          <p:nvPr/>
        </p:nvSpPr>
        <p:spPr>
          <a:xfrm>
            <a:off x="6282630" y="6305563"/>
            <a:ext cx="4387420" cy="153888"/>
          </a:xfrm>
          <a:prstGeom prst="rect">
            <a:avLst/>
          </a:prstGeom>
          <a:noFill/>
        </p:spPr>
        <p:txBody>
          <a:bodyPr wrap="none" lIns="0" tIns="0" rIns="0" bIns="0" rtlCol="0" anchor="ctr">
            <a:spAutoFit/>
          </a:bodyPr>
          <a:lstStyle/>
          <a:p>
            <a:pPr latinLnBrk="0"/>
            <a:r>
              <a:rPr lang="en-US" altLang="ko-KR" sz="10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a:t>
            </a:r>
            <a:r>
              <a:rPr lang="ko-KR" altLang="en-US" sz="10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유류할증료 기준 </a:t>
            </a:r>
            <a:r>
              <a:rPr lang="en-US" altLang="ko-KR" sz="10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FFF(Fossil Fuel Fee) + EBS(Emergency Bunker Surcharge)</a:t>
            </a:r>
            <a:endParaRPr lang="en-US" altLang="ko-KR" sz="100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endParaRPr>
          </a:p>
        </p:txBody>
      </p:sp>
      <p:sp>
        <p:nvSpPr>
          <p:cNvPr id="96" name="TextBox 95">
            <a:extLst>
              <a:ext uri="{FF2B5EF4-FFF2-40B4-BE49-F238E27FC236}">
                <a16:creationId xmlns:a16="http://schemas.microsoft.com/office/drawing/2014/main" id="{F419EC2A-DA12-DE70-177E-D060836EC73B}"/>
              </a:ext>
            </a:extLst>
          </p:cNvPr>
          <p:cNvSpPr txBox="1"/>
          <p:nvPr/>
        </p:nvSpPr>
        <p:spPr>
          <a:xfrm>
            <a:off x="11230573" y="4895628"/>
            <a:ext cx="440826" cy="153888"/>
          </a:xfrm>
          <a:prstGeom prst="rect">
            <a:avLst/>
          </a:prstGeom>
          <a:noFill/>
        </p:spPr>
        <p:txBody>
          <a:bodyPr wrap="none" lIns="0" tIns="0" rIns="0" bIns="0" rtlCol="0" anchor="ctr">
            <a:spAutoFit/>
          </a:bodyPr>
          <a:lstStyle/>
          <a:p>
            <a:pPr latinLnBrk="0"/>
            <a:r>
              <a:rPr lang="en-US" altLang="ko-KR" sz="1000" dirty="0" smtClean="0">
                <a:ln>
                  <a:solidFill>
                    <a:srgbClr val="0FEFC4">
                      <a:alpha val="0"/>
                    </a:srgbClr>
                  </a:solidFill>
                </a:ln>
                <a:solidFill>
                  <a:schemeClr val="tx1">
                    <a:lumMod val="75000"/>
                    <a:lumOff val="25000"/>
                  </a:schemeClr>
                </a:solidFill>
                <a:latin typeface="나눔스퀘어" panose="020B0600000101010101" pitchFamily="50" charset="-127"/>
                <a:ea typeface="나눔스퀘어" panose="020B0600000101010101" pitchFamily="50" charset="-127"/>
              </a:rPr>
              <a:t>($/FEU)</a:t>
            </a:r>
            <a:endParaRPr lang="en-US" altLang="ko-KR" sz="1000" dirty="0">
              <a:ln>
                <a:solidFill>
                  <a:srgbClr val="0FEFC4">
                    <a:alpha val="0"/>
                  </a:srgbClr>
                </a:solidFill>
              </a:ln>
              <a:solidFill>
                <a:schemeClr val="tx1">
                  <a:lumMod val="75000"/>
                  <a:lumOff val="25000"/>
                </a:schemeClr>
              </a:solidFill>
              <a:latin typeface="나눔스퀘어" panose="020B0600000101010101" pitchFamily="50" charset="-127"/>
              <a:ea typeface="나눔스퀘어" panose="020B0600000101010101" pitchFamily="50" charset="-127"/>
            </a:endParaRPr>
          </a:p>
        </p:txBody>
      </p:sp>
      <p:pic>
        <p:nvPicPr>
          <p:cNvPr id="63" name="그림 62" descr="채점"/>
          <p:cNvPicPr/>
          <p:nvPr/>
        </p:nvPicPr>
        <p:blipFill>
          <a:blip r:embed="rId4" cstate="print">
            <a:extLst>
              <a:ext uri="{BEBA8EAE-BF5A-486C-A8C5-ECC9F3942E4B}">
                <a14:imgProps xmlns:a14="http://schemas.microsoft.com/office/drawing/2010/main">
                  <a14:imgLayer r:embed="rId5">
                    <a14:imgEffect>
                      <a14:backgroundRemoval t="0" b="100000" l="0" r="99670"/>
                    </a14:imgEffect>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8036954" y="6056004"/>
            <a:ext cx="432555" cy="288583"/>
          </a:xfrm>
          <a:prstGeom prst="rect">
            <a:avLst/>
          </a:prstGeom>
          <a:noFill/>
          <a:ln>
            <a:noFill/>
          </a:ln>
        </p:spPr>
      </p:pic>
      <p:pic>
        <p:nvPicPr>
          <p:cNvPr id="64" name="그림 63" descr="채점"/>
          <p:cNvPicPr/>
          <p:nvPr/>
        </p:nvPicPr>
        <p:blipFill>
          <a:blip r:embed="rId4" cstate="print">
            <a:extLst>
              <a:ext uri="{BEBA8EAE-BF5A-486C-A8C5-ECC9F3942E4B}">
                <a14:imgProps xmlns:a14="http://schemas.microsoft.com/office/drawing/2010/main">
                  <a14:imgLayer r:embed="rId5">
                    <a14:imgEffect>
                      <a14:backgroundRemoval t="0" b="100000" l="0" r="99670"/>
                    </a14:imgEffect>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9647259" y="6056003"/>
            <a:ext cx="432555" cy="288583"/>
          </a:xfrm>
          <a:prstGeom prst="rect">
            <a:avLst/>
          </a:prstGeom>
          <a:noFill/>
          <a:ln>
            <a:noFill/>
          </a:ln>
        </p:spPr>
      </p:pic>
      <p:pic>
        <p:nvPicPr>
          <p:cNvPr id="65" name="그림 64" descr="채점"/>
          <p:cNvPicPr/>
          <p:nvPr/>
        </p:nvPicPr>
        <p:blipFill>
          <a:blip r:embed="rId4" cstate="print">
            <a:extLst>
              <a:ext uri="{BEBA8EAE-BF5A-486C-A8C5-ECC9F3942E4B}">
                <a14:imgProps xmlns:a14="http://schemas.microsoft.com/office/drawing/2010/main">
                  <a14:imgLayer r:embed="rId5">
                    <a14:imgEffect>
                      <a14:backgroundRemoval t="0" b="100000" l="0" r="99670"/>
                    </a14:imgEffect>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11296783" y="6056004"/>
            <a:ext cx="432555" cy="288583"/>
          </a:xfrm>
          <a:prstGeom prst="rect">
            <a:avLst/>
          </a:prstGeom>
          <a:noFill/>
          <a:ln>
            <a:noFill/>
          </a:ln>
        </p:spPr>
      </p:pic>
      <p:graphicFrame>
        <p:nvGraphicFramePr>
          <p:cNvPr id="70" name="차트 69"/>
          <p:cNvGraphicFramePr/>
          <p:nvPr>
            <p:extLst>
              <p:ext uri="{D42A27DB-BD31-4B8C-83A1-F6EECF244321}">
                <p14:modId xmlns:p14="http://schemas.microsoft.com/office/powerpoint/2010/main" val="670261097"/>
              </p:ext>
            </p:extLst>
          </p:nvPr>
        </p:nvGraphicFramePr>
        <p:xfrm>
          <a:off x="99245" y="4232447"/>
          <a:ext cx="3869854" cy="2127694"/>
        </p:xfrm>
        <a:graphic>
          <a:graphicData uri="http://schemas.openxmlformats.org/drawingml/2006/chart">
            <c:chart xmlns:c="http://schemas.openxmlformats.org/drawingml/2006/chart" xmlns:r="http://schemas.openxmlformats.org/officeDocument/2006/relationships" r:id="rId6"/>
          </a:graphicData>
        </a:graphic>
      </p:graphicFrame>
      <p:cxnSp>
        <p:nvCxnSpPr>
          <p:cNvPr id="71" name="직선 연결선 70"/>
          <p:cNvCxnSpPr/>
          <p:nvPr/>
        </p:nvCxnSpPr>
        <p:spPr>
          <a:xfrm flipH="1">
            <a:off x="3982671" y="5085625"/>
            <a:ext cx="498050" cy="0"/>
          </a:xfrm>
          <a:prstGeom prst="line">
            <a:avLst/>
          </a:prstGeom>
          <a:ln w="19050" cap="rnd">
            <a:solidFill>
              <a:srgbClr val="3CD0BA"/>
            </a:solidFill>
          </a:ln>
        </p:spPr>
        <p:style>
          <a:lnRef idx="1">
            <a:schemeClr val="accent1"/>
          </a:lnRef>
          <a:fillRef idx="0">
            <a:schemeClr val="accent1"/>
          </a:fillRef>
          <a:effectRef idx="0">
            <a:schemeClr val="accent1"/>
          </a:effectRef>
          <a:fontRef idx="minor">
            <a:schemeClr val="tx1"/>
          </a:fontRef>
        </p:style>
      </p:cxnSp>
      <p:graphicFrame>
        <p:nvGraphicFramePr>
          <p:cNvPr id="72" name="차트 71"/>
          <p:cNvGraphicFramePr/>
          <p:nvPr>
            <p:extLst>
              <p:ext uri="{D42A27DB-BD31-4B8C-83A1-F6EECF244321}">
                <p14:modId xmlns:p14="http://schemas.microsoft.com/office/powerpoint/2010/main" val="1942106621"/>
              </p:ext>
            </p:extLst>
          </p:nvPr>
        </p:nvGraphicFramePr>
        <p:xfrm>
          <a:off x="3590925" y="4137189"/>
          <a:ext cx="2617132" cy="2241240"/>
        </p:xfrm>
        <a:graphic>
          <a:graphicData uri="http://schemas.openxmlformats.org/drawingml/2006/chart">
            <c:chart xmlns:c="http://schemas.openxmlformats.org/drawingml/2006/chart" xmlns:r="http://schemas.openxmlformats.org/officeDocument/2006/relationships" r:id="rId7"/>
          </a:graphicData>
        </a:graphic>
      </p:graphicFrame>
      <p:sp>
        <p:nvSpPr>
          <p:cNvPr id="73" name="타원 72"/>
          <p:cNvSpPr/>
          <p:nvPr/>
        </p:nvSpPr>
        <p:spPr>
          <a:xfrm>
            <a:off x="4042148" y="4967235"/>
            <a:ext cx="371269" cy="236780"/>
          </a:xfrm>
          <a:prstGeom prst="ellipse">
            <a:avLst/>
          </a:prstGeom>
          <a:solidFill>
            <a:srgbClr val="3CD0BA"/>
          </a:solidFill>
          <a:ln>
            <a:solidFill>
              <a:srgbClr val="3CD0BA"/>
            </a:solidFill>
          </a:ln>
          <a:effectLst/>
        </p:spPr>
        <p:txBody>
          <a:bodyPr vert="horz" wrap="square" lIns="0" tIns="0" rIns="0" bIns="0" numCol="1" rtlCol="0" anchor="ctr" anchorCtr="0" compatLnSpc="1">
            <a:prstTxWarp prst="textNoShape">
              <a:avLst/>
            </a:prstTxWarp>
          </a:bodyPr>
          <a:lstStyle/>
          <a:p>
            <a:pPr algn="ctr"/>
            <a:endParaRPr lang="ko-KR" altLang="en-US" sz="1100" b="1" dirty="0" smtClean="0">
              <a:solidFill>
                <a:schemeClr val="bg1"/>
              </a:solidFill>
              <a:latin typeface="나눔스퀘어" panose="020B0600000101010101" pitchFamily="50" charset="-127"/>
              <a:ea typeface="나눔스퀘어" panose="020B0600000101010101" pitchFamily="50" charset="-127"/>
            </a:endParaRPr>
          </a:p>
        </p:txBody>
      </p:sp>
      <p:cxnSp>
        <p:nvCxnSpPr>
          <p:cNvPr id="77" name="직선 화살표 연결선 76"/>
          <p:cNvCxnSpPr/>
          <p:nvPr/>
        </p:nvCxnSpPr>
        <p:spPr>
          <a:xfrm>
            <a:off x="4480718" y="5087454"/>
            <a:ext cx="0" cy="294171"/>
          </a:xfrm>
          <a:prstGeom prst="straightConnector1">
            <a:avLst/>
          </a:prstGeom>
          <a:ln w="19050" cap="rnd">
            <a:solidFill>
              <a:srgbClr val="3CD0BA"/>
            </a:solidFill>
            <a:tailEnd type="triangle"/>
          </a:ln>
        </p:spPr>
        <p:style>
          <a:lnRef idx="1">
            <a:schemeClr val="accent1"/>
          </a:lnRef>
          <a:fillRef idx="0">
            <a:schemeClr val="accent1"/>
          </a:fillRef>
          <a:effectRef idx="0">
            <a:schemeClr val="accent1"/>
          </a:effectRef>
          <a:fontRef idx="minor">
            <a:schemeClr val="tx1"/>
          </a:fontRef>
        </p:style>
      </p:cxnSp>
      <p:cxnSp>
        <p:nvCxnSpPr>
          <p:cNvPr id="78" name="직선 연결선 77"/>
          <p:cNvCxnSpPr/>
          <p:nvPr/>
        </p:nvCxnSpPr>
        <p:spPr>
          <a:xfrm>
            <a:off x="3982671" y="5087454"/>
            <a:ext cx="0" cy="437046"/>
          </a:xfrm>
          <a:prstGeom prst="line">
            <a:avLst/>
          </a:prstGeom>
          <a:ln w="19050" cap="rnd">
            <a:solidFill>
              <a:srgbClr val="3CD0BA"/>
            </a:solidFill>
          </a:ln>
        </p:spPr>
        <p:style>
          <a:lnRef idx="1">
            <a:schemeClr val="accent1"/>
          </a:lnRef>
          <a:fillRef idx="0">
            <a:schemeClr val="accent1"/>
          </a:fillRef>
          <a:effectRef idx="0">
            <a:schemeClr val="accent1"/>
          </a:effectRef>
          <a:fontRef idx="minor">
            <a:schemeClr val="tx1"/>
          </a:fontRef>
        </p:style>
      </p:cxnSp>
      <p:cxnSp>
        <p:nvCxnSpPr>
          <p:cNvPr id="79" name="직선 화살표 연결선 78"/>
          <p:cNvCxnSpPr/>
          <p:nvPr/>
        </p:nvCxnSpPr>
        <p:spPr>
          <a:xfrm>
            <a:off x="5541743" y="4849842"/>
            <a:ext cx="0" cy="146541"/>
          </a:xfrm>
          <a:prstGeom prst="straightConnector1">
            <a:avLst/>
          </a:prstGeom>
          <a:ln w="19050" cap="rnd">
            <a:solidFill>
              <a:srgbClr val="3CD0BA"/>
            </a:solidFill>
            <a:tailEnd type="triangle"/>
          </a:ln>
        </p:spPr>
        <p:style>
          <a:lnRef idx="1">
            <a:schemeClr val="accent1"/>
          </a:lnRef>
          <a:fillRef idx="0">
            <a:schemeClr val="accent1"/>
          </a:fillRef>
          <a:effectRef idx="0">
            <a:schemeClr val="accent1"/>
          </a:effectRef>
          <a:fontRef idx="minor">
            <a:schemeClr val="tx1"/>
          </a:fontRef>
        </p:style>
      </p:cxnSp>
      <p:cxnSp>
        <p:nvCxnSpPr>
          <p:cNvPr id="80" name="직선 연결선 79"/>
          <p:cNvCxnSpPr/>
          <p:nvPr/>
        </p:nvCxnSpPr>
        <p:spPr>
          <a:xfrm flipH="1">
            <a:off x="5064076" y="4849842"/>
            <a:ext cx="477670" cy="3441"/>
          </a:xfrm>
          <a:prstGeom prst="line">
            <a:avLst/>
          </a:prstGeom>
          <a:ln w="19050" cap="rnd">
            <a:solidFill>
              <a:srgbClr val="3CD0BA"/>
            </a:solidFill>
          </a:ln>
        </p:spPr>
        <p:style>
          <a:lnRef idx="1">
            <a:schemeClr val="accent1"/>
          </a:lnRef>
          <a:fillRef idx="0">
            <a:schemeClr val="accent1"/>
          </a:fillRef>
          <a:effectRef idx="0">
            <a:schemeClr val="accent1"/>
          </a:effectRef>
          <a:fontRef idx="minor">
            <a:schemeClr val="tx1"/>
          </a:fontRef>
        </p:style>
      </p:cxnSp>
      <p:cxnSp>
        <p:nvCxnSpPr>
          <p:cNvPr id="81" name="직선 연결선 80"/>
          <p:cNvCxnSpPr/>
          <p:nvPr/>
        </p:nvCxnSpPr>
        <p:spPr>
          <a:xfrm>
            <a:off x="5064076" y="4853283"/>
            <a:ext cx="0" cy="286201"/>
          </a:xfrm>
          <a:prstGeom prst="line">
            <a:avLst/>
          </a:prstGeom>
          <a:ln w="19050" cap="rnd">
            <a:solidFill>
              <a:srgbClr val="3CD0BA"/>
            </a:solidFill>
          </a:ln>
        </p:spPr>
        <p:style>
          <a:lnRef idx="1">
            <a:schemeClr val="accent1"/>
          </a:lnRef>
          <a:fillRef idx="0">
            <a:schemeClr val="accent1"/>
          </a:fillRef>
          <a:effectRef idx="0">
            <a:schemeClr val="accent1"/>
          </a:effectRef>
          <a:fontRef idx="minor">
            <a:schemeClr val="tx1"/>
          </a:fontRef>
        </p:style>
      </p:cxnSp>
      <p:sp>
        <p:nvSpPr>
          <p:cNvPr id="82" name="타원 81"/>
          <p:cNvSpPr/>
          <p:nvPr/>
        </p:nvSpPr>
        <p:spPr>
          <a:xfrm>
            <a:off x="5117327" y="4731452"/>
            <a:ext cx="369701" cy="236780"/>
          </a:xfrm>
          <a:prstGeom prst="ellipse">
            <a:avLst/>
          </a:prstGeom>
          <a:solidFill>
            <a:srgbClr val="3CD0BA"/>
          </a:solidFill>
          <a:ln>
            <a:solidFill>
              <a:srgbClr val="3CD0BA"/>
            </a:solidFill>
          </a:ln>
          <a:effectLst/>
        </p:spPr>
        <p:txBody>
          <a:bodyPr vert="horz" wrap="square" lIns="0" tIns="0" rIns="0" bIns="0" numCol="1" rtlCol="0" anchor="ctr" anchorCtr="0" compatLnSpc="1">
            <a:prstTxWarp prst="textNoShape">
              <a:avLst/>
            </a:prstTxWarp>
          </a:bodyPr>
          <a:lstStyle/>
          <a:p>
            <a:pPr algn="ctr"/>
            <a:endParaRPr lang="ko-KR" altLang="en-US" sz="1100" b="1" dirty="0" smtClean="0">
              <a:solidFill>
                <a:schemeClr val="bg1"/>
              </a:solidFill>
              <a:latin typeface="나눔스퀘어" panose="020B0600000101010101" pitchFamily="50" charset="-127"/>
              <a:ea typeface="나눔스퀘어" panose="020B0600000101010101" pitchFamily="50" charset="-127"/>
            </a:endParaRPr>
          </a:p>
        </p:txBody>
      </p:sp>
      <p:sp>
        <p:nvSpPr>
          <p:cNvPr id="83" name="TextBox 82"/>
          <p:cNvSpPr txBox="1"/>
          <p:nvPr/>
        </p:nvSpPr>
        <p:spPr>
          <a:xfrm>
            <a:off x="3971942" y="4954820"/>
            <a:ext cx="511679" cy="261610"/>
          </a:xfrm>
          <a:prstGeom prst="rect">
            <a:avLst/>
          </a:prstGeom>
          <a:noFill/>
        </p:spPr>
        <p:txBody>
          <a:bodyPr wrap="none" rtlCol="0">
            <a:spAutoFit/>
          </a:bodyPr>
          <a:lstStyle/>
          <a:p>
            <a:r>
              <a:rPr lang="en-US" altLang="ko-KR" sz="1100" b="1" spc="-100" dirty="0" smtClean="0">
                <a:solidFill>
                  <a:schemeClr val="bg1"/>
                </a:solidFill>
                <a:latin typeface="나눔스퀘어" panose="020B0600000101010101" pitchFamily="50" charset="-127"/>
                <a:ea typeface="나눔스퀘어" panose="020B0600000101010101" pitchFamily="50" charset="-127"/>
              </a:rPr>
              <a:t>+63%</a:t>
            </a:r>
            <a:endParaRPr lang="ko-KR" altLang="en-US" sz="1100" b="1" spc="-100" dirty="0">
              <a:solidFill>
                <a:schemeClr val="bg1"/>
              </a:solidFill>
              <a:latin typeface="나눔스퀘어" panose="020B0600000101010101" pitchFamily="50" charset="-127"/>
              <a:ea typeface="나눔스퀘어" panose="020B0600000101010101" pitchFamily="50" charset="-127"/>
            </a:endParaRPr>
          </a:p>
        </p:txBody>
      </p:sp>
      <p:sp>
        <p:nvSpPr>
          <p:cNvPr id="84" name="TextBox 83"/>
          <p:cNvSpPr txBox="1"/>
          <p:nvPr/>
        </p:nvSpPr>
        <p:spPr>
          <a:xfrm>
            <a:off x="5030062" y="4719037"/>
            <a:ext cx="511679" cy="261610"/>
          </a:xfrm>
          <a:prstGeom prst="rect">
            <a:avLst/>
          </a:prstGeom>
          <a:noFill/>
        </p:spPr>
        <p:txBody>
          <a:bodyPr wrap="none" rtlCol="0">
            <a:spAutoFit/>
          </a:bodyPr>
          <a:lstStyle/>
          <a:p>
            <a:r>
              <a:rPr lang="en-US" altLang="ko-KR" sz="1100" b="1" spc="-100" dirty="0" smtClean="0">
                <a:solidFill>
                  <a:schemeClr val="bg1"/>
                </a:solidFill>
                <a:latin typeface="나눔스퀘어" panose="020B0600000101010101" pitchFamily="50" charset="-127"/>
                <a:ea typeface="나눔스퀘어" panose="020B0600000101010101" pitchFamily="50" charset="-127"/>
              </a:rPr>
              <a:t>+24%</a:t>
            </a:r>
            <a:endParaRPr lang="ko-KR" altLang="en-US" sz="1100" b="1" spc="-100" dirty="0">
              <a:solidFill>
                <a:schemeClr val="bg1"/>
              </a:solidFill>
              <a:latin typeface="나눔스퀘어" panose="020B0600000101010101" pitchFamily="50" charset="-127"/>
              <a:ea typeface="나눔스퀘어" panose="020B0600000101010101" pitchFamily="50" charset="-127"/>
            </a:endParaRPr>
          </a:p>
        </p:txBody>
      </p:sp>
      <p:sp>
        <p:nvSpPr>
          <p:cNvPr id="85" name="직사각형 84"/>
          <p:cNvSpPr/>
          <p:nvPr/>
        </p:nvSpPr>
        <p:spPr>
          <a:xfrm>
            <a:off x="2788920" y="4592544"/>
            <a:ext cx="780628" cy="1093881"/>
          </a:xfrm>
          <a:prstGeom prst="rect">
            <a:avLst/>
          </a:prstGeom>
          <a:solidFill>
            <a:srgbClr val="0000FF">
              <a:alpha val="6000"/>
            </a:srgbClr>
          </a:solidFill>
          <a:ln>
            <a:noFill/>
          </a:ln>
          <a:effectLst/>
        </p:spPr>
        <p:txBody>
          <a:bodyPr vert="horz" wrap="square" lIns="91440" tIns="45720" rIns="91440" bIns="45720" numCol="1" rtlCol="0" anchor="ctr" anchorCtr="0" compatLnSpc="1">
            <a:prstTxWarp prst="textNoShape">
              <a:avLst/>
            </a:prstTxWarp>
          </a:bodyPr>
          <a:lstStyle/>
          <a:p>
            <a:pPr algn="ctr"/>
            <a:endParaRPr lang="ko-KR" altLang="en-US" sz="2000" b="1" smtClean="0">
              <a:solidFill>
                <a:srgbClr val="0000FF"/>
              </a:solidFill>
            </a:endParaRPr>
          </a:p>
        </p:txBody>
      </p:sp>
      <p:sp>
        <p:nvSpPr>
          <p:cNvPr id="88" name="TextBox 87">
            <a:extLst>
              <a:ext uri="{FF2B5EF4-FFF2-40B4-BE49-F238E27FC236}">
                <a16:creationId xmlns:a16="http://schemas.microsoft.com/office/drawing/2014/main" id="{F419EC2A-DA12-DE70-177E-D060836EC73B}"/>
              </a:ext>
            </a:extLst>
          </p:cNvPr>
          <p:cNvSpPr txBox="1"/>
          <p:nvPr/>
        </p:nvSpPr>
        <p:spPr>
          <a:xfrm>
            <a:off x="2892783" y="5381625"/>
            <a:ext cx="623569" cy="307777"/>
          </a:xfrm>
          <a:prstGeom prst="rect">
            <a:avLst/>
          </a:prstGeom>
          <a:noFill/>
        </p:spPr>
        <p:txBody>
          <a:bodyPr wrap="none" lIns="0" tIns="0" rIns="0" bIns="0" rtlCol="0" anchor="ctr">
            <a:spAutoFit/>
          </a:bodyPr>
          <a:lstStyle/>
          <a:p>
            <a:pPr algn="ctr" latinLnBrk="0"/>
            <a:r>
              <a:rPr lang="en-US" altLang="ko-KR" sz="1000" b="1" dirty="0">
                <a:ln>
                  <a:solidFill>
                    <a:srgbClr val="0FEFC4">
                      <a:alpha val="0"/>
                    </a:srgbClr>
                  </a:solidFill>
                </a:ln>
                <a:solidFill>
                  <a:srgbClr val="0000FF"/>
                </a:solidFill>
                <a:latin typeface="나눔스퀘어" panose="020B0600000101010101" pitchFamily="50" charset="-127"/>
                <a:ea typeface="나눔스퀘어" panose="020B0600000101010101" pitchFamily="50" charset="-127"/>
              </a:rPr>
              <a:t>Impact </a:t>
            </a:r>
            <a:endParaRPr lang="en-US" altLang="ko-KR" sz="1000" b="1" dirty="0" smtClean="0">
              <a:ln>
                <a:solidFill>
                  <a:srgbClr val="0FEFC4">
                    <a:alpha val="0"/>
                  </a:srgbClr>
                </a:solidFill>
              </a:ln>
              <a:solidFill>
                <a:srgbClr val="0000FF"/>
              </a:solidFill>
              <a:latin typeface="나눔스퀘어" panose="020B0600000101010101" pitchFamily="50" charset="-127"/>
              <a:ea typeface="나눔스퀘어" panose="020B0600000101010101" pitchFamily="50" charset="-127"/>
            </a:endParaRPr>
          </a:p>
          <a:p>
            <a:pPr algn="ctr" latinLnBrk="0"/>
            <a:r>
              <a:rPr lang="en-US" altLang="ko-KR" sz="1000" b="1" dirty="0" smtClean="0">
                <a:ln>
                  <a:solidFill>
                    <a:srgbClr val="0FEFC4">
                      <a:alpha val="0"/>
                    </a:srgbClr>
                  </a:solidFill>
                </a:ln>
                <a:solidFill>
                  <a:srgbClr val="0000FF"/>
                </a:solidFill>
                <a:latin typeface="나눔스퀘어" panose="020B0600000101010101" pitchFamily="50" charset="-127"/>
                <a:ea typeface="나눔스퀘어" panose="020B0600000101010101" pitchFamily="50" charset="-127"/>
              </a:rPr>
              <a:t>of </a:t>
            </a:r>
            <a:r>
              <a:rPr lang="en-US" altLang="ko-KR" sz="1000" b="1" dirty="0">
                <a:ln>
                  <a:solidFill>
                    <a:srgbClr val="0FEFC4">
                      <a:alpha val="0"/>
                    </a:srgbClr>
                  </a:solidFill>
                </a:ln>
                <a:solidFill>
                  <a:srgbClr val="0000FF"/>
                </a:solidFill>
                <a:latin typeface="나눔스퀘어" panose="020B0600000101010101" pitchFamily="50" charset="-127"/>
                <a:ea typeface="나눔스퀘어" panose="020B0600000101010101" pitchFamily="50" charset="-127"/>
              </a:rPr>
              <a:t>the War</a:t>
            </a:r>
          </a:p>
        </p:txBody>
      </p:sp>
      <p:sp>
        <p:nvSpPr>
          <p:cNvPr id="89" name="슬라이드 번호 개체 틀 5">
            <a:extLst>
              <a:ext uri="{FF2B5EF4-FFF2-40B4-BE49-F238E27FC236}">
                <a16:creationId xmlns:a16="http://schemas.microsoft.com/office/drawing/2014/main" id="{FAC1EB1B-E602-0247-88AB-A89AF71255A6}"/>
              </a:ext>
            </a:extLst>
          </p:cNvPr>
          <p:cNvSpPr txBox="1">
            <a:spLocks/>
          </p:cNvSpPr>
          <p:nvPr/>
        </p:nvSpPr>
        <p:spPr>
          <a:xfrm>
            <a:off x="5419725" y="6426152"/>
            <a:ext cx="788332" cy="326455"/>
          </a:xfrm>
          <a:prstGeom prst="rect">
            <a:avLst/>
          </a:prstGeom>
        </p:spPr>
        <p:txBody>
          <a:bodyPr lIns="162531" tIns="81264" rIns="162531" bIns="81264" anchor="ctr"/>
          <a:lstStyle>
            <a:lvl1pPr algn="r">
              <a:defRPr sz="1200">
                <a:solidFill>
                  <a:schemeClr val="tx1">
                    <a:tint val="75000"/>
                  </a:schemeClr>
                </a:solidFill>
              </a:defRPr>
            </a:lvl1pPr>
          </a:lstStyle>
          <a:p>
            <a:pPr defTabSz="1219048">
              <a:defRPr/>
            </a:pPr>
            <a:r>
              <a:rPr lang="en-US" altLang="ko-KR" dirty="0" smtClean="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rPr>
              <a:t>11</a:t>
            </a:r>
            <a:endParaRPr lang="ko-KR" altLang="en-US"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endParaRPr>
          </a:p>
        </p:txBody>
      </p:sp>
      <p:grpSp>
        <p:nvGrpSpPr>
          <p:cNvPr id="66" name="그룹 65"/>
          <p:cNvGrpSpPr/>
          <p:nvPr/>
        </p:nvGrpSpPr>
        <p:grpSpPr>
          <a:xfrm>
            <a:off x="10020301" y="6290"/>
            <a:ext cx="1778422" cy="552569"/>
            <a:chOff x="10020301" y="6290"/>
            <a:chExt cx="1778422" cy="552569"/>
          </a:xfrm>
        </p:grpSpPr>
        <p:cxnSp>
          <p:nvCxnSpPr>
            <p:cNvPr id="67" name="직선 연결선 66"/>
            <p:cNvCxnSpPr/>
            <p:nvPr/>
          </p:nvCxnSpPr>
          <p:spPr>
            <a:xfrm>
              <a:off x="11671487" y="6290"/>
              <a:ext cx="0" cy="313957"/>
            </a:xfrm>
            <a:prstGeom prst="line">
              <a:avLst/>
            </a:prstGeom>
            <a:ln w="635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8" name="TextBox 67"/>
            <p:cNvSpPr txBox="1"/>
            <p:nvPr/>
          </p:nvSpPr>
          <p:spPr>
            <a:xfrm>
              <a:off x="10020301" y="381709"/>
              <a:ext cx="1552032" cy="153888"/>
            </a:xfrm>
            <a:prstGeom prst="rect">
              <a:avLst/>
            </a:prstGeom>
            <a:noFill/>
            <a:ln w="9525">
              <a:noFill/>
              <a:miter lim="800000"/>
              <a:headEnd/>
              <a:tailEnd/>
            </a:ln>
          </p:spPr>
          <p:txBody>
            <a:bodyPr wrap="square" lIns="0" tIns="0" rIns="0" bIns="0" anchor="ctr">
              <a:spAutoFit/>
            </a:bodyPr>
            <a:lstStyle>
              <a:defPPr>
                <a:defRPr lang="ko-KR"/>
              </a:defPPr>
              <a:lvl1pPr defTabSz="914125" fontAlgn="base" latinLnBrk="0">
                <a:spcBef>
                  <a:spcPct val="0"/>
                </a:spcBef>
                <a:spcAft>
                  <a:spcPts val="200"/>
                </a:spcAft>
                <a:defRPr sz="1100" spc="-20">
                  <a:ln>
                    <a:solidFill>
                      <a:prstClr val="white">
                        <a:alpha val="0"/>
                      </a:prstClr>
                    </a:solidFill>
                  </a:ln>
                  <a:solidFill>
                    <a:schemeClr val="tx1">
                      <a:lumMod val="75000"/>
                      <a:lumOff val="25000"/>
                    </a:schemeClr>
                  </a:solidFill>
                  <a:latin typeface="KoPub돋움체 Bold" panose="02020603020101020101" pitchFamily="18" charset="-127"/>
                  <a:ea typeface="KoPub돋움체 Bold" panose="02020603020101020101" pitchFamily="18" charset="-127"/>
                  <a:cs typeface="Arial" charset="0"/>
                </a:defRPr>
              </a:lvl1pPr>
            </a:lstStyle>
            <a:p>
              <a:pPr lvl="0" algn="r">
                <a:defRPr/>
              </a:pPr>
              <a:r>
                <a:rPr lang="en-US" altLang="ko-KR"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rPr>
                <a:t>2026 2H Market Outlook</a:t>
              </a:r>
            </a:p>
          </p:txBody>
        </p:sp>
        <p:sp>
          <p:nvSpPr>
            <p:cNvPr id="69" name="타원 68"/>
            <p:cNvSpPr/>
            <p:nvPr/>
          </p:nvSpPr>
          <p:spPr>
            <a:xfrm>
              <a:off x="11340239"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20" normalizeH="0" baseline="0" noProof="0" dirty="0">
                <a:ln>
                  <a:solidFill>
                    <a:srgbClr val="C00000">
                      <a:alpha val="0"/>
                    </a:srgbClr>
                  </a:solidFill>
                </a:ln>
                <a:solidFill>
                  <a:prstClr val="white"/>
                </a:solidFill>
                <a:effectLst/>
                <a:uLnTx/>
                <a:uFillTx/>
                <a:latin typeface="나눔스퀘어" panose="020B0600000101010101" pitchFamily="50" charset="-127"/>
                <a:ea typeface="나눔스퀘어" panose="020B0600000101010101" pitchFamily="50" charset="-127"/>
                <a:cs typeface="+mn-cs"/>
              </a:endParaRPr>
            </a:p>
          </p:txBody>
        </p:sp>
        <p:sp>
          <p:nvSpPr>
            <p:cNvPr id="74" name="타원 73"/>
            <p:cNvSpPr/>
            <p:nvPr/>
          </p:nvSpPr>
          <p:spPr>
            <a:xfrm>
              <a:off x="11422266"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75" name="타원 74"/>
            <p:cNvSpPr/>
            <p:nvPr/>
          </p:nvSpPr>
          <p:spPr>
            <a:xfrm>
              <a:off x="11504294" y="290256"/>
              <a:ext cx="51827" cy="51827"/>
            </a:xfrm>
            <a:prstGeom prst="ellipse">
              <a:avLst/>
            </a:prstGeom>
            <a:solidFill>
              <a:srgbClr val="0146A0"/>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86" name="TextBox 85"/>
            <p:cNvSpPr txBox="1"/>
            <p:nvPr/>
          </p:nvSpPr>
          <p:spPr>
            <a:xfrm>
              <a:off x="11646437" y="343415"/>
              <a:ext cx="152286" cy="215444"/>
            </a:xfrm>
            <a:prstGeom prst="rect">
              <a:avLst/>
            </a:prstGeom>
            <a:noFill/>
          </p:spPr>
          <p:txBody>
            <a:bodyPr wrap="none" lIns="0" tIns="0" rIns="0" bIns="0" rtlCol="0" anchor="ctr" anchorCtr="0">
              <a:spAutoFit/>
            </a:bodyPr>
            <a:lstStyle>
              <a:defPPr>
                <a:defRPr lang="ko-KR"/>
              </a:defPPr>
              <a:lvl1pPr>
                <a:spcAft>
                  <a:spcPts val="300"/>
                </a:spcAft>
                <a:defRPr sz="2800" spc="-100">
                  <a:ln>
                    <a:solidFill>
                      <a:schemeClr val="bg1">
                        <a:alpha val="0"/>
                      </a:schemeClr>
                    </a:solidFill>
                  </a:ln>
                  <a:solidFill>
                    <a:srgbClr val="005B8D"/>
                  </a:solidFill>
                  <a:latin typeface="Times New Roman" panose="02020603050405020304" pitchFamily="18" charset="0"/>
                  <a:ea typeface="KoPub돋움체 Bold" panose="02020603020101020101" pitchFamily="18" charset="-127"/>
                  <a:cs typeface="Times New Roman" panose="02020603050405020304" pitchFamily="18" charset="0"/>
                </a:defRPr>
              </a:lvl1pPr>
            </a:lstStyle>
            <a:p>
              <a:pPr latinLnBrk="0">
                <a:defRPr/>
              </a:pPr>
              <a:r>
                <a:rPr lang="en-US" altLang="ko-KR" sz="1400" spc="-150" dirty="0" smtClean="0">
                  <a:ln>
                    <a:solidFill>
                      <a:prstClr val="white">
                        <a:alpha val="0"/>
                      </a:prstClr>
                    </a:solidFill>
                  </a:ln>
                  <a:solidFill>
                    <a:srgbClr val="0146A0"/>
                  </a:solidFill>
                  <a:ea typeface="KoPub돋움체 Medium" panose="02020603020101020101" pitchFamily="18" charset="-127"/>
                </a:rPr>
                <a:t>Ⅲ</a:t>
              </a:r>
              <a:endParaRPr lang="en-US" altLang="ko-KR" sz="1400" spc="-150" dirty="0">
                <a:ln>
                  <a:solidFill>
                    <a:prstClr val="white">
                      <a:alpha val="0"/>
                    </a:prstClr>
                  </a:solidFill>
                </a:ln>
                <a:solidFill>
                  <a:srgbClr val="0146A0"/>
                </a:solidFill>
                <a:ea typeface="KoPub돋움체 Medium" panose="02020603020101020101" pitchFamily="18" charset="-127"/>
              </a:endParaRPr>
            </a:p>
          </p:txBody>
        </p:sp>
      </p:grpSp>
      <p:sp>
        <p:nvSpPr>
          <p:cNvPr id="20" name="TextBox 116"/>
          <p:cNvSpPr txBox="1">
            <a:spLocks noChangeArrowheads="1"/>
          </p:cNvSpPr>
          <p:nvPr/>
        </p:nvSpPr>
        <p:spPr bwMode="auto">
          <a:xfrm>
            <a:off x="661878" y="2188796"/>
            <a:ext cx="511998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lvl="0" algn="ctr" defTabSz="1038977" eaLnBrk="1" hangingPunct="1"/>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Surging </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Bunker Prices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A</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fter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the U.S.-Iran </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Conflict</a:t>
            </a:r>
            <a:endPar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spTree>
    <p:extLst>
      <p:ext uri="{BB962C8B-B14F-4D97-AF65-F5344CB8AC3E}">
        <p14:creationId xmlns:p14="http://schemas.microsoft.com/office/powerpoint/2010/main" val="32113315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515938" y="333375"/>
            <a:ext cx="11471746" cy="880283"/>
          </a:xfrm>
        </p:spPr>
        <p:txBody>
          <a:bodyPr/>
          <a:lstStyle/>
          <a:p>
            <a:r>
              <a:rPr lang="en-US" altLang="ko-KR" spc="-100" dirty="0">
                <a:solidFill>
                  <a:prstClr val="black"/>
                </a:solidFill>
              </a:rPr>
              <a:t>Ocean Market Outlook</a:t>
            </a:r>
            <a:r>
              <a:rPr lang="ko-KR" altLang="en-US" spc="-100" dirty="0">
                <a:solidFill>
                  <a:prstClr val="black"/>
                </a:solidFill>
              </a:rPr>
              <a:t> </a:t>
            </a:r>
            <a:r>
              <a:rPr lang="en-US" altLang="ko-KR" sz="2400" spc="-100" dirty="0">
                <a:solidFill>
                  <a:prstClr val="black"/>
                </a:solidFill>
              </a:rPr>
              <a:t>| Key Driver</a:t>
            </a:r>
            <a:r>
              <a:rPr lang="ko-KR" altLang="en-US" sz="2400" spc="-100" dirty="0">
                <a:solidFill>
                  <a:prstClr val="black"/>
                </a:solidFill>
              </a:rPr>
              <a:t> ① </a:t>
            </a:r>
            <a:r>
              <a:rPr lang="en-US" altLang="ko-KR" sz="2400" spc="-100" dirty="0">
                <a:solidFill>
                  <a:prstClr val="black"/>
                </a:solidFill>
              </a:rPr>
              <a:t>- Stabilization of Global Oil Prices</a:t>
            </a:r>
            <a:r>
              <a:rPr lang="ko-KR" altLang="en-US" sz="2400" spc="-100" dirty="0">
                <a:solidFill>
                  <a:prstClr val="black"/>
                </a:solidFill>
              </a:rPr>
              <a:t> </a:t>
            </a:r>
            <a:r>
              <a:rPr lang="en-US" altLang="ko-KR" sz="2400" spc="-100" dirty="0">
                <a:solidFill>
                  <a:prstClr val="black"/>
                </a:solidFill>
              </a:rPr>
              <a:t>(2/2)</a:t>
            </a:r>
            <a:endParaRPr lang="ko-KR" altLang="en-US" dirty="0"/>
          </a:p>
        </p:txBody>
      </p:sp>
      <p:sp>
        <p:nvSpPr>
          <p:cNvPr id="3" name="텍스트 개체 틀 2"/>
          <p:cNvSpPr>
            <a:spLocks noGrp="1"/>
          </p:cNvSpPr>
          <p:nvPr>
            <p:ph type="body" sz="quarter" idx="10"/>
          </p:nvPr>
        </p:nvSpPr>
        <p:spPr>
          <a:xfrm>
            <a:off x="515937" y="1288823"/>
            <a:ext cx="11340783" cy="771752"/>
          </a:xfrm>
        </p:spPr>
        <p:txBody>
          <a:bodyPr/>
          <a:lstStyle/>
          <a:p>
            <a:r>
              <a:rPr lang="en-US" altLang="ko-KR" dirty="0"/>
              <a:t>Bunker prices are expected to decline in 2H, with gradual normalization extending into </a:t>
            </a:r>
            <a:r>
              <a:rPr lang="en-US" altLang="ko-KR" dirty="0" smtClean="0"/>
              <a:t>2027</a:t>
            </a:r>
          </a:p>
          <a:p>
            <a:r>
              <a:rPr lang="en-US" altLang="ko-KR" dirty="0"/>
              <a:t>Higher fuel surcharges may support rates in 3Q, while lower surcharges may weigh on rates in </a:t>
            </a:r>
            <a:r>
              <a:rPr lang="en-US" altLang="ko-KR" dirty="0" smtClean="0"/>
              <a:t>4Q</a:t>
            </a:r>
            <a:endParaRPr lang="ko-KR" altLang="en-US" dirty="0"/>
          </a:p>
        </p:txBody>
      </p:sp>
      <p:grpSp>
        <p:nvGrpSpPr>
          <p:cNvPr id="15" name="그룹 48"/>
          <p:cNvGrpSpPr/>
          <p:nvPr/>
        </p:nvGrpSpPr>
        <p:grpSpPr>
          <a:xfrm>
            <a:off x="503791" y="2117975"/>
            <a:ext cx="5436159" cy="374400"/>
            <a:chOff x="515380" y="1844820"/>
            <a:chExt cx="5436158" cy="374400"/>
          </a:xfrm>
        </p:grpSpPr>
        <p:sp>
          <p:nvSpPr>
            <p:cNvPr id="19" name="Rectangle 215"/>
            <p:cNvSpPr>
              <a:spLocks noChangeArrowheads="1"/>
            </p:cNvSpPr>
            <p:nvPr/>
          </p:nvSpPr>
          <p:spPr bwMode="auto">
            <a:xfrm>
              <a:off x="515380" y="1844820"/>
              <a:ext cx="5436158"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20" name="TextBox 116"/>
            <p:cNvSpPr txBox="1">
              <a:spLocks noChangeArrowheads="1"/>
            </p:cNvSpPr>
            <p:nvPr/>
          </p:nvSpPr>
          <p:spPr bwMode="auto">
            <a:xfrm>
              <a:off x="673467" y="1915641"/>
              <a:ext cx="511998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lvl="0" algn="ctr" defTabSz="1038977" eaLnBrk="1" hangingPunct="1"/>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Bunker </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Prices Expected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to </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Ease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in 2H</a:t>
              </a:r>
            </a:p>
          </p:txBody>
        </p:sp>
      </p:grpSp>
      <p:sp>
        <p:nvSpPr>
          <p:cNvPr id="17" name="Rectangle 215"/>
          <p:cNvSpPr>
            <a:spLocks noChangeArrowheads="1"/>
          </p:cNvSpPr>
          <p:nvPr/>
        </p:nvSpPr>
        <p:spPr bwMode="auto">
          <a:xfrm>
            <a:off x="6235069" y="2117975"/>
            <a:ext cx="5436000"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13" name="자유형 63"/>
          <p:cNvSpPr/>
          <p:nvPr/>
        </p:nvSpPr>
        <p:spPr>
          <a:xfrm>
            <a:off x="503790" y="2117975"/>
            <a:ext cx="780087" cy="368297"/>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14" name="자유형 64"/>
          <p:cNvSpPr/>
          <p:nvPr/>
        </p:nvSpPr>
        <p:spPr>
          <a:xfrm>
            <a:off x="503790" y="2117975"/>
            <a:ext cx="780088" cy="368297"/>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11" name="자유형 63"/>
          <p:cNvSpPr/>
          <p:nvPr/>
        </p:nvSpPr>
        <p:spPr>
          <a:xfrm>
            <a:off x="6237602" y="2118958"/>
            <a:ext cx="780087" cy="368297"/>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12" name="자유형 64"/>
          <p:cNvSpPr/>
          <p:nvPr/>
        </p:nvSpPr>
        <p:spPr>
          <a:xfrm>
            <a:off x="6237602" y="2118958"/>
            <a:ext cx="780088" cy="368297"/>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pic>
        <p:nvPicPr>
          <p:cNvPr id="21" name="Picture 200" descr="악세사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339689" y="4546810"/>
            <a:ext cx="3535193" cy="91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nvGrpSpPr>
          <p:cNvPr id="22" name="그룹 21">
            <a:extLst>
              <a:ext uri="{FF2B5EF4-FFF2-40B4-BE49-F238E27FC236}">
                <a16:creationId xmlns:a16="http://schemas.microsoft.com/office/drawing/2014/main" id="{F1901E48-B53D-6506-5405-7DEBF109E30B}"/>
              </a:ext>
            </a:extLst>
          </p:cNvPr>
          <p:cNvGrpSpPr/>
          <p:nvPr/>
        </p:nvGrpSpPr>
        <p:grpSpPr>
          <a:xfrm>
            <a:off x="521699" y="2599033"/>
            <a:ext cx="5410242" cy="230832"/>
            <a:chOff x="522352" y="2590117"/>
            <a:chExt cx="5410242" cy="230832"/>
          </a:xfrm>
        </p:grpSpPr>
        <p:sp>
          <p:nvSpPr>
            <p:cNvPr id="23" name="직사각형 22">
              <a:extLst>
                <a:ext uri="{FF2B5EF4-FFF2-40B4-BE49-F238E27FC236}">
                  <a16:creationId xmlns:a16="http://schemas.microsoft.com/office/drawing/2014/main" id="{23A877DC-AE7A-42B7-FA1C-82DDBA18195D}"/>
                </a:ext>
              </a:extLst>
            </p:cNvPr>
            <p:cNvSpPr/>
            <p:nvPr/>
          </p:nvSpPr>
          <p:spPr>
            <a:xfrm>
              <a:off x="781342" y="2590117"/>
              <a:ext cx="5151252" cy="230832"/>
            </a:xfrm>
            <a:prstGeom prst="rect">
              <a:avLst/>
            </a:prstGeom>
            <a:noFill/>
          </p:spPr>
          <p:txBody>
            <a:bodyPr wrap="none" lIns="0" tIns="0" rIns="0" bIns="0" anchor="t">
              <a:noAutofit/>
            </a:bodyPr>
            <a:lstStyle/>
            <a:p>
              <a:pPr marR="608330" lvl="0" latinLnBrk="0">
                <a:defRPr/>
              </a:pPr>
              <a:r>
                <a:rPr lang="en-US" altLang="ko-KR" sz="1500" b="1" kern="100" spc="-50" dirty="0">
                  <a:latin typeface="나눔스퀘어 ExtraBold" panose="020B0600000101010101" pitchFamily="50" charset="-127"/>
                  <a:ea typeface="나눔스퀘어 ExtraBold" panose="020B0600000101010101" pitchFamily="50" charset="-127"/>
                  <a:cs typeface="바탕" panose="02030600000101010101" pitchFamily="18" charset="-127"/>
                </a:rPr>
                <a:t>Bunker prices are expected to ease after Hormuz </a:t>
              </a:r>
              <a:r>
                <a:rPr lang="en-US" altLang="ko-KR" sz="1500" b="1" kern="100" spc="-50" dirty="0" smtClean="0">
                  <a:latin typeface="나눔스퀘어 ExtraBold" panose="020B0600000101010101" pitchFamily="50" charset="-127"/>
                  <a:ea typeface="나눔스퀘어 ExtraBold" panose="020B0600000101010101" pitchFamily="50" charset="-127"/>
                  <a:cs typeface="바탕" panose="02030600000101010101" pitchFamily="18" charset="-127"/>
                </a:rPr>
                <a:t>reopens</a:t>
              </a:r>
              <a:endParaRPr lang="ko-KR" altLang="en-US" sz="1500" b="1" kern="100" spc="-50" dirty="0">
                <a:latin typeface="나눔스퀘어 ExtraBold" panose="020B0600000101010101" pitchFamily="50" charset="-127"/>
                <a:ea typeface="나눔스퀘어 ExtraBold" panose="020B0600000101010101" pitchFamily="50" charset="-127"/>
                <a:cs typeface="바탕" panose="02030600000101010101" pitchFamily="18" charset="-127"/>
              </a:endParaRPr>
            </a:p>
          </p:txBody>
        </p:sp>
        <p:grpSp>
          <p:nvGrpSpPr>
            <p:cNvPr id="24" name="그룹 23">
              <a:extLst>
                <a:ext uri="{FF2B5EF4-FFF2-40B4-BE49-F238E27FC236}">
                  <a16:creationId xmlns:a16="http://schemas.microsoft.com/office/drawing/2014/main" id="{E7DF7FF3-3A0C-54A6-2CFC-EFC803C02E75}"/>
                </a:ext>
              </a:extLst>
            </p:cNvPr>
            <p:cNvGrpSpPr/>
            <p:nvPr/>
          </p:nvGrpSpPr>
          <p:grpSpPr>
            <a:xfrm>
              <a:off x="522352" y="2609533"/>
              <a:ext cx="192000" cy="192000"/>
              <a:chOff x="412816" y="1633655"/>
              <a:chExt cx="184804" cy="185998"/>
            </a:xfrm>
          </p:grpSpPr>
          <p:sp>
            <p:nvSpPr>
              <p:cNvPr id="25" name="모서리가 둥근 직사각형 24">
                <a:extLst>
                  <a:ext uri="{FF2B5EF4-FFF2-40B4-BE49-F238E27FC236}">
                    <a16:creationId xmlns:a16="http://schemas.microsoft.com/office/drawing/2014/main" id="{ACFD4B78-44F3-C9EC-0E4C-CDFEBFA96E65}"/>
                  </a:ext>
                </a:extLst>
              </p:cNvPr>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26" name="그룹 186">
                <a:extLst>
                  <a:ext uri="{FF2B5EF4-FFF2-40B4-BE49-F238E27FC236}">
                    <a16:creationId xmlns:a16="http://schemas.microsoft.com/office/drawing/2014/main" id="{8FAD1D07-96B7-2F90-2D67-D8FE24112EC3}"/>
                  </a:ext>
                </a:extLst>
              </p:cNvPr>
              <p:cNvGrpSpPr/>
              <p:nvPr/>
            </p:nvGrpSpPr>
            <p:grpSpPr>
              <a:xfrm>
                <a:off x="454440" y="1688440"/>
                <a:ext cx="106516" cy="76455"/>
                <a:chOff x="3366478" y="5412581"/>
                <a:chExt cx="126078" cy="89916"/>
              </a:xfrm>
              <a:solidFill>
                <a:schemeClr val="bg1"/>
              </a:solidFill>
            </p:grpSpPr>
            <p:sp>
              <p:nvSpPr>
                <p:cNvPr id="27" name="모서리가 둥근 직사각형 26">
                  <a:extLst>
                    <a:ext uri="{FF2B5EF4-FFF2-40B4-BE49-F238E27FC236}">
                      <a16:creationId xmlns:a16="http://schemas.microsoft.com/office/drawing/2014/main" id="{CCFA7DFB-B7B8-EE41-E1CC-E9D7BE39369E}"/>
                    </a:ext>
                  </a:extLst>
                </p:cNvPr>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28" name="모서리가 둥근 직사각형 27">
                  <a:extLst>
                    <a:ext uri="{FF2B5EF4-FFF2-40B4-BE49-F238E27FC236}">
                      <a16:creationId xmlns:a16="http://schemas.microsoft.com/office/drawing/2014/main" id="{F3DDF330-44BF-7DB5-CBAB-F5DE83FFCD3A}"/>
                    </a:ext>
                  </a:extLst>
                </p:cNvPr>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grpSp>
        <p:nvGrpSpPr>
          <p:cNvPr id="29" name="그룹 28">
            <a:extLst>
              <a:ext uri="{FF2B5EF4-FFF2-40B4-BE49-F238E27FC236}">
                <a16:creationId xmlns:a16="http://schemas.microsoft.com/office/drawing/2014/main" id="{EF295706-448F-E9F8-6950-97D9B68EEEB9}"/>
              </a:ext>
            </a:extLst>
          </p:cNvPr>
          <p:cNvGrpSpPr/>
          <p:nvPr/>
        </p:nvGrpSpPr>
        <p:grpSpPr>
          <a:xfrm>
            <a:off x="6290801" y="2599033"/>
            <a:ext cx="5410242" cy="230832"/>
            <a:chOff x="522352" y="2590117"/>
            <a:chExt cx="5410242" cy="230832"/>
          </a:xfrm>
        </p:grpSpPr>
        <p:sp>
          <p:nvSpPr>
            <p:cNvPr id="30" name="직사각형 29">
              <a:extLst>
                <a:ext uri="{FF2B5EF4-FFF2-40B4-BE49-F238E27FC236}">
                  <a16:creationId xmlns:a16="http://schemas.microsoft.com/office/drawing/2014/main" id="{4046860D-C324-CEDE-CB74-5CA6C157F262}"/>
                </a:ext>
              </a:extLst>
            </p:cNvPr>
            <p:cNvSpPr/>
            <p:nvPr/>
          </p:nvSpPr>
          <p:spPr>
            <a:xfrm>
              <a:off x="781342" y="2590117"/>
              <a:ext cx="5151252" cy="230832"/>
            </a:xfrm>
            <a:prstGeom prst="rect">
              <a:avLst/>
            </a:prstGeom>
            <a:noFill/>
          </p:spPr>
          <p:txBody>
            <a:bodyPr wrap="none" lIns="0" tIns="0" rIns="0" bIns="0" anchor="t">
              <a:noAutofit/>
            </a:bodyPr>
            <a:lstStyle/>
            <a:p>
              <a:pPr marR="608330" lvl="0" latinLnBrk="0">
                <a:defRPr/>
              </a:pPr>
              <a:r>
                <a:rPr lang="en-US" altLang="ko-KR"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Fuel surcharges to support 3Q, weigh on 4Q rates</a:t>
              </a:r>
              <a:endParaRPr lang="en-US" altLang="ko-KR" sz="1500" b="1" kern="100" dirty="0" smtClean="0">
                <a:latin typeface="나눔스퀘어 ExtraBold" panose="020B0600000101010101" pitchFamily="50" charset="-127"/>
                <a:ea typeface="나눔스퀘어 ExtraBold" panose="020B0600000101010101" pitchFamily="50" charset="-127"/>
                <a:cs typeface="바탕" panose="02030600000101010101" pitchFamily="18" charset="-127"/>
              </a:endParaRPr>
            </a:p>
          </p:txBody>
        </p:sp>
        <p:grpSp>
          <p:nvGrpSpPr>
            <p:cNvPr id="31" name="그룹 30">
              <a:extLst>
                <a:ext uri="{FF2B5EF4-FFF2-40B4-BE49-F238E27FC236}">
                  <a16:creationId xmlns:a16="http://schemas.microsoft.com/office/drawing/2014/main" id="{60F9DA37-A4B6-8083-096A-75F9B9A801BD}"/>
                </a:ext>
              </a:extLst>
            </p:cNvPr>
            <p:cNvGrpSpPr/>
            <p:nvPr/>
          </p:nvGrpSpPr>
          <p:grpSpPr>
            <a:xfrm>
              <a:off x="522352" y="2609533"/>
              <a:ext cx="192000" cy="192000"/>
              <a:chOff x="412816" y="1633655"/>
              <a:chExt cx="184804" cy="185998"/>
            </a:xfrm>
          </p:grpSpPr>
          <p:sp>
            <p:nvSpPr>
              <p:cNvPr id="32" name="모서리가 둥근 직사각형 31">
                <a:extLst>
                  <a:ext uri="{FF2B5EF4-FFF2-40B4-BE49-F238E27FC236}">
                    <a16:creationId xmlns:a16="http://schemas.microsoft.com/office/drawing/2014/main" id="{24C50D10-136A-C13B-7860-B3159558891F}"/>
                  </a:ext>
                </a:extLst>
              </p:cNvPr>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33" name="그룹 186">
                <a:extLst>
                  <a:ext uri="{FF2B5EF4-FFF2-40B4-BE49-F238E27FC236}">
                    <a16:creationId xmlns:a16="http://schemas.microsoft.com/office/drawing/2014/main" id="{7F155D93-9560-DFB2-BBD9-BAED35A39F72}"/>
                  </a:ext>
                </a:extLst>
              </p:cNvPr>
              <p:cNvGrpSpPr/>
              <p:nvPr/>
            </p:nvGrpSpPr>
            <p:grpSpPr>
              <a:xfrm>
                <a:off x="454440" y="1688440"/>
                <a:ext cx="106516" cy="76455"/>
                <a:chOff x="3366478" y="5412581"/>
                <a:chExt cx="126078" cy="89916"/>
              </a:xfrm>
              <a:solidFill>
                <a:schemeClr val="bg1"/>
              </a:solidFill>
            </p:grpSpPr>
            <p:sp>
              <p:nvSpPr>
                <p:cNvPr id="34" name="모서리가 둥근 직사각형 33">
                  <a:extLst>
                    <a:ext uri="{FF2B5EF4-FFF2-40B4-BE49-F238E27FC236}">
                      <a16:creationId xmlns:a16="http://schemas.microsoft.com/office/drawing/2014/main" id="{CAE7FADE-62C4-5B41-9772-EEDDAB1BD5C2}"/>
                    </a:ext>
                  </a:extLst>
                </p:cNvPr>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35" name="모서리가 둥근 직사각형 34">
                  <a:extLst>
                    <a:ext uri="{FF2B5EF4-FFF2-40B4-BE49-F238E27FC236}">
                      <a16:creationId xmlns:a16="http://schemas.microsoft.com/office/drawing/2014/main" id="{8D39F778-6FBA-9465-6FDC-3682D55B9DFB}"/>
                    </a:ext>
                  </a:extLst>
                </p:cNvPr>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sp>
        <p:nvSpPr>
          <p:cNvPr id="36" name="직사각형 25">
            <a:extLst>
              <a:ext uri="{FF2B5EF4-FFF2-40B4-BE49-F238E27FC236}">
                <a16:creationId xmlns:a16="http://schemas.microsoft.com/office/drawing/2014/main" id="{3F2A1EA1-CAA6-5D90-657A-21DA48D04A7D}"/>
              </a:ext>
            </a:extLst>
          </p:cNvPr>
          <p:cNvSpPr/>
          <p:nvPr/>
        </p:nvSpPr>
        <p:spPr>
          <a:xfrm>
            <a:off x="650244" y="2900214"/>
            <a:ext cx="5502775" cy="1579920"/>
          </a:xfrm>
          <a:prstGeom prst="rect">
            <a:avLst/>
          </a:prstGeom>
        </p:spPr>
        <p:txBody>
          <a:bodyPr wrap="square">
            <a:spAutoFit/>
          </a:bodyPr>
          <a:lstStyle/>
          <a:p>
            <a:pPr marL="144000" indent="-144000" defTabSz="1038977" latinLnBrk="0">
              <a:spcAft>
                <a:spcPts val="800"/>
              </a:spcAft>
              <a:buFont typeface="Arial" panose="020B0604020202020204" pitchFamily="34" charset="0"/>
              <a:buChar char="•"/>
            </a:pPr>
            <a:r>
              <a:rPr lang="en-US" altLang="ko-KR" sz="1400" dirty="0">
                <a:latin typeface="나눔스퀘어" panose="020B0600000101010101" pitchFamily="50" charset="-127"/>
                <a:ea typeface="나눔스퀘어" panose="020B0600000101010101" pitchFamily="50" charset="-127"/>
              </a:rPr>
              <a:t>Bunker prices may ease after Hormuz </a:t>
            </a:r>
            <a:r>
              <a:rPr lang="en-US" altLang="ko-KR" sz="1400" dirty="0" smtClean="0">
                <a:latin typeface="나눔스퀘어" panose="020B0600000101010101" pitchFamily="50" charset="-127"/>
                <a:ea typeface="나눔스퀘어" panose="020B0600000101010101" pitchFamily="50" charset="-127"/>
              </a:rPr>
              <a:t>reopens</a:t>
            </a: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a:t>
            </a:r>
            <a:r>
              <a:rPr lang="en-US" altLang="ko-KR" sz="1400" spc="-30" dirty="0" smtClean="0">
                <a:latin typeface="나눔스퀘어" panose="020B0600000101010101" pitchFamily="50" charset="-127"/>
                <a:ea typeface="나눔스퀘어" panose="020B0600000101010101" pitchFamily="50" charset="-127"/>
              </a:rPr>
              <a:t>- </a:t>
            </a:r>
            <a:r>
              <a:rPr lang="en-US" altLang="ko-KR" sz="1400" spc="-30" dirty="0">
                <a:latin typeface="나눔스퀘어" panose="020B0600000101010101" pitchFamily="50" charset="-127"/>
                <a:ea typeface="나눔스퀘어" panose="020B0600000101010101" pitchFamily="50" charset="-127"/>
              </a:rPr>
              <a:t>Bunker prices are expected to fall about 12% in 4Q and into </a:t>
            </a:r>
            <a:r>
              <a:rPr lang="en-US" altLang="ko-KR" sz="1400" spc="-30" dirty="0" smtClean="0">
                <a:latin typeface="나눔스퀘어" panose="020B0600000101010101" pitchFamily="50" charset="-127"/>
                <a:ea typeface="나눔스퀘어" panose="020B0600000101010101" pitchFamily="50" charset="-127"/>
              </a:rPr>
              <a:t>2027</a:t>
            </a:r>
            <a:endParaRPr lang="en-US" altLang="ko-KR" sz="1400" dirty="0" smtClean="0">
              <a:latin typeface="나눔스퀘어" panose="020B0600000101010101" pitchFamily="50" charset="-127"/>
              <a:ea typeface="나눔스퀘어" panose="020B0600000101010101" pitchFamily="50" charset="-127"/>
            </a:endParaRPr>
          </a:p>
          <a:p>
            <a:pPr marL="144000" indent="-144000" defTabSz="1038977" latinLnBrk="0">
              <a:spcAft>
                <a:spcPts val="800"/>
              </a:spcAft>
              <a:buFont typeface="Arial" panose="020B0604020202020204" pitchFamily="34" charset="0"/>
              <a:buChar char="•"/>
            </a:pPr>
            <a:r>
              <a:rPr lang="en-US" altLang="ko-KR" sz="1400" spc="-30" dirty="0">
                <a:latin typeface="나눔스퀘어" panose="020B0600000101010101" pitchFamily="50" charset="-127"/>
                <a:ea typeface="나눔스퀘어" panose="020B0600000101010101" pitchFamily="50" charset="-127"/>
              </a:rPr>
              <a:t>Normalization is expected to be </a:t>
            </a:r>
            <a:r>
              <a:rPr lang="en-US" altLang="ko-KR" sz="1400" spc="-30" dirty="0" smtClean="0">
                <a:latin typeface="나눔스퀘어" panose="020B0600000101010101" pitchFamily="50" charset="-127"/>
                <a:ea typeface="나눔스퀘어" panose="020B0600000101010101" pitchFamily="50" charset="-127"/>
              </a:rPr>
              <a:t>gradual</a:t>
            </a: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 </a:t>
            </a:r>
            <a:r>
              <a:rPr lang="en-US" altLang="ko-KR" sz="1400" dirty="0">
                <a:latin typeface="나눔스퀘어" panose="020B0600000101010101" pitchFamily="50" charset="-127"/>
                <a:ea typeface="나눔스퀘어" panose="020B0600000101010101" pitchFamily="50" charset="-127"/>
              </a:rPr>
              <a:t>Bunker prices may decline more slowly than crude </a:t>
            </a:r>
            <a:r>
              <a:rPr lang="en-US" altLang="ko-KR" sz="1400" dirty="0" smtClean="0">
                <a:latin typeface="나눔스퀘어" panose="020B0600000101010101" pitchFamily="50" charset="-127"/>
                <a:ea typeface="나눔스퀘어" panose="020B0600000101010101" pitchFamily="50" charset="-127"/>
              </a:rPr>
              <a:t>oil</a:t>
            </a:r>
          </a:p>
          <a:p>
            <a:pPr defTabSz="1038977" latinLnBrk="0">
              <a:spcAft>
                <a:spcPts val="800"/>
              </a:spcAft>
            </a:pPr>
            <a:r>
              <a:rPr lang="en-US" altLang="ko-KR" sz="1400" dirty="0">
                <a:latin typeface="나눔스퀘어" panose="020B0600000101010101" pitchFamily="50" charset="-127"/>
                <a:ea typeface="나눔스퀘어" panose="020B0600000101010101" pitchFamily="50" charset="-127"/>
              </a:rPr>
              <a:t> </a:t>
            </a:r>
            <a:r>
              <a:rPr lang="en-US" altLang="ko-KR" sz="1400" dirty="0" smtClean="0">
                <a:latin typeface="나눔스퀘어" panose="020B0600000101010101" pitchFamily="50" charset="-127"/>
                <a:ea typeface="나눔스퀘어" panose="020B0600000101010101" pitchFamily="50" charset="-127"/>
              </a:rPr>
              <a:t>  - </a:t>
            </a:r>
            <a:r>
              <a:rPr lang="en-US" altLang="ko-KR" sz="1400" dirty="0">
                <a:latin typeface="나눔스퀘어" panose="020B0600000101010101" pitchFamily="50" charset="-127"/>
                <a:ea typeface="나눔스퀘어" panose="020B0600000101010101" pitchFamily="50" charset="-127"/>
              </a:rPr>
              <a:t>Further declines are possible as oil supply </a:t>
            </a:r>
            <a:r>
              <a:rPr lang="en-US" altLang="ko-KR" sz="1400" dirty="0" smtClean="0">
                <a:latin typeface="나눔스퀘어" panose="020B0600000101010101" pitchFamily="50" charset="-127"/>
                <a:ea typeface="나눔스퀘어" panose="020B0600000101010101" pitchFamily="50" charset="-127"/>
              </a:rPr>
              <a:t>normalizes</a:t>
            </a:r>
          </a:p>
        </p:txBody>
      </p:sp>
      <p:sp>
        <p:nvSpPr>
          <p:cNvPr id="37" name="직사각형 25">
            <a:extLst>
              <a:ext uri="{FF2B5EF4-FFF2-40B4-BE49-F238E27FC236}">
                <a16:creationId xmlns:a16="http://schemas.microsoft.com/office/drawing/2014/main" id="{3F2A1EA1-CAA6-5D90-657A-21DA48D04A7D}"/>
              </a:ext>
            </a:extLst>
          </p:cNvPr>
          <p:cNvSpPr/>
          <p:nvPr/>
        </p:nvSpPr>
        <p:spPr>
          <a:xfrm>
            <a:off x="6395854" y="2900214"/>
            <a:ext cx="5748075" cy="1579920"/>
          </a:xfrm>
          <a:prstGeom prst="rect">
            <a:avLst/>
          </a:prstGeom>
        </p:spPr>
        <p:txBody>
          <a:bodyPr wrap="square">
            <a:spAutoFit/>
          </a:bodyPr>
          <a:lstStyle/>
          <a:p>
            <a:pPr marL="144000" indent="-144000" defTabSz="1038977" latinLnBrk="0">
              <a:spcAft>
                <a:spcPts val="800"/>
              </a:spcAft>
              <a:buFont typeface="Arial" panose="020B0604020202020204" pitchFamily="34" charset="0"/>
              <a:buChar char="•"/>
            </a:pPr>
            <a:r>
              <a:rPr lang="en-US" altLang="ko-KR" sz="1400" spc="-30" dirty="0">
                <a:latin typeface="나눔스퀘어" panose="020B0600000101010101" pitchFamily="50" charset="-127"/>
                <a:ea typeface="나눔스퀘어" panose="020B0600000101010101" pitchFamily="50" charset="-127"/>
              </a:rPr>
              <a:t>Higher fuel surcharges may limit downside in </a:t>
            </a:r>
            <a:r>
              <a:rPr lang="en-US" altLang="ko-KR" sz="1400" spc="-30" dirty="0" smtClean="0">
                <a:latin typeface="나눔스퀘어" panose="020B0600000101010101" pitchFamily="50" charset="-127"/>
                <a:ea typeface="나눔스퀘어" panose="020B0600000101010101" pitchFamily="50" charset="-127"/>
              </a:rPr>
              <a:t>3Q</a:t>
            </a: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 </a:t>
            </a:r>
            <a:r>
              <a:rPr lang="en-US" altLang="ko-KR" sz="1400" dirty="0">
                <a:latin typeface="나눔스퀘어" panose="020B0600000101010101" pitchFamily="50" charset="-127"/>
                <a:ea typeface="나눔스퀘어" panose="020B0600000101010101" pitchFamily="50" charset="-127"/>
              </a:rPr>
              <a:t>Higher 3Q fuel surcharges are expected to keep rates </a:t>
            </a:r>
            <a:r>
              <a:rPr lang="en-US" altLang="ko-KR" sz="1400" dirty="0" smtClean="0">
                <a:latin typeface="나눔스퀘어" panose="020B0600000101010101" pitchFamily="50" charset="-127"/>
                <a:ea typeface="나눔스퀘어" panose="020B0600000101010101" pitchFamily="50" charset="-127"/>
              </a:rPr>
              <a:t>elevated</a:t>
            </a:r>
          </a:p>
          <a:p>
            <a:pPr marL="144000" indent="-144000" defTabSz="1038977" latinLnBrk="0">
              <a:spcAft>
                <a:spcPts val="800"/>
              </a:spcAft>
              <a:buFont typeface="Arial" panose="020B0604020202020204" pitchFamily="34" charset="0"/>
              <a:buChar char="•"/>
            </a:pPr>
            <a:r>
              <a:rPr lang="en-US" altLang="ko-KR" sz="1400" spc="-50" dirty="0">
                <a:latin typeface="나눔스퀘어" panose="020B0600000101010101" pitchFamily="50" charset="-127"/>
                <a:ea typeface="나눔스퀘어" panose="020B0600000101010101" pitchFamily="50" charset="-127"/>
              </a:rPr>
              <a:t>Lower fuel surcharges may weigh on 4Q </a:t>
            </a:r>
            <a:r>
              <a:rPr lang="en-US" altLang="ko-KR" sz="1400" spc="-50" dirty="0" smtClean="0">
                <a:latin typeface="나눔스퀘어" panose="020B0600000101010101" pitchFamily="50" charset="-127"/>
                <a:ea typeface="나눔스퀘어" panose="020B0600000101010101" pitchFamily="50" charset="-127"/>
              </a:rPr>
              <a:t>rates</a:t>
            </a:r>
          </a:p>
          <a:p>
            <a:pPr defTabSz="1038977" latinLnBrk="0">
              <a:spcAft>
                <a:spcPts val="800"/>
              </a:spcAft>
            </a:pPr>
            <a:r>
              <a:rPr lang="ko-KR" altLang="en-US" sz="1400" spc="-30" dirty="0" smtClean="0">
                <a:latin typeface="나눔스퀘어" panose="020B0600000101010101" pitchFamily="50" charset="-127"/>
                <a:ea typeface="나눔스퀘어" panose="020B0600000101010101" pitchFamily="50" charset="-127"/>
              </a:rPr>
              <a:t>   </a:t>
            </a:r>
            <a:r>
              <a:rPr lang="en-US" altLang="ko-KR" sz="1400" spc="-30" dirty="0" smtClean="0">
                <a:latin typeface="나눔스퀘어" panose="020B0600000101010101" pitchFamily="50" charset="-127"/>
                <a:ea typeface="나눔스퀘어" panose="020B0600000101010101" pitchFamily="50" charset="-127"/>
              </a:rPr>
              <a:t>- </a:t>
            </a:r>
            <a:r>
              <a:rPr lang="en-US" altLang="ko-KR" sz="1400" spc="-100" dirty="0">
                <a:latin typeface="나눔스퀘어" panose="020B0600000101010101" pitchFamily="50" charset="-127"/>
                <a:ea typeface="나눔스퀘어" panose="020B0600000101010101" pitchFamily="50" charset="-127"/>
              </a:rPr>
              <a:t>Lower bunker prices may reduce regular and emergency fuel </a:t>
            </a:r>
            <a:r>
              <a:rPr lang="en-US" altLang="ko-KR" sz="1400" spc="-100" dirty="0" smtClean="0">
                <a:latin typeface="나눔스퀘어" panose="020B0600000101010101" pitchFamily="50" charset="-127"/>
                <a:ea typeface="나눔스퀘어" panose="020B0600000101010101" pitchFamily="50" charset="-127"/>
              </a:rPr>
              <a:t>surcharges</a:t>
            </a:r>
          </a:p>
          <a:p>
            <a:pPr defTabSz="1038977" latinLnBrk="0">
              <a:spcAft>
                <a:spcPts val="800"/>
              </a:spcAft>
            </a:pPr>
            <a:r>
              <a:rPr lang="en-US" altLang="ko-KR" sz="1400" spc="-80" dirty="0" smtClean="0">
                <a:latin typeface="나눔스퀘어" panose="020B0600000101010101" pitchFamily="50" charset="-127"/>
                <a:ea typeface="나눔스퀘어" panose="020B0600000101010101" pitchFamily="50" charset="-127"/>
              </a:rPr>
              <a:t>    - </a:t>
            </a:r>
            <a:r>
              <a:rPr lang="en-US" altLang="ko-KR" sz="1400" spc="-80" dirty="0">
                <a:latin typeface="나눔스퀘어" panose="020B0600000101010101" pitchFamily="50" charset="-127"/>
                <a:ea typeface="나눔스퀘어" panose="020B0600000101010101" pitchFamily="50" charset="-127"/>
              </a:rPr>
              <a:t>4Q fuel surcharges are expected to fall 41–52% from 3Q (Maersk case</a:t>
            </a:r>
            <a:r>
              <a:rPr lang="en-US" altLang="ko-KR" sz="1400" spc="-80" dirty="0" smtClean="0">
                <a:latin typeface="나눔스퀘어" panose="020B0600000101010101" pitchFamily="50" charset="-127"/>
                <a:ea typeface="나눔스퀘어" panose="020B0600000101010101" pitchFamily="50" charset="-127"/>
              </a:rPr>
              <a:t>)</a:t>
            </a:r>
            <a:endParaRPr lang="en-US" altLang="ko-KR" sz="1400" spc="-100" dirty="0" smtClean="0">
              <a:latin typeface="나눔스퀘어" panose="020B0600000101010101" pitchFamily="50" charset="-127"/>
              <a:ea typeface="나눔스퀘어" panose="020B0600000101010101" pitchFamily="50" charset="-127"/>
            </a:endParaRPr>
          </a:p>
        </p:txBody>
      </p:sp>
      <p:sp>
        <p:nvSpPr>
          <p:cNvPr id="38" name="TextBox 37">
            <a:extLst>
              <a:ext uri="{FF2B5EF4-FFF2-40B4-BE49-F238E27FC236}">
                <a16:creationId xmlns:a16="http://schemas.microsoft.com/office/drawing/2014/main" id="{F419EC2A-DA12-DE70-177E-D060836EC73B}"/>
              </a:ext>
            </a:extLst>
          </p:cNvPr>
          <p:cNvSpPr txBox="1"/>
          <p:nvPr/>
        </p:nvSpPr>
        <p:spPr>
          <a:xfrm>
            <a:off x="525890" y="6506819"/>
            <a:ext cx="2178481" cy="153888"/>
          </a:xfrm>
          <a:prstGeom prst="rect">
            <a:avLst/>
          </a:prstGeom>
          <a:noFill/>
        </p:spPr>
        <p:txBody>
          <a:bodyPr wrap="none" lIns="0" tIns="0" rIns="0" bIns="0" rtlCol="0" anchor="ctr">
            <a:spAutoFit/>
          </a:bodyPr>
          <a:lstStyle/>
          <a:p>
            <a:pPr latinLnBrk="0"/>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Source</a:t>
            </a:r>
            <a:r>
              <a:rPr lang="ko-KR" altLang="en-US"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smtClean="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EIA / Ship &amp; Bunker / Maersk</a:t>
            </a:r>
            <a:endPar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endParaRPr>
          </a:p>
        </p:txBody>
      </p:sp>
      <p:sp>
        <p:nvSpPr>
          <p:cNvPr id="41" name="TextBox 40">
            <a:extLst>
              <a:ext uri="{FF2B5EF4-FFF2-40B4-BE49-F238E27FC236}">
                <a16:creationId xmlns:a16="http://schemas.microsoft.com/office/drawing/2014/main" id="{F419EC2A-DA12-DE70-177E-D060836EC73B}"/>
              </a:ext>
            </a:extLst>
          </p:cNvPr>
          <p:cNvSpPr txBox="1"/>
          <p:nvPr/>
        </p:nvSpPr>
        <p:spPr>
          <a:xfrm>
            <a:off x="6856374" y="4555266"/>
            <a:ext cx="4310924" cy="184666"/>
          </a:xfrm>
          <a:prstGeom prst="rect">
            <a:avLst/>
          </a:prstGeom>
          <a:noFill/>
        </p:spPr>
        <p:txBody>
          <a:bodyPr wrap="none" lIns="0" tIns="0" rIns="0" bIns="0" rtlCol="0" anchor="ctr">
            <a:spAutoFit/>
          </a:bodyPr>
          <a:lstStyle/>
          <a:p>
            <a:pPr latinLnBrk="0"/>
            <a:r>
              <a:rPr lang="en-US" altLang="ko-KR" sz="1200" b="1" dirty="0">
                <a:ln>
                  <a:solidFill>
                    <a:srgbClr val="0FEFC4">
                      <a:alpha val="0"/>
                    </a:srgbClr>
                  </a:solidFill>
                </a:ln>
                <a:solidFill>
                  <a:schemeClr val="tx1">
                    <a:lumMod val="75000"/>
                    <a:lumOff val="25000"/>
                  </a:schemeClr>
                </a:solidFill>
                <a:latin typeface="나눔스퀘어" panose="020B0600000101010101" pitchFamily="50" charset="-127"/>
                <a:ea typeface="나눔스퀘어" panose="020B0600000101010101" pitchFamily="50" charset="-127"/>
              </a:rPr>
              <a:t>[Fuel Surcharge Outlook by Major Trade Route (Maersk Case)]</a:t>
            </a:r>
          </a:p>
        </p:txBody>
      </p:sp>
      <p:sp>
        <p:nvSpPr>
          <p:cNvPr id="42" name="TextBox 41">
            <a:extLst>
              <a:ext uri="{FF2B5EF4-FFF2-40B4-BE49-F238E27FC236}">
                <a16:creationId xmlns:a16="http://schemas.microsoft.com/office/drawing/2014/main" id="{F419EC2A-DA12-DE70-177E-D060836EC73B}"/>
              </a:ext>
            </a:extLst>
          </p:cNvPr>
          <p:cNvSpPr txBox="1"/>
          <p:nvPr/>
        </p:nvSpPr>
        <p:spPr>
          <a:xfrm>
            <a:off x="650244" y="6101565"/>
            <a:ext cx="4001095" cy="307777"/>
          </a:xfrm>
          <a:prstGeom prst="rect">
            <a:avLst/>
          </a:prstGeom>
          <a:noFill/>
        </p:spPr>
        <p:txBody>
          <a:bodyPr wrap="none" lIns="0" tIns="0" rIns="0" bIns="0" rtlCol="0" anchor="t">
            <a:spAutoFit/>
          </a:bodyPr>
          <a:lstStyle/>
          <a:p>
            <a:pPr latinLnBrk="0"/>
            <a:r>
              <a:rPr lang="en-US" altLang="ko-KR" sz="100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a:t>
            </a:r>
            <a:r>
              <a:rPr lang="en-US" altLang="ko-KR" sz="10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a:t>
            </a:r>
            <a:r>
              <a:rPr lang="nb-NO" altLang="ko-KR" sz="100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3Q bunker price: Jul. 1–7 </a:t>
            </a:r>
            <a:r>
              <a:rPr lang="nb-NO" altLang="ko-KR" sz="10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average</a:t>
            </a:r>
          </a:p>
          <a:p>
            <a:pPr latinLnBrk="0"/>
            <a:r>
              <a:rPr lang="en-US" altLang="ko-KR" sz="100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4Q bunker price: Based on Ship &amp; Bunker's 3Q–4Q forecast change</a:t>
            </a:r>
          </a:p>
        </p:txBody>
      </p:sp>
      <p:graphicFrame>
        <p:nvGraphicFramePr>
          <p:cNvPr id="40" name="차트 39"/>
          <p:cNvGraphicFramePr/>
          <p:nvPr>
            <p:extLst>
              <p:ext uri="{D42A27DB-BD31-4B8C-83A1-F6EECF244321}">
                <p14:modId xmlns:p14="http://schemas.microsoft.com/office/powerpoint/2010/main" val="2012463947"/>
              </p:ext>
            </p:extLst>
          </p:nvPr>
        </p:nvGraphicFramePr>
        <p:xfrm>
          <a:off x="503791" y="4477658"/>
          <a:ext cx="5478189" cy="154413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9" name="표 48"/>
          <p:cNvGraphicFramePr>
            <a:graphicFrameLocks noGrp="1"/>
          </p:cNvGraphicFramePr>
          <p:nvPr>
            <p:extLst>
              <p:ext uri="{D42A27DB-BD31-4B8C-83A1-F6EECF244321}">
                <p14:modId xmlns:p14="http://schemas.microsoft.com/office/powerpoint/2010/main" val="353655151"/>
              </p:ext>
            </p:extLst>
          </p:nvPr>
        </p:nvGraphicFramePr>
        <p:xfrm>
          <a:off x="6338703" y="4897008"/>
          <a:ext cx="5333541" cy="1791358"/>
        </p:xfrm>
        <a:graphic>
          <a:graphicData uri="http://schemas.openxmlformats.org/drawingml/2006/table">
            <a:tbl>
              <a:tblPr>
                <a:tableStyleId>{5940675A-B579-460E-94D1-54222C63F5DA}</a:tableStyleId>
              </a:tblPr>
              <a:tblGrid>
                <a:gridCol w="627674">
                  <a:extLst>
                    <a:ext uri="{9D8B030D-6E8A-4147-A177-3AD203B41FA5}">
                      <a16:colId xmlns:a16="http://schemas.microsoft.com/office/drawing/2014/main" val="1277719869"/>
                    </a:ext>
                  </a:extLst>
                </a:gridCol>
                <a:gridCol w="488472">
                  <a:extLst>
                    <a:ext uri="{9D8B030D-6E8A-4147-A177-3AD203B41FA5}">
                      <a16:colId xmlns:a16="http://schemas.microsoft.com/office/drawing/2014/main" val="1351900110"/>
                    </a:ext>
                  </a:extLst>
                </a:gridCol>
                <a:gridCol w="458057">
                  <a:extLst>
                    <a:ext uri="{9D8B030D-6E8A-4147-A177-3AD203B41FA5}">
                      <a16:colId xmlns:a16="http://schemas.microsoft.com/office/drawing/2014/main" val="1026811261"/>
                    </a:ext>
                  </a:extLst>
                </a:gridCol>
                <a:gridCol w="397346">
                  <a:extLst>
                    <a:ext uri="{9D8B030D-6E8A-4147-A177-3AD203B41FA5}">
                      <a16:colId xmlns:a16="http://schemas.microsoft.com/office/drawing/2014/main" val="2119106915"/>
                    </a:ext>
                  </a:extLst>
                </a:gridCol>
                <a:gridCol w="420249">
                  <a:extLst>
                    <a:ext uri="{9D8B030D-6E8A-4147-A177-3AD203B41FA5}">
                      <a16:colId xmlns:a16="http://schemas.microsoft.com/office/drawing/2014/main" val="1200013420"/>
                    </a:ext>
                  </a:extLst>
                </a:gridCol>
                <a:gridCol w="420249">
                  <a:extLst>
                    <a:ext uri="{9D8B030D-6E8A-4147-A177-3AD203B41FA5}">
                      <a16:colId xmlns:a16="http://schemas.microsoft.com/office/drawing/2014/main" val="239641265"/>
                    </a:ext>
                  </a:extLst>
                </a:gridCol>
                <a:gridCol w="420249">
                  <a:extLst>
                    <a:ext uri="{9D8B030D-6E8A-4147-A177-3AD203B41FA5}">
                      <a16:colId xmlns:a16="http://schemas.microsoft.com/office/drawing/2014/main" val="2988003748"/>
                    </a:ext>
                  </a:extLst>
                </a:gridCol>
                <a:gridCol w="420249">
                  <a:extLst>
                    <a:ext uri="{9D8B030D-6E8A-4147-A177-3AD203B41FA5}">
                      <a16:colId xmlns:a16="http://schemas.microsoft.com/office/drawing/2014/main" val="1748983445"/>
                    </a:ext>
                  </a:extLst>
                </a:gridCol>
                <a:gridCol w="420249">
                  <a:extLst>
                    <a:ext uri="{9D8B030D-6E8A-4147-A177-3AD203B41FA5}">
                      <a16:colId xmlns:a16="http://schemas.microsoft.com/office/drawing/2014/main" val="2585525849"/>
                    </a:ext>
                  </a:extLst>
                </a:gridCol>
                <a:gridCol w="420249">
                  <a:extLst>
                    <a:ext uri="{9D8B030D-6E8A-4147-A177-3AD203B41FA5}">
                      <a16:colId xmlns:a16="http://schemas.microsoft.com/office/drawing/2014/main" val="445462677"/>
                    </a:ext>
                  </a:extLst>
                </a:gridCol>
                <a:gridCol w="420249">
                  <a:extLst>
                    <a:ext uri="{9D8B030D-6E8A-4147-A177-3AD203B41FA5}">
                      <a16:colId xmlns:a16="http://schemas.microsoft.com/office/drawing/2014/main" val="174442434"/>
                    </a:ext>
                  </a:extLst>
                </a:gridCol>
                <a:gridCol w="420249">
                  <a:extLst>
                    <a:ext uri="{9D8B030D-6E8A-4147-A177-3AD203B41FA5}">
                      <a16:colId xmlns:a16="http://schemas.microsoft.com/office/drawing/2014/main" val="235354044"/>
                    </a:ext>
                  </a:extLst>
                </a:gridCol>
              </a:tblGrid>
              <a:tr h="171779">
                <a:tc rowSpan="3">
                  <a:txBody>
                    <a:bodyPr/>
                    <a:lstStyle/>
                    <a:p>
                      <a:pPr algn="ctr" rtl="0" fontAlgn="ctr"/>
                      <a:r>
                        <a:rPr lang="en-US" altLang="ko-KR" sz="1100" b="1" u="none" strike="noStrike" dirty="0" smtClean="0">
                          <a:effectLst/>
                          <a:latin typeface="나눔스퀘어" panose="020B0600000101010101" pitchFamily="50" charset="-127"/>
                          <a:ea typeface="나눔스퀘어" panose="020B0600000101010101" pitchFamily="50" charset="-127"/>
                        </a:rPr>
                        <a:t>Period</a:t>
                      </a:r>
                      <a:endParaRPr lang="ko-KR" alt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rowSpan="2" gridSpan="2">
                  <a:txBody>
                    <a:bodyPr/>
                    <a:lstStyle/>
                    <a:p>
                      <a:pPr algn="ctr" rtl="0" fontAlgn="ctr"/>
                      <a:r>
                        <a:rPr lang="en-US" altLang="ko-KR" sz="1100" b="1" u="none" strike="noStrike" spc="-100" baseline="0" dirty="0" smtClean="0">
                          <a:effectLst/>
                          <a:latin typeface="나눔스퀘어" panose="020B0600000101010101" pitchFamily="50" charset="-127"/>
                          <a:ea typeface="나눔스퀘어" panose="020B0600000101010101" pitchFamily="50" charset="-127"/>
                        </a:rPr>
                        <a:t>VLSFO Reference</a:t>
                      </a:r>
                    </a:p>
                    <a:p>
                      <a:pPr algn="ctr" rtl="0" fontAlgn="ctr"/>
                      <a:r>
                        <a:rPr lang="en-US" altLang="ko-KR" sz="1000" b="1" u="none" strike="noStrike" spc="-100" baseline="0" dirty="0" smtClean="0">
                          <a:effectLst/>
                          <a:latin typeface="나눔스퀘어" panose="020B0600000101010101" pitchFamily="50" charset="-127"/>
                          <a:ea typeface="나눔스퀘어" panose="020B0600000101010101" pitchFamily="50" charset="-127"/>
                        </a:rPr>
                        <a:t>(Previous Quarter)</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lumMod val="95000"/>
                      </a:schemeClr>
                    </a:solidFill>
                  </a:tcPr>
                </a:tc>
                <a:tc rowSpan="2" hMerge="1">
                  <a:txBody>
                    <a:bodyPr/>
                    <a:lstStyle/>
                    <a:p>
                      <a:pPr algn="ctr" rtl="0" fontAlgn="ct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gridSpan="3">
                  <a:txBody>
                    <a:bodyPr/>
                    <a:lstStyle/>
                    <a:p>
                      <a:pPr algn="ctr" fontAlgn="ctr"/>
                      <a:r>
                        <a:rPr lang="ko-KR" altLang="en-US" sz="1100" b="1" u="none" strike="noStrike" dirty="0" smtClean="0">
                          <a:effectLst/>
                          <a:latin typeface="나눔스퀘어" panose="020B0600000101010101" pitchFamily="50" charset="-127"/>
                          <a:ea typeface="나눔스퀘어" panose="020B0600000101010101" pitchFamily="50" charset="-127"/>
                        </a:rPr>
                        <a:t>① </a:t>
                      </a:r>
                      <a:r>
                        <a:rPr lang="en-US" altLang="ko-KR" sz="1100" b="1" u="none" strike="noStrike" baseline="0" dirty="0" smtClean="0">
                          <a:effectLst/>
                          <a:latin typeface="나눔스퀘어" panose="020B0600000101010101" pitchFamily="50" charset="-127"/>
                          <a:ea typeface="나눔스퀘어" panose="020B0600000101010101" pitchFamily="50" charset="-127"/>
                        </a:rPr>
                        <a:t>Far East</a:t>
                      </a:r>
                      <a:r>
                        <a:rPr lang="en-US" altLang="ko-KR" sz="1100" b="1" u="none" strike="noStrike" dirty="0" smtClean="0">
                          <a:effectLst/>
                          <a:latin typeface="나눔스퀘어" panose="020B0600000101010101" pitchFamily="50" charset="-127"/>
                          <a:ea typeface="나눔스퀘어" panose="020B0600000101010101" pitchFamily="50" charset="-127"/>
                        </a:rPr>
                        <a:t>-Europe</a:t>
                      </a:r>
                      <a:endParaRPr lang="ko-KR" alt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tc>
                <a:tc hMerge="1">
                  <a:txBody>
                    <a:bodyPr/>
                    <a:lstStyle/>
                    <a:p>
                      <a:pPr latinLnBrk="1"/>
                      <a:endParaRPr lang="ko-KR" altLang="en-US"/>
                    </a:p>
                  </a:txBody>
                  <a:tcPr/>
                </a:tc>
                <a:tc gridSpan="3">
                  <a:txBody>
                    <a:bodyPr/>
                    <a:lstStyle/>
                    <a:p>
                      <a:pPr algn="ctr" fontAlgn="ctr"/>
                      <a:r>
                        <a:rPr lang="ko-KR" altLang="en-US" sz="1100" b="1" u="none" strike="noStrike" dirty="0" smtClean="0">
                          <a:effectLst/>
                          <a:latin typeface="나눔스퀘어" panose="020B0600000101010101" pitchFamily="50" charset="-127"/>
                          <a:ea typeface="나눔스퀘어" panose="020B0600000101010101" pitchFamily="50" charset="-127"/>
                        </a:rPr>
                        <a:t>② </a:t>
                      </a:r>
                      <a:r>
                        <a:rPr lang="en-US" altLang="ko-KR" sz="1100" b="1" u="none" strike="noStrike" baseline="0" dirty="0" smtClean="0">
                          <a:effectLst/>
                          <a:latin typeface="나눔스퀘어" panose="020B0600000101010101" pitchFamily="50" charset="-127"/>
                          <a:ea typeface="나눔스퀘어" panose="020B0600000101010101" pitchFamily="50" charset="-127"/>
                        </a:rPr>
                        <a:t>Far East</a:t>
                      </a:r>
                      <a:r>
                        <a:rPr lang="en-US" altLang="ko-KR" sz="1100" b="1" u="none" strike="noStrike" dirty="0" smtClean="0">
                          <a:effectLst/>
                          <a:latin typeface="나눔스퀘어" panose="020B0600000101010101" pitchFamily="50" charset="-127"/>
                          <a:ea typeface="나눔스퀘어" panose="020B0600000101010101" pitchFamily="50" charset="-127"/>
                        </a:rPr>
                        <a:t>-USWC</a:t>
                      </a:r>
                      <a:endParaRPr lang="ko-KR" alt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tc>
                <a:tc hMerge="1">
                  <a:txBody>
                    <a:bodyPr/>
                    <a:lstStyle/>
                    <a:p>
                      <a:pPr latinLnBrk="1"/>
                      <a:endParaRPr lang="ko-KR" altLang="en-US" dirty="0"/>
                    </a:p>
                  </a:txBody>
                  <a:tcPr/>
                </a:tc>
                <a:tc gridSpan="3">
                  <a:txBody>
                    <a:bodyPr/>
                    <a:lstStyle/>
                    <a:p>
                      <a:pPr algn="ctr" rtl="0" fontAlgn="ctr"/>
                      <a:r>
                        <a:rPr lang="ko-KR" altLang="en-US" sz="1100" b="1" u="none" strike="noStrike" dirty="0" smtClean="0">
                          <a:effectLst/>
                          <a:latin typeface="나눔스퀘어" panose="020B0600000101010101" pitchFamily="50" charset="-127"/>
                          <a:ea typeface="나눔스퀘어" panose="020B0600000101010101" pitchFamily="50" charset="-127"/>
                        </a:rPr>
                        <a:t>③ </a:t>
                      </a:r>
                      <a:r>
                        <a:rPr lang="en-US" altLang="ko-KR" sz="1100" b="1" u="none" strike="noStrike" baseline="0" dirty="0" smtClean="0">
                          <a:effectLst/>
                          <a:latin typeface="나눔스퀘어" panose="020B0600000101010101" pitchFamily="50" charset="-127"/>
                          <a:ea typeface="나눔스퀘어" panose="020B0600000101010101" pitchFamily="50" charset="-127"/>
                        </a:rPr>
                        <a:t>Far East-USEC</a:t>
                      </a:r>
                      <a:endParaRPr lang="ko-KR" alt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121149436"/>
                  </a:ext>
                </a:extLst>
              </a:tr>
              <a:tr h="171779">
                <a:tc vMerge="1">
                  <a:txBody>
                    <a:bodyPr/>
                    <a:lstStyle/>
                    <a:p>
                      <a:pPr latinLnBrk="1"/>
                      <a:endParaRPr lang="ko-KR" altLang="en-US"/>
                    </a:p>
                  </a:txBody>
                  <a:tcPr/>
                </a:tc>
                <a:tc gridSpan="2" vMerge="1">
                  <a:txBody>
                    <a:bodyPr/>
                    <a:lstStyle/>
                    <a:p>
                      <a:pPr latinLnBrk="1"/>
                      <a:endParaRPr lang="ko-KR" altLang="en-US"/>
                    </a:p>
                  </a:txBody>
                  <a:tcPr/>
                </a:tc>
                <a:tc hMerge="1" vMerge="1">
                  <a:txBody>
                    <a:bodyPr/>
                    <a:lstStyle/>
                    <a:p>
                      <a:pPr latinLnBrk="1"/>
                      <a:endParaRPr lang="ko-KR" altLang="en-US"/>
                    </a:p>
                  </a:txBody>
                  <a:tcPr/>
                </a:tc>
                <a:tc gridSpan="3">
                  <a:txBody>
                    <a:bodyPr/>
                    <a:lstStyle/>
                    <a:p>
                      <a:pPr algn="ctr" rtl="0" fontAlgn="ctr"/>
                      <a:r>
                        <a:rPr lang="en-US" altLang="ko-KR" sz="1100" b="1" u="none" strike="noStrike" dirty="0" smtClean="0">
                          <a:effectLst/>
                          <a:latin typeface="나눔스퀘어" panose="020B0600000101010101" pitchFamily="50" charset="-127"/>
                          <a:ea typeface="나눔스퀘어" panose="020B0600000101010101" pitchFamily="50" charset="-127"/>
                        </a:rPr>
                        <a:t>Fuel Surcharge</a:t>
                      </a:r>
                      <a:endParaRPr lang="ko-KR" alt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tc>
                <a:tc hMerge="1">
                  <a:txBody>
                    <a:bodyPr/>
                    <a:lstStyle/>
                    <a:p>
                      <a:pPr latinLnBrk="1"/>
                      <a:endParaRPr lang="ko-KR" altLang="en-US"/>
                    </a:p>
                  </a:txBody>
                  <a:tcPr/>
                </a:tc>
                <a:tc gridSpan="3">
                  <a:txBody>
                    <a:bodyPr/>
                    <a:lstStyle/>
                    <a:p>
                      <a:pPr algn="ctr" rtl="0" fontAlgn="ctr"/>
                      <a:r>
                        <a:rPr lang="en-US" altLang="ko-KR" sz="1100" b="1" u="none" strike="noStrike" dirty="0" smtClean="0">
                          <a:effectLst/>
                          <a:latin typeface="나눔스퀘어" panose="020B0600000101010101" pitchFamily="50" charset="-127"/>
                          <a:ea typeface="나눔스퀘어" panose="020B0600000101010101" pitchFamily="50" charset="-127"/>
                        </a:rPr>
                        <a:t>Fuel Surcharge</a:t>
                      </a:r>
                      <a:endParaRPr lang="ko-KR" alt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tc>
                <a:tc hMerge="1">
                  <a:txBody>
                    <a:bodyPr/>
                    <a:lstStyle/>
                    <a:p>
                      <a:pPr latinLnBrk="1"/>
                      <a:endParaRPr lang="ko-KR" altLang="en-US"/>
                    </a:p>
                  </a:txBody>
                  <a:tcPr/>
                </a:tc>
                <a:tc gridSpan="3">
                  <a:txBody>
                    <a:bodyPr/>
                    <a:lstStyle/>
                    <a:p>
                      <a:pPr algn="ctr" rtl="0" fontAlgn="ctr"/>
                      <a:r>
                        <a:rPr lang="en-US" altLang="ko-KR" sz="1100" b="1" u="none" strike="noStrike" dirty="0" smtClean="0">
                          <a:effectLst/>
                          <a:latin typeface="나눔스퀘어" panose="020B0600000101010101" pitchFamily="50" charset="-127"/>
                          <a:ea typeface="나눔스퀘어" panose="020B0600000101010101" pitchFamily="50" charset="-127"/>
                        </a:rPr>
                        <a:t>Fuel Surcharge</a:t>
                      </a:r>
                      <a:endParaRPr lang="ko-KR" alt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941862548"/>
                  </a:ext>
                </a:extLst>
              </a:tr>
              <a:tr h="171779">
                <a:tc vMerge="1">
                  <a:txBody>
                    <a:bodyPr/>
                    <a:lstStyle/>
                    <a:p>
                      <a:pPr latinLnBrk="1"/>
                      <a:endParaRPr lang="ko-KR" altLang="en-US"/>
                    </a:p>
                  </a:txBody>
                  <a:tcPr/>
                </a:tc>
                <a:tc>
                  <a:txBody>
                    <a:bodyPr/>
                    <a:lstStyle/>
                    <a:p>
                      <a:pPr algn="ctr" rtl="0" fontAlgn="ctr"/>
                      <a:endParaRPr lang="ko-KR" altLang="en-US" sz="1100" b="1" u="none" strike="noStrike" spc="-100" baseline="0" dirty="0" smtClean="0">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100" b="1" i="0" u="none" strike="noStrike" dirty="0" smtClean="0">
                          <a:solidFill>
                            <a:srgbClr val="000000"/>
                          </a:solidFill>
                          <a:effectLst/>
                          <a:latin typeface="나눔스퀘어" panose="020B0600000101010101" pitchFamily="50" charset="-127"/>
                          <a:ea typeface="나눔스퀘어" panose="020B0600000101010101" pitchFamily="50" charset="-127"/>
                        </a:rPr>
                        <a:t>%</a:t>
                      </a:r>
                      <a:r>
                        <a:rPr lang="en-US" altLang="ko-KR" sz="1100" b="1" i="0" u="none" strike="noStrike" dirty="0" err="1" smtClean="0">
                          <a:solidFill>
                            <a:srgbClr val="000000"/>
                          </a:solidFill>
                          <a:effectLst/>
                          <a:latin typeface="나눔스퀘어" panose="020B0600000101010101" pitchFamily="50" charset="-127"/>
                          <a:ea typeface="나눔스퀘어" panose="020B0600000101010101" pitchFamily="50" charset="-127"/>
                        </a:rPr>
                        <a:t>QoQ</a:t>
                      </a:r>
                      <a:endParaRPr lang="en-US" altLang="ko-KR" sz="1100" b="1" i="0" u="none" strike="noStrike" dirty="0" smtClean="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fontAlgn="ctr"/>
                      <a:r>
                        <a:rPr lang="en-US" altLang="ko-KR" sz="1100" b="1" u="none" strike="noStrike" dirty="0" smtClean="0">
                          <a:effectLst/>
                          <a:latin typeface="나눔스퀘어" panose="020B0600000101010101" pitchFamily="50" charset="-127"/>
                          <a:ea typeface="나눔스퀘어" panose="020B0600000101010101" pitchFamily="50" charset="-127"/>
                        </a:rPr>
                        <a:t>Total</a:t>
                      </a:r>
                      <a:r>
                        <a:rPr lang="ko-KR" altLang="en-US" sz="1100" b="1" u="none" strike="noStrike" dirty="0">
                          <a:effectLst/>
                          <a:latin typeface="나눔스퀘어" panose="020B0600000101010101" pitchFamily="50" charset="-127"/>
                          <a:ea typeface="나눔스퀘어" panose="020B0600000101010101" pitchFamily="50" charset="-127"/>
                        </a:rPr>
                        <a:t>　</a:t>
                      </a:r>
                      <a:endParaRPr lang="ko-KR" alt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rtl="0" fontAlgn="ctr"/>
                      <a:r>
                        <a:rPr lang="en-US" sz="1100" b="1" u="none" strike="noStrike" dirty="0">
                          <a:effectLst/>
                          <a:latin typeface="나눔스퀘어" panose="020B0600000101010101" pitchFamily="50" charset="-127"/>
                          <a:ea typeface="나눔스퀘어" panose="020B0600000101010101" pitchFamily="50" charset="-127"/>
                        </a:rPr>
                        <a:t>FFF</a:t>
                      </a: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rtl="0" fontAlgn="ctr"/>
                      <a:r>
                        <a:rPr lang="en-US" sz="1100" b="1" u="none" strike="noStrike" dirty="0">
                          <a:effectLst/>
                          <a:latin typeface="나눔스퀘어" panose="020B0600000101010101" pitchFamily="50" charset="-127"/>
                          <a:ea typeface="나눔스퀘어" panose="020B0600000101010101" pitchFamily="50" charset="-127"/>
                        </a:rPr>
                        <a:t>EBS</a:t>
                      </a: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fontAlgn="ctr"/>
                      <a:r>
                        <a:rPr lang="en-US" altLang="ko-KR" sz="1100" b="1" u="none" strike="noStrike" dirty="0" smtClean="0">
                          <a:effectLst/>
                          <a:latin typeface="나눔스퀘어" panose="020B0600000101010101" pitchFamily="50" charset="-127"/>
                          <a:ea typeface="나눔스퀘어" panose="020B0600000101010101" pitchFamily="50" charset="-127"/>
                        </a:rPr>
                        <a:t>Total</a:t>
                      </a:r>
                      <a:r>
                        <a:rPr lang="ko-KR" altLang="en-US" sz="1100" b="1" u="none" strike="noStrike" dirty="0">
                          <a:effectLst/>
                          <a:latin typeface="나눔스퀘어" panose="020B0600000101010101" pitchFamily="50" charset="-127"/>
                          <a:ea typeface="나눔스퀘어" panose="020B0600000101010101" pitchFamily="50" charset="-127"/>
                        </a:rPr>
                        <a:t>　</a:t>
                      </a:r>
                      <a:endParaRPr lang="ko-KR" alt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rtl="0" fontAlgn="ctr"/>
                      <a:r>
                        <a:rPr lang="en-US" sz="1100" b="1" u="none" strike="noStrike" dirty="0">
                          <a:effectLst/>
                          <a:latin typeface="나눔스퀘어" panose="020B0600000101010101" pitchFamily="50" charset="-127"/>
                          <a:ea typeface="나눔스퀘어" panose="020B0600000101010101" pitchFamily="50" charset="-127"/>
                        </a:rPr>
                        <a:t>FFF</a:t>
                      </a: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rtl="0" fontAlgn="ctr"/>
                      <a:r>
                        <a:rPr lang="en-US" sz="1100" b="1" u="none" strike="noStrike" dirty="0">
                          <a:effectLst/>
                          <a:latin typeface="나눔스퀘어" panose="020B0600000101010101" pitchFamily="50" charset="-127"/>
                          <a:ea typeface="나눔스퀘어" panose="020B0600000101010101" pitchFamily="50" charset="-127"/>
                        </a:rPr>
                        <a:t>EBS</a:t>
                      </a: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fontAlgn="ctr"/>
                      <a:r>
                        <a:rPr lang="en-US" altLang="ko-KR" sz="1100" b="1" u="none" strike="noStrike" dirty="0" smtClean="0">
                          <a:effectLst/>
                          <a:latin typeface="나눔스퀘어" panose="020B0600000101010101" pitchFamily="50" charset="-127"/>
                          <a:ea typeface="나눔스퀘어" panose="020B0600000101010101" pitchFamily="50" charset="-127"/>
                        </a:rPr>
                        <a:t>Total</a:t>
                      </a:r>
                      <a:r>
                        <a:rPr lang="ko-KR" altLang="en-US" sz="1100" b="1" u="none" strike="noStrike" dirty="0">
                          <a:effectLst/>
                          <a:latin typeface="나눔스퀘어" panose="020B0600000101010101" pitchFamily="50" charset="-127"/>
                          <a:ea typeface="나눔스퀘어" panose="020B0600000101010101" pitchFamily="50" charset="-127"/>
                        </a:rPr>
                        <a:t>　</a:t>
                      </a:r>
                      <a:endParaRPr lang="ko-KR" alt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rtl="0" fontAlgn="ctr"/>
                      <a:r>
                        <a:rPr lang="en-US" sz="1100" b="1" u="none" strike="noStrike" dirty="0">
                          <a:effectLst/>
                          <a:latin typeface="나눔스퀘어" panose="020B0600000101010101" pitchFamily="50" charset="-127"/>
                          <a:ea typeface="나눔스퀘어" panose="020B0600000101010101" pitchFamily="50" charset="-127"/>
                        </a:rPr>
                        <a:t>FFF</a:t>
                      </a: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rtl="0" fontAlgn="ctr"/>
                      <a:r>
                        <a:rPr lang="en-US" sz="1100" b="1" u="none" strike="noStrike" dirty="0">
                          <a:effectLst/>
                          <a:latin typeface="나눔스퀘어" panose="020B0600000101010101" pitchFamily="50" charset="-127"/>
                          <a:ea typeface="나눔스퀘어" panose="020B0600000101010101" pitchFamily="50" charset="-127"/>
                        </a:rPr>
                        <a:t>EBS</a:t>
                      </a: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26525701"/>
                  </a:ext>
                </a:extLst>
              </a:tr>
              <a:tr h="171779">
                <a:tc>
                  <a:txBody>
                    <a:bodyPr/>
                    <a:lstStyle/>
                    <a:p>
                      <a:pPr algn="ctr" rtl="0" fontAlgn="ctr"/>
                      <a:r>
                        <a:rPr lang="en-US" sz="1100" u="none" strike="noStrike" dirty="0" smtClean="0">
                          <a:effectLst/>
                          <a:latin typeface="나눔스퀘어" panose="020B0600000101010101" pitchFamily="50" charset="-127"/>
                          <a:ea typeface="나눔스퀘어" panose="020B0600000101010101" pitchFamily="50" charset="-127"/>
                        </a:rPr>
                        <a:t>'26.3Q</a:t>
                      </a:r>
                      <a:endParaRPr lang="en-US"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algn="r" rtl="0" fontAlgn="ctr"/>
                      <a:r>
                        <a:rPr lang="en-US" altLang="ko-KR" sz="1100" u="none" strike="noStrike" dirty="0" smtClean="0">
                          <a:effectLst/>
                          <a:latin typeface="나눔스퀘어" panose="020B0600000101010101" pitchFamily="50" charset="-127"/>
                          <a:ea typeface="나눔스퀘어" panose="020B0600000101010101" pitchFamily="50" charset="-127"/>
                        </a:rPr>
                        <a:t>857</a:t>
                      </a: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algn="r" rtl="0" fontAlgn="ctr"/>
                      <a:r>
                        <a:rPr lang="en-US" altLang="ko-KR" sz="1100" b="0" i="0" u="none" strike="noStrike" dirty="0" smtClean="0">
                          <a:solidFill>
                            <a:srgbClr val="000000"/>
                          </a:solidFill>
                          <a:effectLst/>
                          <a:latin typeface="나눔스퀘어" panose="020B0600000101010101" pitchFamily="50" charset="-127"/>
                          <a:ea typeface="나눔스퀘어" panose="020B0600000101010101" pitchFamily="50" charset="-127"/>
                        </a:rPr>
                        <a:t>34%</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algn="r" rtl="0" fontAlgn="ctr"/>
                      <a:r>
                        <a:rPr lang="en-US" altLang="ko-KR" sz="1100" u="none" strike="noStrike" dirty="0" smtClean="0">
                          <a:effectLst/>
                          <a:latin typeface="나눔스퀘어" panose="020B0600000101010101" pitchFamily="50" charset="-127"/>
                          <a:ea typeface="나눔스퀘어" panose="020B0600000101010101" pitchFamily="50" charset="-127"/>
                        </a:rPr>
                        <a:t>995 </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algn="r" rtl="0" fontAlgn="ctr"/>
                      <a:r>
                        <a:rPr lang="en-US" altLang="ko-KR" sz="1100" u="none" strike="noStrike" dirty="0" smtClean="0">
                          <a:effectLst/>
                          <a:latin typeface="나눔스퀘어" panose="020B0600000101010101" pitchFamily="50" charset="-127"/>
                          <a:ea typeface="나눔스퀘어" panose="020B0600000101010101" pitchFamily="50" charset="-127"/>
                        </a:rPr>
                        <a:t>595 </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algn="r" rtl="0" fontAlgn="ctr"/>
                      <a:r>
                        <a:rPr lang="en-US" altLang="ko-KR" sz="1100" u="none" strike="noStrike" dirty="0">
                          <a:effectLst/>
                          <a:latin typeface="나눔스퀘어" panose="020B0600000101010101" pitchFamily="50" charset="-127"/>
                          <a:ea typeface="나눔스퀘어" panose="020B0600000101010101" pitchFamily="50" charset="-127"/>
                        </a:rPr>
                        <a:t>400</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algn="r" rtl="0" fontAlgn="ctr"/>
                      <a:r>
                        <a:rPr lang="en-US" altLang="ko-KR" sz="1100" u="none" strike="noStrike" dirty="0" smtClean="0">
                          <a:effectLst/>
                          <a:latin typeface="나눔스퀘어" panose="020B0600000101010101" pitchFamily="50" charset="-127"/>
                          <a:ea typeface="나눔스퀘어" panose="020B0600000101010101" pitchFamily="50" charset="-127"/>
                        </a:rPr>
                        <a:t>1,002 </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algn="r" rtl="0" fontAlgn="ctr"/>
                      <a:r>
                        <a:rPr lang="en-US" altLang="ko-KR" sz="1100" u="none" strike="noStrike" dirty="0">
                          <a:effectLst/>
                          <a:latin typeface="나눔스퀘어" panose="020B0600000101010101" pitchFamily="50" charset="-127"/>
                          <a:ea typeface="나눔스퀘어" panose="020B0600000101010101" pitchFamily="50" charset="-127"/>
                        </a:rPr>
                        <a:t>602</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algn="r" rtl="0" fontAlgn="ctr"/>
                      <a:r>
                        <a:rPr lang="en-US" altLang="ko-KR" sz="1100" u="none" strike="noStrike" dirty="0">
                          <a:effectLst/>
                          <a:latin typeface="나눔스퀘어" panose="020B0600000101010101" pitchFamily="50" charset="-127"/>
                          <a:ea typeface="나눔스퀘어" panose="020B0600000101010101" pitchFamily="50" charset="-127"/>
                        </a:rPr>
                        <a:t>400</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algn="r" rtl="0" fontAlgn="ctr"/>
                      <a:r>
                        <a:rPr lang="en-US" altLang="ko-KR" sz="1100" u="none" strike="noStrike" dirty="0" smtClean="0">
                          <a:effectLst/>
                          <a:latin typeface="나눔스퀘어" panose="020B0600000101010101" pitchFamily="50" charset="-127"/>
                          <a:ea typeface="나눔스퀘어" panose="020B0600000101010101" pitchFamily="50" charset="-127"/>
                        </a:rPr>
                        <a:t>1,499 </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algn="r" rtl="0" fontAlgn="ctr"/>
                      <a:r>
                        <a:rPr lang="en-US" altLang="ko-KR" sz="1100" u="none" strike="noStrike" dirty="0">
                          <a:effectLst/>
                          <a:latin typeface="나눔스퀘어" panose="020B0600000101010101" pitchFamily="50" charset="-127"/>
                          <a:ea typeface="나눔스퀘어" panose="020B0600000101010101" pitchFamily="50" charset="-127"/>
                        </a:rPr>
                        <a:t>1,099</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tc>
                  <a:txBody>
                    <a:bodyPr/>
                    <a:lstStyle/>
                    <a:p>
                      <a:pPr algn="r" rtl="0" fontAlgn="ctr"/>
                      <a:r>
                        <a:rPr lang="en-US" altLang="ko-KR" sz="1100" u="none" strike="noStrike" dirty="0">
                          <a:effectLst/>
                          <a:latin typeface="나눔스퀘어" panose="020B0600000101010101" pitchFamily="50" charset="-127"/>
                          <a:ea typeface="나눔스퀘어" panose="020B0600000101010101" pitchFamily="50" charset="-127"/>
                        </a:rPr>
                        <a:t>400</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1480101579"/>
                  </a:ext>
                </a:extLst>
              </a:tr>
              <a:tr h="312326">
                <a:tc>
                  <a:txBody>
                    <a:bodyPr/>
                    <a:lstStyle/>
                    <a:p>
                      <a:pPr algn="ctr" rtl="0" fontAlgn="ctr"/>
                      <a:r>
                        <a:rPr lang="en-US" sz="1100" b="1" u="none" strike="noStrike" dirty="0" smtClean="0">
                          <a:effectLst/>
                          <a:latin typeface="나눔스퀘어" panose="020B0600000101010101" pitchFamily="50" charset="-127"/>
                          <a:ea typeface="나눔스퀘어" panose="020B0600000101010101" pitchFamily="50" charset="-127"/>
                        </a:rPr>
                        <a:t>'26.4Q(f</a:t>
                      </a:r>
                      <a:r>
                        <a:rPr lang="en-US" sz="1100" b="1" u="none" strike="noStrike" dirty="0">
                          <a:effectLst/>
                          <a:latin typeface="나눔스퀘어" panose="020B0600000101010101" pitchFamily="50" charset="-127"/>
                          <a:ea typeface="나눔스퀘어" panose="020B0600000101010101" pitchFamily="50" charset="-127"/>
                        </a:rPr>
                        <a:t>)</a:t>
                      </a: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rtl="0" fontAlgn="ctr">
                        <a:lnSpc>
                          <a:spcPct val="100000"/>
                        </a:lnSpc>
                        <a:spcBef>
                          <a:spcPts val="0"/>
                        </a:spcBef>
                        <a:spcAft>
                          <a:spcPts val="0"/>
                        </a:spcAft>
                      </a:pPr>
                      <a:r>
                        <a:rPr lang="en-US" altLang="ko-KR" sz="1100" b="1" u="none" strike="noStrike" dirty="0" smtClean="0">
                          <a:effectLst/>
                          <a:latin typeface="나눔스퀘어" panose="020B0600000101010101" pitchFamily="50" charset="-127"/>
                          <a:ea typeface="나눔스퀘어" panose="020B0600000101010101" pitchFamily="50" charset="-127"/>
                        </a:rPr>
                        <a:t>683</a:t>
                      </a:r>
                    </a:p>
                    <a:p>
                      <a:pPr marL="0" marR="0" lvl="0" indent="0" algn="r" defTabSz="914400" rtl="0" eaLnBrk="1" fontAlgn="ctr" latinLnBrk="1" hangingPunct="1">
                        <a:lnSpc>
                          <a:spcPct val="100000"/>
                        </a:lnSpc>
                        <a:spcBef>
                          <a:spcPts val="0"/>
                        </a:spcBef>
                        <a:spcAft>
                          <a:spcPts val="0"/>
                        </a:spcAft>
                        <a:buClrTx/>
                        <a:buSzTx/>
                        <a:buFontTx/>
                        <a:buNone/>
                        <a:tabLst/>
                        <a:defRPr/>
                      </a:pP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a:t>
                      </a:r>
                      <a:r>
                        <a:rPr kumimoji="0" lang="ko-KR" altLang="en-US"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a:t>
                      </a: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174) </a:t>
                      </a: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rtl="0" fontAlgn="ctr">
                        <a:lnSpc>
                          <a:spcPct val="100000"/>
                        </a:lnSpc>
                        <a:spcBef>
                          <a:spcPts val="0"/>
                        </a:spcBef>
                        <a:spcAft>
                          <a:spcPts val="0"/>
                        </a:spcAft>
                      </a:pPr>
                      <a:r>
                        <a:rPr lang="en-US" altLang="ko-KR" sz="1100" b="1" i="0" u="none" strike="noStrike" dirty="0" smtClean="0">
                          <a:solidFill>
                            <a:srgbClr val="000000"/>
                          </a:solidFill>
                          <a:effectLst/>
                          <a:latin typeface="나눔스퀘어" panose="020B0600000101010101" pitchFamily="50" charset="-127"/>
                          <a:ea typeface="나눔스퀘어" panose="020B0600000101010101" pitchFamily="50" charset="-127"/>
                        </a:rPr>
                        <a:t>-20%</a:t>
                      </a:r>
                      <a:endParaRPr lang="en-US" altLang="ko-KR"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rtl="0" fontAlgn="ctr">
                        <a:lnSpc>
                          <a:spcPct val="100000"/>
                        </a:lnSpc>
                        <a:spcBef>
                          <a:spcPts val="0"/>
                        </a:spcBef>
                        <a:spcAft>
                          <a:spcPts val="0"/>
                        </a:spcAft>
                      </a:pPr>
                      <a:r>
                        <a:rPr lang="en-US" altLang="ko-KR" sz="1100" b="1" u="none" strike="noStrike" dirty="0" smtClean="0">
                          <a:effectLst/>
                          <a:latin typeface="나눔스퀘어" panose="020B0600000101010101" pitchFamily="50" charset="-127"/>
                          <a:ea typeface="나눔스퀘어" panose="020B0600000101010101" pitchFamily="50" charset="-127"/>
                        </a:rPr>
                        <a:t>476</a:t>
                      </a:r>
                    </a:p>
                    <a:p>
                      <a:pPr algn="r" rtl="0" fontAlgn="ctr">
                        <a:lnSpc>
                          <a:spcPct val="100000"/>
                        </a:lnSpc>
                        <a:spcBef>
                          <a:spcPts val="0"/>
                        </a:spcBef>
                        <a:spcAft>
                          <a:spcPts val="0"/>
                        </a:spcAft>
                      </a:pPr>
                      <a:r>
                        <a:rPr lang="en-US" altLang="ko-KR" sz="9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lang="ko-KR" altLang="en-US" sz="9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lang="en-US" altLang="ko-KR" sz="900" b="1" u="none" strike="noStrike" dirty="0" smtClean="0">
                          <a:solidFill>
                            <a:srgbClr val="0000FF"/>
                          </a:solidFill>
                          <a:effectLst/>
                          <a:latin typeface="나눔스퀘어" panose="020B0600000101010101" pitchFamily="50" charset="-127"/>
                          <a:ea typeface="나눔스퀘어" panose="020B0600000101010101" pitchFamily="50" charset="-127"/>
                        </a:rPr>
                        <a:t>519) </a:t>
                      </a:r>
                      <a:endParaRPr lang="en-US" altLang="ko-KR" sz="900" b="1" i="0" u="none" strike="noStrike" dirty="0">
                        <a:solidFill>
                          <a:srgbClr val="0000FF"/>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rtl="0" fontAlgn="ctr">
                        <a:lnSpc>
                          <a:spcPct val="100000"/>
                        </a:lnSpc>
                        <a:spcBef>
                          <a:spcPts val="0"/>
                        </a:spcBef>
                        <a:spcAft>
                          <a:spcPts val="0"/>
                        </a:spcAft>
                      </a:pPr>
                      <a:r>
                        <a:rPr lang="en-US" altLang="ko-KR" sz="1100" b="1" u="none" strike="noStrike" dirty="0" smtClean="0">
                          <a:effectLst/>
                          <a:latin typeface="나눔스퀘어" panose="020B0600000101010101" pitchFamily="50" charset="-127"/>
                          <a:ea typeface="나눔스퀘어" panose="020B0600000101010101" pitchFamily="50" charset="-127"/>
                        </a:rPr>
                        <a:t>476</a:t>
                      </a:r>
                    </a:p>
                    <a:p>
                      <a:pPr algn="r" rtl="0" fontAlgn="ctr">
                        <a:lnSpc>
                          <a:spcPct val="100000"/>
                        </a:lnSpc>
                        <a:spcBef>
                          <a:spcPts val="0"/>
                        </a:spcBef>
                        <a:spcAft>
                          <a:spcPts val="0"/>
                        </a:spcAft>
                      </a:pP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a:t>
                      </a:r>
                      <a:r>
                        <a:rPr lang="ko-KR" altLang="en-US" sz="9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119) </a:t>
                      </a:r>
                      <a:r>
                        <a:rPr lang="en-US" altLang="ko-KR" sz="900" b="1" u="none" strike="noStrike" dirty="0" smtClean="0">
                          <a:effectLst/>
                          <a:latin typeface="나눔스퀘어" panose="020B0600000101010101" pitchFamily="50" charset="-127"/>
                          <a:ea typeface="나눔스퀘어" panose="020B0600000101010101" pitchFamily="50" charset="-127"/>
                        </a:rPr>
                        <a:t> </a:t>
                      </a:r>
                      <a:endParaRPr lang="en-US" altLang="ko-KR"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rtl="0" fontAlgn="ctr">
                        <a:lnSpc>
                          <a:spcPct val="100000"/>
                        </a:lnSpc>
                        <a:spcBef>
                          <a:spcPts val="0"/>
                        </a:spcBef>
                        <a:spcAft>
                          <a:spcPts val="0"/>
                        </a:spcAft>
                      </a:pPr>
                      <a:r>
                        <a:rPr lang="en-US" altLang="ko-KR" sz="1100" b="1" u="none" strike="noStrike" dirty="0" smtClean="0">
                          <a:effectLst/>
                          <a:latin typeface="나눔스퀘어" panose="020B0600000101010101" pitchFamily="50" charset="-127"/>
                          <a:ea typeface="나눔스퀘어" panose="020B0600000101010101" pitchFamily="50" charset="-127"/>
                        </a:rPr>
                        <a:t>-</a:t>
                      </a:r>
                    </a:p>
                    <a:p>
                      <a:pPr marL="0" marR="0" lvl="0" indent="0" algn="r" defTabSz="914400" rtl="0" eaLnBrk="1" fontAlgn="ctr" latinLnBrk="1" hangingPunct="1">
                        <a:lnSpc>
                          <a:spcPct val="100000"/>
                        </a:lnSpc>
                        <a:spcBef>
                          <a:spcPts val="0"/>
                        </a:spcBef>
                        <a:spcAft>
                          <a:spcPts val="0"/>
                        </a:spcAft>
                        <a:buClrTx/>
                        <a:buSzTx/>
                        <a:buFontTx/>
                        <a:buNone/>
                        <a:tabLst/>
                        <a:defRPr/>
                      </a:pP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a:t>
                      </a:r>
                      <a:r>
                        <a:rPr lang="ko-KR" altLang="en-US" sz="9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400) </a:t>
                      </a:r>
                      <a:r>
                        <a:rPr kumimoji="0" lang="en-US" altLang="ko-KR" sz="900" b="1" i="0" u="none" strike="noStrike" kern="1200" cap="none" spc="0" normalizeH="0" baseline="0" noProof="0" dirty="0" smtClean="0">
                          <a:ln>
                            <a:noFill/>
                          </a:ln>
                          <a:solidFill>
                            <a:prstClr val="black"/>
                          </a:solidFill>
                          <a:effectLst/>
                          <a:uLnTx/>
                          <a:uFillTx/>
                          <a:latin typeface="나눔스퀘어" panose="020B0600000101010101" pitchFamily="50" charset="-127"/>
                          <a:ea typeface="나눔스퀘어" panose="020B0600000101010101" pitchFamily="50" charset="-127"/>
                          <a:cs typeface="+mn-cs"/>
                        </a:rPr>
                        <a:t> </a:t>
                      </a:r>
                      <a:endParaRPr kumimoji="0" lang="en-US" altLang="ko-KR" sz="900" b="1" i="0" u="none" strike="noStrike" kern="1200" cap="none" spc="0" normalizeH="0" baseline="0" noProof="0" dirty="0" smtClean="0">
                        <a:ln>
                          <a:noFill/>
                        </a:ln>
                        <a:solidFill>
                          <a:srgbClr val="000000"/>
                        </a:solidFill>
                        <a:effectLst/>
                        <a:uLnTx/>
                        <a:uFillTx/>
                        <a:latin typeface="나눔스퀘어" panose="020B0600000101010101" pitchFamily="50" charset="-127"/>
                        <a:ea typeface="나눔스퀘어" panose="020B0600000101010101" pitchFamily="50" charset="-127"/>
                        <a:cs typeface="+mn-cs"/>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rtl="0" fontAlgn="ctr">
                        <a:lnSpc>
                          <a:spcPct val="100000"/>
                        </a:lnSpc>
                        <a:spcBef>
                          <a:spcPts val="0"/>
                        </a:spcBef>
                        <a:spcAft>
                          <a:spcPts val="0"/>
                        </a:spcAft>
                      </a:pPr>
                      <a:r>
                        <a:rPr lang="en-US" altLang="ko-KR" sz="1100" b="1" u="none" strike="noStrike" dirty="0" smtClean="0">
                          <a:effectLst/>
                          <a:latin typeface="나눔스퀘어" panose="020B0600000101010101" pitchFamily="50" charset="-127"/>
                          <a:ea typeface="나눔스퀘어" panose="020B0600000101010101" pitchFamily="50" charset="-127"/>
                        </a:rPr>
                        <a:t>482</a:t>
                      </a:r>
                    </a:p>
                    <a:p>
                      <a:pPr marL="0" marR="0" lvl="0" indent="0" algn="r" defTabSz="914400" rtl="0" eaLnBrk="1" fontAlgn="ctr" latinLnBrk="1" hangingPunct="1">
                        <a:lnSpc>
                          <a:spcPct val="100000"/>
                        </a:lnSpc>
                        <a:spcBef>
                          <a:spcPts val="0"/>
                        </a:spcBef>
                        <a:spcAft>
                          <a:spcPts val="0"/>
                        </a:spcAft>
                        <a:buClrTx/>
                        <a:buSzTx/>
                        <a:buFontTx/>
                        <a:buNone/>
                        <a:tabLst/>
                        <a:defRPr/>
                      </a:pPr>
                      <a:r>
                        <a:rPr lang="en-US" altLang="ko-KR" sz="9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lang="ko-KR" altLang="en-US" sz="9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lang="en-US" altLang="ko-KR" sz="900" b="1" u="none" strike="noStrike" dirty="0" smtClean="0">
                          <a:solidFill>
                            <a:srgbClr val="0000FF"/>
                          </a:solidFill>
                          <a:effectLst/>
                          <a:latin typeface="나눔스퀘어" panose="020B0600000101010101" pitchFamily="50" charset="-127"/>
                          <a:ea typeface="나눔스퀘어" panose="020B0600000101010101" pitchFamily="50" charset="-127"/>
                        </a:rPr>
                        <a:t>520)  </a:t>
                      </a:r>
                      <a:endParaRPr lang="en-US" altLang="ko-KR" sz="900" b="1" i="0" u="none" strike="noStrike" dirty="0">
                        <a:solidFill>
                          <a:srgbClr val="0000FF"/>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rtl="0" fontAlgn="ctr">
                        <a:lnSpc>
                          <a:spcPct val="100000"/>
                        </a:lnSpc>
                        <a:spcBef>
                          <a:spcPts val="0"/>
                        </a:spcBef>
                        <a:spcAft>
                          <a:spcPts val="0"/>
                        </a:spcAft>
                      </a:pPr>
                      <a:r>
                        <a:rPr lang="en-US" altLang="ko-KR" sz="1100" b="1" u="none" strike="noStrike" dirty="0" smtClean="0">
                          <a:effectLst/>
                          <a:latin typeface="나눔스퀘어" panose="020B0600000101010101" pitchFamily="50" charset="-127"/>
                          <a:ea typeface="나눔스퀘어" panose="020B0600000101010101" pitchFamily="50" charset="-127"/>
                        </a:rPr>
                        <a:t>482</a:t>
                      </a:r>
                    </a:p>
                    <a:p>
                      <a:pPr marL="0" marR="0" lvl="0" indent="0" algn="r" defTabSz="914400" rtl="0" eaLnBrk="1" fontAlgn="ctr" latinLnBrk="1" hangingPunct="1">
                        <a:lnSpc>
                          <a:spcPct val="100000"/>
                        </a:lnSpc>
                        <a:spcBef>
                          <a:spcPts val="0"/>
                        </a:spcBef>
                        <a:spcAft>
                          <a:spcPts val="0"/>
                        </a:spcAft>
                        <a:buClrTx/>
                        <a:buSzTx/>
                        <a:buFontTx/>
                        <a:buNone/>
                        <a:tabLst/>
                        <a:defRPr/>
                      </a:pP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a:t>
                      </a:r>
                      <a:r>
                        <a:rPr lang="ko-KR" altLang="en-US" sz="9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120) </a:t>
                      </a:r>
                      <a:r>
                        <a:rPr kumimoji="0" lang="en-US" altLang="ko-KR" sz="900" b="1" i="0" u="none" strike="noStrike" kern="1200" cap="none" spc="0" normalizeH="0" baseline="0" noProof="0" dirty="0" smtClean="0">
                          <a:ln>
                            <a:noFill/>
                          </a:ln>
                          <a:solidFill>
                            <a:prstClr val="black"/>
                          </a:solidFill>
                          <a:effectLst/>
                          <a:uLnTx/>
                          <a:uFillTx/>
                          <a:latin typeface="나눔스퀘어" panose="020B0600000101010101" pitchFamily="50" charset="-127"/>
                          <a:ea typeface="나눔스퀘어" panose="020B0600000101010101" pitchFamily="50" charset="-127"/>
                          <a:cs typeface="+mn-cs"/>
                        </a:rPr>
                        <a:t> </a:t>
                      </a:r>
                      <a:r>
                        <a:rPr lang="en-US" altLang="ko-KR" sz="900" b="1" u="none" strike="noStrike" dirty="0" smtClean="0">
                          <a:effectLst/>
                          <a:latin typeface="나눔스퀘어" panose="020B0600000101010101" pitchFamily="50" charset="-127"/>
                          <a:ea typeface="나눔스퀘어" panose="020B0600000101010101" pitchFamily="50" charset="-127"/>
                        </a:rPr>
                        <a:t> </a:t>
                      </a:r>
                      <a:endParaRPr lang="en-US" altLang="ko-KR"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rtl="0" fontAlgn="ctr">
                        <a:lnSpc>
                          <a:spcPct val="100000"/>
                        </a:lnSpc>
                        <a:spcBef>
                          <a:spcPts val="0"/>
                        </a:spcBef>
                        <a:spcAft>
                          <a:spcPts val="0"/>
                        </a:spcAft>
                      </a:pPr>
                      <a:r>
                        <a:rPr lang="en-US" altLang="ko-KR" sz="1100" b="1" i="0" u="none" strike="noStrike" dirty="0" smtClean="0">
                          <a:solidFill>
                            <a:schemeClr val="tx1"/>
                          </a:solidFill>
                          <a:effectLst/>
                          <a:latin typeface="나눔스퀘어" panose="020B0600000101010101" pitchFamily="50" charset="-127"/>
                          <a:ea typeface="나눔스퀘어" panose="020B0600000101010101" pitchFamily="50" charset="-127"/>
                        </a:rPr>
                        <a:t>-</a:t>
                      </a:r>
                    </a:p>
                    <a:p>
                      <a:pPr marL="0" marR="0" lvl="0" indent="0" algn="r" defTabSz="914400" rtl="0" eaLnBrk="1" fontAlgn="ctr" latinLnBrk="1" hangingPunct="1">
                        <a:lnSpc>
                          <a:spcPct val="100000"/>
                        </a:lnSpc>
                        <a:spcBef>
                          <a:spcPts val="0"/>
                        </a:spcBef>
                        <a:spcAft>
                          <a:spcPts val="0"/>
                        </a:spcAft>
                        <a:buClrTx/>
                        <a:buSzTx/>
                        <a:buFontTx/>
                        <a:buNone/>
                        <a:tabLst/>
                        <a:defRPr/>
                      </a:pP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a:t>
                      </a:r>
                      <a:r>
                        <a:rPr lang="ko-KR" altLang="en-US" sz="9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400) </a:t>
                      </a:r>
                      <a:r>
                        <a:rPr kumimoji="0" lang="en-US" altLang="ko-KR" sz="900" b="1" i="0" u="none" strike="noStrike" kern="1200" cap="none" spc="0" normalizeH="0" baseline="0" noProof="0" dirty="0" smtClean="0">
                          <a:ln>
                            <a:noFill/>
                          </a:ln>
                          <a:solidFill>
                            <a:prstClr val="black"/>
                          </a:solidFill>
                          <a:effectLst/>
                          <a:uLnTx/>
                          <a:uFillTx/>
                          <a:latin typeface="나눔스퀘어" panose="020B0600000101010101" pitchFamily="50" charset="-127"/>
                          <a:ea typeface="나눔스퀘어" panose="020B0600000101010101" pitchFamily="50" charset="-127"/>
                          <a:cs typeface="+mn-cs"/>
                        </a:rPr>
                        <a:t> </a:t>
                      </a:r>
                      <a:endParaRPr kumimoji="0" lang="en-US" altLang="ko-KR" sz="900" b="1" i="0" u="none" strike="noStrike" kern="1200" cap="none" spc="0" normalizeH="0" baseline="0" noProof="0" dirty="0" smtClean="0">
                        <a:ln>
                          <a:noFill/>
                        </a:ln>
                        <a:solidFill>
                          <a:srgbClr val="000000"/>
                        </a:solidFill>
                        <a:effectLst/>
                        <a:uLnTx/>
                        <a:uFillTx/>
                        <a:latin typeface="나눔스퀘어" panose="020B0600000101010101" pitchFamily="50" charset="-127"/>
                        <a:ea typeface="나눔스퀘어" panose="020B0600000101010101" pitchFamily="50" charset="-127"/>
                        <a:cs typeface="+mn-cs"/>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rtl="0" fontAlgn="ctr">
                        <a:lnSpc>
                          <a:spcPct val="100000"/>
                        </a:lnSpc>
                        <a:spcBef>
                          <a:spcPts val="0"/>
                        </a:spcBef>
                        <a:spcAft>
                          <a:spcPts val="0"/>
                        </a:spcAft>
                      </a:pPr>
                      <a:r>
                        <a:rPr lang="en-US" altLang="ko-KR" sz="1100" b="1" u="none" strike="noStrike" dirty="0" smtClean="0">
                          <a:effectLst/>
                          <a:latin typeface="나눔스퀘어" panose="020B0600000101010101" pitchFamily="50" charset="-127"/>
                          <a:ea typeface="나눔스퀘어" panose="020B0600000101010101" pitchFamily="50" charset="-127"/>
                        </a:rPr>
                        <a:t>879</a:t>
                      </a:r>
                    </a:p>
                    <a:p>
                      <a:pPr algn="r" rtl="0" fontAlgn="ctr">
                        <a:lnSpc>
                          <a:spcPct val="100000"/>
                        </a:lnSpc>
                        <a:spcBef>
                          <a:spcPts val="0"/>
                        </a:spcBef>
                        <a:spcAft>
                          <a:spcPts val="0"/>
                        </a:spcAft>
                      </a:pPr>
                      <a:r>
                        <a:rPr lang="en-US" altLang="ko-KR" sz="9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lang="ko-KR" altLang="en-US" sz="9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lang="en-US" altLang="ko-KR" sz="900" b="1" u="none" strike="noStrike" dirty="0" smtClean="0">
                          <a:solidFill>
                            <a:srgbClr val="0000FF"/>
                          </a:solidFill>
                          <a:effectLst/>
                          <a:latin typeface="나눔스퀘어" panose="020B0600000101010101" pitchFamily="50" charset="-127"/>
                          <a:ea typeface="나눔스퀘어" panose="020B0600000101010101" pitchFamily="50" charset="-127"/>
                        </a:rPr>
                        <a:t>620) </a:t>
                      </a:r>
                      <a:endParaRPr lang="en-US" altLang="ko-KR" sz="900" b="1" i="0" u="none" strike="noStrike" dirty="0">
                        <a:solidFill>
                          <a:srgbClr val="0000FF"/>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rtl="0" fontAlgn="ctr">
                        <a:lnSpc>
                          <a:spcPct val="100000"/>
                        </a:lnSpc>
                        <a:spcBef>
                          <a:spcPts val="0"/>
                        </a:spcBef>
                        <a:spcAft>
                          <a:spcPts val="0"/>
                        </a:spcAft>
                      </a:pPr>
                      <a:r>
                        <a:rPr lang="en-US" altLang="ko-KR" sz="1100" b="1" u="none" strike="noStrike" dirty="0" smtClean="0">
                          <a:effectLst/>
                          <a:latin typeface="나눔스퀘어" panose="020B0600000101010101" pitchFamily="50" charset="-127"/>
                          <a:ea typeface="나눔스퀘어" panose="020B0600000101010101" pitchFamily="50" charset="-127"/>
                        </a:rPr>
                        <a:t>879</a:t>
                      </a:r>
                    </a:p>
                    <a:p>
                      <a:pPr marL="0" marR="0" lvl="0" indent="0" algn="r" defTabSz="914400" rtl="0" eaLnBrk="1" fontAlgn="ctr" latinLnBrk="1" hangingPunct="1">
                        <a:lnSpc>
                          <a:spcPct val="100000"/>
                        </a:lnSpc>
                        <a:spcBef>
                          <a:spcPts val="0"/>
                        </a:spcBef>
                        <a:spcAft>
                          <a:spcPts val="0"/>
                        </a:spcAft>
                        <a:buClrTx/>
                        <a:buSzTx/>
                        <a:buFontTx/>
                        <a:buNone/>
                        <a:tabLst/>
                        <a:defRPr/>
                      </a:pP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a:t>
                      </a:r>
                      <a:r>
                        <a:rPr lang="ko-KR" altLang="en-US" sz="9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lang="en-US" altLang="ko-KR" sz="900" b="1" u="none" strike="noStrike" dirty="0" smtClean="0">
                          <a:solidFill>
                            <a:srgbClr val="0000FF"/>
                          </a:solidFill>
                          <a:effectLst/>
                          <a:latin typeface="나눔스퀘어" panose="020B0600000101010101" pitchFamily="50" charset="-127"/>
                          <a:ea typeface="나눔스퀘어" panose="020B0600000101010101" pitchFamily="50" charset="-127"/>
                        </a:rPr>
                        <a:t>22</a:t>
                      </a: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0) </a:t>
                      </a:r>
                      <a:r>
                        <a:rPr kumimoji="0" lang="en-US" altLang="ko-KR" sz="900" b="1" i="0" u="none" strike="noStrike" kern="1200" cap="none" spc="0" normalizeH="0" baseline="0" noProof="0" dirty="0" smtClean="0">
                          <a:ln>
                            <a:noFill/>
                          </a:ln>
                          <a:solidFill>
                            <a:prstClr val="black"/>
                          </a:solidFill>
                          <a:effectLst/>
                          <a:uLnTx/>
                          <a:uFillTx/>
                          <a:latin typeface="나눔스퀘어" panose="020B0600000101010101" pitchFamily="50" charset="-127"/>
                          <a:ea typeface="나눔스퀘어" panose="020B0600000101010101" pitchFamily="50" charset="-127"/>
                          <a:cs typeface="+mn-cs"/>
                        </a:rPr>
                        <a:t> </a:t>
                      </a:r>
                      <a:r>
                        <a:rPr lang="en-US" altLang="ko-KR" sz="900" b="1" u="none" strike="noStrike" dirty="0" smtClean="0">
                          <a:effectLst/>
                          <a:latin typeface="나눔스퀘어" panose="020B0600000101010101" pitchFamily="50" charset="-127"/>
                          <a:ea typeface="나눔스퀘어" panose="020B0600000101010101" pitchFamily="50" charset="-127"/>
                        </a:rPr>
                        <a:t> </a:t>
                      </a:r>
                      <a:endParaRPr lang="en-US" altLang="ko-KR"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rtl="0" fontAlgn="ctr">
                        <a:lnSpc>
                          <a:spcPct val="100000"/>
                        </a:lnSpc>
                        <a:spcBef>
                          <a:spcPts val="0"/>
                        </a:spcBef>
                        <a:spcAft>
                          <a:spcPts val="0"/>
                        </a:spcAft>
                      </a:pPr>
                      <a:r>
                        <a:rPr lang="en-US" altLang="ko-KR" sz="1100" b="1" i="0" u="none" strike="noStrike" dirty="0" smtClean="0">
                          <a:solidFill>
                            <a:schemeClr val="tx1"/>
                          </a:solidFill>
                          <a:effectLst/>
                          <a:latin typeface="나눔스퀘어" panose="020B0600000101010101" pitchFamily="50" charset="-127"/>
                          <a:ea typeface="나눔스퀘어" panose="020B0600000101010101" pitchFamily="50" charset="-127"/>
                        </a:rPr>
                        <a:t>-</a:t>
                      </a:r>
                    </a:p>
                    <a:p>
                      <a:pPr marL="0" marR="0" lvl="0" indent="0" algn="r" defTabSz="914400" rtl="0" eaLnBrk="1" fontAlgn="ctr" latinLnBrk="1" hangingPunct="1">
                        <a:lnSpc>
                          <a:spcPct val="100000"/>
                        </a:lnSpc>
                        <a:spcBef>
                          <a:spcPts val="0"/>
                        </a:spcBef>
                        <a:spcAft>
                          <a:spcPts val="0"/>
                        </a:spcAft>
                        <a:buClrTx/>
                        <a:buSzTx/>
                        <a:buFontTx/>
                        <a:buNone/>
                        <a:tabLst/>
                        <a:defRPr/>
                      </a:pP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a:t>
                      </a:r>
                      <a:r>
                        <a:rPr lang="ko-KR" altLang="en-US" sz="9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400) </a:t>
                      </a:r>
                      <a:r>
                        <a:rPr kumimoji="0" lang="en-US" altLang="ko-KR" sz="900" b="1" i="0" u="none" strike="noStrike" kern="1200" cap="none" spc="0" normalizeH="0" baseline="0" noProof="0" dirty="0" smtClean="0">
                          <a:ln>
                            <a:noFill/>
                          </a:ln>
                          <a:solidFill>
                            <a:prstClr val="black"/>
                          </a:solidFill>
                          <a:effectLst/>
                          <a:uLnTx/>
                          <a:uFillTx/>
                          <a:latin typeface="나눔스퀘어" panose="020B0600000101010101" pitchFamily="50" charset="-127"/>
                          <a:ea typeface="나눔스퀘어" panose="020B0600000101010101" pitchFamily="50" charset="-127"/>
                          <a:cs typeface="+mn-cs"/>
                        </a:rPr>
                        <a:t> </a:t>
                      </a:r>
                      <a:endParaRPr kumimoji="0" lang="en-US" altLang="ko-KR" sz="900" b="1" i="0" u="none" strike="noStrike" kern="1200" cap="none" spc="0" normalizeH="0" baseline="0" noProof="0" dirty="0" smtClean="0">
                        <a:ln>
                          <a:noFill/>
                        </a:ln>
                        <a:solidFill>
                          <a:srgbClr val="000000"/>
                        </a:solidFill>
                        <a:effectLst/>
                        <a:uLnTx/>
                        <a:uFillTx/>
                        <a:latin typeface="나눔스퀘어" panose="020B0600000101010101" pitchFamily="50" charset="-127"/>
                        <a:ea typeface="나눔스퀘어" panose="020B0600000101010101" pitchFamily="50" charset="-127"/>
                        <a:cs typeface="+mn-cs"/>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24622663"/>
                  </a:ext>
                </a:extLst>
              </a:tr>
              <a:tr h="312326">
                <a:tc>
                  <a:txBody>
                    <a:bodyPr/>
                    <a:lstStyle/>
                    <a:p>
                      <a:pPr algn="ctr" rtl="0" fontAlgn="ctr"/>
                      <a:r>
                        <a:rPr lang="en-US" sz="1100" b="1" u="none" strike="noStrike" dirty="0" smtClean="0">
                          <a:effectLst/>
                          <a:latin typeface="나눔스퀘어" panose="020B0600000101010101" pitchFamily="50" charset="-127"/>
                          <a:ea typeface="나눔스퀘어" panose="020B0600000101010101" pitchFamily="50" charset="-127"/>
                        </a:rPr>
                        <a:t>'27.1Q(f</a:t>
                      </a:r>
                      <a:r>
                        <a:rPr lang="en-US" sz="1100" b="1" u="none" strike="noStrike" dirty="0">
                          <a:effectLst/>
                          <a:latin typeface="나눔스퀘어" panose="020B0600000101010101" pitchFamily="50" charset="-127"/>
                          <a:ea typeface="나눔스퀘어" panose="020B0600000101010101" pitchFamily="50" charset="-127"/>
                        </a:rPr>
                        <a:t>)</a:t>
                      </a:r>
                      <a:endParaRPr 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rtl="0" fontAlgn="ctr">
                        <a:lnSpc>
                          <a:spcPct val="100000"/>
                        </a:lnSpc>
                        <a:spcBef>
                          <a:spcPts val="0"/>
                        </a:spcBef>
                        <a:spcAft>
                          <a:spcPts val="0"/>
                        </a:spcAft>
                      </a:pPr>
                      <a:r>
                        <a:rPr lang="en-US" altLang="ko-KR" sz="1100" b="1" u="none" strike="noStrike" dirty="0" smtClean="0">
                          <a:effectLst/>
                          <a:latin typeface="나눔스퀘어" panose="020B0600000101010101" pitchFamily="50" charset="-127"/>
                          <a:ea typeface="나눔스퀘어" panose="020B0600000101010101" pitchFamily="50" charset="-127"/>
                        </a:rPr>
                        <a:t>602</a:t>
                      </a:r>
                    </a:p>
                    <a:p>
                      <a:pPr marL="0" marR="0" lvl="0" indent="0" algn="r" defTabSz="914400" rtl="0" eaLnBrk="1" fontAlgn="ctr" latinLnBrk="1" hangingPunct="1">
                        <a:lnSpc>
                          <a:spcPct val="100000"/>
                        </a:lnSpc>
                        <a:spcBef>
                          <a:spcPts val="0"/>
                        </a:spcBef>
                        <a:spcAft>
                          <a:spcPts val="0"/>
                        </a:spcAft>
                        <a:buClrTx/>
                        <a:buSzTx/>
                        <a:buFontTx/>
                        <a:buNone/>
                        <a:tabLst/>
                        <a:defRPr/>
                      </a:pP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a:t>
                      </a:r>
                      <a:r>
                        <a:rPr kumimoji="0" lang="ko-KR" altLang="en-US"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a:t>
                      </a: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81) </a:t>
                      </a: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rtl="0" fontAlgn="ctr">
                        <a:lnSpc>
                          <a:spcPct val="100000"/>
                        </a:lnSpc>
                        <a:spcBef>
                          <a:spcPts val="0"/>
                        </a:spcBef>
                        <a:spcAft>
                          <a:spcPts val="0"/>
                        </a:spcAft>
                      </a:pPr>
                      <a:r>
                        <a:rPr lang="en-US" altLang="ko-KR" sz="1100" b="1" i="0" u="none" strike="noStrike" dirty="0" smtClean="0">
                          <a:solidFill>
                            <a:srgbClr val="000000"/>
                          </a:solidFill>
                          <a:effectLst/>
                          <a:latin typeface="나눔스퀘어" panose="020B0600000101010101" pitchFamily="50" charset="-127"/>
                          <a:ea typeface="나눔스퀘어" panose="020B0600000101010101" pitchFamily="50" charset="-127"/>
                        </a:rPr>
                        <a:t>-12%</a:t>
                      </a:r>
                      <a:endParaRPr lang="en-US" altLang="ko-KR"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rtl="0" fontAlgn="ctr">
                        <a:lnSpc>
                          <a:spcPct val="100000"/>
                        </a:lnSpc>
                        <a:spcBef>
                          <a:spcPts val="0"/>
                        </a:spcBef>
                        <a:spcAft>
                          <a:spcPts val="0"/>
                        </a:spcAft>
                      </a:pPr>
                      <a:r>
                        <a:rPr lang="en-US" altLang="ko-KR" sz="1100" b="1" u="none" strike="noStrike" dirty="0" smtClean="0">
                          <a:effectLst/>
                          <a:latin typeface="나눔스퀘어" panose="020B0600000101010101" pitchFamily="50" charset="-127"/>
                          <a:ea typeface="나눔스퀘어" panose="020B0600000101010101" pitchFamily="50" charset="-127"/>
                        </a:rPr>
                        <a:t>419</a:t>
                      </a:r>
                    </a:p>
                    <a:p>
                      <a:pPr algn="r" rtl="0" fontAlgn="ctr">
                        <a:lnSpc>
                          <a:spcPct val="100000"/>
                        </a:lnSpc>
                        <a:spcBef>
                          <a:spcPts val="0"/>
                        </a:spcBef>
                        <a:spcAft>
                          <a:spcPts val="0"/>
                        </a:spcAft>
                      </a:pPr>
                      <a:r>
                        <a:rPr lang="en-US" altLang="ko-KR" sz="9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lang="ko-KR" altLang="en-US" sz="9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lang="en-US" altLang="ko-KR" sz="900" b="1" u="none" strike="noStrike" dirty="0" smtClean="0">
                          <a:solidFill>
                            <a:srgbClr val="0000FF"/>
                          </a:solidFill>
                          <a:effectLst/>
                          <a:latin typeface="나눔스퀘어" panose="020B0600000101010101" pitchFamily="50" charset="-127"/>
                          <a:ea typeface="나눔스퀘어" panose="020B0600000101010101" pitchFamily="50" charset="-127"/>
                        </a:rPr>
                        <a:t>57) </a:t>
                      </a:r>
                      <a:endParaRPr lang="en-US" altLang="ko-KR" sz="900" b="1" i="0" u="none" strike="noStrike" dirty="0">
                        <a:solidFill>
                          <a:srgbClr val="0000FF"/>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rtl="0" fontAlgn="ctr">
                        <a:lnSpc>
                          <a:spcPct val="100000"/>
                        </a:lnSpc>
                        <a:spcBef>
                          <a:spcPts val="0"/>
                        </a:spcBef>
                        <a:spcAft>
                          <a:spcPts val="0"/>
                        </a:spcAft>
                      </a:pPr>
                      <a:r>
                        <a:rPr lang="en-US" altLang="ko-KR" sz="1100" b="1" u="none" strike="noStrike" dirty="0" smtClean="0">
                          <a:effectLst/>
                          <a:latin typeface="나눔스퀘어" panose="020B0600000101010101" pitchFamily="50" charset="-127"/>
                          <a:ea typeface="나눔스퀘어" panose="020B0600000101010101" pitchFamily="50" charset="-127"/>
                        </a:rPr>
                        <a:t>419</a:t>
                      </a:r>
                    </a:p>
                    <a:p>
                      <a:pPr marL="0" marR="0" lvl="0" indent="0" algn="r" defTabSz="914400" rtl="0" eaLnBrk="1" fontAlgn="ctr" latinLnBrk="1" hangingPunct="1">
                        <a:lnSpc>
                          <a:spcPct val="100000"/>
                        </a:lnSpc>
                        <a:spcBef>
                          <a:spcPts val="0"/>
                        </a:spcBef>
                        <a:spcAft>
                          <a:spcPts val="0"/>
                        </a:spcAft>
                        <a:buClrTx/>
                        <a:buSzTx/>
                        <a:buFontTx/>
                        <a:buNone/>
                        <a:tabLst/>
                        <a:defRPr/>
                      </a:pP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a:t>
                      </a:r>
                      <a:r>
                        <a:rPr lang="ko-KR" altLang="en-US" sz="9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57) </a:t>
                      </a:r>
                      <a:r>
                        <a:rPr lang="en-US" altLang="ko-KR" sz="900" b="1" u="none" strike="noStrike" dirty="0" smtClean="0">
                          <a:effectLst/>
                          <a:latin typeface="나눔스퀘어" panose="020B0600000101010101" pitchFamily="50" charset="-127"/>
                          <a:ea typeface="나눔스퀘어" panose="020B0600000101010101" pitchFamily="50" charset="-127"/>
                        </a:rPr>
                        <a:t> </a:t>
                      </a:r>
                      <a:endParaRPr lang="en-US" altLang="ko-KR"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rtl="0" fontAlgn="ctr">
                        <a:lnSpc>
                          <a:spcPct val="100000"/>
                        </a:lnSpc>
                        <a:spcBef>
                          <a:spcPts val="0"/>
                        </a:spcBef>
                        <a:spcAft>
                          <a:spcPts val="0"/>
                        </a:spcAft>
                      </a:pPr>
                      <a:r>
                        <a:rPr lang="en-US" altLang="ko-KR" sz="1100" b="1" u="none" strike="noStrike" dirty="0" smtClean="0">
                          <a:effectLst/>
                          <a:latin typeface="나눔스퀘어" panose="020B0600000101010101" pitchFamily="50" charset="-127"/>
                          <a:ea typeface="나눔스퀘어" panose="020B0600000101010101" pitchFamily="50" charset="-127"/>
                        </a:rPr>
                        <a:t>-</a:t>
                      </a:r>
                    </a:p>
                    <a:p>
                      <a:pPr marL="0" marR="0" lvl="0" indent="0" algn="r" defTabSz="914400" rtl="0" eaLnBrk="1" fontAlgn="ctr" latinLnBrk="1" hangingPunct="1">
                        <a:lnSpc>
                          <a:spcPct val="100000"/>
                        </a:lnSpc>
                        <a:spcBef>
                          <a:spcPts val="0"/>
                        </a:spcBef>
                        <a:spcAft>
                          <a:spcPts val="0"/>
                        </a:spcAft>
                        <a:buClrTx/>
                        <a:buSzTx/>
                        <a:buFontTx/>
                        <a:buNone/>
                        <a:tabLst/>
                        <a:defRPr/>
                      </a:pP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 </a:t>
                      </a:r>
                      <a:r>
                        <a:rPr kumimoji="0" lang="en-US" altLang="ko-KR" sz="900" b="1" i="0" u="none" strike="noStrike" kern="1200" cap="none" spc="0" normalizeH="0" baseline="0" noProof="0" dirty="0" smtClean="0">
                          <a:ln>
                            <a:noFill/>
                          </a:ln>
                          <a:solidFill>
                            <a:prstClr val="black"/>
                          </a:solidFill>
                          <a:effectLst/>
                          <a:uLnTx/>
                          <a:uFillTx/>
                          <a:latin typeface="나눔스퀘어" panose="020B0600000101010101" pitchFamily="50" charset="-127"/>
                          <a:ea typeface="나눔스퀘어" panose="020B0600000101010101" pitchFamily="50" charset="-127"/>
                          <a:cs typeface="+mn-cs"/>
                        </a:rPr>
                        <a:t> </a:t>
                      </a:r>
                      <a:endParaRPr kumimoji="0" lang="en-US" altLang="ko-KR" sz="900" b="1" i="0" u="none" strike="noStrike" kern="1200" cap="none" spc="0" normalizeH="0" baseline="0" noProof="0" dirty="0" smtClean="0">
                        <a:ln>
                          <a:noFill/>
                        </a:ln>
                        <a:solidFill>
                          <a:srgbClr val="000000"/>
                        </a:solidFill>
                        <a:effectLst/>
                        <a:uLnTx/>
                        <a:uFillTx/>
                        <a:latin typeface="나눔스퀘어" panose="020B0600000101010101" pitchFamily="50" charset="-127"/>
                        <a:ea typeface="나눔스퀘어" panose="020B0600000101010101" pitchFamily="50" charset="-127"/>
                        <a:cs typeface="+mn-cs"/>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rtl="0" fontAlgn="ctr">
                        <a:lnSpc>
                          <a:spcPct val="100000"/>
                        </a:lnSpc>
                        <a:spcBef>
                          <a:spcPts val="0"/>
                        </a:spcBef>
                        <a:spcAft>
                          <a:spcPts val="0"/>
                        </a:spcAft>
                      </a:pPr>
                      <a:r>
                        <a:rPr lang="en-US" altLang="ko-KR" sz="1100" b="1" u="none" strike="noStrike" dirty="0" smtClean="0">
                          <a:effectLst/>
                          <a:latin typeface="나눔스퀘어" panose="020B0600000101010101" pitchFamily="50" charset="-127"/>
                          <a:ea typeface="나눔스퀘어" panose="020B0600000101010101" pitchFamily="50" charset="-127"/>
                        </a:rPr>
                        <a:t>424</a:t>
                      </a:r>
                    </a:p>
                    <a:p>
                      <a:pPr marL="0" marR="0" lvl="0" indent="0" algn="r" defTabSz="914400" rtl="0" eaLnBrk="1" fontAlgn="ctr" latinLnBrk="1" hangingPunct="1">
                        <a:lnSpc>
                          <a:spcPct val="100000"/>
                        </a:lnSpc>
                        <a:spcBef>
                          <a:spcPts val="0"/>
                        </a:spcBef>
                        <a:spcAft>
                          <a:spcPts val="0"/>
                        </a:spcAft>
                        <a:buClrTx/>
                        <a:buSzTx/>
                        <a:buFontTx/>
                        <a:buNone/>
                        <a:tabLst/>
                        <a:defRPr/>
                      </a:pPr>
                      <a:r>
                        <a:rPr lang="en-US" altLang="ko-KR" sz="9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lang="ko-KR" altLang="en-US" sz="9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lang="en-US" altLang="ko-KR" sz="900" b="1" u="none" strike="noStrike" dirty="0" smtClean="0">
                          <a:solidFill>
                            <a:srgbClr val="0000FF"/>
                          </a:solidFill>
                          <a:effectLst/>
                          <a:latin typeface="나눔스퀘어" panose="020B0600000101010101" pitchFamily="50" charset="-127"/>
                          <a:ea typeface="나눔스퀘어" panose="020B0600000101010101" pitchFamily="50" charset="-127"/>
                        </a:rPr>
                        <a:t>58)  </a:t>
                      </a:r>
                      <a:endParaRPr lang="en-US" altLang="ko-KR" sz="900" b="1" i="0" u="none" strike="noStrike" dirty="0">
                        <a:solidFill>
                          <a:srgbClr val="0000FF"/>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rtl="0" fontAlgn="ctr">
                        <a:lnSpc>
                          <a:spcPct val="100000"/>
                        </a:lnSpc>
                        <a:spcBef>
                          <a:spcPts val="0"/>
                        </a:spcBef>
                        <a:spcAft>
                          <a:spcPts val="0"/>
                        </a:spcAft>
                      </a:pPr>
                      <a:r>
                        <a:rPr lang="en-US" altLang="ko-KR" sz="1100" b="1" u="none" strike="noStrike" dirty="0" smtClean="0">
                          <a:effectLst/>
                          <a:latin typeface="나눔스퀘어" panose="020B0600000101010101" pitchFamily="50" charset="-127"/>
                          <a:ea typeface="나눔스퀘어" panose="020B0600000101010101" pitchFamily="50" charset="-127"/>
                        </a:rPr>
                        <a:t>424</a:t>
                      </a:r>
                    </a:p>
                    <a:p>
                      <a:pPr marL="0" marR="0" lvl="0" indent="0" algn="r" defTabSz="914400" rtl="0" eaLnBrk="1" fontAlgn="ctr" latinLnBrk="1" hangingPunct="1">
                        <a:lnSpc>
                          <a:spcPct val="100000"/>
                        </a:lnSpc>
                        <a:spcBef>
                          <a:spcPts val="0"/>
                        </a:spcBef>
                        <a:spcAft>
                          <a:spcPts val="0"/>
                        </a:spcAft>
                        <a:buClrTx/>
                        <a:buSzTx/>
                        <a:buFontTx/>
                        <a:buNone/>
                        <a:tabLst/>
                        <a:defRPr/>
                      </a:pP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a:t>
                      </a:r>
                      <a:r>
                        <a:rPr lang="ko-KR" altLang="en-US" sz="9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58) </a:t>
                      </a:r>
                      <a:r>
                        <a:rPr kumimoji="0" lang="en-US" altLang="ko-KR" sz="900" b="1" i="0" u="none" strike="noStrike" kern="1200" cap="none" spc="0" normalizeH="0" baseline="0" noProof="0" dirty="0" smtClean="0">
                          <a:ln>
                            <a:noFill/>
                          </a:ln>
                          <a:solidFill>
                            <a:prstClr val="black"/>
                          </a:solidFill>
                          <a:effectLst/>
                          <a:uLnTx/>
                          <a:uFillTx/>
                          <a:latin typeface="나눔스퀘어" panose="020B0600000101010101" pitchFamily="50" charset="-127"/>
                          <a:ea typeface="나눔스퀘어" panose="020B0600000101010101" pitchFamily="50" charset="-127"/>
                          <a:cs typeface="+mn-cs"/>
                        </a:rPr>
                        <a:t> </a:t>
                      </a:r>
                      <a:r>
                        <a:rPr lang="en-US" altLang="ko-KR" sz="900" b="1" u="none" strike="noStrike" dirty="0" smtClean="0">
                          <a:effectLst/>
                          <a:latin typeface="나눔스퀘어" panose="020B0600000101010101" pitchFamily="50" charset="-127"/>
                          <a:ea typeface="나눔스퀘어" panose="020B0600000101010101" pitchFamily="50" charset="-127"/>
                        </a:rPr>
                        <a:t> </a:t>
                      </a:r>
                      <a:endParaRPr lang="en-US" altLang="ko-KR"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rtl="0" fontAlgn="ctr">
                        <a:lnSpc>
                          <a:spcPct val="100000"/>
                        </a:lnSpc>
                        <a:spcBef>
                          <a:spcPts val="0"/>
                        </a:spcBef>
                        <a:spcAft>
                          <a:spcPts val="0"/>
                        </a:spcAft>
                      </a:pPr>
                      <a:r>
                        <a:rPr lang="en-US" altLang="ko-KR" sz="1100" b="1" i="0" u="none" strike="noStrike" dirty="0" smtClean="0">
                          <a:solidFill>
                            <a:schemeClr val="tx1"/>
                          </a:solidFill>
                          <a:effectLst/>
                          <a:latin typeface="나눔스퀘어" panose="020B0600000101010101" pitchFamily="50" charset="-127"/>
                          <a:ea typeface="나눔스퀘어" panose="020B0600000101010101" pitchFamily="50" charset="-127"/>
                        </a:rPr>
                        <a:t>-</a:t>
                      </a:r>
                    </a:p>
                    <a:p>
                      <a:pPr marL="0" marR="0" lvl="0" indent="0" algn="r" defTabSz="914400" rtl="0" eaLnBrk="1" fontAlgn="ctr" latinLnBrk="1" hangingPunct="1">
                        <a:lnSpc>
                          <a:spcPct val="100000"/>
                        </a:lnSpc>
                        <a:spcBef>
                          <a:spcPts val="0"/>
                        </a:spcBef>
                        <a:spcAft>
                          <a:spcPts val="0"/>
                        </a:spcAft>
                        <a:buClrTx/>
                        <a:buSzTx/>
                        <a:buFontTx/>
                        <a:buNone/>
                        <a:tabLst/>
                        <a:defRPr/>
                      </a:pP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 </a:t>
                      </a:r>
                      <a:r>
                        <a:rPr kumimoji="0" lang="en-US" altLang="ko-KR" sz="900" b="1" i="0" u="none" strike="noStrike" kern="1200" cap="none" spc="0" normalizeH="0" baseline="0" noProof="0" dirty="0" smtClean="0">
                          <a:ln>
                            <a:noFill/>
                          </a:ln>
                          <a:solidFill>
                            <a:prstClr val="black"/>
                          </a:solidFill>
                          <a:effectLst/>
                          <a:uLnTx/>
                          <a:uFillTx/>
                          <a:latin typeface="나눔스퀘어" panose="020B0600000101010101" pitchFamily="50" charset="-127"/>
                          <a:ea typeface="나눔스퀘어" panose="020B0600000101010101" pitchFamily="50" charset="-127"/>
                          <a:cs typeface="+mn-cs"/>
                        </a:rPr>
                        <a:t> </a:t>
                      </a:r>
                      <a:endParaRPr kumimoji="0" lang="en-US" altLang="ko-KR" sz="900" b="1" i="0" u="none" strike="noStrike" kern="1200" cap="none" spc="0" normalizeH="0" baseline="0" noProof="0" dirty="0" smtClean="0">
                        <a:ln>
                          <a:noFill/>
                        </a:ln>
                        <a:solidFill>
                          <a:srgbClr val="000000"/>
                        </a:solidFill>
                        <a:effectLst/>
                        <a:uLnTx/>
                        <a:uFillTx/>
                        <a:latin typeface="나눔스퀘어" panose="020B0600000101010101" pitchFamily="50" charset="-127"/>
                        <a:ea typeface="나눔스퀘어" panose="020B0600000101010101" pitchFamily="50" charset="-127"/>
                        <a:cs typeface="+mn-cs"/>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rtl="0" fontAlgn="ctr">
                        <a:lnSpc>
                          <a:spcPct val="100000"/>
                        </a:lnSpc>
                        <a:spcBef>
                          <a:spcPts val="0"/>
                        </a:spcBef>
                        <a:spcAft>
                          <a:spcPts val="0"/>
                        </a:spcAft>
                      </a:pPr>
                      <a:r>
                        <a:rPr lang="en-US" altLang="ko-KR" sz="1100" b="1" u="none" strike="noStrike" dirty="0" smtClean="0">
                          <a:effectLst/>
                          <a:latin typeface="나눔스퀘어" panose="020B0600000101010101" pitchFamily="50" charset="-127"/>
                          <a:ea typeface="나눔스퀘어" panose="020B0600000101010101" pitchFamily="50" charset="-127"/>
                        </a:rPr>
                        <a:t>774</a:t>
                      </a:r>
                    </a:p>
                    <a:p>
                      <a:pPr algn="r" rtl="0" fontAlgn="ctr">
                        <a:lnSpc>
                          <a:spcPct val="100000"/>
                        </a:lnSpc>
                        <a:spcBef>
                          <a:spcPts val="0"/>
                        </a:spcBef>
                        <a:spcAft>
                          <a:spcPts val="0"/>
                        </a:spcAft>
                      </a:pPr>
                      <a:r>
                        <a:rPr lang="en-US" altLang="ko-KR" sz="9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lang="ko-KR" altLang="en-US" sz="9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lang="en-US" altLang="ko-KR" sz="900" b="1" u="none" strike="noStrike" dirty="0" smtClean="0">
                          <a:solidFill>
                            <a:srgbClr val="0000FF"/>
                          </a:solidFill>
                          <a:effectLst/>
                          <a:latin typeface="나눔스퀘어" panose="020B0600000101010101" pitchFamily="50" charset="-127"/>
                          <a:ea typeface="나눔스퀘어" panose="020B0600000101010101" pitchFamily="50" charset="-127"/>
                        </a:rPr>
                        <a:t>106) </a:t>
                      </a:r>
                      <a:endParaRPr lang="en-US" altLang="ko-KR" sz="900" b="1" i="0" u="none" strike="noStrike" dirty="0">
                        <a:solidFill>
                          <a:srgbClr val="0000FF"/>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rtl="0" fontAlgn="ctr">
                        <a:lnSpc>
                          <a:spcPct val="100000"/>
                        </a:lnSpc>
                        <a:spcBef>
                          <a:spcPts val="0"/>
                        </a:spcBef>
                        <a:spcAft>
                          <a:spcPts val="0"/>
                        </a:spcAft>
                      </a:pPr>
                      <a:r>
                        <a:rPr lang="en-US" altLang="ko-KR" sz="1100" b="1" u="none" strike="noStrike" dirty="0" smtClean="0">
                          <a:effectLst/>
                          <a:latin typeface="나눔스퀘어" panose="020B0600000101010101" pitchFamily="50" charset="-127"/>
                          <a:ea typeface="나눔스퀘어" panose="020B0600000101010101" pitchFamily="50" charset="-127"/>
                        </a:rPr>
                        <a:t>774</a:t>
                      </a:r>
                    </a:p>
                    <a:p>
                      <a:pPr marL="0" marR="0" lvl="0" indent="0" algn="r" defTabSz="914400" rtl="0" eaLnBrk="1" fontAlgn="ctr" latinLnBrk="1" hangingPunct="1">
                        <a:lnSpc>
                          <a:spcPct val="100000"/>
                        </a:lnSpc>
                        <a:spcBef>
                          <a:spcPts val="0"/>
                        </a:spcBef>
                        <a:spcAft>
                          <a:spcPts val="0"/>
                        </a:spcAft>
                        <a:buClrTx/>
                        <a:buSzTx/>
                        <a:buFontTx/>
                        <a:buNone/>
                        <a:tabLst/>
                        <a:defRPr/>
                      </a:pP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a:t>
                      </a:r>
                      <a:r>
                        <a:rPr lang="ko-KR" altLang="en-US" sz="9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106) </a:t>
                      </a:r>
                      <a:r>
                        <a:rPr kumimoji="0" lang="en-US" altLang="ko-KR" sz="900" b="1" i="0" u="none" strike="noStrike" kern="1200" cap="none" spc="0" normalizeH="0" baseline="0" noProof="0" dirty="0" smtClean="0">
                          <a:ln>
                            <a:noFill/>
                          </a:ln>
                          <a:solidFill>
                            <a:prstClr val="black"/>
                          </a:solidFill>
                          <a:effectLst/>
                          <a:uLnTx/>
                          <a:uFillTx/>
                          <a:latin typeface="나눔스퀘어" panose="020B0600000101010101" pitchFamily="50" charset="-127"/>
                          <a:ea typeface="나눔스퀘어" panose="020B0600000101010101" pitchFamily="50" charset="-127"/>
                          <a:cs typeface="+mn-cs"/>
                        </a:rPr>
                        <a:t> </a:t>
                      </a:r>
                      <a:r>
                        <a:rPr lang="en-US" altLang="ko-KR" sz="900" b="1" u="none" strike="noStrike" dirty="0" smtClean="0">
                          <a:effectLst/>
                          <a:latin typeface="나눔스퀘어" panose="020B0600000101010101" pitchFamily="50" charset="-127"/>
                          <a:ea typeface="나눔스퀘어" panose="020B0600000101010101" pitchFamily="50" charset="-127"/>
                        </a:rPr>
                        <a:t> </a:t>
                      </a:r>
                      <a:endParaRPr lang="en-US" altLang="ko-KR"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rtl="0" fontAlgn="ctr">
                        <a:lnSpc>
                          <a:spcPct val="100000"/>
                        </a:lnSpc>
                        <a:spcBef>
                          <a:spcPts val="0"/>
                        </a:spcBef>
                        <a:spcAft>
                          <a:spcPts val="0"/>
                        </a:spcAft>
                      </a:pPr>
                      <a:r>
                        <a:rPr lang="en-US" altLang="ko-KR" sz="1100" b="1" i="0" u="none" strike="noStrike" dirty="0" smtClean="0">
                          <a:solidFill>
                            <a:schemeClr val="tx1"/>
                          </a:solidFill>
                          <a:effectLst/>
                          <a:latin typeface="나눔스퀘어" panose="020B0600000101010101" pitchFamily="50" charset="-127"/>
                          <a:ea typeface="나눔스퀘어" panose="020B0600000101010101" pitchFamily="50" charset="-127"/>
                        </a:rPr>
                        <a:t>-</a:t>
                      </a:r>
                    </a:p>
                    <a:p>
                      <a:pPr marL="0" marR="0" lvl="0" indent="0" algn="r" defTabSz="914400" rtl="0" eaLnBrk="1" fontAlgn="ctr" latinLnBrk="1" hangingPunct="1">
                        <a:lnSpc>
                          <a:spcPct val="100000"/>
                        </a:lnSpc>
                        <a:spcBef>
                          <a:spcPts val="0"/>
                        </a:spcBef>
                        <a:spcAft>
                          <a:spcPts val="0"/>
                        </a:spcAft>
                        <a:buClrTx/>
                        <a:buSzTx/>
                        <a:buFontTx/>
                        <a:buNone/>
                        <a:tabLst/>
                        <a:defRPr/>
                      </a:pPr>
                      <a:r>
                        <a:rPr kumimoji="0" lang="en-US" altLang="ko-KR" sz="900" b="1" i="0" u="none" strike="noStrike" kern="1200" cap="none" spc="0" normalizeH="0" baseline="0" noProof="0" dirty="0" smtClean="0">
                          <a:ln>
                            <a:noFill/>
                          </a:ln>
                          <a:solidFill>
                            <a:srgbClr val="0000FF"/>
                          </a:solidFill>
                          <a:effectLst/>
                          <a:uLnTx/>
                          <a:uFillTx/>
                          <a:latin typeface="나눔스퀘어" panose="020B0600000101010101" pitchFamily="50" charset="-127"/>
                          <a:ea typeface="나눔스퀘어" panose="020B0600000101010101" pitchFamily="50" charset="-127"/>
                          <a:cs typeface="+mn-cs"/>
                        </a:rPr>
                        <a:t>(-) </a:t>
                      </a:r>
                      <a:r>
                        <a:rPr kumimoji="0" lang="en-US" altLang="ko-KR" sz="900" b="1" i="0" u="none" strike="noStrike" kern="1200" cap="none" spc="0" normalizeH="0" baseline="0" noProof="0" dirty="0" smtClean="0">
                          <a:ln>
                            <a:noFill/>
                          </a:ln>
                          <a:solidFill>
                            <a:prstClr val="black"/>
                          </a:solidFill>
                          <a:effectLst/>
                          <a:uLnTx/>
                          <a:uFillTx/>
                          <a:latin typeface="나눔스퀘어" panose="020B0600000101010101" pitchFamily="50" charset="-127"/>
                          <a:ea typeface="나눔스퀘어" panose="020B0600000101010101" pitchFamily="50" charset="-127"/>
                          <a:cs typeface="+mn-cs"/>
                        </a:rPr>
                        <a:t> </a:t>
                      </a:r>
                      <a:endParaRPr kumimoji="0" lang="en-US" altLang="ko-KR" sz="900" b="1" i="0" u="none" strike="noStrike" kern="1200" cap="none" spc="0" normalizeH="0" baseline="0" noProof="0" dirty="0" smtClean="0">
                        <a:ln>
                          <a:noFill/>
                        </a:ln>
                        <a:solidFill>
                          <a:srgbClr val="000000"/>
                        </a:solidFill>
                        <a:effectLst/>
                        <a:uLnTx/>
                        <a:uFillTx/>
                        <a:latin typeface="나눔스퀘어" panose="020B0600000101010101" pitchFamily="50" charset="-127"/>
                        <a:ea typeface="나눔스퀘어" panose="020B0600000101010101" pitchFamily="50" charset="-127"/>
                        <a:cs typeface="+mn-cs"/>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252061688"/>
                  </a:ext>
                </a:extLst>
              </a:tr>
            </a:tbl>
          </a:graphicData>
        </a:graphic>
      </p:graphicFrame>
      <p:sp>
        <p:nvSpPr>
          <p:cNvPr id="51" name="TextBox 50">
            <a:extLst>
              <a:ext uri="{FF2B5EF4-FFF2-40B4-BE49-F238E27FC236}">
                <a16:creationId xmlns:a16="http://schemas.microsoft.com/office/drawing/2014/main" id="{F419EC2A-DA12-DE70-177E-D060836EC73B}"/>
              </a:ext>
            </a:extLst>
          </p:cNvPr>
          <p:cNvSpPr txBox="1"/>
          <p:nvPr/>
        </p:nvSpPr>
        <p:spPr>
          <a:xfrm>
            <a:off x="10798611" y="4699356"/>
            <a:ext cx="873636" cy="169277"/>
          </a:xfrm>
          <a:prstGeom prst="rect">
            <a:avLst/>
          </a:prstGeom>
          <a:noFill/>
        </p:spPr>
        <p:txBody>
          <a:bodyPr wrap="none" lIns="0" tIns="0" rIns="0" bIns="0" rtlCol="0" anchor="ctr">
            <a:spAutoFit/>
          </a:bodyPr>
          <a:lstStyle/>
          <a:p>
            <a:pPr algn="r" latinLnBrk="0"/>
            <a:r>
              <a:rPr lang="en-US" altLang="ko-KR" sz="1100" dirty="0" smtClean="0">
                <a:ln>
                  <a:solidFill>
                    <a:srgbClr val="0FEFC4">
                      <a:alpha val="0"/>
                    </a:srgbClr>
                  </a:solidFill>
                </a:ln>
                <a:solidFill>
                  <a:schemeClr val="tx1">
                    <a:lumMod val="75000"/>
                    <a:lumOff val="25000"/>
                  </a:schemeClr>
                </a:solidFill>
                <a:latin typeface="나눔스퀘어" panose="020B0600000101010101" pitchFamily="50" charset="-127"/>
                <a:ea typeface="나눔스퀘어" panose="020B0600000101010101" pitchFamily="50" charset="-127"/>
              </a:rPr>
              <a:t>($/</a:t>
            </a:r>
            <a:r>
              <a:rPr lang="en-US" altLang="ko-KR" sz="1100" dirty="0" err="1" smtClean="0">
                <a:ln>
                  <a:solidFill>
                    <a:srgbClr val="0FEFC4">
                      <a:alpha val="0"/>
                    </a:srgbClr>
                  </a:solidFill>
                </a:ln>
                <a:solidFill>
                  <a:schemeClr val="tx1">
                    <a:lumMod val="75000"/>
                    <a:lumOff val="25000"/>
                  </a:schemeClr>
                </a:solidFill>
                <a:latin typeface="나눔스퀘어" panose="020B0600000101010101" pitchFamily="50" charset="-127"/>
                <a:ea typeface="나눔스퀘어" panose="020B0600000101010101" pitchFamily="50" charset="-127"/>
              </a:rPr>
              <a:t>mt</a:t>
            </a:r>
            <a:r>
              <a:rPr lang="en-US" altLang="ko-KR" sz="1100" dirty="0" smtClean="0">
                <a:ln>
                  <a:solidFill>
                    <a:srgbClr val="0FEFC4">
                      <a:alpha val="0"/>
                    </a:srgbClr>
                  </a:solidFill>
                </a:ln>
                <a:solidFill>
                  <a:schemeClr val="tx1">
                    <a:lumMod val="75000"/>
                    <a:lumOff val="25000"/>
                  </a:schemeClr>
                </a:solidFill>
                <a:latin typeface="나눔스퀘어" panose="020B0600000101010101" pitchFamily="50" charset="-127"/>
                <a:ea typeface="나눔스퀘어" panose="020B0600000101010101" pitchFamily="50" charset="-127"/>
              </a:rPr>
              <a:t>, $/FEU)</a:t>
            </a:r>
            <a:endParaRPr lang="en-US" altLang="ko-KR" sz="1100" dirty="0">
              <a:ln>
                <a:solidFill>
                  <a:srgbClr val="0FEFC4">
                    <a:alpha val="0"/>
                  </a:srgbClr>
                </a:solidFill>
              </a:ln>
              <a:solidFill>
                <a:schemeClr val="tx1">
                  <a:lumMod val="75000"/>
                  <a:lumOff val="25000"/>
                </a:schemeClr>
              </a:solidFill>
              <a:latin typeface="나눔스퀘어" panose="020B0600000101010101" pitchFamily="50" charset="-127"/>
              <a:ea typeface="나눔스퀘어" panose="020B0600000101010101" pitchFamily="50" charset="-127"/>
            </a:endParaRPr>
          </a:p>
        </p:txBody>
      </p:sp>
      <p:sp>
        <p:nvSpPr>
          <p:cNvPr id="52" name="TextBox 51"/>
          <p:cNvSpPr txBox="1"/>
          <p:nvPr/>
        </p:nvSpPr>
        <p:spPr>
          <a:xfrm>
            <a:off x="9219533" y="4379661"/>
            <a:ext cx="2352800" cy="138499"/>
          </a:xfrm>
          <a:prstGeom prst="rect">
            <a:avLst/>
          </a:prstGeom>
          <a:noFill/>
        </p:spPr>
        <p:txBody>
          <a:bodyPr wrap="square" lIns="0" tIns="0" rIns="0" bIns="0" rtlCol="0">
            <a:spAutoFit/>
          </a:bodyPr>
          <a:lstStyle/>
          <a:p>
            <a:r>
              <a:rPr lang="en-US" altLang="ko-KR" sz="900" dirty="0">
                <a:solidFill>
                  <a:srgbClr val="0000FF"/>
                </a:solidFill>
                <a:latin typeface="나눔스퀘어" panose="020B0600000101010101" pitchFamily="50" charset="-127"/>
                <a:ea typeface="나눔스퀘어" panose="020B0600000101010101" pitchFamily="50" charset="-127"/>
              </a:rPr>
              <a:t>* Assumes EBS removal and FFF </a:t>
            </a:r>
            <a:r>
              <a:rPr lang="en-US" altLang="ko-KR" sz="900" dirty="0" smtClean="0">
                <a:solidFill>
                  <a:srgbClr val="0000FF"/>
                </a:solidFill>
                <a:latin typeface="나눔스퀘어" panose="020B0600000101010101" pitchFamily="50" charset="-127"/>
                <a:ea typeface="나눔스퀘어" panose="020B0600000101010101" pitchFamily="50" charset="-127"/>
              </a:rPr>
              <a:t>reduction</a:t>
            </a:r>
            <a:endParaRPr lang="en-US" altLang="ko-KR" sz="900" dirty="0">
              <a:solidFill>
                <a:srgbClr val="0000FF"/>
              </a:solidFill>
              <a:latin typeface="나눔스퀘어" panose="020B0600000101010101" pitchFamily="50" charset="-127"/>
              <a:ea typeface="나눔스퀘어" panose="020B0600000101010101" pitchFamily="50" charset="-127"/>
            </a:endParaRPr>
          </a:p>
        </p:txBody>
      </p:sp>
      <p:sp>
        <p:nvSpPr>
          <p:cNvPr id="59" name="슬라이드 번호 개체 틀 5">
            <a:extLst>
              <a:ext uri="{FF2B5EF4-FFF2-40B4-BE49-F238E27FC236}">
                <a16:creationId xmlns:a16="http://schemas.microsoft.com/office/drawing/2014/main" id="{FAC1EB1B-E602-0247-88AB-A89AF71255A6}"/>
              </a:ext>
            </a:extLst>
          </p:cNvPr>
          <p:cNvSpPr txBox="1">
            <a:spLocks/>
          </p:cNvSpPr>
          <p:nvPr/>
        </p:nvSpPr>
        <p:spPr>
          <a:xfrm>
            <a:off x="5419725" y="6426152"/>
            <a:ext cx="788332" cy="326455"/>
          </a:xfrm>
          <a:prstGeom prst="rect">
            <a:avLst/>
          </a:prstGeom>
        </p:spPr>
        <p:txBody>
          <a:bodyPr lIns="162531" tIns="81264" rIns="162531" bIns="81264" anchor="ctr"/>
          <a:lstStyle>
            <a:lvl1pPr algn="r">
              <a:defRPr sz="1200">
                <a:solidFill>
                  <a:schemeClr val="tx1">
                    <a:tint val="75000"/>
                  </a:schemeClr>
                </a:solidFill>
              </a:defRPr>
            </a:lvl1pPr>
          </a:lstStyle>
          <a:p>
            <a:pPr defTabSz="1219048">
              <a:defRPr/>
            </a:pPr>
            <a:r>
              <a:rPr lang="en-US" altLang="ko-KR" dirty="0" smtClean="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rPr>
              <a:t>12</a:t>
            </a:r>
            <a:endParaRPr lang="ko-KR" altLang="en-US"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endParaRPr>
          </a:p>
        </p:txBody>
      </p:sp>
      <p:sp>
        <p:nvSpPr>
          <p:cNvPr id="57" name="TextBox 56"/>
          <p:cNvSpPr txBox="1"/>
          <p:nvPr/>
        </p:nvSpPr>
        <p:spPr>
          <a:xfrm>
            <a:off x="960425" y="4084074"/>
            <a:ext cx="4915443" cy="138499"/>
          </a:xfrm>
          <a:prstGeom prst="rect">
            <a:avLst/>
          </a:prstGeom>
          <a:noFill/>
        </p:spPr>
        <p:txBody>
          <a:bodyPr wrap="square" lIns="0" tIns="0" rIns="0" bIns="0" rtlCol="0">
            <a:spAutoFit/>
          </a:bodyPr>
          <a:lstStyle/>
          <a:p>
            <a:r>
              <a:rPr lang="en-US" altLang="ko-KR" sz="900" dirty="0">
                <a:solidFill>
                  <a:srgbClr val="0000FF"/>
                </a:solidFill>
                <a:latin typeface="나눔스퀘어" panose="020B0600000101010101" pitchFamily="50" charset="-127"/>
                <a:ea typeface="나눔스퀘어" panose="020B0600000101010101" pitchFamily="50" charset="-127"/>
              </a:rPr>
              <a:t>* Bunker prices are more directly driven by refining, inventories, and port </a:t>
            </a:r>
            <a:r>
              <a:rPr lang="en-US" altLang="ko-KR" sz="900" dirty="0" smtClean="0">
                <a:solidFill>
                  <a:srgbClr val="0000FF"/>
                </a:solidFill>
                <a:latin typeface="나눔스퀘어" panose="020B0600000101010101" pitchFamily="50" charset="-127"/>
                <a:ea typeface="나눔스퀘어" panose="020B0600000101010101" pitchFamily="50" charset="-127"/>
              </a:rPr>
              <a:t>supply</a:t>
            </a:r>
            <a:endParaRPr lang="en-US" altLang="ko-KR" sz="900" dirty="0">
              <a:solidFill>
                <a:srgbClr val="0000FF"/>
              </a:solidFill>
              <a:latin typeface="나눔스퀘어" panose="020B0600000101010101" pitchFamily="50" charset="-127"/>
              <a:ea typeface="나눔스퀘어" panose="020B0600000101010101" pitchFamily="50" charset="-127"/>
            </a:endParaRPr>
          </a:p>
        </p:txBody>
      </p:sp>
      <p:sp>
        <p:nvSpPr>
          <p:cNvPr id="60" name="TextBox 59"/>
          <p:cNvSpPr txBox="1"/>
          <p:nvPr/>
        </p:nvSpPr>
        <p:spPr>
          <a:xfrm>
            <a:off x="6710264" y="4093375"/>
            <a:ext cx="5146456" cy="138499"/>
          </a:xfrm>
          <a:prstGeom prst="rect">
            <a:avLst/>
          </a:prstGeom>
          <a:noFill/>
        </p:spPr>
        <p:txBody>
          <a:bodyPr wrap="square" lIns="0" tIns="0" rIns="0" bIns="0" rtlCol="0">
            <a:spAutoFit/>
          </a:bodyPr>
          <a:lstStyle/>
          <a:p>
            <a:r>
              <a:rPr lang="en-US" altLang="ko-KR" sz="900" dirty="0">
                <a:solidFill>
                  <a:srgbClr val="0000FF"/>
                </a:solidFill>
                <a:latin typeface="나눔스퀘어" panose="020B0600000101010101" pitchFamily="50" charset="-127"/>
                <a:ea typeface="나눔스퀘어" panose="020B0600000101010101" pitchFamily="50" charset="-127"/>
              </a:rPr>
              <a:t>* Recent oil declines and </a:t>
            </a:r>
            <a:r>
              <a:rPr lang="en-US" altLang="ko-KR" sz="900" dirty="0" err="1">
                <a:solidFill>
                  <a:srgbClr val="0000FF"/>
                </a:solidFill>
                <a:latin typeface="나눔스퀘어" panose="020B0600000101010101" pitchFamily="50" charset="-127"/>
                <a:ea typeface="나눔스퀘어" panose="020B0600000101010101" pitchFamily="50" charset="-127"/>
              </a:rPr>
              <a:t>Hapag</a:t>
            </a:r>
            <a:r>
              <a:rPr lang="en-US" altLang="ko-KR" sz="900" dirty="0">
                <a:solidFill>
                  <a:srgbClr val="0000FF"/>
                </a:solidFill>
                <a:latin typeface="나눔스퀘어" panose="020B0600000101010101" pitchFamily="50" charset="-127"/>
                <a:ea typeface="나눔스퀘어" panose="020B0600000101010101" pitchFamily="50" charset="-127"/>
              </a:rPr>
              <a:t>-Lloyd's emergency surcharge removal support 4Q surcharge </a:t>
            </a:r>
            <a:r>
              <a:rPr lang="en-US" altLang="ko-KR" sz="900" dirty="0" smtClean="0">
                <a:solidFill>
                  <a:srgbClr val="0000FF"/>
                </a:solidFill>
                <a:latin typeface="나눔스퀘어" panose="020B0600000101010101" pitchFamily="50" charset="-127"/>
                <a:ea typeface="나눔스퀘어" panose="020B0600000101010101" pitchFamily="50" charset="-127"/>
              </a:rPr>
              <a:t>cuts</a:t>
            </a:r>
            <a:endParaRPr lang="en-US" altLang="ko-KR" sz="900" dirty="0">
              <a:solidFill>
                <a:srgbClr val="0000FF"/>
              </a:solidFill>
              <a:latin typeface="나눔스퀘어" panose="020B0600000101010101" pitchFamily="50" charset="-127"/>
              <a:ea typeface="나눔스퀘어" panose="020B0600000101010101" pitchFamily="50" charset="-127"/>
            </a:endParaRPr>
          </a:p>
        </p:txBody>
      </p:sp>
      <p:sp>
        <p:nvSpPr>
          <p:cNvPr id="70" name="TextBox 69">
            <a:extLst>
              <a:ext uri="{FF2B5EF4-FFF2-40B4-BE49-F238E27FC236}">
                <a16:creationId xmlns:a16="http://schemas.microsoft.com/office/drawing/2014/main" id="{F419EC2A-DA12-DE70-177E-D060836EC73B}"/>
              </a:ext>
            </a:extLst>
          </p:cNvPr>
          <p:cNvSpPr txBox="1"/>
          <p:nvPr/>
        </p:nvSpPr>
        <p:spPr>
          <a:xfrm>
            <a:off x="5307937" y="5644866"/>
            <a:ext cx="142668" cy="169277"/>
          </a:xfrm>
          <a:prstGeom prst="rect">
            <a:avLst/>
          </a:prstGeom>
          <a:noFill/>
        </p:spPr>
        <p:txBody>
          <a:bodyPr wrap="none" lIns="0" tIns="0" rIns="0" bIns="0" rtlCol="0" anchor="ctr">
            <a:spAutoFit/>
          </a:bodyPr>
          <a:lstStyle/>
          <a:p>
            <a:pPr latinLnBrk="0"/>
            <a:r>
              <a:rPr lang="en-US" altLang="ko-KR" sz="1100" dirty="0" smtClean="0">
                <a:ln>
                  <a:solidFill>
                    <a:srgbClr val="0FEFC4">
                      <a:alpha val="0"/>
                    </a:srgbClr>
                  </a:solidFill>
                </a:ln>
                <a:solidFill>
                  <a:schemeClr val="tx1">
                    <a:lumMod val="75000"/>
                    <a:lumOff val="25000"/>
                  </a:schemeClr>
                </a:solidFill>
                <a:latin typeface="나눔스퀘어" panose="020B0600000101010101" pitchFamily="50" charset="-127"/>
                <a:ea typeface="나눔스퀘어" panose="020B0600000101010101" pitchFamily="50" charset="-127"/>
              </a:rPr>
              <a:t>(f)</a:t>
            </a:r>
            <a:endParaRPr lang="en-US" altLang="ko-KR" sz="1100" dirty="0">
              <a:ln>
                <a:solidFill>
                  <a:srgbClr val="0FEFC4">
                    <a:alpha val="0"/>
                  </a:srgbClr>
                </a:solidFill>
              </a:ln>
              <a:solidFill>
                <a:schemeClr val="tx1">
                  <a:lumMod val="75000"/>
                  <a:lumOff val="25000"/>
                </a:schemeClr>
              </a:solidFill>
              <a:latin typeface="나눔스퀘어" panose="020B0600000101010101" pitchFamily="50" charset="-127"/>
              <a:ea typeface="나눔스퀘어" panose="020B0600000101010101" pitchFamily="50" charset="-127"/>
            </a:endParaRPr>
          </a:p>
        </p:txBody>
      </p:sp>
      <p:sp>
        <p:nvSpPr>
          <p:cNvPr id="54" name="TextBox 53"/>
          <p:cNvSpPr txBox="1"/>
          <p:nvPr/>
        </p:nvSpPr>
        <p:spPr>
          <a:xfrm>
            <a:off x="4078710" y="3413379"/>
            <a:ext cx="979589" cy="138499"/>
          </a:xfrm>
          <a:prstGeom prst="rect">
            <a:avLst/>
          </a:prstGeom>
          <a:noFill/>
        </p:spPr>
        <p:txBody>
          <a:bodyPr wrap="square" lIns="0" tIns="0" rIns="0" bIns="0" rtlCol="0">
            <a:spAutoFit/>
          </a:bodyPr>
          <a:lstStyle/>
          <a:p>
            <a:r>
              <a:rPr lang="en-US" altLang="ko-KR" sz="900" dirty="0">
                <a:solidFill>
                  <a:srgbClr val="0000FF"/>
                </a:solidFill>
                <a:latin typeface="나눔스퀘어" panose="020B0600000101010101" pitchFamily="50" charset="-127"/>
                <a:ea typeface="나눔스퀘어" panose="020B0600000101010101" pitchFamily="50" charset="-127"/>
              </a:rPr>
              <a:t>* </a:t>
            </a:r>
            <a:r>
              <a:rPr lang="en-US" altLang="ko-KR" sz="900" dirty="0" smtClean="0">
                <a:solidFill>
                  <a:srgbClr val="0000FF"/>
                </a:solidFill>
                <a:latin typeface="나눔스퀘어" panose="020B0600000101010101" pitchFamily="50" charset="-127"/>
                <a:ea typeface="나눔스퀘어" panose="020B0600000101010101" pitchFamily="50" charset="-127"/>
              </a:rPr>
              <a:t>Ship &amp; Bunker</a:t>
            </a:r>
            <a:endParaRPr lang="en-US" altLang="ko-KR" sz="900" dirty="0">
              <a:solidFill>
                <a:srgbClr val="0000FF"/>
              </a:solidFill>
              <a:latin typeface="나눔스퀘어" panose="020B0600000101010101" pitchFamily="50" charset="-127"/>
              <a:ea typeface="나눔스퀘어" panose="020B0600000101010101" pitchFamily="50" charset="-127"/>
            </a:endParaRPr>
          </a:p>
        </p:txBody>
      </p:sp>
      <p:sp>
        <p:nvSpPr>
          <p:cNvPr id="55" name="TextBox 54">
            <a:extLst>
              <a:ext uri="{FF2B5EF4-FFF2-40B4-BE49-F238E27FC236}">
                <a16:creationId xmlns:a16="http://schemas.microsoft.com/office/drawing/2014/main" id="{F419EC2A-DA12-DE70-177E-D060836EC73B}"/>
              </a:ext>
            </a:extLst>
          </p:cNvPr>
          <p:cNvSpPr txBox="1"/>
          <p:nvPr/>
        </p:nvSpPr>
        <p:spPr>
          <a:xfrm>
            <a:off x="6338703" y="6228403"/>
            <a:ext cx="4772140" cy="153888"/>
          </a:xfrm>
          <a:prstGeom prst="rect">
            <a:avLst/>
          </a:prstGeom>
          <a:noFill/>
        </p:spPr>
        <p:txBody>
          <a:bodyPr wrap="none" lIns="0" tIns="0" rIns="0" bIns="0" rtlCol="0" anchor="t">
            <a:spAutoFit/>
          </a:bodyPr>
          <a:lstStyle/>
          <a:p>
            <a:pPr latinLnBrk="0"/>
            <a:r>
              <a:rPr lang="en-US" altLang="ko-KR" sz="100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a:t>
            </a:r>
            <a:r>
              <a:rPr lang="en-US" altLang="ko-KR" sz="10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a:t>
            </a:r>
            <a:r>
              <a:rPr lang="en-US" altLang="ko-KR" sz="100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4Q bunker price based on the Jul. average, reflecting recent oil price </a:t>
            </a:r>
            <a:r>
              <a:rPr lang="en-US" altLang="ko-KR" sz="10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declines</a:t>
            </a:r>
            <a:endParaRPr lang="en-US" altLang="ko-KR" sz="100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endParaRPr>
          </a:p>
        </p:txBody>
      </p:sp>
      <p:grpSp>
        <p:nvGrpSpPr>
          <p:cNvPr id="56" name="그룹 55"/>
          <p:cNvGrpSpPr/>
          <p:nvPr/>
        </p:nvGrpSpPr>
        <p:grpSpPr>
          <a:xfrm>
            <a:off x="10020301" y="6290"/>
            <a:ext cx="1778422" cy="552569"/>
            <a:chOff x="10020301" y="6290"/>
            <a:chExt cx="1778422" cy="552569"/>
          </a:xfrm>
        </p:grpSpPr>
        <p:cxnSp>
          <p:nvCxnSpPr>
            <p:cNvPr id="58" name="직선 연결선 57"/>
            <p:cNvCxnSpPr/>
            <p:nvPr/>
          </p:nvCxnSpPr>
          <p:spPr>
            <a:xfrm>
              <a:off x="11671487" y="6290"/>
              <a:ext cx="0" cy="313957"/>
            </a:xfrm>
            <a:prstGeom prst="line">
              <a:avLst/>
            </a:prstGeom>
            <a:ln w="635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8" name="TextBox 67"/>
            <p:cNvSpPr txBox="1"/>
            <p:nvPr/>
          </p:nvSpPr>
          <p:spPr>
            <a:xfrm>
              <a:off x="10020301" y="381709"/>
              <a:ext cx="1552032" cy="153888"/>
            </a:xfrm>
            <a:prstGeom prst="rect">
              <a:avLst/>
            </a:prstGeom>
            <a:noFill/>
            <a:ln w="9525">
              <a:noFill/>
              <a:miter lim="800000"/>
              <a:headEnd/>
              <a:tailEnd/>
            </a:ln>
          </p:spPr>
          <p:txBody>
            <a:bodyPr wrap="square" lIns="0" tIns="0" rIns="0" bIns="0" anchor="ctr">
              <a:spAutoFit/>
            </a:bodyPr>
            <a:lstStyle>
              <a:defPPr>
                <a:defRPr lang="ko-KR"/>
              </a:defPPr>
              <a:lvl1pPr defTabSz="914125" fontAlgn="base" latinLnBrk="0">
                <a:spcBef>
                  <a:spcPct val="0"/>
                </a:spcBef>
                <a:spcAft>
                  <a:spcPts val="200"/>
                </a:spcAft>
                <a:defRPr sz="1100" spc="-20">
                  <a:ln>
                    <a:solidFill>
                      <a:prstClr val="white">
                        <a:alpha val="0"/>
                      </a:prstClr>
                    </a:solidFill>
                  </a:ln>
                  <a:solidFill>
                    <a:schemeClr val="tx1">
                      <a:lumMod val="75000"/>
                      <a:lumOff val="25000"/>
                    </a:schemeClr>
                  </a:solidFill>
                  <a:latin typeface="KoPub돋움체 Bold" panose="02020603020101020101" pitchFamily="18" charset="-127"/>
                  <a:ea typeface="KoPub돋움체 Bold" panose="02020603020101020101" pitchFamily="18" charset="-127"/>
                  <a:cs typeface="Arial" charset="0"/>
                </a:defRPr>
              </a:lvl1pPr>
            </a:lstStyle>
            <a:p>
              <a:pPr lvl="0" algn="r">
                <a:defRPr/>
              </a:pPr>
              <a:r>
                <a:rPr lang="en-US" altLang="ko-KR"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rPr>
                <a:t>2026 2H Market Outlook</a:t>
              </a:r>
            </a:p>
          </p:txBody>
        </p:sp>
        <p:sp>
          <p:nvSpPr>
            <p:cNvPr id="69" name="타원 68"/>
            <p:cNvSpPr/>
            <p:nvPr/>
          </p:nvSpPr>
          <p:spPr>
            <a:xfrm>
              <a:off x="11340239"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20" normalizeH="0" baseline="0" noProof="0" dirty="0">
                <a:ln>
                  <a:solidFill>
                    <a:srgbClr val="C00000">
                      <a:alpha val="0"/>
                    </a:srgbClr>
                  </a:solidFill>
                </a:ln>
                <a:solidFill>
                  <a:prstClr val="white"/>
                </a:solidFill>
                <a:effectLst/>
                <a:uLnTx/>
                <a:uFillTx/>
                <a:latin typeface="나눔스퀘어" panose="020B0600000101010101" pitchFamily="50" charset="-127"/>
                <a:ea typeface="나눔스퀘어" panose="020B0600000101010101" pitchFamily="50" charset="-127"/>
                <a:cs typeface="+mn-cs"/>
              </a:endParaRPr>
            </a:p>
          </p:txBody>
        </p:sp>
        <p:sp>
          <p:nvSpPr>
            <p:cNvPr id="71" name="타원 70"/>
            <p:cNvSpPr/>
            <p:nvPr/>
          </p:nvSpPr>
          <p:spPr>
            <a:xfrm>
              <a:off x="11422266"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72" name="타원 71"/>
            <p:cNvSpPr/>
            <p:nvPr/>
          </p:nvSpPr>
          <p:spPr>
            <a:xfrm>
              <a:off x="11504294" y="290256"/>
              <a:ext cx="51827" cy="51827"/>
            </a:xfrm>
            <a:prstGeom prst="ellipse">
              <a:avLst/>
            </a:prstGeom>
            <a:solidFill>
              <a:srgbClr val="0146A0"/>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73" name="TextBox 72"/>
            <p:cNvSpPr txBox="1"/>
            <p:nvPr/>
          </p:nvSpPr>
          <p:spPr>
            <a:xfrm>
              <a:off x="11646437" y="343415"/>
              <a:ext cx="152286" cy="215444"/>
            </a:xfrm>
            <a:prstGeom prst="rect">
              <a:avLst/>
            </a:prstGeom>
            <a:noFill/>
          </p:spPr>
          <p:txBody>
            <a:bodyPr wrap="none" lIns="0" tIns="0" rIns="0" bIns="0" rtlCol="0" anchor="ctr" anchorCtr="0">
              <a:spAutoFit/>
            </a:bodyPr>
            <a:lstStyle>
              <a:defPPr>
                <a:defRPr lang="ko-KR"/>
              </a:defPPr>
              <a:lvl1pPr>
                <a:spcAft>
                  <a:spcPts val="300"/>
                </a:spcAft>
                <a:defRPr sz="2800" spc="-100">
                  <a:ln>
                    <a:solidFill>
                      <a:schemeClr val="bg1">
                        <a:alpha val="0"/>
                      </a:schemeClr>
                    </a:solidFill>
                  </a:ln>
                  <a:solidFill>
                    <a:srgbClr val="005B8D"/>
                  </a:solidFill>
                  <a:latin typeface="Times New Roman" panose="02020603050405020304" pitchFamily="18" charset="0"/>
                  <a:ea typeface="KoPub돋움체 Bold" panose="02020603020101020101" pitchFamily="18" charset="-127"/>
                  <a:cs typeface="Times New Roman" panose="02020603050405020304" pitchFamily="18" charset="0"/>
                </a:defRPr>
              </a:lvl1pPr>
            </a:lstStyle>
            <a:p>
              <a:pPr latinLnBrk="0">
                <a:defRPr/>
              </a:pPr>
              <a:r>
                <a:rPr lang="en-US" altLang="ko-KR" sz="1400" spc="-150" dirty="0" smtClean="0">
                  <a:ln>
                    <a:solidFill>
                      <a:prstClr val="white">
                        <a:alpha val="0"/>
                      </a:prstClr>
                    </a:solidFill>
                  </a:ln>
                  <a:solidFill>
                    <a:srgbClr val="0146A0"/>
                  </a:solidFill>
                  <a:ea typeface="KoPub돋움체 Medium" panose="02020603020101020101" pitchFamily="18" charset="-127"/>
                </a:rPr>
                <a:t>Ⅲ</a:t>
              </a:r>
              <a:endParaRPr lang="en-US" altLang="ko-KR" sz="1400" spc="-150" dirty="0">
                <a:ln>
                  <a:solidFill>
                    <a:prstClr val="white">
                      <a:alpha val="0"/>
                    </a:prstClr>
                  </a:solidFill>
                </a:ln>
                <a:solidFill>
                  <a:srgbClr val="0146A0"/>
                </a:solidFill>
                <a:ea typeface="KoPub돋움체 Medium" panose="02020603020101020101" pitchFamily="18" charset="-127"/>
              </a:endParaRPr>
            </a:p>
          </p:txBody>
        </p:sp>
      </p:grpSp>
      <p:sp>
        <p:nvSpPr>
          <p:cNvPr id="18" name="TextBox 116"/>
          <p:cNvSpPr txBox="1">
            <a:spLocks noChangeArrowheads="1"/>
          </p:cNvSpPr>
          <p:nvPr/>
        </p:nvSpPr>
        <p:spPr bwMode="auto">
          <a:xfrm>
            <a:off x="6393077" y="2171013"/>
            <a:ext cx="511998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algn="ctr" defTabSz="1038977" eaLnBrk="1" hangingPunct="1"/>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Lower </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Fuel Surcharges May Weigh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on 4Q </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Rates</a:t>
            </a:r>
            <a:endPar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spTree>
    <p:extLst>
      <p:ext uri="{BB962C8B-B14F-4D97-AF65-F5344CB8AC3E}">
        <p14:creationId xmlns:p14="http://schemas.microsoft.com/office/powerpoint/2010/main" val="24763646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515937" y="333375"/>
            <a:ext cx="11546523" cy="880283"/>
          </a:xfrm>
        </p:spPr>
        <p:txBody>
          <a:bodyPr/>
          <a:lstStyle/>
          <a:p>
            <a:r>
              <a:rPr lang="en-US" altLang="ko-KR" spc="-100" dirty="0">
                <a:solidFill>
                  <a:prstClr val="black"/>
                </a:solidFill>
              </a:rPr>
              <a:t>Ocean Market Outlook</a:t>
            </a:r>
            <a:r>
              <a:rPr lang="ko-KR" altLang="en-US" spc="-100" dirty="0">
                <a:solidFill>
                  <a:prstClr val="black"/>
                </a:solidFill>
              </a:rPr>
              <a:t> </a:t>
            </a:r>
            <a:r>
              <a:rPr lang="en-US" altLang="ko-KR" sz="2400" spc="-100" dirty="0">
                <a:solidFill>
                  <a:prstClr val="black"/>
                </a:solidFill>
              </a:rPr>
              <a:t>| Key Driver</a:t>
            </a:r>
            <a:r>
              <a:rPr lang="ko-KR" altLang="en-US" sz="2400" spc="-100" dirty="0">
                <a:solidFill>
                  <a:prstClr val="black"/>
                </a:solidFill>
              </a:rPr>
              <a:t> ②</a:t>
            </a:r>
            <a:r>
              <a:rPr lang="en-US" altLang="ko-KR" sz="2400" spc="-100" dirty="0">
                <a:solidFill>
                  <a:prstClr val="black"/>
                </a:solidFill>
              </a:rPr>
              <a:t> - Normalization of the Strait of Hormuz</a:t>
            </a:r>
            <a:endParaRPr lang="ko-KR" altLang="en-US" dirty="0"/>
          </a:p>
        </p:txBody>
      </p:sp>
      <p:sp>
        <p:nvSpPr>
          <p:cNvPr id="3" name="텍스트 개체 틀 2"/>
          <p:cNvSpPr>
            <a:spLocks noGrp="1"/>
          </p:cNvSpPr>
          <p:nvPr>
            <p:ph type="body" sz="quarter" idx="10"/>
          </p:nvPr>
        </p:nvSpPr>
        <p:spPr/>
        <p:txBody>
          <a:bodyPr/>
          <a:lstStyle/>
          <a:p>
            <a:r>
              <a:rPr lang="en-US" altLang="ko-KR" spc="-100" dirty="0"/>
              <a:t>Middle East disruptions tightened effective capacity in 1H, while gradual recovery is expected to weigh </a:t>
            </a:r>
            <a:r>
              <a:rPr lang="en-US" altLang="ko-KR" spc="-100" dirty="0" smtClean="0"/>
              <a:t>on </a:t>
            </a:r>
            <a:r>
              <a:rPr lang="en-US" altLang="ko-KR" spc="-100" dirty="0"/>
              <a:t>rates in </a:t>
            </a:r>
            <a:r>
              <a:rPr lang="en-US" altLang="ko-KR" spc="-100" dirty="0" smtClean="0"/>
              <a:t>2H</a:t>
            </a:r>
          </a:p>
          <a:p>
            <a:r>
              <a:rPr lang="en-US" altLang="ko-KR" dirty="0"/>
              <a:t>Gulf transits and congestion have started to recover, with operations weighing on 4Q freight </a:t>
            </a:r>
            <a:r>
              <a:rPr lang="en-US" altLang="ko-KR" dirty="0" smtClean="0"/>
              <a:t>rates</a:t>
            </a:r>
            <a:endParaRPr lang="ko-KR" altLang="en-US" dirty="0"/>
          </a:p>
        </p:txBody>
      </p:sp>
      <p:sp>
        <p:nvSpPr>
          <p:cNvPr id="19" name="Rectangle 215"/>
          <p:cNvSpPr>
            <a:spLocks noChangeArrowheads="1"/>
          </p:cNvSpPr>
          <p:nvPr/>
        </p:nvSpPr>
        <p:spPr bwMode="auto">
          <a:xfrm>
            <a:off x="503791" y="2117975"/>
            <a:ext cx="5436159"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17" name="Rectangle 215"/>
          <p:cNvSpPr>
            <a:spLocks noChangeArrowheads="1"/>
          </p:cNvSpPr>
          <p:nvPr/>
        </p:nvSpPr>
        <p:spPr bwMode="auto">
          <a:xfrm>
            <a:off x="6235069" y="2117975"/>
            <a:ext cx="5436000"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13" name="자유형 63"/>
          <p:cNvSpPr/>
          <p:nvPr/>
        </p:nvSpPr>
        <p:spPr>
          <a:xfrm>
            <a:off x="503790" y="2117975"/>
            <a:ext cx="780087" cy="368297"/>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14" name="자유형 64"/>
          <p:cNvSpPr/>
          <p:nvPr/>
        </p:nvSpPr>
        <p:spPr>
          <a:xfrm>
            <a:off x="503790" y="2117975"/>
            <a:ext cx="780088" cy="368297"/>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11" name="자유형 63"/>
          <p:cNvSpPr/>
          <p:nvPr/>
        </p:nvSpPr>
        <p:spPr>
          <a:xfrm>
            <a:off x="6237602" y="2118958"/>
            <a:ext cx="780087" cy="368297"/>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12" name="자유형 64"/>
          <p:cNvSpPr/>
          <p:nvPr/>
        </p:nvSpPr>
        <p:spPr>
          <a:xfrm>
            <a:off x="6237602" y="2118958"/>
            <a:ext cx="780088" cy="368297"/>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pic>
        <p:nvPicPr>
          <p:cNvPr id="21" name="Picture 200" descr="악세사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339689" y="4546810"/>
            <a:ext cx="3535193" cy="91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nvGrpSpPr>
          <p:cNvPr id="22" name="그룹 21">
            <a:extLst>
              <a:ext uri="{FF2B5EF4-FFF2-40B4-BE49-F238E27FC236}">
                <a16:creationId xmlns:a16="http://schemas.microsoft.com/office/drawing/2014/main" id="{F1901E48-B53D-6506-5405-7DEBF109E30B}"/>
              </a:ext>
            </a:extLst>
          </p:cNvPr>
          <p:cNvGrpSpPr/>
          <p:nvPr/>
        </p:nvGrpSpPr>
        <p:grpSpPr>
          <a:xfrm>
            <a:off x="521699" y="2599033"/>
            <a:ext cx="5410242" cy="230832"/>
            <a:chOff x="522352" y="2590117"/>
            <a:chExt cx="5410242" cy="230832"/>
          </a:xfrm>
        </p:grpSpPr>
        <p:sp>
          <p:nvSpPr>
            <p:cNvPr id="23" name="직사각형 22">
              <a:extLst>
                <a:ext uri="{FF2B5EF4-FFF2-40B4-BE49-F238E27FC236}">
                  <a16:creationId xmlns:a16="http://schemas.microsoft.com/office/drawing/2014/main" id="{23A877DC-AE7A-42B7-FA1C-82DDBA18195D}"/>
                </a:ext>
              </a:extLst>
            </p:cNvPr>
            <p:cNvSpPr/>
            <p:nvPr/>
          </p:nvSpPr>
          <p:spPr>
            <a:xfrm>
              <a:off x="781342" y="2590117"/>
              <a:ext cx="5151252" cy="230832"/>
            </a:xfrm>
            <a:prstGeom prst="rect">
              <a:avLst/>
            </a:prstGeom>
            <a:noFill/>
          </p:spPr>
          <p:txBody>
            <a:bodyPr wrap="none" lIns="0" tIns="0" rIns="0" bIns="0" anchor="t">
              <a:noAutofit/>
            </a:bodyPr>
            <a:lstStyle/>
            <a:p>
              <a:pPr marR="608330" lvl="0" latinLnBrk="0">
                <a:defRPr/>
              </a:pPr>
              <a:r>
                <a:rPr lang="en-US" altLang="ko-KR"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Gradual capacity recovery expected in 2H</a:t>
              </a:r>
              <a:endParaRPr lang="ko-KR" altLang="en-US"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endParaRPr>
            </a:p>
          </p:txBody>
        </p:sp>
        <p:grpSp>
          <p:nvGrpSpPr>
            <p:cNvPr id="24" name="그룹 23">
              <a:extLst>
                <a:ext uri="{FF2B5EF4-FFF2-40B4-BE49-F238E27FC236}">
                  <a16:creationId xmlns:a16="http://schemas.microsoft.com/office/drawing/2014/main" id="{E7DF7FF3-3A0C-54A6-2CFC-EFC803C02E75}"/>
                </a:ext>
              </a:extLst>
            </p:cNvPr>
            <p:cNvGrpSpPr/>
            <p:nvPr/>
          </p:nvGrpSpPr>
          <p:grpSpPr>
            <a:xfrm>
              <a:off x="522352" y="2609533"/>
              <a:ext cx="192000" cy="192000"/>
              <a:chOff x="412816" y="1633655"/>
              <a:chExt cx="184804" cy="185998"/>
            </a:xfrm>
          </p:grpSpPr>
          <p:sp>
            <p:nvSpPr>
              <p:cNvPr id="25" name="모서리가 둥근 직사각형 24">
                <a:extLst>
                  <a:ext uri="{FF2B5EF4-FFF2-40B4-BE49-F238E27FC236}">
                    <a16:creationId xmlns:a16="http://schemas.microsoft.com/office/drawing/2014/main" id="{ACFD4B78-44F3-C9EC-0E4C-CDFEBFA96E65}"/>
                  </a:ext>
                </a:extLst>
              </p:cNvPr>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26" name="그룹 186">
                <a:extLst>
                  <a:ext uri="{FF2B5EF4-FFF2-40B4-BE49-F238E27FC236}">
                    <a16:creationId xmlns:a16="http://schemas.microsoft.com/office/drawing/2014/main" id="{8FAD1D07-96B7-2F90-2D67-D8FE24112EC3}"/>
                  </a:ext>
                </a:extLst>
              </p:cNvPr>
              <p:cNvGrpSpPr/>
              <p:nvPr/>
            </p:nvGrpSpPr>
            <p:grpSpPr>
              <a:xfrm>
                <a:off x="454440" y="1688440"/>
                <a:ext cx="106516" cy="76455"/>
                <a:chOff x="3366478" y="5412581"/>
                <a:chExt cx="126078" cy="89916"/>
              </a:xfrm>
              <a:solidFill>
                <a:schemeClr val="bg1"/>
              </a:solidFill>
            </p:grpSpPr>
            <p:sp>
              <p:nvSpPr>
                <p:cNvPr id="27" name="모서리가 둥근 직사각형 26">
                  <a:extLst>
                    <a:ext uri="{FF2B5EF4-FFF2-40B4-BE49-F238E27FC236}">
                      <a16:creationId xmlns:a16="http://schemas.microsoft.com/office/drawing/2014/main" id="{CCFA7DFB-B7B8-EE41-E1CC-E9D7BE39369E}"/>
                    </a:ext>
                  </a:extLst>
                </p:cNvPr>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28" name="모서리가 둥근 직사각형 27">
                  <a:extLst>
                    <a:ext uri="{FF2B5EF4-FFF2-40B4-BE49-F238E27FC236}">
                      <a16:creationId xmlns:a16="http://schemas.microsoft.com/office/drawing/2014/main" id="{F3DDF330-44BF-7DB5-CBAB-F5DE83FFCD3A}"/>
                    </a:ext>
                  </a:extLst>
                </p:cNvPr>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grpSp>
        <p:nvGrpSpPr>
          <p:cNvPr id="29" name="그룹 28">
            <a:extLst>
              <a:ext uri="{FF2B5EF4-FFF2-40B4-BE49-F238E27FC236}">
                <a16:creationId xmlns:a16="http://schemas.microsoft.com/office/drawing/2014/main" id="{EF295706-448F-E9F8-6950-97D9B68EEEB9}"/>
              </a:ext>
            </a:extLst>
          </p:cNvPr>
          <p:cNvGrpSpPr/>
          <p:nvPr/>
        </p:nvGrpSpPr>
        <p:grpSpPr>
          <a:xfrm>
            <a:off x="6290801" y="2599033"/>
            <a:ext cx="5410242" cy="230832"/>
            <a:chOff x="522352" y="2590117"/>
            <a:chExt cx="5410242" cy="230832"/>
          </a:xfrm>
        </p:grpSpPr>
        <p:sp>
          <p:nvSpPr>
            <p:cNvPr id="30" name="직사각형 29">
              <a:extLst>
                <a:ext uri="{FF2B5EF4-FFF2-40B4-BE49-F238E27FC236}">
                  <a16:creationId xmlns:a16="http://schemas.microsoft.com/office/drawing/2014/main" id="{4046860D-C324-CEDE-CB74-5CA6C157F262}"/>
                </a:ext>
              </a:extLst>
            </p:cNvPr>
            <p:cNvSpPr/>
            <p:nvPr/>
          </p:nvSpPr>
          <p:spPr>
            <a:xfrm>
              <a:off x="781342" y="2590117"/>
              <a:ext cx="5151252" cy="230832"/>
            </a:xfrm>
            <a:prstGeom prst="rect">
              <a:avLst/>
            </a:prstGeom>
            <a:noFill/>
          </p:spPr>
          <p:txBody>
            <a:bodyPr wrap="none" lIns="0" tIns="0" rIns="0" bIns="0" anchor="t">
              <a:noAutofit/>
            </a:bodyPr>
            <a:lstStyle/>
            <a:p>
              <a:pPr marR="608330" lvl="0" latinLnBrk="0">
                <a:defRPr/>
              </a:pPr>
              <a:r>
                <a:rPr lang="en-US" altLang="ko-KR"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Operational recovery to ease supply constraints</a:t>
              </a:r>
              <a:endParaRPr lang="ko-KR" altLang="en-US"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endParaRPr>
            </a:p>
          </p:txBody>
        </p:sp>
        <p:grpSp>
          <p:nvGrpSpPr>
            <p:cNvPr id="31" name="그룹 30">
              <a:extLst>
                <a:ext uri="{FF2B5EF4-FFF2-40B4-BE49-F238E27FC236}">
                  <a16:creationId xmlns:a16="http://schemas.microsoft.com/office/drawing/2014/main" id="{60F9DA37-A4B6-8083-096A-75F9B9A801BD}"/>
                </a:ext>
              </a:extLst>
            </p:cNvPr>
            <p:cNvGrpSpPr/>
            <p:nvPr/>
          </p:nvGrpSpPr>
          <p:grpSpPr>
            <a:xfrm>
              <a:off x="522352" y="2609533"/>
              <a:ext cx="192000" cy="192000"/>
              <a:chOff x="412816" y="1633655"/>
              <a:chExt cx="184804" cy="185998"/>
            </a:xfrm>
          </p:grpSpPr>
          <p:sp>
            <p:nvSpPr>
              <p:cNvPr id="32" name="모서리가 둥근 직사각형 31">
                <a:extLst>
                  <a:ext uri="{FF2B5EF4-FFF2-40B4-BE49-F238E27FC236}">
                    <a16:creationId xmlns:a16="http://schemas.microsoft.com/office/drawing/2014/main" id="{24C50D10-136A-C13B-7860-B3159558891F}"/>
                  </a:ext>
                </a:extLst>
              </p:cNvPr>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33" name="그룹 186">
                <a:extLst>
                  <a:ext uri="{FF2B5EF4-FFF2-40B4-BE49-F238E27FC236}">
                    <a16:creationId xmlns:a16="http://schemas.microsoft.com/office/drawing/2014/main" id="{7F155D93-9560-DFB2-BBD9-BAED35A39F72}"/>
                  </a:ext>
                </a:extLst>
              </p:cNvPr>
              <p:cNvGrpSpPr/>
              <p:nvPr/>
            </p:nvGrpSpPr>
            <p:grpSpPr>
              <a:xfrm>
                <a:off x="454440" y="1688440"/>
                <a:ext cx="106516" cy="76455"/>
                <a:chOff x="3366478" y="5412581"/>
                <a:chExt cx="126078" cy="89916"/>
              </a:xfrm>
              <a:solidFill>
                <a:schemeClr val="bg1"/>
              </a:solidFill>
            </p:grpSpPr>
            <p:sp>
              <p:nvSpPr>
                <p:cNvPr id="34" name="모서리가 둥근 직사각형 33">
                  <a:extLst>
                    <a:ext uri="{FF2B5EF4-FFF2-40B4-BE49-F238E27FC236}">
                      <a16:creationId xmlns:a16="http://schemas.microsoft.com/office/drawing/2014/main" id="{CAE7FADE-62C4-5B41-9772-EEDDAB1BD5C2}"/>
                    </a:ext>
                  </a:extLst>
                </p:cNvPr>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35" name="모서리가 둥근 직사각형 34">
                  <a:extLst>
                    <a:ext uri="{FF2B5EF4-FFF2-40B4-BE49-F238E27FC236}">
                      <a16:creationId xmlns:a16="http://schemas.microsoft.com/office/drawing/2014/main" id="{8D39F778-6FBA-9465-6FDC-3682D55B9DFB}"/>
                    </a:ext>
                  </a:extLst>
                </p:cNvPr>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sp>
        <p:nvSpPr>
          <p:cNvPr id="36" name="직사각형 25">
            <a:extLst>
              <a:ext uri="{FF2B5EF4-FFF2-40B4-BE49-F238E27FC236}">
                <a16:creationId xmlns:a16="http://schemas.microsoft.com/office/drawing/2014/main" id="{3F2A1EA1-CAA6-5D90-657A-21DA48D04A7D}"/>
              </a:ext>
            </a:extLst>
          </p:cNvPr>
          <p:cNvSpPr/>
          <p:nvPr/>
        </p:nvSpPr>
        <p:spPr>
          <a:xfrm>
            <a:off x="650244" y="2900214"/>
            <a:ext cx="5542217" cy="1897955"/>
          </a:xfrm>
          <a:prstGeom prst="rect">
            <a:avLst/>
          </a:prstGeom>
        </p:spPr>
        <p:txBody>
          <a:bodyPr wrap="square">
            <a:spAutoFit/>
          </a:bodyPr>
          <a:lstStyle/>
          <a:p>
            <a:pPr marL="144000" indent="-144000" defTabSz="1038977" latinLnBrk="0">
              <a:spcAft>
                <a:spcPts val="800"/>
              </a:spcAft>
              <a:buFont typeface="Arial" panose="020B0604020202020204" pitchFamily="34" charset="0"/>
              <a:buChar char="•"/>
            </a:pPr>
            <a:r>
              <a:rPr lang="en-US" altLang="ko-KR" sz="1400" spc="-30" dirty="0">
                <a:latin typeface="나눔스퀘어" panose="020B0600000101010101" pitchFamily="50" charset="-127"/>
                <a:ea typeface="나눔스퀘어" panose="020B0600000101010101" pitchFamily="50" charset="-127"/>
              </a:rPr>
              <a:t>Middle East disruptions absorbed effective capacity in </a:t>
            </a:r>
            <a:r>
              <a:rPr lang="en-US" altLang="ko-KR" sz="1400" spc="-30" dirty="0" smtClean="0">
                <a:latin typeface="나눔스퀘어" panose="020B0600000101010101" pitchFamily="50" charset="-127"/>
                <a:ea typeface="나눔스퀘어" panose="020B0600000101010101" pitchFamily="50" charset="-127"/>
              </a:rPr>
              <a:t>1H</a:t>
            </a:r>
          </a:p>
          <a:p>
            <a:pPr defTabSz="1038977" latinLnBrk="0">
              <a:spcAft>
                <a:spcPts val="800"/>
              </a:spcAft>
            </a:pPr>
            <a:r>
              <a:rPr lang="en-US" altLang="ko-KR" sz="1400" spc="-50" dirty="0" smtClean="0">
                <a:latin typeface="나눔스퀘어" panose="020B0600000101010101" pitchFamily="50" charset="-127"/>
                <a:ea typeface="나눔스퀘어" panose="020B0600000101010101" pitchFamily="50" charset="-127"/>
              </a:rPr>
              <a:t>   </a:t>
            </a:r>
            <a:r>
              <a:rPr lang="en-US" altLang="ko-KR" sz="1400" spc="-50" dirty="0">
                <a:latin typeface="나눔스퀘어" panose="020B0600000101010101" pitchFamily="50" charset="-127"/>
                <a:ea typeface="나눔스퀘어" panose="020B0600000101010101" pitchFamily="50" charset="-127"/>
              </a:rPr>
              <a:t>- Vessel delays and slower sailing absorbed up to 860k TEU in </a:t>
            </a:r>
            <a:r>
              <a:rPr lang="en-US" altLang="ko-KR" sz="1400" spc="-50" dirty="0" smtClean="0">
                <a:latin typeface="나눔스퀘어" panose="020B0600000101010101" pitchFamily="50" charset="-127"/>
                <a:ea typeface="나눔스퀘어" panose="020B0600000101010101" pitchFamily="50" charset="-127"/>
              </a:rPr>
              <a:t>April</a:t>
            </a:r>
            <a:endParaRPr lang="en-US" altLang="ko-KR" sz="1400" spc="-70" dirty="0">
              <a:latin typeface="나눔스퀘어" panose="020B0600000101010101" pitchFamily="50" charset="-127"/>
              <a:ea typeface="나눔스퀘어" panose="020B0600000101010101" pitchFamily="50" charset="-127"/>
            </a:endParaRPr>
          </a:p>
          <a:p>
            <a:pPr defTabSz="1038977" latinLnBrk="0">
              <a:spcAft>
                <a:spcPts val="800"/>
              </a:spcAft>
            </a:pPr>
            <a:r>
              <a:rPr lang="en-US" altLang="ko-KR" sz="1400" spc="-50" dirty="0">
                <a:latin typeface="나눔스퀘어" panose="020B0600000101010101" pitchFamily="50" charset="-127"/>
                <a:ea typeface="나눔스퀘어" panose="020B0600000101010101" pitchFamily="50" charset="-127"/>
              </a:rPr>
              <a:t>   - </a:t>
            </a:r>
            <a:r>
              <a:rPr lang="en-US" altLang="ko-KR" sz="1400" spc="-80" dirty="0">
                <a:latin typeface="나눔스퀘어" panose="020B0600000101010101" pitchFamily="50" charset="-127"/>
                <a:ea typeface="나눔스퀘어" panose="020B0600000101010101" pitchFamily="50" charset="-127"/>
              </a:rPr>
              <a:t>Actual capacity absorption may exceed estimates in actual </a:t>
            </a:r>
            <a:r>
              <a:rPr lang="en-US" altLang="ko-KR" sz="1400" spc="-80" dirty="0" smtClean="0">
                <a:latin typeface="나눔스퀘어" panose="020B0600000101010101" pitchFamily="50" charset="-127"/>
                <a:ea typeface="나눔스퀘어" panose="020B0600000101010101" pitchFamily="50" charset="-127"/>
              </a:rPr>
              <a:t>operations</a:t>
            </a:r>
            <a:endParaRPr lang="en-US" altLang="ko-KR" sz="1400" spc="-80" dirty="0">
              <a:latin typeface="나눔스퀘어" panose="020B0600000101010101" pitchFamily="50" charset="-127"/>
              <a:ea typeface="나눔스퀘어" panose="020B0600000101010101" pitchFamily="50" charset="-127"/>
            </a:endParaRPr>
          </a:p>
          <a:p>
            <a:pPr marL="144000" indent="-144000" defTabSz="1038977" latinLnBrk="0">
              <a:spcAft>
                <a:spcPts val="800"/>
              </a:spcAft>
              <a:buFont typeface="Arial" panose="020B0604020202020204" pitchFamily="34" charset="0"/>
              <a:buChar char="•"/>
            </a:pPr>
            <a:r>
              <a:rPr lang="en-US" altLang="ko-KR" sz="1400" dirty="0">
                <a:latin typeface="나눔스퀘어" panose="020B0600000101010101" pitchFamily="50" charset="-127"/>
                <a:ea typeface="나눔스퀘어" panose="020B0600000101010101" pitchFamily="50" charset="-127"/>
              </a:rPr>
              <a:t>Gradual recovery may increase supply pressure in </a:t>
            </a:r>
            <a:r>
              <a:rPr lang="en-US" altLang="ko-KR" sz="1400" dirty="0" smtClean="0">
                <a:latin typeface="나눔스퀘어" panose="020B0600000101010101" pitchFamily="50" charset="-127"/>
                <a:ea typeface="나눔스퀘어" panose="020B0600000101010101" pitchFamily="50" charset="-127"/>
              </a:rPr>
              <a:t>2H</a:t>
            </a:r>
            <a:endParaRPr lang="en-US" altLang="ko-KR" sz="1400" dirty="0">
              <a:latin typeface="나눔스퀘어" panose="020B0600000101010101" pitchFamily="50" charset="-127"/>
              <a:ea typeface="나눔스퀘어" panose="020B0600000101010101" pitchFamily="50" charset="-127"/>
            </a:endParaRPr>
          </a:p>
          <a:p>
            <a:pPr defTabSz="1038977" latinLnBrk="0">
              <a:spcAft>
                <a:spcPts val="800"/>
              </a:spcAft>
            </a:pPr>
            <a:r>
              <a:rPr lang="ko-KR" altLang="en-US" sz="1400" spc="-50" dirty="0">
                <a:latin typeface="나눔스퀘어" panose="020B0600000101010101" pitchFamily="50" charset="-127"/>
                <a:ea typeface="나눔스퀘어" panose="020B0600000101010101" pitchFamily="50" charset="-127"/>
              </a:rPr>
              <a:t>   </a:t>
            </a:r>
            <a:r>
              <a:rPr lang="en-US" altLang="ko-KR" sz="1400" spc="-50" dirty="0">
                <a:latin typeface="나눔스퀘어" panose="020B0600000101010101" pitchFamily="50" charset="-127"/>
                <a:ea typeface="나눔스퀘어" panose="020B0600000101010101" pitchFamily="50" charset="-127"/>
              </a:rPr>
              <a:t>- </a:t>
            </a:r>
            <a:r>
              <a:rPr lang="en-US" altLang="ko-KR" sz="1400" spc="-70" dirty="0">
                <a:latin typeface="나눔스퀘어" panose="020B0600000101010101" pitchFamily="50" charset="-127"/>
                <a:ea typeface="나눔스퀘어" panose="020B0600000101010101" pitchFamily="50" charset="-127"/>
              </a:rPr>
              <a:t>Capacity absorption is expected to ease as vessel operations </a:t>
            </a:r>
            <a:r>
              <a:rPr lang="en-US" altLang="ko-KR" sz="1400" spc="-70" dirty="0" smtClean="0">
                <a:latin typeface="나눔스퀘어" panose="020B0600000101010101" pitchFamily="50" charset="-127"/>
                <a:ea typeface="나눔스퀘어" panose="020B0600000101010101" pitchFamily="50" charset="-127"/>
              </a:rPr>
              <a:t>recover</a:t>
            </a:r>
          </a:p>
          <a:p>
            <a:pPr defTabSz="1038977" latinLnBrk="0">
              <a:spcAft>
                <a:spcPts val="800"/>
              </a:spcAft>
            </a:pPr>
            <a:r>
              <a:rPr lang="ko-KR" altLang="en-US" sz="1400" spc="-50" dirty="0" smtClean="0">
                <a:latin typeface="나눔스퀘어" panose="020B0600000101010101" pitchFamily="50" charset="-127"/>
                <a:ea typeface="나눔스퀘어" panose="020B0600000101010101" pitchFamily="50" charset="-127"/>
              </a:rPr>
              <a:t>   </a:t>
            </a:r>
            <a:r>
              <a:rPr lang="en-US" altLang="ko-KR" sz="1400" spc="-50" dirty="0" smtClean="0">
                <a:latin typeface="나눔스퀘어" panose="020B0600000101010101" pitchFamily="50" charset="-127"/>
                <a:ea typeface="나눔스퀘어" panose="020B0600000101010101" pitchFamily="50" charset="-127"/>
              </a:rPr>
              <a:t>- </a:t>
            </a:r>
            <a:r>
              <a:rPr lang="en-US" altLang="ko-KR" sz="1400" spc="-50" dirty="0">
                <a:latin typeface="나눔스퀘어" panose="020B0600000101010101" pitchFamily="50" charset="-127"/>
                <a:ea typeface="나눔스퀘어" panose="020B0600000101010101" pitchFamily="50" charset="-127"/>
              </a:rPr>
              <a:t>Supply pressure may </a:t>
            </a:r>
            <a:r>
              <a:rPr lang="en-US" altLang="ko-KR" sz="1400" spc="-50" dirty="0" smtClean="0">
                <a:latin typeface="나눔스퀘어" panose="020B0600000101010101" pitchFamily="50" charset="-127"/>
                <a:ea typeface="나눔스퀘어" panose="020B0600000101010101" pitchFamily="50" charset="-127"/>
              </a:rPr>
              <a:t>increase </a:t>
            </a:r>
            <a:r>
              <a:rPr lang="en-US" altLang="ko-KR" sz="1400" spc="-50" dirty="0">
                <a:latin typeface="나눔스퀘어" panose="020B0600000101010101" pitchFamily="50" charset="-127"/>
                <a:ea typeface="나눔스퀘어" panose="020B0600000101010101" pitchFamily="50" charset="-127"/>
              </a:rPr>
              <a:t>from 4Q after limited recovery in </a:t>
            </a:r>
            <a:r>
              <a:rPr lang="en-US" altLang="ko-KR" sz="1400" spc="-50" dirty="0" smtClean="0">
                <a:latin typeface="나눔스퀘어" panose="020B0600000101010101" pitchFamily="50" charset="-127"/>
                <a:ea typeface="나눔스퀘어" panose="020B0600000101010101" pitchFamily="50" charset="-127"/>
              </a:rPr>
              <a:t>3Q</a:t>
            </a:r>
            <a:endParaRPr lang="ko-KR" altLang="en-US" sz="1400" spc="-50" dirty="0">
              <a:latin typeface="나눔스퀘어" panose="020B0600000101010101" pitchFamily="50" charset="-127"/>
              <a:ea typeface="나눔스퀘어" panose="020B0600000101010101" pitchFamily="50" charset="-127"/>
            </a:endParaRPr>
          </a:p>
        </p:txBody>
      </p:sp>
      <p:sp>
        <p:nvSpPr>
          <p:cNvPr id="37" name="직사각형 25">
            <a:extLst>
              <a:ext uri="{FF2B5EF4-FFF2-40B4-BE49-F238E27FC236}">
                <a16:creationId xmlns:a16="http://schemas.microsoft.com/office/drawing/2014/main" id="{3F2A1EA1-CAA6-5D90-657A-21DA48D04A7D}"/>
              </a:ext>
            </a:extLst>
          </p:cNvPr>
          <p:cNvSpPr/>
          <p:nvPr/>
        </p:nvSpPr>
        <p:spPr>
          <a:xfrm>
            <a:off x="6395855" y="2900214"/>
            <a:ext cx="5666606" cy="1897955"/>
          </a:xfrm>
          <a:prstGeom prst="rect">
            <a:avLst/>
          </a:prstGeom>
        </p:spPr>
        <p:txBody>
          <a:bodyPr wrap="square">
            <a:spAutoFit/>
          </a:bodyPr>
          <a:lstStyle/>
          <a:p>
            <a:pPr marL="144000" indent="-144000" defTabSz="1038977" latinLnBrk="0">
              <a:spcAft>
                <a:spcPts val="800"/>
              </a:spcAft>
              <a:buFont typeface="Arial" panose="020B0604020202020204" pitchFamily="34" charset="0"/>
              <a:buChar char="•"/>
            </a:pPr>
            <a:r>
              <a:rPr lang="en-US" altLang="ko-KR" sz="1400" dirty="0">
                <a:latin typeface="나눔스퀘어" panose="020B0600000101010101" pitchFamily="50" charset="-127"/>
                <a:ea typeface="나눔스퀘어" panose="020B0600000101010101" pitchFamily="50" charset="-127"/>
              </a:rPr>
              <a:t>Gulf transits and congestion have started to </a:t>
            </a:r>
            <a:r>
              <a:rPr lang="en-US" altLang="ko-KR" sz="1400" dirty="0" smtClean="0">
                <a:latin typeface="나눔스퀘어" panose="020B0600000101010101" pitchFamily="50" charset="-127"/>
                <a:ea typeface="나눔스퀘어" panose="020B0600000101010101" pitchFamily="50" charset="-127"/>
              </a:rPr>
              <a:t>recover</a:t>
            </a:r>
          </a:p>
          <a:p>
            <a:pPr defTabSz="1038977" latinLnBrk="0">
              <a:spcAft>
                <a:spcPts val="800"/>
              </a:spcAft>
            </a:pPr>
            <a:r>
              <a:rPr lang="en-US" altLang="ko-KR" sz="1400" spc="-60" dirty="0" smtClean="0">
                <a:latin typeface="나눔스퀘어" panose="020B0600000101010101" pitchFamily="50" charset="-127"/>
                <a:ea typeface="나눔스퀘어" panose="020B0600000101010101" pitchFamily="50" charset="-127"/>
              </a:rPr>
              <a:t>   - </a:t>
            </a:r>
            <a:r>
              <a:rPr lang="en-US" altLang="ko-KR" sz="1400" spc="-80" dirty="0">
                <a:latin typeface="나눔스퀘어" panose="020B0600000101010101" pitchFamily="50" charset="-127"/>
                <a:ea typeface="나눔스퀘어" panose="020B0600000101010101" pitchFamily="50" charset="-127"/>
              </a:rPr>
              <a:t>Hormuz transits remain well below pre-war levels but continue to </a:t>
            </a:r>
            <a:r>
              <a:rPr lang="en-US" altLang="ko-KR" sz="1400" spc="-80" dirty="0" smtClean="0">
                <a:latin typeface="나눔스퀘어" panose="020B0600000101010101" pitchFamily="50" charset="-127"/>
                <a:ea typeface="나눔스퀘어" panose="020B0600000101010101" pitchFamily="50" charset="-127"/>
              </a:rPr>
              <a:t>recover</a:t>
            </a:r>
            <a:endParaRPr lang="en-US" altLang="ko-KR" sz="1400" spc="-80" dirty="0">
              <a:latin typeface="나눔스퀘어" panose="020B0600000101010101" pitchFamily="50" charset="-127"/>
              <a:ea typeface="나눔스퀘어" panose="020B0600000101010101" pitchFamily="50" charset="-127"/>
            </a:endParaRP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 </a:t>
            </a:r>
            <a:r>
              <a:rPr lang="en-US" altLang="ko-KR" sz="1400" spc="-50" dirty="0">
                <a:latin typeface="나눔스퀘어" panose="020B0600000101010101" pitchFamily="50" charset="-127"/>
                <a:ea typeface="나눔스퀘어" panose="020B0600000101010101" pitchFamily="50" charset="-127"/>
              </a:rPr>
              <a:t>Congestion at major </a:t>
            </a:r>
            <a:r>
              <a:rPr lang="en-US" altLang="ko-KR" sz="1400" spc="-50" dirty="0" smtClean="0">
                <a:latin typeface="나눔스퀘어" panose="020B0600000101010101" pitchFamily="50" charset="-127"/>
                <a:ea typeface="나눔스퀘어" panose="020B0600000101010101" pitchFamily="50" charset="-127"/>
              </a:rPr>
              <a:t>T/S </a:t>
            </a:r>
            <a:r>
              <a:rPr lang="en-US" altLang="ko-KR" sz="1400" spc="-50" dirty="0">
                <a:latin typeface="나눔스퀘어" panose="020B0600000101010101" pitchFamily="50" charset="-127"/>
                <a:ea typeface="나눔스퀘어" panose="020B0600000101010101" pitchFamily="50" charset="-127"/>
              </a:rPr>
              <a:t>hubs eased, gradually relieving </a:t>
            </a:r>
            <a:r>
              <a:rPr lang="en-US" altLang="ko-KR" sz="1400" spc="-50" dirty="0" smtClean="0">
                <a:latin typeface="나눔스퀘어" panose="020B0600000101010101" pitchFamily="50" charset="-127"/>
                <a:ea typeface="나눔스퀘어" panose="020B0600000101010101" pitchFamily="50" charset="-127"/>
              </a:rPr>
              <a:t>bottlenecks</a:t>
            </a:r>
          </a:p>
          <a:p>
            <a:pPr marL="144000" indent="-144000" defTabSz="1038977" latinLnBrk="0">
              <a:spcAft>
                <a:spcPts val="800"/>
              </a:spcAft>
              <a:buFont typeface="Arial" panose="020B0604020202020204" pitchFamily="34" charset="0"/>
              <a:buChar char="•"/>
            </a:pPr>
            <a:r>
              <a:rPr lang="en-US" altLang="ko-KR" sz="1400" dirty="0">
                <a:latin typeface="나눔스퀘어" panose="020B0600000101010101" pitchFamily="50" charset="-127"/>
                <a:ea typeface="나눔스퀘어" panose="020B0600000101010101" pitchFamily="50" charset="-127"/>
              </a:rPr>
              <a:t>Operational recovery to support supply normalization in </a:t>
            </a:r>
            <a:r>
              <a:rPr lang="en-US" altLang="ko-KR" sz="1400" dirty="0" smtClean="0">
                <a:latin typeface="나눔스퀘어" panose="020B0600000101010101" pitchFamily="50" charset="-127"/>
                <a:ea typeface="나눔스퀘어" panose="020B0600000101010101" pitchFamily="50" charset="-127"/>
              </a:rPr>
              <a:t>4Q</a:t>
            </a:r>
          </a:p>
          <a:p>
            <a:pPr defTabSz="1038977" latinLnBrk="0">
              <a:spcAft>
                <a:spcPts val="800"/>
              </a:spcAft>
            </a:pPr>
            <a:r>
              <a:rPr lang="en-US" altLang="ko-KR" sz="1400" spc="-80" dirty="0" smtClean="0">
                <a:latin typeface="나눔스퀘어" panose="020B0600000101010101" pitchFamily="50" charset="-127"/>
                <a:ea typeface="나눔스퀘어" panose="020B0600000101010101" pitchFamily="50" charset="-127"/>
              </a:rPr>
              <a:t>   - </a:t>
            </a:r>
            <a:r>
              <a:rPr lang="en-US" altLang="ko-KR" sz="1400" spc="-80" dirty="0">
                <a:latin typeface="나눔스퀘어" panose="020B0600000101010101" pitchFamily="50" charset="-127"/>
                <a:ea typeface="나눔스퀘어" panose="020B0600000101010101" pitchFamily="50" charset="-127"/>
              </a:rPr>
              <a:t>3Q recovery is expected to remain </a:t>
            </a:r>
            <a:r>
              <a:rPr lang="en-US" altLang="ko-KR" sz="1400" spc="-80" dirty="0" smtClean="0">
                <a:latin typeface="나눔스퀘어" panose="020B0600000101010101" pitchFamily="50" charset="-127"/>
                <a:ea typeface="나눔스퀘어" panose="020B0600000101010101" pitchFamily="50" charset="-127"/>
              </a:rPr>
              <a:t>gradual</a:t>
            </a:r>
          </a:p>
          <a:p>
            <a:pPr defTabSz="1038977" latinLnBrk="0">
              <a:spcAft>
                <a:spcPts val="800"/>
              </a:spcAft>
            </a:pPr>
            <a:r>
              <a:rPr lang="en-US" altLang="ko-KR" sz="1400" spc="-80" dirty="0">
                <a:latin typeface="나눔스퀘어" panose="020B0600000101010101" pitchFamily="50" charset="-127"/>
                <a:ea typeface="나눔스퀘어" panose="020B0600000101010101" pitchFamily="50" charset="-127"/>
              </a:rPr>
              <a:t> </a:t>
            </a:r>
            <a:r>
              <a:rPr lang="en-US" altLang="ko-KR" sz="1400" spc="-80" dirty="0" smtClean="0">
                <a:latin typeface="나눔스퀘어" panose="020B0600000101010101" pitchFamily="50" charset="-127"/>
                <a:ea typeface="나눔스퀘어" panose="020B0600000101010101" pitchFamily="50" charset="-127"/>
              </a:rPr>
              <a:t>  - </a:t>
            </a:r>
            <a:r>
              <a:rPr lang="en-US" altLang="ko-KR" sz="1400" spc="-80" dirty="0">
                <a:latin typeface="나눔스퀘어" panose="020B0600000101010101" pitchFamily="50" charset="-127"/>
                <a:ea typeface="나눔스퀘어" panose="020B0600000101010101" pitchFamily="50" charset="-127"/>
              </a:rPr>
              <a:t>Improving transits and congestion may weigh on 4Q freight </a:t>
            </a:r>
            <a:r>
              <a:rPr lang="en-US" altLang="ko-KR" sz="1400" spc="-80" dirty="0" smtClean="0">
                <a:latin typeface="나눔스퀘어" panose="020B0600000101010101" pitchFamily="50" charset="-127"/>
                <a:ea typeface="나눔스퀘어" panose="020B0600000101010101" pitchFamily="50" charset="-127"/>
              </a:rPr>
              <a:t>rates</a:t>
            </a:r>
          </a:p>
        </p:txBody>
      </p:sp>
      <p:sp>
        <p:nvSpPr>
          <p:cNvPr id="45" name="TextBox 44">
            <a:extLst>
              <a:ext uri="{FF2B5EF4-FFF2-40B4-BE49-F238E27FC236}">
                <a16:creationId xmlns:a16="http://schemas.microsoft.com/office/drawing/2014/main" id="{F419EC2A-DA12-DE70-177E-D060836EC73B}"/>
              </a:ext>
            </a:extLst>
          </p:cNvPr>
          <p:cNvSpPr txBox="1"/>
          <p:nvPr/>
        </p:nvSpPr>
        <p:spPr>
          <a:xfrm>
            <a:off x="525890" y="6506819"/>
            <a:ext cx="3759042" cy="153888"/>
          </a:xfrm>
          <a:prstGeom prst="rect">
            <a:avLst/>
          </a:prstGeom>
          <a:noFill/>
        </p:spPr>
        <p:txBody>
          <a:bodyPr wrap="none" lIns="0" tIns="0" rIns="0" bIns="0" rtlCol="0" anchor="ctr">
            <a:spAutoFit/>
          </a:bodyPr>
          <a:lstStyle/>
          <a:p>
            <a:pPr latinLnBrk="0"/>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Source</a:t>
            </a:r>
            <a:r>
              <a:rPr lang="ko-KR" altLang="en-US"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smtClean="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err="1" smtClean="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Linerlytica</a:t>
            </a:r>
            <a:r>
              <a:rPr lang="en-US" altLang="ko-KR" sz="1000" dirty="0" smtClean="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 </a:t>
            </a:r>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Global Ship </a:t>
            </a:r>
            <a:r>
              <a:rPr lang="en-US" altLang="ko-KR" sz="1000" dirty="0" smtClean="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Lease </a:t>
            </a:r>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smtClean="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MSI / </a:t>
            </a:r>
            <a:r>
              <a:rPr lang="en-US" altLang="ko-KR" sz="1000" dirty="0" err="1" smtClean="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Clarksons</a:t>
            </a:r>
            <a:r>
              <a:rPr lang="en-US" altLang="ko-KR" sz="1000" dirty="0" smtClean="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 </a:t>
            </a:r>
            <a:r>
              <a:rPr lang="en-US" altLang="ko-KR" sz="1000" dirty="0" err="1" smtClean="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Xeneta</a:t>
            </a:r>
            <a:endPar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endParaRPr>
          </a:p>
        </p:txBody>
      </p:sp>
      <p:sp>
        <p:nvSpPr>
          <p:cNvPr id="18" name="TextBox 116"/>
          <p:cNvSpPr txBox="1">
            <a:spLocks noChangeArrowheads="1"/>
          </p:cNvSpPr>
          <p:nvPr/>
        </p:nvSpPr>
        <p:spPr bwMode="auto">
          <a:xfrm>
            <a:off x="6393077" y="2171013"/>
            <a:ext cx="511998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lvl="0" algn="ctr" defTabSz="1038977" eaLnBrk="1" hangingPunct="1"/>
            <a:r>
              <a:rPr kumimoji="0" lang="en-US" altLang="ko-KR" sz="1600" spc="-5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Operational </a:t>
            </a:r>
            <a:r>
              <a:rPr kumimoji="0" lang="en-US" altLang="ko-KR" sz="1600" spc="-5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Recovery </a:t>
            </a:r>
            <a:r>
              <a:rPr kumimoji="0" lang="en-US" altLang="ko-KR" sz="1600" spc="-5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to </a:t>
            </a:r>
            <a:r>
              <a:rPr kumimoji="0" lang="en-US" altLang="ko-KR" sz="1600" spc="-5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Weigh </a:t>
            </a:r>
            <a:r>
              <a:rPr kumimoji="0" lang="en-US" altLang="ko-KR" sz="1600" spc="-5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on 4Q </a:t>
            </a:r>
            <a:r>
              <a:rPr kumimoji="0" lang="en-US" altLang="ko-KR" sz="1600" spc="-5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Rates</a:t>
            </a:r>
            <a:endParaRPr kumimoji="0" lang="en-US" altLang="ko-KR" sz="1600" spc="-5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sp>
        <p:nvSpPr>
          <p:cNvPr id="20" name="TextBox 116"/>
          <p:cNvSpPr txBox="1">
            <a:spLocks noChangeArrowheads="1"/>
          </p:cNvSpPr>
          <p:nvPr/>
        </p:nvSpPr>
        <p:spPr bwMode="auto">
          <a:xfrm>
            <a:off x="661878" y="2188796"/>
            <a:ext cx="511998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algn="ctr" defTabSz="1038977" eaLnBrk="1" hangingPunct="1"/>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Supply Recovery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to </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Weigh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on 2H </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Freight Rates</a:t>
            </a:r>
            <a:endParaRPr kumimoji="0" lang="ko-KR" altLang="en-US"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sp>
        <p:nvSpPr>
          <p:cNvPr id="47" name="TextBox 46"/>
          <p:cNvSpPr txBox="1"/>
          <p:nvPr/>
        </p:nvSpPr>
        <p:spPr>
          <a:xfrm>
            <a:off x="3699058" y="3445605"/>
            <a:ext cx="1869341" cy="138499"/>
          </a:xfrm>
          <a:prstGeom prst="rect">
            <a:avLst/>
          </a:prstGeom>
          <a:noFill/>
        </p:spPr>
        <p:txBody>
          <a:bodyPr wrap="square" lIns="0" tIns="0" rIns="0" bIns="0" rtlCol="0">
            <a:spAutoFit/>
          </a:bodyPr>
          <a:lstStyle/>
          <a:p>
            <a:r>
              <a:rPr lang="en-US" altLang="ko-KR" sz="900" dirty="0">
                <a:solidFill>
                  <a:srgbClr val="0000FF"/>
                </a:solidFill>
                <a:latin typeface="나눔스퀘어" panose="020B0600000101010101" pitchFamily="50" charset="-127"/>
                <a:ea typeface="나눔스퀘어" panose="020B0600000101010101" pitchFamily="50" charset="-127"/>
              </a:rPr>
              <a:t>* ~2.6% of the global fleet</a:t>
            </a:r>
          </a:p>
        </p:txBody>
      </p:sp>
      <p:sp>
        <p:nvSpPr>
          <p:cNvPr id="50" name="직사각형 49"/>
          <p:cNvSpPr/>
          <p:nvPr/>
        </p:nvSpPr>
        <p:spPr>
          <a:xfrm>
            <a:off x="2952750" y="5186091"/>
            <a:ext cx="2576280" cy="722630"/>
          </a:xfrm>
          <a:prstGeom prst="rect">
            <a:avLst/>
          </a:prstGeom>
          <a:solidFill>
            <a:srgbClr val="0000FF">
              <a:alpha val="6000"/>
            </a:srgbClr>
          </a:solidFill>
          <a:ln>
            <a:noFill/>
          </a:ln>
          <a:effectLst/>
        </p:spPr>
        <p:txBody>
          <a:bodyPr vert="horz" wrap="square" lIns="91440" tIns="45720" rIns="91440" bIns="45720" numCol="1" rtlCol="0" anchor="ctr" anchorCtr="0" compatLnSpc="1">
            <a:prstTxWarp prst="textNoShape">
              <a:avLst/>
            </a:prstTxWarp>
          </a:bodyPr>
          <a:lstStyle/>
          <a:p>
            <a:pPr algn="ctr"/>
            <a:endParaRPr lang="ko-KR" altLang="en-US" sz="2000" b="1" smtClean="0">
              <a:solidFill>
                <a:srgbClr val="0000FF"/>
              </a:solidFill>
            </a:endParaRPr>
          </a:p>
        </p:txBody>
      </p:sp>
      <p:sp>
        <p:nvSpPr>
          <p:cNvPr id="51" name="TextBox 50">
            <a:extLst>
              <a:ext uri="{FF2B5EF4-FFF2-40B4-BE49-F238E27FC236}">
                <a16:creationId xmlns:a16="http://schemas.microsoft.com/office/drawing/2014/main" id="{F419EC2A-DA12-DE70-177E-D060836EC73B}"/>
              </a:ext>
            </a:extLst>
          </p:cNvPr>
          <p:cNvSpPr txBox="1"/>
          <p:nvPr/>
        </p:nvSpPr>
        <p:spPr>
          <a:xfrm>
            <a:off x="3775793" y="5211533"/>
            <a:ext cx="872408" cy="153888"/>
          </a:xfrm>
          <a:prstGeom prst="rect">
            <a:avLst/>
          </a:prstGeom>
          <a:noFill/>
        </p:spPr>
        <p:txBody>
          <a:bodyPr wrap="square" lIns="0" tIns="0" rIns="0" bIns="0" rtlCol="0" anchor="ctr">
            <a:spAutoFit/>
          </a:bodyPr>
          <a:lstStyle/>
          <a:p>
            <a:pPr algn="ctr" latinLnBrk="0"/>
            <a:r>
              <a:rPr lang="en-US" altLang="ko-KR" sz="1000" b="1" dirty="0" smtClean="0">
                <a:ln>
                  <a:solidFill>
                    <a:srgbClr val="0FEFC4">
                      <a:alpha val="0"/>
                    </a:srgbClr>
                  </a:solidFill>
                </a:ln>
                <a:solidFill>
                  <a:srgbClr val="0000FF"/>
                </a:solidFill>
                <a:latin typeface="나눔스퀘어" panose="020B0600000101010101" pitchFamily="50" charset="-127"/>
                <a:ea typeface="나눔스퀘어" panose="020B0600000101010101" pitchFamily="50" charset="-127"/>
              </a:rPr>
              <a:t>Forecast</a:t>
            </a:r>
            <a:endParaRPr lang="en-US" altLang="ko-KR" sz="1000" b="1" dirty="0">
              <a:ln>
                <a:solidFill>
                  <a:srgbClr val="0FEFC4">
                    <a:alpha val="0"/>
                  </a:srgbClr>
                </a:solidFill>
              </a:ln>
              <a:solidFill>
                <a:srgbClr val="0000FF"/>
              </a:solidFill>
              <a:latin typeface="나눔스퀘어" panose="020B0600000101010101" pitchFamily="50" charset="-127"/>
              <a:ea typeface="나눔스퀘어" panose="020B0600000101010101" pitchFamily="50" charset="-127"/>
            </a:endParaRPr>
          </a:p>
        </p:txBody>
      </p:sp>
      <p:sp>
        <p:nvSpPr>
          <p:cNvPr id="54" name="TextBox 53">
            <a:extLst>
              <a:ext uri="{FF2B5EF4-FFF2-40B4-BE49-F238E27FC236}">
                <a16:creationId xmlns:a16="http://schemas.microsoft.com/office/drawing/2014/main" id="{F419EC2A-DA12-DE70-177E-D060836EC73B}"/>
              </a:ext>
            </a:extLst>
          </p:cNvPr>
          <p:cNvSpPr txBox="1"/>
          <p:nvPr/>
        </p:nvSpPr>
        <p:spPr>
          <a:xfrm>
            <a:off x="591694" y="6310012"/>
            <a:ext cx="5010987" cy="153888"/>
          </a:xfrm>
          <a:prstGeom prst="rect">
            <a:avLst/>
          </a:prstGeom>
          <a:noFill/>
        </p:spPr>
        <p:txBody>
          <a:bodyPr wrap="none" lIns="0" tIns="0" rIns="0" bIns="0" rtlCol="0" anchor="ctr">
            <a:spAutoFit/>
          </a:bodyPr>
          <a:lstStyle/>
          <a:p>
            <a:pPr latinLnBrk="0"/>
            <a:r>
              <a:rPr lang="en-US" altLang="ko-KR" sz="1000" spc="-5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a:t>
            </a:r>
            <a:r>
              <a:rPr lang="en-US" altLang="ko-KR" sz="1000" spc="-5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Scenario: Direct Gulf services resume after Aug.; vessel speeds recover to Feb. levels from </a:t>
            </a:r>
            <a:r>
              <a:rPr lang="en-US" altLang="ko-KR" sz="1000" spc="-5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4Q</a:t>
            </a:r>
            <a:endParaRPr lang="en-US" altLang="ko-KR" sz="1000" spc="-5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endParaRPr>
          </a:p>
        </p:txBody>
      </p:sp>
      <p:sp>
        <p:nvSpPr>
          <p:cNvPr id="44" name="TextBox 43">
            <a:extLst>
              <a:ext uri="{FF2B5EF4-FFF2-40B4-BE49-F238E27FC236}">
                <a16:creationId xmlns:a16="http://schemas.microsoft.com/office/drawing/2014/main" id="{F419EC2A-DA12-DE70-177E-D060836EC73B}"/>
              </a:ext>
            </a:extLst>
          </p:cNvPr>
          <p:cNvSpPr txBox="1"/>
          <p:nvPr/>
        </p:nvSpPr>
        <p:spPr>
          <a:xfrm>
            <a:off x="6753707" y="4840771"/>
            <a:ext cx="4558812" cy="184666"/>
          </a:xfrm>
          <a:prstGeom prst="rect">
            <a:avLst/>
          </a:prstGeom>
          <a:noFill/>
        </p:spPr>
        <p:txBody>
          <a:bodyPr wrap="none" lIns="0" tIns="0" rIns="0" bIns="0" rtlCol="0" anchor="ctr">
            <a:spAutoFit/>
          </a:bodyPr>
          <a:lstStyle/>
          <a:p>
            <a:pPr latinLnBrk="0"/>
            <a:r>
              <a:rPr lang="en-US" altLang="ko-KR" sz="1200" b="1" dirty="0">
                <a:ln>
                  <a:solidFill>
                    <a:srgbClr val="0FEFC4">
                      <a:alpha val="0"/>
                    </a:srgbClr>
                  </a:solidFill>
                </a:ln>
                <a:solidFill>
                  <a:schemeClr val="tx1">
                    <a:lumMod val="75000"/>
                    <a:lumOff val="25000"/>
                  </a:schemeClr>
                </a:solidFill>
                <a:latin typeface="나눔스퀘어" panose="020B0600000101010101" pitchFamily="50" charset="-127"/>
                <a:ea typeface="나눔스퀘어" panose="020B0600000101010101" pitchFamily="50" charset="-127"/>
              </a:rPr>
              <a:t>[Key Container Vessel Operational Metrics: Pre- vs. Post-Conflict]</a:t>
            </a:r>
          </a:p>
        </p:txBody>
      </p:sp>
      <p:sp>
        <p:nvSpPr>
          <p:cNvPr id="43" name="TextBox 42">
            <a:extLst>
              <a:ext uri="{FF2B5EF4-FFF2-40B4-BE49-F238E27FC236}">
                <a16:creationId xmlns:a16="http://schemas.microsoft.com/office/drawing/2014/main" id="{F419EC2A-DA12-DE70-177E-D060836EC73B}"/>
              </a:ext>
            </a:extLst>
          </p:cNvPr>
          <p:cNvSpPr txBox="1"/>
          <p:nvPr/>
        </p:nvSpPr>
        <p:spPr>
          <a:xfrm>
            <a:off x="6243454" y="6280030"/>
            <a:ext cx="4417876" cy="153888"/>
          </a:xfrm>
          <a:prstGeom prst="rect">
            <a:avLst/>
          </a:prstGeom>
          <a:noFill/>
        </p:spPr>
        <p:txBody>
          <a:bodyPr wrap="none" lIns="0" tIns="0" rIns="0" bIns="0" rtlCol="0" anchor="ctr">
            <a:spAutoFit/>
          </a:bodyPr>
          <a:lstStyle/>
          <a:p>
            <a:pPr latinLnBrk="0"/>
            <a:r>
              <a:rPr lang="en-US" altLang="ko-KR" sz="10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a:t>
            </a:r>
            <a:r>
              <a:rPr lang="en-US" altLang="ko-KR" sz="100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Port Congestion </a:t>
            </a:r>
            <a:r>
              <a:rPr lang="en-US" altLang="ko-KR" sz="10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Index :  </a:t>
            </a:r>
            <a:r>
              <a:rPr lang="en-US" altLang="ko-KR" sz="100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AIS-based nominal containership capacity at </a:t>
            </a:r>
            <a:r>
              <a:rPr lang="en-US" altLang="ko-KR" sz="10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port</a:t>
            </a:r>
            <a:endParaRPr lang="ko-KR" altLang="en-US" sz="100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endParaRPr>
          </a:p>
        </p:txBody>
      </p:sp>
      <p:sp>
        <p:nvSpPr>
          <p:cNvPr id="46" name="TextBox 45"/>
          <p:cNvSpPr txBox="1"/>
          <p:nvPr/>
        </p:nvSpPr>
        <p:spPr>
          <a:xfrm>
            <a:off x="6710205" y="3445605"/>
            <a:ext cx="3652995" cy="138499"/>
          </a:xfrm>
          <a:prstGeom prst="rect">
            <a:avLst/>
          </a:prstGeom>
          <a:noFill/>
        </p:spPr>
        <p:txBody>
          <a:bodyPr wrap="square" lIns="0" tIns="0" rIns="0" bIns="0" rtlCol="0">
            <a:spAutoFit/>
          </a:bodyPr>
          <a:lstStyle/>
          <a:p>
            <a:r>
              <a:rPr lang="en-US" altLang="ko-KR" sz="900" dirty="0" smtClean="0">
                <a:solidFill>
                  <a:srgbClr val="0000FF"/>
                </a:solidFill>
                <a:latin typeface="나눔스퀘어" panose="020B0600000101010101" pitchFamily="50" charset="-127"/>
                <a:ea typeface="나눔스퀘어" panose="020B0600000101010101" pitchFamily="50" charset="-127"/>
              </a:rPr>
              <a:t>* </a:t>
            </a:r>
            <a:r>
              <a:rPr lang="en-US" altLang="ko-KR" sz="900" dirty="0">
                <a:solidFill>
                  <a:srgbClr val="0000FF"/>
                </a:solidFill>
                <a:latin typeface="나눔스퀘어" panose="020B0600000101010101" pitchFamily="50" charset="-127"/>
                <a:ea typeface="나눔스퀘어" panose="020B0600000101010101" pitchFamily="50" charset="-127"/>
              </a:rPr>
              <a:t>3,131k TEU (Feb.) → 32k (May) → 265k (Jun.)</a:t>
            </a:r>
          </a:p>
        </p:txBody>
      </p:sp>
      <p:sp>
        <p:nvSpPr>
          <p:cNvPr id="49" name="TextBox 48"/>
          <p:cNvSpPr txBox="1"/>
          <p:nvPr/>
        </p:nvSpPr>
        <p:spPr>
          <a:xfrm>
            <a:off x="6736145" y="3763461"/>
            <a:ext cx="5062578" cy="138499"/>
          </a:xfrm>
          <a:prstGeom prst="rect">
            <a:avLst/>
          </a:prstGeom>
          <a:noFill/>
        </p:spPr>
        <p:txBody>
          <a:bodyPr wrap="square" lIns="0" tIns="0" rIns="0" bIns="0" rtlCol="0">
            <a:spAutoFit/>
          </a:bodyPr>
          <a:lstStyle/>
          <a:p>
            <a:r>
              <a:rPr lang="en-US" altLang="ko-KR" sz="900" dirty="0" smtClean="0">
                <a:solidFill>
                  <a:srgbClr val="0000FF"/>
                </a:solidFill>
                <a:latin typeface="나눔스퀘어" panose="020B0600000101010101" pitchFamily="50" charset="-127"/>
                <a:ea typeface="나눔스퀘어" panose="020B0600000101010101" pitchFamily="50" charset="-127"/>
              </a:rPr>
              <a:t>* Singapore</a:t>
            </a:r>
            <a:r>
              <a:rPr lang="en-US" altLang="ko-KR" sz="900" dirty="0">
                <a:solidFill>
                  <a:srgbClr val="0000FF"/>
                </a:solidFill>
                <a:latin typeface="나눔스퀘어" panose="020B0600000101010101" pitchFamily="50" charset="-127"/>
                <a:ea typeface="나눔스퀘어" panose="020B0600000101010101" pitchFamily="50" charset="-127"/>
              </a:rPr>
              <a:t>, Colombo, and </a:t>
            </a:r>
            <a:r>
              <a:rPr lang="en-US" altLang="ko-KR" sz="900" dirty="0" err="1">
                <a:solidFill>
                  <a:srgbClr val="0000FF"/>
                </a:solidFill>
                <a:latin typeface="나눔스퀘어" panose="020B0600000101010101" pitchFamily="50" charset="-127"/>
                <a:ea typeface="나눔스퀘어" panose="020B0600000101010101" pitchFamily="50" charset="-127"/>
              </a:rPr>
              <a:t>Mundra</a:t>
            </a:r>
            <a:r>
              <a:rPr lang="en-US" altLang="ko-KR" sz="900" dirty="0">
                <a:solidFill>
                  <a:srgbClr val="0000FF"/>
                </a:solidFill>
                <a:latin typeface="나눔스퀘어" panose="020B0600000101010101" pitchFamily="50" charset="-127"/>
                <a:ea typeface="나눔스퀘어" panose="020B0600000101010101" pitchFamily="50" charset="-127"/>
              </a:rPr>
              <a:t> congestion eased 6%, 28%, and 10% (</a:t>
            </a:r>
            <a:r>
              <a:rPr lang="en-US" altLang="ko-KR" sz="900" dirty="0" smtClean="0">
                <a:solidFill>
                  <a:srgbClr val="0000FF"/>
                </a:solidFill>
                <a:latin typeface="나눔스퀘어" panose="020B0600000101010101" pitchFamily="50" charset="-127"/>
                <a:ea typeface="나눔스퀘어" panose="020B0600000101010101" pitchFamily="50" charset="-127"/>
              </a:rPr>
              <a:t>May–Jun)</a:t>
            </a:r>
            <a:endParaRPr lang="en-US" altLang="ko-KR" sz="900" dirty="0">
              <a:solidFill>
                <a:srgbClr val="0000FF"/>
              </a:solidFill>
              <a:latin typeface="나눔스퀘어" panose="020B0600000101010101" pitchFamily="50" charset="-127"/>
              <a:ea typeface="나눔스퀘어" panose="020B0600000101010101" pitchFamily="50" charset="-127"/>
            </a:endParaRPr>
          </a:p>
        </p:txBody>
      </p:sp>
      <p:graphicFrame>
        <p:nvGraphicFramePr>
          <p:cNvPr id="52" name="차트 51"/>
          <p:cNvGraphicFramePr/>
          <p:nvPr>
            <p:extLst>
              <p:ext uri="{D42A27DB-BD31-4B8C-83A1-F6EECF244321}">
                <p14:modId xmlns:p14="http://schemas.microsoft.com/office/powerpoint/2010/main" val="3201456470"/>
              </p:ext>
            </p:extLst>
          </p:nvPr>
        </p:nvGraphicFramePr>
        <p:xfrm>
          <a:off x="446850" y="4670599"/>
          <a:ext cx="5553144" cy="164175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5" name="표 54"/>
          <p:cNvGraphicFramePr>
            <a:graphicFrameLocks noGrp="1"/>
          </p:cNvGraphicFramePr>
          <p:nvPr>
            <p:extLst>
              <p:ext uri="{D42A27DB-BD31-4B8C-83A1-F6EECF244321}">
                <p14:modId xmlns:p14="http://schemas.microsoft.com/office/powerpoint/2010/main" val="2726042260"/>
              </p:ext>
            </p:extLst>
          </p:nvPr>
        </p:nvGraphicFramePr>
        <p:xfrm>
          <a:off x="6243453" y="5060652"/>
          <a:ext cx="5423335" cy="1503985"/>
        </p:xfrm>
        <a:graphic>
          <a:graphicData uri="http://schemas.openxmlformats.org/drawingml/2006/table">
            <a:tbl>
              <a:tblPr>
                <a:tableStyleId>{5940675A-B579-460E-94D1-54222C63F5DA}</a:tableStyleId>
              </a:tblPr>
              <a:tblGrid>
                <a:gridCol w="790393">
                  <a:extLst>
                    <a:ext uri="{9D8B030D-6E8A-4147-A177-3AD203B41FA5}">
                      <a16:colId xmlns:a16="http://schemas.microsoft.com/office/drawing/2014/main" val="316407955"/>
                    </a:ext>
                  </a:extLst>
                </a:gridCol>
                <a:gridCol w="1426866">
                  <a:extLst>
                    <a:ext uri="{9D8B030D-6E8A-4147-A177-3AD203B41FA5}">
                      <a16:colId xmlns:a16="http://schemas.microsoft.com/office/drawing/2014/main" val="1522325842"/>
                    </a:ext>
                  </a:extLst>
                </a:gridCol>
                <a:gridCol w="411983">
                  <a:extLst>
                    <a:ext uri="{9D8B030D-6E8A-4147-A177-3AD203B41FA5}">
                      <a16:colId xmlns:a16="http://schemas.microsoft.com/office/drawing/2014/main" val="4253621513"/>
                    </a:ext>
                  </a:extLst>
                </a:gridCol>
                <a:gridCol w="406367">
                  <a:extLst>
                    <a:ext uri="{9D8B030D-6E8A-4147-A177-3AD203B41FA5}">
                      <a16:colId xmlns:a16="http://schemas.microsoft.com/office/drawing/2014/main" val="527044530"/>
                    </a:ext>
                  </a:extLst>
                </a:gridCol>
                <a:gridCol w="406367">
                  <a:extLst>
                    <a:ext uri="{9D8B030D-6E8A-4147-A177-3AD203B41FA5}">
                      <a16:colId xmlns:a16="http://schemas.microsoft.com/office/drawing/2014/main" val="3132418970"/>
                    </a:ext>
                  </a:extLst>
                </a:gridCol>
                <a:gridCol w="406367">
                  <a:extLst>
                    <a:ext uri="{9D8B030D-6E8A-4147-A177-3AD203B41FA5}">
                      <a16:colId xmlns:a16="http://schemas.microsoft.com/office/drawing/2014/main" val="2939990860"/>
                    </a:ext>
                  </a:extLst>
                </a:gridCol>
                <a:gridCol w="406367">
                  <a:extLst>
                    <a:ext uri="{9D8B030D-6E8A-4147-A177-3AD203B41FA5}">
                      <a16:colId xmlns:a16="http://schemas.microsoft.com/office/drawing/2014/main" val="3568687876"/>
                    </a:ext>
                  </a:extLst>
                </a:gridCol>
                <a:gridCol w="571378">
                  <a:extLst>
                    <a:ext uri="{9D8B030D-6E8A-4147-A177-3AD203B41FA5}">
                      <a16:colId xmlns:a16="http://schemas.microsoft.com/office/drawing/2014/main" val="3591096881"/>
                    </a:ext>
                  </a:extLst>
                </a:gridCol>
                <a:gridCol w="597247">
                  <a:extLst>
                    <a:ext uri="{9D8B030D-6E8A-4147-A177-3AD203B41FA5}">
                      <a16:colId xmlns:a16="http://schemas.microsoft.com/office/drawing/2014/main" val="2306873096"/>
                    </a:ext>
                  </a:extLst>
                </a:gridCol>
              </a:tblGrid>
              <a:tr h="192849">
                <a:tc rowSpan="2" gridSpan="2">
                  <a:txBody>
                    <a:bodyPr/>
                    <a:lstStyle/>
                    <a:p>
                      <a:pPr algn="ctr" fontAlgn="b"/>
                      <a:r>
                        <a:rPr lang="en-US" altLang="ko-KR" sz="1100" b="1" i="0" u="none" strike="noStrike" dirty="0" smtClean="0">
                          <a:solidFill>
                            <a:srgbClr val="000000"/>
                          </a:solidFill>
                          <a:effectLst/>
                          <a:latin typeface="나눔스퀘어" panose="020B0600000101010101" pitchFamily="50" charset="-127"/>
                          <a:ea typeface="나눔스퀘어" panose="020B0600000101010101" pitchFamily="50" charset="-127"/>
                        </a:rPr>
                        <a:t>Operational Metric</a:t>
                      </a:r>
                      <a:endParaRPr lang="ko-KR" alt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rowSpan="2" hMerge="1">
                  <a:txBody>
                    <a:bodyPr/>
                    <a:lstStyle/>
                    <a:p>
                      <a:pPr latinLnBrk="1"/>
                      <a:endParaRPr lang="ko-KR" altLang="en-US"/>
                    </a:p>
                  </a:txBody>
                  <a:tcPr/>
                </a:tc>
                <a:tc gridSpan="5">
                  <a:txBody>
                    <a:bodyPr/>
                    <a:lstStyle/>
                    <a:p>
                      <a:pPr algn="ctr" fontAlgn="b"/>
                      <a:r>
                        <a:rPr lang="en-US" altLang="ko-KR" sz="1100" b="1" i="0" u="none" strike="noStrike" dirty="0" smtClean="0">
                          <a:solidFill>
                            <a:srgbClr val="000000"/>
                          </a:solidFill>
                          <a:effectLst/>
                          <a:latin typeface="나눔스퀘어" panose="020B0600000101010101" pitchFamily="50" charset="-127"/>
                          <a:ea typeface="나눔스퀘어" panose="020B0600000101010101" pitchFamily="50" charset="-127"/>
                        </a:rPr>
                        <a:t>2026</a:t>
                      </a:r>
                      <a:endParaRPr lang="ko-KR" alt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solidFill>
                        <a:srgbClr val="0000FF"/>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hMerge="1">
                  <a:txBody>
                    <a:bodyPr/>
                    <a:lstStyle/>
                    <a:p>
                      <a:pPr algn="ctr" fontAlgn="b"/>
                      <a:endParaRPr lang="ko-KR" altLang="en-US"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hMerge="1">
                  <a:txBody>
                    <a:bodyPr/>
                    <a:lstStyle/>
                    <a:p>
                      <a:pPr algn="ctr" fontAlgn="b"/>
                      <a:endParaRPr lang="ko-KR" altLang="en-US"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hMerge="1">
                  <a:txBody>
                    <a:bodyPr/>
                    <a:lstStyle/>
                    <a:p>
                      <a:pPr algn="ctr" fontAlgn="b"/>
                      <a:endParaRPr lang="ko-KR" altLang="en-US"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hMerge="1">
                  <a:txBody>
                    <a:bodyPr/>
                    <a:lstStyle/>
                    <a:p>
                      <a:pPr algn="ctr" fontAlgn="b"/>
                      <a:endParaRPr lang="ko-KR" altLang="en-US"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rowSpan="2">
                  <a:txBody>
                    <a:bodyPr/>
                    <a:lstStyle/>
                    <a:p>
                      <a:pPr algn="ctr" fontAlgn="b"/>
                      <a:r>
                        <a:rPr lang="en-US" altLang="ko-KR" sz="1100" b="1" u="none" strike="noStrike" dirty="0" smtClean="0">
                          <a:effectLst/>
                          <a:latin typeface="나눔스퀘어" panose="020B0600000101010101" pitchFamily="50" charset="-127"/>
                          <a:ea typeface="나눔스퀘어" panose="020B0600000101010101" pitchFamily="50" charset="-127"/>
                        </a:rPr>
                        <a:t>vs. Pre-Conflict</a:t>
                      </a:r>
                      <a:r>
                        <a:rPr lang="ko-KR" altLang="en-US" sz="1100" b="1" u="none" strike="noStrike" dirty="0" smtClean="0">
                          <a:effectLst/>
                          <a:latin typeface="나눔스퀘어" panose="020B0600000101010101" pitchFamily="50" charset="-127"/>
                          <a:ea typeface="나눔스퀘어" panose="020B0600000101010101" pitchFamily="50" charset="-127"/>
                        </a:rPr>
                        <a:t> </a:t>
                      </a:r>
                      <a:r>
                        <a:rPr lang="en-US" altLang="ko-KR" sz="900" b="1" i="0" u="none" strike="noStrike" dirty="0" smtClean="0">
                          <a:solidFill>
                            <a:srgbClr val="000000"/>
                          </a:solidFill>
                          <a:effectLst/>
                          <a:latin typeface="나눔스퀘어" panose="020B0600000101010101" pitchFamily="50" charset="-127"/>
                          <a:ea typeface="나눔스퀘어" panose="020B0600000101010101" pitchFamily="50" charset="-127"/>
                        </a:rPr>
                        <a:t>(Feb</a:t>
                      </a:r>
                      <a:r>
                        <a:rPr lang="ko-KR" altLang="en-US" sz="900" b="1" i="0" u="none" strike="noStrike" dirty="0" smtClean="0">
                          <a:solidFill>
                            <a:srgbClr val="000000"/>
                          </a:solidFill>
                          <a:effectLst/>
                          <a:latin typeface="나눔스퀘어" panose="020B0600000101010101" pitchFamily="50" charset="-127"/>
                          <a:ea typeface="나눔스퀘어" panose="020B0600000101010101" pitchFamily="50" charset="-127"/>
                        </a:rPr>
                        <a:t>↔</a:t>
                      </a:r>
                      <a:r>
                        <a:rPr lang="en-US" altLang="ko-KR" sz="900" b="1" i="0" u="none" strike="noStrike" dirty="0" smtClean="0">
                          <a:solidFill>
                            <a:srgbClr val="000000"/>
                          </a:solidFill>
                          <a:effectLst/>
                          <a:latin typeface="나눔스퀘어" panose="020B0600000101010101" pitchFamily="50" charset="-127"/>
                          <a:ea typeface="나눔스퀘어" panose="020B0600000101010101" pitchFamily="50" charset="-127"/>
                        </a:rPr>
                        <a:t>Jun)</a:t>
                      </a:r>
                      <a:endParaRPr lang="ko-KR" altLang="en-US"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12700" cap="flat" cmpd="sng" algn="ctr">
                      <a:solidFill>
                        <a:srgbClr val="0000FF"/>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12700" cap="flat" cmpd="sng" algn="ctr">
                      <a:solidFill>
                        <a:srgbClr val="0000FF"/>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rowSpan="2">
                  <a:txBody>
                    <a:bodyPr/>
                    <a:lstStyle/>
                    <a:p>
                      <a:pPr algn="ctr" fontAlgn="b"/>
                      <a:r>
                        <a:rPr lang="en-US" altLang="ko-KR" sz="1100" b="1" u="none" strike="noStrike" dirty="0" err="1" smtClean="0">
                          <a:effectLst/>
                          <a:latin typeface="나눔스퀘어" panose="020B0600000101010101" pitchFamily="50" charset="-127"/>
                          <a:ea typeface="나눔스퀘어" panose="020B0600000101010101" pitchFamily="50" charset="-127"/>
                        </a:rPr>
                        <a:t>MoM</a:t>
                      </a:r>
                      <a:endParaRPr lang="en-US" altLang="ko-KR" sz="1100" b="1" u="none" strike="noStrike" dirty="0" smtClean="0">
                        <a:effectLst/>
                        <a:latin typeface="나눔스퀘어" panose="020B0600000101010101" pitchFamily="50" charset="-127"/>
                        <a:ea typeface="나눔스퀘어" panose="020B0600000101010101" pitchFamily="50" charset="-127"/>
                      </a:endParaRPr>
                    </a:p>
                    <a:p>
                      <a:pPr algn="ctr" fontAlgn="b"/>
                      <a:r>
                        <a:rPr lang="en-US" altLang="ko-KR" sz="900" b="1" i="0" u="none" strike="noStrike" dirty="0" smtClean="0">
                          <a:solidFill>
                            <a:srgbClr val="000000"/>
                          </a:solidFill>
                          <a:effectLst/>
                          <a:latin typeface="나눔스퀘어" panose="020B0600000101010101" pitchFamily="50" charset="-127"/>
                          <a:ea typeface="나눔스퀘어" panose="020B0600000101010101" pitchFamily="50" charset="-127"/>
                        </a:rPr>
                        <a:t>(May</a:t>
                      </a:r>
                      <a:r>
                        <a:rPr lang="ko-KR" altLang="en-US" sz="900" b="1" i="0" u="none" strike="noStrike" dirty="0" smtClean="0">
                          <a:solidFill>
                            <a:srgbClr val="000000"/>
                          </a:solidFill>
                          <a:effectLst/>
                          <a:latin typeface="나눔스퀘어" panose="020B0600000101010101" pitchFamily="50" charset="-127"/>
                          <a:ea typeface="나눔스퀘어" panose="020B0600000101010101" pitchFamily="50" charset="-127"/>
                        </a:rPr>
                        <a:t>↔</a:t>
                      </a:r>
                      <a:r>
                        <a:rPr lang="en-US" altLang="ko-KR" sz="900" b="1" i="0" u="none" strike="noStrike" dirty="0" smtClean="0">
                          <a:solidFill>
                            <a:srgbClr val="000000"/>
                          </a:solidFill>
                          <a:effectLst/>
                          <a:latin typeface="나눔스퀘어" panose="020B0600000101010101" pitchFamily="50" charset="-127"/>
                          <a:ea typeface="나눔스퀘어" panose="020B0600000101010101" pitchFamily="50" charset="-127"/>
                        </a:rPr>
                        <a:t>Jun)</a:t>
                      </a:r>
                      <a:endParaRPr lang="ko-KR" altLang="en-US"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03002371"/>
                  </a:ext>
                </a:extLst>
              </a:tr>
              <a:tr h="294626">
                <a:tc gridSpan="2" vMerge="1">
                  <a:txBody>
                    <a:bodyPr/>
                    <a:lstStyle/>
                    <a:p>
                      <a:pPr latinLnBrk="1"/>
                      <a:endParaRPr lang="ko-KR" altLang="en-US"/>
                    </a:p>
                  </a:txBody>
                  <a:tcPr/>
                </a:tc>
                <a:tc hMerge="1" vMerge="1">
                  <a:txBody>
                    <a:bodyPr/>
                    <a:lstStyle/>
                    <a:p>
                      <a:pPr latinLnBrk="1"/>
                      <a:endParaRPr lang="ko-KR" altLang="en-US"/>
                    </a:p>
                  </a:txBody>
                  <a:tcPr/>
                </a:tc>
                <a:tc>
                  <a:txBody>
                    <a:bodyPr/>
                    <a:lstStyle/>
                    <a:p>
                      <a:pPr algn="ctr" fontAlgn="b"/>
                      <a:r>
                        <a:rPr lang="en-US" altLang="ko-KR" sz="1100" b="1" i="0" u="none" strike="noStrike" dirty="0" smtClean="0">
                          <a:solidFill>
                            <a:schemeClr val="tx1"/>
                          </a:solidFill>
                          <a:effectLst/>
                          <a:latin typeface="나눔스퀘어" panose="020B0600000101010101" pitchFamily="50" charset="-127"/>
                          <a:ea typeface="나눔스퀘어" panose="020B0600000101010101" pitchFamily="50" charset="-127"/>
                        </a:rPr>
                        <a:t>Feb</a:t>
                      </a:r>
                      <a:endParaRPr lang="ko-KR" alt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fontAlgn="b"/>
                      <a:r>
                        <a:rPr lang="en-US" altLang="ko-KR" sz="1100" b="1" i="0" u="none" strike="noStrike" dirty="0" smtClean="0">
                          <a:solidFill>
                            <a:srgbClr val="000000"/>
                          </a:solidFill>
                          <a:effectLst/>
                          <a:latin typeface="나눔스퀘어" panose="020B0600000101010101" pitchFamily="50" charset="-127"/>
                          <a:ea typeface="나눔스퀘어" panose="020B0600000101010101" pitchFamily="50" charset="-127"/>
                        </a:rPr>
                        <a:t>Mar</a:t>
                      </a:r>
                      <a:endParaRPr lang="ko-KR" alt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fontAlgn="b"/>
                      <a:r>
                        <a:rPr lang="en-US" altLang="ko-KR" sz="1100" b="1" i="0" u="none" strike="noStrike" dirty="0" smtClean="0">
                          <a:solidFill>
                            <a:srgbClr val="000000"/>
                          </a:solidFill>
                          <a:effectLst/>
                          <a:latin typeface="나눔스퀘어" panose="020B0600000101010101" pitchFamily="50" charset="-127"/>
                          <a:ea typeface="나눔스퀘어" panose="020B0600000101010101" pitchFamily="50" charset="-127"/>
                        </a:rPr>
                        <a:t>Apr</a:t>
                      </a:r>
                      <a:endParaRPr lang="ko-KR" alt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fontAlgn="b"/>
                      <a:r>
                        <a:rPr lang="en-US" altLang="ko-KR" sz="1100" b="1" i="0" u="none" strike="noStrike" dirty="0" smtClean="0">
                          <a:solidFill>
                            <a:srgbClr val="000000"/>
                          </a:solidFill>
                          <a:effectLst/>
                          <a:latin typeface="나눔스퀘어" panose="020B0600000101010101" pitchFamily="50" charset="-127"/>
                          <a:ea typeface="나눔스퀘어" panose="020B0600000101010101" pitchFamily="50" charset="-127"/>
                        </a:rPr>
                        <a:t>May</a:t>
                      </a:r>
                      <a:endParaRPr lang="ko-KR" alt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fontAlgn="b"/>
                      <a:r>
                        <a:rPr lang="en-US" altLang="ko-KR" sz="1100" b="1" i="0" u="none" strike="noStrike" dirty="0" smtClean="0">
                          <a:solidFill>
                            <a:srgbClr val="000000"/>
                          </a:solidFill>
                          <a:effectLst/>
                          <a:latin typeface="나눔스퀘어" panose="020B0600000101010101" pitchFamily="50" charset="-127"/>
                          <a:ea typeface="나눔스퀘어" panose="020B0600000101010101" pitchFamily="50" charset="-127"/>
                        </a:rPr>
                        <a:t>Jun</a:t>
                      </a:r>
                      <a:endParaRPr lang="ko-KR" altLang="en-US" sz="11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solidFill>
                        <a:srgbClr val="0000FF"/>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562020666"/>
                  </a:ext>
                </a:extLst>
              </a:tr>
              <a:tr h="172975">
                <a:tc gridSpan="2">
                  <a:txBody>
                    <a:bodyPr/>
                    <a:lstStyle/>
                    <a:p>
                      <a:pPr algn="ctr" fontAlgn="ctr"/>
                      <a:r>
                        <a:rPr lang="en-US" altLang="ko-KR" sz="1100" u="none" strike="noStrike" dirty="0" smtClean="0">
                          <a:effectLst/>
                          <a:latin typeface="나눔스퀘어" panose="020B0600000101010101" pitchFamily="50" charset="-127"/>
                          <a:ea typeface="나눔스퀘어" panose="020B0600000101010101" pitchFamily="50" charset="-127"/>
                        </a:rPr>
                        <a:t>Strait of Hormuz </a:t>
                      </a:r>
                      <a:r>
                        <a:rPr lang="en-US" altLang="ko-KR" sz="1100" u="none" strike="noStrike" baseline="0" dirty="0" smtClean="0">
                          <a:effectLst/>
                          <a:latin typeface="나눔스퀘어" panose="020B0600000101010101" pitchFamily="50" charset="-127"/>
                          <a:ea typeface="나눔스퀘어" panose="020B0600000101010101" pitchFamily="50" charset="-127"/>
                        </a:rPr>
                        <a:t>Transits</a:t>
                      </a:r>
                      <a:r>
                        <a:rPr lang="en-US" altLang="ko-KR" sz="1100" u="none" strike="noStrike" dirty="0" smtClean="0">
                          <a:effectLst/>
                          <a:latin typeface="나눔스퀘어" panose="020B0600000101010101" pitchFamily="50" charset="-127"/>
                          <a:ea typeface="나눔스퀘어" panose="020B0600000101010101" pitchFamily="50" charset="-127"/>
                        </a:rPr>
                        <a:t>(k </a:t>
                      </a:r>
                      <a:r>
                        <a:rPr lang="en-US" altLang="ko-KR" sz="1100" u="none" strike="noStrike" dirty="0">
                          <a:effectLst/>
                          <a:latin typeface="나눔스퀘어" panose="020B0600000101010101" pitchFamily="50" charset="-127"/>
                          <a:ea typeface="나눔스퀘어" panose="020B0600000101010101" pitchFamily="50" charset="-127"/>
                        </a:rPr>
                        <a:t>TEU)</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hMerge="1">
                  <a:txBody>
                    <a:bodyPr/>
                    <a:lstStyle/>
                    <a:p>
                      <a:pPr latinLnBrk="1"/>
                      <a:endParaRPr lang="ko-KR" altLang="en-US"/>
                    </a:p>
                  </a:txBody>
                  <a:tcPr/>
                </a:tc>
                <a:tc>
                  <a:txBody>
                    <a:bodyPr/>
                    <a:lstStyle/>
                    <a:p>
                      <a:pPr algn="r" fontAlgn="b"/>
                      <a:r>
                        <a:rPr lang="en-US" altLang="ko-KR" sz="1100" u="none" strike="noStrike" dirty="0" smtClean="0">
                          <a:effectLst/>
                          <a:latin typeface="나눔스퀘어" panose="020B0600000101010101" pitchFamily="50" charset="-127"/>
                          <a:ea typeface="나눔스퀘어" panose="020B0600000101010101" pitchFamily="50" charset="-127"/>
                        </a:rPr>
                        <a:t>3,131 </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b"/>
                      <a:r>
                        <a:rPr lang="en-US" altLang="ko-KR" sz="1100" u="none" strike="noStrike" dirty="0" smtClean="0">
                          <a:effectLst/>
                          <a:latin typeface="나눔스퀘어" panose="020B0600000101010101" pitchFamily="50" charset="-127"/>
                          <a:ea typeface="나눔스퀘어" panose="020B0600000101010101" pitchFamily="50" charset="-127"/>
                        </a:rPr>
                        <a:t>121 </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b"/>
                      <a:r>
                        <a:rPr lang="en-US" altLang="ko-KR" sz="1100" u="none" strike="noStrike" dirty="0" smtClean="0">
                          <a:effectLst/>
                          <a:latin typeface="나눔스퀘어" panose="020B0600000101010101" pitchFamily="50" charset="-127"/>
                          <a:ea typeface="나눔스퀘어" panose="020B0600000101010101" pitchFamily="50" charset="-127"/>
                        </a:rPr>
                        <a:t>173 </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b"/>
                      <a:r>
                        <a:rPr lang="en-US" altLang="ko-KR" sz="1100" u="none" strike="noStrike" dirty="0" smtClean="0">
                          <a:effectLst/>
                          <a:latin typeface="나눔스퀘어" panose="020B0600000101010101" pitchFamily="50" charset="-127"/>
                          <a:ea typeface="나눔스퀘어" panose="020B0600000101010101" pitchFamily="50" charset="-127"/>
                        </a:rPr>
                        <a:t>32 </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b"/>
                      <a:r>
                        <a:rPr lang="en-US" altLang="ko-KR" sz="1100" u="none" strike="noStrike" dirty="0" smtClean="0">
                          <a:effectLst/>
                          <a:latin typeface="나눔스퀘어" panose="020B0600000101010101" pitchFamily="50" charset="-127"/>
                          <a:ea typeface="나눔스퀘어" panose="020B0600000101010101" pitchFamily="50" charset="-127"/>
                        </a:rPr>
                        <a:t>265</a:t>
                      </a:r>
                      <a:endParaRPr lang="en-US" altLang="ko-KR"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12700" cap="flat" cmpd="sng" algn="ctr">
                      <a:solidFill>
                        <a:srgbClr val="0000FF"/>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marL="0" marR="0" lvl="0" indent="0" algn="r" defTabSz="914400" rtl="0" eaLnBrk="1" fontAlgn="b" latinLnBrk="1" hangingPunct="1">
                        <a:lnSpc>
                          <a:spcPct val="100000"/>
                        </a:lnSpc>
                        <a:spcBef>
                          <a:spcPts val="0"/>
                        </a:spcBef>
                        <a:spcAft>
                          <a:spcPts val="0"/>
                        </a:spcAft>
                        <a:buClrTx/>
                        <a:buSzTx/>
                        <a:buFontTx/>
                        <a:buNone/>
                        <a:tabLst/>
                        <a:defRPr/>
                      </a:pPr>
                      <a:r>
                        <a:rPr lang="ko-KR" altLang="en-US" sz="11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lang="en-US" altLang="ko-KR" sz="1100" b="1" u="none" strike="noStrike" dirty="0" smtClean="0">
                          <a:solidFill>
                            <a:srgbClr val="0000FF"/>
                          </a:solidFill>
                          <a:effectLst/>
                          <a:latin typeface="나눔스퀘어" panose="020B0600000101010101" pitchFamily="50" charset="-127"/>
                          <a:ea typeface="나눔스퀘어" panose="020B0600000101010101" pitchFamily="50" charset="-127"/>
                        </a:rPr>
                        <a:t>92%</a:t>
                      </a:r>
                      <a:endParaRPr lang="en-US" altLang="ko-KR" sz="1100" b="1" i="0" u="none" strike="noStrike" dirty="0">
                        <a:solidFill>
                          <a:srgbClr val="0000FF"/>
                        </a:solidFill>
                        <a:effectLst/>
                        <a:latin typeface="나눔스퀘어" panose="020B0600000101010101" pitchFamily="50" charset="-127"/>
                        <a:ea typeface="나눔스퀘어" panose="020B0600000101010101" pitchFamily="50" charset="-127"/>
                      </a:endParaRPr>
                    </a:p>
                  </a:txBody>
                  <a:tcPr marL="0" marR="18000" marT="0" marB="0" anchor="ctr">
                    <a:lnL w="12700" cap="flat" cmpd="sng" algn="ctr">
                      <a:solidFill>
                        <a:srgbClr val="0000FF"/>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b"/>
                      <a:r>
                        <a:rPr lang="ko-KR" altLang="en-US" sz="1100" b="1" u="none" strike="noStrike" dirty="0" smtClean="0">
                          <a:solidFill>
                            <a:srgbClr val="C00000"/>
                          </a:solidFill>
                          <a:effectLst/>
                          <a:latin typeface="나눔스퀘어" panose="020B0600000101010101" pitchFamily="50" charset="-127"/>
                          <a:ea typeface="나눔스퀘어" panose="020B0600000101010101" pitchFamily="50" charset="-127"/>
                        </a:rPr>
                        <a:t>▲</a:t>
                      </a:r>
                      <a:r>
                        <a:rPr lang="en-US" altLang="ko-KR" sz="1100" b="1" u="none" strike="noStrike" dirty="0" smtClean="0">
                          <a:solidFill>
                            <a:srgbClr val="C00000"/>
                          </a:solidFill>
                          <a:effectLst/>
                          <a:latin typeface="나눔스퀘어" panose="020B0600000101010101" pitchFamily="50" charset="-127"/>
                          <a:ea typeface="나눔스퀘어" panose="020B0600000101010101" pitchFamily="50" charset="-127"/>
                        </a:rPr>
                        <a:t>728%</a:t>
                      </a:r>
                    </a:p>
                  </a:txBody>
                  <a:tcPr marL="0" marR="18000" marT="0" marB="0" anchor="ctr">
                    <a:lnL w="3175" cap="flat" cmpd="sng" algn="ctr">
                      <a:solidFill>
                        <a:schemeClr val="tx1">
                          <a:lumMod val="65000"/>
                          <a:lumOff val="35000"/>
                        </a:schemeClr>
                      </a:solidFill>
                      <a:prstDash val="solid"/>
                      <a:round/>
                      <a:headEnd type="none" w="med" len="med"/>
                      <a:tailEnd type="none" w="med" len="med"/>
                    </a:lnL>
                    <a:lnR w="12700" cap="flat" cmpd="sng" algn="ctr">
                      <a:solidFill>
                        <a:srgbClr val="0000FF"/>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644665395"/>
                  </a:ext>
                </a:extLst>
              </a:tr>
              <a:tr h="172975">
                <a:tc rowSpan="3">
                  <a:txBody>
                    <a:bodyPr/>
                    <a:lstStyle/>
                    <a:p>
                      <a:pPr algn="ctr" fontAlgn="ctr"/>
                      <a:r>
                        <a:rPr lang="en-US" altLang="ko-KR" sz="1100" u="none" strike="noStrike" dirty="0" smtClean="0">
                          <a:effectLst/>
                          <a:latin typeface="나눔스퀘어" panose="020B0600000101010101" pitchFamily="50" charset="-127"/>
                          <a:ea typeface="나눔스퀘어" panose="020B0600000101010101" pitchFamily="50" charset="-127"/>
                        </a:rPr>
                        <a:t>Port Congestion</a:t>
                      </a:r>
                      <a:r>
                        <a:rPr lang="en-US" altLang="ko-KR" sz="1100" b="1" baseline="30000" dirty="0" smtClean="0">
                          <a:ln>
                            <a:solidFill>
                              <a:srgbClr val="0FEFC4">
                                <a:alpha val="0"/>
                              </a:srgbClr>
                            </a:solidFill>
                          </a:ln>
                          <a:solidFill>
                            <a:schemeClr val="tx1">
                              <a:lumMod val="75000"/>
                              <a:lumOff val="25000"/>
                            </a:schemeClr>
                          </a:solidFill>
                          <a:latin typeface="나눔스퀘어" panose="020B0600000101010101" pitchFamily="50" charset="-127"/>
                          <a:ea typeface="나눔스퀘어" panose="020B0600000101010101" pitchFamily="50" charset="-127"/>
                        </a:rPr>
                        <a:t>*</a:t>
                      </a:r>
                      <a:endParaRPr lang="en-US" altLang="ko-KR" sz="1100" u="none" strike="noStrike" dirty="0" smtClean="0">
                        <a:effectLst/>
                        <a:latin typeface="나눔스퀘어" panose="020B0600000101010101" pitchFamily="50" charset="-127"/>
                        <a:ea typeface="나눔스퀘어" panose="020B0600000101010101" pitchFamily="50" charset="-127"/>
                      </a:endParaRPr>
                    </a:p>
                    <a:p>
                      <a:pPr algn="ctr" fontAlgn="ctr"/>
                      <a:r>
                        <a:rPr lang="en-US" altLang="ko-KR" sz="1100" u="none" strike="noStrike" dirty="0" smtClean="0">
                          <a:effectLst/>
                          <a:latin typeface="나눔스퀘어" panose="020B0600000101010101" pitchFamily="50" charset="-127"/>
                          <a:ea typeface="나눔스퀘어" panose="020B0600000101010101" pitchFamily="50" charset="-127"/>
                        </a:rPr>
                        <a:t>(</a:t>
                      </a:r>
                      <a:r>
                        <a:rPr lang="en-US" sz="1100" u="none" strike="noStrike" dirty="0">
                          <a:effectLst/>
                          <a:latin typeface="나눔스퀘어" panose="020B0600000101010101" pitchFamily="50" charset="-127"/>
                          <a:ea typeface="나눔스퀘어" panose="020B0600000101010101" pitchFamily="50" charset="-127"/>
                        </a:rPr>
                        <a:t>k TEU)</a:t>
                      </a:r>
                      <a:endParaRPr lang="en-US"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ctr" fontAlgn="ctr"/>
                      <a:r>
                        <a:rPr lang="en-US" altLang="ko-KR" sz="1100" u="none" strike="noStrike" dirty="0" smtClean="0">
                          <a:effectLst/>
                          <a:latin typeface="나눔스퀘어" panose="020B0600000101010101" pitchFamily="50" charset="-127"/>
                          <a:ea typeface="나눔스퀘어" panose="020B0600000101010101" pitchFamily="50" charset="-127"/>
                        </a:rPr>
                        <a:t>Singapore</a:t>
                      </a:r>
                      <a:r>
                        <a:rPr lang="en-US" altLang="ko-KR" sz="1100" u="none" strike="noStrike" baseline="0" dirty="0" smtClean="0">
                          <a:effectLst/>
                          <a:latin typeface="나눔스퀘어" panose="020B0600000101010101" pitchFamily="50" charset="-127"/>
                          <a:ea typeface="나눔스퀘어" panose="020B0600000101010101" pitchFamily="50" charset="-127"/>
                        </a:rPr>
                        <a:t> </a:t>
                      </a:r>
                      <a:r>
                        <a:rPr lang="en-US" altLang="ko-KR" sz="1100" u="none" strike="noStrike" dirty="0" smtClean="0">
                          <a:effectLst/>
                          <a:latin typeface="나눔스퀘어" panose="020B0600000101010101" pitchFamily="50" charset="-127"/>
                          <a:ea typeface="나눔스퀘어" panose="020B0600000101010101" pitchFamily="50" charset="-127"/>
                        </a:rPr>
                        <a:t>(Singapore)</a:t>
                      </a:r>
                      <a:endParaRPr lang="ko-KR" altLang="en-US"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marL="0" algn="r" defTabSz="914400" rtl="0" eaLnBrk="1" fontAlgn="b" latinLnBrk="1" hangingPunct="1"/>
                      <a:r>
                        <a:rPr lang="en-US" altLang="ko-KR" sz="1100" u="none" strike="noStrike" kern="1200" dirty="0" smtClean="0">
                          <a:solidFill>
                            <a:schemeClr val="tx1"/>
                          </a:solidFill>
                          <a:effectLst/>
                          <a:latin typeface="나눔스퀘어" panose="020B0600000101010101" pitchFamily="50" charset="-127"/>
                          <a:ea typeface="나눔스퀘어" panose="020B0600000101010101" pitchFamily="50" charset="-127"/>
                          <a:cs typeface="+mn-cs"/>
                        </a:rPr>
                        <a:t>349 </a:t>
                      </a:r>
                      <a:endParaRPr lang="en-US" altLang="ko-KR" sz="1100" u="none" strike="noStrike" kern="1200" dirty="0">
                        <a:solidFill>
                          <a:schemeClr val="tx1"/>
                        </a:solidFill>
                        <a:effectLst/>
                        <a:latin typeface="나눔스퀘어" panose="020B0600000101010101" pitchFamily="50" charset="-127"/>
                        <a:ea typeface="나눔스퀘어" panose="020B0600000101010101" pitchFamily="50" charset="-127"/>
                        <a:cs typeface="+mn-cs"/>
                      </a:endParaRPr>
                    </a:p>
                  </a:txBody>
                  <a:tcPr marL="0" marR="18000" marT="0" marB="0" anchor="b">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marL="0" algn="r" defTabSz="914400" rtl="0" eaLnBrk="1" fontAlgn="b" latinLnBrk="1" hangingPunct="1"/>
                      <a:r>
                        <a:rPr lang="en-US" altLang="ko-KR" sz="1100" u="none" strike="noStrike" kern="1200" dirty="0" smtClean="0">
                          <a:solidFill>
                            <a:schemeClr val="tx1"/>
                          </a:solidFill>
                          <a:effectLst/>
                          <a:latin typeface="나눔스퀘어" panose="020B0600000101010101" pitchFamily="50" charset="-127"/>
                          <a:ea typeface="나눔스퀘어" panose="020B0600000101010101" pitchFamily="50" charset="-127"/>
                          <a:cs typeface="+mn-cs"/>
                        </a:rPr>
                        <a:t>373 </a:t>
                      </a:r>
                      <a:endParaRPr lang="en-US" altLang="ko-KR" sz="1100" u="none" strike="noStrike" kern="1200" dirty="0">
                        <a:solidFill>
                          <a:schemeClr val="tx1"/>
                        </a:solidFill>
                        <a:effectLst/>
                        <a:latin typeface="나눔스퀘어" panose="020B0600000101010101" pitchFamily="50" charset="-127"/>
                        <a:ea typeface="나눔스퀘어" panose="020B0600000101010101" pitchFamily="50" charset="-127"/>
                        <a:cs typeface="+mn-cs"/>
                      </a:endParaRPr>
                    </a:p>
                  </a:txBody>
                  <a:tcPr marL="0" marR="18000" marT="0" marB="0" anchor="b">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marL="0" algn="r" defTabSz="914400" rtl="0" eaLnBrk="1" fontAlgn="b" latinLnBrk="1" hangingPunct="1"/>
                      <a:r>
                        <a:rPr lang="en-US" altLang="ko-KR" sz="1100" u="none" strike="noStrike" kern="1200" dirty="0" smtClean="0">
                          <a:solidFill>
                            <a:schemeClr val="tx1"/>
                          </a:solidFill>
                          <a:effectLst/>
                          <a:latin typeface="나눔스퀘어" panose="020B0600000101010101" pitchFamily="50" charset="-127"/>
                          <a:ea typeface="나눔스퀘어" panose="020B0600000101010101" pitchFamily="50" charset="-127"/>
                          <a:cs typeface="+mn-cs"/>
                        </a:rPr>
                        <a:t>384 </a:t>
                      </a:r>
                      <a:endParaRPr lang="en-US" altLang="ko-KR" sz="1100" u="none" strike="noStrike" kern="1200" dirty="0">
                        <a:solidFill>
                          <a:schemeClr val="tx1"/>
                        </a:solidFill>
                        <a:effectLst/>
                        <a:latin typeface="나눔스퀘어" panose="020B0600000101010101" pitchFamily="50" charset="-127"/>
                        <a:ea typeface="나눔스퀘어" panose="020B0600000101010101" pitchFamily="50" charset="-127"/>
                        <a:cs typeface="+mn-cs"/>
                      </a:endParaRPr>
                    </a:p>
                  </a:txBody>
                  <a:tcPr marL="0" marR="18000" marT="0" marB="0" anchor="b">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marL="0" algn="r" defTabSz="914400" rtl="0" eaLnBrk="1" fontAlgn="b" latinLnBrk="1" hangingPunct="1"/>
                      <a:r>
                        <a:rPr lang="en-US" altLang="ko-KR" sz="1100" u="none" strike="noStrike" kern="1200" dirty="0" smtClean="0">
                          <a:solidFill>
                            <a:schemeClr val="tx1"/>
                          </a:solidFill>
                          <a:effectLst/>
                          <a:latin typeface="나눔스퀘어" panose="020B0600000101010101" pitchFamily="50" charset="-127"/>
                          <a:ea typeface="나눔스퀘어" panose="020B0600000101010101" pitchFamily="50" charset="-127"/>
                          <a:cs typeface="+mn-cs"/>
                        </a:rPr>
                        <a:t>417 </a:t>
                      </a:r>
                      <a:endParaRPr lang="en-US" altLang="ko-KR" sz="1100" u="none" strike="noStrike" kern="1200" dirty="0">
                        <a:solidFill>
                          <a:schemeClr val="tx1"/>
                        </a:solidFill>
                        <a:effectLst/>
                        <a:latin typeface="나눔스퀘어" panose="020B0600000101010101" pitchFamily="50" charset="-127"/>
                        <a:ea typeface="나눔스퀘어" panose="020B0600000101010101" pitchFamily="50" charset="-127"/>
                        <a:cs typeface="+mn-cs"/>
                      </a:endParaRPr>
                    </a:p>
                  </a:txBody>
                  <a:tcPr marL="0" marR="18000" marT="0" marB="0" anchor="b">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marL="0" algn="r" defTabSz="914400" rtl="0" eaLnBrk="1" fontAlgn="b" latinLnBrk="1" hangingPunct="1"/>
                      <a:r>
                        <a:rPr lang="en-US" altLang="ko-KR" sz="1100" u="none" strike="noStrike" kern="1200" dirty="0" smtClean="0">
                          <a:solidFill>
                            <a:schemeClr val="tx1"/>
                          </a:solidFill>
                          <a:effectLst/>
                          <a:latin typeface="나눔스퀘어" panose="020B0600000101010101" pitchFamily="50" charset="-127"/>
                          <a:ea typeface="나눔스퀘어" panose="020B0600000101010101" pitchFamily="50" charset="-127"/>
                          <a:cs typeface="+mn-cs"/>
                        </a:rPr>
                        <a:t>390 </a:t>
                      </a:r>
                      <a:endParaRPr lang="en-US" altLang="ko-KR" sz="1100" u="none" strike="noStrike" kern="1200" dirty="0">
                        <a:solidFill>
                          <a:schemeClr val="tx1"/>
                        </a:solidFill>
                        <a:effectLst/>
                        <a:latin typeface="나눔스퀘어" panose="020B0600000101010101" pitchFamily="50" charset="-127"/>
                        <a:ea typeface="나눔스퀘어" panose="020B0600000101010101" pitchFamily="50" charset="-127"/>
                        <a:cs typeface="+mn-cs"/>
                      </a:endParaRPr>
                    </a:p>
                  </a:txBody>
                  <a:tcPr marL="0" marR="18000" marT="0" marB="0" anchor="b">
                    <a:lnL w="3175" cap="flat" cmpd="sng" algn="ctr">
                      <a:solidFill>
                        <a:schemeClr val="tx1">
                          <a:lumMod val="65000"/>
                          <a:lumOff val="35000"/>
                        </a:schemeClr>
                      </a:solidFill>
                      <a:prstDash val="solid"/>
                      <a:round/>
                      <a:headEnd type="none" w="med" len="med"/>
                      <a:tailEnd type="none" w="med" len="med"/>
                    </a:lnL>
                    <a:lnR w="12700" cap="flat" cmpd="sng" algn="ctr">
                      <a:solidFill>
                        <a:srgbClr val="0000FF"/>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b"/>
                      <a:r>
                        <a:rPr lang="ko-KR" altLang="en-US" sz="1100" b="1" u="none" strike="noStrike" dirty="0" smtClean="0">
                          <a:solidFill>
                            <a:srgbClr val="C00000"/>
                          </a:solidFill>
                          <a:effectLst/>
                          <a:latin typeface="나눔스퀘어" panose="020B0600000101010101" pitchFamily="50" charset="-127"/>
                          <a:ea typeface="나눔스퀘어" panose="020B0600000101010101" pitchFamily="50" charset="-127"/>
                        </a:rPr>
                        <a:t>▲</a:t>
                      </a:r>
                      <a:r>
                        <a:rPr lang="en-US" altLang="ko-KR" sz="1100" b="1" u="none" strike="noStrike" dirty="0" smtClean="0">
                          <a:solidFill>
                            <a:srgbClr val="C00000"/>
                          </a:solidFill>
                          <a:effectLst/>
                          <a:latin typeface="나눔스퀘어" panose="020B0600000101010101" pitchFamily="50" charset="-127"/>
                          <a:ea typeface="나눔스퀘어" panose="020B0600000101010101" pitchFamily="50" charset="-127"/>
                        </a:rPr>
                        <a:t>12%</a:t>
                      </a:r>
                      <a:endParaRPr lang="en-US" altLang="ko-KR" sz="1100" b="1" i="0" u="none" strike="noStrike" dirty="0">
                        <a:solidFill>
                          <a:srgbClr val="C00000"/>
                        </a:solidFill>
                        <a:effectLst/>
                        <a:latin typeface="나눔스퀘어" panose="020B0600000101010101" pitchFamily="50" charset="-127"/>
                        <a:ea typeface="나눔스퀘어" panose="020B0600000101010101" pitchFamily="50" charset="-127"/>
                      </a:endParaRPr>
                    </a:p>
                  </a:txBody>
                  <a:tcPr marL="0" marR="18000" marT="0" marB="0" anchor="ctr">
                    <a:lnL w="12700" cap="flat" cmpd="sng" algn="ctr">
                      <a:solidFill>
                        <a:srgbClr val="0000FF"/>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b"/>
                      <a:r>
                        <a:rPr lang="ko-KR" altLang="en-US" sz="11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lang="en-US" altLang="ko-KR" sz="1100" b="1" u="none" strike="noStrike" dirty="0" smtClean="0">
                          <a:solidFill>
                            <a:srgbClr val="0000FF"/>
                          </a:solidFill>
                          <a:effectLst/>
                          <a:latin typeface="나눔스퀘어" panose="020B0600000101010101" pitchFamily="50" charset="-127"/>
                          <a:ea typeface="나눔스퀘어" panose="020B0600000101010101" pitchFamily="50" charset="-127"/>
                        </a:rPr>
                        <a:t>6%</a:t>
                      </a:r>
                      <a:endParaRPr lang="en-US" altLang="ko-KR" sz="1100" b="1" i="0" u="none" strike="noStrike" dirty="0">
                        <a:solidFill>
                          <a:srgbClr val="0000FF"/>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12700" cap="flat" cmpd="sng" algn="ctr">
                      <a:solidFill>
                        <a:srgbClr val="0000FF"/>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311419952"/>
                  </a:ext>
                </a:extLst>
              </a:tr>
              <a:tr h="172975">
                <a:tc vMerge="1">
                  <a:txBody>
                    <a:bodyPr/>
                    <a:lstStyle/>
                    <a:p>
                      <a:pPr latinLnBrk="1"/>
                      <a:endParaRPr lang="ko-KR" altLang="en-US"/>
                    </a:p>
                  </a:txBody>
                  <a:tcPr/>
                </a:tc>
                <a:tc>
                  <a:txBody>
                    <a:bodyPr/>
                    <a:lstStyle/>
                    <a:p>
                      <a:pPr algn="ctr" fontAlgn="ctr"/>
                      <a:r>
                        <a:rPr lang="en-US" altLang="ko-KR" sz="1100" u="none" strike="noStrike" dirty="0" smtClean="0">
                          <a:effectLst/>
                          <a:latin typeface="나눔스퀘어" panose="020B0600000101010101" pitchFamily="50" charset="-127"/>
                          <a:ea typeface="나눔스퀘어" panose="020B0600000101010101" pitchFamily="50" charset="-127"/>
                        </a:rPr>
                        <a:t>Colombo (Sri Lanka)</a:t>
                      </a:r>
                      <a:endParaRPr lang="ko-KR" altLang="en-US"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marL="0" algn="r" defTabSz="914400" rtl="0" eaLnBrk="1" fontAlgn="b" latinLnBrk="1" hangingPunct="1"/>
                      <a:r>
                        <a:rPr lang="en-US" altLang="ko-KR" sz="1100" u="none" strike="noStrike" kern="1200" dirty="0" smtClean="0">
                          <a:solidFill>
                            <a:schemeClr val="tx1"/>
                          </a:solidFill>
                          <a:effectLst/>
                          <a:latin typeface="나눔스퀘어" panose="020B0600000101010101" pitchFamily="50" charset="-127"/>
                          <a:ea typeface="나눔스퀘어" panose="020B0600000101010101" pitchFamily="50" charset="-127"/>
                          <a:cs typeface="+mn-cs"/>
                        </a:rPr>
                        <a:t>98 </a:t>
                      </a:r>
                      <a:endParaRPr lang="en-US" altLang="ko-KR" sz="1100" u="none" strike="noStrike" kern="1200" dirty="0">
                        <a:solidFill>
                          <a:schemeClr val="tx1"/>
                        </a:solidFill>
                        <a:effectLst/>
                        <a:latin typeface="나눔스퀘어" panose="020B0600000101010101" pitchFamily="50" charset="-127"/>
                        <a:ea typeface="나눔스퀘어" panose="020B0600000101010101" pitchFamily="50" charset="-127"/>
                        <a:cs typeface="+mn-cs"/>
                      </a:endParaRPr>
                    </a:p>
                  </a:txBody>
                  <a:tcPr marL="0" marR="18000" marT="0" marB="0" anchor="b">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marL="0" algn="r" defTabSz="914400" rtl="0" eaLnBrk="1" fontAlgn="b" latinLnBrk="1" hangingPunct="1"/>
                      <a:r>
                        <a:rPr lang="en-US" altLang="ko-KR" sz="1100" u="none" strike="noStrike" kern="1200" dirty="0" smtClean="0">
                          <a:solidFill>
                            <a:schemeClr val="tx1"/>
                          </a:solidFill>
                          <a:effectLst/>
                          <a:latin typeface="나눔스퀘어" panose="020B0600000101010101" pitchFamily="50" charset="-127"/>
                          <a:ea typeface="나눔스퀘어" panose="020B0600000101010101" pitchFamily="50" charset="-127"/>
                          <a:cs typeface="+mn-cs"/>
                        </a:rPr>
                        <a:t>144 </a:t>
                      </a:r>
                      <a:endParaRPr lang="en-US" altLang="ko-KR" sz="1100" u="none" strike="noStrike" kern="1200" dirty="0">
                        <a:solidFill>
                          <a:schemeClr val="tx1"/>
                        </a:solidFill>
                        <a:effectLst/>
                        <a:latin typeface="나눔스퀘어" panose="020B0600000101010101" pitchFamily="50" charset="-127"/>
                        <a:ea typeface="나눔스퀘어" panose="020B0600000101010101" pitchFamily="50" charset="-127"/>
                        <a:cs typeface="+mn-cs"/>
                      </a:endParaRPr>
                    </a:p>
                  </a:txBody>
                  <a:tcPr marL="0" marR="18000" marT="0" marB="0" anchor="b">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marL="0" algn="r" defTabSz="914400" rtl="0" eaLnBrk="1" fontAlgn="b" latinLnBrk="1" hangingPunct="1"/>
                      <a:r>
                        <a:rPr lang="en-US" altLang="ko-KR" sz="1100" u="none" strike="noStrike" kern="1200" dirty="0" smtClean="0">
                          <a:solidFill>
                            <a:schemeClr val="tx1"/>
                          </a:solidFill>
                          <a:effectLst/>
                          <a:latin typeface="나눔스퀘어" panose="020B0600000101010101" pitchFamily="50" charset="-127"/>
                          <a:ea typeface="나눔스퀘어" panose="020B0600000101010101" pitchFamily="50" charset="-127"/>
                          <a:cs typeface="+mn-cs"/>
                        </a:rPr>
                        <a:t>170 </a:t>
                      </a:r>
                      <a:endParaRPr lang="en-US" altLang="ko-KR" sz="1100" u="none" strike="noStrike" kern="1200" dirty="0">
                        <a:solidFill>
                          <a:schemeClr val="tx1"/>
                        </a:solidFill>
                        <a:effectLst/>
                        <a:latin typeface="나눔스퀘어" panose="020B0600000101010101" pitchFamily="50" charset="-127"/>
                        <a:ea typeface="나눔스퀘어" panose="020B0600000101010101" pitchFamily="50" charset="-127"/>
                        <a:cs typeface="+mn-cs"/>
                      </a:endParaRPr>
                    </a:p>
                  </a:txBody>
                  <a:tcPr marL="0" marR="18000" marT="0" marB="0" anchor="b">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marL="0" algn="r" defTabSz="914400" rtl="0" eaLnBrk="1" fontAlgn="b" latinLnBrk="1" hangingPunct="1"/>
                      <a:r>
                        <a:rPr lang="en-US" altLang="ko-KR" sz="1100" u="none" strike="noStrike" kern="1200" dirty="0" smtClean="0">
                          <a:solidFill>
                            <a:schemeClr val="tx1"/>
                          </a:solidFill>
                          <a:effectLst/>
                          <a:latin typeface="나눔스퀘어" panose="020B0600000101010101" pitchFamily="50" charset="-127"/>
                          <a:ea typeface="나눔스퀘어" panose="020B0600000101010101" pitchFamily="50" charset="-127"/>
                          <a:cs typeface="+mn-cs"/>
                        </a:rPr>
                        <a:t>155 </a:t>
                      </a:r>
                      <a:endParaRPr lang="en-US" altLang="ko-KR" sz="1100" u="none" strike="noStrike" kern="1200" dirty="0">
                        <a:solidFill>
                          <a:schemeClr val="tx1"/>
                        </a:solidFill>
                        <a:effectLst/>
                        <a:latin typeface="나눔스퀘어" panose="020B0600000101010101" pitchFamily="50" charset="-127"/>
                        <a:ea typeface="나눔스퀘어" panose="020B0600000101010101" pitchFamily="50" charset="-127"/>
                        <a:cs typeface="+mn-cs"/>
                      </a:endParaRPr>
                    </a:p>
                  </a:txBody>
                  <a:tcPr marL="0" marR="18000" marT="0" marB="0" anchor="b">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marL="0" algn="r" defTabSz="914400" rtl="0" eaLnBrk="1" fontAlgn="b" latinLnBrk="1" hangingPunct="1"/>
                      <a:r>
                        <a:rPr lang="en-US" altLang="ko-KR" sz="1100" u="none" strike="noStrike" kern="1200" dirty="0" smtClean="0">
                          <a:solidFill>
                            <a:schemeClr val="tx1"/>
                          </a:solidFill>
                          <a:effectLst/>
                          <a:latin typeface="나눔스퀘어" panose="020B0600000101010101" pitchFamily="50" charset="-127"/>
                          <a:ea typeface="나눔스퀘어" panose="020B0600000101010101" pitchFamily="50" charset="-127"/>
                          <a:cs typeface="+mn-cs"/>
                        </a:rPr>
                        <a:t>112 </a:t>
                      </a:r>
                      <a:endParaRPr lang="en-US" altLang="ko-KR" sz="1100" u="none" strike="noStrike" kern="1200" dirty="0">
                        <a:solidFill>
                          <a:schemeClr val="tx1"/>
                        </a:solidFill>
                        <a:effectLst/>
                        <a:latin typeface="나눔스퀘어" panose="020B0600000101010101" pitchFamily="50" charset="-127"/>
                        <a:ea typeface="나눔스퀘어" panose="020B0600000101010101" pitchFamily="50" charset="-127"/>
                        <a:cs typeface="+mn-cs"/>
                      </a:endParaRPr>
                    </a:p>
                  </a:txBody>
                  <a:tcPr marL="0" marR="18000" marT="0" marB="0" anchor="b">
                    <a:lnL w="3175" cap="flat" cmpd="sng" algn="ctr">
                      <a:solidFill>
                        <a:schemeClr val="tx1">
                          <a:lumMod val="65000"/>
                          <a:lumOff val="35000"/>
                        </a:schemeClr>
                      </a:solidFill>
                      <a:prstDash val="solid"/>
                      <a:round/>
                      <a:headEnd type="none" w="med" len="med"/>
                      <a:tailEnd type="none" w="med" len="med"/>
                    </a:lnL>
                    <a:lnR w="12700" cap="flat" cmpd="sng" algn="ctr">
                      <a:solidFill>
                        <a:srgbClr val="0000FF"/>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b"/>
                      <a:r>
                        <a:rPr lang="ko-KR" altLang="en-US" sz="1100" b="1" u="none" strike="noStrike" dirty="0" smtClean="0">
                          <a:solidFill>
                            <a:srgbClr val="C00000"/>
                          </a:solidFill>
                          <a:effectLst/>
                          <a:latin typeface="나눔스퀘어" panose="020B0600000101010101" pitchFamily="50" charset="-127"/>
                          <a:ea typeface="나눔스퀘어" panose="020B0600000101010101" pitchFamily="50" charset="-127"/>
                        </a:rPr>
                        <a:t>▲</a:t>
                      </a:r>
                      <a:r>
                        <a:rPr lang="en-US" altLang="ko-KR" sz="1100" b="1" u="none" strike="noStrike" dirty="0" smtClean="0">
                          <a:solidFill>
                            <a:srgbClr val="C00000"/>
                          </a:solidFill>
                          <a:effectLst/>
                          <a:latin typeface="나눔스퀘어" panose="020B0600000101010101" pitchFamily="50" charset="-127"/>
                          <a:ea typeface="나눔스퀘어" panose="020B0600000101010101" pitchFamily="50" charset="-127"/>
                        </a:rPr>
                        <a:t>14%</a:t>
                      </a:r>
                      <a:endParaRPr lang="en-US" altLang="ko-KR" sz="1100" b="1" i="0" u="none" strike="noStrike" dirty="0">
                        <a:solidFill>
                          <a:srgbClr val="C00000"/>
                        </a:solidFill>
                        <a:effectLst/>
                        <a:latin typeface="나눔스퀘어" panose="020B0600000101010101" pitchFamily="50" charset="-127"/>
                        <a:ea typeface="나눔스퀘어" panose="020B0600000101010101" pitchFamily="50" charset="-127"/>
                      </a:endParaRPr>
                    </a:p>
                  </a:txBody>
                  <a:tcPr marL="0" marR="18000" marT="0" marB="0" anchor="ctr">
                    <a:lnL w="12700" cap="flat" cmpd="sng" algn="ctr">
                      <a:solidFill>
                        <a:srgbClr val="0000FF"/>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b"/>
                      <a:r>
                        <a:rPr lang="ko-KR" altLang="en-US" sz="11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lang="en-US" altLang="ko-KR" sz="1100" b="1" u="none" strike="noStrike" dirty="0" smtClean="0">
                          <a:solidFill>
                            <a:srgbClr val="0000FF"/>
                          </a:solidFill>
                          <a:effectLst/>
                          <a:latin typeface="나눔스퀘어" panose="020B0600000101010101" pitchFamily="50" charset="-127"/>
                          <a:ea typeface="나눔스퀘어" panose="020B0600000101010101" pitchFamily="50" charset="-127"/>
                        </a:rPr>
                        <a:t>28%</a:t>
                      </a:r>
                      <a:endParaRPr lang="en-US" altLang="ko-KR" sz="1100" b="1" i="0" u="none" strike="noStrike" dirty="0">
                        <a:solidFill>
                          <a:srgbClr val="0000FF"/>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12700" cap="flat" cmpd="sng" algn="ctr">
                      <a:solidFill>
                        <a:srgbClr val="0000FF"/>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143916384"/>
                  </a:ext>
                </a:extLst>
              </a:tr>
              <a:tr h="172975">
                <a:tc vMerge="1">
                  <a:txBody>
                    <a:bodyPr/>
                    <a:lstStyle/>
                    <a:p>
                      <a:pPr latinLnBrk="1"/>
                      <a:endParaRPr lang="ko-KR" altLang="en-US"/>
                    </a:p>
                  </a:txBody>
                  <a:tcPr/>
                </a:tc>
                <a:tc>
                  <a:txBody>
                    <a:bodyPr/>
                    <a:lstStyle/>
                    <a:p>
                      <a:pPr algn="ctr" fontAlgn="ctr"/>
                      <a:r>
                        <a:rPr lang="en-US" altLang="ko-KR" sz="1100" u="none" strike="noStrike" dirty="0" err="1" smtClean="0">
                          <a:effectLst/>
                          <a:latin typeface="나눔스퀘어" panose="020B0600000101010101" pitchFamily="50" charset="-127"/>
                          <a:ea typeface="나눔스퀘어" panose="020B0600000101010101" pitchFamily="50" charset="-127"/>
                        </a:rPr>
                        <a:t>Mundra</a:t>
                      </a:r>
                      <a:r>
                        <a:rPr lang="en-US" altLang="ko-KR" sz="1100" u="none" strike="noStrike" dirty="0" smtClean="0">
                          <a:effectLst/>
                          <a:latin typeface="나눔스퀘어" panose="020B0600000101010101" pitchFamily="50" charset="-127"/>
                          <a:ea typeface="나눔스퀘어" panose="020B0600000101010101" pitchFamily="50" charset="-127"/>
                        </a:rPr>
                        <a:t> (India)</a:t>
                      </a:r>
                      <a:endParaRPr lang="ko-KR" altLang="en-US" sz="11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marL="0" algn="r" defTabSz="914400" rtl="0" eaLnBrk="1" fontAlgn="b" latinLnBrk="1" hangingPunct="1"/>
                      <a:r>
                        <a:rPr lang="en-US" altLang="ko-KR" sz="1100" u="none" strike="noStrike" kern="1200" dirty="0" smtClean="0">
                          <a:solidFill>
                            <a:schemeClr val="tx1"/>
                          </a:solidFill>
                          <a:effectLst/>
                          <a:latin typeface="나눔스퀘어" panose="020B0600000101010101" pitchFamily="50" charset="-127"/>
                          <a:ea typeface="나눔스퀘어" panose="020B0600000101010101" pitchFamily="50" charset="-127"/>
                          <a:cs typeface="+mn-cs"/>
                        </a:rPr>
                        <a:t>68 </a:t>
                      </a:r>
                      <a:endParaRPr lang="en-US" altLang="ko-KR" sz="1100" u="none" strike="noStrike" kern="1200" dirty="0">
                        <a:solidFill>
                          <a:schemeClr val="tx1"/>
                        </a:solidFill>
                        <a:effectLst/>
                        <a:latin typeface="나눔스퀘어" panose="020B0600000101010101" pitchFamily="50" charset="-127"/>
                        <a:ea typeface="나눔스퀘어" panose="020B0600000101010101" pitchFamily="50" charset="-127"/>
                        <a:cs typeface="+mn-cs"/>
                      </a:endParaRPr>
                    </a:p>
                  </a:txBody>
                  <a:tcPr marL="0" marR="18000" marT="0" marB="0" anchor="b">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marL="0" algn="r" defTabSz="914400" rtl="0" eaLnBrk="1" fontAlgn="b" latinLnBrk="1" hangingPunct="1"/>
                      <a:r>
                        <a:rPr lang="en-US" altLang="ko-KR" sz="1100" u="none" strike="noStrike" kern="1200" dirty="0" smtClean="0">
                          <a:solidFill>
                            <a:schemeClr val="tx1"/>
                          </a:solidFill>
                          <a:effectLst/>
                          <a:latin typeface="나눔스퀘어" panose="020B0600000101010101" pitchFamily="50" charset="-127"/>
                          <a:ea typeface="나눔스퀘어" panose="020B0600000101010101" pitchFamily="50" charset="-127"/>
                          <a:cs typeface="+mn-cs"/>
                        </a:rPr>
                        <a:t>97 </a:t>
                      </a:r>
                      <a:endParaRPr lang="en-US" altLang="ko-KR" sz="1100" u="none" strike="noStrike" kern="1200" dirty="0">
                        <a:solidFill>
                          <a:schemeClr val="tx1"/>
                        </a:solidFill>
                        <a:effectLst/>
                        <a:latin typeface="나눔스퀘어" panose="020B0600000101010101" pitchFamily="50" charset="-127"/>
                        <a:ea typeface="나눔스퀘어" panose="020B0600000101010101" pitchFamily="50" charset="-127"/>
                        <a:cs typeface="+mn-cs"/>
                      </a:endParaRPr>
                    </a:p>
                  </a:txBody>
                  <a:tcPr marL="0" marR="18000" marT="0" marB="0" anchor="b">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marL="0" algn="r" defTabSz="914400" rtl="0" eaLnBrk="1" fontAlgn="b" latinLnBrk="1" hangingPunct="1"/>
                      <a:r>
                        <a:rPr lang="en-US" altLang="ko-KR" sz="1100" u="none" strike="noStrike" kern="1200" dirty="0" smtClean="0">
                          <a:solidFill>
                            <a:schemeClr val="tx1"/>
                          </a:solidFill>
                          <a:effectLst/>
                          <a:latin typeface="나눔스퀘어" panose="020B0600000101010101" pitchFamily="50" charset="-127"/>
                          <a:ea typeface="나눔스퀘어" panose="020B0600000101010101" pitchFamily="50" charset="-127"/>
                          <a:cs typeface="+mn-cs"/>
                        </a:rPr>
                        <a:t>143 </a:t>
                      </a:r>
                      <a:endParaRPr lang="en-US" altLang="ko-KR" sz="1100" u="none" strike="noStrike" kern="1200" dirty="0">
                        <a:solidFill>
                          <a:schemeClr val="tx1"/>
                        </a:solidFill>
                        <a:effectLst/>
                        <a:latin typeface="나눔스퀘어" panose="020B0600000101010101" pitchFamily="50" charset="-127"/>
                        <a:ea typeface="나눔스퀘어" panose="020B0600000101010101" pitchFamily="50" charset="-127"/>
                        <a:cs typeface="+mn-cs"/>
                      </a:endParaRPr>
                    </a:p>
                  </a:txBody>
                  <a:tcPr marL="0" marR="18000" marT="0" marB="0" anchor="b">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marL="0" algn="r" defTabSz="914400" rtl="0" eaLnBrk="1" fontAlgn="b" latinLnBrk="1" hangingPunct="1"/>
                      <a:r>
                        <a:rPr lang="en-US" altLang="ko-KR" sz="1100" u="none" strike="noStrike" kern="1200" dirty="0" smtClean="0">
                          <a:solidFill>
                            <a:schemeClr val="tx1"/>
                          </a:solidFill>
                          <a:effectLst/>
                          <a:latin typeface="나눔스퀘어" panose="020B0600000101010101" pitchFamily="50" charset="-127"/>
                          <a:ea typeface="나눔스퀘어" panose="020B0600000101010101" pitchFamily="50" charset="-127"/>
                          <a:cs typeface="+mn-cs"/>
                        </a:rPr>
                        <a:t>150 </a:t>
                      </a:r>
                      <a:endParaRPr lang="en-US" altLang="ko-KR" sz="1100" u="none" strike="noStrike" kern="1200" dirty="0">
                        <a:solidFill>
                          <a:schemeClr val="tx1"/>
                        </a:solidFill>
                        <a:effectLst/>
                        <a:latin typeface="나눔스퀘어" panose="020B0600000101010101" pitchFamily="50" charset="-127"/>
                        <a:ea typeface="나눔스퀘어" panose="020B0600000101010101" pitchFamily="50" charset="-127"/>
                        <a:cs typeface="+mn-cs"/>
                      </a:endParaRPr>
                    </a:p>
                  </a:txBody>
                  <a:tcPr marL="0" marR="18000" marT="0" marB="0" anchor="b">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marL="0" algn="r" defTabSz="914400" rtl="0" eaLnBrk="1" fontAlgn="b" latinLnBrk="1" hangingPunct="1"/>
                      <a:r>
                        <a:rPr lang="en-US" altLang="ko-KR" sz="1100" u="none" strike="noStrike" kern="1200" dirty="0" smtClean="0">
                          <a:solidFill>
                            <a:schemeClr val="tx1"/>
                          </a:solidFill>
                          <a:effectLst/>
                          <a:latin typeface="나눔스퀘어" panose="020B0600000101010101" pitchFamily="50" charset="-127"/>
                          <a:ea typeface="나눔스퀘어" panose="020B0600000101010101" pitchFamily="50" charset="-127"/>
                          <a:cs typeface="+mn-cs"/>
                        </a:rPr>
                        <a:t>135 </a:t>
                      </a:r>
                      <a:endParaRPr lang="en-US" altLang="ko-KR" sz="1100" u="none" strike="noStrike" kern="1200" dirty="0">
                        <a:solidFill>
                          <a:schemeClr val="tx1"/>
                        </a:solidFill>
                        <a:effectLst/>
                        <a:latin typeface="나눔스퀘어" panose="020B0600000101010101" pitchFamily="50" charset="-127"/>
                        <a:ea typeface="나눔스퀘어" panose="020B0600000101010101" pitchFamily="50" charset="-127"/>
                        <a:cs typeface="+mn-cs"/>
                      </a:endParaRPr>
                    </a:p>
                  </a:txBody>
                  <a:tcPr marL="0" marR="18000" marT="0" marB="0" anchor="b">
                    <a:lnL w="3175" cap="flat" cmpd="sng" algn="ctr">
                      <a:solidFill>
                        <a:schemeClr val="tx1">
                          <a:lumMod val="65000"/>
                          <a:lumOff val="35000"/>
                        </a:schemeClr>
                      </a:solidFill>
                      <a:prstDash val="solid"/>
                      <a:round/>
                      <a:headEnd type="none" w="med" len="med"/>
                      <a:tailEnd type="none" w="med" len="med"/>
                    </a:lnL>
                    <a:lnR w="12700" cap="flat" cmpd="sng" algn="ctr">
                      <a:solidFill>
                        <a:srgbClr val="0000FF"/>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tcPr>
                </a:tc>
                <a:tc>
                  <a:txBody>
                    <a:bodyPr/>
                    <a:lstStyle/>
                    <a:p>
                      <a:pPr algn="r" fontAlgn="b"/>
                      <a:r>
                        <a:rPr lang="ko-KR" altLang="en-US" sz="1100" b="1" u="none" strike="noStrike" dirty="0" smtClean="0">
                          <a:solidFill>
                            <a:srgbClr val="C00000"/>
                          </a:solidFill>
                          <a:effectLst/>
                          <a:latin typeface="나눔스퀘어" panose="020B0600000101010101" pitchFamily="50" charset="-127"/>
                          <a:ea typeface="나눔스퀘어" panose="020B0600000101010101" pitchFamily="50" charset="-127"/>
                        </a:rPr>
                        <a:t>▲</a:t>
                      </a:r>
                      <a:r>
                        <a:rPr lang="en-US" altLang="ko-KR" sz="1100" b="1" u="none" strike="noStrike" dirty="0" smtClean="0">
                          <a:solidFill>
                            <a:srgbClr val="C00000"/>
                          </a:solidFill>
                          <a:effectLst/>
                          <a:latin typeface="나눔스퀘어" panose="020B0600000101010101" pitchFamily="50" charset="-127"/>
                          <a:ea typeface="나눔스퀘어" panose="020B0600000101010101" pitchFamily="50" charset="-127"/>
                        </a:rPr>
                        <a:t>98%</a:t>
                      </a:r>
                      <a:endParaRPr lang="en-US" altLang="ko-KR" sz="1100" b="1" i="0" u="none" strike="noStrike" dirty="0">
                        <a:solidFill>
                          <a:srgbClr val="C00000"/>
                        </a:solidFill>
                        <a:effectLst/>
                        <a:latin typeface="나눔스퀘어" panose="020B0600000101010101" pitchFamily="50" charset="-127"/>
                        <a:ea typeface="나눔스퀘어" panose="020B0600000101010101" pitchFamily="50" charset="-127"/>
                      </a:endParaRPr>
                    </a:p>
                  </a:txBody>
                  <a:tcPr marL="0" marR="18000" marT="0" marB="0" anchor="ctr">
                    <a:lnL w="12700" cap="flat" cmpd="sng" algn="ctr">
                      <a:solidFill>
                        <a:srgbClr val="0000FF"/>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rgbClr val="0000FF"/>
                      </a:solidFill>
                      <a:prstDash val="solid"/>
                      <a:round/>
                      <a:headEnd type="none" w="med" len="med"/>
                      <a:tailEnd type="none" w="med" len="med"/>
                    </a:lnB>
                    <a:solidFill>
                      <a:schemeClr val="accent4">
                        <a:lumMod val="20000"/>
                        <a:lumOff val="80000"/>
                      </a:schemeClr>
                    </a:solidFill>
                  </a:tcPr>
                </a:tc>
                <a:tc>
                  <a:txBody>
                    <a:bodyPr/>
                    <a:lstStyle/>
                    <a:p>
                      <a:pPr algn="r" fontAlgn="b"/>
                      <a:r>
                        <a:rPr lang="ko-KR" altLang="en-US" sz="1100" b="1" u="none" strike="noStrike" dirty="0" smtClean="0">
                          <a:solidFill>
                            <a:srgbClr val="0000FF"/>
                          </a:solidFill>
                          <a:effectLst/>
                          <a:latin typeface="나눔스퀘어" panose="020B0600000101010101" pitchFamily="50" charset="-127"/>
                          <a:ea typeface="나눔스퀘어" panose="020B0600000101010101" pitchFamily="50" charset="-127"/>
                        </a:rPr>
                        <a:t>▼</a:t>
                      </a:r>
                      <a:r>
                        <a:rPr lang="en-US" altLang="ko-KR" sz="1100" b="1" u="none" strike="noStrike" dirty="0" smtClean="0">
                          <a:solidFill>
                            <a:srgbClr val="0000FF"/>
                          </a:solidFill>
                          <a:effectLst/>
                          <a:latin typeface="나눔스퀘어" panose="020B0600000101010101" pitchFamily="50" charset="-127"/>
                          <a:ea typeface="나눔스퀘어" panose="020B0600000101010101" pitchFamily="50" charset="-127"/>
                        </a:rPr>
                        <a:t>10%</a:t>
                      </a:r>
                      <a:endParaRPr lang="en-US" altLang="ko-KR" sz="1100" b="1" i="0" u="none" strike="noStrike" dirty="0">
                        <a:solidFill>
                          <a:srgbClr val="0000FF"/>
                        </a:solidFill>
                        <a:effectLst/>
                        <a:latin typeface="나눔스퀘어" panose="020B0600000101010101" pitchFamily="50" charset="-127"/>
                        <a:ea typeface="나눔스퀘어" panose="020B0600000101010101" pitchFamily="50" charset="-127"/>
                      </a:endParaRPr>
                    </a:p>
                  </a:txBody>
                  <a:tcPr marL="0" marR="18000" marT="0" marB="0" anchor="ctr">
                    <a:lnL w="3175" cap="flat" cmpd="sng" algn="ctr">
                      <a:solidFill>
                        <a:schemeClr val="tx1">
                          <a:lumMod val="65000"/>
                          <a:lumOff val="35000"/>
                        </a:schemeClr>
                      </a:solidFill>
                      <a:prstDash val="solid"/>
                      <a:round/>
                      <a:headEnd type="none" w="med" len="med"/>
                      <a:tailEnd type="none" w="med" len="med"/>
                    </a:lnL>
                    <a:lnR w="12700" cap="flat" cmpd="sng" algn="ctr">
                      <a:solidFill>
                        <a:srgbClr val="0000FF"/>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rgbClr val="0000FF"/>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323003753"/>
                  </a:ext>
                </a:extLst>
              </a:tr>
            </a:tbl>
          </a:graphicData>
        </a:graphic>
      </p:graphicFrame>
      <p:sp>
        <p:nvSpPr>
          <p:cNvPr id="61" name="슬라이드 번호 개체 틀 5">
            <a:extLst>
              <a:ext uri="{FF2B5EF4-FFF2-40B4-BE49-F238E27FC236}">
                <a16:creationId xmlns:a16="http://schemas.microsoft.com/office/drawing/2014/main" id="{FAC1EB1B-E602-0247-88AB-A89AF71255A6}"/>
              </a:ext>
            </a:extLst>
          </p:cNvPr>
          <p:cNvSpPr txBox="1">
            <a:spLocks/>
          </p:cNvSpPr>
          <p:nvPr/>
        </p:nvSpPr>
        <p:spPr>
          <a:xfrm>
            <a:off x="5419725" y="6426152"/>
            <a:ext cx="788332" cy="326455"/>
          </a:xfrm>
          <a:prstGeom prst="rect">
            <a:avLst/>
          </a:prstGeom>
        </p:spPr>
        <p:txBody>
          <a:bodyPr lIns="162531" tIns="81264" rIns="162531" bIns="81264" anchor="ctr"/>
          <a:lstStyle>
            <a:lvl1pPr algn="r">
              <a:defRPr sz="1200">
                <a:solidFill>
                  <a:schemeClr val="tx1">
                    <a:tint val="75000"/>
                  </a:schemeClr>
                </a:solidFill>
              </a:defRPr>
            </a:lvl1pPr>
          </a:lstStyle>
          <a:p>
            <a:pPr defTabSz="1219048">
              <a:defRPr/>
            </a:pPr>
            <a:r>
              <a:rPr lang="en-US" altLang="ko-KR" dirty="0" smtClean="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rPr>
              <a:t>13</a:t>
            </a:r>
            <a:endParaRPr lang="ko-KR" altLang="en-US"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endParaRPr>
          </a:p>
        </p:txBody>
      </p:sp>
      <p:grpSp>
        <p:nvGrpSpPr>
          <p:cNvPr id="48" name="그룹 47"/>
          <p:cNvGrpSpPr/>
          <p:nvPr/>
        </p:nvGrpSpPr>
        <p:grpSpPr>
          <a:xfrm>
            <a:off x="10020301" y="6290"/>
            <a:ext cx="1778422" cy="552569"/>
            <a:chOff x="10020301" y="6290"/>
            <a:chExt cx="1778422" cy="552569"/>
          </a:xfrm>
        </p:grpSpPr>
        <p:cxnSp>
          <p:nvCxnSpPr>
            <p:cNvPr id="53" name="직선 연결선 52"/>
            <p:cNvCxnSpPr/>
            <p:nvPr/>
          </p:nvCxnSpPr>
          <p:spPr>
            <a:xfrm>
              <a:off x="11671487" y="6290"/>
              <a:ext cx="0" cy="313957"/>
            </a:xfrm>
            <a:prstGeom prst="line">
              <a:avLst/>
            </a:prstGeom>
            <a:ln w="635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10020301" y="381709"/>
              <a:ext cx="1552032" cy="153888"/>
            </a:xfrm>
            <a:prstGeom prst="rect">
              <a:avLst/>
            </a:prstGeom>
            <a:noFill/>
            <a:ln w="9525">
              <a:noFill/>
              <a:miter lim="800000"/>
              <a:headEnd/>
              <a:tailEnd/>
            </a:ln>
          </p:spPr>
          <p:txBody>
            <a:bodyPr wrap="square" lIns="0" tIns="0" rIns="0" bIns="0" anchor="ctr">
              <a:spAutoFit/>
            </a:bodyPr>
            <a:lstStyle>
              <a:defPPr>
                <a:defRPr lang="ko-KR"/>
              </a:defPPr>
              <a:lvl1pPr defTabSz="914125" fontAlgn="base" latinLnBrk="0">
                <a:spcBef>
                  <a:spcPct val="0"/>
                </a:spcBef>
                <a:spcAft>
                  <a:spcPts val="200"/>
                </a:spcAft>
                <a:defRPr sz="1100" spc="-20">
                  <a:ln>
                    <a:solidFill>
                      <a:prstClr val="white">
                        <a:alpha val="0"/>
                      </a:prstClr>
                    </a:solidFill>
                  </a:ln>
                  <a:solidFill>
                    <a:schemeClr val="tx1">
                      <a:lumMod val="75000"/>
                      <a:lumOff val="25000"/>
                    </a:schemeClr>
                  </a:solidFill>
                  <a:latin typeface="KoPub돋움체 Bold" panose="02020603020101020101" pitchFamily="18" charset="-127"/>
                  <a:ea typeface="KoPub돋움체 Bold" panose="02020603020101020101" pitchFamily="18" charset="-127"/>
                  <a:cs typeface="Arial" charset="0"/>
                </a:defRPr>
              </a:lvl1pPr>
            </a:lstStyle>
            <a:p>
              <a:pPr lvl="0" algn="r">
                <a:defRPr/>
              </a:pPr>
              <a:r>
                <a:rPr lang="en-US" altLang="ko-KR"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rPr>
                <a:t>2026 2H Market Outlook</a:t>
              </a:r>
            </a:p>
          </p:txBody>
        </p:sp>
        <p:sp>
          <p:nvSpPr>
            <p:cNvPr id="57" name="타원 56"/>
            <p:cNvSpPr/>
            <p:nvPr/>
          </p:nvSpPr>
          <p:spPr>
            <a:xfrm>
              <a:off x="11340239"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20" normalizeH="0" baseline="0" noProof="0" dirty="0">
                <a:ln>
                  <a:solidFill>
                    <a:srgbClr val="C00000">
                      <a:alpha val="0"/>
                    </a:srgbClr>
                  </a:solidFill>
                </a:ln>
                <a:solidFill>
                  <a:prstClr val="white"/>
                </a:solidFill>
                <a:effectLst/>
                <a:uLnTx/>
                <a:uFillTx/>
                <a:latin typeface="나눔스퀘어" panose="020B0600000101010101" pitchFamily="50" charset="-127"/>
                <a:ea typeface="나눔스퀘어" panose="020B0600000101010101" pitchFamily="50" charset="-127"/>
                <a:cs typeface="+mn-cs"/>
              </a:endParaRPr>
            </a:p>
          </p:txBody>
        </p:sp>
        <p:sp>
          <p:nvSpPr>
            <p:cNvPr id="58" name="타원 57"/>
            <p:cNvSpPr/>
            <p:nvPr/>
          </p:nvSpPr>
          <p:spPr>
            <a:xfrm>
              <a:off x="11422266"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59" name="타원 58"/>
            <p:cNvSpPr/>
            <p:nvPr/>
          </p:nvSpPr>
          <p:spPr>
            <a:xfrm>
              <a:off x="11504294" y="290256"/>
              <a:ext cx="51827" cy="51827"/>
            </a:xfrm>
            <a:prstGeom prst="ellipse">
              <a:avLst/>
            </a:prstGeom>
            <a:solidFill>
              <a:srgbClr val="0146A0"/>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60" name="TextBox 59"/>
            <p:cNvSpPr txBox="1"/>
            <p:nvPr/>
          </p:nvSpPr>
          <p:spPr>
            <a:xfrm>
              <a:off x="11646437" y="343415"/>
              <a:ext cx="152286" cy="215444"/>
            </a:xfrm>
            <a:prstGeom prst="rect">
              <a:avLst/>
            </a:prstGeom>
            <a:noFill/>
          </p:spPr>
          <p:txBody>
            <a:bodyPr wrap="none" lIns="0" tIns="0" rIns="0" bIns="0" rtlCol="0" anchor="ctr" anchorCtr="0">
              <a:spAutoFit/>
            </a:bodyPr>
            <a:lstStyle>
              <a:defPPr>
                <a:defRPr lang="ko-KR"/>
              </a:defPPr>
              <a:lvl1pPr>
                <a:spcAft>
                  <a:spcPts val="300"/>
                </a:spcAft>
                <a:defRPr sz="2800" spc="-100">
                  <a:ln>
                    <a:solidFill>
                      <a:schemeClr val="bg1">
                        <a:alpha val="0"/>
                      </a:schemeClr>
                    </a:solidFill>
                  </a:ln>
                  <a:solidFill>
                    <a:srgbClr val="005B8D"/>
                  </a:solidFill>
                  <a:latin typeface="Times New Roman" panose="02020603050405020304" pitchFamily="18" charset="0"/>
                  <a:ea typeface="KoPub돋움체 Bold" panose="02020603020101020101" pitchFamily="18" charset="-127"/>
                  <a:cs typeface="Times New Roman" panose="02020603050405020304" pitchFamily="18" charset="0"/>
                </a:defRPr>
              </a:lvl1pPr>
            </a:lstStyle>
            <a:p>
              <a:pPr latinLnBrk="0">
                <a:defRPr/>
              </a:pPr>
              <a:r>
                <a:rPr lang="en-US" altLang="ko-KR" sz="1400" spc="-150" dirty="0" smtClean="0">
                  <a:ln>
                    <a:solidFill>
                      <a:prstClr val="white">
                        <a:alpha val="0"/>
                      </a:prstClr>
                    </a:solidFill>
                  </a:ln>
                  <a:solidFill>
                    <a:srgbClr val="0146A0"/>
                  </a:solidFill>
                  <a:ea typeface="KoPub돋움체 Medium" panose="02020603020101020101" pitchFamily="18" charset="-127"/>
                </a:rPr>
                <a:t>Ⅲ</a:t>
              </a:r>
              <a:endParaRPr lang="en-US" altLang="ko-KR" sz="1400" spc="-150" dirty="0">
                <a:ln>
                  <a:solidFill>
                    <a:prstClr val="white">
                      <a:alpha val="0"/>
                    </a:prstClr>
                  </a:solidFill>
                </a:ln>
                <a:solidFill>
                  <a:srgbClr val="0146A0"/>
                </a:solidFill>
                <a:ea typeface="KoPub돋움체 Medium" panose="02020603020101020101" pitchFamily="18" charset="-127"/>
              </a:endParaRPr>
            </a:p>
          </p:txBody>
        </p:sp>
      </p:grpSp>
    </p:spTree>
    <p:extLst>
      <p:ext uri="{BB962C8B-B14F-4D97-AF65-F5344CB8AC3E}">
        <p14:creationId xmlns:p14="http://schemas.microsoft.com/office/powerpoint/2010/main" val="118064483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직사각형 25">
            <a:extLst>
              <a:ext uri="{FF2B5EF4-FFF2-40B4-BE49-F238E27FC236}">
                <a16:creationId xmlns:a16="http://schemas.microsoft.com/office/drawing/2014/main" id="{3F2A1EA1-CAA6-5D90-657A-21DA48D04A7D}"/>
              </a:ext>
            </a:extLst>
          </p:cNvPr>
          <p:cNvSpPr/>
          <p:nvPr/>
        </p:nvSpPr>
        <p:spPr>
          <a:xfrm>
            <a:off x="6395855" y="4701864"/>
            <a:ext cx="5666606" cy="1477328"/>
          </a:xfrm>
          <a:prstGeom prst="rect">
            <a:avLst/>
          </a:prstGeom>
        </p:spPr>
        <p:txBody>
          <a:bodyPr wrap="square">
            <a:spAutoFit/>
          </a:bodyPr>
          <a:lstStyle/>
          <a:p>
            <a:pPr marL="115200" indent="-115200" defTabSz="1038977" latinLnBrk="0">
              <a:spcAft>
                <a:spcPts val="600"/>
              </a:spcAft>
              <a:buFont typeface="Arial" panose="020B0604020202020204" pitchFamily="34" charset="0"/>
              <a:buChar char="•"/>
            </a:pPr>
            <a:r>
              <a:rPr lang="en-US" altLang="ko-KR" sz="1400" dirty="0">
                <a:latin typeface="나눔스퀘어" panose="020B0600000101010101" pitchFamily="50" charset="-127"/>
                <a:ea typeface="나눔스퀘어" panose="020B0600000101010101" pitchFamily="50" charset="-127"/>
              </a:rPr>
              <a:t>Demand growth concentrated on select high-demand lanes</a:t>
            </a:r>
          </a:p>
          <a:p>
            <a:pPr defTabSz="1038977" latinLnBrk="0">
              <a:spcAft>
                <a:spcPts val="600"/>
              </a:spcAft>
            </a:pPr>
            <a:r>
              <a:rPr lang="en-US" altLang="ko-KR" sz="1400" spc="-120" dirty="0">
                <a:latin typeface="나눔스퀘어" panose="020B0600000101010101" pitchFamily="50" charset="-127"/>
                <a:ea typeface="나눔스퀘어" panose="020B0600000101010101" pitchFamily="50" charset="-127"/>
              </a:rPr>
              <a:t>  </a:t>
            </a:r>
            <a:r>
              <a:rPr lang="en-US" altLang="ko-KR" sz="1400" spc="-100" dirty="0">
                <a:latin typeface="나눔스퀘어" panose="020B0600000101010101" pitchFamily="50" charset="-127"/>
                <a:ea typeface="나눔스퀘어" panose="020B0600000101010101" pitchFamily="50" charset="-127"/>
              </a:rPr>
              <a:t>- </a:t>
            </a:r>
            <a:r>
              <a:rPr lang="en-US" altLang="ko-KR" sz="1400" dirty="0">
                <a:latin typeface="나눔스퀘어" panose="020B0600000101010101" pitchFamily="50" charset="-127"/>
                <a:ea typeface="나눔스퀘어" panose="020B0600000101010101" pitchFamily="50" charset="-127"/>
              </a:rPr>
              <a:t>Route disparities widening, Asia-NA·EU </a:t>
            </a:r>
            <a:r>
              <a:rPr lang="en-US" altLang="ko-KR" sz="1400" dirty="0" smtClean="0">
                <a:latin typeface="나눔스퀘어" panose="020B0600000101010101" pitchFamily="50" charset="-127"/>
                <a:ea typeface="나눔스퀘어" panose="020B0600000101010101" pitchFamily="50" charset="-127"/>
              </a:rPr>
              <a:t>lane </a:t>
            </a:r>
            <a:r>
              <a:rPr lang="en-US" altLang="ko-KR" sz="1400" dirty="0">
                <a:latin typeface="나눔스퀘어" panose="020B0600000101010101" pitchFamily="50" charset="-127"/>
                <a:ea typeface="나눔스퀘어" panose="020B0600000101010101" pitchFamily="50" charset="-127"/>
              </a:rPr>
              <a:t>demand </a:t>
            </a:r>
            <a:r>
              <a:rPr lang="en-US" altLang="ko-KR" sz="1400" dirty="0" smtClean="0">
                <a:latin typeface="나눔스퀘어" panose="020B0600000101010101" pitchFamily="50" charset="-127"/>
                <a:ea typeface="나눔스퀘어" panose="020B0600000101010101" pitchFamily="50" charset="-127"/>
              </a:rPr>
              <a:t>to stay firm</a:t>
            </a:r>
            <a:endParaRPr lang="en-US" altLang="ko-KR" sz="1400" dirty="0">
              <a:latin typeface="나눔스퀘어" panose="020B0600000101010101" pitchFamily="50" charset="-127"/>
              <a:ea typeface="나눔스퀘어" panose="020B0600000101010101" pitchFamily="50" charset="-127"/>
            </a:endParaRPr>
          </a:p>
          <a:p>
            <a:pPr defTabSz="1038977" latinLnBrk="0">
              <a:spcAft>
                <a:spcPts val="600"/>
              </a:spcAft>
            </a:pPr>
            <a:r>
              <a:rPr lang="en-US" altLang="ko-KR" sz="1400" spc="-130" dirty="0">
                <a:latin typeface="나눔스퀘어" panose="020B0600000101010101" pitchFamily="50" charset="-127"/>
                <a:ea typeface="나눔스퀘어" panose="020B0600000101010101" pitchFamily="50" charset="-127"/>
              </a:rPr>
              <a:t>  - </a:t>
            </a:r>
            <a:r>
              <a:rPr lang="en-US" altLang="ko-KR" sz="1400" spc="-130" dirty="0" err="1">
                <a:latin typeface="나눔스퀘어" panose="020B0600000101010101" pitchFamily="50" charset="-127"/>
                <a:ea typeface="나눔스퀘어" panose="020B0600000101010101" pitchFamily="50" charset="-127"/>
              </a:rPr>
              <a:t>Asia→NA·EU</a:t>
            </a:r>
            <a:r>
              <a:rPr lang="en-US" altLang="ko-KR" sz="1400" spc="-130" dirty="0">
                <a:latin typeface="나눔스퀘어" panose="020B0600000101010101" pitchFamily="50" charset="-127"/>
                <a:ea typeface="나눔스퀘어" panose="020B0600000101010101" pitchFamily="50" charset="-127"/>
              </a:rPr>
              <a:t> dynamic load factors at 87–90%; supply-demand to remain tight </a:t>
            </a:r>
          </a:p>
          <a:p>
            <a:pPr defTabSz="1038977" latinLnBrk="0">
              <a:spcAft>
                <a:spcPts val="600"/>
              </a:spcAft>
            </a:pPr>
            <a:r>
              <a:rPr lang="en-US" altLang="ko-KR" sz="1400" spc="-100" dirty="0">
                <a:latin typeface="나눔스퀘어" panose="020B0600000101010101" pitchFamily="50" charset="-127"/>
                <a:ea typeface="나눔스퀘어" panose="020B0600000101010101" pitchFamily="50" charset="-127"/>
              </a:rPr>
              <a:t>  - </a:t>
            </a:r>
            <a:r>
              <a:rPr lang="en-US" altLang="ko-KR" sz="1400" dirty="0">
                <a:latin typeface="나눔스퀘어" panose="020B0600000101010101" pitchFamily="50" charset="-127"/>
                <a:ea typeface="나눔스퀘어" panose="020B0600000101010101" pitchFamily="50" charset="-127"/>
              </a:rPr>
              <a:t>Volume growth from </a:t>
            </a:r>
            <a:r>
              <a:rPr lang="en-US" altLang="ko-KR" sz="1400" dirty="0" err="1">
                <a:latin typeface="나눔스퀘어" panose="020B0600000101010101" pitchFamily="50" charset="-127"/>
                <a:ea typeface="나눔스퀘어" panose="020B0600000101010101" pitchFamily="50" charset="-127"/>
              </a:rPr>
              <a:t>electronics·chip</a:t>
            </a:r>
            <a:r>
              <a:rPr lang="en-US" altLang="ko-KR" sz="1400" dirty="0">
                <a:latin typeface="나눔스퀘어" panose="020B0600000101010101" pitchFamily="50" charset="-127"/>
                <a:ea typeface="나눔스퀘어" panose="020B0600000101010101" pitchFamily="50" charset="-127"/>
              </a:rPr>
              <a:t> </a:t>
            </a:r>
            <a:r>
              <a:rPr lang="en-US" altLang="ko-KR" sz="1400" dirty="0" smtClean="0">
                <a:latin typeface="나눔스퀘어" panose="020B0600000101010101" pitchFamily="50" charset="-127"/>
                <a:ea typeface="나눔스퀘어" panose="020B0600000101010101" pitchFamily="50" charset="-127"/>
              </a:rPr>
              <a:t>hubs (</a:t>
            </a:r>
            <a:r>
              <a:rPr lang="en-US" altLang="ko-KR" sz="1400" dirty="0">
                <a:latin typeface="나눔스퀘어" panose="020B0600000101010101" pitchFamily="50" charset="-127"/>
                <a:ea typeface="나눔스퀘어" panose="020B0600000101010101" pitchFamily="50" charset="-127"/>
              </a:rPr>
              <a:t>TW,CN,MY, etc.) </a:t>
            </a:r>
          </a:p>
          <a:p>
            <a:pPr defTabSz="1038977" latinLnBrk="0">
              <a:spcAft>
                <a:spcPts val="600"/>
              </a:spcAft>
            </a:pPr>
            <a:r>
              <a:rPr lang="en-US" altLang="ko-KR" sz="1400" dirty="0">
                <a:latin typeface="나눔스퀘어" panose="020B0600000101010101" pitchFamily="50" charset="-127"/>
                <a:ea typeface="나눔스퀘어" panose="020B0600000101010101" pitchFamily="50" charset="-127"/>
              </a:rPr>
              <a:t>    to widen transpacific growth, led by NE Asia–NA lanes</a:t>
            </a:r>
          </a:p>
        </p:txBody>
      </p:sp>
      <p:sp>
        <p:nvSpPr>
          <p:cNvPr id="111" name="직사각형 25">
            <a:extLst>
              <a:ext uri="{FF2B5EF4-FFF2-40B4-BE49-F238E27FC236}">
                <a16:creationId xmlns:a16="http://schemas.microsoft.com/office/drawing/2014/main" id="{3F2A1EA1-CAA6-5D90-657A-21DA48D04A7D}"/>
              </a:ext>
            </a:extLst>
          </p:cNvPr>
          <p:cNvSpPr/>
          <p:nvPr/>
        </p:nvSpPr>
        <p:spPr>
          <a:xfrm>
            <a:off x="6395855" y="2900214"/>
            <a:ext cx="5666606" cy="1769715"/>
          </a:xfrm>
          <a:prstGeom prst="rect">
            <a:avLst/>
          </a:prstGeom>
        </p:spPr>
        <p:txBody>
          <a:bodyPr wrap="square">
            <a:spAutoFit/>
          </a:bodyPr>
          <a:lstStyle/>
          <a:p>
            <a:pPr marL="144000" indent="-144000" defTabSz="1038977" latinLnBrk="0">
              <a:spcAft>
                <a:spcPts val="600"/>
              </a:spcAft>
              <a:buFont typeface="Arial" panose="020B0604020202020204" pitchFamily="34" charset="0"/>
              <a:buChar char="•"/>
            </a:pPr>
            <a:r>
              <a:rPr lang="en-US" altLang="ko-KR" sz="1400" dirty="0">
                <a:latin typeface="나눔스퀘어" panose="020B0600000101010101" pitchFamily="50" charset="-127"/>
                <a:ea typeface="나눔스퀘어" panose="020B0600000101010101" pitchFamily="50" charset="-127"/>
              </a:rPr>
              <a:t>Demand drivers in ’26 are shifting from e-commerce to AI/chips</a:t>
            </a:r>
          </a:p>
          <a:p>
            <a:pPr defTabSz="1038977" latinLnBrk="0">
              <a:spcAft>
                <a:spcPts val="600"/>
              </a:spcAft>
            </a:pPr>
            <a:r>
              <a:rPr lang="en-US" altLang="ko-KR" sz="1400" spc="-120" dirty="0">
                <a:latin typeface="나눔스퀘어" panose="020B0600000101010101" pitchFamily="50" charset="-127"/>
                <a:ea typeface="나눔스퀘어" panose="020B0600000101010101" pitchFamily="50" charset="-127"/>
              </a:rPr>
              <a:t>   - </a:t>
            </a:r>
            <a:r>
              <a:rPr lang="en-US" altLang="ko-KR" sz="1400" dirty="0" smtClean="0">
                <a:latin typeface="나눔스퀘어" panose="020B0600000101010101" pitchFamily="50" charset="-127"/>
                <a:ea typeface="나눔스퀘어" panose="020B0600000101010101" pitchFamily="50" charset="-127"/>
              </a:rPr>
              <a:t>China-origin </a:t>
            </a:r>
            <a:r>
              <a:rPr lang="en-US" altLang="ko-KR" sz="1400" dirty="0">
                <a:latin typeface="나눔스퀘어" panose="020B0600000101010101" pitchFamily="50" charset="-127"/>
                <a:ea typeface="나눔스퀘어" panose="020B0600000101010101" pitchFamily="50" charset="-127"/>
              </a:rPr>
              <a:t>e-commerce sales -11% YoY (US -33%, EU -6%)</a:t>
            </a:r>
          </a:p>
          <a:p>
            <a:pPr defTabSz="1038977" latinLnBrk="0">
              <a:spcAft>
                <a:spcPts val="600"/>
              </a:spcAft>
            </a:pPr>
            <a:r>
              <a:rPr lang="en-US" altLang="ko-KR" sz="1400" spc="-30" dirty="0">
                <a:latin typeface="나눔스퀘어" panose="020B0600000101010101" pitchFamily="50" charset="-127"/>
                <a:ea typeface="나눔스퀘어" panose="020B0600000101010101" pitchFamily="50" charset="-127"/>
              </a:rPr>
              <a:t>  - The traditional e-commerce peak in Q3-Q4 is expected to weaken </a:t>
            </a:r>
          </a:p>
          <a:p>
            <a:pPr defTabSz="1038977" latinLnBrk="0">
              <a:spcAft>
                <a:spcPts val="600"/>
              </a:spcAft>
            </a:pPr>
            <a:r>
              <a:rPr lang="en-US" altLang="ko-KR" sz="1400" spc="-30" dirty="0">
                <a:latin typeface="나눔스퀘어" panose="020B0600000101010101" pitchFamily="50" charset="-127"/>
                <a:ea typeface="나눔스퀘어" panose="020B0600000101010101" pitchFamily="50" charset="-127"/>
              </a:rPr>
              <a:t>  - </a:t>
            </a:r>
            <a:r>
              <a:rPr lang="en-US" altLang="ko-KR" sz="1400" dirty="0">
                <a:latin typeface="나눔스퀘어" panose="020B0600000101010101" pitchFamily="50" charset="-127"/>
                <a:ea typeface="나눔스퀘어" panose="020B0600000101010101" pitchFamily="50" charset="-127"/>
              </a:rPr>
              <a:t>Global chip sales </a:t>
            </a:r>
            <a:r>
              <a:rPr lang="en-US" altLang="ko-KR" sz="1400" dirty="0" smtClean="0">
                <a:latin typeface="나눔스퀘어" panose="020B0600000101010101" pitchFamily="50" charset="-127"/>
                <a:ea typeface="나눔스퀘어" panose="020B0600000101010101" pitchFamily="50" charset="-127"/>
              </a:rPr>
              <a:t>+106</a:t>
            </a:r>
            <a:r>
              <a:rPr lang="en-US" altLang="ko-KR" sz="1400" dirty="0">
                <a:latin typeface="나눔스퀘어" panose="020B0600000101010101" pitchFamily="50" charset="-127"/>
                <a:ea typeface="나눔스퀘어" panose="020B0600000101010101" pitchFamily="50" charset="-127"/>
              </a:rPr>
              <a:t>% YoY, Asia-NA chip shipments up 22%</a:t>
            </a:r>
          </a:p>
          <a:p>
            <a:pPr defTabSz="1038977" latinLnBrk="0">
              <a:spcAft>
                <a:spcPts val="600"/>
              </a:spcAft>
            </a:pPr>
            <a:r>
              <a:rPr lang="en-US" altLang="ko-KR" sz="1400" spc="-120" dirty="0">
                <a:latin typeface="나눔스퀘어" panose="020B0600000101010101" pitchFamily="50" charset="-127"/>
                <a:ea typeface="나눔스퀘어" panose="020B0600000101010101" pitchFamily="50" charset="-127"/>
              </a:rPr>
              <a:t>   - </a:t>
            </a:r>
            <a:r>
              <a:rPr lang="en-US" altLang="ko-KR" sz="1400" spc="-100" dirty="0">
                <a:latin typeface="나눔스퀘어" panose="020B0600000101010101" pitchFamily="50" charset="-127"/>
                <a:ea typeface="나눔스퀘어" panose="020B0600000101010101" pitchFamily="50" charset="-127"/>
              </a:rPr>
              <a:t>Asia-NA </a:t>
            </a:r>
            <a:r>
              <a:rPr lang="en-US" altLang="ko-KR" sz="1400" spc="-100" dirty="0" err="1">
                <a:latin typeface="나눔스퀘어" panose="020B0600000101010101" pitchFamily="50" charset="-127"/>
                <a:ea typeface="나눔스퀘어" panose="020B0600000101010101" pitchFamily="50" charset="-127"/>
              </a:rPr>
              <a:t>AI·high-tech</a:t>
            </a:r>
            <a:r>
              <a:rPr lang="en-US" altLang="ko-KR" sz="1400" spc="-100" dirty="0">
                <a:latin typeface="나눔스퀘어" panose="020B0600000101010101" pitchFamily="50" charset="-127"/>
                <a:ea typeface="나눔스퀘어" panose="020B0600000101010101" pitchFamily="50" charset="-127"/>
              </a:rPr>
              <a:t> cargo volume increases by </a:t>
            </a:r>
            <a:r>
              <a:rPr lang="en-US" altLang="ko-KR" sz="1400" spc="-100" dirty="0" smtClean="0">
                <a:latin typeface="나눔스퀘어" panose="020B0600000101010101" pitchFamily="50" charset="-127"/>
                <a:ea typeface="나눔스퀘어" panose="020B0600000101010101" pitchFamily="50" charset="-127"/>
              </a:rPr>
              <a:t>86</a:t>
            </a:r>
            <a:r>
              <a:rPr lang="en-US" altLang="ko-KR" sz="1400" spc="-100" dirty="0">
                <a:latin typeface="나눔스퀘어" panose="020B0600000101010101" pitchFamily="50" charset="-127"/>
                <a:ea typeface="나눔스퀘어" panose="020B0600000101010101" pitchFamily="50" charset="-127"/>
              </a:rPr>
              <a:t>% YoY, leading growth</a:t>
            </a:r>
          </a:p>
          <a:p>
            <a:pPr marL="144000" indent="-144000" defTabSz="1038977" latinLnBrk="0">
              <a:spcAft>
                <a:spcPts val="600"/>
              </a:spcAft>
              <a:buFont typeface="Arial" panose="020B0604020202020204" pitchFamily="34" charset="0"/>
              <a:buChar char="•"/>
            </a:pPr>
            <a:endParaRPr lang="en-US" altLang="ko-KR" sz="1400" spc="-120" dirty="0">
              <a:latin typeface="나눔스퀘어" panose="020B0600000101010101" pitchFamily="50" charset="-127"/>
              <a:ea typeface="나눔스퀘어" panose="020B0600000101010101" pitchFamily="50" charset="-127"/>
            </a:endParaRPr>
          </a:p>
        </p:txBody>
      </p:sp>
      <p:sp>
        <p:nvSpPr>
          <p:cNvPr id="2" name="제목 1"/>
          <p:cNvSpPr>
            <a:spLocks noGrp="1"/>
          </p:cNvSpPr>
          <p:nvPr>
            <p:ph type="title"/>
          </p:nvPr>
        </p:nvSpPr>
        <p:spPr/>
        <p:txBody>
          <a:bodyPr/>
          <a:lstStyle/>
          <a:p>
            <a:r>
              <a:rPr lang="en-US" altLang="ko-KR" dirty="0" smtClean="0"/>
              <a:t>Air Demand Outlook</a:t>
            </a:r>
            <a:endParaRPr lang="ko-KR" altLang="en-US" dirty="0"/>
          </a:p>
        </p:txBody>
      </p:sp>
      <p:sp>
        <p:nvSpPr>
          <p:cNvPr id="3" name="텍스트 개체 틀 2"/>
          <p:cNvSpPr>
            <a:spLocks noGrp="1"/>
          </p:cNvSpPr>
          <p:nvPr>
            <p:ph type="body" sz="quarter" idx="10"/>
          </p:nvPr>
        </p:nvSpPr>
        <p:spPr>
          <a:xfrm>
            <a:off x="510944" y="1248738"/>
            <a:ext cx="11160125" cy="771752"/>
          </a:xfrm>
        </p:spPr>
        <p:txBody>
          <a:bodyPr/>
          <a:lstStyle/>
          <a:p>
            <a:pPr latinLnBrk="0"/>
            <a:r>
              <a:rPr lang="en-US" altLang="ko-KR" dirty="0"/>
              <a:t>2H demand growth is expected to slow to 2–3%, with air cargo entering a moderate low-growth </a:t>
            </a:r>
            <a:r>
              <a:rPr lang="en-US" altLang="ko-KR" dirty="0" smtClean="0"/>
              <a:t>phase</a:t>
            </a:r>
          </a:p>
          <a:p>
            <a:r>
              <a:rPr lang="en-US" altLang="ko-KR" dirty="0"/>
              <a:t>High-value AI/chip demand to support Asia outbound routes in '26 despite e-commerce </a:t>
            </a:r>
            <a:r>
              <a:rPr lang="en-US" altLang="ko-KR" dirty="0" smtClean="0"/>
              <a:t>slowdown</a:t>
            </a:r>
            <a:endParaRPr lang="en-US" altLang="ko-KR" dirty="0"/>
          </a:p>
        </p:txBody>
      </p:sp>
      <p:grpSp>
        <p:nvGrpSpPr>
          <p:cNvPr id="39" name="组合 2"/>
          <p:cNvGrpSpPr/>
          <p:nvPr/>
        </p:nvGrpSpPr>
        <p:grpSpPr>
          <a:xfrm>
            <a:off x="503790" y="2117975"/>
            <a:ext cx="11167279" cy="374400"/>
            <a:chOff x="386534" y="1461600"/>
            <a:chExt cx="8375459" cy="280800"/>
          </a:xfrm>
        </p:grpSpPr>
        <p:grpSp>
          <p:nvGrpSpPr>
            <p:cNvPr id="40" name="그룹 46"/>
            <p:cNvGrpSpPr/>
            <p:nvPr/>
          </p:nvGrpSpPr>
          <p:grpSpPr>
            <a:xfrm>
              <a:off x="386535" y="1461600"/>
              <a:ext cx="8375458" cy="280800"/>
              <a:chOff x="386535" y="1383614"/>
              <a:chExt cx="8375458" cy="280800"/>
            </a:xfrm>
          </p:grpSpPr>
          <p:grpSp>
            <p:nvGrpSpPr>
              <p:cNvPr id="47" name="그룹 48"/>
              <p:cNvGrpSpPr/>
              <p:nvPr/>
            </p:nvGrpSpPr>
            <p:grpSpPr>
              <a:xfrm>
                <a:off x="386535" y="1383614"/>
                <a:ext cx="4077119" cy="280800"/>
                <a:chOff x="515380" y="1844820"/>
                <a:chExt cx="5436158" cy="374400"/>
              </a:xfrm>
            </p:grpSpPr>
            <p:sp>
              <p:nvSpPr>
                <p:cNvPr id="51" name="Rectangle 215"/>
                <p:cNvSpPr>
                  <a:spLocks noChangeArrowheads="1"/>
                </p:cNvSpPr>
                <p:nvPr/>
              </p:nvSpPr>
              <p:spPr bwMode="auto">
                <a:xfrm>
                  <a:off x="515380" y="1844820"/>
                  <a:ext cx="5436158"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52" name="TextBox 116"/>
                <p:cNvSpPr txBox="1">
                  <a:spLocks noChangeArrowheads="1"/>
                </p:cNvSpPr>
                <p:nvPr/>
              </p:nvSpPr>
              <p:spPr bwMode="auto">
                <a:xfrm>
                  <a:off x="673467" y="1915641"/>
                  <a:ext cx="511998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lvl="0" algn="ctr" defTabSz="1038977" eaLnBrk="1" hangingPunct="1"/>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Demand Increases</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 </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Entering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A</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 Low-Growth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P</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hase</a:t>
                  </a:r>
                  <a:endPar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grpSp>
          <p:grpSp>
            <p:nvGrpSpPr>
              <p:cNvPr id="48" name="그룹 52"/>
              <p:cNvGrpSpPr/>
              <p:nvPr/>
            </p:nvGrpSpPr>
            <p:grpSpPr>
              <a:xfrm>
                <a:off x="4684993" y="1383614"/>
                <a:ext cx="4077000" cy="280800"/>
                <a:chOff x="6246657" y="1854463"/>
                <a:chExt cx="5436000" cy="374400"/>
              </a:xfrm>
            </p:grpSpPr>
            <p:sp>
              <p:nvSpPr>
                <p:cNvPr id="49" name="Rectangle 215"/>
                <p:cNvSpPr>
                  <a:spLocks noChangeArrowheads="1"/>
                </p:cNvSpPr>
                <p:nvPr/>
              </p:nvSpPr>
              <p:spPr bwMode="auto">
                <a:xfrm>
                  <a:off x="6246657" y="1854463"/>
                  <a:ext cx="5436000"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50" name="TextBox 116"/>
                <p:cNvSpPr txBox="1">
                  <a:spLocks noChangeArrowheads="1"/>
                </p:cNvSpPr>
                <p:nvPr/>
              </p:nvSpPr>
              <p:spPr bwMode="auto">
                <a:xfrm>
                  <a:off x="6404665" y="1907501"/>
                  <a:ext cx="511998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algn="ctr" defTabSz="1038977" eaLnBrk="1" hangingPunct="1"/>
                  <a:r>
                    <a:rPr kumimoji="0" lang="en-US" altLang="ko-KR" sz="1600" dirty="0" err="1">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AI·Chip</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 </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Core Lanes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D</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rive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O</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verall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D</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emand</a:t>
                  </a:r>
                  <a:endParaRPr kumimoji="0" lang="ko-KR" altLang="en-US"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grpSp>
        </p:grpSp>
        <p:grpSp>
          <p:nvGrpSpPr>
            <p:cNvPr id="41" name="그룹 62"/>
            <p:cNvGrpSpPr/>
            <p:nvPr/>
          </p:nvGrpSpPr>
          <p:grpSpPr>
            <a:xfrm>
              <a:off x="386534" y="1461600"/>
              <a:ext cx="585066" cy="276223"/>
              <a:chOff x="-1523239" y="1275702"/>
              <a:chExt cx="564992" cy="357603"/>
            </a:xfrm>
          </p:grpSpPr>
          <p:sp>
            <p:nvSpPr>
              <p:cNvPr id="45" name="자유형 63"/>
              <p:cNvSpPr/>
              <p:nvPr/>
            </p:nvSpPr>
            <p:spPr>
              <a:xfrm>
                <a:off x="-1523239" y="1275702"/>
                <a:ext cx="564991" cy="357603"/>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46" name="자유형 64"/>
              <p:cNvSpPr/>
              <p:nvPr/>
            </p:nvSpPr>
            <p:spPr>
              <a:xfrm>
                <a:off x="-1523239" y="1275702"/>
                <a:ext cx="564992" cy="357603"/>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grpSp>
        <p:grpSp>
          <p:nvGrpSpPr>
            <p:cNvPr id="42" name="그룹 62"/>
            <p:cNvGrpSpPr/>
            <p:nvPr/>
          </p:nvGrpSpPr>
          <p:grpSpPr>
            <a:xfrm>
              <a:off x="4686893" y="1462337"/>
              <a:ext cx="585066" cy="276223"/>
              <a:chOff x="-1523239" y="1275702"/>
              <a:chExt cx="564992" cy="357603"/>
            </a:xfrm>
          </p:grpSpPr>
          <p:sp>
            <p:nvSpPr>
              <p:cNvPr id="43" name="자유형 63"/>
              <p:cNvSpPr/>
              <p:nvPr/>
            </p:nvSpPr>
            <p:spPr>
              <a:xfrm>
                <a:off x="-1523239" y="1275702"/>
                <a:ext cx="564991" cy="357603"/>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44" name="자유형 64"/>
              <p:cNvSpPr/>
              <p:nvPr/>
            </p:nvSpPr>
            <p:spPr>
              <a:xfrm>
                <a:off x="-1523239" y="1275702"/>
                <a:ext cx="564992" cy="357603"/>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grpSp>
      </p:grpSp>
      <p:pic>
        <p:nvPicPr>
          <p:cNvPr id="53" name="Picture 200" descr="악세사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339689" y="4546810"/>
            <a:ext cx="3535193" cy="91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8" name="직사각형 57"/>
          <p:cNvSpPr/>
          <p:nvPr/>
        </p:nvSpPr>
        <p:spPr>
          <a:xfrm>
            <a:off x="8807203" y="3403084"/>
            <a:ext cx="3143058" cy="138499"/>
          </a:xfrm>
          <a:prstGeom prst="rect">
            <a:avLst/>
          </a:prstGeom>
        </p:spPr>
        <p:txBody>
          <a:bodyPr wrap="square" lIns="0" tIns="0" rIns="0" bIns="0" anchor="t" anchorCtr="0">
            <a:spAutoFit/>
          </a:bodyPr>
          <a:lstStyle/>
          <a:p>
            <a:pPr marR="0" lvl="0" algn="l" defTabSz="914400" rtl="0" eaLnBrk="1" fontAlgn="auto" latinLnBrk="1" hangingPunct="1">
              <a:lnSpc>
                <a:spcPct val="100000"/>
              </a:lnSpc>
              <a:spcBef>
                <a:spcPts val="0"/>
              </a:spcBef>
              <a:spcAft>
                <a:spcPts val="0"/>
              </a:spcAft>
              <a:buClrTx/>
              <a:buSzTx/>
              <a:tabLst/>
              <a:defRPr/>
            </a:pPr>
            <a:r>
              <a:rPr kumimoji="1" lang="en-US" altLang="ko-KR" sz="900" dirty="0" smtClean="0">
                <a:ln>
                  <a:solidFill>
                    <a:srgbClr val="4F81BD">
                      <a:alpha val="0"/>
                    </a:srgbClr>
                  </a:solidFill>
                </a:ln>
                <a:solidFill>
                  <a:srgbClr val="3333FF"/>
                </a:solidFill>
                <a:latin typeface="나눔스퀘어" panose="020B0600000101010101" pitchFamily="50" charset="-127"/>
                <a:ea typeface="나눔스퀘어" panose="020B0600000101010101" pitchFamily="50" charset="-127"/>
                <a:cs typeface="Arial" panose="020B0604020202020204" pitchFamily="34" charset="0"/>
              </a:rPr>
              <a:t>* Apr.</a:t>
            </a:r>
            <a:r>
              <a:rPr kumimoji="1" lang="ko-KR" altLang="en-US" sz="900" dirty="0" smtClean="0">
                <a:ln>
                  <a:solidFill>
                    <a:srgbClr val="4F81BD">
                      <a:alpha val="0"/>
                    </a:srgbClr>
                  </a:solidFill>
                </a:ln>
                <a:solidFill>
                  <a:srgbClr val="3333FF"/>
                </a:solidFill>
                <a:latin typeface="나눔스퀘어" panose="020B0600000101010101" pitchFamily="50" charset="-127"/>
                <a:ea typeface="나눔스퀘어" panose="020B0600000101010101" pitchFamily="50" charset="-127"/>
                <a:cs typeface="Arial" panose="020B0604020202020204" pitchFamily="34" charset="0"/>
              </a:rPr>
              <a:t> </a:t>
            </a:r>
            <a:r>
              <a:rPr kumimoji="1" lang="en-US" altLang="ko-KR" sz="900" dirty="0" smtClean="0">
                <a:ln>
                  <a:solidFill>
                    <a:srgbClr val="4F81BD">
                      <a:alpha val="0"/>
                    </a:srgbClr>
                  </a:solidFill>
                </a:ln>
                <a:solidFill>
                  <a:srgbClr val="3333FF"/>
                </a:solidFill>
                <a:latin typeface="나눔스퀘어" panose="020B0600000101010101" pitchFamily="50" charset="-127"/>
                <a:ea typeface="나눔스퀘어" panose="020B0600000101010101" pitchFamily="50" charset="-127"/>
                <a:cs typeface="Arial" panose="020B0604020202020204" pitchFamily="34" charset="0"/>
              </a:rPr>
              <a:t>YoY</a:t>
            </a:r>
            <a:endParaRPr kumimoji="1" lang="en-US" altLang="ko-KR" sz="900" b="0" i="0" u="none" strike="noStrike" kern="1200" cap="none" spc="0" normalizeH="0" noProof="0" dirty="0">
              <a:ln>
                <a:solidFill>
                  <a:srgbClr val="002B5C">
                    <a:alpha val="0"/>
                  </a:srgbClr>
                </a:solidFill>
              </a:ln>
              <a:solidFill>
                <a:srgbClr val="3333FF"/>
              </a:solidFill>
              <a:effectLst/>
              <a:uLnTx/>
              <a:uFillTx/>
              <a:latin typeface="나눔스퀘어" panose="020B0600000101010101" pitchFamily="50" charset="-127"/>
              <a:ea typeface="나눔스퀘어" panose="020B0600000101010101" pitchFamily="50" charset="-127"/>
              <a:cs typeface="Arial" panose="020B0604020202020204" pitchFamily="34" charset="0"/>
            </a:endParaRPr>
          </a:p>
        </p:txBody>
      </p:sp>
      <p:sp>
        <p:nvSpPr>
          <p:cNvPr id="68" name="직사각형 67"/>
          <p:cNvSpPr/>
          <p:nvPr/>
        </p:nvSpPr>
        <p:spPr>
          <a:xfrm>
            <a:off x="7559231" y="5500031"/>
            <a:ext cx="4565714" cy="138499"/>
          </a:xfrm>
          <a:prstGeom prst="rect">
            <a:avLst/>
          </a:prstGeom>
        </p:spPr>
        <p:txBody>
          <a:bodyPr wrap="square" lIns="0" tIns="0" rIns="0" bIns="0" anchor="t" anchorCtr="0">
            <a:spAutoFit/>
          </a:bodyPr>
          <a:lstStyle/>
          <a:p>
            <a:pPr lvl="0">
              <a:defRPr/>
            </a:pPr>
            <a:r>
              <a:rPr kumimoji="1" lang="en-US" altLang="ko-KR" sz="900" dirty="0">
                <a:ln>
                  <a:solidFill>
                    <a:srgbClr val="4F81BD">
                      <a:alpha val="0"/>
                    </a:srgbClr>
                  </a:solidFill>
                </a:ln>
                <a:solidFill>
                  <a:srgbClr val="3333FF"/>
                </a:solidFill>
                <a:latin typeface="나눔스퀘어" panose="020B0600000101010101" pitchFamily="50" charset="-127"/>
                <a:ea typeface="나눔스퀘어" panose="020B0600000101010101" pitchFamily="50" charset="-127"/>
                <a:cs typeface="Arial Unicode MS" panose="020B0604020202020204" pitchFamily="50" charset="-127"/>
              </a:rPr>
              <a:t>* Dynamic Load Factor: C</a:t>
            </a:r>
            <a:r>
              <a:rPr kumimoji="1" lang="en-US" altLang="ko-KR" sz="900" dirty="0" smtClean="0">
                <a:ln>
                  <a:solidFill>
                    <a:srgbClr val="4F81BD">
                      <a:alpha val="0"/>
                    </a:srgbClr>
                  </a:solidFill>
                </a:ln>
                <a:solidFill>
                  <a:srgbClr val="3333FF"/>
                </a:solidFill>
                <a:latin typeface="나눔스퀘어" panose="020B0600000101010101" pitchFamily="50" charset="-127"/>
                <a:ea typeface="나눔스퀘어" panose="020B0600000101010101" pitchFamily="50" charset="-127"/>
                <a:cs typeface="Arial Unicode MS" panose="020B0604020202020204" pitchFamily="50" charset="-127"/>
              </a:rPr>
              <a:t>argo </a:t>
            </a:r>
            <a:r>
              <a:rPr kumimoji="1" lang="en-US" altLang="ko-KR" sz="900" dirty="0">
                <a:ln>
                  <a:solidFill>
                    <a:srgbClr val="4F81BD">
                      <a:alpha val="0"/>
                    </a:srgbClr>
                  </a:solidFill>
                </a:ln>
                <a:solidFill>
                  <a:srgbClr val="3333FF"/>
                </a:solidFill>
                <a:latin typeface="나눔스퀘어" panose="020B0600000101010101" pitchFamily="50" charset="-127"/>
                <a:ea typeface="나눔스퀘어" panose="020B0600000101010101" pitchFamily="50" charset="-127"/>
                <a:cs typeface="Arial Unicode MS" panose="020B0604020202020204" pitchFamily="50" charset="-127"/>
              </a:rPr>
              <a:t>weight carried as a share of actual available capacity</a:t>
            </a:r>
            <a:endParaRPr kumimoji="1" lang="en-US" altLang="ko-KR" sz="900" b="0" i="0" u="none" strike="noStrike" kern="1200" cap="none" spc="0" normalizeH="0" noProof="0" dirty="0">
              <a:ln>
                <a:solidFill>
                  <a:srgbClr val="002B5C">
                    <a:alpha val="0"/>
                  </a:srgbClr>
                </a:solidFill>
              </a:ln>
              <a:solidFill>
                <a:srgbClr val="3333FF"/>
              </a:solidFill>
              <a:effectLst/>
              <a:uLnTx/>
              <a:uFillTx/>
              <a:latin typeface="나눔스퀘어" panose="020B0600000101010101" pitchFamily="50" charset="-127"/>
              <a:ea typeface="나눔스퀘어" panose="020B0600000101010101" pitchFamily="50" charset="-127"/>
              <a:cs typeface="Arial" panose="020B0604020202020204" pitchFamily="34" charset="0"/>
            </a:endParaRPr>
          </a:p>
        </p:txBody>
      </p:sp>
      <p:grpSp>
        <p:nvGrpSpPr>
          <p:cNvPr id="57" name="그룹 56"/>
          <p:cNvGrpSpPr/>
          <p:nvPr/>
        </p:nvGrpSpPr>
        <p:grpSpPr>
          <a:xfrm>
            <a:off x="6288982" y="4412539"/>
            <a:ext cx="6305058" cy="230832"/>
            <a:chOff x="522352" y="2590117"/>
            <a:chExt cx="6305058" cy="230832"/>
          </a:xfrm>
        </p:grpSpPr>
        <p:sp>
          <p:nvSpPr>
            <p:cNvPr id="60" name="직사각형 59">
              <a:extLst>
                <a:ext uri="{FF2B5EF4-FFF2-40B4-BE49-F238E27FC236}">
                  <a16:creationId xmlns:a16="http://schemas.microsoft.com/office/drawing/2014/main" id="{5E1BAC51-93E3-4E55-A59B-3BB621CD3405}"/>
                </a:ext>
              </a:extLst>
            </p:cNvPr>
            <p:cNvSpPr/>
            <p:nvPr/>
          </p:nvSpPr>
          <p:spPr>
            <a:xfrm>
              <a:off x="781341" y="2590117"/>
              <a:ext cx="6046069" cy="230832"/>
            </a:xfrm>
            <a:prstGeom prst="rect">
              <a:avLst/>
            </a:prstGeom>
            <a:noFill/>
          </p:spPr>
          <p:txBody>
            <a:bodyPr wrap="none" lIns="0" tIns="0" rIns="0" bIns="0" anchor="t">
              <a:noAutofit/>
            </a:bodyPr>
            <a:lstStyle/>
            <a:p>
              <a:pPr marR="608330" lvl="0" latinLnBrk="0">
                <a:defRPr/>
              </a:pPr>
              <a:r>
                <a:rPr lang="en-US" altLang="ko-KR"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Core lanes, not global growth, drive demand</a:t>
              </a:r>
              <a:endParaRPr lang="ko-KR" altLang="en-US"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endParaRPr>
            </a:p>
          </p:txBody>
        </p:sp>
        <p:grpSp>
          <p:nvGrpSpPr>
            <p:cNvPr id="63" name="그룹 62"/>
            <p:cNvGrpSpPr/>
            <p:nvPr/>
          </p:nvGrpSpPr>
          <p:grpSpPr>
            <a:xfrm>
              <a:off x="522352" y="2609533"/>
              <a:ext cx="192000" cy="192000"/>
              <a:chOff x="412816" y="1633655"/>
              <a:chExt cx="184804" cy="185998"/>
            </a:xfrm>
          </p:grpSpPr>
          <p:sp>
            <p:nvSpPr>
              <p:cNvPr id="69" name="모서리가 둥근 직사각형 68"/>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70" name="그룹 186"/>
              <p:cNvGrpSpPr/>
              <p:nvPr/>
            </p:nvGrpSpPr>
            <p:grpSpPr>
              <a:xfrm>
                <a:off x="454440" y="1688440"/>
                <a:ext cx="106516" cy="76455"/>
                <a:chOff x="3366478" y="5412581"/>
                <a:chExt cx="126078" cy="89916"/>
              </a:xfrm>
              <a:solidFill>
                <a:schemeClr val="bg1"/>
              </a:solidFill>
            </p:grpSpPr>
            <p:sp>
              <p:nvSpPr>
                <p:cNvPr id="72" name="모서리가 둥근 직사각형 71"/>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73" name="모서리가 둥근 직사각형 72"/>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sp>
        <p:nvSpPr>
          <p:cNvPr id="62" name="슬라이드 번호 개체 틀 5">
            <a:extLst>
              <a:ext uri="{FF2B5EF4-FFF2-40B4-BE49-F238E27FC236}">
                <a16:creationId xmlns:a16="http://schemas.microsoft.com/office/drawing/2014/main" id="{FAC1EB1B-E602-0247-88AB-A89AF71255A6}"/>
              </a:ext>
            </a:extLst>
          </p:cNvPr>
          <p:cNvSpPr txBox="1">
            <a:spLocks/>
          </p:cNvSpPr>
          <p:nvPr/>
        </p:nvSpPr>
        <p:spPr>
          <a:xfrm>
            <a:off x="5419725" y="6426152"/>
            <a:ext cx="788332" cy="326455"/>
          </a:xfrm>
          <a:prstGeom prst="rect">
            <a:avLst/>
          </a:prstGeom>
        </p:spPr>
        <p:txBody>
          <a:bodyPr lIns="162531" tIns="81264" rIns="162531" bIns="81264" anchor="ctr"/>
          <a:lstStyle>
            <a:lvl1pPr algn="r">
              <a:defRPr sz="1200">
                <a:solidFill>
                  <a:schemeClr val="tx1">
                    <a:tint val="75000"/>
                  </a:schemeClr>
                </a:solidFill>
              </a:defRPr>
            </a:lvl1pPr>
          </a:lstStyle>
          <a:p>
            <a:pPr defTabSz="1219048">
              <a:defRPr/>
            </a:pPr>
            <a:r>
              <a:rPr lang="en-US" altLang="ko-KR" dirty="0" smtClean="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rPr>
              <a:t>14</a:t>
            </a:r>
            <a:endParaRPr lang="ko-KR" altLang="en-US"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endParaRPr>
          </a:p>
        </p:txBody>
      </p:sp>
      <p:graphicFrame>
        <p:nvGraphicFramePr>
          <p:cNvPr id="74" name="차트 73">
            <a:extLst>
              <a:ext uri="{FF2B5EF4-FFF2-40B4-BE49-F238E27FC236}">
                <a16:creationId xmlns:a16="http://schemas.microsoft.com/office/drawing/2014/main" id="{3EDBD15F-3E5F-F61D-0B34-A7909D591CC4}"/>
              </a:ext>
            </a:extLst>
          </p:cNvPr>
          <p:cNvGraphicFramePr/>
          <p:nvPr>
            <p:extLst>
              <p:ext uri="{D42A27DB-BD31-4B8C-83A1-F6EECF244321}">
                <p14:modId xmlns:p14="http://schemas.microsoft.com/office/powerpoint/2010/main" val="2111166439"/>
              </p:ext>
            </p:extLst>
          </p:nvPr>
        </p:nvGraphicFramePr>
        <p:xfrm>
          <a:off x="447675" y="4658640"/>
          <a:ext cx="5590665" cy="1856165"/>
        </p:xfrm>
        <a:graphic>
          <a:graphicData uri="http://schemas.openxmlformats.org/drawingml/2006/chart">
            <c:chart xmlns:c="http://schemas.openxmlformats.org/drawingml/2006/chart" xmlns:r="http://schemas.openxmlformats.org/officeDocument/2006/relationships" r:id="rId4"/>
          </a:graphicData>
        </a:graphic>
      </p:graphicFrame>
      <p:sp>
        <p:nvSpPr>
          <p:cNvPr id="75" name="직사각형 74"/>
          <p:cNvSpPr/>
          <p:nvPr/>
        </p:nvSpPr>
        <p:spPr>
          <a:xfrm>
            <a:off x="8294530" y="3982438"/>
            <a:ext cx="1259045" cy="138499"/>
          </a:xfrm>
          <a:prstGeom prst="rect">
            <a:avLst/>
          </a:prstGeom>
        </p:spPr>
        <p:txBody>
          <a:bodyPr wrap="square" lIns="0" tIns="0" rIns="0" bIns="0" anchor="t" anchorCtr="0">
            <a:spAutoFit/>
          </a:bodyPr>
          <a:lstStyle/>
          <a:p>
            <a:pPr marR="0" lvl="0" algn="l" defTabSz="914400" rtl="0" eaLnBrk="1" fontAlgn="auto" latinLnBrk="1" hangingPunct="1">
              <a:lnSpc>
                <a:spcPct val="100000"/>
              </a:lnSpc>
              <a:spcBef>
                <a:spcPts val="0"/>
              </a:spcBef>
              <a:spcAft>
                <a:spcPts val="0"/>
              </a:spcAft>
              <a:buClrTx/>
              <a:buSzTx/>
              <a:tabLst/>
              <a:defRPr/>
            </a:pPr>
            <a:r>
              <a:rPr kumimoji="1" lang="en-US" altLang="ko-KR" sz="900" dirty="0" smtClean="0">
                <a:ln>
                  <a:solidFill>
                    <a:srgbClr val="4F81BD">
                      <a:alpha val="0"/>
                    </a:srgbClr>
                  </a:solidFill>
                </a:ln>
                <a:solidFill>
                  <a:srgbClr val="3333FF"/>
                </a:solidFill>
                <a:latin typeface="나눔스퀘어" panose="020B0600000101010101" pitchFamily="50" charset="-127"/>
                <a:ea typeface="나눔스퀘어" panose="020B0600000101010101" pitchFamily="50" charset="-127"/>
                <a:cs typeface="Arial" panose="020B0604020202020204" pitchFamily="34" charset="0"/>
              </a:rPr>
              <a:t>* Apr.</a:t>
            </a:r>
            <a:endParaRPr kumimoji="1" lang="en-US" altLang="ko-KR" sz="900" b="0" i="0" u="none" strike="noStrike" kern="1200" cap="none" spc="0" normalizeH="0" noProof="0" dirty="0">
              <a:ln>
                <a:solidFill>
                  <a:srgbClr val="002B5C">
                    <a:alpha val="0"/>
                  </a:srgbClr>
                </a:solidFill>
              </a:ln>
              <a:solidFill>
                <a:srgbClr val="3333FF"/>
              </a:solidFill>
              <a:effectLst/>
              <a:uLnTx/>
              <a:uFillTx/>
              <a:latin typeface="나눔스퀘어" panose="020B0600000101010101" pitchFamily="50" charset="-127"/>
              <a:ea typeface="나눔스퀘어" panose="020B0600000101010101" pitchFamily="50" charset="-127"/>
              <a:cs typeface="Arial" panose="020B0604020202020204" pitchFamily="34" charset="0"/>
            </a:endParaRPr>
          </a:p>
        </p:txBody>
      </p:sp>
      <p:sp>
        <p:nvSpPr>
          <p:cNvPr id="98" name="직사각형 97"/>
          <p:cNvSpPr/>
          <p:nvPr/>
        </p:nvSpPr>
        <p:spPr>
          <a:xfrm>
            <a:off x="9108173" y="4260878"/>
            <a:ext cx="2464160" cy="138499"/>
          </a:xfrm>
          <a:prstGeom prst="rect">
            <a:avLst/>
          </a:prstGeom>
        </p:spPr>
        <p:txBody>
          <a:bodyPr wrap="square" lIns="0" tIns="0" rIns="0" bIns="0" anchor="t" anchorCtr="0">
            <a:spAutoFit/>
          </a:bodyPr>
          <a:lstStyle/>
          <a:p>
            <a:pPr marR="0" lvl="0" algn="l" defTabSz="914400" rtl="0" eaLnBrk="1" fontAlgn="auto" latinLnBrk="1" hangingPunct="1">
              <a:lnSpc>
                <a:spcPct val="100000"/>
              </a:lnSpc>
              <a:spcBef>
                <a:spcPts val="0"/>
              </a:spcBef>
              <a:spcAft>
                <a:spcPts val="0"/>
              </a:spcAft>
              <a:buClrTx/>
              <a:buSzTx/>
              <a:tabLst/>
              <a:defRPr/>
            </a:pPr>
            <a:r>
              <a:rPr kumimoji="1" lang="en-US" altLang="ko-KR" sz="900" dirty="0" smtClean="0">
                <a:ln>
                  <a:solidFill>
                    <a:srgbClr val="4F81BD">
                      <a:alpha val="0"/>
                    </a:srgbClr>
                  </a:solidFill>
                </a:ln>
                <a:solidFill>
                  <a:srgbClr val="3333FF"/>
                </a:solidFill>
                <a:latin typeface="나눔스퀘어" panose="020B0600000101010101" pitchFamily="50" charset="-127"/>
                <a:ea typeface="나눔스퀘어" panose="020B0600000101010101" pitchFamily="50" charset="-127"/>
                <a:cs typeface="Arial" panose="020B0604020202020204" pitchFamily="34" charset="0"/>
              </a:rPr>
              <a:t>* Jan.-Apr.</a:t>
            </a:r>
            <a:endParaRPr kumimoji="1" lang="en-US" altLang="ko-KR" sz="900" b="0" i="0" u="none" strike="noStrike" kern="1200" cap="none" spc="0" normalizeH="0" noProof="0" dirty="0">
              <a:ln>
                <a:solidFill>
                  <a:srgbClr val="002B5C">
                    <a:alpha val="0"/>
                  </a:srgbClr>
                </a:solidFill>
              </a:ln>
              <a:solidFill>
                <a:srgbClr val="3333FF"/>
              </a:solidFill>
              <a:effectLst/>
              <a:uLnTx/>
              <a:uFillTx/>
              <a:latin typeface="나눔스퀘어" panose="020B0600000101010101" pitchFamily="50" charset="-127"/>
              <a:ea typeface="나눔스퀘어" panose="020B0600000101010101" pitchFamily="50" charset="-127"/>
              <a:cs typeface="Arial" panose="020B0604020202020204" pitchFamily="34" charset="0"/>
            </a:endParaRPr>
          </a:p>
        </p:txBody>
      </p:sp>
      <p:grpSp>
        <p:nvGrpSpPr>
          <p:cNvPr id="61" name="그룹 60"/>
          <p:cNvGrpSpPr/>
          <p:nvPr/>
        </p:nvGrpSpPr>
        <p:grpSpPr>
          <a:xfrm>
            <a:off x="10020301" y="6290"/>
            <a:ext cx="1778422" cy="552569"/>
            <a:chOff x="10020301" y="6290"/>
            <a:chExt cx="1778422" cy="552569"/>
          </a:xfrm>
        </p:grpSpPr>
        <p:cxnSp>
          <p:nvCxnSpPr>
            <p:cNvPr id="76" name="직선 연결선 75"/>
            <p:cNvCxnSpPr/>
            <p:nvPr/>
          </p:nvCxnSpPr>
          <p:spPr>
            <a:xfrm>
              <a:off x="11671487" y="6290"/>
              <a:ext cx="0" cy="313957"/>
            </a:xfrm>
            <a:prstGeom prst="line">
              <a:avLst/>
            </a:prstGeom>
            <a:ln w="635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10020301" y="381709"/>
              <a:ext cx="1552032" cy="153888"/>
            </a:xfrm>
            <a:prstGeom prst="rect">
              <a:avLst/>
            </a:prstGeom>
            <a:noFill/>
            <a:ln w="9525">
              <a:noFill/>
              <a:miter lim="800000"/>
              <a:headEnd/>
              <a:tailEnd/>
            </a:ln>
          </p:spPr>
          <p:txBody>
            <a:bodyPr wrap="square" lIns="0" tIns="0" rIns="0" bIns="0" anchor="ctr">
              <a:spAutoFit/>
            </a:bodyPr>
            <a:lstStyle>
              <a:defPPr>
                <a:defRPr lang="ko-KR"/>
              </a:defPPr>
              <a:lvl1pPr defTabSz="914125" fontAlgn="base" latinLnBrk="0">
                <a:spcBef>
                  <a:spcPct val="0"/>
                </a:spcBef>
                <a:spcAft>
                  <a:spcPts val="200"/>
                </a:spcAft>
                <a:defRPr sz="1100" spc="-20">
                  <a:ln>
                    <a:solidFill>
                      <a:prstClr val="white">
                        <a:alpha val="0"/>
                      </a:prstClr>
                    </a:solidFill>
                  </a:ln>
                  <a:solidFill>
                    <a:schemeClr val="tx1">
                      <a:lumMod val="75000"/>
                      <a:lumOff val="25000"/>
                    </a:schemeClr>
                  </a:solidFill>
                  <a:latin typeface="KoPub돋움체 Bold" panose="02020603020101020101" pitchFamily="18" charset="-127"/>
                  <a:ea typeface="KoPub돋움체 Bold" panose="02020603020101020101" pitchFamily="18" charset="-127"/>
                  <a:cs typeface="Arial" charset="0"/>
                </a:defRPr>
              </a:lvl1pPr>
            </a:lstStyle>
            <a:p>
              <a:pPr lvl="0" algn="r">
                <a:defRPr/>
              </a:pPr>
              <a:r>
                <a:rPr lang="en-US" altLang="ko-KR"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rPr>
                <a:t>2026 2H Market Outlook</a:t>
              </a:r>
              <a:endParaRPr lang="ko-KR" altLang="en-US"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endParaRPr>
            </a:p>
          </p:txBody>
        </p:sp>
        <p:sp>
          <p:nvSpPr>
            <p:cNvPr id="78" name="타원 77"/>
            <p:cNvSpPr/>
            <p:nvPr/>
          </p:nvSpPr>
          <p:spPr>
            <a:xfrm>
              <a:off x="11340239"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20" normalizeH="0" baseline="0" noProof="0" dirty="0">
                <a:ln>
                  <a:solidFill>
                    <a:srgbClr val="C00000">
                      <a:alpha val="0"/>
                    </a:srgbClr>
                  </a:solidFill>
                </a:ln>
                <a:solidFill>
                  <a:prstClr val="white"/>
                </a:solidFill>
                <a:effectLst/>
                <a:uLnTx/>
                <a:uFillTx/>
                <a:latin typeface="나눔스퀘어" panose="020B0600000101010101" pitchFamily="50" charset="-127"/>
                <a:ea typeface="나눔스퀘어" panose="020B0600000101010101" pitchFamily="50" charset="-127"/>
                <a:cs typeface="+mn-cs"/>
              </a:endParaRPr>
            </a:p>
          </p:txBody>
        </p:sp>
        <p:sp>
          <p:nvSpPr>
            <p:cNvPr id="79" name="타원 78"/>
            <p:cNvSpPr/>
            <p:nvPr/>
          </p:nvSpPr>
          <p:spPr>
            <a:xfrm>
              <a:off x="11422266"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80" name="타원 79"/>
            <p:cNvSpPr/>
            <p:nvPr/>
          </p:nvSpPr>
          <p:spPr>
            <a:xfrm>
              <a:off x="11504294" y="290256"/>
              <a:ext cx="51827" cy="51827"/>
            </a:xfrm>
            <a:prstGeom prst="ellipse">
              <a:avLst/>
            </a:prstGeom>
            <a:solidFill>
              <a:srgbClr val="0146A0"/>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81" name="TextBox 80"/>
            <p:cNvSpPr txBox="1"/>
            <p:nvPr/>
          </p:nvSpPr>
          <p:spPr>
            <a:xfrm>
              <a:off x="11646437" y="343415"/>
              <a:ext cx="152286" cy="215444"/>
            </a:xfrm>
            <a:prstGeom prst="rect">
              <a:avLst/>
            </a:prstGeom>
            <a:noFill/>
          </p:spPr>
          <p:txBody>
            <a:bodyPr wrap="none" lIns="0" tIns="0" rIns="0" bIns="0" rtlCol="0" anchor="ctr" anchorCtr="0">
              <a:spAutoFit/>
            </a:bodyPr>
            <a:lstStyle>
              <a:defPPr>
                <a:defRPr lang="ko-KR"/>
              </a:defPPr>
              <a:lvl1pPr>
                <a:spcAft>
                  <a:spcPts val="300"/>
                </a:spcAft>
                <a:defRPr sz="2800" spc="-100">
                  <a:ln>
                    <a:solidFill>
                      <a:schemeClr val="bg1">
                        <a:alpha val="0"/>
                      </a:schemeClr>
                    </a:solidFill>
                  </a:ln>
                  <a:solidFill>
                    <a:srgbClr val="005B8D"/>
                  </a:solidFill>
                  <a:latin typeface="Times New Roman" panose="02020603050405020304" pitchFamily="18" charset="0"/>
                  <a:ea typeface="KoPub돋움체 Bold" panose="02020603020101020101" pitchFamily="18" charset="-127"/>
                  <a:cs typeface="Times New Roman" panose="02020603050405020304" pitchFamily="18" charset="0"/>
                </a:defRPr>
              </a:lvl1pPr>
            </a:lstStyle>
            <a:p>
              <a:pPr latinLnBrk="0">
                <a:defRPr/>
              </a:pPr>
              <a:r>
                <a:rPr lang="en-US" altLang="ko-KR" sz="1400" spc="-150" dirty="0" smtClean="0">
                  <a:ln>
                    <a:solidFill>
                      <a:prstClr val="white">
                        <a:alpha val="0"/>
                      </a:prstClr>
                    </a:solidFill>
                  </a:ln>
                  <a:solidFill>
                    <a:srgbClr val="0146A0"/>
                  </a:solidFill>
                  <a:ea typeface="KoPub돋움체 Medium" panose="02020603020101020101" pitchFamily="18" charset="-127"/>
                </a:rPr>
                <a:t>Ⅲ</a:t>
              </a:r>
              <a:endParaRPr lang="en-US" altLang="ko-KR" sz="1400" spc="-150" dirty="0">
                <a:ln>
                  <a:solidFill>
                    <a:prstClr val="white">
                      <a:alpha val="0"/>
                    </a:prstClr>
                  </a:solidFill>
                </a:ln>
                <a:solidFill>
                  <a:srgbClr val="0146A0"/>
                </a:solidFill>
                <a:ea typeface="KoPub돋움체 Medium" panose="02020603020101020101" pitchFamily="18" charset="-127"/>
              </a:endParaRPr>
            </a:p>
          </p:txBody>
        </p:sp>
      </p:grpSp>
      <p:sp>
        <p:nvSpPr>
          <p:cNvPr id="59" name="TextBox 58">
            <a:extLst>
              <a:ext uri="{FF2B5EF4-FFF2-40B4-BE49-F238E27FC236}">
                <a16:creationId xmlns:a16="http://schemas.microsoft.com/office/drawing/2014/main" id="{F419EC2A-DA12-DE70-177E-D060836EC73B}"/>
              </a:ext>
            </a:extLst>
          </p:cNvPr>
          <p:cNvSpPr txBox="1"/>
          <p:nvPr/>
        </p:nvSpPr>
        <p:spPr>
          <a:xfrm>
            <a:off x="525890" y="6506819"/>
            <a:ext cx="926536" cy="153888"/>
          </a:xfrm>
          <a:prstGeom prst="rect">
            <a:avLst/>
          </a:prstGeom>
          <a:noFill/>
        </p:spPr>
        <p:txBody>
          <a:bodyPr wrap="none" lIns="0" tIns="0" rIns="0" bIns="0" rtlCol="0" anchor="ctr">
            <a:spAutoFit/>
          </a:bodyPr>
          <a:lstStyle/>
          <a:p>
            <a:pPr latinLnBrk="0"/>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Source</a:t>
            </a:r>
            <a:r>
              <a:rPr lang="ko-KR" altLang="en-US"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err="1">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Xeneta</a:t>
            </a:r>
            <a:endParaRPr lang="ko-KR" altLang="en-US"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endParaRPr>
          </a:p>
        </p:txBody>
      </p:sp>
      <p:grpSp>
        <p:nvGrpSpPr>
          <p:cNvPr id="64" name="그룹 63">
            <a:extLst>
              <a:ext uri="{FF2B5EF4-FFF2-40B4-BE49-F238E27FC236}">
                <a16:creationId xmlns:a16="http://schemas.microsoft.com/office/drawing/2014/main" id="{F1901E48-B53D-6506-5405-7DEBF109E30B}"/>
              </a:ext>
            </a:extLst>
          </p:cNvPr>
          <p:cNvGrpSpPr/>
          <p:nvPr/>
        </p:nvGrpSpPr>
        <p:grpSpPr>
          <a:xfrm>
            <a:off x="521699" y="2599033"/>
            <a:ext cx="5410242" cy="230832"/>
            <a:chOff x="522352" y="2590117"/>
            <a:chExt cx="5410242" cy="230832"/>
          </a:xfrm>
        </p:grpSpPr>
        <p:sp>
          <p:nvSpPr>
            <p:cNvPr id="65" name="직사각형 64">
              <a:extLst>
                <a:ext uri="{FF2B5EF4-FFF2-40B4-BE49-F238E27FC236}">
                  <a16:creationId xmlns:a16="http://schemas.microsoft.com/office/drawing/2014/main" id="{23A877DC-AE7A-42B7-FA1C-82DDBA18195D}"/>
                </a:ext>
              </a:extLst>
            </p:cNvPr>
            <p:cNvSpPr/>
            <p:nvPr/>
          </p:nvSpPr>
          <p:spPr>
            <a:xfrm>
              <a:off x="781342" y="2590117"/>
              <a:ext cx="5151252" cy="230832"/>
            </a:xfrm>
            <a:prstGeom prst="rect">
              <a:avLst/>
            </a:prstGeom>
            <a:noFill/>
          </p:spPr>
          <p:txBody>
            <a:bodyPr wrap="none" lIns="0" tIns="0" rIns="0" bIns="0" anchor="t">
              <a:noAutofit/>
            </a:bodyPr>
            <a:lstStyle/>
            <a:p>
              <a:pPr marR="608330" lvl="0" latinLnBrk="0">
                <a:defRPr/>
              </a:pPr>
              <a:r>
                <a:rPr lang="en-US" altLang="ko-KR"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Demand to grow moderately in line with supply</a:t>
              </a:r>
              <a:endParaRPr lang="ko-KR" altLang="en-US"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endParaRPr>
            </a:p>
          </p:txBody>
        </p:sp>
        <p:grpSp>
          <p:nvGrpSpPr>
            <p:cNvPr id="67" name="그룹 66">
              <a:extLst>
                <a:ext uri="{FF2B5EF4-FFF2-40B4-BE49-F238E27FC236}">
                  <a16:creationId xmlns:a16="http://schemas.microsoft.com/office/drawing/2014/main" id="{E7DF7FF3-3A0C-54A6-2CFC-EFC803C02E75}"/>
                </a:ext>
              </a:extLst>
            </p:cNvPr>
            <p:cNvGrpSpPr/>
            <p:nvPr/>
          </p:nvGrpSpPr>
          <p:grpSpPr>
            <a:xfrm>
              <a:off x="522352" y="2609533"/>
              <a:ext cx="192000" cy="192000"/>
              <a:chOff x="412816" y="1633655"/>
              <a:chExt cx="184804" cy="185998"/>
            </a:xfrm>
          </p:grpSpPr>
          <p:sp>
            <p:nvSpPr>
              <p:cNvPr id="99" name="모서리가 둥근 직사각형 98">
                <a:extLst>
                  <a:ext uri="{FF2B5EF4-FFF2-40B4-BE49-F238E27FC236}">
                    <a16:creationId xmlns:a16="http://schemas.microsoft.com/office/drawing/2014/main" id="{ACFD4B78-44F3-C9EC-0E4C-CDFEBFA96E65}"/>
                  </a:ext>
                </a:extLst>
              </p:cNvPr>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100" name="그룹 186">
                <a:extLst>
                  <a:ext uri="{FF2B5EF4-FFF2-40B4-BE49-F238E27FC236}">
                    <a16:creationId xmlns:a16="http://schemas.microsoft.com/office/drawing/2014/main" id="{8FAD1D07-96B7-2F90-2D67-D8FE24112EC3}"/>
                  </a:ext>
                </a:extLst>
              </p:cNvPr>
              <p:cNvGrpSpPr/>
              <p:nvPr/>
            </p:nvGrpSpPr>
            <p:grpSpPr>
              <a:xfrm>
                <a:off x="454440" y="1688440"/>
                <a:ext cx="106516" cy="76455"/>
                <a:chOff x="3366478" y="5412581"/>
                <a:chExt cx="126078" cy="89916"/>
              </a:xfrm>
              <a:solidFill>
                <a:schemeClr val="bg1"/>
              </a:solidFill>
            </p:grpSpPr>
            <p:sp>
              <p:nvSpPr>
                <p:cNvPr id="101" name="모서리가 둥근 직사각형 100">
                  <a:extLst>
                    <a:ext uri="{FF2B5EF4-FFF2-40B4-BE49-F238E27FC236}">
                      <a16:creationId xmlns:a16="http://schemas.microsoft.com/office/drawing/2014/main" id="{CCFA7DFB-B7B8-EE41-E1CC-E9D7BE39369E}"/>
                    </a:ext>
                  </a:extLst>
                </p:cNvPr>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102" name="모서리가 둥근 직사각형 101">
                  <a:extLst>
                    <a:ext uri="{FF2B5EF4-FFF2-40B4-BE49-F238E27FC236}">
                      <a16:creationId xmlns:a16="http://schemas.microsoft.com/office/drawing/2014/main" id="{F3DDF330-44BF-7DB5-CBAB-F5DE83FFCD3A}"/>
                    </a:ext>
                  </a:extLst>
                </p:cNvPr>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grpSp>
        <p:nvGrpSpPr>
          <p:cNvPr id="103" name="그룹 102">
            <a:extLst>
              <a:ext uri="{FF2B5EF4-FFF2-40B4-BE49-F238E27FC236}">
                <a16:creationId xmlns:a16="http://schemas.microsoft.com/office/drawing/2014/main" id="{EF295706-448F-E9F8-6950-97D9B68EEEB9}"/>
              </a:ext>
            </a:extLst>
          </p:cNvPr>
          <p:cNvGrpSpPr/>
          <p:nvPr/>
        </p:nvGrpSpPr>
        <p:grpSpPr>
          <a:xfrm>
            <a:off x="6290801" y="2599033"/>
            <a:ext cx="5410242" cy="230832"/>
            <a:chOff x="522352" y="2590117"/>
            <a:chExt cx="5410242" cy="230832"/>
          </a:xfrm>
        </p:grpSpPr>
        <p:sp>
          <p:nvSpPr>
            <p:cNvPr id="104" name="직사각형 103">
              <a:extLst>
                <a:ext uri="{FF2B5EF4-FFF2-40B4-BE49-F238E27FC236}">
                  <a16:creationId xmlns:a16="http://schemas.microsoft.com/office/drawing/2014/main" id="{4046860D-C324-CEDE-CB74-5CA6C157F262}"/>
                </a:ext>
              </a:extLst>
            </p:cNvPr>
            <p:cNvSpPr/>
            <p:nvPr/>
          </p:nvSpPr>
          <p:spPr>
            <a:xfrm>
              <a:off x="781342" y="2590117"/>
              <a:ext cx="5151252" cy="230832"/>
            </a:xfrm>
            <a:prstGeom prst="rect">
              <a:avLst/>
            </a:prstGeom>
            <a:noFill/>
          </p:spPr>
          <p:txBody>
            <a:bodyPr wrap="none" lIns="0" tIns="0" rIns="0" bIns="0" anchor="t">
              <a:noAutofit/>
            </a:bodyPr>
            <a:lstStyle/>
            <a:p>
              <a:pPr marR="608330" lvl="0" latinLnBrk="0">
                <a:defRPr/>
              </a:pPr>
              <a:r>
                <a:rPr lang="en-US" altLang="ko-KR" sz="1500" b="1" kern="100" spc="-100" dirty="0">
                  <a:latin typeface="나눔스퀘어 ExtraBold" panose="020B0600000101010101" pitchFamily="50" charset="-127"/>
                  <a:ea typeface="나눔스퀘어 ExtraBold" panose="020B0600000101010101" pitchFamily="50" charset="-127"/>
                  <a:cs typeface="바탕" panose="02030600000101010101" pitchFamily="18" charset="-127"/>
                </a:rPr>
                <a:t>'26 demand: growth engine shifts from e-commerce to </a:t>
              </a:r>
              <a:r>
                <a:rPr lang="en-US" altLang="ko-KR" sz="1500" b="1" kern="100" spc="-100" dirty="0" err="1">
                  <a:latin typeface="나눔스퀘어 ExtraBold" panose="020B0600000101010101" pitchFamily="50" charset="-127"/>
                  <a:ea typeface="나눔스퀘어 ExtraBold" panose="020B0600000101010101" pitchFamily="50" charset="-127"/>
                  <a:cs typeface="바탕" panose="02030600000101010101" pitchFamily="18" charset="-127"/>
                </a:rPr>
                <a:t>AI·chips</a:t>
              </a:r>
              <a:endParaRPr lang="en-US" altLang="ko-KR" sz="1500" b="1" kern="100" spc="-100" dirty="0">
                <a:latin typeface="나눔스퀘어 ExtraBold" panose="020B0600000101010101" pitchFamily="50" charset="-127"/>
                <a:ea typeface="나눔스퀘어 ExtraBold" panose="020B0600000101010101" pitchFamily="50" charset="-127"/>
                <a:cs typeface="바탕" panose="02030600000101010101" pitchFamily="18" charset="-127"/>
              </a:endParaRPr>
            </a:p>
          </p:txBody>
        </p:sp>
        <p:grpSp>
          <p:nvGrpSpPr>
            <p:cNvPr id="105" name="그룹 104">
              <a:extLst>
                <a:ext uri="{FF2B5EF4-FFF2-40B4-BE49-F238E27FC236}">
                  <a16:creationId xmlns:a16="http://schemas.microsoft.com/office/drawing/2014/main" id="{60F9DA37-A4B6-8083-096A-75F9B9A801BD}"/>
                </a:ext>
              </a:extLst>
            </p:cNvPr>
            <p:cNvGrpSpPr/>
            <p:nvPr/>
          </p:nvGrpSpPr>
          <p:grpSpPr>
            <a:xfrm>
              <a:off x="522352" y="2609533"/>
              <a:ext cx="192000" cy="192000"/>
              <a:chOff x="412816" y="1633655"/>
              <a:chExt cx="184804" cy="185998"/>
            </a:xfrm>
          </p:grpSpPr>
          <p:sp>
            <p:nvSpPr>
              <p:cNvPr id="106" name="모서리가 둥근 직사각형 105">
                <a:extLst>
                  <a:ext uri="{FF2B5EF4-FFF2-40B4-BE49-F238E27FC236}">
                    <a16:creationId xmlns:a16="http://schemas.microsoft.com/office/drawing/2014/main" id="{24C50D10-136A-C13B-7860-B3159558891F}"/>
                  </a:ext>
                </a:extLst>
              </p:cNvPr>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107" name="그룹 186">
                <a:extLst>
                  <a:ext uri="{FF2B5EF4-FFF2-40B4-BE49-F238E27FC236}">
                    <a16:creationId xmlns:a16="http://schemas.microsoft.com/office/drawing/2014/main" id="{7F155D93-9560-DFB2-BBD9-BAED35A39F72}"/>
                  </a:ext>
                </a:extLst>
              </p:cNvPr>
              <p:cNvGrpSpPr/>
              <p:nvPr/>
            </p:nvGrpSpPr>
            <p:grpSpPr>
              <a:xfrm>
                <a:off x="454440" y="1688440"/>
                <a:ext cx="106516" cy="76455"/>
                <a:chOff x="3366478" y="5412581"/>
                <a:chExt cx="126078" cy="89916"/>
              </a:xfrm>
              <a:solidFill>
                <a:schemeClr val="bg1"/>
              </a:solidFill>
            </p:grpSpPr>
            <p:sp>
              <p:nvSpPr>
                <p:cNvPr id="108" name="모서리가 둥근 직사각형 107">
                  <a:extLst>
                    <a:ext uri="{FF2B5EF4-FFF2-40B4-BE49-F238E27FC236}">
                      <a16:creationId xmlns:a16="http://schemas.microsoft.com/office/drawing/2014/main" id="{CAE7FADE-62C4-5B41-9772-EEDDAB1BD5C2}"/>
                    </a:ext>
                  </a:extLst>
                </p:cNvPr>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109" name="모서리가 둥근 직사각형 108">
                  <a:extLst>
                    <a:ext uri="{FF2B5EF4-FFF2-40B4-BE49-F238E27FC236}">
                      <a16:creationId xmlns:a16="http://schemas.microsoft.com/office/drawing/2014/main" id="{8D39F778-6FBA-9465-6FDC-3682D55B9DFB}"/>
                    </a:ext>
                  </a:extLst>
                </p:cNvPr>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sp>
        <p:nvSpPr>
          <p:cNvPr id="110" name="직사각형 25">
            <a:extLst>
              <a:ext uri="{FF2B5EF4-FFF2-40B4-BE49-F238E27FC236}">
                <a16:creationId xmlns:a16="http://schemas.microsoft.com/office/drawing/2014/main" id="{3F2A1EA1-CAA6-5D90-657A-21DA48D04A7D}"/>
              </a:ext>
            </a:extLst>
          </p:cNvPr>
          <p:cNvSpPr/>
          <p:nvPr/>
        </p:nvSpPr>
        <p:spPr>
          <a:xfrm>
            <a:off x="650244" y="2900214"/>
            <a:ext cx="5542217" cy="1769715"/>
          </a:xfrm>
          <a:prstGeom prst="rect">
            <a:avLst/>
          </a:prstGeom>
        </p:spPr>
        <p:txBody>
          <a:bodyPr wrap="square">
            <a:spAutoFit/>
          </a:bodyPr>
          <a:lstStyle/>
          <a:p>
            <a:pPr marL="116414" lvl="0" indent="-116414" algn="just" latinLnBrk="0">
              <a:spcAft>
                <a:spcPts val="600"/>
              </a:spcAft>
              <a:buFont typeface="Arial" panose="020B0604020202020204" pitchFamily="34" charset="0"/>
              <a:buChar char="•"/>
              <a:defRPr/>
            </a:pPr>
            <a:r>
              <a:rPr lang="en-US" altLang="ko-KR" sz="1400" dirty="0" err="1">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Xeneta</a:t>
            </a:r>
            <a:r>
              <a:rPr lang="en-US" altLang="ko-KR" sz="1400" dirty="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 '26 demand freight growth rate projected at 2~3%</a:t>
            </a:r>
          </a:p>
          <a:p>
            <a:pPr algn="just" latinLnBrk="0">
              <a:spcAft>
                <a:spcPts val="600"/>
              </a:spcAft>
              <a:defRPr/>
            </a:pPr>
            <a:r>
              <a:rPr lang="en-US" altLang="ko-KR" sz="1400" spc="-100" dirty="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   -  </a:t>
            </a:r>
            <a:r>
              <a:rPr lang="en-US" altLang="ko-KR" sz="1400" dirty="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Demand is normalizing after the '24 e-commerce surge</a:t>
            </a:r>
          </a:p>
          <a:p>
            <a:pPr algn="just" latinLnBrk="0">
              <a:spcAft>
                <a:spcPts val="600"/>
              </a:spcAft>
              <a:defRPr/>
            </a:pPr>
            <a:r>
              <a:rPr lang="en-US" altLang="ko-KR" sz="1400" spc="-50" dirty="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      '25: 4%, '26: 2-3%, slowing by </a:t>
            </a:r>
            <a:r>
              <a:rPr lang="en-US" altLang="ko-KR" sz="1400" spc="-50" dirty="0" smtClean="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1-2%p YoY </a:t>
            </a:r>
            <a:r>
              <a:rPr lang="en-US" altLang="ko-KR" sz="1400" spc="-50" dirty="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into low growth</a:t>
            </a:r>
          </a:p>
          <a:p>
            <a:pPr algn="just" latinLnBrk="0">
              <a:spcAft>
                <a:spcPts val="600"/>
              </a:spcAft>
              <a:defRPr/>
            </a:pPr>
            <a:r>
              <a:rPr lang="en-US" altLang="ko-KR" sz="1400" spc="-100" dirty="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   - </a:t>
            </a:r>
            <a:r>
              <a:rPr lang="en-US" altLang="ko-KR" sz="1400" dirty="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Despite slower e-commerce growth, high-value cargo such </a:t>
            </a:r>
          </a:p>
          <a:p>
            <a:pPr algn="just" latinLnBrk="0">
              <a:spcAft>
                <a:spcPts val="600"/>
              </a:spcAft>
              <a:defRPr/>
            </a:pPr>
            <a:r>
              <a:rPr lang="en-US" altLang="ko-KR" sz="1400" dirty="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    as AI infrastructure and chips will support demand</a:t>
            </a:r>
          </a:p>
          <a:p>
            <a:pPr algn="just" latinLnBrk="0">
              <a:spcAft>
                <a:spcPts val="600"/>
              </a:spcAft>
              <a:defRPr/>
            </a:pPr>
            <a:r>
              <a:rPr lang="en-US" altLang="ko-KR" sz="1400" spc="-100" dirty="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   - </a:t>
            </a:r>
            <a:r>
              <a:rPr lang="en-US" altLang="ko-KR" sz="1400" spc="-70" dirty="0">
                <a:ln>
                  <a:solidFill>
                    <a:prstClr val="white">
                      <a:alpha val="0"/>
                    </a:prstClr>
                  </a:solidFill>
                </a:ln>
                <a:solidFill>
                  <a:prstClr val="black"/>
                </a:solidFill>
                <a:latin typeface="나눔스퀘어" panose="020B0600000101010101" pitchFamily="50" charset="-127"/>
                <a:ea typeface="나눔스퀘어" panose="020B0600000101010101" pitchFamily="50" charset="-127"/>
                <a:cs typeface="Segoe UI" panose="020B0502040204020203" pitchFamily="34" charset="0"/>
              </a:rPr>
              <a:t>Key ’26 air market variables: oil price risk and AI investment outlook</a:t>
            </a:r>
          </a:p>
        </p:txBody>
      </p:sp>
    </p:spTree>
    <p:extLst>
      <p:ext uri="{BB962C8B-B14F-4D97-AF65-F5344CB8AC3E}">
        <p14:creationId xmlns:p14="http://schemas.microsoft.com/office/powerpoint/2010/main" val="25454784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직사각형 25">
            <a:extLst>
              <a:ext uri="{FF2B5EF4-FFF2-40B4-BE49-F238E27FC236}">
                <a16:creationId xmlns:a16="http://schemas.microsoft.com/office/drawing/2014/main" id="{3F2A1EA1-CAA6-5D90-657A-21DA48D04A7D}"/>
              </a:ext>
            </a:extLst>
          </p:cNvPr>
          <p:cNvSpPr/>
          <p:nvPr/>
        </p:nvSpPr>
        <p:spPr>
          <a:xfrm>
            <a:off x="650244" y="2900214"/>
            <a:ext cx="5795665" cy="1769715"/>
          </a:xfrm>
          <a:prstGeom prst="rect">
            <a:avLst/>
          </a:prstGeom>
        </p:spPr>
        <p:txBody>
          <a:bodyPr wrap="square">
            <a:spAutoFit/>
          </a:bodyPr>
          <a:lstStyle/>
          <a:p>
            <a:pPr marL="144000" indent="-144000" defTabSz="1038977" latinLnBrk="0">
              <a:spcAft>
                <a:spcPts val="600"/>
              </a:spcAft>
              <a:buFont typeface="Arial" panose="020B0604020202020204" pitchFamily="34" charset="0"/>
              <a:buChar char="•"/>
            </a:pPr>
            <a:r>
              <a:rPr lang="en-US" altLang="ko-KR" sz="1400" dirty="0">
                <a:latin typeface="나눔스퀘어" panose="020B0600000101010101" pitchFamily="50" charset="-127"/>
                <a:ea typeface="나눔스퀘어" panose="020B0600000101010101" pitchFamily="50" charset="-127"/>
              </a:rPr>
              <a:t>Jan-May ‘26 new orders </a:t>
            </a:r>
            <a:r>
              <a:rPr lang="en-US" altLang="ko-KR" sz="1400" dirty="0" smtClean="0">
                <a:latin typeface="나눔스퀘어" panose="020B0600000101010101" pitchFamily="50" charset="-127"/>
                <a:ea typeface="나눔스퀘어" panose="020B0600000101010101" pitchFamily="50" charset="-127"/>
              </a:rPr>
              <a:t>total </a:t>
            </a:r>
            <a:r>
              <a:rPr lang="en-US" altLang="ko-KR" sz="1400" dirty="0">
                <a:latin typeface="나눔스퀘어" panose="020B0600000101010101" pitchFamily="50" charset="-127"/>
                <a:ea typeface="나눔스퀘어" panose="020B0600000101010101" pitchFamily="50" charset="-127"/>
              </a:rPr>
              <a:t>1,139 (Airbus 815, Boeing 324)</a:t>
            </a:r>
          </a:p>
          <a:p>
            <a:pPr defTabSz="1038977" latinLnBrk="0">
              <a:spcAft>
                <a:spcPts val="600"/>
              </a:spcAft>
            </a:pPr>
            <a:r>
              <a:rPr lang="en-US" altLang="ko-KR" sz="1400" spc="-50" dirty="0">
                <a:latin typeface="나눔스퀘어" panose="020B0600000101010101" pitchFamily="50" charset="-127"/>
                <a:ea typeface="나눔스퀘어" panose="020B0600000101010101" pitchFamily="50" charset="-127"/>
              </a:rPr>
              <a:t>  - Airbus: Chinese airlines </a:t>
            </a:r>
            <a:r>
              <a:rPr lang="en-US" altLang="ko-KR" sz="1400" spc="-50" dirty="0" smtClean="0">
                <a:latin typeface="나눔스퀘어" panose="020B0600000101010101" pitchFamily="50" charset="-127"/>
                <a:ea typeface="나눔스퀘어" panose="020B0600000101010101" pitchFamily="50" charset="-127"/>
              </a:rPr>
              <a:t>contracts </a:t>
            </a:r>
            <a:r>
              <a:rPr lang="en-US" altLang="ko-KR" sz="1400" spc="-50" dirty="0">
                <a:latin typeface="나눔스퀘어" panose="020B0600000101010101" pitchFamily="50" charset="-127"/>
                <a:ea typeface="나눔스퀘어" panose="020B0600000101010101" pitchFamily="50" charset="-127"/>
              </a:rPr>
              <a:t>account for 17% of the total order</a:t>
            </a:r>
          </a:p>
          <a:p>
            <a:pPr defTabSz="1038977" latinLnBrk="0">
              <a:spcAft>
                <a:spcPts val="600"/>
              </a:spcAft>
            </a:pPr>
            <a:r>
              <a:rPr lang="en-US" altLang="ko-KR" sz="1400" spc="-70" dirty="0">
                <a:latin typeface="나눔스퀘어" panose="020B0600000101010101" pitchFamily="50" charset="-127"/>
                <a:ea typeface="나눔스퀘어" panose="020B0600000101010101" pitchFamily="50" charset="-127"/>
              </a:rPr>
              <a:t>  - Boeing: Potential strike risk before technical union contract expiration</a:t>
            </a:r>
          </a:p>
          <a:p>
            <a:pPr marL="144000" indent="-144000" defTabSz="1038977" latinLnBrk="0">
              <a:spcAft>
                <a:spcPts val="600"/>
              </a:spcAft>
              <a:buFont typeface="Arial" panose="020B0604020202020204" pitchFamily="34" charset="0"/>
              <a:buChar char="•"/>
            </a:pPr>
            <a:r>
              <a:rPr lang="en-US" altLang="ko-KR" sz="1400" spc="-50" dirty="0">
                <a:latin typeface="나눔스퀘어" panose="020B0600000101010101" pitchFamily="50" charset="-127"/>
                <a:ea typeface="나눔스퀘어" panose="020B0600000101010101" pitchFamily="50" charset="-127"/>
              </a:rPr>
              <a:t>Jan-May ‘26 new deliveries total 512, with delivery speed up by 11%</a:t>
            </a:r>
          </a:p>
          <a:p>
            <a:pPr defTabSz="1038977" latinLnBrk="0">
              <a:spcAft>
                <a:spcPts val="600"/>
              </a:spcAft>
            </a:pPr>
            <a:r>
              <a:rPr lang="en-US" altLang="ko-KR" sz="1400" spc="-30" dirty="0">
                <a:latin typeface="나눔스퀘어" panose="020B0600000101010101" pitchFamily="50" charset="-127"/>
                <a:ea typeface="나눔스퀘어" panose="020B0600000101010101" pitchFamily="50" charset="-127"/>
              </a:rPr>
              <a:t>  - </a:t>
            </a:r>
            <a:r>
              <a:rPr lang="en-US" altLang="ko-KR" sz="1400" spc="-130" dirty="0">
                <a:latin typeface="나눔스퀘어" panose="020B0600000101010101" pitchFamily="50" charset="-127"/>
                <a:ea typeface="나눔스퀘어" panose="020B0600000101010101" pitchFamily="50" charset="-127"/>
              </a:rPr>
              <a:t>Despite the faster pace vs. '25, deliveries may fall slightly short of annual targets </a:t>
            </a:r>
          </a:p>
          <a:p>
            <a:pPr defTabSz="1038977" latinLnBrk="0">
              <a:spcAft>
                <a:spcPts val="600"/>
              </a:spcAft>
            </a:pPr>
            <a:r>
              <a:rPr lang="en-US" altLang="ko-KR" sz="1400" dirty="0">
                <a:latin typeface="나눔스퀘어" panose="020B0600000101010101" pitchFamily="50" charset="-127"/>
                <a:ea typeface="나눔스퀘어" panose="020B0600000101010101" pitchFamily="50" charset="-127"/>
              </a:rPr>
              <a:t>  - Widening order–delivery gap; ~12 years to clear the backlog</a:t>
            </a:r>
          </a:p>
        </p:txBody>
      </p:sp>
      <p:sp>
        <p:nvSpPr>
          <p:cNvPr id="2" name="제목 1"/>
          <p:cNvSpPr>
            <a:spLocks noGrp="1"/>
          </p:cNvSpPr>
          <p:nvPr>
            <p:ph type="title"/>
          </p:nvPr>
        </p:nvSpPr>
        <p:spPr/>
        <p:txBody>
          <a:bodyPr/>
          <a:lstStyle/>
          <a:p>
            <a:r>
              <a:rPr lang="en-US" altLang="ko-KR" dirty="0"/>
              <a:t>Air Supply </a:t>
            </a:r>
            <a:r>
              <a:rPr lang="en-US" altLang="ko-KR" dirty="0" smtClean="0"/>
              <a:t>Outlook</a:t>
            </a:r>
            <a:endParaRPr lang="ko-KR" altLang="ko-KR" dirty="0"/>
          </a:p>
        </p:txBody>
      </p:sp>
      <p:sp>
        <p:nvSpPr>
          <p:cNvPr id="3" name="텍스트 개체 틀 2"/>
          <p:cNvSpPr>
            <a:spLocks noGrp="1"/>
          </p:cNvSpPr>
          <p:nvPr>
            <p:ph type="body" sz="quarter" idx="10"/>
          </p:nvPr>
        </p:nvSpPr>
        <p:spPr/>
        <p:txBody>
          <a:bodyPr/>
          <a:lstStyle/>
          <a:p>
            <a:r>
              <a:rPr lang="en-US" altLang="ko-KR" spc="-100" dirty="0"/>
              <a:t>Cumulative deliveries remain low vs. new orders; despite improved delivery speed, the gap continues to widen</a:t>
            </a:r>
          </a:p>
          <a:p>
            <a:r>
              <a:rPr lang="en-US" altLang="ko-KR" spc="-100" dirty="0"/>
              <a:t>Undelivered orders at an all-time high; delivery bottleneck to constrain air cargo supply over the medium to long </a:t>
            </a:r>
            <a:r>
              <a:rPr lang="en-US" altLang="ko-KR" spc="-100" dirty="0" smtClean="0"/>
              <a:t>term</a:t>
            </a:r>
            <a:endParaRPr lang="en-US" altLang="ko-KR" spc="-100" dirty="0"/>
          </a:p>
        </p:txBody>
      </p:sp>
      <p:grpSp>
        <p:nvGrpSpPr>
          <p:cNvPr id="40" name="组合 2"/>
          <p:cNvGrpSpPr/>
          <p:nvPr/>
        </p:nvGrpSpPr>
        <p:grpSpPr>
          <a:xfrm>
            <a:off x="503790" y="2117975"/>
            <a:ext cx="11167279" cy="374400"/>
            <a:chOff x="386534" y="1461600"/>
            <a:chExt cx="8375459" cy="280800"/>
          </a:xfrm>
        </p:grpSpPr>
        <p:grpSp>
          <p:nvGrpSpPr>
            <p:cNvPr id="41" name="그룹 46"/>
            <p:cNvGrpSpPr/>
            <p:nvPr/>
          </p:nvGrpSpPr>
          <p:grpSpPr>
            <a:xfrm>
              <a:off x="386535" y="1461600"/>
              <a:ext cx="8375458" cy="280800"/>
              <a:chOff x="386535" y="1383614"/>
              <a:chExt cx="8375458" cy="280800"/>
            </a:xfrm>
          </p:grpSpPr>
          <p:grpSp>
            <p:nvGrpSpPr>
              <p:cNvPr id="48" name="그룹 48"/>
              <p:cNvGrpSpPr/>
              <p:nvPr/>
            </p:nvGrpSpPr>
            <p:grpSpPr>
              <a:xfrm>
                <a:off x="386535" y="1383614"/>
                <a:ext cx="4077119" cy="280800"/>
                <a:chOff x="515380" y="1844820"/>
                <a:chExt cx="5436158" cy="374400"/>
              </a:xfrm>
            </p:grpSpPr>
            <p:sp>
              <p:nvSpPr>
                <p:cNvPr id="52" name="Rectangle 215"/>
                <p:cNvSpPr>
                  <a:spLocks noChangeArrowheads="1"/>
                </p:cNvSpPr>
                <p:nvPr/>
              </p:nvSpPr>
              <p:spPr bwMode="auto">
                <a:xfrm>
                  <a:off x="515380" y="1844820"/>
                  <a:ext cx="5436158"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53" name="TextBox 116"/>
                <p:cNvSpPr txBox="1">
                  <a:spLocks noChangeArrowheads="1"/>
                </p:cNvSpPr>
                <p:nvPr/>
              </p:nvSpPr>
              <p:spPr bwMode="auto">
                <a:xfrm>
                  <a:off x="673467" y="1915641"/>
                  <a:ext cx="511998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lvl="0" algn="ctr" defTabSz="1038977" eaLnBrk="1" hangingPunct="1"/>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Widening Order–Delivery Gap</a:t>
                  </a:r>
                </a:p>
              </p:txBody>
            </p:sp>
          </p:grpSp>
          <p:grpSp>
            <p:nvGrpSpPr>
              <p:cNvPr id="49" name="그룹 52"/>
              <p:cNvGrpSpPr/>
              <p:nvPr/>
            </p:nvGrpSpPr>
            <p:grpSpPr>
              <a:xfrm>
                <a:off x="4684993" y="1383614"/>
                <a:ext cx="4077000" cy="280800"/>
                <a:chOff x="6246657" y="1854463"/>
                <a:chExt cx="5436000" cy="374400"/>
              </a:xfrm>
            </p:grpSpPr>
            <p:sp>
              <p:nvSpPr>
                <p:cNvPr id="50" name="Rectangle 215"/>
                <p:cNvSpPr>
                  <a:spLocks noChangeArrowheads="1"/>
                </p:cNvSpPr>
                <p:nvPr/>
              </p:nvSpPr>
              <p:spPr bwMode="auto">
                <a:xfrm>
                  <a:off x="6246657" y="1854463"/>
                  <a:ext cx="5436000"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51" name="TextBox 116"/>
                <p:cNvSpPr txBox="1">
                  <a:spLocks noChangeArrowheads="1"/>
                </p:cNvSpPr>
                <p:nvPr/>
              </p:nvSpPr>
              <p:spPr bwMode="auto">
                <a:xfrm>
                  <a:off x="6404665" y="1907501"/>
                  <a:ext cx="511998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algn="ctr" defTabSz="1038977" eaLnBrk="1" hangingPunct="1"/>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Structural </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Supply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C</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onstraints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P</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ersist</a:t>
                  </a:r>
                  <a:endPar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grpSp>
        </p:grpSp>
        <p:grpSp>
          <p:nvGrpSpPr>
            <p:cNvPr id="42" name="그룹 62"/>
            <p:cNvGrpSpPr/>
            <p:nvPr/>
          </p:nvGrpSpPr>
          <p:grpSpPr>
            <a:xfrm>
              <a:off x="386534" y="1461600"/>
              <a:ext cx="585066" cy="276223"/>
              <a:chOff x="-1523239" y="1275702"/>
              <a:chExt cx="564992" cy="357603"/>
            </a:xfrm>
          </p:grpSpPr>
          <p:sp>
            <p:nvSpPr>
              <p:cNvPr id="46" name="자유형 63"/>
              <p:cNvSpPr/>
              <p:nvPr/>
            </p:nvSpPr>
            <p:spPr>
              <a:xfrm>
                <a:off x="-1523239" y="1275702"/>
                <a:ext cx="564991" cy="357603"/>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47" name="자유형 64"/>
              <p:cNvSpPr/>
              <p:nvPr/>
            </p:nvSpPr>
            <p:spPr>
              <a:xfrm>
                <a:off x="-1523239" y="1275702"/>
                <a:ext cx="564992" cy="357603"/>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grpSp>
        <p:grpSp>
          <p:nvGrpSpPr>
            <p:cNvPr id="43" name="그룹 62"/>
            <p:cNvGrpSpPr/>
            <p:nvPr/>
          </p:nvGrpSpPr>
          <p:grpSpPr>
            <a:xfrm>
              <a:off x="4686893" y="1462337"/>
              <a:ext cx="585066" cy="276223"/>
              <a:chOff x="-1523239" y="1275702"/>
              <a:chExt cx="564992" cy="357603"/>
            </a:xfrm>
          </p:grpSpPr>
          <p:sp>
            <p:nvSpPr>
              <p:cNvPr id="44" name="자유형 63"/>
              <p:cNvSpPr/>
              <p:nvPr/>
            </p:nvSpPr>
            <p:spPr>
              <a:xfrm>
                <a:off x="-1523239" y="1275702"/>
                <a:ext cx="564991" cy="357603"/>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45" name="자유형 64"/>
              <p:cNvSpPr/>
              <p:nvPr/>
            </p:nvSpPr>
            <p:spPr>
              <a:xfrm>
                <a:off x="-1523239" y="1275702"/>
                <a:ext cx="564992" cy="357603"/>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grpSp>
      </p:grpSp>
      <p:pic>
        <p:nvPicPr>
          <p:cNvPr id="56" name="Picture 200" descr="악세사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339689" y="4546810"/>
            <a:ext cx="3535193" cy="91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4" name="슬라이드 번호 개체 틀 5">
            <a:extLst>
              <a:ext uri="{FF2B5EF4-FFF2-40B4-BE49-F238E27FC236}">
                <a16:creationId xmlns:a16="http://schemas.microsoft.com/office/drawing/2014/main" id="{FAC1EB1B-E602-0247-88AB-A89AF71255A6}"/>
              </a:ext>
            </a:extLst>
          </p:cNvPr>
          <p:cNvSpPr txBox="1">
            <a:spLocks/>
          </p:cNvSpPr>
          <p:nvPr/>
        </p:nvSpPr>
        <p:spPr>
          <a:xfrm>
            <a:off x="5419725" y="6426152"/>
            <a:ext cx="788332" cy="326455"/>
          </a:xfrm>
          <a:prstGeom prst="rect">
            <a:avLst/>
          </a:prstGeom>
        </p:spPr>
        <p:txBody>
          <a:bodyPr lIns="162531" tIns="81264" rIns="162531" bIns="81264" anchor="ctr"/>
          <a:lstStyle>
            <a:lvl1pPr algn="r">
              <a:defRPr sz="1200">
                <a:solidFill>
                  <a:schemeClr val="tx1">
                    <a:tint val="75000"/>
                  </a:schemeClr>
                </a:solidFill>
              </a:defRPr>
            </a:lvl1pPr>
          </a:lstStyle>
          <a:p>
            <a:pPr defTabSz="1219048">
              <a:defRPr/>
            </a:pPr>
            <a:r>
              <a:rPr lang="en-US" altLang="ko-KR" dirty="0" smtClean="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rPr>
              <a:t>15</a:t>
            </a:r>
            <a:endParaRPr lang="ko-KR" altLang="en-US"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endParaRPr>
          </a:p>
        </p:txBody>
      </p:sp>
      <p:sp>
        <p:nvSpPr>
          <p:cNvPr id="64" name="TextBox 63">
            <a:extLst>
              <a:ext uri="{FF2B5EF4-FFF2-40B4-BE49-F238E27FC236}">
                <a16:creationId xmlns:a16="http://schemas.microsoft.com/office/drawing/2014/main" id="{F419EC2A-DA12-DE70-177E-D060836EC73B}"/>
              </a:ext>
            </a:extLst>
          </p:cNvPr>
          <p:cNvSpPr txBox="1"/>
          <p:nvPr/>
        </p:nvSpPr>
        <p:spPr>
          <a:xfrm>
            <a:off x="525890" y="6506819"/>
            <a:ext cx="1788951" cy="153888"/>
          </a:xfrm>
          <a:prstGeom prst="rect">
            <a:avLst/>
          </a:prstGeom>
          <a:noFill/>
        </p:spPr>
        <p:txBody>
          <a:bodyPr wrap="none" lIns="0" tIns="0" rIns="0" bIns="0" rtlCol="0" anchor="ctr">
            <a:spAutoFit/>
          </a:bodyPr>
          <a:lstStyle/>
          <a:p>
            <a:pPr latinLnBrk="0"/>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Source</a:t>
            </a:r>
            <a:r>
              <a:rPr lang="ko-KR" altLang="en-US"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Airbus / Boeing / IATA</a:t>
            </a:r>
          </a:p>
        </p:txBody>
      </p:sp>
      <p:graphicFrame>
        <p:nvGraphicFramePr>
          <p:cNvPr id="79" name="표 78"/>
          <p:cNvGraphicFramePr>
            <a:graphicFrameLocks noGrp="1"/>
          </p:cNvGraphicFramePr>
          <p:nvPr>
            <p:extLst/>
          </p:nvPr>
        </p:nvGraphicFramePr>
        <p:xfrm>
          <a:off x="565258" y="5824443"/>
          <a:ext cx="5374692" cy="657618"/>
        </p:xfrm>
        <a:graphic>
          <a:graphicData uri="http://schemas.openxmlformats.org/drawingml/2006/table">
            <a:tbl>
              <a:tblPr>
                <a:tableStyleId>{5C22544A-7EE6-4342-B048-85BDC9FD1C3A}</a:tableStyleId>
              </a:tblPr>
              <a:tblGrid>
                <a:gridCol w="646322">
                  <a:extLst>
                    <a:ext uri="{9D8B030D-6E8A-4147-A177-3AD203B41FA5}">
                      <a16:colId xmlns:a16="http://schemas.microsoft.com/office/drawing/2014/main" val="899954716"/>
                    </a:ext>
                  </a:extLst>
                </a:gridCol>
                <a:gridCol w="548054">
                  <a:extLst>
                    <a:ext uri="{9D8B030D-6E8A-4147-A177-3AD203B41FA5}">
                      <a16:colId xmlns:a16="http://schemas.microsoft.com/office/drawing/2014/main" val="2709246253"/>
                    </a:ext>
                  </a:extLst>
                </a:gridCol>
                <a:gridCol w="597188">
                  <a:extLst>
                    <a:ext uri="{9D8B030D-6E8A-4147-A177-3AD203B41FA5}">
                      <a16:colId xmlns:a16="http://schemas.microsoft.com/office/drawing/2014/main" val="1931124321"/>
                    </a:ext>
                  </a:extLst>
                </a:gridCol>
                <a:gridCol w="597188">
                  <a:extLst>
                    <a:ext uri="{9D8B030D-6E8A-4147-A177-3AD203B41FA5}">
                      <a16:colId xmlns:a16="http://schemas.microsoft.com/office/drawing/2014/main" val="1934428021"/>
                    </a:ext>
                  </a:extLst>
                </a:gridCol>
                <a:gridCol w="597188">
                  <a:extLst>
                    <a:ext uri="{9D8B030D-6E8A-4147-A177-3AD203B41FA5}">
                      <a16:colId xmlns:a16="http://schemas.microsoft.com/office/drawing/2014/main" val="3997240211"/>
                    </a:ext>
                  </a:extLst>
                </a:gridCol>
                <a:gridCol w="597188">
                  <a:extLst>
                    <a:ext uri="{9D8B030D-6E8A-4147-A177-3AD203B41FA5}">
                      <a16:colId xmlns:a16="http://schemas.microsoft.com/office/drawing/2014/main" val="672365306"/>
                    </a:ext>
                  </a:extLst>
                </a:gridCol>
                <a:gridCol w="597188">
                  <a:extLst>
                    <a:ext uri="{9D8B030D-6E8A-4147-A177-3AD203B41FA5}">
                      <a16:colId xmlns:a16="http://schemas.microsoft.com/office/drawing/2014/main" val="2948952793"/>
                    </a:ext>
                  </a:extLst>
                </a:gridCol>
                <a:gridCol w="597188">
                  <a:extLst>
                    <a:ext uri="{9D8B030D-6E8A-4147-A177-3AD203B41FA5}">
                      <a16:colId xmlns:a16="http://schemas.microsoft.com/office/drawing/2014/main" val="1898815344"/>
                    </a:ext>
                  </a:extLst>
                </a:gridCol>
                <a:gridCol w="597188">
                  <a:extLst>
                    <a:ext uri="{9D8B030D-6E8A-4147-A177-3AD203B41FA5}">
                      <a16:colId xmlns:a16="http://schemas.microsoft.com/office/drawing/2014/main" val="505250275"/>
                    </a:ext>
                  </a:extLst>
                </a:gridCol>
              </a:tblGrid>
              <a:tr h="110034">
                <a:tc>
                  <a:txBody>
                    <a:bodyPr/>
                    <a:lstStyle/>
                    <a:p>
                      <a:pPr algn="ctr" fontAlgn="ctr"/>
                      <a:r>
                        <a:rPr lang="en-US" altLang="ko-KR" sz="800" b="1" i="0" u="none" strike="noStrike" spc="-50" baseline="0" dirty="0" smtClean="0">
                          <a:solidFill>
                            <a:srgbClr val="000000"/>
                          </a:solidFill>
                          <a:effectLst/>
                          <a:latin typeface="나눔스퀘어" panose="020B0600000101010101" pitchFamily="50" charset="-127"/>
                          <a:ea typeface="나눔스퀘어" panose="020B0600000101010101" pitchFamily="50" charset="-127"/>
                        </a:rPr>
                        <a:t>Manufacturer</a:t>
                      </a:r>
                      <a:endParaRPr lang="en-US" altLang="ko-KR" sz="800" b="1" i="0" u="none" strike="noStrike" spc="-50" baseline="0" dirty="0">
                        <a:solidFill>
                          <a:srgbClr val="000000"/>
                        </a:solidFill>
                        <a:effectLst/>
                        <a:latin typeface="나눔스퀘어" panose="020B0600000101010101" pitchFamily="50" charset="-127"/>
                        <a:ea typeface="나눔스퀘어" panose="020B0600000101010101" pitchFamily="50"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r>
                        <a:rPr lang="en-US" altLang="ko-KR" sz="800" b="1" i="0" u="none" strike="noStrike" spc="-50" baseline="0" dirty="0">
                          <a:solidFill>
                            <a:schemeClr val="dk1"/>
                          </a:solidFill>
                          <a:effectLst/>
                          <a:latin typeface="나눔스퀘어" panose="020B0600000101010101" pitchFamily="50" charset="-127"/>
                          <a:ea typeface="나눔스퀘어" panose="020B0600000101010101" pitchFamily="50" charset="-127"/>
                        </a:rPr>
                        <a:t>2020</a:t>
                      </a:r>
                      <a:endParaRPr lang="en-US" altLang="ko-KR" sz="800" b="1" i="0" u="none" strike="noStrike" spc="-50" baseline="0" dirty="0">
                        <a:solidFill>
                          <a:srgbClr val="000000"/>
                        </a:solidFill>
                        <a:effectLst/>
                        <a:latin typeface="나눔스퀘어" panose="020B0600000101010101" pitchFamily="50" charset="-127"/>
                        <a:ea typeface="나눔스퀘어" panose="020B0600000101010101" pitchFamily="50" charset="-127"/>
                      </a:endParaRPr>
                    </a:p>
                  </a:txBody>
                  <a:tcPr marL="36000" marR="3600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r>
                        <a:rPr lang="en-US" altLang="ko-KR" sz="800" b="1" i="0" u="none" strike="noStrike" spc="-50" baseline="0" dirty="0">
                          <a:solidFill>
                            <a:schemeClr val="dk1"/>
                          </a:solidFill>
                          <a:effectLst/>
                          <a:latin typeface="나눔스퀘어" panose="020B0600000101010101" pitchFamily="50" charset="-127"/>
                          <a:ea typeface="나눔스퀘어" panose="020B0600000101010101" pitchFamily="50" charset="-127"/>
                        </a:rPr>
                        <a:t>2021</a:t>
                      </a:r>
                      <a:endParaRPr lang="en-US" altLang="ko-KR" sz="800" b="1" i="0" u="none" strike="noStrike" spc="-50" baseline="0" dirty="0">
                        <a:solidFill>
                          <a:srgbClr val="000000"/>
                        </a:solidFill>
                        <a:effectLst/>
                        <a:latin typeface="나눔스퀘어" panose="020B0600000101010101" pitchFamily="50" charset="-127"/>
                        <a:ea typeface="나눔스퀘어" panose="020B0600000101010101" pitchFamily="50" charset="-127"/>
                      </a:endParaRPr>
                    </a:p>
                  </a:txBody>
                  <a:tcPr marL="36000" marR="3600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r>
                        <a:rPr lang="en-US" altLang="ko-KR" sz="800" b="1" u="none" strike="noStrike" spc="-50" baseline="0" dirty="0">
                          <a:effectLst/>
                          <a:latin typeface="나눔스퀘어" panose="020B0600000101010101" pitchFamily="50" charset="-127"/>
                          <a:ea typeface="나눔스퀘어" panose="020B0600000101010101" pitchFamily="50" charset="-127"/>
                        </a:rPr>
                        <a:t>2022</a:t>
                      </a:r>
                      <a:endParaRPr lang="en-US" altLang="ko-KR" sz="800" b="1" i="0" u="none" strike="noStrike" spc="-50" baseline="0" dirty="0">
                        <a:solidFill>
                          <a:srgbClr val="000000"/>
                        </a:solidFill>
                        <a:effectLst/>
                        <a:latin typeface="나눔스퀘어" panose="020B0600000101010101" pitchFamily="50" charset="-127"/>
                        <a:ea typeface="나눔스퀘어" panose="020B0600000101010101" pitchFamily="50" charset="-127"/>
                      </a:endParaRPr>
                    </a:p>
                  </a:txBody>
                  <a:tcPr marL="36000" marR="3600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r>
                        <a:rPr lang="en-US" altLang="ko-KR" sz="800" b="1" u="none" strike="noStrike" spc="-50" baseline="0" dirty="0">
                          <a:effectLst/>
                          <a:latin typeface="나눔스퀘어" panose="020B0600000101010101" pitchFamily="50" charset="-127"/>
                          <a:ea typeface="나눔스퀘어" panose="020B0600000101010101" pitchFamily="50" charset="-127"/>
                        </a:rPr>
                        <a:t>2023</a:t>
                      </a:r>
                      <a:endParaRPr lang="en-US" altLang="ko-KR" sz="800" b="1" i="0" u="none" strike="noStrike" spc="-50" baseline="0" dirty="0">
                        <a:solidFill>
                          <a:srgbClr val="000000"/>
                        </a:solidFill>
                        <a:effectLst/>
                        <a:latin typeface="나눔스퀘어" panose="020B0600000101010101" pitchFamily="50" charset="-127"/>
                        <a:ea typeface="나눔스퀘어" panose="020B0600000101010101" pitchFamily="50" charset="-127"/>
                      </a:endParaRPr>
                    </a:p>
                  </a:txBody>
                  <a:tcPr marL="36000" marR="3600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r>
                        <a:rPr lang="en-US" altLang="ko-KR" sz="800" b="1" i="0" u="none" strike="noStrike" spc="-50" baseline="0" dirty="0">
                          <a:solidFill>
                            <a:srgbClr val="000000"/>
                          </a:solidFill>
                          <a:effectLst/>
                          <a:latin typeface="나눔스퀘어" panose="020B0600000101010101" pitchFamily="50" charset="-127"/>
                          <a:ea typeface="나눔스퀘어" panose="020B0600000101010101" pitchFamily="50" charset="-127"/>
                        </a:rPr>
                        <a:t>2024</a:t>
                      </a:r>
                    </a:p>
                  </a:txBody>
                  <a:tcPr marL="36000" marR="3600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r>
                        <a:rPr lang="en-US" altLang="ko-KR" sz="800" b="1" i="0" u="none" strike="noStrike" spc="-50" baseline="0" dirty="0" smtClean="0">
                          <a:solidFill>
                            <a:srgbClr val="000000"/>
                          </a:solidFill>
                          <a:effectLst/>
                          <a:latin typeface="나눔스퀘어" panose="020B0600000101010101" pitchFamily="50" charset="-127"/>
                          <a:ea typeface="나눔스퀘어" panose="020B0600000101010101" pitchFamily="50" charset="-127"/>
                        </a:rPr>
                        <a:t>2025</a:t>
                      </a:r>
                      <a:endParaRPr lang="en-US" altLang="ko-KR" sz="800" b="1" i="0" u="none" strike="noStrike" spc="-50" baseline="0" dirty="0">
                        <a:solidFill>
                          <a:srgbClr val="000000"/>
                        </a:solidFill>
                        <a:effectLst/>
                        <a:latin typeface="나눔스퀘어" panose="020B0600000101010101" pitchFamily="50" charset="-127"/>
                        <a:ea typeface="나눔스퀘어" panose="020B0600000101010101" pitchFamily="50" charset="-127"/>
                      </a:endParaRPr>
                    </a:p>
                  </a:txBody>
                  <a:tcPr marL="36000" marR="3600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r>
                        <a:rPr lang="en-US" altLang="ko-KR" sz="800" b="1" i="0" u="none" strike="noStrike" spc="-50" baseline="0" dirty="0" smtClean="0">
                          <a:solidFill>
                            <a:srgbClr val="000000"/>
                          </a:solidFill>
                          <a:effectLst/>
                          <a:latin typeface="나눔스퀘어" panose="020B0600000101010101" pitchFamily="50" charset="-127"/>
                          <a:ea typeface="나눔스퀘어" panose="020B0600000101010101" pitchFamily="50" charset="-127"/>
                        </a:rPr>
                        <a:t>2026(~May)</a:t>
                      </a:r>
                      <a:endParaRPr lang="en-US" altLang="ko-KR" sz="800" b="1" i="0" u="none" strike="noStrike" spc="-50" baseline="0" dirty="0">
                        <a:solidFill>
                          <a:srgbClr val="000000"/>
                        </a:solidFill>
                        <a:effectLst/>
                        <a:latin typeface="나눔스퀘어" panose="020B0600000101010101" pitchFamily="50" charset="-127"/>
                        <a:ea typeface="나눔스퀘어" panose="020B0600000101010101" pitchFamily="50" charset="-127"/>
                      </a:endParaRPr>
                    </a:p>
                  </a:txBody>
                  <a:tcPr marL="36000" marR="3600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r>
                        <a:rPr lang="en-US" altLang="ko-KR" sz="800" b="1" i="0" u="none" strike="noStrike" spc="-50" baseline="0" dirty="0">
                          <a:solidFill>
                            <a:srgbClr val="000000"/>
                          </a:solidFill>
                          <a:effectLst/>
                          <a:latin typeface="나눔스퀘어" panose="020B0600000101010101" pitchFamily="50" charset="-127"/>
                          <a:ea typeface="나눔스퀘어" panose="020B0600000101010101" pitchFamily="50" charset="-127"/>
                        </a:rPr>
                        <a:t>Total</a:t>
                      </a:r>
                    </a:p>
                  </a:txBody>
                  <a:tcPr marL="36000" marR="36000" marT="0" marB="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86019182"/>
                  </a:ext>
                </a:extLst>
              </a:tr>
              <a:tr h="137926">
                <a:tc>
                  <a:txBody>
                    <a:bodyPr/>
                    <a:lstStyle/>
                    <a:p>
                      <a:pPr algn="ctr" fontAlgn="ctr"/>
                      <a:r>
                        <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rPr>
                        <a:t>Airbus</a:t>
                      </a:r>
                    </a:p>
                  </a:txBody>
                  <a:tcPr marL="36000" marR="36000" marT="5443" marB="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rPr>
                        <a:t>566</a:t>
                      </a: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rPr>
                        <a:t>611</a:t>
                      </a: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rPr>
                        <a:t>661</a:t>
                      </a: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rPr>
                        <a:t>735</a:t>
                      </a: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rPr>
                        <a:t>766</a:t>
                      </a: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smtClean="0">
                          <a:solidFill>
                            <a:srgbClr val="000000"/>
                          </a:solidFill>
                          <a:effectLst/>
                          <a:latin typeface="나눔스퀘어" panose="020B0600000101010101" pitchFamily="50" charset="-127"/>
                          <a:ea typeface="나눔스퀘어" panose="020B0600000101010101" pitchFamily="50" charset="-127"/>
                        </a:rPr>
                        <a:t>793</a:t>
                      </a:r>
                      <a:endPar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smtClean="0">
                          <a:solidFill>
                            <a:srgbClr val="000000"/>
                          </a:solidFill>
                          <a:effectLst/>
                          <a:latin typeface="나눔스퀘어" panose="020B0600000101010101" pitchFamily="50" charset="-127"/>
                          <a:ea typeface="나눔스퀘어" panose="020B0600000101010101" pitchFamily="50" charset="-127"/>
                        </a:rPr>
                        <a:t>262</a:t>
                      </a:r>
                      <a:endPar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smtClean="0">
                          <a:solidFill>
                            <a:srgbClr val="000000"/>
                          </a:solidFill>
                          <a:effectLst/>
                          <a:latin typeface="나눔스퀘어" panose="020B0600000101010101" pitchFamily="50" charset="-127"/>
                          <a:ea typeface="나눔스퀘어" panose="020B0600000101010101" pitchFamily="50" charset="-127"/>
                        </a:rPr>
                        <a:t>4,394</a:t>
                      </a:r>
                      <a:endPar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75118424"/>
                  </a:ext>
                </a:extLst>
              </a:tr>
              <a:tr h="137926">
                <a:tc>
                  <a:txBody>
                    <a:bodyPr/>
                    <a:lstStyle/>
                    <a:p>
                      <a:pPr algn="ctr" fontAlgn="ctr"/>
                      <a:r>
                        <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rPr>
                        <a:t>Boeing</a:t>
                      </a:r>
                    </a:p>
                  </a:txBody>
                  <a:tcPr marL="36000" marR="36000" marT="5443" marB="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rPr>
                        <a:t>157</a:t>
                      </a: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rPr>
                        <a:t>340</a:t>
                      </a: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rPr>
                        <a:t>480</a:t>
                      </a: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rPr>
                        <a:t>528</a:t>
                      </a: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rPr>
                        <a:t>348</a:t>
                      </a: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smtClean="0">
                          <a:solidFill>
                            <a:srgbClr val="000000"/>
                          </a:solidFill>
                          <a:effectLst/>
                          <a:latin typeface="나눔스퀘어" panose="020B0600000101010101" pitchFamily="50" charset="-127"/>
                          <a:ea typeface="나눔스퀘어" panose="020B0600000101010101" pitchFamily="50" charset="-127"/>
                        </a:rPr>
                        <a:t>600</a:t>
                      </a:r>
                      <a:endPar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smtClean="0">
                          <a:solidFill>
                            <a:srgbClr val="000000"/>
                          </a:solidFill>
                          <a:effectLst/>
                          <a:latin typeface="나눔스퀘어" panose="020B0600000101010101" pitchFamily="50" charset="-127"/>
                          <a:ea typeface="나눔스퀘어" panose="020B0600000101010101" pitchFamily="50" charset="-127"/>
                        </a:rPr>
                        <a:t>250</a:t>
                      </a:r>
                      <a:endPar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smtClean="0">
                          <a:solidFill>
                            <a:srgbClr val="000000"/>
                          </a:solidFill>
                          <a:effectLst/>
                          <a:latin typeface="나눔스퀘어" panose="020B0600000101010101" pitchFamily="50" charset="-127"/>
                          <a:ea typeface="나눔스퀘어" panose="020B0600000101010101" pitchFamily="50" charset="-127"/>
                        </a:rPr>
                        <a:t>2,703</a:t>
                      </a:r>
                      <a:endPar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05140290"/>
                  </a:ext>
                </a:extLst>
              </a:tr>
              <a:tr h="137926">
                <a:tc>
                  <a:txBody>
                    <a:bodyPr/>
                    <a:lstStyle/>
                    <a:p>
                      <a:pPr algn="ctr" fontAlgn="ctr"/>
                      <a:r>
                        <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rPr>
                        <a:t>Total</a:t>
                      </a:r>
                    </a:p>
                  </a:txBody>
                  <a:tcPr marL="36000" marR="36000" marT="5443" marB="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rPr>
                        <a:t>723</a:t>
                      </a: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rPr>
                        <a:t>951</a:t>
                      </a: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rPr>
                        <a:t>1,141</a:t>
                      </a: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rPr>
                        <a:t>1,263</a:t>
                      </a: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rPr>
                        <a:t>1,114</a:t>
                      </a: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smtClean="0">
                          <a:solidFill>
                            <a:srgbClr val="000000"/>
                          </a:solidFill>
                          <a:effectLst/>
                          <a:latin typeface="나눔스퀘어" panose="020B0600000101010101" pitchFamily="50" charset="-127"/>
                          <a:ea typeface="나눔스퀘어" panose="020B0600000101010101" pitchFamily="50" charset="-127"/>
                        </a:rPr>
                        <a:t>1,393</a:t>
                      </a:r>
                      <a:endPar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smtClean="0">
                          <a:solidFill>
                            <a:srgbClr val="000000"/>
                          </a:solidFill>
                          <a:effectLst/>
                          <a:latin typeface="나눔스퀘어" panose="020B0600000101010101" pitchFamily="50" charset="-127"/>
                          <a:ea typeface="나눔스퀘어" panose="020B0600000101010101" pitchFamily="50" charset="-127"/>
                        </a:rPr>
                        <a:t>512</a:t>
                      </a:r>
                      <a:endPar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algn="r" fontAlgn="b"/>
                      <a:r>
                        <a:rPr lang="en-US" altLang="ko-KR" sz="800" b="0" i="0" u="none" strike="noStrike" dirty="0" smtClean="0">
                          <a:solidFill>
                            <a:srgbClr val="000000"/>
                          </a:solidFill>
                          <a:effectLst/>
                          <a:latin typeface="나눔스퀘어" panose="020B0600000101010101" pitchFamily="50" charset="-127"/>
                          <a:ea typeface="나눔스퀘어" panose="020B0600000101010101" pitchFamily="50" charset="-127"/>
                        </a:rPr>
                        <a:t>7,097</a:t>
                      </a:r>
                      <a:endParaRPr lang="en-US" altLang="ko-KR" sz="8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62033190"/>
                  </a:ext>
                </a:extLst>
              </a:tr>
            </a:tbl>
          </a:graphicData>
        </a:graphic>
      </p:graphicFrame>
      <p:graphicFrame>
        <p:nvGraphicFramePr>
          <p:cNvPr id="80" name="차트 79"/>
          <p:cNvGraphicFramePr/>
          <p:nvPr>
            <p:extLst>
              <p:ext uri="{D42A27DB-BD31-4B8C-83A1-F6EECF244321}">
                <p14:modId xmlns:p14="http://schemas.microsoft.com/office/powerpoint/2010/main" val="167757756"/>
              </p:ext>
            </p:extLst>
          </p:nvPr>
        </p:nvGraphicFramePr>
        <p:xfrm>
          <a:off x="527127" y="4709870"/>
          <a:ext cx="5343967" cy="1118038"/>
        </p:xfrm>
        <a:graphic>
          <a:graphicData uri="http://schemas.openxmlformats.org/drawingml/2006/chart">
            <c:chart xmlns:c="http://schemas.openxmlformats.org/drawingml/2006/chart" xmlns:r="http://schemas.openxmlformats.org/officeDocument/2006/relationships" r:id="rId4"/>
          </a:graphicData>
        </a:graphic>
      </p:graphicFrame>
      <p:sp>
        <p:nvSpPr>
          <p:cNvPr id="81" name="TextBox 80"/>
          <p:cNvSpPr txBox="1"/>
          <p:nvPr/>
        </p:nvSpPr>
        <p:spPr>
          <a:xfrm>
            <a:off x="1420365" y="3369348"/>
            <a:ext cx="2770196" cy="230832"/>
          </a:xfrm>
          <a:prstGeom prst="rect">
            <a:avLst/>
          </a:prstGeom>
          <a:noFill/>
        </p:spPr>
        <p:txBody>
          <a:bodyPr wrap="square" rtlCol="0">
            <a:spAutoFit/>
          </a:bodyPr>
          <a:lstStyle/>
          <a:p>
            <a:r>
              <a:rPr lang="en-US" altLang="ko-KR" sz="900" dirty="0" smtClean="0">
                <a:solidFill>
                  <a:srgbClr val="0000FF"/>
                </a:solidFill>
                <a:latin typeface="나눔스퀘어" panose="020B0600000101010101" pitchFamily="50" charset="-127"/>
                <a:ea typeface="나눔스퀘어" panose="020B0600000101010101" pitchFamily="50" charset="-127"/>
              </a:rPr>
              <a:t>* China Southern Airline</a:t>
            </a:r>
            <a:r>
              <a:rPr lang="en-US" altLang="ko-KR" sz="900" dirty="0">
                <a:solidFill>
                  <a:srgbClr val="0000FF"/>
                </a:solidFill>
                <a:latin typeface="나눔스퀘어" panose="020B0600000101010101" pitchFamily="50" charset="-127"/>
                <a:ea typeface="나눔스퀘어" panose="020B0600000101010101" pitchFamily="50" charset="-127"/>
              </a:rPr>
              <a:t>, </a:t>
            </a:r>
            <a:r>
              <a:rPr lang="en-US" altLang="ko-KR" sz="900" dirty="0" smtClean="0">
                <a:solidFill>
                  <a:srgbClr val="0000FF"/>
                </a:solidFill>
                <a:latin typeface="나눔스퀘어" panose="020B0600000101010101" pitchFamily="50" charset="-127"/>
                <a:ea typeface="나눔스퀘어" panose="020B0600000101010101" pitchFamily="50" charset="-127"/>
              </a:rPr>
              <a:t>Xiamen </a:t>
            </a:r>
            <a:r>
              <a:rPr lang="en-US" altLang="ko-KR" sz="900" dirty="0">
                <a:solidFill>
                  <a:srgbClr val="0000FF"/>
                </a:solidFill>
                <a:latin typeface="나눔스퀘어" panose="020B0600000101010101" pitchFamily="50" charset="-127"/>
                <a:ea typeface="나눔스퀘어" panose="020B0600000101010101" pitchFamily="50" charset="-127"/>
              </a:rPr>
              <a:t>Airlines</a:t>
            </a:r>
            <a:endParaRPr lang="ko-KR" altLang="en-US" sz="900" dirty="0">
              <a:solidFill>
                <a:srgbClr val="0000FF"/>
              </a:solidFill>
              <a:latin typeface="나눔스퀘어" panose="020B0600000101010101" pitchFamily="50" charset="-127"/>
              <a:ea typeface="나눔스퀘어" panose="020B0600000101010101" pitchFamily="50" charset="-127"/>
            </a:endParaRPr>
          </a:p>
        </p:txBody>
      </p:sp>
      <p:sp>
        <p:nvSpPr>
          <p:cNvPr id="94" name="TextBox 93"/>
          <p:cNvSpPr txBox="1"/>
          <p:nvPr/>
        </p:nvSpPr>
        <p:spPr>
          <a:xfrm>
            <a:off x="5260080" y="3652211"/>
            <a:ext cx="1206149" cy="230832"/>
          </a:xfrm>
          <a:prstGeom prst="rect">
            <a:avLst/>
          </a:prstGeom>
          <a:noFill/>
        </p:spPr>
        <p:txBody>
          <a:bodyPr wrap="square" rtlCol="0">
            <a:spAutoFit/>
          </a:bodyPr>
          <a:lstStyle/>
          <a:p>
            <a:r>
              <a:rPr lang="en-US" altLang="ko-KR" sz="900" dirty="0" smtClean="0">
                <a:solidFill>
                  <a:srgbClr val="3333FF"/>
                </a:solidFill>
                <a:latin typeface="나눔스퀘어" panose="020B0600000101010101" pitchFamily="50" charset="-127"/>
                <a:ea typeface="나눔스퀘어" panose="020B0600000101010101" pitchFamily="50" charset="-127"/>
              </a:rPr>
              <a:t>* Oct. </a:t>
            </a:r>
            <a:r>
              <a:rPr lang="en-US" altLang="ko-KR" sz="900" dirty="0">
                <a:solidFill>
                  <a:srgbClr val="3333FF"/>
                </a:solidFill>
                <a:latin typeface="나눔스퀘어" panose="020B0600000101010101" pitchFamily="50" charset="-127"/>
                <a:ea typeface="나눔스퀘어" panose="020B0600000101010101" pitchFamily="50" charset="-127"/>
              </a:rPr>
              <a:t>'2</a:t>
            </a:r>
            <a:r>
              <a:rPr lang="en-US" altLang="ko-KR" sz="900" dirty="0" smtClean="0">
                <a:solidFill>
                  <a:srgbClr val="3333FF"/>
                </a:solidFill>
                <a:latin typeface="나눔스퀘어" panose="020B0600000101010101" pitchFamily="50" charset="-127"/>
                <a:ea typeface="나눔스퀘어" panose="020B0600000101010101" pitchFamily="50" charset="-127"/>
              </a:rPr>
              <a:t>6</a:t>
            </a:r>
            <a:endParaRPr lang="ko-KR" altLang="en-US" sz="900" dirty="0">
              <a:solidFill>
                <a:srgbClr val="3333FF"/>
              </a:solidFill>
              <a:latin typeface="나눔스퀘어" panose="020B0600000101010101" pitchFamily="50" charset="-127"/>
              <a:ea typeface="나눔스퀘어" panose="020B0600000101010101" pitchFamily="50" charset="-127"/>
            </a:endParaRPr>
          </a:p>
        </p:txBody>
      </p:sp>
      <p:sp>
        <p:nvSpPr>
          <p:cNvPr id="95" name="TextBox 94"/>
          <p:cNvSpPr txBox="1"/>
          <p:nvPr/>
        </p:nvSpPr>
        <p:spPr>
          <a:xfrm>
            <a:off x="3356315" y="4248598"/>
            <a:ext cx="2892692" cy="230832"/>
          </a:xfrm>
          <a:prstGeom prst="rect">
            <a:avLst/>
          </a:prstGeom>
          <a:noFill/>
        </p:spPr>
        <p:txBody>
          <a:bodyPr wrap="square" rtlCol="0">
            <a:spAutoFit/>
          </a:bodyPr>
          <a:lstStyle/>
          <a:p>
            <a:r>
              <a:rPr lang="en-US" altLang="ko-KR" sz="900" dirty="0" smtClean="0">
                <a:solidFill>
                  <a:srgbClr val="3333FF"/>
                </a:solidFill>
                <a:latin typeface="나눔스퀘어" panose="020B0600000101010101" pitchFamily="50" charset="-127"/>
                <a:ea typeface="나눔스퀘어" panose="020B0600000101010101" pitchFamily="50" charset="-127"/>
              </a:rPr>
              <a:t>* Boeing</a:t>
            </a:r>
            <a:r>
              <a:rPr lang="ko-KR" altLang="en-US" sz="900" dirty="0" smtClean="0">
                <a:solidFill>
                  <a:srgbClr val="3333FF"/>
                </a:solidFill>
                <a:latin typeface="나눔스퀘어" panose="020B0600000101010101" pitchFamily="50" charset="-127"/>
                <a:ea typeface="나눔스퀘어" panose="020B0600000101010101" pitchFamily="50" charset="-127"/>
              </a:rPr>
              <a:t> </a:t>
            </a:r>
            <a:r>
              <a:rPr lang="en-US" altLang="ko-KR" sz="900" dirty="0" smtClean="0">
                <a:solidFill>
                  <a:srgbClr val="3333FF"/>
                </a:solidFill>
                <a:latin typeface="나눔스퀘어" panose="020B0600000101010101" pitchFamily="50" charset="-127"/>
                <a:ea typeface="나눔스퀘어" panose="020B0600000101010101" pitchFamily="50" charset="-127"/>
              </a:rPr>
              <a:t>684 units (FI estimate), Airbus</a:t>
            </a:r>
            <a:r>
              <a:rPr lang="ko-KR" altLang="en-US" sz="900" dirty="0" smtClean="0">
                <a:solidFill>
                  <a:srgbClr val="3333FF"/>
                </a:solidFill>
                <a:latin typeface="나눔스퀘어" panose="020B0600000101010101" pitchFamily="50" charset="-127"/>
                <a:ea typeface="나눔스퀘어" panose="020B0600000101010101" pitchFamily="50" charset="-127"/>
              </a:rPr>
              <a:t> </a:t>
            </a:r>
            <a:r>
              <a:rPr lang="en-US" altLang="ko-KR" sz="900" dirty="0" smtClean="0">
                <a:solidFill>
                  <a:srgbClr val="3333FF"/>
                </a:solidFill>
                <a:latin typeface="나눔스퀘어" panose="020B0600000101010101" pitchFamily="50" charset="-127"/>
                <a:ea typeface="나눔스퀘어" panose="020B0600000101010101" pitchFamily="50" charset="-127"/>
              </a:rPr>
              <a:t>870 units</a:t>
            </a:r>
            <a:endParaRPr lang="ko-KR" altLang="en-US" sz="900" dirty="0">
              <a:solidFill>
                <a:srgbClr val="3333FF"/>
              </a:solidFill>
              <a:latin typeface="나눔스퀘어" panose="020B0600000101010101" pitchFamily="50" charset="-127"/>
              <a:ea typeface="나눔스퀘어" panose="020B0600000101010101" pitchFamily="50" charset="-127"/>
            </a:endParaRPr>
          </a:p>
        </p:txBody>
      </p:sp>
      <p:sp>
        <p:nvSpPr>
          <p:cNvPr id="57" name="직사각형 56"/>
          <p:cNvSpPr/>
          <p:nvPr/>
        </p:nvSpPr>
        <p:spPr>
          <a:xfrm>
            <a:off x="6549791" y="4516445"/>
            <a:ext cx="5746091" cy="230832"/>
          </a:xfrm>
          <a:prstGeom prst="rect">
            <a:avLst/>
          </a:prstGeom>
          <a:noFill/>
        </p:spPr>
        <p:txBody>
          <a:bodyPr wrap="square" rtlCol="0">
            <a:spAutoFit/>
          </a:bodyPr>
          <a:lstStyle/>
          <a:p>
            <a:r>
              <a:rPr lang="en-US" altLang="ko-KR" sz="900" dirty="0" smtClean="0">
                <a:solidFill>
                  <a:srgbClr val="3333FF"/>
                </a:solidFill>
                <a:latin typeface="나눔스퀘어" panose="020B0600000101010101" pitchFamily="50" charset="-127"/>
                <a:ea typeface="나눔스퀘어" panose="020B0600000101010101" pitchFamily="50" charset="-127"/>
              </a:rPr>
              <a:t>* </a:t>
            </a:r>
            <a:r>
              <a:rPr lang="en-US" altLang="ko-KR" sz="900" dirty="0">
                <a:solidFill>
                  <a:srgbClr val="3333FF"/>
                </a:solidFill>
                <a:latin typeface="나눔스퀘어" panose="020B0600000101010101" pitchFamily="50" charset="-127"/>
                <a:ea typeface="나눔스퀘어" panose="020B0600000101010101" pitchFamily="50" charset="-127"/>
              </a:rPr>
              <a:t>767F/777F production to end in </a:t>
            </a:r>
            <a:r>
              <a:rPr lang="en-US" altLang="ko-KR" sz="900" dirty="0" smtClean="0">
                <a:solidFill>
                  <a:srgbClr val="3333FF"/>
                </a:solidFill>
                <a:latin typeface="나눔스퀘어" panose="020B0600000101010101" pitchFamily="50" charset="-127"/>
                <a:ea typeface="나눔스퀘어" panose="020B0600000101010101" pitchFamily="50" charset="-127"/>
              </a:rPr>
              <a:t>'28</a:t>
            </a:r>
            <a:r>
              <a:rPr lang="en-US" altLang="ko-KR" sz="900" dirty="0">
                <a:solidFill>
                  <a:srgbClr val="3333FF"/>
                </a:solidFill>
                <a:latin typeface="나눔스퀘어" panose="020B0600000101010101" pitchFamily="50" charset="-127"/>
                <a:ea typeface="나눔스퀘어" panose="020B0600000101010101" pitchFamily="50" charset="-127"/>
              </a:rPr>
              <a:t> </a:t>
            </a:r>
            <a:r>
              <a:rPr lang="en-US" altLang="ko-KR" sz="900" dirty="0" smtClean="0">
                <a:solidFill>
                  <a:srgbClr val="3333FF"/>
                </a:solidFill>
                <a:latin typeface="나눔스퀘어" panose="020B0600000101010101" pitchFamily="50" charset="-127"/>
                <a:ea typeface="나눔스퀘어" panose="020B0600000101010101" pitchFamily="50" charset="-127"/>
              </a:rPr>
              <a:t>              * 777-8F </a:t>
            </a:r>
            <a:r>
              <a:rPr lang="en-US" altLang="ko-KR" sz="900" dirty="0">
                <a:solidFill>
                  <a:srgbClr val="3333FF"/>
                </a:solidFill>
                <a:latin typeface="나눔스퀘어" panose="020B0600000101010101" pitchFamily="50" charset="-127"/>
                <a:ea typeface="나눔스퀘어" panose="020B0600000101010101" pitchFamily="50" charset="-127"/>
              </a:rPr>
              <a:t>deliveries delayed to '28, A350F to </a:t>
            </a:r>
            <a:r>
              <a:rPr lang="en-US" altLang="ko-KR" sz="900" dirty="0" smtClean="0">
                <a:solidFill>
                  <a:srgbClr val="3333FF"/>
                </a:solidFill>
                <a:latin typeface="나눔스퀘어" panose="020B0600000101010101" pitchFamily="50" charset="-127"/>
                <a:ea typeface="나눔스퀘어" panose="020B0600000101010101" pitchFamily="50" charset="-127"/>
              </a:rPr>
              <a:t>'27</a:t>
            </a:r>
            <a:endParaRPr lang="ko-KR" altLang="en-US" sz="900" dirty="0">
              <a:solidFill>
                <a:srgbClr val="3333FF"/>
              </a:solidFill>
              <a:latin typeface="나눔스퀘어" panose="020B0600000101010101" pitchFamily="50" charset="-127"/>
              <a:ea typeface="나눔스퀘어" panose="020B0600000101010101" pitchFamily="50" charset="-127"/>
            </a:endParaRPr>
          </a:p>
        </p:txBody>
      </p:sp>
      <p:grpSp>
        <p:nvGrpSpPr>
          <p:cNvPr id="59" name="그룹 58"/>
          <p:cNvGrpSpPr/>
          <p:nvPr/>
        </p:nvGrpSpPr>
        <p:grpSpPr>
          <a:xfrm>
            <a:off x="10020301" y="6290"/>
            <a:ext cx="1778422" cy="552569"/>
            <a:chOff x="10020301" y="6290"/>
            <a:chExt cx="1778422" cy="552569"/>
          </a:xfrm>
        </p:grpSpPr>
        <p:cxnSp>
          <p:nvCxnSpPr>
            <p:cNvPr id="60" name="직선 연결선 59"/>
            <p:cNvCxnSpPr/>
            <p:nvPr/>
          </p:nvCxnSpPr>
          <p:spPr>
            <a:xfrm>
              <a:off x="11671487" y="6290"/>
              <a:ext cx="0" cy="313957"/>
            </a:xfrm>
            <a:prstGeom prst="line">
              <a:avLst/>
            </a:prstGeom>
            <a:ln w="635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10020301" y="381709"/>
              <a:ext cx="1552032" cy="153888"/>
            </a:xfrm>
            <a:prstGeom prst="rect">
              <a:avLst/>
            </a:prstGeom>
            <a:noFill/>
            <a:ln w="9525">
              <a:noFill/>
              <a:miter lim="800000"/>
              <a:headEnd/>
              <a:tailEnd/>
            </a:ln>
          </p:spPr>
          <p:txBody>
            <a:bodyPr wrap="square" lIns="0" tIns="0" rIns="0" bIns="0" anchor="ctr">
              <a:spAutoFit/>
            </a:bodyPr>
            <a:lstStyle>
              <a:defPPr>
                <a:defRPr lang="ko-KR"/>
              </a:defPPr>
              <a:lvl1pPr defTabSz="914125" fontAlgn="base" latinLnBrk="0">
                <a:spcBef>
                  <a:spcPct val="0"/>
                </a:spcBef>
                <a:spcAft>
                  <a:spcPts val="200"/>
                </a:spcAft>
                <a:defRPr sz="1100" spc="-20">
                  <a:ln>
                    <a:solidFill>
                      <a:prstClr val="white">
                        <a:alpha val="0"/>
                      </a:prstClr>
                    </a:solidFill>
                  </a:ln>
                  <a:solidFill>
                    <a:schemeClr val="tx1">
                      <a:lumMod val="75000"/>
                      <a:lumOff val="25000"/>
                    </a:schemeClr>
                  </a:solidFill>
                  <a:latin typeface="KoPub돋움체 Bold" panose="02020603020101020101" pitchFamily="18" charset="-127"/>
                  <a:ea typeface="KoPub돋움체 Bold" panose="02020603020101020101" pitchFamily="18" charset="-127"/>
                  <a:cs typeface="Arial" charset="0"/>
                </a:defRPr>
              </a:lvl1pPr>
            </a:lstStyle>
            <a:p>
              <a:pPr lvl="0" algn="r">
                <a:defRPr/>
              </a:pPr>
              <a:r>
                <a:rPr lang="en-US" altLang="ko-KR"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rPr>
                <a:t>2026 2H Market Outlook</a:t>
              </a:r>
              <a:endParaRPr lang="ko-KR" altLang="en-US"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endParaRPr>
            </a:p>
          </p:txBody>
        </p:sp>
        <p:sp>
          <p:nvSpPr>
            <p:cNvPr id="62" name="타원 61"/>
            <p:cNvSpPr/>
            <p:nvPr/>
          </p:nvSpPr>
          <p:spPr>
            <a:xfrm>
              <a:off x="11340239"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20" normalizeH="0" baseline="0" noProof="0" dirty="0">
                <a:ln>
                  <a:solidFill>
                    <a:srgbClr val="C00000">
                      <a:alpha val="0"/>
                    </a:srgbClr>
                  </a:solidFill>
                </a:ln>
                <a:solidFill>
                  <a:prstClr val="white"/>
                </a:solidFill>
                <a:effectLst/>
                <a:uLnTx/>
                <a:uFillTx/>
                <a:latin typeface="나눔스퀘어" panose="020B0600000101010101" pitchFamily="50" charset="-127"/>
                <a:ea typeface="나눔스퀘어" panose="020B0600000101010101" pitchFamily="50" charset="-127"/>
                <a:cs typeface="+mn-cs"/>
              </a:endParaRPr>
            </a:p>
          </p:txBody>
        </p:sp>
        <p:sp>
          <p:nvSpPr>
            <p:cNvPr id="63" name="타원 62"/>
            <p:cNvSpPr/>
            <p:nvPr/>
          </p:nvSpPr>
          <p:spPr>
            <a:xfrm>
              <a:off x="11422266"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82" name="타원 81"/>
            <p:cNvSpPr/>
            <p:nvPr/>
          </p:nvSpPr>
          <p:spPr>
            <a:xfrm>
              <a:off x="11504294" y="290256"/>
              <a:ext cx="51827" cy="51827"/>
            </a:xfrm>
            <a:prstGeom prst="ellipse">
              <a:avLst/>
            </a:prstGeom>
            <a:solidFill>
              <a:srgbClr val="0146A0"/>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83" name="TextBox 82"/>
            <p:cNvSpPr txBox="1"/>
            <p:nvPr/>
          </p:nvSpPr>
          <p:spPr>
            <a:xfrm>
              <a:off x="11646437" y="343415"/>
              <a:ext cx="152286" cy="215444"/>
            </a:xfrm>
            <a:prstGeom prst="rect">
              <a:avLst/>
            </a:prstGeom>
            <a:noFill/>
          </p:spPr>
          <p:txBody>
            <a:bodyPr wrap="none" lIns="0" tIns="0" rIns="0" bIns="0" rtlCol="0" anchor="ctr" anchorCtr="0">
              <a:spAutoFit/>
            </a:bodyPr>
            <a:lstStyle>
              <a:defPPr>
                <a:defRPr lang="ko-KR"/>
              </a:defPPr>
              <a:lvl1pPr>
                <a:spcAft>
                  <a:spcPts val="300"/>
                </a:spcAft>
                <a:defRPr sz="2800" spc="-100">
                  <a:ln>
                    <a:solidFill>
                      <a:schemeClr val="bg1">
                        <a:alpha val="0"/>
                      </a:schemeClr>
                    </a:solidFill>
                  </a:ln>
                  <a:solidFill>
                    <a:srgbClr val="005B8D"/>
                  </a:solidFill>
                  <a:latin typeface="Times New Roman" panose="02020603050405020304" pitchFamily="18" charset="0"/>
                  <a:ea typeface="KoPub돋움체 Bold" panose="02020603020101020101" pitchFamily="18" charset="-127"/>
                  <a:cs typeface="Times New Roman" panose="02020603050405020304" pitchFamily="18" charset="0"/>
                </a:defRPr>
              </a:lvl1pPr>
            </a:lstStyle>
            <a:p>
              <a:pPr latinLnBrk="0">
                <a:defRPr/>
              </a:pPr>
              <a:r>
                <a:rPr lang="en-US" altLang="ko-KR" sz="1400" spc="-150" dirty="0" smtClean="0">
                  <a:ln>
                    <a:solidFill>
                      <a:prstClr val="white">
                        <a:alpha val="0"/>
                      </a:prstClr>
                    </a:solidFill>
                  </a:ln>
                  <a:solidFill>
                    <a:srgbClr val="0146A0"/>
                  </a:solidFill>
                  <a:ea typeface="KoPub돋움체 Medium" panose="02020603020101020101" pitchFamily="18" charset="-127"/>
                </a:rPr>
                <a:t>Ⅲ</a:t>
              </a:r>
              <a:endParaRPr lang="en-US" altLang="ko-KR" sz="1400" spc="-150" dirty="0">
                <a:ln>
                  <a:solidFill>
                    <a:prstClr val="white">
                      <a:alpha val="0"/>
                    </a:prstClr>
                  </a:solidFill>
                </a:ln>
                <a:solidFill>
                  <a:srgbClr val="0146A0"/>
                </a:solidFill>
                <a:ea typeface="KoPub돋움체 Medium" panose="02020603020101020101" pitchFamily="18" charset="-127"/>
              </a:endParaRPr>
            </a:p>
          </p:txBody>
        </p:sp>
      </p:grpSp>
      <p:pic>
        <p:nvPicPr>
          <p:cNvPr id="5" name="그림 4"/>
          <p:cNvPicPr>
            <a:picLocks noChangeAspect="1"/>
          </p:cNvPicPr>
          <p:nvPr/>
        </p:nvPicPr>
        <p:blipFill>
          <a:blip r:embed="rId5"/>
          <a:stretch>
            <a:fillRect/>
          </a:stretch>
        </p:blipFill>
        <p:spPr>
          <a:xfrm>
            <a:off x="6400093" y="4764797"/>
            <a:ext cx="5316173" cy="1804572"/>
          </a:xfrm>
          <a:prstGeom prst="rect">
            <a:avLst/>
          </a:prstGeom>
        </p:spPr>
      </p:pic>
      <p:grpSp>
        <p:nvGrpSpPr>
          <p:cNvPr id="55" name="그룹 54">
            <a:extLst>
              <a:ext uri="{FF2B5EF4-FFF2-40B4-BE49-F238E27FC236}">
                <a16:creationId xmlns:a16="http://schemas.microsoft.com/office/drawing/2014/main" id="{F1901E48-B53D-6506-5405-7DEBF109E30B}"/>
              </a:ext>
            </a:extLst>
          </p:cNvPr>
          <p:cNvGrpSpPr/>
          <p:nvPr/>
        </p:nvGrpSpPr>
        <p:grpSpPr>
          <a:xfrm>
            <a:off x="521699" y="2599033"/>
            <a:ext cx="5410242" cy="230832"/>
            <a:chOff x="522352" y="2590117"/>
            <a:chExt cx="5410242" cy="230832"/>
          </a:xfrm>
        </p:grpSpPr>
        <p:sp>
          <p:nvSpPr>
            <p:cNvPr id="58" name="직사각형 57">
              <a:extLst>
                <a:ext uri="{FF2B5EF4-FFF2-40B4-BE49-F238E27FC236}">
                  <a16:creationId xmlns:a16="http://schemas.microsoft.com/office/drawing/2014/main" id="{23A877DC-AE7A-42B7-FA1C-82DDBA18195D}"/>
                </a:ext>
              </a:extLst>
            </p:cNvPr>
            <p:cNvSpPr/>
            <p:nvPr/>
          </p:nvSpPr>
          <p:spPr>
            <a:xfrm>
              <a:off x="781342" y="2590117"/>
              <a:ext cx="5151252" cy="230832"/>
            </a:xfrm>
            <a:prstGeom prst="rect">
              <a:avLst/>
            </a:prstGeom>
            <a:noFill/>
          </p:spPr>
          <p:txBody>
            <a:bodyPr wrap="none" lIns="0" tIns="0" rIns="0" bIns="0" anchor="t">
              <a:noAutofit/>
            </a:bodyPr>
            <a:lstStyle/>
            <a:p>
              <a:pPr marR="608330" lvl="0" latinLnBrk="0">
                <a:defRPr/>
              </a:pPr>
              <a:r>
                <a:rPr lang="en-US" altLang="ko-KR"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New Order and Delivery Status</a:t>
              </a:r>
            </a:p>
          </p:txBody>
        </p:sp>
        <p:grpSp>
          <p:nvGrpSpPr>
            <p:cNvPr id="65" name="그룹 64">
              <a:extLst>
                <a:ext uri="{FF2B5EF4-FFF2-40B4-BE49-F238E27FC236}">
                  <a16:creationId xmlns:a16="http://schemas.microsoft.com/office/drawing/2014/main" id="{E7DF7FF3-3A0C-54A6-2CFC-EFC803C02E75}"/>
                </a:ext>
              </a:extLst>
            </p:cNvPr>
            <p:cNvGrpSpPr/>
            <p:nvPr/>
          </p:nvGrpSpPr>
          <p:grpSpPr>
            <a:xfrm>
              <a:off x="522352" y="2609533"/>
              <a:ext cx="192000" cy="192000"/>
              <a:chOff x="412816" y="1633655"/>
              <a:chExt cx="184804" cy="185998"/>
            </a:xfrm>
          </p:grpSpPr>
          <p:sp>
            <p:nvSpPr>
              <p:cNvPr id="66" name="모서리가 둥근 직사각형 65">
                <a:extLst>
                  <a:ext uri="{FF2B5EF4-FFF2-40B4-BE49-F238E27FC236}">
                    <a16:creationId xmlns:a16="http://schemas.microsoft.com/office/drawing/2014/main" id="{ACFD4B78-44F3-C9EC-0E4C-CDFEBFA96E65}"/>
                  </a:ext>
                </a:extLst>
              </p:cNvPr>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68" name="그룹 186">
                <a:extLst>
                  <a:ext uri="{FF2B5EF4-FFF2-40B4-BE49-F238E27FC236}">
                    <a16:creationId xmlns:a16="http://schemas.microsoft.com/office/drawing/2014/main" id="{8FAD1D07-96B7-2F90-2D67-D8FE24112EC3}"/>
                  </a:ext>
                </a:extLst>
              </p:cNvPr>
              <p:cNvGrpSpPr/>
              <p:nvPr/>
            </p:nvGrpSpPr>
            <p:grpSpPr>
              <a:xfrm>
                <a:off x="454440" y="1688440"/>
                <a:ext cx="106516" cy="76455"/>
                <a:chOff x="3366478" y="5412581"/>
                <a:chExt cx="126078" cy="89916"/>
              </a:xfrm>
              <a:solidFill>
                <a:schemeClr val="bg1"/>
              </a:solidFill>
            </p:grpSpPr>
            <p:sp>
              <p:nvSpPr>
                <p:cNvPr id="69" name="모서리가 둥근 직사각형 68">
                  <a:extLst>
                    <a:ext uri="{FF2B5EF4-FFF2-40B4-BE49-F238E27FC236}">
                      <a16:creationId xmlns:a16="http://schemas.microsoft.com/office/drawing/2014/main" id="{CCFA7DFB-B7B8-EE41-E1CC-E9D7BE39369E}"/>
                    </a:ext>
                  </a:extLst>
                </p:cNvPr>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71" name="모서리가 둥근 직사각형 70">
                  <a:extLst>
                    <a:ext uri="{FF2B5EF4-FFF2-40B4-BE49-F238E27FC236}">
                      <a16:creationId xmlns:a16="http://schemas.microsoft.com/office/drawing/2014/main" id="{F3DDF330-44BF-7DB5-CBAB-F5DE83FFCD3A}"/>
                    </a:ext>
                  </a:extLst>
                </p:cNvPr>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grpSp>
        <p:nvGrpSpPr>
          <p:cNvPr id="74" name="그룹 73">
            <a:extLst>
              <a:ext uri="{FF2B5EF4-FFF2-40B4-BE49-F238E27FC236}">
                <a16:creationId xmlns:a16="http://schemas.microsoft.com/office/drawing/2014/main" id="{EF295706-448F-E9F8-6950-97D9B68EEEB9}"/>
              </a:ext>
            </a:extLst>
          </p:cNvPr>
          <p:cNvGrpSpPr/>
          <p:nvPr/>
        </p:nvGrpSpPr>
        <p:grpSpPr>
          <a:xfrm>
            <a:off x="6290801" y="2599033"/>
            <a:ext cx="5410242" cy="230832"/>
            <a:chOff x="522352" y="2590117"/>
            <a:chExt cx="5410242" cy="230832"/>
          </a:xfrm>
        </p:grpSpPr>
        <p:sp>
          <p:nvSpPr>
            <p:cNvPr id="93" name="직사각형 92">
              <a:extLst>
                <a:ext uri="{FF2B5EF4-FFF2-40B4-BE49-F238E27FC236}">
                  <a16:creationId xmlns:a16="http://schemas.microsoft.com/office/drawing/2014/main" id="{4046860D-C324-CEDE-CB74-5CA6C157F262}"/>
                </a:ext>
              </a:extLst>
            </p:cNvPr>
            <p:cNvSpPr/>
            <p:nvPr/>
          </p:nvSpPr>
          <p:spPr>
            <a:xfrm>
              <a:off x="781342" y="2590117"/>
              <a:ext cx="5151252" cy="230832"/>
            </a:xfrm>
            <a:prstGeom prst="rect">
              <a:avLst/>
            </a:prstGeom>
            <a:noFill/>
          </p:spPr>
          <p:txBody>
            <a:bodyPr wrap="none" lIns="0" tIns="0" rIns="0" bIns="0" anchor="t">
              <a:noAutofit/>
            </a:bodyPr>
            <a:lstStyle/>
            <a:p>
              <a:pPr marR="608330" lvl="0" latinLnBrk="0">
                <a:defRPr/>
              </a:pPr>
              <a:r>
                <a:rPr lang="en-US" altLang="ko-KR" sz="1500" b="1" kern="100" spc="-50" dirty="0">
                  <a:latin typeface="나눔스퀘어 ExtraBold" panose="020B0600000101010101" pitchFamily="50" charset="-127"/>
                  <a:ea typeface="나눔스퀘어 ExtraBold" panose="020B0600000101010101" pitchFamily="50" charset="-127"/>
                  <a:cs typeface="바탕" panose="02030600000101010101" pitchFamily="18" charset="-127"/>
                </a:rPr>
                <a:t>Delivery bottleneck, a mid-to-long-term supply constraint</a:t>
              </a:r>
            </a:p>
          </p:txBody>
        </p:sp>
        <p:grpSp>
          <p:nvGrpSpPr>
            <p:cNvPr id="96" name="그룹 95">
              <a:extLst>
                <a:ext uri="{FF2B5EF4-FFF2-40B4-BE49-F238E27FC236}">
                  <a16:creationId xmlns:a16="http://schemas.microsoft.com/office/drawing/2014/main" id="{60F9DA37-A4B6-8083-096A-75F9B9A801BD}"/>
                </a:ext>
              </a:extLst>
            </p:cNvPr>
            <p:cNvGrpSpPr/>
            <p:nvPr/>
          </p:nvGrpSpPr>
          <p:grpSpPr>
            <a:xfrm>
              <a:off x="522352" y="2609533"/>
              <a:ext cx="192000" cy="192000"/>
              <a:chOff x="412816" y="1633655"/>
              <a:chExt cx="184804" cy="185998"/>
            </a:xfrm>
          </p:grpSpPr>
          <p:sp>
            <p:nvSpPr>
              <p:cNvPr id="97" name="모서리가 둥근 직사각형 96">
                <a:extLst>
                  <a:ext uri="{FF2B5EF4-FFF2-40B4-BE49-F238E27FC236}">
                    <a16:creationId xmlns:a16="http://schemas.microsoft.com/office/drawing/2014/main" id="{24C50D10-136A-C13B-7860-B3159558891F}"/>
                  </a:ext>
                </a:extLst>
              </p:cNvPr>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98" name="그룹 186">
                <a:extLst>
                  <a:ext uri="{FF2B5EF4-FFF2-40B4-BE49-F238E27FC236}">
                    <a16:creationId xmlns:a16="http://schemas.microsoft.com/office/drawing/2014/main" id="{7F155D93-9560-DFB2-BBD9-BAED35A39F72}"/>
                  </a:ext>
                </a:extLst>
              </p:cNvPr>
              <p:cNvGrpSpPr/>
              <p:nvPr/>
            </p:nvGrpSpPr>
            <p:grpSpPr>
              <a:xfrm>
                <a:off x="454440" y="1688440"/>
                <a:ext cx="106516" cy="76455"/>
                <a:chOff x="3366478" y="5412581"/>
                <a:chExt cx="126078" cy="89916"/>
              </a:xfrm>
              <a:solidFill>
                <a:schemeClr val="bg1"/>
              </a:solidFill>
            </p:grpSpPr>
            <p:sp>
              <p:nvSpPr>
                <p:cNvPr id="99" name="모서리가 둥근 직사각형 98">
                  <a:extLst>
                    <a:ext uri="{FF2B5EF4-FFF2-40B4-BE49-F238E27FC236}">
                      <a16:creationId xmlns:a16="http://schemas.microsoft.com/office/drawing/2014/main" id="{CAE7FADE-62C4-5B41-9772-EEDDAB1BD5C2}"/>
                    </a:ext>
                  </a:extLst>
                </p:cNvPr>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100" name="모서리가 둥근 직사각형 99">
                  <a:extLst>
                    <a:ext uri="{FF2B5EF4-FFF2-40B4-BE49-F238E27FC236}">
                      <a16:creationId xmlns:a16="http://schemas.microsoft.com/office/drawing/2014/main" id="{8D39F778-6FBA-9465-6FDC-3682D55B9DFB}"/>
                    </a:ext>
                  </a:extLst>
                </p:cNvPr>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sp>
        <p:nvSpPr>
          <p:cNvPr id="102" name="직사각형 25">
            <a:extLst>
              <a:ext uri="{FF2B5EF4-FFF2-40B4-BE49-F238E27FC236}">
                <a16:creationId xmlns:a16="http://schemas.microsoft.com/office/drawing/2014/main" id="{3F2A1EA1-CAA6-5D90-657A-21DA48D04A7D}"/>
              </a:ext>
            </a:extLst>
          </p:cNvPr>
          <p:cNvSpPr/>
          <p:nvPr/>
        </p:nvSpPr>
        <p:spPr>
          <a:xfrm>
            <a:off x="6395854" y="2900214"/>
            <a:ext cx="5796145" cy="1769715"/>
          </a:xfrm>
          <a:prstGeom prst="rect">
            <a:avLst/>
          </a:prstGeom>
        </p:spPr>
        <p:txBody>
          <a:bodyPr wrap="square">
            <a:spAutoFit/>
          </a:bodyPr>
          <a:lstStyle/>
          <a:p>
            <a:pPr marL="144000" indent="-144000" defTabSz="1038977" latinLnBrk="0">
              <a:spcAft>
                <a:spcPts val="600"/>
              </a:spcAft>
              <a:buFont typeface="Arial" panose="020B0604020202020204" pitchFamily="34" charset="0"/>
              <a:buChar char="•"/>
            </a:pPr>
            <a:r>
              <a:rPr lang="en-US" altLang="ko-KR" sz="1400" spc="-80" dirty="0">
                <a:latin typeface="나눔스퀘어" panose="020B0600000101010101" pitchFamily="50" charset="-127"/>
                <a:ea typeface="나눔스퀘어" panose="020B0600000101010101" pitchFamily="50" charset="-127"/>
              </a:rPr>
              <a:t>New aircraft backlog hits record high, growing dependence on aging fleet</a:t>
            </a:r>
          </a:p>
          <a:p>
            <a:pPr defTabSz="1038977" latinLnBrk="0">
              <a:spcAft>
                <a:spcPts val="600"/>
              </a:spcAft>
            </a:pPr>
            <a:r>
              <a:rPr lang="en-US" altLang="ko-KR" sz="1400" spc="-100" dirty="0" smtClean="0">
                <a:latin typeface="나눔스퀘어" panose="020B0600000101010101" pitchFamily="50" charset="-127"/>
                <a:ea typeface="나눔스퀘어" panose="020B0600000101010101" pitchFamily="50" charset="-127"/>
              </a:rPr>
              <a:t>  </a:t>
            </a:r>
            <a:r>
              <a:rPr lang="en-US" altLang="ko-KR" sz="1400" spc="-100" dirty="0">
                <a:latin typeface="나눔스퀘어" panose="020B0600000101010101" pitchFamily="50" charset="-127"/>
                <a:ea typeface="나눔스퀘어" panose="020B0600000101010101" pitchFamily="50" charset="-127"/>
              </a:rPr>
              <a:t>- As of May ‘26, backlog has surpassed 18,100 units, about 60% of total fleet</a:t>
            </a:r>
          </a:p>
          <a:p>
            <a:pPr defTabSz="1038977" latinLnBrk="0">
              <a:spcAft>
                <a:spcPts val="600"/>
              </a:spcAft>
            </a:pPr>
            <a:r>
              <a:rPr lang="en-US" altLang="ko-KR" sz="1400" spc="-80" dirty="0">
                <a:latin typeface="나눔스퀘어" panose="020B0600000101010101" pitchFamily="50" charset="-127"/>
                <a:ea typeface="나눔스퀘어" panose="020B0600000101010101" pitchFamily="50" charset="-127"/>
              </a:rPr>
              <a:t>  - </a:t>
            </a:r>
            <a:r>
              <a:rPr lang="en-US" altLang="ko-KR" sz="1400" spc="-80" dirty="0" err="1">
                <a:latin typeface="나눔스퀘어" panose="020B0600000101010101" pitchFamily="50" charset="-127"/>
                <a:ea typeface="나눔스퀘어" panose="020B0600000101010101" pitchFamily="50" charset="-127"/>
              </a:rPr>
              <a:t>Parts·engine</a:t>
            </a:r>
            <a:r>
              <a:rPr lang="en-US" altLang="ko-KR" sz="1400" spc="-80" dirty="0">
                <a:latin typeface="나눔스퀘어" panose="020B0600000101010101" pitchFamily="50" charset="-127"/>
                <a:ea typeface="나눔스퀘어" panose="020B0600000101010101" pitchFamily="50" charset="-127"/>
              </a:rPr>
              <a:t> delays and labor shortages slow output, backlog builds</a:t>
            </a:r>
          </a:p>
          <a:p>
            <a:pPr marL="144000" indent="-144000" defTabSz="1038977" latinLnBrk="0">
              <a:spcAft>
                <a:spcPts val="600"/>
              </a:spcAft>
              <a:buFont typeface="Arial" panose="020B0604020202020204" pitchFamily="34" charset="0"/>
              <a:buChar char="•"/>
            </a:pPr>
            <a:r>
              <a:rPr lang="en-US" altLang="ko-KR" sz="1400" spc="-80" dirty="0">
                <a:latin typeface="나눔스퀘어" panose="020B0600000101010101" pitchFamily="50" charset="-127"/>
                <a:ea typeface="나눔스퀘어" panose="020B0600000101010101" pitchFamily="50" charset="-127"/>
              </a:rPr>
              <a:t>Risk of freighter supply gap with aging and discontinuation of older models </a:t>
            </a:r>
          </a:p>
          <a:p>
            <a:pPr defTabSz="1038977" latinLnBrk="0">
              <a:spcAft>
                <a:spcPts val="600"/>
              </a:spcAft>
            </a:pPr>
            <a:r>
              <a:rPr lang="en-US" altLang="ko-KR" sz="1400" spc="-80" dirty="0">
                <a:latin typeface="나눔스퀘어" panose="020B0600000101010101" pitchFamily="50" charset="-127"/>
                <a:ea typeface="나눔스퀘어" panose="020B0600000101010101" pitchFamily="50" charset="-127"/>
              </a:rPr>
              <a:t>  - Retirement of aging aircraft is delayed, record high avg. age of 15.2 years</a:t>
            </a:r>
          </a:p>
          <a:p>
            <a:pPr defTabSz="1038977" latinLnBrk="0">
              <a:spcAft>
                <a:spcPts val="600"/>
              </a:spcAft>
            </a:pPr>
            <a:r>
              <a:rPr lang="en-US" altLang="ko-KR" sz="1400" spc="-100" dirty="0">
                <a:latin typeface="나눔스퀘어" panose="020B0600000101010101" pitchFamily="50" charset="-127"/>
                <a:ea typeface="나눔스퀘어" panose="020B0600000101010101" pitchFamily="50" charset="-127"/>
              </a:rPr>
              <a:t>  - Older freighter production ends + new delivery delays to add supply pressure</a:t>
            </a:r>
          </a:p>
        </p:txBody>
      </p:sp>
    </p:spTree>
    <p:extLst>
      <p:ext uri="{BB962C8B-B14F-4D97-AF65-F5344CB8AC3E}">
        <p14:creationId xmlns:p14="http://schemas.microsoft.com/office/powerpoint/2010/main" val="40925550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Air Market Outlook</a:t>
            </a:r>
            <a:endParaRPr lang="ko-KR" altLang="en-US" dirty="0"/>
          </a:p>
        </p:txBody>
      </p:sp>
      <p:sp>
        <p:nvSpPr>
          <p:cNvPr id="3" name="텍스트 개체 틀 2"/>
          <p:cNvSpPr>
            <a:spLocks noGrp="1"/>
          </p:cNvSpPr>
          <p:nvPr>
            <p:ph type="body" sz="quarter" idx="10"/>
          </p:nvPr>
        </p:nvSpPr>
        <p:spPr>
          <a:xfrm>
            <a:off x="515937" y="1288823"/>
            <a:ext cx="12199938" cy="771752"/>
          </a:xfrm>
        </p:spPr>
        <p:txBody>
          <a:bodyPr/>
          <a:lstStyle/>
          <a:p>
            <a:r>
              <a:rPr lang="en-US" altLang="ko-KR" spc="-100" dirty="0"/>
              <a:t>Demand weak in Q1 on slowdown; Q2 ME war supply/oil shocks sent rates surging on all routes, trend </a:t>
            </a:r>
            <a:r>
              <a:rPr lang="en-US" altLang="ko-KR" spc="-100" dirty="0" smtClean="0"/>
              <a:t>persisting</a:t>
            </a:r>
          </a:p>
          <a:p>
            <a:r>
              <a:rPr lang="en-US" altLang="ko-KR" spc="-100" dirty="0"/>
              <a:t>Q3 rates to fall on oil </a:t>
            </a:r>
            <a:r>
              <a:rPr lang="en-US" altLang="ko-KR" spc="-100" dirty="0" err="1"/>
              <a:t>normalization·e-commerce</a:t>
            </a:r>
            <a:r>
              <a:rPr lang="en-US" altLang="ko-KR" spc="-100" dirty="0"/>
              <a:t> </a:t>
            </a:r>
            <a:r>
              <a:rPr lang="en-US" altLang="ko-KR" spc="-100" dirty="0" err="1" smtClean="0"/>
              <a:t>slowdown·belly</a:t>
            </a:r>
            <a:r>
              <a:rPr lang="en-US" altLang="ko-KR" spc="-100" dirty="0" smtClean="0"/>
              <a:t> </a:t>
            </a:r>
            <a:r>
              <a:rPr lang="en-US" altLang="ko-KR" spc="-100" dirty="0"/>
              <a:t>capacity; Q4 to rise on AI demand and year-end peak</a:t>
            </a:r>
          </a:p>
        </p:txBody>
      </p:sp>
      <p:pic>
        <p:nvPicPr>
          <p:cNvPr id="24" name="그림 235"/>
          <p:cNvPicPr preferRelativeResize="0">
            <a:picLocks/>
          </p:cNvPicPr>
          <p:nvPr/>
        </p:nvPicPr>
        <p:blipFill>
          <a:blip r:embed="rId3" cstate="print">
            <a:extLst>
              <a:ext uri="{28A0092B-C50C-407E-A947-70E740481C1C}">
                <a14:useLocalDpi xmlns:a14="http://schemas.microsoft.com/office/drawing/2010/main" val="0"/>
              </a:ext>
            </a:extLst>
          </a:blip>
          <a:stretch>
            <a:fillRect/>
          </a:stretch>
        </p:blipFill>
        <p:spPr>
          <a:xfrm>
            <a:off x="6096000" y="1340768"/>
            <a:ext cx="115035" cy="4962877"/>
          </a:xfrm>
          <a:prstGeom prst="rect">
            <a:avLst/>
          </a:prstGeom>
        </p:spPr>
      </p:pic>
      <p:grpSp>
        <p:nvGrpSpPr>
          <p:cNvPr id="69" name="그룹 68"/>
          <p:cNvGrpSpPr/>
          <p:nvPr/>
        </p:nvGrpSpPr>
        <p:grpSpPr>
          <a:xfrm>
            <a:off x="6290801" y="4659629"/>
            <a:ext cx="5410242" cy="230832"/>
            <a:chOff x="522352" y="2590117"/>
            <a:chExt cx="5410242" cy="230832"/>
          </a:xfrm>
        </p:grpSpPr>
        <p:sp>
          <p:nvSpPr>
            <p:cNvPr id="70" name="직사각형 69">
              <a:extLst>
                <a:ext uri="{FF2B5EF4-FFF2-40B4-BE49-F238E27FC236}">
                  <a16:creationId xmlns:a16="http://schemas.microsoft.com/office/drawing/2014/main" id="{5E1BAC51-93E3-4E55-A59B-3BB621CD3405}"/>
                </a:ext>
              </a:extLst>
            </p:cNvPr>
            <p:cNvSpPr/>
            <p:nvPr/>
          </p:nvSpPr>
          <p:spPr>
            <a:xfrm>
              <a:off x="781342" y="2590117"/>
              <a:ext cx="5151252" cy="230832"/>
            </a:xfrm>
            <a:prstGeom prst="rect">
              <a:avLst/>
            </a:prstGeom>
            <a:noFill/>
          </p:spPr>
          <p:txBody>
            <a:bodyPr wrap="none" lIns="0" tIns="0" rIns="0" bIns="0" anchor="t">
              <a:noAutofit/>
            </a:bodyPr>
            <a:lstStyle/>
            <a:p>
              <a:pPr marR="608330" lvl="0" latinLnBrk="0">
                <a:defRPr/>
              </a:pPr>
              <a:r>
                <a:rPr lang="en-US" altLang="ko-KR"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Key Drivers in </a:t>
              </a:r>
              <a:r>
                <a:rPr lang="en-US" altLang="ko-KR" sz="1500" b="1" kern="100" dirty="0" smtClean="0">
                  <a:latin typeface="나눔스퀘어 ExtraBold" panose="020B0600000101010101" pitchFamily="50" charset="-127"/>
                  <a:ea typeface="나눔스퀘어 ExtraBold" panose="020B0600000101010101" pitchFamily="50" charset="-127"/>
                  <a:cs typeface="바탕" panose="02030600000101010101" pitchFamily="18" charset="-127"/>
                </a:rPr>
                <a:t>4Q</a:t>
              </a:r>
              <a:endParaRPr lang="ko-KR" altLang="en-US"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endParaRPr>
            </a:p>
          </p:txBody>
        </p:sp>
        <p:grpSp>
          <p:nvGrpSpPr>
            <p:cNvPr id="71" name="그룹 70"/>
            <p:cNvGrpSpPr/>
            <p:nvPr/>
          </p:nvGrpSpPr>
          <p:grpSpPr>
            <a:xfrm>
              <a:off x="522352" y="2609533"/>
              <a:ext cx="192000" cy="192000"/>
              <a:chOff x="412816" y="1633655"/>
              <a:chExt cx="184804" cy="185998"/>
            </a:xfrm>
          </p:grpSpPr>
          <p:sp>
            <p:nvSpPr>
              <p:cNvPr id="72" name="모서리가 둥근 직사각형 71"/>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73" name="그룹 186"/>
              <p:cNvGrpSpPr/>
              <p:nvPr/>
            </p:nvGrpSpPr>
            <p:grpSpPr>
              <a:xfrm>
                <a:off x="454440" y="1688440"/>
                <a:ext cx="106516" cy="76455"/>
                <a:chOff x="3366478" y="5412581"/>
                <a:chExt cx="126078" cy="89916"/>
              </a:xfrm>
              <a:solidFill>
                <a:schemeClr val="bg1"/>
              </a:solidFill>
            </p:grpSpPr>
            <p:sp>
              <p:nvSpPr>
                <p:cNvPr id="74" name="모서리가 둥근 직사각형 73"/>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75" name="모서리가 둥근 직사각형 74"/>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grpSp>
        <p:nvGrpSpPr>
          <p:cNvPr id="77" name="组合 2"/>
          <p:cNvGrpSpPr/>
          <p:nvPr/>
        </p:nvGrpSpPr>
        <p:grpSpPr>
          <a:xfrm>
            <a:off x="503790" y="2117975"/>
            <a:ext cx="11167279" cy="374400"/>
            <a:chOff x="386534" y="1461600"/>
            <a:chExt cx="8375459" cy="280800"/>
          </a:xfrm>
        </p:grpSpPr>
        <p:grpSp>
          <p:nvGrpSpPr>
            <p:cNvPr id="78" name="그룹 46"/>
            <p:cNvGrpSpPr/>
            <p:nvPr/>
          </p:nvGrpSpPr>
          <p:grpSpPr>
            <a:xfrm>
              <a:off x="386535" y="1461600"/>
              <a:ext cx="8375458" cy="280800"/>
              <a:chOff x="386535" y="1383614"/>
              <a:chExt cx="8375458" cy="280800"/>
            </a:xfrm>
          </p:grpSpPr>
          <p:grpSp>
            <p:nvGrpSpPr>
              <p:cNvPr id="101" name="그룹 48"/>
              <p:cNvGrpSpPr/>
              <p:nvPr/>
            </p:nvGrpSpPr>
            <p:grpSpPr>
              <a:xfrm>
                <a:off x="386535" y="1383614"/>
                <a:ext cx="4077119" cy="280800"/>
                <a:chOff x="515380" y="1844820"/>
                <a:chExt cx="5436158" cy="374400"/>
              </a:xfrm>
            </p:grpSpPr>
            <p:sp>
              <p:nvSpPr>
                <p:cNvPr id="105" name="Rectangle 215"/>
                <p:cNvSpPr>
                  <a:spLocks noChangeArrowheads="1"/>
                </p:cNvSpPr>
                <p:nvPr/>
              </p:nvSpPr>
              <p:spPr bwMode="auto">
                <a:xfrm>
                  <a:off x="515380" y="1844820"/>
                  <a:ext cx="5436158"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106" name="TextBox 116"/>
                <p:cNvSpPr txBox="1">
                  <a:spLocks noChangeArrowheads="1"/>
                </p:cNvSpPr>
                <p:nvPr/>
              </p:nvSpPr>
              <p:spPr bwMode="auto">
                <a:xfrm>
                  <a:off x="673467" y="1915641"/>
                  <a:ext cx="511998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lvl="0" algn="ctr" defTabSz="1038977" eaLnBrk="1" hangingPunct="1"/>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Freight Rate Outlook</a:t>
                  </a:r>
                </a:p>
              </p:txBody>
            </p:sp>
          </p:grpSp>
          <p:grpSp>
            <p:nvGrpSpPr>
              <p:cNvPr id="102" name="그룹 52"/>
              <p:cNvGrpSpPr/>
              <p:nvPr/>
            </p:nvGrpSpPr>
            <p:grpSpPr>
              <a:xfrm>
                <a:off x="4684993" y="1383614"/>
                <a:ext cx="4077000" cy="280800"/>
                <a:chOff x="6246657" y="1854463"/>
                <a:chExt cx="5436000" cy="374400"/>
              </a:xfrm>
            </p:grpSpPr>
            <p:sp>
              <p:nvSpPr>
                <p:cNvPr id="103" name="Rectangle 215"/>
                <p:cNvSpPr>
                  <a:spLocks noChangeArrowheads="1"/>
                </p:cNvSpPr>
                <p:nvPr/>
              </p:nvSpPr>
              <p:spPr bwMode="auto">
                <a:xfrm>
                  <a:off x="6246657" y="1854463"/>
                  <a:ext cx="5436000"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104" name="TextBox 116"/>
                <p:cNvSpPr txBox="1">
                  <a:spLocks noChangeArrowheads="1"/>
                </p:cNvSpPr>
                <p:nvPr/>
              </p:nvSpPr>
              <p:spPr bwMode="auto">
                <a:xfrm>
                  <a:off x="6404665" y="1907501"/>
                  <a:ext cx="511998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algn="ctr" defTabSz="1038977" eaLnBrk="1" hangingPunct="1"/>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Key Drivers by Quarter</a:t>
                  </a:r>
                  <a:endParaRPr kumimoji="0" lang="ko-KR" altLang="en-US"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grpSp>
        </p:grpSp>
        <p:grpSp>
          <p:nvGrpSpPr>
            <p:cNvPr id="79" name="그룹 62"/>
            <p:cNvGrpSpPr/>
            <p:nvPr/>
          </p:nvGrpSpPr>
          <p:grpSpPr>
            <a:xfrm>
              <a:off x="386534" y="1461600"/>
              <a:ext cx="585066" cy="276223"/>
              <a:chOff x="-1523239" y="1275702"/>
              <a:chExt cx="564992" cy="357603"/>
            </a:xfrm>
          </p:grpSpPr>
          <p:sp>
            <p:nvSpPr>
              <p:cNvPr id="99" name="자유형 63"/>
              <p:cNvSpPr/>
              <p:nvPr/>
            </p:nvSpPr>
            <p:spPr>
              <a:xfrm>
                <a:off x="-1523239" y="1275702"/>
                <a:ext cx="564991" cy="357603"/>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100" name="자유형 64"/>
              <p:cNvSpPr/>
              <p:nvPr/>
            </p:nvSpPr>
            <p:spPr>
              <a:xfrm>
                <a:off x="-1523239" y="1275702"/>
                <a:ext cx="564992" cy="357603"/>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grpSp>
        <p:grpSp>
          <p:nvGrpSpPr>
            <p:cNvPr id="80" name="그룹 62"/>
            <p:cNvGrpSpPr/>
            <p:nvPr/>
          </p:nvGrpSpPr>
          <p:grpSpPr>
            <a:xfrm>
              <a:off x="4686893" y="1462337"/>
              <a:ext cx="585066" cy="276223"/>
              <a:chOff x="-1523239" y="1275702"/>
              <a:chExt cx="564992" cy="357603"/>
            </a:xfrm>
          </p:grpSpPr>
          <p:sp>
            <p:nvSpPr>
              <p:cNvPr id="81" name="자유형 63"/>
              <p:cNvSpPr/>
              <p:nvPr/>
            </p:nvSpPr>
            <p:spPr>
              <a:xfrm>
                <a:off x="-1523239" y="1275702"/>
                <a:ext cx="564991" cy="357603"/>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98" name="자유형 64"/>
              <p:cNvSpPr/>
              <p:nvPr/>
            </p:nvSpPr>
            <p:spPr>
              <a:xfrm>
                <a:off x="-1523239" y="1275702"/>
                <a:ext cx="564992" cy="357603"/>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grpSp>
      </p:grpSp>
      <p:pic>
        <p:nvPicPr>
          <p:cNvPr id="107" name="Picture 200" descr="악세사리"/>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6200000">
            <a:off x="4339689" y="4546810"/>
            <a:ext cx="3535193" cy="91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2" name="슬라이드 번호 개체 틀 5">
            <a:extLst>
              <a:ext uri="{FF2B5EF4-FFF2-40B4-BE49-F238E27FC236}">
                <a16:creationId xmlns:a16="http://schemas.microsoft.com/office/drawing/2014/main" id="{FAC1EB1B-E602-0247-88AB-A89AF71255A6}"/>
              </a:ext>
            </a:extLst>
          </p:cNvPr>
          <p:cNvSpPr txBox="1">
            <a:spLocks/>
          </p:cNvSpPr>
          <p:nvPr/>
        </p:nvSpPr>
        <p:spPr>
          <a:xfrm>
            <a:off x="5419725" y="6426152"/>
            <a:ext cx="788332" cy="326455"/>
          </a:xfrm>
          <a:prstGeom prst="rect">
            <a:avLst/>
          </a:prstGeom>
        </p:spPr>
        <p:txBody>
          <a:bodyPr lIns="162531" tIns="81264" rIns="162531" bIns="81264" anchor="ctr"/>
          <a:lstStyle>
            <a:lvl1pPr algn="r">
              <a:defRPr sz="1200">
                <a:solidFill>
                  <a:schemeClr val="tx1">
                    <a:tint val="75000"/>
                  </a:schemeClr>
                </a:solidFill>
              </a:defRPr>
            </a:lvl1pPr>
          </a:lstStyle>
          <a:p>
            <a:pPr defTabSz="1219048">
              <a:defRPr/>
            </a:pPr>
            <a:r>
              <a:rPr lang="en-US" altLang="ko-KR" dirty="0" smtClean="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rPr>
              <a:t>16</a:t>
            </a:r>
            <a:endParaRPr lang="ko-KR" altLang="en-US"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endParaRPr>
          </a:p>
        </p:txBody>
      </p:sp>
      <p:graphicFrame>
        <p:nvGraphicFramePr>
          <p:cNvPr id="50" name="차트 49">
            <a:extLst>
              <a:ext uri="{FF2B5EF4-FFF2-40B4-BE49-F238E27FC236}">
                <a16:creationId xmlns:a16="http://schemas.microsoft.com/office/drawing/2014/main" id="{7741D2C9-0DA3-F642-83D2-4D9B60797901}"/>
              </a:ext>
            </a:extLst>
          </p:cNvPr>
          <p:cNvGraphicFramePr/>
          <p:nvPr>
            <p:extLst/>
          </p:nvPr>
        </p:nvGraphicFramePr>
        <p:xfrm>
          <a:off x="463150" y="2790540"/>
          <a:ext cx="5422225" cy="3630580"/>
        </p:xfrm>
        <a:graphic>
          <a:graphicData uri="http://schemas.openxmlformats.org/drawingml/2006/chart">
            <c:chart xmlns:c="http://schemas.openxmlformats.org/drawingml/2006/chart" xmlns:r="http://schemas.openxmlformats.org/officeDocument/2006/relationships" r:id="rId5"/>
          </a:graphicData>
        </a:graphic>
      </p:graphicFrame>
      <p:sp>
        <p:nvSpPr>
          <p:cNvPr id="90" name="직사각형 25"/>
          <p:cNvSpPr/>
          <p:nvPr/>
        </p:nvSpPr>
        <p:spPr>
          <a:xfrm>
            <a:off x="6446818" y="2834957"/>
            <a:ext cx="5431530" cy="1798845"/>
          </a:xfrm>
          <a:prstGeom prst="rect">
            <a:avLst/>
          </a:prstGeom>
        </p:spPr>
        <p:txBody>
          <a:bodyPr wrap="square">
            <a:noAutofit/>
          </a:bodyPr>
          <a:lstStyle/>
          <a:p>
            <a:pPr defTabSz="1038977" latinLnBrk="0">
              <a:spcAft>
                <a:spcPts val="600"/>
              </a:spcAft>
            </a:pPr>
            <a:r>
              <a:rPr lang="en-US" altLang="ko-KR" sz="1400" spc="-100" dirty="0">
                <a:latin typeface="나눔스퀘어" panose="020B0600000101010101" pitchFamily="50" charset="-127"/>
                <a:ea typeface="나눔스퀘어" panose="020B0600000101010101" pitchFamily="50" charset="-127"/>
              </a:rPr>
              <a:t>① </a:t>
            </a:r>
            <a:r>
              <a:rPr lang="en-US" altLang="ko-KR" sz="1400" spc="-100" dirty="0" err="1">
                <a:latin typeface="나눔스퀘어" panose="020B0600000101010101" pitchFamily="50" charset="-127"/>
                <a:ea typeface="나눔스퀘어" panose="020B0600000101010101" pitchFamily="50" charset="-127"/>
              </a:rPr>
              <a:t>Oil·jet</a:t>
            </a:r>
            <a:r>
              <a:rPr lang="en-US" altLang="ko-KR" sz="1400" spc="-100" dirty="0">
                <a:latin typeface="나눔스퀘어" panose="020B0600000101010101" pitchFamily="50" charset="-127"/>
                <a:ea typeface="나눔스퀘어" panose="020B0600000101010101" pitchFamily="50" charset="-127"/>
              </a:rPr>
              <a:t> fuel surge normalizes: easing costs and airlines' operating </a:t>
            </a:r>
            <a:r>
              <a:rPr lang="en-US" altLang="ko-KR" sz="1400" spc="-100" dirty="0" smtClean="0">
                <a:latin typeface="나눔스퀘어" panose="020B0600000101010101" pitchFamily="50" charset="-127"/>
                <a:ea typeface="나눔스퀘어" panose="020B0600000101010101" pitchFamily="50" charset="-127"/>
              </a:rPr>
              <a:t>burden</a:t>
            </a:r>
          </a:p>
          <a:p>
            <a:pPr defTabSz="1038977" latinLnBrk="0">
              <a:spcAft>
                <a:spcPts val="600"/>
              </a:spcAft>
            </a:pPr>
            <a:r>
              <a:rPr lang="en-US" altLang="ko-KR" sz="1400" spc="-100" dirty="0" smtClean="0">
                <a:latin typeface="나눔스퀘어" panose="020B0600000101010101" pitchFamily="50" charset="-127"/>
                <a:ea typeface="나눔스퀘어" panose="020B0600000101010101" pitchFamily="50" charset="-127"/>
              </a:rPr>
              <a:t> </a:t>
            </a:r>
            <a:r>
              <a:rPr lang="en-US" altLang="ko-KR" sz="1400" spc="-100" dirty="0">
                <a:latin typeface="나눔스퀘어" panose="020B0600000101010101" pitchFamily="50" charset="-127"/>
                <a:ea typeface="나눔스퀘어" panose="020B0600000101010101" pitchFamily="50" charset="-127"/>
              </a:rPr>
              <a:t>- </a:t>
            </a:r>
            <a:r>
              <a:rPr lang="en-US" altLang="ko-KR" sz="1400" spc="-100" dirty="0" smtClean="0">
                <a:latin typeface="나눔스퀘어" panose="020B0600000101010101" pitchFamily="50" charset="-127"/>
                <a:ea typeface="나눔스퀘어" panose="020B0600000101010101" pitchFamily="50" charset="-127"/>
              </a:rPr>
              <a:t>Demand-focused long-distance routes, summer passenger recovery</a:t>
            </a:r>
          </a:p>
          <a:p>
            <a:pPr marL="228600" indent="-228600" defTabSz="1038977" latinLnBrk="0">
              <a:spcAft>
                <a:spcPts val="600"/>
              </a:spcAft>
              <a:buAutoNum type="circleNumDbPlain" startAt="2"/>
            </a:pPr>
            <a:r>
              <a:rPr lang="en-US" altLang="ko-KR" sz="1400" dirty="0" smtClean="0">
                <a:latin typeface="나눔스퀘어" panose="020B0600000101010101" pitchFamily="50" charset="-127"/>
                <a:ea typeface="나눔스퀘어" panose="020B0600000101010101" pitchFamily="50" charset="-127"/>
              </a:rPr>
              <a:t>Pre-launch </a:t>
            </a:r>
            <a:r>
              <a:rPr lang="en-US" altLang="ko-KR" sz="1400" dirty="0">
                <a:latin typeface="나눔스퀘어" panose="020B0600000101010101" pitchFamily="50" charset="-127"/>
                <a:ea typeface="나눔스퀘어" panose="020B0600000101010101" pitchFamily="50" charset="-127"/>
              </a:rPr>
              <a:t>shipments </a:t>
            </a:r>
            <a:r>
              <a:rPr lang="en-US" altLang="ko-KR" sz="1400" dirty="0" smtClean="0">
                <a:latin typeface="나눔스퀘어" panose="020B0600000101010101" pitchFamily="50" charset="-127"/>
                <a:ea typeface="나눔스퀘어" panose="020B0600000101010101" pitchFamily="50" charset="-127"/>
              </a:rPr>
              <a:t>ahead </a:t>
            </a:r>
            <a:r>
              <a:rPr lang="en-US" altLang="ko-KR" sz="1400" dirty="0">
                <a:latin typeface="나눔스퀘어" panose="020B0600000101010101" pitchFamily="50" charset="-127"/>
                <a:ea typeface="나눔스퀘어" panose="020B0600000101010101" pitchFamily="50" charset="-127"/>
              </a:rPr>
              <a:t>of new mobile/PC </a:t>
            </a:r>
            <a:r>
              <a:rPr lang="en-US" altLang="ko-KR" sz="1400" dirty="0" smtClean="0">
                <a:latin typeface="나눔스퀘어" panose="020B0600000101010101" pitchFamily="50" charset="-127"/>
                <a:ea typeface="나눔스퀘어" panose="020B0600000101010101" pitchFamily="50" charset="-127"/>
              </a:rPr>
              <a:t>releases</a:t>
            </a:r>
          </a:p>
          <a:p>
            <a:pPr defTabSz="1038977" latinLnBrk="0">
              <a:spcAft>
                <a:spcPts val="600"/>
              </a:spcAft>
            </a:pPr>
            <a:r>
              <a:rPr lang="en-US" altLang="ko-KR" sz="1400" spc="-100" dirty="0" smtClean="0">
                <a:latin typeface="나눔스퀘어" panose="020B0600000101010101" pitchFamily="50" charset="-127"/>
                <a:ea typeface="나눔스퀘어" panose="020B0600000101010101" pitchFamily="50" charset="-127"/>
              </a:rPr>
              <a:t> </a:t>
            </a:r>
            <a:r>
              <a:rPr lang="en-US" altLang="ko-KR" sz="1400" spc="-100" dirty="0">
                <a:latin typeface="나눔스퀘어" panose="020B0600000101010101" pitchFamily="50" charset="-127"/>
                <a:ea typeface="나눔스퀘어" panose="020B0600000101010101" pitchFamily="50" charset="-127"/>
              </a:rPr>
              <a:t>- Aug–Oct </a:t>
            </a:r>
            <a:r>
              <a:rPr lang="en-US" altLang="ko-KR" sz="1400" spc="-100" dirty="0" err="1">
                <a:latin typeface="나눔스퀘어" panose="020B0600000101010101" pitchFamily="50" charset="-127"/>
                <a:ea typeface="나눔스퀘어" panose="020B0600000101010101" pitchFamily="50" charset="-127"/>
              </a:rPr>
              <a:t>initial·inventory</a:t>
            </a:r>
            <a:r>
              <a:rPr lang="en-US" altLang="ko-KR" sz="1400" spc="-100" dirty="0">
                <a:latin typeface="나눔스퀘어" panose="020B0600000101010101" pitchFamily="50" charset="-127"/>
                <a:ea typeface="나눔스퀘어" panose="020B0600000101010101" pitchFamily="50" charset="-127"/>
              </a:rPr>
              <a:t> shipments; </a:t>
            </a:r>
            <a:r>
              <a:rPr lang="en-US" altLang="ko-KR" sz="1400" spc="-100" dirty="0" smtClean="0">
                <a:latin typeface="나눔스퀘어" panose="020B0600000101010101" pitchFamily="50" charset="-127"/>
                <a:ea typeface="나눔스퀘어" panose="020B0600000101010101" pitchFamily="50" charset="-127"/>
              </a:rPr>
              <a:t> </a:t>
            </a:r>
            <a:r>
              <a:rPr lang="en-US" altLang="ko-KR" sz="1400" spc="-100" dirty="0">
                <a:latin typeface="나눔스퀘어" panose="020B0600000101010101" pitchFamily="50" charset="-127"/>
                <a:ea typeface="나눔스퀘어" panose="020B0600000101010101" pitchFamily="50" charset="-127"/>
              </a:rPr>
              <a:t>seasonal demand from SE </a:t>
            </a:r>
            <a:r>
              <a:rPr lang="en-US" altLang="ko-KR" sz="1400" spc="-100" dirty="0" err="1" smtClean="0">
                <a:latin typeface="나눔스퀘어" panose="020B0600000101010101" pitchFamily="50" charset="-127"/>
                <a:ea typeface="나눔스퀘어" panose="020B0600000101010101" pitchFamily="50" charset="-127"/>
              </a:rPr>
              <a:t>Asia·India</a:t>
            </a:r>
            <a:endParaRPr lang="en-US" altLang="ko-KR" sz="1400" spc="-100" dirty="0" smtClean="0">
              <a:latin typeface="나눔스퀘어" panose="020B0600000101010101" pitchFamily="50" charset="-127"/>
              <a:ea typeface="나눔스퀘어" panose="020B0600000101010101" pitchFamily="50" charset="-127"/>
            </a:endParaRPr>
          </a:p>
          <a:p>
            <a:pPr defTabSz="1038977" latinLnBrk="0">
              <a:spcAft>
                <a:spcPts val="600"/>
              </a:spcAft>
            </a:pPr>
            <a:r>
              <a:rPr lang="en-US" altLang="ko-KR" sz="1400" spc="-100" dirty="0" smtClean="0">
                <a:latin typeface="나눔스퀘어" panose="020B0600000101010101" pitchFamily="50" charset="-127"/>
                <a:ea typeface="나눔스퀘어" panose="020B0600000101010101" pitchFamily="50" charset="-127"/>
              </a:rPr>
              <a:t>③ Slowing growth of e-commerce and low-value parcel duties in EU</a:t>
            </a:r>
          </a:p>
          <a:p>
            <a:pPr defTabSz="1038977" latinLnBrk="0">
              <a:spcAft>
                <a:spcPts val="600"/>
              </a:spcAft>
            </a:pPr>
            <a:r>
              <a:rPr lang="en-US" altLang="ko-KR" sz="1400" spc="-100" dirty="0">
                <a:latin typeface="나눔스퀘어" panose="020B0600000101010101" pitchFamily="50" charset="-127"/>
                <a:ea typeface="나눔스퀘어" panose="020B0600000101010101" pitchFamily="50" charset="-127"/>
              </a:rPr>
              <a:t>- After June's China front-loading, e-commerce volume slightly </a:t>
            </a:r>
            <a:r>
              <a:rPr lang="en-US" altLang="ko-KR" sz="1400" spc="-100" dirty="0" smtClean="0">
                <a:latin typeface="나눔스퀘어" panose="020B0600000101010101" pitchFamily="50" charset="-127"/>
                <a:ea typeface="나눔스퀘어" panose="020B0600000101010101" pitchFamily="50" charset="-127"/>
              </a:rPr>
              <a:t>weaker </a:t>
            </a:r>
            <a:r>
              <a:rPr lang="en-US" altLang="ko-KR" sz="1400" spc="-100" dirty="0">
                <a:latin typeface="나눔스퀘어" panose="020B0600000101010101" pitchFamily="50" charset="-127"/>
                <a:ea typeface="나눔스퀘어" panose="020B0600000101010101" pitchFamily="50" charset="-127"/>
              </a:rPr>
              <a:t>YoY</a:t>
            </a:r>
          </a:p>
        </p:txBody>
      </p:sp>
      <p:sp>
        <p:nvSpPr>
          <p:cNvPr id="92" name="모서리가 둥근 직사각형 91">
            <a:extLst>
              <a:ext uri="{FF2B5EF4-FFF2-40B4-BE49-F238E27FC236}">
                <a16:creationId xmlns:a16="http://schemas.microsoft.com/office/drawing/2014/main" id="{7E1F52C9-5C29-6145-B718-B5C4D92DE462}"/>
              </a:ext>
            </a:extLst>
          </p:cNvPr>
          <p:cNvSpPr/>
          <p:nvPr/>
        </p:nvSpPr>
        <p:spPr>
          <a:xfrm>
            <a:off x="1628945" y="4013813"/>
            <a:ext cx="1962466" cy="216343"/>
          </a:xfrm>
          <a:prstGeom prst="roundRect">
            <a:avLst>
              <a:gd name="adj" fmla="val 50000"/>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spc="-100" dirty="0" smtClean="0">
                <a:ln>
                  <a:solidFill>
                    <a:prstClr val="white">
                      <a:alpha val="0"/>
                    </a:prstClr>
                  </a:solidFill>
                </a:ln>
                <a:solidFill>
                  <a:prstClr val="white"/>
                </a:solidFill>
                <a:latin typeface="나눔스퀘어 ExtraBold" panose="020B0600000101010101" pitchFamily="50" charset="-127"/>
                <a:ea typeface="나눔스퀘어 ExtraBold" panose="020B0600000101010101" pitchFamily="50" charset="-127"/>
              </a:rPr>
              <a:t>Middle East war, supply shock</a:t>
            </a:r>
            <a:endParaRPr lang="en-US" altLang="ko-KR" sz="1000" spc="-100" dirty="0">
              <a:ln>
                <a:solidFill>
                  <a:prstClr val="white">
                    <a:alpha val="0"/>
                  </a:prstClr>
                </a:solidFill>
              </a:ln>
              <a:solidFill>
                <a:prstClr val="white"/>
              </a:solidFill>
              <a:latin typeface="나눔스퀘어 ExtraBold" panose="020B0600000101010101" pitchFamily="50" charset="-127"/>
              <a:ea typeface="나눔스퀘어 ExtraBold" panose="020B0600000101010101" pitchFamily="50" charset="-127"/>
            </a:endParaRPr>
          </a:p>
        </p:txBody>
      </p:sp>
      <p:sp>
        <p:nvSpPr>
          <p:cNvPr id="110" name="모서리가 둥근 직사각형 109">
            <a:extLst>
              <a:ext uri="{FF2B5EF4-FFF2-40B4-BE49-F238E27FC236}">
                <a16:creationId xmlns:a16="http://schemas.microsoft.com/office/drawing/2014/main" id="{DF6A4E30-47DD-BA43-82AE-D616BB0D8072}"/>
              </a:ext>
            </a:extLst>
          </p:cNvPr>
          <p:cNvSpPr/>
          <p:nvPr/>
        </p:nvSpPr>
        <p:spPr>
          <a:xfrm>
            <a:off x="3562510" y="4275766"/>
            <a:ext cx="1513989" cy="212387"/>
          </a:xfrm>
          <a:prstGeom prst="roundRect">
            <a:avLst>
              <a:gd name="adj" fmla="val 50000"/>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spc="-100" dirty="0" smtClean="0">
                <a:ln>
                  <a:solidFill>
                    <a:prstClr val="white">
                      <a:alpha val="0"/>
                    </a:prstClr>
                  </a:solidFill>
                </a:ln>
                <a:solidFill>
                  <a:prstClr val="white"/>
                </a:solidFill>
                <a:latin typeface="나눔스퀘어 ExtraBold" panose="020B0600000101010101" pitchFamily="50" charset="-127"/>
                <a:ea typeface="나눔스퀘어 ExtraBold" panose="020B0600000101010101" pitchFamily="50" charset="-127"/>
              </a:rPr>
              <a:t>New mobile/PC launches</a:t>
            </a:r>
            <a:endParaRPr lang="en-US" altLang="ko-KR" sz="1000" spc="-100" dirty="0">
              <a:ln>
                <a:solidFill>
                  <a:prstClr val="white">
                    <a:alpha val="0"/>
                  </a:prstClr>
                </a:solidFill>
              </a:ln>
              <a:solidFill>
                <a:prstClr val="white"/>
              </a:solidFill>
              <a:latin typeface="나눔스퀘어 ExtraBold" panose="020B0600000101010101" pitchFamily="50" charset="-127"/>
              <a:ea typeface="나눔스퀘어 ExtraBold" panose="020B0600000101010101" pitchFamily="50" charset="-127"/>
            </a:endParaRPr>
          </a:p>
        </p:txBody>
      </p:sp>
      <p:sp>
        <p:nvSpPr>
          <p:cNvPr id="111" name="모서리가 둥근 직사각형 110"/>
          <p:cNvSpPr/>
          <p:nvPr/>
        </p:nvSpPr>
        <p:spPr>
          <a:xfrm>
            <a:off x="3254846" y="5120920"/>
            <a:ext cx="1517179" cy="239115"/>
          </a:xfrm>
          <a:prstGeom prst="roundRect">
            <a:avLst>
              <a:gd name="adj" fmla="val 50000"/>
            </a:avLst>
          </a:prstGeom>
          <a:solidFill>
            <a:srgbClr val="3CD0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ko-KR" sz="1000" spc="-100" dirty="0" smtClean="0">
                <a:latin typeface="나눔스퀘어 ExtraBold" panose="020B0600000101010101" pitchFamily="50" charset="-127"/>
                <a:ea typeface="나눔스퀘어 ExtraBold" panose="020B0600000101010101" pitchFamily="50" charset="-127"/>
              </a:rPr>
              <a:t>E-commerce slowdown</a:t>
            </a:r>
            <a:endParaRPr lang="en-US" altLang="ko-KR" sz="1000" b="1" spc="-100" dirty="0">
              <a:ln>
                <a:solidFill>
                  <a:prstClr val="white">
                    <a:alpha val="0"/>
                  </a:prstClr>
                </a:solidFill>
              </a:ln>
              <a:solidFill>
                <a:prstClr val="white"/>
              </a:solidFill>
              <a:latin typeface="나눔스퀘어 ExtraBold" panose="020B0600000101010101" pitchFamily="50" charset="-127"/>
              <a:ea typeface="나눔스퀘어 ExtraBold" panose="020B0600000101010101" pitchFamily="50" charset="-127"/>
            </a:endParaRPr>
          </a:p>
        </p:txBody>
      </p:sp>
      <p:sp>
        <p:nvSpPr>
          <p:cNvPr id="114" name="모서리가 둥근 직사각형 113"/>
          <p:cNvSpPr/>
          <p:nvPr/>
        </p:nvSpPr>
        <p:spPr>
          <a:xfrm>
            <a:off x="3254683" y="3739562"/>
            <a:ext cx="2502560" cy="220023"/>
          </a:xfrm>
          <a:prstGeom prst="roundRect">
            <a:avLst>
              <a:gd name="adj" fmla="val 50000"/>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ko-KR" altLang="en-US" sz="1000" spc="-100" dirty="0" smtClean="0">
                <a:latin typeface="나눔스퀘어 ExtraBold" panose="020B0600000101010101" pitchFamily="50" charset="-127"/>
                <a:ea typeface="나눔스퀘어 ExtraBold" panose="020B0600000101010101" pitchFamily="50" charset="-127"/>
              </a:rPr>
              <a:t> </a:t>
            </a:r>
            <a:r>
              <a:rPr lang="en-US" altLang="ko-KR" sz="1000" b="1" spc="-1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rPr>
              <a:t>AI investment, demand increase</a:t>
            </a:r>
            <a:endParaRPr lang="ko-KR" altLang="en-US" sz="1000" b="1" spc="-1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endParaRPr>
          </a:p>
        </p:txBody>
      </p:sp>
      <p:sp>
        <p:nvSpPr>
          <p:cNvPr id="115" name="모서리가 둥근 직사각형 114">
            <a:extLst>
              <a:ext uri="{FF2B5EF4-FFF2-40B4-BE49-F238E27FC236}">
                <a16:creationId xmlns:a16="http://schemas.microsoft.com/office/drawing/2014/main" id="{607D71FE-1013-0943-9B4E-5EC71DA83B5F}"/>
              </a:ext>
            </a:extLst>
          </p:cNvPr>
          <p:cNvSpPr/>
          <p:nvPr/>
        </p:nvSpPr>
        <p:spPr>
          <a:xfrm>
            <a:off x="1930692" y="4273431"/>
            <a:ext cx="1607820" cy="216000"/>
          </a:xfrm>
          <a:prstGeom prst="roundRect">
            <a:avLst>
              <a:gd name="adj" fmla="val 50000"/>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b="1" spc="-100" dirty="0" smtClean="0">
                <a:ln>
                  <a:solidFill>
                    <a:prstClr val="white">
                      <a:alpha val="0"/>
                    </a:prstClr>
                  </a:solidFill>
                </a:ln>
                <a:solidFill>
                  <a:prstClr val="white"/>
                </a:solidFill>
                <a:latin typeface="나눔스퀘어 ExtraBold" panose="020B0600000101010101" pitchFamily="50" charset="-127"/>
                <a:ea typeface="나눔스퀘어 ExtraBold" panose="020B0600000101010101" pitchFamily="50" charset="-127"/>
              </a:rPr>
              <a:t>Jet fuel surge</a:t>
            </a:r>
            <a:endParaRPr lang="en-US" altLang="ko-KR" sz="1000" b="1" spc="-100" dirty="0">
              <a:ln>
                <a:solidFill>
                  <a:prstClr val="white">
                    <a:alpha val="0"/>
                  </a:prstClr>
                </a:solidFill>
              </a:ln>
              <a:solidFill>
                <a:prstClr val="white"/>
              </a:solidFill>
              <a:latin typeface="나눔스퀘어 ExtraBold" panose="020B0600000101010101" pitchFamily="50" charset="-127"/>
              <a:ea typeface="나눔스퀘어 ExtraBold" panose="020B0600000101010101" pitchFamily="50" charset="-127"/>
            </a:endParaRPr>
          </a:p>
        </p:txBody>
      </p:sp>
      <p:sp>
        <p:nvSpPr>
          <p:cNvPr id="116" name="모서리가 둥근 직사각형 115">
            <a:extLst>
              <a:ext uri="{FF2B5EF4-FFF2-40B4-BE49-F238E27FC236}">
                <a16:creationId xmlns:a16="http://schemas.microsoft.com/office/drawing/2014/main" id="{A5EA5108-2A76-4D48-A3A4-34DE95BBD87A}"/>
              </a:ext>
            </a:extLst>
          </p:cNvPr>
          <p:cNvSpPr/>
          <p:nvPr/>
        </p:nvSpPr>
        <p:spPr>
          <a:xfrm>
            <a:off x="3256529" y="4824240"/>
            <a:ext cx="1138569" cy="231527"/>
          </a:xfrm>
          <a:prstGeom prst="roundRect">
            <a:avLst>
              <a:gd name="adj" fmla="val 50000"/>
            </a:avLst>
          </a:prstGeom>
          <a:solidFill>
            <a:srgbClr val="3CD0B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b="1" spc="-100" dirty="0" smtClean="0">
                <a:ln>
                  <a:solidFill>
                    <a:prstClr val="white">
                      <a:alpha val="0"/>
                    </a:prstClr>
                  </a:solidFill>
                </a:ln>
                <a:solidFill>
                  <a:prstClr val="white"/>
                </a:solidFill>
                <a:latin typeface="나눔스퀘어 ExtraBold" panose="020B0600000101010101" pitchFamily="50" charset="-127"/>
                <a:ea typeface="나눔스퀘어 ExtraBold" panose="020B0600000101010101" pitchFamily="50" charset="-127"/>
              </a:rPr>
              <a:t>Jet fuel normalization</a:t>
            </a:r>
            <a:endParaRPr lang="ko-KR" altLang="en-US" sz="1000" b="1" spc="-100" dirty="0">
              <a:ln>
                <a:solidFill>
                  <a:prstClr val="white">
                    <a:alpha val="0"/>
                  </a:prstClr>
                </a:solidFill>
              </a:ln>
              <a:solidFill>
                <a:prstClr val="white"/>
              </a:solidFill>
              <a:latin typeface="나눔스퀘어 ExtraBold" panose="020B0600000101010101" pitchFamily="50" charset="-127"/>
              <a:ea typeface="나눔스퀘어 ExtraBold" panose="020B0600000101010101" pitchFamily="50" charset="-127"/>
            </a:endParaRPr>
          </a:p>
        </p:txBody>
      </p:sp>
      <p:sp>
        <p:nvSpPr>
          <p:cNvPr id="117" name="모서리가 둥근 직사각형 116">
            <a:extLst>
              <a:ext uri="{FF2B5EF4-FFF2-40B4-BE49-F238E27FC236}">
                <a16:creationId xmlns:a16="http://schemas.microsoft.com/office/drawing/2014/main" id="{A5EA5108-2A76-4D48-A3A4-34DE95BBD87A}"/>
              </a:ext>
            </a:extLst>
          </p:cNvPr>
          <p:cNvSpPr/>
          <p:nvPr/>
        </p:nvSpPr>
        <p:spPr>
          <a:xfrm>
            <a:off x="3295634" y="5427140"/>
            <a:ext cx="1561790" cy="260116"/>
          </a:xfrm>
          <a:prstGeom prst="roundRect">
            <a:avLst>
              <a:gd name="adj" fmla="val 50000"/>
            </a:avLst>
          </a:prstGeom>
          <a:solidFill>
            <a:srgbClr val="3CD0B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b="1" spc="-100" dirty="0" smtClean="0">
                <a:ln>
                  <a:solidFill>
                    <a:prstClr val="white">
                      <a:alpha val="0"/>
                    </a:prstClr>
                  </a:solidFill>
                </a:ln>
                <a:solidFill>
                  <a:prstClr val="white"/>
                </a:solidFill>
                <a:latin typeface="나눔스퀘어 ExtraBold" panose="020B0600000101010101" pitchFamily="50" charset="-127"/>
                <a:ea typeface="나눔스퀘어 ExtraBold" panose="020B0600000101010101" pitchFamily="50" charset="-127"/>
              </a:rPr>
              <a:t>Summer passenger belly increase</a:t>
            </a:r>
            <a:endParaRPr lang="ko-KR" altLang="en-US" sz="1000" b="1" spc="-100" dirty="0">
              <a:ln>
                <a:solidFill>
                  <a:prstClr val="white">
                    <a:alpha val="0"/>
                  </a:prstClr>
                </a:solidFill>
              </a:ln>
              <a:solidFill>
                <a:prstClr val="white"/>
              </a:solidFill>
              <a:latin typeface="나눔스퀘어 ExtraBold" panose="020B0600000101010101" pitchFamily="50" charset="-127"/>
              <a:ea typeface="나눔스퀘어 ExtraBold" panose="020B0600000101010101" pitchFamily="50" charset="-127"/>
            </a:endParaRPr>
          </a:p>
        </p:txBody>
      </p:sp>
      <p:sp>
        <p:nvSpPr>
          <p:cNvPr id="118" name="모서리가 둥근 직사각형 117">
            <a:extLst>
              <a:ext uri="{FF2B5EF4-FFF2-40B4-BE49-F238E27FC236}">
                <a16:creationId xmlns:a16="http://schemas.microsoft.com/office/drawing/2014/main" id="{607D71FE-1013-0943-9B4E-5EC71DA83B5F}"/>
              </a:ext>
            </a:extLst>
          </p:cNvPr>
          <p:cNvSpPr/>
          <p:nvPr/>
        </p:nvSpPr>
        <p:spPr>
          <a:xfrm>
            <a:off x="4602999" y="4555258"/>
            <a:ext cx="1140182" cy="294600"/>
          </a:xfrm>
          <a:prstGeom prst="roundRect">
            <a:avLst>
              <a:gd name="adj" fmla="val 50000"/>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b="1" spc="-100" dirty="0" smtClean="0">
                <a:ln>
                  <a:solidFill>
                    <a:prstClr val="white">
                      <a:alpha val="0"/>
                    </a:prstClr>
                  </a:solidFill>
                </a:ln>
                <a:solidFill>
                  <a:prstClr val="white"/>
                </a:solidFill>
                <a:latin typeface="나눔스퀘어 ExtraBold" panose="020B0600000101010101" pitchFamily="50" charset="-127"/>
                <a:ea typeface="나눔스퀘어 ExtraBold" panose="020B0600000101010101" pitchFamily="50" charset="-127"/>
              </a:rPr>
              <a:t>Year-end </a:t>
            </a:r>
          </a:p>
          <a:p>
            <a:pPr algn="ctr"/>
            <a:r>
              <a:rPr lang="en-US" altLang="ko-KR" sz="1000" b="1" spc="-100" dirty="0" smtClean="0">
                <a:ln>
                  <a:solidFill>
                    <a:prstClr val="white">
                      <a:alpha val="0"/>
                    </a:prstClr>
                  </a:solidFill>
                </a:ln>
                <a:solidFill>
                  <a:prstClr val="white"/>
                </a:solidFill>
                <a:latin typeface="나눔스퀘어 ExtraBold" panose="020B0600000101010101" pitchFamily="50" charset="-127"/>
                <a:ea typeface="나눔스퀘어 ExtraBold" panose="020B0600000101010101" pitchFamily="50" charset="-127"/>
              </a:rPr>
              <a:t>Peak season</a:t>
            </a:r>
            <a:endParaRPr lang="en-US" altLang="ko-KR" sz="1000" b="1" spc="-100" dirty="0">
              <a:ln>
                <a:solidFill>
                  <a:prstClr val="white">
                    <a:alpha val="0"/>
                  </a:prstClr>
                </a:solidFill>
              </a:ln>
              <a:solidFill>
                <a:prstClr val="white"/>
              </a:solidFill>
              <a:latin typeface="나눔스퀘어 ExtraBold" panose="020B0600000101010101" pitchFamily="50" charset="-127"/>
              <a:ea typeface="나눔스퀘어 ExtraBold" panose="020B0600000101010101" pitchFamily="50" charset="-127"/>
            </a:endParaRPr>
          </a:p>
        </p:txBody>
      </p:sp>
      <p:sp>
        <p:nvSpPr>
          <p:cNvPr id="119" name="모서리가 둥근 직사각형 118">
            <a:extLst>
              <a:ext uri="{FF2B5EF4-FFF2-40B4-BE49-F238E27FC236}">
                <a16:creationId xmlns:a16="http://schemas.microsoft.com/office/drawing/2014/main" id="{607D71FE-1013-0943-9B4E-5EC71DA83B5F}"/>
              </a:ext>
            </a:extLst>
          </p:cNvPr>
          <p:cNvSpPr/>
          <p:nvPr/>
        </p:nvSpPr>
        <p:spPr>
          <a:xfrm>
            <a:off x="596525" y="5360035"/>
            <a:ext cx="687354" cy="267752"/>
          </a:xfrm>
          <a:prstGeom prst="roundRect">
            <a:avLst>
              <a:gd name="adj" fmla="val 50000"/>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b="1" spc="-100" dirty="0" smtClean="0">
                <a:ln>
                  <a:solidFill>
                    <a:prstClr val="white">
                      <a:alpha val="0"/>
                    </a:prstClr>
                  </a:solidFill>
                </a:ln>
                <a:solidFill>
                  <a:prstClr val="white"/>
                </a:solidFill>
                <a:latin typeface="나눔스퀘어 ExtraBold" panose="020B0600000101010101" pitchFamily="50" charset="-127"/>
                <a:ea typeface="나눔스퀘어 ExtraBold" panose="020B0600000101010101" pitchFamily="50" charset="-127"/>
              </a:rPr>
              <a:t>New year peak</a:t>
            </a:r>
            <a:endParaRPr lang="en-US" altLang="ko-KR" sz="1000" b="1" spc="-100" dirty="0">
              <a:ln>
                <a:solidFill>
                  <a:prstClr val="white">
                    <a:alpha val="0"/>
                  </a:prstClr>
                </a:solidFill>
              </a:ln>
              <a:solidFill>
                <a:prstClr val="white"/>
              </a:solidFill>
              <a:latin typeface="나눔스퀘어 ExtraBold" panose="020B0600000101010101" pitchFamily="50" charset="-127"/>
              <a:ea typeface="나눔스퀘어 ExtraBold" panose="020B0600000101010101" pitchFamily="50" charset="-127"/>
            </a:endParaRPr>
          </a:p>
        </p:txBody>
      </p:sp>
      <p:sp>
        <p:nvSpPr>
          <p:cNvPr id="120" name="모서리가 둥근 직사각형 119">
            <a:extLst>
              <a:ext uri="{FF2B5EF4-FFF2-40B4-BE49-F238E27FC236}">
                <a16:creationId xmlns:a16="http://schemas.microsoft.com/office/drawing/2014/main" id="{DF6A4E30-47DD-BA43-82AE-D616BB0D8072}"/>
              </a:ext>
            </a:extLst>
          </p:cNvPr>
          <p:cNvSpPr/>
          <p:nvPr/>
        </p:nvSpPr>
        <p:spPr>
          <a:xfrm>
            <a:off x="2369121" y="4543214"/>
            <a:ext cx="885562" cy="282303"/>
          </a:xfrm>
          <a:prstGeom prst="roundRect">
            <a:avLst>
              <a:gd name="adj" fmla="val 50000"/>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spc="-100" dirty="0" smtClean="0">
                <a:ln>
                  <a:solidFill>
                    <a:prstClr val="white">
                      <a:alpha val="0"/>
                    </a:prstClr>
                  </a:solidFill>
                </a:ln>
                <a:solidFill>
                  <a:prstClr val="white"/>
                </a:solidFill>
                <a:latin typeface="나눔스퀘어 ExtraBold" panose="020B0600000101010101" pitchFamily="50" charset="-127"/>
                <a:ea typeface="나눔스퀘어 ExtraBold" panose="020B0600000101010101" pitchFamily="50" charset="-127"/>
              </a:rPr>
              <a:t>China front-loading</a:t>
            </a:r>
            <a:endParaRPr lang="en-US" altLang="ko-KR" sz="1000" spc="-100" dirty="0">
              <a:ln>
                <a:solidFill>
                  <a:prstClr val="white">
                    <a:alpha val="0"/>
                  </a:prstClr>
                </a:solidFill>
              </a:ln>
              <a:solidFill>
                <a:prstClr val="white"/>
              </a:solidFill>
              <a:latin typeface="나눔스퀘어 ExtraBold" panose="020B0600000101010101" pitchFamily="50" charset="-127"/>
              <a:ea typeface="나눔스퀘어 ExtraBold" panose="020B0600000101010101" pitchFamily="50" charset="-127"/>
            </a:endParaRPr>
          </a:p>
        </p:txBody>
      </p:sp>
      <p:sp>
        <p:nvSpPr>
          <p:cNvPr id="121" name="직사각형 25"/>
          <p:cNvSpPr/>
          <p:nvPr/>
        </p:nvSpPr>
        <p:spPr>
          <a:xfrm>
            <a:off x="6453234" y="4981061"/>
            <a:ext cx="5660897" cy="1607426"/>
          </a:xfrm>
          <a:prstGeom prst="rect">
            <a:avLst/>
          </a:prstGeom>
        </p:spPr>
        <p:txBody>
          <a:bodyPr wrap="square">
            <a:noAutofit/>
          </a:bodyPr>
          <a:lstStyle/>
          <a:p>
            <a:pPr defTabSz="1038977" latinLnBrk="0">
              <a:spcAft>
                <a:spcPts val="600"/>
              </a:spcAft>
            </a:pPr>
            <a:r>
              <a:rPr lang="en-US" altLang="ko-KR" sz="1400" dirty="0">
                <a:latin typeface="나눔스퀘어" panose="020B0600000101010101" pitchFamily="50" charset="-127"/>
                <a:ea typeface="나눔스퀘어" panose="020B0600000101010101" pitchFamily="50" charset="-127"/>
              </a:rPr>
              <a:t>① AI investment keeps lifting data </a:t>
            </a:r>
            <a:r>
              <a:rPr lang="en-US" altLang="ko-KR" sz="1400" dirty="0" err="1">
                <a:latin typeface="나눔스퀘어" panose="020B0600000101010101" pitchFamily="50" charset="-127"/>
                <a:ea typeface="나눔스퀘어" panose="020B0600000101010101" pitchFamily="50" charset="-127"/>
              </a:rPr>
              <a:t>center·infrastructure</a:t>
            </a:r>
            <a:r>
              <a:rPr lang="en-US" altLang="ko-KR" sz="1400" dirty="0">
                <a:latin typeface="나눔스퀘어" panose="020B0600000101010101" pitchFamily="50" charset="-127"/>
                <a:ea typeface="나눔스퀘어" panose="020B0600000101010101" pitchFamily="50" charset="-127"/>
              </a:rPr>
              <a:t> </a:t>
            </a:r>
            <a:r>
              <a:rPr lang="en-US" altLang="ko-KR" sz="1400" dirty="0" smtClean="0">
                <a:latin typeface="나눔스퀘어" panose="020B0600000101010101" pitchFamily="50" charset="-127"/>
                <a:ea typeface="나눔스퀘어" panose="020B0600000101010101" pitchFamily="50" charset="-127"/>
              </a:rPr>
              <a:t>demand</a:t>
            </a:r>
          </a:p>
          <a:p>
            <a:pPr defTabSz="1038977" latinLnBrk="0">
              <a:spcAft>
                <a:spcPts val="600"/>
              </a:spcAft>
            </a:pPr>
            <a:r>
              <a:rPr lang="en-US" altLang="ko-KR" sz="1400" dirty="0" smtClean="0">
                <a:latin typeface="나눔스퀘어" panose="020B0600000101010101" pitchFamily="50" charset="-127"/>
                <a:ea typeface="나눔스퀘어" panose="020B0600000101010101" pitchFamily="50" charset="-127"/>
              </a:rPr>
              <a:t>- </a:t>
            </a:r>
            <a:r>
              <a:rPr lang="en-US" altLang="ko-KR" sz="1400" dirty="0">
                <a:latin typeface="나눔스퀘어" panose="020B0600000101010101" pitchFamily="50" charset="-127"/>
                <a:ea typeface="나눔스퀘어" panose="020B0600000101010101" pitchFamily="50" charset="-127"/>
              </a:rPr>
              <a:t>HBM·AI </a:t>
            </a:r>
            <a:r>
              <a:rPr lang="en-US" altLang="ko-KR" sz="1400" dirty="0" err="1">
                <a:latin typeface="나눔스퀘어" panose="020B0600000101010101" pitchFamily="50" charset="-127"/>
                <a:ea typeface="나눔스퀘어" panose="020B0600000101010101" pitchFamily="50" charset="-127"/>
              </a:rPr>
              <a:t>servers·data</a:t>
            </a:r>
            <a:r>
              <a:rPr lang="en-US" altLang="ko-KR" sz="1400" dirty="0">
                <a:latin typeface="나눔스퀘어" panose="020B0600000101010101" pitchFamily="50" charset="-127"/>
                <a:ea typeface="나눔스퀘어" panose="020B0600000101010101" pitchFamily="50" charset="-127"/>
              </a:rPr>
              <a:t> center equipment to drive air cargo demand </a:t>
            </a:r>
          </a:p>
          <a:p>
            <a:pPr defTabSz="1038977" latinLnBrk="0">
              <a:spcAft>
                <a:spcPts val="600"/>
              </a:spcAft>
            </a:pPr>
            <a:r>
              <a:rPr lang="en-US" altLang="ko-KR" sz="1400" dirty="0">
                <a:latin typeface="나눔스퀘어" panose="020B0600000101010101" pitchFamily="50" charset="-127"/>
                <a:ea typeface="나눔스퀘어" panose="020B0600000101010101" pitchFamily="50" charset="-127"/>
              </a:rPr>
              <a:t>② Year-end peak season concentrates seasonal demand short </a:t>
            </a:r>
            <a:r>
              <a:rPr lang="en-US" altLang="ko-KR" sz="1400" dirty="0" smtClean="0">
                <a:latin typeface="나눔스퀘어" panose="020B0600000101010101" pitchFamily="50" charset="-127"/>
                <a:ea typeface="나눔스퀘어" panose="020B0600000101010101" pitchFamily="50" charset="-127"/>
              </a:rPr>
              <a:t>term</a:t>
            </a:r>
          </a:p>
          <a:p>
            <a:pPr marL="171450" indent="-171450" defTabSz="1038977" latinLnBrk="0">
              <a:spcAft>
                <a:spcPts val="600"/>
              </a:spcAft>
              <a:buFontTx/>
              <a:buChar char="-"/>
            </a:pPr>
            <a:r>
              <a:rPr lang="en-US" altLang="ko-KR" sz="1400" dirty="0" smtClean="0">
                <a:latin typeface="나눔스퀘어" panose="020B0600000101010101" pitchFamily="50" charset="-127"/>
                <a:ea typeface="나눔스퀘어" panose="020B0600000101010101" pitchFamily="50" charset="-127"/>
              </a:rPr>
              <a:t>Retail </a:t>
            </a:r>
            <a:r>
              <a:rPr lang="en-US" altLang="ko-KR" sz="1400" dirty="0">
                <a:latin typeface="나눔스퀘어" panose="020B0600000101010101" pitchFamily="50" charset="-127"/>
                <a:ea typeface="나눔스퀘어" panose="020B0600000101010101" pitchFamily="50" charset="-127"/>
              </a:rPr>
              <a:t>peak </a:t>
            </a:r>
            <a:r>
              <a:rPr lang="en-US" altLang="ko-KR" sz="1400" dirty="0" smtClean="0">
                <a:latin typeface="나눔스퀘어" panose="020B0600000101010101" pitchFamily="50" charset="-127"/>
                <a:ea typeface="나눔스퀘어" panose="020B0600000101010101" pitchFamily="50" charset="-127"/>
              </a:rPr>
              <a:t>and year-end </a:t>
            </a:r>
            <a:r>
              <a:rPr lang="en-US" altLang="ko-KR" sz="1400" dirty="0">
                <a:latin typeface="나눔스퀘어" panose="020B0600000101010101" pitchFamily="50" charset="-127"/>
                <a:ea typeface="나눔스퀘어" panose="020B0600000101010101" pitchFamily="50" charset="-127"/>
              </a:rPr>
              <a:t>restocking </a:t>
            </a:r>
            <a:r>
              <a:rPr lang="en-US" altLang="ko-KR" sz="1400" dirty="0" smtClean="0">
                <a:latin typeface="나눔스퀘어" panose="020B0600000101010101" pitchFamily="50" charset="-127"/>
                <a:ea typeface="나눔스퀘어" panose="020B0600000101010101" pitchFamily="50" charset="-127"/>
              </a:rPr>
              <a:t>may absorb capacity; space </a:t>
            </a:r>
          </a:p>
          <a:p>
            <a:pPr defTabSz="1038977" latinLnBrk="0">
              <a:spcAft>
                <a:spcPts val="600"/>
              </a:spcAft>
            </a:pPr>
            <a:r>
              <a:rPr lang="en-US" altLang="ko-KR" sz="1400" dirty="0" smtClean="0">
                <a:latin typeface="나눔스퀘어" panose="020B0600000101010101" pitchFamily="50" charset="-127"/>
                <a:ea typeface="나눔스퀘어" panose="020B0600000101010101" pitchFamily="50" charset="-127"/>
              </a:rPr>
              <a:t>    competition on Asia-origin long-haul may lift rates short term</a:t>
            </a:r>
            <a:endParaRPr lang="en-US" altLang="ko-KR" sz="1400" dirty="0">
              <a:latin typeface="나눔스퀘어" panose="020B0600000101010101" pitchFamily="50" charset="-127"/>
              <a:ea typeface="나눔스퀘어" panose="020B0600000101010101" pitchFamily="50" charset="-127"/>
            </a:endParaRPr>
          </a:p>
        </p:txBody>
      </p:sp>
      <p:sp>
        <p:nvSpPr>
          <p:cNvPr id="122" name="직사각형 121"/>
          <p:cNvSpPr/>
          <p:nvPr/>
        </p:nvSpPr>
        <p:spPr>
          <a:xfrm>
            <a:off x="7092752" y="5490236"/>
            <a:ext cx="2511354" cy="138499"/>
          </a:xfrm>
          <a:prstGeom prst="rect">
            <a:avLst/>
          </a:prstGeom>
        </p:spPr>
        <p:txBody>
          <a:bodyPr wrap="square" lIns="0" tIns="0" rIns="0" bIns="0" anchor="t" anchorCtr="0">
            <a:spAutoFit/>
          </a:bodyPr>
          <a:lstStyle/>
          <a:p>
            <a:pPr marR="0" lvl="0" algn="l" defTabSz="914400" rtl="0" eaLnBrk="1" fontAlgn="auto" latinLnBrk="1" hangingPunct="1">
              <a:lnSpc>
                <a:spcPct val="100000"/>
              </a:lnSpc>
              <a:spcBef>
                <a:spcPts val="0"/>
              </a:spcBef>
              <a:spcAft>
                <a:spcPts val="0"/>
              </a:spcAft>
              <a:buClrTx/>
              <a:buSzTx/>
              <a:tabLst/>
              <a:defRPr/>
            </a:pPr>
            <a:r>
              <a:rPr kumimoji="1" lang="en-US" altLang="ko-KR" sz="900" dirty="0" smtClean="0">
                <a:ln>
                  <a:solidFill>
                    <a:srgbClr val="4F81BD">
                      <a:alpha val="0"/>
                    </a:srgbClr>
                  </a:solidFill>
                </a:ln>
                <a:solidFill>
                  <a:srgbClr val="3333FF"/>
                </a:solidFill>
                <a:latin typeface="나눔스퀘어" panose="020B0600000101010101" pitchFamily="50" charset="-127"/>
                <a:ea typeface="나눔스퀘어" panose="020B0600000101010101" pitchFamily="50" charset="-127"/>
                <a:cs typeface="Arial Unicode MS" panose="020B0604020202020204" pitchFamily="50" charset="-127"/>
              </a:rPr>
              <a:t>* AI server shipment up by 28% YoY</a:t>
            </a:r>
            <a:endParaRPr kumimoji="1" lang="en-US" altLang="ko-KR" sz="900" b="0" i="0" u="none" strike="noStrike" kern="1200" cap="none" spc="0" normalizeH="0" noProof="0" dirty="0">
              <a:ln>
                <a:solidFill>
                  <a:srgbClr val="002B5C">
                    <a:alpha val="0"/>
                  </a:srgbClr>
                </a:solidFill>
              </a:ln>
              <a:solidFill>
                <a:srgbClr val="3333FF"/>
              </a:solidFill>
              <a:effectLst/>
              <a:uLnTx/>
              <a:uFillTx/>
              <a:latin typeface="나눔스퀘어" panose="020B0600000101010101" pitchFamily="50" charset="-127"/>
              <a:ea typeface="나눔스퀘어" panose="020B0600000101010101" pitchFamily="50" charset="-127"/>
              <a:cs typeface="Arial" panose="020B0604020202020204" pitchFamily="34" charset="0"/>
            </a:endParaRPr>
          </a:p>
        </p:txBody>
      </p:sp>
      <p:sp>
        <p:nvSpPr>
          <p:cNvPr id="68" name="직사각형 67"/>
          <p:cNvSpPr/>
          <p:nvPr/>
        </p:nvSpPr>
        <p:spPr>
          <a:xfrm>
            <a:off x="6754609" y="3626817"/>
            <a:ext cx="4886664" cy="138499"/>
          </a:xfrm>
          <a:prstGeom prst="rect">
            <a:avLst/>
          </a:prstGeom>
        </p:spPr>
        <p:txBody>
          <a:bodyPr wrap="square" lIns="0" tIns="0" rIns="0" bIns="0" anchor="t" anchorCtr="0">
            <a:spAutoFit/>
          </a:bodyPr>
          <a:lstStyle/>
          <a:p>
            <a:pPr lvl="0">
              <a:defRPr/>
            </a:pPr>
            <a:r>
              <a:rPr kumimoji="1" lang="en-US" altLang="ko-KR" sz="900" dirty="0">
                <a:ln>
                  <a:solidFill>
                    <a:srgbClr val="4F81BD">
                      <a:alpha val="0"/>
                    </a:srgbClr>
                  </a:solidFill>
                </a:ln>
                <a:solidFill>
                  <a:srgbClr val="3333FF"/>
                </a:solidFill>
                <a:latin typeface="나눔스퀘어" panose="020B0600000101010101" pitchFamily="50" charset="-127"/>
                <a:ea typeface="나눔스퀘어" panose="020B0600000101010101" pitchFamily="50" charset="-127"/>
                <a:cs typeface="Arial Unicode MS" panose="020B0604020202020204" pitchFamily="50" charset="-127"/>
              </a:rPr>
              <a:t>* 2026 mobile/PC shipments </a:t>
            </a:r>
            <a:r>
              <a:rPr kumimoji="1" lang="en-US" altLang="ko-KR" sz="900" dirty="0" smtClean="0">
                <a:ln>
                  <a:solidFill>
                    <a:srgbClr val="4F81BD">
                      <a:alpha val="0"/>
                    </a:srgbClr>
                  </a:solidFill>
                </a:ln>
                <a:solidFill>
                  <a:srgbClr val="3333FF"/>
                </a:solidFill>
                <a:latin typeface="나눔스퀘어" panose="020B0600000101010101" pitchFamily="50" charset="-127"/>
                <a:ea typeface="나눔스퀘어" panose="020B0600000101010101" pitchFamily="50" charset="-127"/>
                <a:cs typeface="Arial Unicode MS" panose="020B0604020202020204" pitchFamily="50" charset="-127"/>
              </a:rPr>
              <a:t>to slow YoY, </a:t>
            </a:r>
            <a:r>
              <a:rPr kumimoji="1" lang="en-US" altLang="ko-KR" sz="900" dirty="0">
                <a:ln>
                  <a:solidFill>
                    <a:srgbClr val="4F81BD">
                      <a:alpha val="0"/>
                    </a:srgbClr>
                  </a:solidFill>
                </a:ln>
                <a:solidFill>
                  <a:srgbClr val="3333FF"/>
                </a:solidFill>
                <a:latin typeface="나눔스퀘어" panose="020B0600000101010101" pitchFamily="50" charset="-127"/>
                <a:ea typeface="나눔스퀘어" panose="020B0600000101010101" pitchFamily="50" charset="-127"/>
                <a:cs typeface="Arial Unicode MS" panose="020B0604020202020204" pitchFamily="50" charset="-127"/>
              </a:rPr>
              <a:t>limiting </a:t>
            </a:r>
            <a:r>
              <a:rPr kumimoji="1" lang="en-US" altLang="ko-KR" sz="900" dirty="0" smtClean="0">
                <a:ln>
                  <a:solidFill>
                    <a:srgbClr val="4F81BD">
                      <a:alpha val="0"/>
                    </a:srgbClr>
                  </a:solidFill>
                </a:ln>
                <a:solidFill>
                  <a:srgbClr val="3333FF"/>
                </a:solidFill>
                <a:latin typeface="나눔스퀘어" panose="020B0600000101010101" pitchFamily="50" charset="-127"/>
                <a:ea typeface="나눔스퀘어" panose="020B0600000101010101" pitchFamily="50" charset="-127"/>
                <a:cs typeface="Arial Unicode MS" panose="020B0604020202020204" pitchFamily="50" charset="-127"/>
              </a:rPr>
              <a:t>cargo </a:t>
            </a:r>
            <a:r>
              <a:rPr kumimoji="1" lang="en-US" altLang="ko-KR" sz="900" dirty="0">
                <a:ln>
                  <a:solidFill>
                    <a:srgbClr val="4F81BD">
                      <a:alpha val="0"/>
                    </a:srgbClr>
                  </a:solidFill>
                </a:ln>
                <a:solidFill>
                  <a:srgbClr val="3333FF"/>
                </a:solidFill>
                <a:latin typeface="나눔스퀘어" panose="020B0600000101010101" pitchFamily="50" charset="-127"/>
                <a:ea typeface="나눔스퀘어" panose="020B0600000101010101" pitchFamily="50" charset="-127"/>
                <a:cs typeface="Arial Unicode MS" panose="020B0604020202020204" pitchFamily="50" charset="-127"/>
              </a:rPr>
              <a:t>upside</a:t>
            </a:r>
            <a:endParaRPr kumimoji="1" lang="en-US" altLang="ko-KR" sz="900" b="0" i="0" u="none" strike="noStrike" kern="1200" cap="none" spc="0" normalizeH="0" noProof="0" dirty="0">
              <a:ln>
                <a:solidFill>
                  <a:srgbClr val="002B5C">
                    <a:alpha val="0"/>
                  </a:srgbClr>
                </a:solidFill>
              </a:ln>
              <a:solidFill>
                <a:srgbClr val="3333FF"/>
              </a:solidFill>
              <a:effectLst/>
              <a:uLnTx/>
              <a:uFillTx/>
              <a:latin typeface="나눔스퀘어" panose="020B0600000101010101" pitchFamily="50" charset="-127"/>
              <a:ea typeface="나눔스퀘어" panose="020B0600000101010101" pitchFamily="50" charset="-127"/>
              <a:cs typeface="Arial" panose="020B0604020202020204" pitchFamily="34" charset="0"/>
            </a:endParaRPr>
          </a:p>
        </p:txBody>
      </p:sp>
      <p:grpSp>
        <p:nvGrpSpPr>
          <p:cNvPr id="89" name="그룹 88"/>
          <p:cNvGrpSpPr/>
          <p:nvPr/>
        </p:nvGrpSpPr>
        <p:grpSpPr>
          <a:xfrm>
            <a:off x="10020301" y="6290"/>
            <a:ext cx="1778422" cy="552569"/>
            <a:chOff x="10020301" y="6290"/>
            <a:chExt cx="1778422" cy="552569"/>
          </a:xfrm>
        </p:grpSpPr>
        <p:cxnSp>
          <p:nvCxnSpPr>
            <p:cNvPr id="91" name="직선 연결선 90"/>
            <p:cNvCxnSpPr/>
            <p:nvPr/>
          </p:nvCxnSpPr>
          <p:spPr>
            <a:xfrm>
              <a:off x="11671487" y="6290"/>
              <a:ext cx="0" cy="313957"/>
            </a:xfrm>
            <a:prstGeom prst="line">
              <a:avLst/>
            </a:prstGeom>
            <a:ln w="635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3" name="TextBox 92"/>
            <p:cNvSpPr txBox="1"/>
            <p:nvPr/>
          </p:nvSpPr>
          <p:spPr>
            <a:xfrm>
              <a:off x="10020301" y="381709"/>
              <a:ext cx="1552032" cy="153888"/>
            </a:xfrm>
            <a:prstGeom prst="rect">
              <a:avLst/>
            </a:prstGeom>
            <a:noFill/>
            <a:ln w="9525">
              <a:noFill/>
              <a:miter lim="800000"/>
              <a:headEnd/>
              <a:tailEnd/>
            </a:ln>
          </p:spPr>
          <p:txBody>
            <a:bodyPr wrap="square" lIns="0" tIns="0" rIns="0" bIns="0" anchor="ctr">
              <a:spAutoFit/>
            </a:bodyPr>
            <a:lstStyle>
              <a:defPPr>
                <a:defRPr lang="ko-KR"/>
              </a:defPPr>
              <a:lvl1pPr defTabSz="914125" fontAlgn="base" latinLnBrk="0">
                <a:spcBef>
                  <a:spcPct val="0"/>
                </a:spcBef>
                <a:spcAft>
                  <a:spcPts val="200"/>
                </a:spcAft>
                <a:defRPr sz="1100" spc="-20">
                  <a:ln>
                    <a:solidFill>
                      <a:prstClr val="white">
                        <a:alpha val="0"/>
                      </a:prstClr>
                    </a:solidFill>
                  </a:ln>
                  <a:solidFill>
                    <a:schemeClr val="tx1">
                      <a:lumMod val="75000"/>
                      <a:lumOff val="25000"/>
                    </a:schemeClr>
                  </a:solidFill>
                  <a:latin typeface="KoPub돋움체 Bold" panose="02020603020101020101" pitchFamily="18" charset="-127"/>
                  <a:ea typeface="KoPub돋움체 Bold" panose="02020603020101020101" pitchFamily="18" charset="-127"/>
                  <a:cs typeface="Arial" charset="0"/>
                </a:defRPr>
              </a:lvl1pPr>
            </a:lstStyle>
            <a:p>
              <a:pPr lvl="0" algn="r">
                <a:defRPr/>
              </a:pPr>
              <a:r>
                <a:rPr lang="en-US" altLang="ko-KR"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rPr>
                <a:t>2026 2H Market Outlook</a:t>
              </a:r>
              <a:endParaRPr lang="ko-KR" altLang="en-US"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endParaRPr>
            </a:p>
          </p:txBody>
        </p:sp>
        <p:sp>
          <p:nvSpPr>
            <p:cNvPr id="94" name="타원 93"/>
            <p:cNvSpPr/>
            <p:nvPr/>
          </p:nvSpPr>
          <p:spPr>
            <a:xfrm>
              <a:off x="11340239"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20" normalizeH="0" baseline="0" noProof="0" dirty="0">
                <a:ln>
                  <a:solidFill>
                    <a:srgbClr val="C00000">
                      <a:alpha val="0"/>
                    </a:srgbClr>
                  </a:solidFill>
                </a:ln>
                <a:solidFill>
                  <a:prstClr val="white"/>
                </a:solidFill>
                <a:effectLst/>
                <a:uLnTx/>
                <a:uFillTx/>
                <a:latin typeface="나눔스퀘어" panose="020B0600000101010101" pitchFamily="50" charset="-127"/>
                <a:ea typeface="나눔스퀘어" panose="020B0600000101010101" pitchFamily="50" charset="-127"/>
                <a:cs typeface="+mn-cs"/>
              </a:endParaRPr>
            </a:p>
          </p:txBody>
        </p:sp>
        <p:sp>
          <p:nvSpPr>
            <p:cNvPr id="95" name="타원 94"/>
            <p:cNvSpPr/>
            <p:nvPr/>
          </p:nvSpPr>
          <p:spPr>
            <a:xfrm>
              <a:off x="11422266"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96" name="타원 95"/>
            <p:cNvSpPr/>
            <p:nvPr/>
          </p:nvSpPr>
          <p:spPr>
            <a:xfrm>
              <a:off x="11504294" y="290256"/>
              <a:ext cx="51827" cy="51827"/>
            </a:xfrm>
            <a:prstGeom prst="ellipse">
              <a:avLst/>
            </a:prstGeom>
            <a:solidFill>
              <a:srgbClr val="0146A0"/>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97" name="TextBox 96"/>
            <p:cNvSpPr txBox="1"/>
            <p:nvPr/>
          </p:nvSpPr>
          <p:spPr>
            <a:xfrm>
              <a:off x="11646437" y="343415"/>
              <a:ext cx="152286" cy="215444"/>
            </a:xfrm>
            <a:prstGeom prst="rect">
              <a:avLst/>
            </a:prstGeom>
            <a:noFill/>
          </p:spPr>
          <p:txBody>
            <a:bodyPr wrap="none" lIns="0" tIns="0" rIns="0" bIns="0" rtlCol="0" anchor="ctr" anchorCtr="0">
              <a:spAutoFit/>
            </a:bodyPr>
            <a:lstStyle>
              <a:defPPr>
                <a:defRPr lang="ko-KR"/>
              </a:defPPr>
              <a:lvl1pPr>
                <a:spcAft>
                  <a:spcPts val="300"/>
                </a:spcAft>
                <a:defRPr sz="2800" spc="-100">
                  <a:ln>
                    <a:solidFill>
                      <a:schemeClr val="bg1">
                        <a:alpha val="0"/>
                      </a:schemeClr>
                    </a:solidFill>
                  </a:ln>
                  <a:solidFill>
                    <a:srgbClr val="005B8D"/>
                  </a:solidFill>
                  <a:latin typeface="Times New Roman" panose="02020603050405020304" pitchFamily="18" charset="0"/>
                  <a:ea typeface="KoPub돋움체 Bold" panose="02020603020101020101" pitchFamily="18" charset="-127"/>
                  <a:cs typeface="Times New Roman" panose="02020603050405020304" pitchFamily="18" charset="0"/>
                </a:defRPr>
              </a:lvl1pPr>
            </a:lstStyle>
            <a:p>
              <a:pPr latinLnBrk="0">
                <a:defRPr/>
              </a:pPr>
              <a:r>
                <a:rPr lang="en-US" altLang="ko-KR" sz="1400" spc="-150" dirty="0" smtClean="0">
                  <a:ln>
                    <a:solidFill>
                      <a:prstClr val="white">
                        <a:alpha val="0"/>
                      </a:prstClr>
                    </a:solidFill>
                  </a:ln>
                  <a:solidFill>
                    <a:srgbClr val="0146A0"/>
                  </a:solidFill>
                  <a:ea typeface="KoPub돋움체 Medium" panose="02020603020101020101" pitchFamily="18" charset="-127"/>
                </a:rPr>
                <a:t>Ⅲ</a:t>
              </a:r>
              <a:endParaRPr lang="en-US" altLang="ko-KR" sz="1400" spc="-150" dirty="0">
                <a:ln>
                  <a:solidFill>
                    <a:prstClr val="white">
                      <a:alpha val="0"/>
                    </a:prstClr>
                  </a:solidFill>
                </a:ln>
                <a:solidFill>
                  <a:srgbClr val="0146A0"/>
                </a:solidFill>
                <a:ea typeface="KoPub돋움체 Medium" panose="02020603020101020101" pitchFamily="18" charset="-127"/>
              </a:endParaRPr>
            </a:p>
          </p:txBody>
        </p:sp>
      </p:grpSp>
      <p:sp>
        <p:nvSpPr>
          <p:cNvPr id="88" name="직사각형 87"/>
          <p:cNvSpPr/>
          <p:nvPr/>
        </p:nvSpPr>
        <p:spPr>
          <a:xfrm>
            <a:off x="3476625" y="2586454"/>
            <a:ext cx="2413237" cy="238493"/>
          </a:xfrm>
          <a:prstGeom prst="rect">
            <a:avLst/>
          </a:prstGeom>
          <a:solidFill>
            <a:schemeClr val="bg1"/>
          </a:solidFill>
          <a:ln w="3175">
            <a:solidFill>
              <a:schemeClr val="bg1">
                <a:lumMod val="75000"/>
              </a:schemeClr>
            </a:solidFill>
          </a:ln>
          <a:effectLst/>
        </p:spPr>
        <p:txBody>
          <a:bodyPr vert="horz" wrap="square" lIns="91440" tIns="45720" rIns="91440" bIns="45720" numCol="1" rtlCol="0" anchor="ctr" anchorCtr="0" compatLnSpc="1">
            <a:prstTxWarp prst="textNoShape">
              <a:avLst/>
            </a:prstTxWarp>
          </a:bodyPr>
          <a:lstStyle/>
          <a:p>
            <a:pPr algn="ctr"/>
            <a:endParaRPr lang="ko-KR" altLang="en-US" sz="2000" dirty="0">
              <a:solidFill>
                <a:srgbClr val="191A1A"/>
              </a:solidFill>
            </a:endParaRPr>
          </a:p>
        </p:txBody>
      </p:sp>
      <p:grpSp>
        <p:nvGrpSpPr>
          <p:cNvPr id="108" name="그룹 107"/>
          <p:cNvGrpSpPr/>
          <p:nvPr/>
        </p:nvGrpSpPr>
        <p:grpSpPr>
          <a:xfrm>
            <a:off x="3533913" y="2638212"/>
            <a:ext cx="2304983" cy="153888"/>
            <a:chOff x="3422738" y="2780554"/>
            <a:chExt cx="2304983" cy="153888"/>
          </a:xfrm>
        </p:grpSpPr>
        <p:sp>
          <p:nvSpPr>
            <p:cNvPr id="109" name="TextBox 108">
              <a:extLst>
                <a:ext uri="{FF2B5EF4-FFF2-40B4-BE49-F238E27FC236}">
                  <a16:creationId xmlns:a16="http://schemas.microsoft.com/office/drawing/2014/main" id="{927BC5EA-4832-7541-8F4A-F9233B12602F}"/>
                </a:ext>
              </a:extLst>
            </p:cNvPr>
            <p:cNvSpPr txBox="1"/>
            <p:nvPr/>
          </p:nvSpPr>
          <p:spPr>
            <a:xfrm>
              <a:off x="3568423" y="2780554"/>
              <a:ext cx="872034" cy="153888"/>
            </a:xfrm>
            <a:prstGeom prst="rect">
              <a:avLst/>
            </a:prstGeom>
            <a:noFill/>
          </p:spPr>
          <p:txBody>
            <a:bodyPr wrap="none" lIns="0" tIns="0" rIns="0" bIns="0" rtlCol="0" anchor="ctr">
              <a:spAutoFit/>
            </a:bodyPr>
            <a:lstStyle/>
            <a:p>
              <a:r>
                <a:rPr lang="en-US" altLang="ko-KR" sz="1000" dirty="0">
                  <a:ln>
                    <a:solidFill>
                      <a:prstClr val="white">
                        <a:alpha val="0"/>
                      </a:prstClr>
                    </a:solidFill>
                  </a:ln>
                  <a:latin typeface="나눔스퀘어" panose="020B0600000101010101" pitchFamily="50" charset="-127"/>
                  <a:ea typeface="나눔스퀘어" panose="020B0600000101010101" pitchFamily="50" charset="-127"/>
                </a:rPr>
                <a:t>Upside Factors</a:t>
              </a:r>
            </a:p>
          </p:txBody>
        </p:sp>
        <p:sp>
          <p:nvSpPr>
            <p:cNvPr id="112" name="TextBox 111">
              <a:extLst>
                <a:ext uri="{FF2B5EF4-FFF2-40B4-BE49-F238E27FC236}">
                  <a16:creationId xmlns:a16="http://schemas.microsoft.com/office/drawing/2014/main" id="{BA95AA20-56AE-F14B-AD6A-FBE501223DC8}"/>
                </a:ext>
              </a:extLst>
            </p:cNvPr>
            <p:cNvSpPr txBox="1"/>
            <p:nvPr/>
          </p:nvSpPr>
          <p:spPr>
            <a:xfrm>
              <a:off x="4696990" y="2780554"/>
              <a:ext cx="1030731" cy="153888"/>
            </a:xfrm>
            <a:prstGeom prst="rect">
              <a:avLst/>
            </a:prstGeom>
            <a:noFill/>
          </p:spPr>
          <p:txBody>
            <a:bodyPr wrap="none" lIns="0" tIns="0" rIns="0" bIns="0" rtlCol="0" anchor="ctr">
              <a:spAutoFit/>
            </a:bodyPr>
            <a:lstStyle/>
            <a:p>
              <a:r>
                <a:rPr lang="en-US" altLang="ko-KR" sz="1000" dirty="0">
                  <a:latin typeface="나눔스퀘어" panose="020B0600000101010101" pitchFamily="50" charset="-127"/>
                  <a:ea typeface="나눔스퀘어" panose="020B0600000101010101" pitchFamily="50" charset="-127"/>
                </a:rPr>
                <a:t>Downside Factors</a:t>
              </a:r>
              <a:endParaRPr lang="en-US" altLang="ko-KR" sz="1000" dirty="0">
                <a:ln>
                  <a:solidFill>
                    <a:prstClr val="white">
                      <a:alpha val="0"/>
                    </a:prstClr>
                  </a:solidFill>
                </a:ln>
                <a:latin typeface="나눔스퀘어" panose="020B0600000101010101" pitchFamily="50" charset="-127"/>
                <a:ea typeface="나눔스퀘어" panose="020B0600000101010101" pitchFamily="50" charset="-127"/>
              </a:endParaRPr>
            </a:p>
          </p:txBody>
        </p:sp>
        <p:sp>
          <p:nvSpPr>
            <p:cNvPr id="113" name="직사각형 112"/>
            <p:cNvSpPr/>
            <p:nvPr/>
          </p:nvSpPr>
          <p:spPr>
            <a:xfrm>
              <a:off x="3422738" y="2803498"/>
              <a:ext cx="108000" cy="108000"/>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00" dirty="0">
                <a:latin typeface="나눔스퀘어" panose="020B0600000101010101" pitchFamily="50" charset="-127"/>
                <a:ea typeface="나눔스퀘어" panose="020B0600000101010101" pitchFamily="50" charset="-127"/>
              </a:endParaRPr>
            </a:p>
          </p:txBody>
        </p:sp>
        <p:sp>
          <p:nvSpPr>
            <p:cNvPr id="123" name="직사각형 122"/>
            <p:cNvSpPr/>
            <p:nvPr/>
          </p:nvSpPr>
          <p:spPr>
            <a:xfrm>
              <a:off x="4554331" y="2803498"/>
              <a:ext cx="108000" cy="108000"/>
            </a:xfrm>
            <a:prstGeom prst="rect">
              <a:avLst/>
            </a:prstGeom>
            <a:solidFill>
              <a:srgbClr val="3CD0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00" dirty="0">
                <a:latin typeface="나눔스퀘어" panose="020B0600000101010101" pitchFamily="50" charset="-127"/>
                <a:ea typeface="나눔스퀘어" panose="020B0600000101010101" pitchFamily="50" charset="-127"/>
              </a:endParaRPr>
            </a:p>
          </p:txBody>
        </p:sp>
      </p:grpSp>
      <p:grpSp>
        <p:nvGrpSpPr>
          <p:cNvPr id="76" name="그룹 75">
            <a:extLst>
              <a:ext uri="{FF2B5EF4-FFF2-40B4-BE49-F238E27FC236}">
                <a16:creationId xmlns:a16="http://schemas.microsoft.com/office/drawing/2014/main" id="{EF295706-448F-E9F8-6950-97D9B68EEEB9}"/>
              </a:ext>
            </a:extLst>
          </p:cNvPr>
          <p:cNvGrpSpPr/>
          <p:nvPr/>
        </p:nvGrpSpPr>
        <p:grpSpPr>
          <a:xfrm>
            <a:off x="6290801" y="2599033"/>
            <a:ext cx="5410242" cy="230832"/>
            <a:chOff x="522352" y="2590117"/>
            <a:chExt cx="5410242" cy="230832"/>
          </a:xfrm>
        </p:grpSpPr>
        <p:sp>
          <p:nvSpPr>
            <p:cNvPr id="83" name="직사각형 82">
              <a:extLst>
                <a:ext uri="{FF2B5EF4-FFF2-40B4-BE49-F238E27FC236}">
                  <a16:creationId xmlns:a16="http://schemas.microsoft.com/office/drawing/2014/main" id="{4046860D-C324-CEDE-CB74-5CA6C157F262}"/>
                </a:ext>
              </a:extLst>
            </p:cNvPr>
            <p:cNvSpPr/>
            <p:nvPr/>
          </p:nvSpPr>
          <p:spPr>
            <a:xfrm>
              <a:off x="781342" y="2590117"/>
              <a:ext cx="5151252" cy="230832"/>
            </a:xfrm>
            <a:prstGeom prst="rect">
              <a:avLst/>
            </a:prstGeom>
            <a:noFill/>
          </p:spPr>
          <p:txBody>
            <a:bodyPr wrap="none" lIns="0" tIns="0" rIns="0" bIns="0" anchor="t">
              <a:noAutofit/>
            </a:bodyPr>
            <a:lstStyle/>
            <a:p>
              <a:pPr marR="608330" lvl="0" latinLnBrk="0">
                <a:defRPr/>
              </a:pPr>
              <a:r>
                <a:rPr lang="en-US" altLang="ko-KR"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Key Drivers in 3Q</a:t>
              </a:r>
              <a:endParaRPr lang="ko-KR" altLang="en-US"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endParaRPr>
            </a:p>
          </p:txBody>
        </p:sp>
        <p:grpSp>
          <p:nvGrpSpPr>
            <p:cNvPr id="84" name="그룹 83">
              <a:extLst>
                <a:ext uri="{FF2B5EF4-FFF2-40B4-BE49-F238E27FC236}">
                  <a16:creationId xmlns:a16="http://schemas.microsoft.com/office/drawing/2014/main" id="{60F9DA37-A4B6-8083-096A-75F9B9A801BD}"/>
                </a:ext>
              </a:extLst>
            </p:cNvPr>
            <p:cNvGrpSpPr/>
            <p:nvPr/>
          </p:nvGrpSpPr>
          <p:grpSpPr>
            <a:xfrm>
              <a:off x="522352" y="2609533"/>
              <a:ext cx="192000" cy="192000"/>
              <a:chOff x="412816" y="1633655"/>
              <a:chExt cx="184804" cy="185998"/>
            </a:xfrm>
          </p:grpSpPr>
          <p:sp>
            <p:nvSpPr>
              <p:cNvPr id="85" name="모서리가 둥근 직사각형 84">
                <a:extLst>
                  <a:ext uri="{FF2B5EF4-FFF2-40B4-BE49-F238E27FC236}">
                    <a16:creationId xmlns:a16="http://schemas.microsoft.com/office/drawing/2014/main" id="{24C50D10-136A-C13B-7860-B3159558891F}"/>
                  </a:ext>
                </a:extLst>
              </p:cNvPr>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86" name="그룹 186">
                <a:extLst>
                  <a:ext uri="{FF2B5EF4-FFF2-40B4-BE49-F238E27FC236}">
                    <a16:creationId xmlns:a16="http://schemas.microsoft.com/office/drawing/2014/main" id="{7F155D93-9560-DFB2-BBD9-BAED35A39F72}"/>
                  </a:ext>
                </a:extLst>
              </p:cNvPr>
              <p:cNvGrpSpPr/>
              <p:nvPr/>
            </p:nvGrpSpPr>
            <p:grpSpPr>
              <a:xfrm>
                <a:off x="454440" y="1688440"/>
                <a:ext cx="106516" cy="76455"/>
                <a:chOff x="3366478" y="5412581"/>
                <a:chExt cx="126078" cy="89916"/>
              </a:xfrm>
              <a:solidFill>
                <a:schemeClr val="bg1"/>
              </a:solidFill>
            </p:grpSpPr>
            <p:sp>
              <p:nvSpPr>
                <p:cNvPr id="87" name="모서리가 둥근 직사각형 86">
                  <a:extLst>
                    <a:ext uri="{FF2B5EF4-FFF2-40B4-BE49-F238E27FC236}">
                      <a16:creationId xmlns:a16="http://schemas.microsoft.com/office/drawing/2014/main" id="{CAE7FADE-62C4-5B41-9772-EEDDAB1BD5C2}"/>
                    </a:ext>
                  </a:extLst>
                </p:cNvPr>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124" name="모서리가 둥근 직사각형 123">
                  <a:extLst>
                    <a:ext uri="{FF2B5EF4-FFF2-40B4-BE49-F238E27FC236}">
                      <a16:creationId xmlns:a16="http://schemas.microsoft.com/office/drawing/2014/main" id="{8D39F778-6FBA-9465-6FDC-3682D55B9DFB}"/>
                    </a:ext>
                  </a:extLst>
                </p:cNvPr>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sp>
        <p:nvSpPr>
          <p:cNvPr id="64" name="직사각형 63"/>
          <p:cNvSpPr/>
          <p:nvPr/>
        </p:nvSpPr>
        <p:spPr>
          <a:xfrm>
            <a:off x="9205057" y="4206516"/>
            <a:ext cx="960185" cy="138499"/>
          </a:xfrm>
          <a:prstGeom prst="rect">
            <a:avLst/>
          </a:prstGeom>
        </p:spPr>
        <p:txBody>
          <a:bodyPr wrap="square" lIns="0" tIns="0" rIns="0" bIns="0" anchor="t" anchorCtr="0">
            <a:spAutoFit/>
          </a:bodyPr>
          <a:lstStyle/>
          <a:p>
            <a:pPr lvl="0">
              <a:defRPr/>
            </a:pPr>
            <a:r>
              <a:rPr kumimoji="1" lang="en-US" altLang="ko-KR" sz="900" dirty="0">
                <a:ln>
                  <a:solidFill>
                    <a:srgbClr val="4F81BD">
                      <a:alpha val="0"/>
                    </a:srgbClr>
                  </a:solidFill>
                </a:ln>
                <a:solidFill>
                  <a:srgbClr val="3333FF"/>
                </a:solidFill>
                <a:latin typeface="나눔스퀘어" panose="020B0600000101010101" pitchFamily="50" charset="-127"/>
                <a:ea typeface="나눔스퀘어" panose="020B0600000101010101" pitchFamily="50" charset="-127"/>
                <a:cs typeface="Arial Unicode MS" panose="020B0604020202020204" pitchFamily="50" charset="-127"/>
              </a:rPr>
              <a:t>* Effective Jul. 1</a:t>
            </a:r>
          </a:p>
        </p:txBody>
      </p:sp>
    </p:spTree>
    <p:extLst>
      <p:ext uri="{BB962C8B-B14F-4D97-AF65-F5344CB8AC3E}">
        <p14:creationId xmlns:p14="http://schemas.microsoft.com/office/powerpoint/2010/main" val="328559112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직사각형 25"/>
          <p:cNvSpPr/>
          <p:nvPr/>
        </p:nvSpPr>
        <p:spPr>
          <a:xfrm>
            <a:off x="6395948" y="3822646"/>
            <a:ext cx="5584832" cy="1120623"/>
          </a:xfrm>
          <a:prstGeom prst="rect">
            <a:avLst/>
          </a:prstGeom>
        </p:spPr>
        <p:txBody>
          <a:bodyPr wrap="square">
            <a:noAutofit/>
          </a:bodyPr>
          <a:lstStyle/>
          <a:p>
            <a:pPr marL="144000" indent="-144000" defTabSz="1038977" latinLnBrk="0">
              <a:spcAft>
                <a:spcPts val="800"/>
              </a:spcAft>
              <a:buFont typeface="Arial" panose="020B0604020202020204" pitchFamily="34" charset="0"/>
              <a:buChar char="•"/>
            </a:pPr>
            <a:r>
              <a:rPr lang="en-US" altLang="ko-KR" sz="1400" dirty="0">
                <a:latin typeface="나눔스퀘어" panose="020B0600000101010101" pitchFamily="50" charset="-127"/>
                <a:ea typeface="나눔스퀘어" panose="020B0600000101010101" pitchFamily="50" charset="-127"/>
              </a:rPr>
              <a:t>Fuel-cost pass-through in rates rises to </a:t>
            </a:r>
            <a:r>
              <a:rPr lang="en-US" altLang="ko-KR" sz="1400" dirty="0" smtClean="0">
                <a:latin typeface="나눔스퀘어" panose="020B0600000101010101" pitchFamily="50" charset="-127"/>
                <a:ea typeface="나눔스퀘어" panose="020B0600000101010101" pitchFamily="50" charset="-127"/>
              </a:rPr>
              <a:t>about 3x </a:t>
            </a:r>
            <a:r>
              <a:rPr lang="en-US" altLang="ko-KR" sz="1400" dirty="0">
                <a:latin typeface="나눔스퀘어" panose="020B0600000101010101" pitchFamily="50" charset="-127"/>
                <a:ea typeface="나눔스퀘어" panose="020B0600000101010101" pitchFamily="50" charset="-127"/>
              </a:rPr>
              <a:t>pre-war </a:t>
            </a:r>
            <a:r>
              <a:rPr lang="en-US" altLang="ko-KR" sz="1400" dirty="0" smtClean="0">
                <a:latin typeface="나눔스퀘어" panose="020B0600000101010101" pitchFamily="50" charset="-127"/>
                <a:ea typeface="나눔스퀘어" panose="020B0600000101010101" pitchFamily="50" charset="-127"/>
              </a:rPr>
              <a:t>levels</a:t>
            </a: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a:t>
            </a:r>
            <a:r>
              <a:rPr lang="en-US" altLang="ko-KR" sz="1400" dirty="0">
                <a:latin typeface="나눔스퀘어" panose="020B0600000101010101" pitchFamily="50" charset="-127"/>
                <a:ea typeface="나눔스퀘어" panose="020B0600000101010101" pitchFamily="50" charset="-127"/>
              </a:rPr>
              <a:t>- </a:t>
            </a:r>
            <a:r>
              <a:rPr lang="en-US" altLang="ko-KR" sz="1400" spc="-100" dirty="0" smtClean="0">
                <a:latin typeface="나눔스퀘어" panose="020B0600000101010101" pitchFamily="50" charset="-127"/>
                <a:ea typeface="나눔스퀘어" panose="020B0600000101010101" pitchFamily="50" charset="-127"/>
              </a:rPr>
              <a:t>FSC share of TAC rates averaged 6.6% (5–8% range) over the past 2 </a:t>
            </a:r>
            <a:r>
              <a:rPr lang="en-US" altLang="ko-KR" sz="1400" spc="-100" dirty="0" err="1" smtClean="0">
                <a:latin typeface="나눔스퀘어" panose="020B0600000101010101" pitchFamily="50" charset="-127"/>
                <a:ea typeface="나눔스퀘어" panose="020B0600000101010101" pitchFamily="50" charset="-127"/>
              </a:rPr>
              <a:t>yrs</a:t>
            </a:r>
            <a:endParaRPr lang="en-US" altLang="ko-KR" sz="1400" spc="-100" dirty="0" smtClean="0">
              <a:latin typeface="나눔스퀘어" panose="020B0600000101010101" pitchFamily="50" charset="-127"/>
              <a:ea typeface="나눔스퀘어" panose="020B0600000101010101" pitchFamily="50" charset="-127"/>
            </a:endParaRPr>
          </a:p>
          <a:p>
            <a:pPr defTabSz="1038977" latinLnBrk="0">
              <a:spcAft>
                <a:spcPts val="800"/>
              </a:spcAft>
            </a:pPr>
            <a:r>
              <a:rPr lang="en-US" altLang="ko-KR" sz="1400" spc="-70" dirty="0" smtClean="0">
                <a:latin typeface="나눔스퀘어" panose="020B0600000101010101" pitchFamily="50" charset="-127"/>
                <a:ea typeface="나눔스퀘어" panose="020B0600000101010101" pitchFamily="50" charset="-127"/>
              </a:rPr>
              <a:t>       </a:t>
            </a:r>
            <a:r>
              <a:rPr lang="en-US" altLang="ko-KR" sz="1400" spc="-70" dirty="0">
                <a:latin typeface="나눔스퀘어" panose="020B0600000101010101" pitchFamily="50" charset="-127"/>
                <a:ea typeface="나눔스퀘어" panose="020B0600000101010101" pitchFamily="50" charset="-127"/>
              </a:rPr>
              <a:t>Share expanded 5.1% (2/16–3/15</a:t>
            </a:r>
            <a:r>
              <a:rPr lang="en-US" altLang="ko-KR" sz="1400" spc="-70" dirty="0" smtClean="0">
                <a:latin typeface="나눔스퀘어" panose="020B0600000101010101" pitchFamily="50" charset="-127"/>
                <a:ea typeface="나눔스퀘어" panose="020B0600000101010101" pitchFamily="50" charset="-127"/>
              </a:rPr>
              <a:t>)→21.9</a:t>
            </a:r>
            <a:r>
              <a:rPr lang="en-US" altLang="ko-KR" sz="1400" spc="-70" dirty="0">
                <a:latin typeface="나눔스퀘어" panose="020B0600000101010101" pitchFamily="50" charset="-127"/>
                <a:ea typeface="나눔스퀘어" panose="020B0600000101010101" pitchFamily="50" charset="-127"/>
              </a:rPr>
              <a:t>% (5/16–6/15), a 3.3x jump</a:t>
            </a:r>
            <a:r>
              <a:rPr lang="ko-KR" altLang="en-US" sz="1400" spc="-60" dirty="0" smtClean="0">
                <a:latin typeface="나눔스퀘어" panose="020B0600000101010101" pitchFamily="50" charset="-127"/>
                <a:ea typeface="나눔스퀘어" panose="020B0600000101010101" pitchFamily="50" charset="-127"/>
              </a:rPr>
              <a:t> </a:t>
            </a:r>
            <a:endParaRPr lang="ko-KR" altLang="en-US" sz="1400" spc="-60" dirty="0">
              <a:latin typeface="나눔스퀘어" panose="020B0600000101010101" pitchFamily="50" charset="-127"/>
              <a:ea typeface="나눔스퀘어" panose="020B0600000101010101" pitchFamily="50" charset="-127"/>
            </a:endParaRPr>
          </a:p>
        </p:txBody>
      </p:sp>
      <p:sp>
        <p:nvSpPr>
          <p:cNvPr id="107" name="직사각형 25"/>
          <p:cNvSpPr/>
          <p:nvPr/>
        </p:nvSpPr>
        <p:spPr>
          <a:xfrm>
            <a:off x="6395948" y="2863015"/>
            <a:ext cx="5249850" cy="1002086"/>
          </a:xfrm>
          <a:prstGeom prst="rect">
            <a:avLst/>
          </a:prstGeom>
        </p:spPr>
        <p:txBody>
          <a:bodyPr wrap="square">
            <a:noAutofit/>
          </a:bodyPr>
          <a:lstStyle/>
          <a:p>
            <a:pPr marL="144000" indent="-144000" defTabSz="1038977" latinLnBrk="0">
              <a:spcAft>
                <a:spcPts val="800"/>
              </a:spcAft>
              <a:buFont typeface="Arial" panose="020B0604020202020204" pitchFamily="34" charset="0"/>
              <a:buChar char="•"/>
            </a:pPr>
            <a:r>
              <a:rPr lang="en-US" altLang="ko-KR" sz="1400" dirty="0" smtClean="0">
                <a:latin typeface="나눔스퀘어" panose="020B0600000101010101" pitchFamily="50" charset="-127"/>
                <a:ea typeface="나눔스퀘어" panose="020B0600000101010101" pitchFamily="50" charset="-127"/>
              </a:rPr>
              <a:t>Q2 </a:t>
            </a:r>
            <a:r>
              <a:rPr lang="en-US" altLang="ko-KR" sz="1400" dirty="0">
                <a:latin typeface="나눔스퀘어" panose="020B0600000101010101" pitchFamily="50" charset="-127"/>
                <a:ea typeface="나눔스퀘어" panose="020B0600000101010101" pitchFamily="50" charset="-127"/>
              </a:rPr>
              <a:t>rates climb further on the post-war jet fuel spike   </a:t>
            </a:r>
            <a:endParaRPr lang="en-US" altLang="ko-KR" sz="1400" dirty="0" smtClean="0">
              <a:latin typeface="나눔스퀘어" panose="020B0600000101010101" pitchFamily="50" charset="-127"/>
              <a:ea typeface="나눔스퀘어" panose="020B0600000101010101" pitchFamily="50" charset="-127"/>
            </a:endParaRP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 </a:t>
            </a:r>
            <a:r>
              <a:rPr lang="en-US" altLang="ko-KR" sz="1400" dirty="0">
                <a:latin typeface="나눔스퀘어" panose="020B0600000101010101" pitchFamily="50" charset="-127"/>
                <a:ea typeface="나눔스퀘어" panose="020B0600000101010101" pitchFamily="50" charset="-127"/>
              </a:rPr>
              <a:t>TAC CN–US rates up 48% in 3 months, $4.53 → $</a:t>
            </a:r>
            <a:r>
              <a:rPr lang="en-US" altLang="ko-KR" sz="1400" dirty="0" smtClean="0">
                <a:latin typeface="나눔스퀘어" panose="020B0600000101010101" pitchFamily="50" charset="-127"/>
                <a:ea typeface="나눔스퀘어" panose="020B0600000101010101" pitchFamily="50" charset="-127"/>
              </a:rPr>
              <a:t>6.71</a:t>
            </a:r>
          </a:p>
          <a:p>
            <a:pPr defTabSz="1038977" latinLnBrk="0">
              <a:spcAft>
                <a:spcPts val="800"/>
              </a:spcAft>
            </a:pPr>
            <a:r>
              <a:rPr lang="en-US" altLang="ko-KR" sz="1400" dirty="0" smtClean="0">
                <a:latin typeface="나눔스퀘어" panose="020B0600000101010101" pitchFamily="50" charset="-127"/>
                <a:ea typeface="나눔스퀘어" panose="020B0600000101010101" pitchFamily="50" charset="-127"/>
              </a:rPr>
              <a:t>   </a:t>
            </a:r>
            <a:r>
              <a:rPr lang="en-US" altLang="ko-KR" sz="1400" dirty="0">
                <a:latin typeface="나눔스퀘어" panose="020B0600000101010101" pitchFamily="50" charset="-127"/>
                <a:ea typeface="나눔스퀘어" panose="020B0600000101010101" pitchFamily="50" charset="-127"/>
              </a:rPr>
              <a:t>- FSC surged 504% ($0.25 → $1.51), a multi-year high</a:t>
            </a:r>
          </a:p>
        </p:txBody>
      </p:sp>
      <p:graphicFrame>
        <p:nvGraphicFramePr>
          <p:cNvPr id="92" name="Chart 0"/>
          <p:cNvGraphicFramePr/>
          <p:nvPr>
            <p:extLst/>
          </p:nvPr>
        </p:nvGraphicFramePr>
        <p:xfrm>
          <a:off x="3573469" y="4391675"/>
          <a:ext cx="2442574" cy="174940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0" name="Chart 0"/>
          <p:cNvGraphicFramePr/>
          <p:nvPr>
            <p:extLst>
              <p:ext uri="{D42A27DB-BD31-4B8C-83A1-F6EECF244321}">
                <p14:modId xmlns:p14="http://schemas.microsoft.com/office/powerpoint/2010/main" val="3911981861"/>
              </p:ext>
            </p:extLst>
          </p:nvPr>
        </p:nvGraphicFramePr>
        <p:xfrm>
          <a:off x="9400276" y="4550307"/>
          <a:ext cx="2230620" cy="2001923"/>
        </p:xfrm>
        <a:graphic>
          <a:graphicData uri="http://schemas.openxmlformats.org/drawingml/2006/chart">
            <c:chart xmlns:c="http://schemas.openxmlformats.org/drawingml/2006/chart" xmlns:r="http://schemas.openxmlformats.org/officeDocument/2006/relationships" r:id="rId4"/>
          </a:graphicData>
        </a:graphic>
      </p:graphicFrame>
      <p:sp>
        <p:nvSpPr>
          <p:cNvPr id="2" name="제목 1"/>
          <p:cNvSpPr>
            <a:spLocks noGrp="1"/>
          </p:cNvSpPr>
          <p:nvPr>
            <p:ph type="title"/>
          </p:nvPr>
        </p:nvSpPr>
        <p:spPr>
          <a:xfrm>
            <a:off x="515937" y="333375"/>
            <a:ext cx="11596643" cy="880283"/>
          </a:xfrm>
        </p:spPr>
        <p:txBody>
          <a:bodyPr/>
          <a:lstStyle/>
          <a:p>
            <a:r>
              <a:rPr lang="en-US" altLang="ko-KR" spc="-120" dirty="0" smtClean="0"/>
              <a:t>Air Market Outlook </a:t>
            </a:r>
            <a:r>
              <a:rPr lang="en-US" altLang="ko-KR" spc="-120" dirty="0" smtClean="0">
                <a:solidFill>
                  <a:prstClr val="black"/>
                </a:solidFill>
              </a:rPr>
              <a:t>|</a:t>
            </a:r>
            <a:r>
              <a:rPr lang="en-US" altLang="ko-KR" sz="2400" spc="-120" dirty="0" smtClean="0">
                <a:solidFill>
                  <a:prstClr val="black"/>
                </a:solidFill>
              </a:rPr>
              <a:t> </a:t>
            </a:r>
            <a:r>
              <a:rPr lang="en-US" altLang="ko-KR" sz="2400" spc="-150" dirty="0" smtClean="0">
                <a:solidFill>
                  <a:prstClr val="black"/>
                </a:solidFill>
              </a:rPr>
              <a:t>Key </a:t>
            </a:r>
            <a:r>
              <a:rPr lang="en-US" altLang="ko-KR" sz="2400" spc="-100" dirty="0">
                <a:solidFill>
                  <a:prstClr val="black"/>
                </a:solidFill>
              </a:rPr>
              <a:t>Driver</a:t>
            </a:r>
            <a:r>
              <a:rPr lang="en-US" altLang="ko-KR" sz="2400" spc="-150" dirty="0" smtClean="0">
                <a:solidFill>
                  <a:prstClr val="black"/>
                </a:solidFill>
              </a:rPr>
              <a:t> </a:t>
            </a:r>
            <a:r>
              <a:rPr lang="ko-KR" altLang="en-US" sz="2400" spc="-150" dirty="0" smtClean="0">
                <a:solidFill>
                  <a:prstClr val="black"/>
                </a:solidFill>
              </a:rPr>
              <a:t>① </a:t>
            </a:r>
            <a:r>
              <a:rPr lang="en-US" altLang="ko-KR" sz="2400" spc="-150" dirty="0" smtClean="0">
                <a:solidFill>
                  <a:prstClr val="black"/>
                </a:solidFill>
              </a:rPr>
              <a:t>- </a:t>
            </a:r>
            <a:r>
              <a:rPr lang="en-US" altLang="ko-KR" sz="2400" spc="-150" dirty="0">
                <a:solidFill>
                  <a:prstClr val="black"/>
                </a:solidFill>
              </a:rPr>
              <a:t>Jet Fuel </a:t>
            </a:r>
            <a:r>
              <a:rPr lang="en-US" altLang="ko-KR" sz="2400" spc="-150" dirty="0" smtClean="0">
                <a:solidFill>
                  <a:prstClr val="black"/>
                </a:solidFill>
              </a:rPr>
              <a:t>Supply-Demand Stabilization (1/2)</a:t>
            </a:r>
            <a:endParaRPr lang="ko-KR" altLang="en-US" sz="2400" spc="-150" dirty="0"/>
          </a:p>
        </p:txBody>
      </p:sp>
      <p:sp>
        <p:nvSpPr>
          <p:cNvPr id="3" name="텍스트 개체 틀 2"/>
          <p:cNvSpPr>
            <a:spLocks noGrp="1"/>
          </p:cNvSpPr>
          <p:nvPr>
            <p:ph type="body" sz="quarter" idx="10"/>
          </p:nvPr>
        </p:nvSpPr>
        <p:spPr/>
        <p:txBody>
          <a:bodyPr/>
          <a:lstStyle/>
          <a:p>
            <a:r>
              <a:rPr lang="en-US" altLang="ko-KR" spc="-70" dirty="0" smtClean="0"/>
              <a:t>US–Iran </a:t>
            </a:r>
            <a:r>
              <a:rPr lang="en-US" altLang="ko-KR" spc="-70" dirty="0"/>
              <a:t>war disrupted ME </a:t>
            </a:r>
            <a:r>
              <a:rPr lang="en-US" altLang="ko-KR" spc="-70" dirty="0" err="1"/>
              <a:t>crude·jet</a:t>
            </a:r>
            <a:r>
              <a:rPr lang="en-US" altLang="ko-KR" spc="-70" dirty="0"/>
              <a:t> fuel supply chains; supply strain drove jet fuel up more sharply than </a:t>
            </a:r>
            <a:r>
              <a:rPr lang="en-US" altLang="ko-KR" spc="-70" dirty="0" smtClean="0"/>
              <a:t>crude</a:t>
            </a:r>
          </a:p>
          <a:p>
            <a:r>
              <a:rPr lang="en-US" altLang="ko-KR" dirty="0"/>
              <a:t>The surge fed directly into fuel costs, tripling oil’s weight in air freight rates vs. pre-war levels</a:t>
            </a:r>
            <a:endParaRPr lang="en-US" altLang="ko-KR" dirty="0" smtClean="0"/>
          </a:p>
        </p:txBody>
      </p:sp>
      <p:grpSp>
        <p:nvGrpSpPr>
          <p:cNvPr id="35" name="组合 2"/>
          <p:cNvGrpSpPr/>
          <p:nvPr/>
        </p:nvGrpSpPr>
        <p:grpSpPr>
          <a:xfrm>
            <a:off x="503790" y="2117975"/>
            <a:ext cx="11167279" cy="374400"/>
            <a:chOff x="386534" y="1461600"/>
            <a:chExt cx="8375459" cy="280800"/>
          </a:xfrm>
        </p:grpSpPr>
        <p:grpSp>
          <p:nvGrpSpPr>
            <p:cNvPr id="36" name="그룹 46"/>
            <p:cNvGrpSpPr/>
            <p:nvPr/>
          </p:nvGrpSpPr>
          <p:grpSpPr>
            <a:xfrm>
              <a:off x="386535" y="1461600"/>
              <a:ext cx="8375458" cy="280800"/>
              <a:chOff x="386535" y="1383614"/>
              <a:chExt cx="8375458" cy="280800"/>
            </a:xfrm>
          </p:grpSpPr>
          <p:grpSp>
            <p:nvGrpSpPr>
              <p:cNvPr id="43" name="그룹 48"/>
              <p:cNvGrpSpPr/>
              <p:nvPr/>
            </p:nvGrpSpPr>
            <p:grpSpPr>
              <a:xfrm>
                <a:off x="386535" y="1383614"/>
                <a:ext cx="4077119" cy="280800"/>
                <a:chOff x="515380" y="1844820"/>
                <a:chExt cx="5436158" cy="374400"/>
              </a:xfrm>
            </p:grpSpPr>
            <p:sp>
              <p:nvSpPr>
                <p:cNvPr id="47" name="Rectangle 215"/>
                <p:cNvSpPr>
                  <a:spLocks noChangeArrowheads="1"/>
                </p:cNvSpPr>
                <p:nvPr/>
              </p:nvSpPr>
              <p:spPr bwMode="auto">
                <a:xfrm>
                  <a:off x="515380" y="1844820"/>
                  <a:ext cx="5436158"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48" name="TextBox 116"/>
                <p:cNvSpPr txBox="1">
                  <a:spLocks noChangeArrowheads="1"/>
                </p:cNvSpPr>
                <p:nvPr/>
              </p:nvSpPr>
              <p:spPr bwMode="auto">
                <a:xfrm>
                  <a:off x="673467" y="1905857"/>
                  <a:ext cx="511998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lvl="0" algn="ctr" defTabSz="1038977" eaLnBrk="1" hangingPunct="1"/>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US-Iran </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War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I</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mpact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o</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n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J</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et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F</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uel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S</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upply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C</a:t>
                  </a:r>
                  <a:r>
                    <a:rPr kumimoji="0" lang="en-US" altLang="ko-KR"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hain</a:t>
                  </a:r>
                  <a:endPar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grpSp>
          <p:grpSp>
            <p:nvGrpSpPr>
              <p:cNvPr id="44" name="그룹 52"/>
              <p:cNvGrpSpPr/>
              <p:nvPr/>
            </p:nvGrpSpPr>
            <p:grpSpPr>
              <a:xfrm>
                <a:off x="4684993" y="1383614"/>
                <a:ext cx="4077000" cy="280800"/>
                <a:chOff x="6246657" y="1854463"/>
                <a:chExt cx="5436000" cy="374400"/>
              </a:xfrm>
            </p:grpSpPr>
            <p:sp>
              <p:nvSpPr>
                <p:cNvPr id="45" name="Rectangle 215"/>
                <p:cNvSpPr>
                  <a:spLocks noChangeArrowheads="1"/>
                </p:cNvSpPr>
                <p:nvPr/>
              </p:nvSpPr>
              <p:spPr bwMode="auto">
                <a:xfrm>
                  <a:off x="6246657" y="1854463"/>
                  <a:ext cx="5436000"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46" name="TextBox 116"/>
                <p:cNvSpPr txBox="1">
                  <a:spLocks noChangeArrowheads="1"/>
                </p:cNvSpPr>
                <p:nvPr/>
              </p:nvSpPr>
              <p:spPr bwMode="auto">
                <a:xfrm>
                  <a:off x="6404665" y="1907501"/>
                  <a:ext cx="511998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lvl="0" algn="ctr" defTabSz="1038977" eaLnBrk="1" hangingPunct="1"/>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Jet Fuel Prices Soar, Rate Impact Expands</a:t>
                  </a:r>
                </a:p>
              </p:txBody>
            </p:sp>
          </p:grpSp>
        </p:grpSp>
        <p:grpSp>
          <p:nvGrpSpPr>
            <p:cNvPr id="37" name="그룹 62"/>
            <p:cNvGrpSpPr/>
            <p:nvPr/>
          </p:nvGrpSpPr>
          <p:grpSpPr>
            <a:xfrm>
              <a:off x="386534" y="1461600"/>
              <a:ext cx="585066" cy="276223"/>
              <a:chOff x="-1523239" y="1275702"/>
              <a:chExt cx="564992" cy="357603"/>
            </a:xfrm>
          </p:grpSpPr>
          <p:sp>
            <p:nvSpPr>
              <p:cNvPr id="41" name="자유형 63"/>
              <p:cNvSpPr/>
              <p:nvPr/>
            </p:nvSpPr>
            <p:spPr>
              <a:xfrm>
                <a:off x="-1523239" y="1275702"/>
                <a:ext cx="564991" cy="357603"/>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42" name="자유형 64"/>
              <p:cNvSpPr/>
              <p:nvPr/>
            </p:nvSpPr>
            <p:spPr>
              <a:xfrm>
                <a:off x="-1523239" y="1275702"/>
                <a:ext cx="564992" cy="357603"/>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grpSp>
        <p:grpSp>
          <p:nvGrpSpPr>
            <p:cNvPr id="38" name="그룹 62"/>
            <p:cNvGrpSpPr/>
            <p:nvPr/>
          </p:nvGrpSpPr>
          <p:grpSpPr>
            <a:xfrm>
              <a:off x="4686893" y="1462337"/>
              <a:ext cx="585066" cy="276223"/>
              <a:chOff x="-1523239" y="1275702"/>
              <a:chExt cx="564992" cy="357603"/>
            </a:xfrm>
          </p:grpSpPr>
          <p:sp>
            <p:nvSpPr>
              <p:cNvPr id="39" name="자유형 63"/>
              <p:cNvSpPr/>
              <p:nvPr/>
            </p:nvSpPr>
            <p:spPr>
              <a:xfrm>
                <a:off x="-1523239" y="1275702"/>
                <a:ext cx="564991" cy="357603"/>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40" name="자유형 64"/>
              <p:cNvSpPr/>
              <p:nvPr/>
            </p:nvSpPr>
            <p:spPr>
              <a:xfrm>
                <a:off x="-1523239" y="1275702"/>
                <a:ext cx="564992" cy="357603"/>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grpSp>
      </p:grpSp>
      <p:pic>
        <p:nvPicPr>
          <p:cNvPr id="50" name="Picture 200" descr="악세사리"/>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6200000">
            <a:off x="4339689" y="4546810"/>
            <a:ext cx="3535193" cy="91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14" name="직사각형 25"/>
          <p:cNvSpPr/>
          <p:nvPr/>
        </p:nvSpPr>
        <p:spPr>
          <a:xfrm>
            <a:off x="525890" y="2928049"/>
            <a:ext cx="5634218" cy="1639423"/>
          </a:xfrm>
          <a:prstGeom prst="rect">
            <a:avLst/>
          </a:prstGeom>
        </p:spPr>
        <p:txBody>
          <a:bodyPr wrap="square">
            <a:spAutoFit/>
          </a:bodyPr>
          <a:lstStyle/>
          <a:p>
            <a:pPr marL="144000" indent="-144000" defTabSz="1038977" latinLnBrk="0">
              <a:lnSpc>
                <a:spcPct val="80000"/>
              </a:lnSpc>
              <a:spcAft>
                <a:spcPts val="800"/>
              </a:spcAft>
              <a:buFont typeface="Arial" panose="020B0604020202020204" pitchFamily="34" charset="0"/>
              <a:buChar char="•"/>
            </a:pPr>
            <a:r>
              <a:rPr lang="en-US" altLang="ko-KR" sz="1400" spc="-100" dirty="0">
                <a:latin typeface="나눔스퀘어" panose="020B0600000101010101" pitchFamily="50" charset="-127"/>
                <a:ea typeface="나눔스퀘어" panose="020B0600000101010101" pitchFamily="50" charset="-127"/>
              </a:rPr>
              <a:t>Hormuz closure limits </a:t>
            </a:r>
            <a:r>
              <a:rPr lang="en-US" altLang="ko-KR" sz="1400" spc="-100" dirty="0" err="1" smtClean="0">
                <a:latin typeface="나눔스퀘어" panose="020B0600000101010101" pitchFamily="50" charset="-127"/>
                <a:ea typeface="나눔스퀘어" panose="020B0600000101010101" pitchFamily="50" charset="-127"/>
              </a:rPr>
              <a:t>crude·refined</a:t>
            </a:r>
            <a:r>
              <a:rPr lang="en-US" altLang="ko-KR" sz="1400" spc="-100" dirty="0" smtClean="0">
                <a:latin typeface="나눔스퀘어" panose="020B0600000101010101" pitchFamily="50" charset="-127"/>
                <a:ea typeface="나눔스퀘어" panose="020B0600000101010101" pitchFamily="50" charset="-127"/>
              </a:rPr>
              <a:t> shipments, </a:t>
            </a:r>
            <a:r>
              <a:rPr lang="en-US" altLang="ko-KR" sz="1400" spc="-100" dirty="0">
                <a:latin typeface="나눔스퀘어" panose="020B0600000101010101" pitchFamily="50" charset="-127"/>
                <a:ea typeface="나눔스퀘어" panose="020B0600000101010101" pitchFamily="50" charset="-127"/>
              </a:rPr>
              <a:t>bottlenecking jet fuel </a:t>
            </a:r>
            <a:r>
              <a:rPr lang="en-US" altLang="ko-KR" sz="1400" spc="-100" dirty="0" smtClean="0">
                <a:latin typeface="나눔스퀘어" panose="020B0600000101010101" pitchFamily="50" charset="-127"/>
                <a:ea typeface="나눔스퀘어" panose="020B0600000101010101" pitchFamily="50" charset="-127"/>
              </a:rPr>
              <a:t>output</a:t>
            </a:r>
          </a:p>
          <a:p>
            <a:pPr defTabSz="1038977" latinLnBrk="0">
              <a:lnSpc>
                <a:spcPct val="80000"/>
              </a:lnSpc>
              <a:spcAft>
                <a:spcPts val="800"/>
              </a:spcAft>
            </a:pPr>
            <a:r>
              <a:rPr lang="en-US" altLang="ko-KR" sz="1400" spc="-100" dirty="0" smtClean="0">
                <a:latin typeface="나눔스퀘어" panose="020B0600000101010101" pitchFamily="50" charset="-127"/>
                <a:ea typeface="나눔스퀘어" panose="020B0600000101010101" pitchFamily="50" charset="-127"/>
              </a:rPr>
              <a:t> </a:t>
            </a:r>
            <a:r>
              <a:rPr lang="en-US" altLang="ko-KR" sz="1400" spc="-100" dirty="0">
                <a:latin typeface="나눔스퀘어" panose="020B0600000101010101" pitchFamily="50" charset="-127"/>
                <a:ea typeface="나눔스퀘어" panose="020B0600000101010101" pitchFamily="50" charset="-127"/>
              </a:rPr>
              <a:t>- </a:t>
            </a:r>
            <a:r>
              <a:rPr lang="en-US" altLang="ko-KR" sz="1400" spc="-70" dirty="0">
                <a:latin typeface="나눔스퀘어" panose="020B0600000101010101" pitchFamily="50" charset="-127"/>
                <a:ea typeface="나눔스퀘어" panose="020B0600000101010101" pitchFamily="50" charset="-127"/>
              </a:rPr>
              <a:t>Jet fuel supply centers on KR·CN·ME; ME is the market's largest supplier</a:t>
            </a:r>
          </a:p>
          <a:p>
            <a:pPr defTabSz="1038977" latinLnBrk="0">
              <a:lnSpc>
                <a:spcPct val="80000"/>
              </a:lnSpc>
              <a:spcAft>
                <a:spcPts val="800"/>
              </a:spcAft>
            </a:pPr>
            <a:r>
              <a:rPr lang="en-US" altLang="ko-KR" sz="1400" spc="-100" dirty="0" smtClean="0">
                <a:latin typeface="나눔스퀘어" panose="020B0600000101010101" pitchFamily="50" charset="-127"/>
                <a:ea typeface="나눔스퀘어" panose="020B0600000101010101" pitchFamily="50" charset="-127"/>
              </a:rPr>
              <a:t> </a:t>
            </a:r>
            <a:r>
              <a:rPr lang="en-US" altLang="ko-KR" sz="1400" spc="-100" dirty="0">
                <a:latin typeface="나눔스퀘어" panose="020B0600000101010101" pitchFamily="50" charset="-127"/>
                <a:ea typeface="나눔스퀘어" panose="020B0600000101010101" pitchFamily="50" charset="-127"/>
              </a:rPr>
              <a:t>- </a:t>
            </a:r>
            <a:r>
              <a:rPr lang="en-US" altLang="ko-KR" sz="1400" spc="-30" dirty="0">
                <a:latin typeface="나눔스퀘어" panose="020B0600000101010101" pitchFamily="50" charset="-127"/>
                <a:ea typeface="나눔스퀘어" panose="020B0600000101010101" pitchFamily="50" charset="-127"/>
              </a:rPr>
              <a:t>ME: ~70% of Korea's crude imports, 75% of EU net jet fuel </a:t>
            </a:r>
            <a:r>
              <a:rPr lang="en-US" altLang="ko-KR" sz="1400" spc="-30" dirty="0" smtClean="0">
                <a:latin typeface="나눔스퀘어" panose="020B0600000101010101" pitchFamily="50" charset="-127"/>
                <a:ea typeface="나눔스퀘어" panose="020B0600000101010101" pitchFamily="50" charset="-127"/>
              </a:rPr>
              <a:t>imports</a:t>
            </a:r>
          </a:p>
          <a:p>
            <a:pPr marL="144000" indent="-144000" defTabSz="1038977" latinLnBrk="0">
              <a:lnSpc>
                <a:spcPct val="80000"/>
              </a:lnSpc>
              <a:spcAft>
                <a:spcPts val="800"/>
              </a:spcAft>
              <a:buFont typeface="Arial" panose="020B0604020202020204" pitchFamily="34" charset="0"/>
              <a:buChar char="•"/>
            </a:pPr>
            <a:r>
              <a:rPr lang="en-US" altLang="ko-KR" sz="1400" spc="-100" dirty="0" smtClean="0">
                <a:latin typeface="나눔스퀘어" panose="020B0600000101010101" pitchFamily="50" charset="-127"/>
                <a:ea typeface="나눔스퀘어" panose="020B0600000101010101" pitchFamily="50" charset="-127"/>
              </a:rPr>
              <a:t>Import </a:t>
            </a:r>
            <a:r>
              <a:rPr lang="en-US" altLang="ko-KR" sz="1400" spc="-100" dirty="0">
                <a:latin typeface="나눔스퀘어" panose="020B0600000101010101" pitchFamily="50" charset="-127"/>
                <a:ea typeface="나눔스퀘어" panose="020B0600000101010101" pitchFamily="50" charset="-127"/>
              </a:rPr>
              <a:t>disruption spreads Q2 </a:t>
            </a:r>
            <a:r>
              <a:rPr lang="en-US" altLang="ko-KR" sz="1400" spc="-100" dirty="0" err="1">
                <a:latin typeface="나눔스퀘어" panose="020B0600000101010101" pitchFamily="50" charset="-127"/>
                <a:ea typeface="나눔스퀘어" panose="020B0600000101010101" pitchFamily="50" charset="-127"/>
              </a:rPr>
              <a:t>inventory·supply</a:t>
            </a:r>
            <a:r>
              <a:rPr lang="en-US" altLang="ko-KR" sz="1400" spc="-100" dirty="0">
                <a:latin typeface="나눔스퀘어" panose="020B0600000101010101" pitchFamily="50" charset="-127"/>
                <a:ea typeface="나눔스퀘어" panose="020B0600000101010101" pitchFamily="50" charset="-127"/>
              </a:rPr>
              <a:t> strain; jet fuel outpaces </a:t>
            </a:r>
            <a:r>
              <a:rPr lang="en-US" altLang="ko-KR" sz="1400" spc="-100" dirty="0" smtClean="0">
                <a:latin typeface="나눔스퀘어" panose="020B0600000101010101" pitchFamily="50" charset="-127"/>
                <a:ea typeface="나눔스퀘어" panose="020B0600000101010101" pitchFamily="50" charset="-127"/>
              </a:rPr>
              <a:t>crude</a:t>
            </a:r>
          </a:p>
          <a:p>
            <a:pPr defTabSz="1038977" latinLnBrk="0">
              <a:lnSpc>
                <a:spcPct val="80000"/>
              </a:lnSpc>
              <a:spcAft>
                <a:spcPts val="800"/>
              </a:spcAft>
            </a:pPr>
            <a:r>
              <a:rPr lang="en-US" altLang="ko-KR" sz="1400" spc="-100" dirty="0" smtClean="0">
                <a:latin typeface="나눔스퀘어" panose="020B0600000101010101" pitchFamily="50" charset="-127"/>
                <a:ea typeface="나눔스퀘어" panose="020B0600000101010101" pitchFamily="50" charset="-127"/>
              </a:rPr>
              <a:t> - </a:t>
            </a:r>
            <a:r>
              <a:rPr lang="en-US" altLang="ko-KR" sz="1400" dirty="0" smtClean="0">
                <a:latin typeface="나눔스퀘어" panose="020B0600000101010101" pitchFamily="50" charset="-127"/>
                <a:ea typeface="나눔스퀘어" panose="020B0600000101010101" pitchFamily="50" charset="-127"/>
              </a:rPr>
              <a:t>ME </a:t>
            </a:r>
            <a:r>
              <a:rPr lang="en-US" altLang="ko-KR" sz="1400" dirty="0">
                <a:latin typeface="나눔스퀘어" panose="020B0600000101010101" pitchFamily="50" charset="-127"/>
                <a:ea typeface="나눔스퀘어" panose="020B0600000101010101" pitchFamily="50" charset="-127"/>
              </a:rPr>
              <a:t>jet fuel exports plunge 400 → 70 kb/d, opening a supply </a:t>
            </a:r>
            <a:r>
              <a:rPr lang="en-US" altLang="ko-KR" sz="1400" dirty="0" smtClean="0">
                <a:latin typeface="나눔스퀘어" panose="020B0600000101010101" pitchFamily="50" charset="-127"/>
                <a:ea typeface="나눔스퀘어" panose="020B0600000101010101" pitchFamily="50" charset="-127"/>
              </a:rPr>
              <a:t>gap</a:t>
            </a:r>
          </a:p>
          <a:p>
            <a:pPr defTabSz="1038977" latinLnBrk="0">
              <a:lnSpc>
                <a:spcPct val="80000"/>
              </a:lnSpc>
              <a:spcAft>
                <a:spcPts val="800"/>
              </a:spcAft>
            </a:pPr>
            <a:r>
              <a:rPr lang="en-US" altLang="ko-KR" sz="1400" dirty="0" smtClean="0">
                <a:latin typeface="나눔스퀘어" panose="020B0600000101010101" pitchFamily="50" charset="-127"/>
                <a:ea typeface="나눔스퀘어" panose="020B0600000101010101" pitchFamily="50" charset="-127"/>
              </a:rPr>
              <a:t> -</a:t>
            </a:r>
            <a:r>
              <a:rPr lang="en-US" altLang="ko-KR" sz="1400" spc="-100" dirty="0">
                <a:latin typeface="나눔스퀘어" panose="020B0600000101010101" pitchFamily="50" charset="-127"/>
                <a:ea typeface="나눔스퀘어" panose="020B0600000101010101" pitchFamily="50" charset="-127"/>
              </a:rPr>
              <a:t> </a:t>
            </a:r>
            <a:r>
              <a:rPr lang="en-US" altLang="ko-KR" sz="1400" dirty="0" smtClean="0">
                <a:latin typeface="나눔스퀘어" panose="020B0600000101010101" pitchFamily="50" charset="-127"/>
                <a:ea typeface="나눔스퀘어" panose="020B0600000101010101" pitchFamily="50" charset="-127"/>
              </a:rPr>
              <a:t>Jet </a:t>
            </a:r>
            <a:r>
              <a:rPr lang="en-US" altLang="ko-KR" sz="1400" dirty="0">
                <a:latin typeface="나눔스퀘어" panose="020B0600000101010101" pitchFamily="50" charset="-127"/>
                <a:ea typeface="나눔스퀘어" panose="020B0600000101010101" pitchFamily="50" charset="-127"/>
              </a:rPr>
              <a:t>fuel +101.4% (</a:t>
            </a:r>
            <a:r>
              <a:rPr lang="en-US" altLang="ko-KR" sz="1400" dirty="0" err="1">
                <a:latin typeface="나눔스퀘어" panose="020B0600000101010101" pitchFamily="50" charset="-127"/>
                <a:ea typeface="나눔스퀘어" panose="020B0600000101010101" pitchFamily="50" charset="-127"/>
              </a:rPr>
              <a:t>Feb→Apr</a:t>
            </a:r>
            <a:r>
              <a:rPr lang="en-US" altLang="ko-KR" sz="1400" dirty="0">
                <a:latin typeface="나눔스퀘어" panose="020B0600000101010101" pitchFamily="50" charset="-127"/>
                <a:ea typeface="나눔스퀘어" panose="020B0600000101010101" pitchFamily="50" charset="-127"/>
              </a:rPr>
              <a:t> '26), over 2x the crude increase</a:t>
            </a:r>
          </a:p>
        </p:txBody>
      </p:sp>
      <p:grpSp>
        <p:nvGrpSpPr>
          <p:cNvPr id="61" name="그룹 60"/>
          <p:cNvGrpSpPr/>
          <p:nvPr/>
        </p:nvGrpSpPr>
        <p:grpSpPr>
          <a:xfrm>
            <a:off x="6338123" y="2855001"/>
            <a:ext cx="5366998" cy="230832"/>
            <a:chOff x="565596" y="2590117"/>
            <a:chExt cx="5366998" cy="230832"/>
          </a:xfrm>
        </p:grpSpPr>
        <p:sp>
          <p:nvSpPr>
            <p:cNvPr id="62" name="직사각형 61">
              <a:extLst>
                <a:ext uri="{FF2B5EF4-FFF2-40B4-BE49-F238E27FC236}">
                  <a16:creationId xmlns:a16="http://schemas.microsoft.com/office/drawing/2014/main" id="{5E1BAC51-93E3-4E55-A59B-3BB621CD3405}"/>
                </a:ext>
              </a:extLst>
            </p:cNvPr>
            <p:cNvSpPr/>
            <p:nvPr/>
          </p:nvSpPr>
          <p:spPr>
            <a:xfrm>
              <a:off x="781342" y="2590117"/>
              <a:ext cx="5151252" cy="230832"/>
            </a:xfrm>
            <a:prstGeom prst="rect">
              <a:avLst/>
            </a:prstGeom>
            <a:noFill/>
          </p:spPr>
          <p:txBody>
            <a:bodyPr wrap="none" lIns="0" tIns="0" rIns="0" bIns="0" anchor="t">
              <a:noAutofit/>
            </a:bodyPr>
            <a:lstStyle/>
            <a:p>
              <a:pPr latinLnBrk="0">
                <a:defRPr/>
              </a:pPr>
              <a:endParaRPr lang="en-US" altLang="ko-KR" sz="1200" dirty="0">
                <a:ln>
                  <a:solidFill>
                    <a:prstClr val="white">
                      <a:alpha val="0"/>
                    </a:prstClr>
                  </a:solidFill>
                </a:ln>
                <a:latin typeface="나눔스퀘어 Bold" panose="020B0600000101010101" pitchFamily="50" charset="-127"/>
                <a:ea typeface="나눔스퀘어 Bold" panose="020B0600000101010101" pitchFamily="50" charset="-127"/>
                <a:cs typeface="Arial" panose="020B0604020202020204" pitchFamily="34" charset="0"/>
              </a:endParaRPr>
            </a:p>
          </p:txBody>
        </p:sp>
        <p:sp>
          <p:nvSpPr>
            <p:cNvPr id="67" name="모서리가 둥근 직사각형 66"/>
            <p:cNvSpPr/>
            <p:nvPr/>
          </p:nvSpPr>
          <p:spPr>
            <a:xfrm rot="3172357" flipV="1">
              <a:off x="607607" y="2676375"/>
              <a:ext cx="26642" cy="11066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600"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aphicFrame>
        <p:nvGraphicFramePr>
          <p:cNvPr id="84" name="Chart 0"/>
          <p:cNvGraphicFramePr/>
          <p:nvPr>
            <p:extLst/>
          </p:nvPr>
        </p:nvGraphicFramePr>
        <p:xfrm>
          <a:off x="6467388" y="4700528"/>
          <a:ext cx="2821258" cy="1734802"/>
        </p:xfrm>
        <a:graphic>
          <a:graphicData uri="http://schemas.openxmlformats.org/drawingml/2006/chart">
            <c:chart xmlns:c="http://schemas.openxmlformats.org/drawingml/2006/chart" xmlns:r="http://schemas.openxmlformats.org/officeDocument/2006/relationships" r:id="rId6"/>
          </a:graphicData>
        </a:graphic>
      </p:graphicFrame>
      <p:sp>
        <p:nvSpPr>
          <p:cNvPr id="106" name="TextBox 105">
            <a:extLst>
              <a:ext uri="{FF2B5EF4-FFF2-40B4-BE49-F238E27FC236}">
                <a16:creationId xmlns:a16="http://schemas.microsoft.com/office/drawing/2014/main" id="{F419EC2A-DA12-DE70-177E-D060836EC73B}"/>
              </a:ext>
            </a:extLst>
          </p:cNvPr>
          <p:cNvSpPr txBox="1"/>
          <p:nvPr/>
        </p:nvSpPr>
        <p:spPr>
          <a:xfrm>
            <a:off x="9330536" y="6135967"/>
            <a:ext cx="2436564" cy="138499"/>
          </a:xfrm>
          <a:prstGeom prst="rect">
            <a:avLst/>
          </a:prstGeom>
          <a:noFill/>
        </p:spPr>
        <p:txBody>
          <a:bodyPr wrap="none" lIns="0" tIns="0" rIns="0" bIns="0" rtlCol="0" anchor="ctr">
            <a:spAutoFit/>
          </a:bodyPr>
          <a:lstStyle/>
          <a:p>
            <a:pPr latinLnBrk="0"/>
            <a:r>
              <a:rPr lang="en-US" altLang="ko-KR"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Rate</a:t>
            </a:r>
            <a:r>
              <a:rPr lang="ko-KR" altLang="en-US"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a:t>
            </a:r>
            <a:r>
              <a:rPr lang="en-US" altLang="ko-KR"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TAC CN-US, FSC</a:t>
            </a:r>
            <a:r>
              <a:rPr lang="ko-KR" altLang="en-US"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a:t>
            </a:r>
            <a:r>
              <a:rPr lang="en-US" altLang="ko-KR"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Korean Air long-haul</a:t>
            </a:r>
          </a:p>
        </p:txBody>
      </p:sp>
      <p:sp>
        <p:nvSpPr>
          <p:cNvPr id="112" name="직사각형 111"/>
          <p:cNvSpPr/>
          <p:nvPr/>
        </p:nvSpPr>
        <p:spPr>
          <a:xfrm>
            <a:off x="3803977" y="4461003"/>
            <a:ext cx="2505304" cy="138499"/>
          </a:xfrm>
          <a:prstGeom prst="rect">
            <a:avLst/>
          </a:prstGeom>
          <a:noFill/>
        </p:spPr>
        <p:txBody>
          <a:bodyPr wrap="square" lIns="0" tIns="0" rIns="0" bIns="0" rtlCol="0">
            <a:spAutoFit/>
          </a:bodyPr>
          <a:lstStyle/>
          <a:p>
            <a:r>
              <a:rPr lang="en-US" altLang="ko-KR" sz="900" dirty="0" smtClean="0">
                <a:solidFill>
                  <a:srgbClr val="0000FF"/>
                </a:solidFill>
                <a:latin typeface="나눔스퀘어" panose="020B0600000101010101" pitchFamily="50" charset="-127"/>
                <a:ea typeface="나눔스퀘어" panose="020B0600000101010101" pitchFamily="50" charset="-127"/>
              </a:rPr>
              <a:t>* Brent 46.5%</a:t>
            </a:r>
            <a:r>
              <a:rPr lang="ko-KR" altLang="en-US" sz="900" dirty="0" smtClean="0">
                <a:solidFill>
                  <a:srgbClr val="0000FF"/>
                </a:solidFill>
                <a:latin typeface="나눔스퀘어" panose="020B0600000101010101" pitchFamily="50" charset="-127"/>
                <a:ea typeface="나눔스퀘어" panose="020B0600000101010101" pitchFamily="50" charset="-127"/>
              </a:rPr>
              <a:t> </a:t>
            </a:r>
            <a:r>
              <a:rPr lang="en-US" altLang="ko-KR" sz="900" dirty="0" smtClean="0">
                <a:solidFill>
                  <a:srgbClr val="0000FF"/>
                </a:solidFill>
                <a:latin typeface="나눔스퀘어" panose="020B0600000101010101" pitchFamily="50" charset="-127"/>
                <a:ea typeface="나눔스퀘어" panose="020B0600000101010101" pitchFamily="50" charset="-127"/>
              </a:rPr>
              <a:t>increase</a:t>
            </a:r>
            <a:endParaRPr lang="en-US" altLang="ko-KR" sz="900" dirty="0">
              <a:solidFill>
                <a:srgbClr val="0000FF"/>
              </a:solidFill>
              <a:latin typeface="나눔스퀘어" panose="020B0600000101010101" pitchFamily="50" charset="-127"/>
              <a:ea typeface="나눔스퀘어" panose="020B0600000101010101" pitchFamily="50" charset="-127"/>
            </a:endParaRPr>
          </a:p>
        </p:txBody>
      </p:sp>
      <p:sp>
        <p:nvSpPr>
          <p:cNvPr id="113" name="TextBox 112"/>
          <p:cNvSpPr txBox="1"/>
          <p:nvPr/>
        </p:nvSpPr>
        <p:spPr>
          <a:xfrm>
            <a:off x="1111171" y="3653275"/>
            <a:ext cx="4692449" cy="138499"/>
          </a:xfrm>
          <a:prstGeom prst="rect">
            <a:avLst/>
          </a:prstGeom>
          <a:noFill/>
        </p:spPr>
        <p:txBody>
          <a:bodyPr wrap="square" lIns="0" tIns="0" rIns="0" bIns="0" rtlCol="0">
            <a:spAutoFit/>
          </a:bodyPr>
          <a:lstStyle>
            <a:defPPr>
              <a:defRPr lang="ko-KR"/>
            </a:defPPr>
            <a:lvl1pPr>
              <a:defRPr sz="900" spc="-100">
                <a:solidFill>
                  <a:srgbClr val="0000FF"/>
                </a:solidFill>
                <a:latin typeface="나눔스퀘어" panose="020B0600000101010101" pitchFamily="50" charset="-127"/>
                <a:ea typeface="나눔스퀘어" panose="020B0600000101010101" pitchFamily="50" charset="-127"/>
              </a:defRPr>
            </a:lvl1pPr>
          </a:lstStyle>
          <a:p>
            <a:r>
              <a:rPr lang="en-US" altLang="ko-KR" spc="0" dirty="0" smtClean="0"/>
              <a:t>* As of ’25, 69.9%, 1.95mb/d</a:t>
            </a:r>
            <a:endParaRPr lang="ko-KR" altLang="en-US" spc="0" dirty="0"/>
          </a:p>
        </p:txBody>
      </p:sp>
      <p:cxnSp>
        <p:nvCxnSpPr>
          <p:cNvPr id="96" name="직선 화살표 연결선 95"/>
          <p:cNvCxnSpPr/>
          <p:nvPr/>
        </p:nvCxnSpPr>
        <p:spPr>
          <a:xfrm flipV="1">
            <a:off x="4964234" y="6066446"/>
            <a:ext cx="3" cy="108000"/>
          </a:xfrm>
          <a:prstGeom prst="straightConnector1">
            <a:avLst/>
          </a:prstGeom>
          <a:ln w="19050" cap="rnd">
            <a:solidFill>
              <a:srgbClr val="002B5C"/>
            </a:solidFill>
            <a:tailEnd type="triangle"/>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flipH="1">
            <a:off x="4206439" y="6180956"/>
            <a:ext cx="756000" cy="0"/>
          </a:xfrm>
          <a:prstGeom prst="line">
            <a:avLst/>
          </a:prstGeom>
          <a:ln w="19050" cap="rnd">
            <a:solidFill>
              <a:srgbClr val="002B5C"/>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flipV="1">
            <a:off x="4206438" y="6069130"/>
            <a:ext cx="0" cy="108000"/>
          </a:xfrm>
          <a:prstGeom prst="line">
            <a:avLst/>
          </a:prstGeom>
          <a:ln w="19050" cap="rnd">
            <a:solidFill>
              <a:srgbClr val="002B5C"/>
            </a:solidFill>
          </a:ln>
        </p:spPr>
        <p:style>
          <a:lnRef idx="1">
            <a:schemeClr val="accent1"/>
          </a:lnRef>
          <a:fillRef idx="0">
            <a:schemeClr val="accent1"/>
          </a:fillRef>
          <a:effectRef idx="0">
            <a:schemeClr val="accent1"/>
          </a:effectRef>
          <a:fontRef idx="minor">
            <a:schemeClr val="tx1"/>
          </a:fontRef>
        </p:style>
      </p:cxnSp>
      <p:sp>
        <p:nvSpPr>
          <p:cNvPr id="108" name="TextBox 107"/>
          <p:cNvSpPr txBox="1"/>
          <p:nvPr/>
        </p:nvSpPr>
        <p:spPr>
          <a:xfrm>
            <a:off x="4398981" y="6060829"/>
            <a:ext cx="424984" cy="123111"/>
          </a:xfrm>
          <a:prstGeom prst="rect">
            <a:avLst/>
          </a:prstGeom>
          <a:noFill/>
        </p:spPr>
        <p:txBody>
          <a:bodyPr wrap="square" lIns="0" tIns="0" rIns="0" bIns="0" rtlCol="0">
            <a:spAutoFit/>
          </a:bodyPr>
          <a:lstStyle/>
          <a:p>
            <a:pPr>
              <a:defRPr/>
            </a:pPr>
            <a:r>
              <a:rPr kumimoji="1" lang="en-US" altLang="ko-KR" sz="800" b="1" dirty="0" smtClean="0">
                <a:ln>
                  <a:solidFill>
                    <a:srgbClr val="4F81BD">
                      <a:alpha val="0"/>
                    </a:srgbClr>
                  </a:solidFill>
                </a:ln>
                <a:solidFill>
                  <a:srgbClr val="002B5C"/>
                </a:solidFill>
                <a:latin typeface="나눔스퀘어" panose="020B0600000101010101" pitchFamily="50" charset="-127"/>
                <a:ea typeface="나눔스퀘어" panose="020B0600000101010101" pitchFamily="50" charset="-127"/>
                <a:cs typeface="Arial Unicode MS" panose="020B0604020202020204" pitchFamily="50" charset="-127"/>
              </a:rPr>
              <a:t>+101.4%</a:t>
            </a:r>
            <a:endParaRPr kumimoji="1" lang="ko-KR" altLang="en-US" sz="800" b="1" dirty="0">
              <a:ln>
                <a:solidFill>
                  <a:srgbClr val="4F81BD">
                    <a:alpha val="0"/>
                  </a:srgbClr>
                </a:solidFill>
              </a:ln>
              <a:solidFill>
                <a:srgbClr val="002B5C"/>
              </a:solidFill>
              <a:latin typeface="나눔스퀘어" panose="020B0600000101010101" pitchFamily="50" charset="-127"/>
              <a:ea typeface="나눔스퀘어" panose="020B0600000101010101" pitchFamily="50" charset="-127"/>
              <a:cs typeface="Arial Unicode MS" panose="020B0604020202020204" pitchFamily="50" charset="-127"/>
            </a:endParaRPr>
          </a:p>
        </p:txBody>
      </p:sp>
      <p:pic>
        <p:nvPicPr>
          <p:cNvPr id="116" name="그림 115" descr="채점"/>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065547" y="5925390"/>
            <a:ext cx="333434" cy="175819"/>
          </a:xfrm>
          <a:prstGeom prst="rect">
            <a:avLst/>
          </a:prstGeom>
          <a:noFill/>
          <a:ln>
            <a:noFill/>
          </a:ln>
        </p:spPr>
      </p:pic>
      <p:pic>
        <p:nvPicPr>
          <p:cNvPr id="117" name="그림 116" descr="채점"/>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790936" y="5928191"/>
            <a:ext cx="333434" cy="175819"/>
          </a:xfrm>
          <a:prstGeom prst="rect">
            <a:avLst/>
          </a:prstGeom>
          <a:noFill/>
          <a:ln>
            <a:noFill/>
          </a:ln>
        </p:spPr>
      </p:pic>
      <p:cxnSp>
        <p:nvCxnSpPr>
          <p:cNvPr id="71" name="직선 화살표 연결선 70"/>
          <p:cNvCxnSpPr>
            <a:stCxn id="76" idx="0"/>
          </p:cNvCxnSpPr>
          <p:nvPr/>
        </p:nvCxnSpPr>
        <p:spPr>
          <a:xfrm flipV="1">
            <a:off x="10119111" y="5146883"/>
            <a:ext cx="748802" cy="530496"/>
          </a:xfrm>
          <a:prstGeom prst="straightConnector1">
            <a:avLst/>
          </a:prstGeom>
          <a:ln w="12700">
            <a:solidFill>
              <a:srgbClr val="DC4849"/>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72" name="그림 71" descr="채점"/>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867913" y="5047481"/>
            <a:ext cx="392447" cy="226995"/>
          </a:xfrm>
          <a:prstGeom prst="rect">
            <a:avLst/>
          </a:prstGeom>
          <a:noFill/>
          <a:ln>
            <a:noFill/>
          </a:ln>
        </p:spPr>
      </p:pic>
      <p:pic>
        <p:nvPicPr>
          <p:cNvPr id="76" name="그림 75" descr="채점"/>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928554" y="5677379"/>
            <a:ext cx="381113" cy="230356"/>
          </a:xfrm>
          <a:prstGeom prst="rect">
            <a:avLst/>
          </a:prstGeom>
          <a:noFill/>
          <a:ln>
            <a:noFill/>
          </a:ln>
        </p:spPr>
      </p:pic>
      <p:sp>
        <p:nvSpPr>
          <p:cNvPr id="78" name="TextBox 77">
            <a:extLst>
              <a:ext uri="{FF2B5EF4-FFF2-40B4-BE49-F238E27FC236}">
                <a16:creationId xmlns:a16="http://schemas.microsoft.com/office/drawing/2014/main" id="{F419EC2A-DA12-DE70-177E-D060836EC73B}"/>
              </a:ext>
            </a:extLst>
          </p:cNvPr>
          <p:cNvSpPr txBox="1"/>
          <p:nvPr/>
        </p:nvSpPr>
        <p:spPr>
          <a:xfrm>
            <a:off x="9334155" y="6271033"/>
            <a:ext cx="2778425" cy="276999"/>
          </a:xfrm>
          <a:prstGeom prst="rect">
            <a:avLst/>
          </a:prstGeom>
          <a:noFill/>
        </p:spPr>
        <p:txBody>
          <a:bodyPr wrap="square" lIns="0" tIns="0" rIns="0" bIns="0" rtlCol="0" anchor="ctr">
            <a:spAutoFit/>
          </a:bodyPr>
          <a:lstStyle>
            <a:defPPr>
              <a:defRPr lang="ko-KR"/>
            </a:defPPr>
            <a:lvl1pPr latinLnBrk="0">
              <a:defRPr sz="90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defRPr>
            </a:lvl1pPr>
          </a:lstStyle>
          <a:p>
            <a:r>
              <a:rPr lang="en-US" altLang="ko-KR" dirty="0"/>
              <a:t> </a:t>
            </a:r>
            <a:r>
              <a:rPr lang="en-US" altLang="ko-KR" dirty="0" smtClean="0"/>
              <a:t>  Period</a:t>
            </a:r>
            <a:r>
              <a:rPr lang="ko-KR" altLang="en-US" dirty="0" smtClean="0"/>
              <a:t> </a:t>
            </a:r>
            <a:r>
              <a:rPr lang="en-US" altLang="ko-KR" dirty="0" smtClean="0"/>
              <a:t>: 16</a:t>
            </a:r>
            <a:r>
              <a:rPr lang="en-US" altLang="ko-KR" baseline="30000" dirty="0" smtClean="0"/>
              <a:t>th</a:t>
            </a:r>
            <a:r>
              <a:rPr lang="en-US" altLang="ko-KR" dirty="0" smtClean="0"/>
              <a:t> of previous month-15</a:t>
            </a:r>
            <a:r>
              <a:rPr lang="en-US" altLang="ko-KR" baseline="30000" dirty="0" smtClean="0"/>
              <a:t>th</a:t>
            </a:r>
            <a:r>
              <a:rPr lang="en-US" altLang="ko-KR" dirty="0" smtClean="0"/>
              <a:t> of </a:t>
            </a:r>
            <a:r>
              <a:rPr lang="en-US" altLang="ko-KR" dirty="0"/>
              <a:t>c</a:t>
            </a:r>
            <a:r>
              <a:rPr lang="en-US" altLang="ko-KR" dirty="0" smtClean="0"/>
              <a:t>urrent month</a:t>
            </a:r>
            <a:endParaRPr lang="en-US" altLang="ko-KR" dirty="0"/>
          </a:p>
        </p:txBody>
      </p:sp>
      <p:sp>
        <p:nvSpPr>
          <p:cNvPr id="79" name="TextBox 78"/>
          <p:cNvSpPr txBox="1"/>
          <p:nvPr/>
        </p:nvSpPr>
        <p:spPr>
          <a:xfrm>
            <a:off x="714570" y="6032659"/>
            <a:ext cx="2489396" cy="276999"/>
          </a:xfrm>
          <a:prstGeom prst="rect">
            <a:avLst/>
          </a:prstGeom>
          <a:noFill/>
        </p:spPr>
        <p:txBody>
          <a:bodyPr wrap="square" lIns="0" tIns="0" rIns="0" bIns="0" rtlCol="0">
            <a:spAutoFit/>
          </a:bodyPr>
          <a:lstStyle/>
          <a:p>
            <a:pPr latinLnBrk="0"/>
            <a:r>
              <a:rPr lang="en-US" altLang="ko-KR" sz="900" dirty="0" smtClean="0">
                <a:solidFill>
                  <a:srgbClr val="0000FF"/>
                </a:solidFill>
                <a:latin typeface="나눔스퀘어" panose="020B0600000101010101" pitchFamily="50" charset="-127"/>
                <a:ea typeface="나눔스퀘어" panose="020B0600000101010101" pitchFamily="50" charset="-127"/>
              </a:rPr>
              <a:t> </a:t>
            </a:r>
            <a:r>
              <a:rPr lang="en-US" altLang="ko-KR"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EU inventory as of end of Apr. is the lowest           </a:t>
            </a:r>
          </a:p>
          <a:p>
            <a:pPr latinLnBrk="0"/>
            <a:r>
              <a:rPr lang="en-US" altLang="ko-KR" sz="90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a:t>
            </a:r>
            <a:r>
              <a:rPr lang="en-US" altLang="ko-KR"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since COVID era</a:t>
            </a:r>
            <a:endParaRPr lang="ko-KR" altLang="en-US" sz="90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endParaRPr>
          </a:p>
        </p:txBody>
      </p:sp>
      <p:sp>
        <p:nvSpPr>
          <p:cNvPr id="80" name="직사각형 79"/>
          <p:cNvSpPr/>
          <p:nvPr/>
        </p:nvSpPr>
        <p:spPr>
          <a:xfrm>
            <a:off x="7696129" y="4362637"/>
            <a:ext cx="1822922" cy="138499"/>
          </a:xfrm>
          <a:prstGeom prst="rect">
            <a:avLst/>
          </a:prstGeom>
        </p:spPr>
        <p:txBody>
          <a:bodyPr wrap="square" lIns="0" tIns="0" rIns="0" bIns="0" anchor="t" anchorCtr="0">
            <a:spAutoFit/>
          </a:bodyPr>
          <a:lstStyle/>
          <a:p>
            <a:pPr lvl="0">
              <a:defRPr/>
            </a:pPr>
            <a:r>
              <a:rPr kumimoji="1" lang="en-US" altLang="ko-KR" sz="900" spc="-80" dirty="0" smtClean="0">
                <a:ln>
                  <a:solidFill>
                    <a:srgbClr val="4F81BD">
                      <a:alpha val="0"/>
                    </a:srgbClr>
                  </a:solidFill>
                </a:ln>
                <a:solidFill>
                  <a:srgbClr val="3333FF"/>
                </a:solidFill>
                <a:latin typeface="나눔스퀘어" panose="020B0600000101010101" pitchFamily="50" charset="-127"/>
                <a:ea typeface="나눔스퀘어" panose="020B0600000101010101" pitchFamily="50" charset="-127"/>
                <a:cs typeface="Arial Unicode MS" panose="020B0604020202020204" pitchFamily="50" charset="-127"/>
              </a:rPr>
              <a:t>* </a:t>
            </a:r>
            <a:r>
              <a:rPr kumimoji="1" lang="en-US" altLang="ko-KR" sz="900" spc="-80" dirty="0">
                <a:ln>
                  <a:solidFill>
                    <a:srgbClr val="4F81BD">
                      <a:alpha val="0"/>
                    </a:srgbClr>
                  </a:solidFill>
                </a:ln>
                <a:solidFill>
                  <a:srgbClr val="3333FF"/>
                </a:solidFill>
                <a:latin typeface="나눔스퀘어" panose="020B0600000101010101" pitchFamily="50" charset="-127"/>
                <a:ea typeface="나눔스퀘어" panose="020B0600000101010101" pitchFamily="50" charset="-127"/>
                <a:cs typeface="Arial Unicode MS" panose="020B0604020202020204" pitchFamily="50" charset="-127"/>
              </a:rPr>
              <a:t>CN–US rates vs. KE FSC basis</a:t>
            </a:r>
            <a:endParaRPr kumimoji="1" lang="en-US" altLang="ko-KR" sz="900" b="0" i="0" u="none" strike="noStrike" kern="1200" cap="none" spc="-80" normalizeH="0" noProof="0" dirty="0">
              <a:ln>
                <a:solidFill>
                  <a:srgbClr val="002B5C">
                    <a:alpha val="0"/>
                  </a:srgbClr>
                </a:solidFill>
              </a:ln>
              <a:solidFill>
                <a:srgbClr val="3333FF"/>
              </a:solidFill>
              <a:effectLst/>
              <a:uLnTx/>
              <a:uFillTx/>
              <a:latin typeface="나눔스퀘어" panose="020B0600000101010101" pitchFamily="50" charset="-127"/>
              <a:ea typeface="나눔스퀘어" panose="020B0600000101010101" pitchFamily="50" charset="-127"/>
              <a:cs typeface="Arial" panose="020B0604020202020204" pitchFamily="34" charset="0"/>
            </a:endParaRPr>
          </a:p>
        </p:txBody>
      </p:sp>
      <p:graphicFrame>
        <p:nvGraphicFramePr>
          <p:cNvPr id="75" name="표 74"/>
          <p:cNvGraphicFramePr>
            <a:graphicFrameLocks noGrp="1"/>
          </p:cNvGraphicFramePr>
          <p:nvPr>
            <p:extLst/>
          </p:nvPr>
        </p:nvGraphicFramePr>
        <p:xfrm>
          <a:off x="692851" y="5158455"/>
          <a:ext cx="2792539" cy="818577"/>
        </p:xfrm>
        <a:graphic>
          <a:graphicData uri="http://schemas.openxmlformats.org/drawingml/2006/table">
            <a:tbl>
              <a:tblPr>
                <a:tableStyleId>{5C22544A-7EE6-4342-B048-85BDC9FD1C3A}</a:tableStyleId>
              </a:tblPr>
              <a:tblGrid>
                <a:gridCol w="878774">
                  <a:extLst>
                    <a:ext uri="{9D8B030D-6E8A-4147-A177-3AD203B41FA5}">
                      <a16:colId xmlns:a16="http://schemas.microsoft.com/office/drawing/2014/main" val="1149136179"/>
                    </a:ext>
                  </a:extLst>
                </a:gridCol>
                <a:gridCol w="619125">
                  <a:extLst>
                    <a:ext uri="{9D8B030D-6E8A-4147-A177-3AD203B41FA5}">
                      <a16:colId xmlns:a16="http://schemas.microsoft.com/office/drawing/2014/main" val="1656385146"/>
                    </a:ext>
                  </a:extLst>
                </a:gridCol>
                <a:gridCol w="666750">
                  <a:extLst>
                    <a:ext uri="{9D8B030D-6E8A-4147-A177-3AD203B41FA5}">
                      <a16:colId xmlns:a16="http://schemas.microsoft.com/office/drawing/2014/main" val="1491036228"/>
                    </a:ext>
                  </a:extLst>
                </a:gridCol>
                <a:gridCol w="627890">
                  <a:extLst>
                    <a:ext uri="{9D8B030D-6E8A-4147-A177-3AD203B41FA5}">
                      <a16:colId xmlns:a16="http://schemas.microsoft.com/office/drawing/2014/main" val="1218914459"/>
                    </a:ext>
                  </a:extLst>
                </a:gridCol>
              </a:tblGrid>
              <a:tr h="176444">
                <a:tc>
                  <a:txBody>
                    <a:bodyPr/>
                    <a:lstStyle/>
                    <a:p>
                      <a:pPr algn="ctr" fontAlgn="ctr"/>
                      <a:r>
                        <a:rPr lang="en-US" altLang="ko-KR" sz="900" b="1" i="0" u="none" strike="noStrike" spc="-50" baseline="0" dirty="0" smtClean="0">
                          <a:solidFill>
                            <a:srgbClr val="000000"/>
                          </a:solidFill>
                          <a:effectLst/>
                          <a:latin typeface="나눔스퀘어" panose="020B0600000101010101" pitchFamily="50" charset="-127"/>
                          <a:ea typeface="나눔스퀘어" panose="020B0600000101010101" pitchFamily="50" charset="-127"/>
                        </a:rPr>
                        <a:t>Major Supply</a:t>
                      </a:r>
                      <a:endParaRPr lang="en-US" altLang="ko-KR" sz="900" b="1" i="0" u="none" strike="noStrike" spc="-50" baseline="0" dirty="0">
                        <a:solidFill>
                          <a:srgbClr val="000000"/>
                        </a:solidFill>
                        <a:effectLst/>
                        <a:latin typeface="나눔스퀘어" panose="020B0600000101010101" pitchFamily="50" charset="-127"/>
                        <a:ea typeface="나눔스퀘어" panose="020B0600000101010101" pitchFamily="50"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spc="-50" baseline="0" dirty="0" smtClean="0">
                          <a:solidFill>
                            <a:srgbClr val="000000"/>
                          </a:solidFill>
                          <a:effectLst/>
                          <a:latin typeface="나눔스퀘어" panose="020B0600000101010101" pitchFamily="50" charset="-127"/>
                          <a:ea typeface="나눔스퀘어" panose="020B0600000101010101" pitchFamily="50" charset="-127"/>
                        </a:rPr>
                        <a:t>’26. Feb</a:t>
                      </a:r>
                      <a:endParaRPr lang="en-US" altLang="ko-KR" sz="900" b="1" i="0" u="none" strike="noStrike" spc="-50" baseline="0" dirty="0">
                        <a:solidFill>
                          <a:srgbClr val="000000"/>
                        </a:solidFill>
                        <a:effectLst/>
                        <a:latin typeface="나눔스퀘어" panose="020B0600000101010101" pitchFamily="50" charset="-127"/>
                        <a:ea typeface="나눔스퀘어" panose="020B0600000101010101" pitchFamily="50" charset="-127"/>
                      </a:endParaRPr>
                    </a:p>
                  </a:txBody>
                  <a:tcPr marL="36000" marR="3600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spc="-50" baseline="0" dirty="0" smtClean="0">
                          <a:solidFill>
                            <a:srgbClr val="000000"/>
                          </a:solidFill>
                          <a:effectLst/>
                          <a:latin typeface="나눔스퀘어" panose="020B0600000101010101" pitchFamily="50" charset="-127"/>
                          <a:ea typeface="나눔스퀘어" panose="020B0600000101010101" pitchFamily="50" charset="-127"/>
                        </a:rPr>
                        <a:t>‘26.</a:t>
                      </a:r>
                      <a:r>
                        <a:rPr lang="ko-KR" altLang="en-US" sz="900" b="1" i="0" u="none" strike="noStrike" spc="-50" baseline="0" dirty="0" smtClean="0">
                          <a:solidFill>
                            <a:srgbClr val="000000"/>
                          </a:solidFill>
                          <a:effectLst/>
                          <a:latin typeface="나눔스퀘어" panose="020B0600000101010101" pitchFamily="50" charset="-127"/>
                          <a:ea typeface="나눔스퀘어" panose="020B0600000101010101" pitchFamily="50" charset="-127"/>
                        </a:rPr>
                        <a:t> </a:t>
                      </a:r>
                      <a:r>
                        <a:rPr lang="en-US" altLang="ko-KR" sz="900" b="1" i="0" u="none" strike="noStrike" spc="-50" baseline="0" dirty="0" smtClean="0">
                          <a:solidFill>
                            <a:srgbClr val="000000"/>
                          </a:solidFill>
                          <a:effectLst/>
                          <a:latin typeface="나눔스퀘어" panose="020B0600000101010101" pitchFamily="50" charset="-127"/>
                          <a:ea typeface="나눔스퀘어" panose="020B0600000101010101" pitchFamily="50" charset="-127"/>
                        </a:rPr>
                        <a:t>Apr</a:t>
                      </a:r>
                      <a:endParaRPr lang="en-US" altLang="ko-KR" sz="900" b="1" i="0" u="none" strike="noStrike" spc="-50" baseline="0" dirty="0">
                        <a:solidFill>
                          <a:srgbClr val="000000"/>
                        </a:solidFill>
                        <a:effectLst/>
                        <a:latin typeface="나눔스퀘어" panose="020B0600000101010101" pitchFamily="50" charset="-127"/>
                        <a:ea typeface="나눔스퀘어" panose="020B0600000101010101" pitchFamily="50" charset="-127"/>
                      </a:endParaRPr>
                    </a:p>
                  </a:txBody>
                  <a:tcPr marL="36000" marR="3600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spc="-50" baseline="0" dirty="0" smtClean="0">
                          <a:solidFill>
                            <a:srgbClr val="000000"/>
                          </a:solidFill>
                          <a:effectLst/>
                          <a:latin typeface="나눔스퀘어" panose="020B0600000101010101" pitchFamily="50" charset="-127"/>
                          <a:ea typeface="나눔스퀘어" panose="020B0600000101010101" pitchFamily="50" charset="-127"/>
                        </a:rPr>
                        <a:t>% Change</a:t>
                      </a:r>
                      <a:endParaRPr lang="en-US" altLang="ko-KR" sz="900" b="1" i="0" u="none" strike="noStrike" spc="-50" baseline="0" dirty="0">
                        <a:solidFill>
                          <a:srgbClr val="000000"/>
                        </a:solidFill>
                        <a:effectLst/>
                        <a:latin typeface="나눔스퀘어" panose="020B0600000101010101" pitchFamily="50" charset="-127"/>
                        <a:ea typeface="나눔스퀘어" panose="020B0600000101010101" pitchFamily="50" charset="-127"/>
                      </a:endParaRPr>
                    </a:p>
                  </a:txBody>
                  <a:tcPr marL="36000" marR="36000" marT="0" marB="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36596182"/>
                  </a:ext>
                </a:extLst>
              </a:tr>
              <a:tr h="181185">
                <a:tc>
                  <a:txBody>
                    <a:bodyPr/>
                    <a:lstStyle/>
                    <a:p>
                      <a:pPr algn="ctr" fontAlgn="ctr"/>
                      <a:r>
                        <a:rPr lang="en-US" altLang="ko-KR" sz="900" b="1" i="0" u="none" strike="noStrike" dirty="0" smtClean="0">
                          <a:solidFill>
                            <a:srgbClr val="000000"/>
                          </a:solidFill>
                          <a:effectLst/>
                          <a:latin typeface="나눔스퀘어" panose="020B0600000101010101" pitchFamily="50" charset="-127"/>
                          <a:ea typeface="나눔스퀘어" panose="020B0600000101010101" pitchFamily="50" charset="-127"/>
                        </a:rPr>
                        <a:t>ME</a:t>
                      </a:r>
                      <a:r>
                        <a:rPr lang="en-US" altLang="ko-KR" sz="900" b="1" i="0" u="none" strike="noStrike" baseline="0" dirty="0" smtClean="0">
                          <a:solidFill>
                            <a:srgbClr val="000000"/>
                          </a:solidFill>
                          <a:effectLst/>
                          <a:latin typeface="나눔스퀘어" panose="020B0600000101010101" pitchFamily="50" charset="-127"/>
                          <a:ea typeface="나눔스퀘어" panose="020B0600000101010101" pitchFamily="50" charset="-127"/>
                        </a:rPr>
                        <a:t> export</a:t>
                      </a:r>
                      <a:endParaRPr lang="en-US" altLang="ko-KR"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36000" marR="36000" marT="5443" marB="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1" hangingPunct="1"/>
                      <a:r>
                        <a:rPr lang="en-US" altLang="ko-KR" sz="900" b="0" i="0" u="none" strike="noStrike" kern="1200" dirty="0" smtClean="0">
                          <a:solidFill>
                            <a:srgbClr val="000000"/>
                          </a:solidFill>
                          <a:effectLst/>
                          <a:latin typeface="나눔스퀘어" panose="020B0600000101010101" pitchFamily="50" charset="-127"/>
                          <a:ea typeface="나눔스퀘어" panose="020B0600000101010101" pitchFamily="50" charset="-127"/>
                          <a:cs typeface="+mn-cs"/>
                        </a:rPr>
                        <a:t>400 kb/d</a:t>
                      </a:r>
                      <a:endParaRPr lang="en-US" altLang="ko-KR" sz="900" b="0" i="0" u="none" strike="noStrike" kern="1200" dirty="0">
                        <a:solidFill>
                          <a:srgbClr val="000000"/>
                        </a:solidFill>
                        <a:effectLst/>
                        <a:latin typeface="나눔스퀘어" panose="020B0600000101010101" pitchFamily="50" charset="-127"/>
                        <a:ea typeface="나눔스퀘어" panose="020B0600000101010101" pitchFamily="50" charset="-127"/>
                        <a:cs typeface="+mn-cs"/>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1" hangingPunct="1"/>
                      <a:r>
                        <a:rPr lang="en-US" altLang="ko-KR" sz="900" b="0" i="0" u="none" strike="noStrike" kern="1200" dirty="0" smtClean="0">
                          <a:solidFill>
                            <a:srgbClr val="000000"/>
                          </a:solidFill>
                          <a:effectLst/>
                          <a:latin typeface="나눔스퀘어" panose="020B0600000101010101" pitchFamily="50" charset="-127"/>
                          <a:ea typeface="나눔스퀘어" panose="020B0600000101010101" pitchFamily="50" charset="-127"/>
                          <a:cs typeface="+mn-cs"/>
                        </a:rPr>
                        <a:t>70 kb/d</a:t>
                      </a:r>
                      <a:endParaRPr lang="en-US" altLang="ko-KR" sz="900" b="0" i="0" u="none" strike="noStrike" kern="1200" dirty="0">
                        <a:solidFill>
                          <a:srgbClr val="000000"/>
                        </a:solidFill>
                        <a:effectLst/>
                        <a:latin typeface="나눔스퀘어" panose="020B0600000101010101" pitchFamily="50" charset="-127"/>
                        <a:ea typeface="나눔스퀘어" panose="020B0600000101010101" pitchFamily="50" charset="-127"/>
                        <a:cs typeface="+mn-cs"/>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1" hangingPunct="1"/>
                      <a:r>
                        <a:rPr lang="en-US" altLang="ko-KR" sz="900" b="0" i="0" u="none" strike="noStrike" kern="1200" dirty="0" smtClean="0">
                          <a:solidFill>
                            <a:srgbClr val="000000"/>
                          </a:solidFill>
                          <a:effectLst/>
                          <a:latin typeface="나눔스퀘어" panose="020B0600000101010101" pitchFamily="50" charset="-127"/>
                          <a:ea typeface="나눔스퀘어" panose="020B0600000101010101" pitchFamily="50" charset="-127"/>
                          <a:cs typeface="+mn-cs"/>
                        </a:rPr>
                        <a:t>-83%</a:t>
                      </a:r>
                      <a:endParaRPr lang="en-US" altLang="ko-KR" sz="900" b="0" i="0" u="none" strike="noStrike" kern="1200" dirty="0">
                        <a:solidFill>
                          <a:srgbClr val="000000"/>
                        </a:solidFill>
                        <a:effectLst/>
                        <a:latin typeface="나눔스퀘어" panose="020B0600000101010101" pitchFamily="50" charset="-127"/>
                        <a:ea typeface="나눔스퀘어" panose="020B0600000101010101" pitchFamily="50" charset="-127"/>
                        <a:cs typeface="+mn-cs"/>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39628017"/>
                  </a:ext>
                </a:extLst>
              </a:tr>
              <a:tr h="181185">
                <a:tc>
                  <a:txBody>
                    <a:bodyPr/>
                    <a:lstStyle/>
                    <a:p>
                      <a:pPr algn="ctr" fontAlgn="ctr"/>
                      <a:r>
                        <a:rPr lang="en-US" altLang="ko-KR" sz="900" b="1" i="0" u="none" strike="noStrike" dirty="0" smtClean="0">
                          <a:solidFill>
                            <a:srgbClr val="000000"/>
                          </a:solidFill>
                          <a:effectLst/>
                          <a:latin typeface="나눔스퀘어" panose="020B0600000101010101" pitchFamily="50" charset="-127"/>
                          <a:ea typeface="나눔스퀘어" panose="020B0600000101010101" pitchFamily="50" charset="-127"/>
                        </a:rPr>
                        <a:t>ME-EU</a:t>
                      </a:r>
                      <a:endParaRPr lang="en-US" altLang="ko-KR"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36000" marR="36000" marT="5443" marB="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1" hangingPunct="1"/>
                      <a:r>
                        <a:rPr lang="en-US" altLang="ko-KR" sz="900" b="0" i="0" u="none" strike="noStrike" kern="1200" dirty="0" smtClean="0">
                          <a:solidFill>
                            <a:srgbClr val="000000"/>
                          </a:solidFill>
                          <a:effectLst/>
                          <a:latin typeface="나눔스퀘어" panose="020B0600000101010101" pitchFamily="50" charset="-127"/>
                          <a:ea typeface="나눔스퀘어" panose="020B0600000101010101" pitchFamily="50" charset="-127"/>
                          <a:cs typeface="+mn-cs"/>
                        </a:rPr>
                        <a:t>330 kb/d</a:t>
                      </a:r>
                      <a:endParaRPr lang="en-US" altLang="ko-KR" sz="900" b="0" i="0" u="none" strike="noStrike" kern="1200" dirty="0">
                        <a:solidFill>
                          <a:srgbClr val="000000"/>
                        </a:solidFill>
                        <a:effectLst/>
                        <a:latin typeface="나눔스퀘어" panose="020B0600000101010101" pitchFamily="50" charset="-127"/>
                        <a:ea typeface="나눔스퀘어" panose="020B0600000101010101" pitchFamily="50" charset="-127"/>
                        <a:cs typeface="+mn-cs"/>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1" hangingPunct="1"/>
                      <a:r>
                        <a:rPr lang="en-US" altLang="ko-KR" sz="900" b="0" i="0" u="none" strike="noStrike" kern="1200" dirty="0" smtClean="0">
                          <a:solidFill>
                            <a:srgbClr val="000000"/>
                          </a:solidFill>
                          <a:effectLst/>
                          <a:latin typeface="나눔스퀘어" panose="020B0600000101010101" pitchFamily="50" charset="-127"/>
                          <a:ea typeface="나눔스퀘어" panose="020B0600000101010101" pitchFamily="50" charset="-127"/>
                          <a:cs typeface="+mn-cs"/>
                        </a:rPr>
                        <a:t>60 kb/d</a:t>
                      </a:r>
                      <a:endParaRPr lang="en-US" altLang="ko-KR" sz="900" b="0" i="0" u="none" strike="noStrike" kern="1200" dirty="0">
                        <a:solidFill>
                          <a:srgbClr val="000000"/>
                        </a:solidFill>
                        <a:effectLst/>
                        <a:latin typeface="나눔스퀘어" panose="020B0600000101010101" pitchFamily="50" charset="-127"/>
                        <a:ea typeface="나눔스퀘어" panose="020B0600000101010101" pitchFamily="50" charset="-127"/>
                        <a:cs typeface="+mn-cs"/>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1" hangingPunct="1"/>
                      <a:r>
                        <a:rPr lang="en-US" altLang="ko-KR" sz="900" b="0" i="0" u="none" strike="noStrike" kern="1200" baseline="0" dirty="0" smtClean="0">
                          <a:solidFill>
                            <a:srgbClr val="000000"/>
                          </a:solidFill>
                          <a:effectLst/>
                          <a:latin typeface="나눔스퀘어" panose="020B0600000101010101" pitchFamily="50" charset="-127"/>
                          <a:ea typeface="나눔스퀘어" panose="020B0600000101010101" pitchFamily="50" charset="-127"/>
                          <a:cs typeface="+mn-cs"/>
                        </a:rPr>
                        <a:t>-82%</a:t>
                      </a:r>
                      <a:endParaRPr lang="en-US" altLang="ko-KR" sz="900" b="0" i="0" u="none" strike="noStrike" kern="1200" dirty="0">
                        <a:solidFill>
                          <a:srgbClr val="000000"/>
                        </a:solidFill>
                        <a:effectLst/>
                        <a:latin typeface="나눔스퀘어" panose="020B0600000101010101" pitchFamily="50" charset="-127"/>
                        <a:ea typeface="나눔스퀘어" panose="020B0600000101010101" pitchFamily="50" charset="-127"/>
                        <a:cs typeface="+mn-cs"/>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64714824"/>
                  </a:ext>
                </a:extLst>
              </a:tr>
              <a:tr h="181185">
                <a:tc>
                  <a:txBody>
                    <a:bodyPr/>
                    <a:lstStyle/>
                    <a:p>
                      <a:pPr algn="ctr" fontAlgn="ctr"/>
                      <a:r>
                        <a:rPr lang="en-US" altLang="ko-KR" sz="900" b="1" i="0" u="none" strike="noStrike" dirty="0" smtClean="0">
                          <a:solidFill>
                            <a:srgbClr val="000000"/>
                          </a:solidFill>
                          <a:effectLst/>
                          <a:latin typeface="나눔스퀘어" panose="020B0600000101010101" pitchFamily="50" charset="-127"/>
                          <a:ea typeface="나눔스퀘어" panose="020B0600000101010101" pitchFamily="50" charset="-127"/>
                        </a:rPr>
                        <a:t>EU</a:t>
                      </a:r>
                      <a:r>
                        <a:rPr lang="en-US" altLang="ko-KR" sz="900" b="1" i="0" u="none" strike="noStrike" baseline="0" dirty="0" smtClean="0">
                          <a:solidFill>
                            <a:srgbClr val="000000"/>
                          </a:solidFill>
                          <a:effectLst/>
                          <a:latin typeface="나눔스퀘어" panose="020B0600000101010101" pitchFamily="50" charset="-127"/>
                          <a:ea typeface="나눔스퀘어" panose="020B0600000101010101" pitchFamily="50" charset="-127"/>
                        </a:rPr>
                        <a:t> Inventory </a:t>
                      </a:r>
                      <a:r>
                        <a:rPr lang="en-US" altLang="ko-KR" sz="900" b="1" i="0" u="none" strike="noStrike" dirty="0" smtClean="0">
                          <a:solidFill>
                            <a:srgbClr val="000000"/>
                          </a:solidFill>
                          <a:effectLst/>
                          <a:latin typeface="나눔스퀘어" panose="020B0600000101010101" pitchFamily="50" charset="-127"/>
                          <a:ea typeface="나눔스퀘어" panose="020B0600000101010101" pitchFamily="50" charset="-127"/>
                        </a:rPr>
                        <a:t>(ARA)</a:t>
                      </a:r>
                      <a:endParaRPr lang="en-US" altLang="ko-KR"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36000" marR="36000" marT="5443" marB="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1" hangingPunct="1"/>
                      <a:r>
                        <a:rPr lang="en-US" altLang="ko-KR" sz="900" b="0" i="0" u="none" strike="noStrike" kern="1200" baseline="0" dirty="0" smtClean="0">
                          <a:solidFill>
                            <a:srgbClr val="000000"/>
                          </a:solidFill>
                          <a:effectLst/>
                          <a:latin typeface="나눔스퀘어" panose="020B0600000101010101" pitchFamily="50" charset="-127"/>
                          <a:ea typeface="나눔스퀘어" panose="020B0600000101010101" pitchFamily="50" charset="-127"/>
                          <a:cs typeface="+mn-cs"/>
                        </a:rPr>
                        <a:t>846 </a:t>
                      </a:r>
                      <a:r>
                        <a:rPr lang="en-US" altLang="ko-KR" sz="900" b="0" i="0" u="none" strike="noStrike" kern="1200" baseline="0" dirty="0" err="1" smtClean="0">
                          <a:solidFill>
                            <a:srgbClr val="000000"/>
                          </a:solidFill>
                          <a:effectLst/>
                          <a:latin typeface="나눔스퀘어" panose="020B0600000101010101" pitchFamily="50" charset="-127"/>
                          <a:ea typeface="나눔스퀘어" panose="020B0600000101010101" pitchFamily="50" charset="-127"/>
                          <a:cs typeface="+mn-cs"/>
                        </a:rPr>
                        <a:t>kt</a:t>
                      </a:r>
                      <a:endParaRPr lang="en-US" altLang="ko-KR" sz="900" b="0" i="0" u="none" strike="noStrike" kern="1200" dirty="0">
                        <a:solidFill>
                          <a:srgbClr val="000000"/>
                        </a:solidFill>
                        <a:effectLst/>
                        <a:latin typeface="나눔스퀘어" panose="020B0600000101010101" pitchFamily="50" charset="-127"/>
                        <a:ea typeface="나눔스퀘어" panose="020B0600000101010101" pitchFamily="50" charset="-127"/>
                        <a:cs typeface="+mn-cs"/>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1" hangingPunct="1"/>
                      <a:r>
                        <a:rPr lang="en-US" altLang="ko-KR" sz="900" b="0" i="0" u="none" strike="noStrike" kern="1200" dirty="0" smtClean="0">
                          <a:solidFill>
                            <a:srgbClr val="000000"/>
                          </a:solidFill>
                          <a:effectLst/>
                          <a:latin typeface="나눔스퀘어" panose="020B0600000101010101" pitchFamily="50" charset="-127"/>
                          <a:ea typeface="나눔스퀘어" panose="020B0600000101010101" pitchFamily="50" charset="-127"/>
                          <a:cs typeface="+mn-cs"/>
                        </a:rPr>
                        <a:t>597 </a:t>
                      </a:r>
                      <a:r>
                        <a:rPr lang="en-US" altLang="ko-KR" sz="900" b="0" i="0" u="none" strike="noStrike" kern="1200" dirty="0" err="1" smtClean="0">
                          <a:solidFill>
                            <a:srgbClr val="000000"/>
                          </a:solidFill>
                          <a:effectLst/>
                          <a:latin typeface="나눔스퀘어" panose="020B0600000101010101" pitchFamily="50" charset="-127"/>
                          <a:ea typeface="나눔스퀘어" panose="020B0600000101010101" pitchFamily="50" charset="-127"/>
                          <a:cs typeface="+mn-cs"/>
                        </a:rPr>
                        <a:t>kt</a:t>
                      </a:r>
                      <a:endParaRPr lang="en-US" altLang="ko-KR" sz="900" b="0" i="0" u="none" strike="noStrike" kern="1200" dirty="0">
                        <a:solidFill>
                          <a:srgbClr val="000000"/>
                        </a:solidFill>
                        <a:effectLst/>
                        <a:latin typeface="나눔스퀘어" panose="020B0600000101010101" pitchFamily="50" charset="-127"/>
                        <a:ea typeface="나눔스퀘어" panose="020B0600000101010101" pitchFamily="50" charset="-127"/>
                        <a:cs typeface="+mn-cs"/>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1" hangingPunct="1"/>
                      <a:r>
                        <a:rPr lang="en-US" altLang="ko-KR" sz="900" b="0" i="0" u="none" strike="noStrike" kern="1200" baseline="0" dirty="0" smtClean="0">
                          <a:solidFill>
                            <a:srgbClr val="000000"/>
                          </a:solidFill>
                          <a:effectLst/>
                          <a:latin typeface="나눔스퀘어" panose="020B0600000101010101" pitchFamily="50" charset="-127"/>
                          <a:ea typeface="나눔스퀘어" panose="020B0600000101010101" pitchFamily="50" charset="-127"/>
                          <a:cs typeface="+mn-cs"/>
                        </a:rPr>
                        <a:t>-29%</a:t>
                      </a:r>
                      <a:endParaRPr lang="en-US" altLang="ko-KR" sz="900" b="0" i="0" u="none" strike="noStrike" kern="1200" dirty="0">
                        <a:solidFill>
                          <a:srgbClr val="000000"/>
                        </a:solidFill>
                        <a:effectLst/>
                        <a:latin typeface="나눔스퀘어" panose="020B0600000101010101" pitchFamily="50" charset="-127"/>
                        <a:ea typeface="나눔스퀘어" panose="020B0600000101010101" pitchFamily="50" charset="-127"/>
                        <a:cs typeface="+mn-cs"/>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95741290"/>
                  </a:ext>
                </a:extLst>
              </a:tr>
            </a:tbl>
          </a:graphicData>
        </a:graphic>
      </p:graphicFrame>
      <p:sp>
        <p:nvSpPr>
          <p:cNvPr id="81" name="TextBox 80"/>
          <p:cNvSpPr txBox="1"/>
          <p:nvPr/>
        </p:nvSpPr>
        <p:spPr>
          <a:xfrm>
            <a:off x="809304" y="4670205"/>
            <a:ext cx="2713207" cy="161583"/>
          </a:xfrm>
          <a:prstGeom prst="rect">
            <a:avLst/>
          </a:prstGeom>
          <a:noFill/>
        </p:spPr>
        <p:txBody>
          <a:bodyPr wrap="square" lIns="0" tIns="0" rIns="0" bIns="0" rtlCol="0">
            <a:spAutoFit/>
          </a:bodyPr>
          <a:lstStyle/>
          <a:p>
            <a:pPr algn="ctr"/>
            <a:r>
              <a:rPr lang="en-US" altLang="ko-KR" sz="1050" b="1" spc="-100" dirty="0">
                <a:solidFill>
                  <a:srgbClr val="595959"/>
                </a:solidFill>
                <a:latin typeface="나눔스퀘어" panose="020B0600000101010101" pitchFamily="50" charset="-127"/>
                <a:ea typeface="나눔스퀘어" panose="020B0600000101010101" pitchFamily="50" charset="-127"/>
              </a:rPr>
              <a:t>[</a:t>
            </a:r>
            <a:r>
              <a:rPr lang="en-US" altLang="ko-KR" sz="1000" b="1" spc="-100" dirty="0">
                <a:solidFill>
                  <a:srgbClr val="595959"/>
                </a:solidFill>
                <a:latin typeface="나눔스퀘어" panose="020B0600000101010101" pitchFamily="50" charset="-127"/>
                <a:ea typeface="나눔스퀘어" panose="020B0600000101010101" pitchFamily="50" charset="-127"/>
              </a:rPr>
              <a:t>Change in Major </a:t>
            </a:r>
            <a:r>
              <a:rPr lang="en-US" altLang="ko-KR" sz="1000" b="1" spc="-100" dirty="0" smtClean="0">
                <a:solidFill>
                  <a:srgbClr val="595959"/>
                </a:solidFill>
                <a:latin typeface="나눔스퀘어" panose="020B0600000101010101" pitchFamily="50" charset="-127"/>
                <a:ea typeface="나눔스퀘어" panose="020B0600000101010101" pitchFamily="50" charset="-127"/>
              </a:rPr>
              <a:t>Jet </a:t>
            </a:r>
            <a:r>
              <a:rPr lang="en-US" altLang="ko-KR" sz="1000" b="1" spc="-100" dirty="0">
                <a:solidFill>
                  <a:srgbClr val="595959"/>
                </a:solidFill>
                <a:latin typeface="나눔스퀘어" panose="020B0600000101010101" pitchFamily="50" charset="-127"/>
                <a:ea typeface="나눔스퀘어" panose="020B0600000101010101" pitchFamily="50" charset="-127"/>
              </a:rPr>
              <a:t>Fuel Supply Chain Export Volume]</a:t>
            </a:r>
            <a:endParaRPr lang="ko-KR" altLang="en-US" sz="1000" b="1" dirty="0">
              <a:solidFill>
                <a:srgbClr val="595959"/>
              </a:solidFill>
              <a:latin typeface="나눔스퀘어" panose="020B0600000101010101" pitchFamily="50" charset="-127"/>
              <a:ea typeface="나눔스퀘어" panose="020B0600000101010101" pitchFamily="50" charset="-127"/>
            </a:endParaRPr>
          </a:p>
        </p:txBody>
      </p:sp>
      <p:sp>
        <p:nvSpPr>
          <p:cNvPr id="83" name="TextBox 82">
            <a:extLst>
              <a:ext uri="{FF2B5EF4-FFF2-40B4-BE49-F238E27FC236}">
                <a16:creationId xmlns:a16="http://schemas.microsoft.com/office/drawing/2014/main" id="{F419EC2A-DA12-DE70-177E-D060836EC73B}"/>
              </a:ext>
            </a:extLst>
          </p:cNvPr>
          <p:cNvSpPr txBox="1"/>
          <p:nvPr/>
        </p:nvSpPr>
        <p:spPr>
          <a:xfrm>
            <a:off x="688136" y="4860629"/>
            <a:ext cx="3512180" cy="276999"/>
          </a:xfrm>
          <a:prstGeom prst="rect">
            <a:avLst/>
          </a:prstGeom>
          <a:noFill/>
        </p:spPr>
        <p:txBody>
          <a:bodyPr wrap="none" lIns="0" tIns="0" rIns="0" bIns="0" rtlCol="0" anchor="ctr">
            <a:spAutoFit/>
          </a:bodyPr>
          <a:lstStyle/>
          <a:p>
            <a:pPr latinLnBrk="0"/>
            <a:r>
              <a:rPr lang="ko-KR" altLang="en-US"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a:t>
            </a:r>
            <a:r>
              <a:rPr lang="en-US" altLang="ko-KR"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Basis: Daily production</a:t>
            </a:r>
            <a:r>
              <a:rPr lang="ko-KR" altLang="en-US"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a:t>
            </a:r>
            <a:r>
              <a:rPr lang="en-US" altLang="ko-KR"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amount, Unit: k </a:t>
            </a:r>
            <a:r>
              <a:rPr lang="en-US" altLang="ko-KR" sz="900" dirty="0" err="1"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bbl</a:t>
            </a:r>
            <a:r>
              <a:rPr lang="en-US" altLang="ko-KR"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/d </a:t>
            </a:r>
          </a:p>
          <a:p>
            <a:pPr latinLnBrk="0"/>
            <a:r>
              <a:rPr lang="en-US" altLang="ko-KR"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IEA, Jet Fuel Markets Pivot to Atlantic Basin Supplies</a:t>
            </a:r>
            <a:endParaRPr lang="en-US" altLang="ko-KR" sz="90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endParaRPr>
          </a:p>
        </p:txBody>
      </p:sp>
      <p:sp>
        <p:nvSpPr>
          <p:cNvPr id="73" name="직사각형 72"/>
          <p:cNvSpPr/>
          <p:nvPr/>
        </p:nvSpPr>
        <p:spPr>
          <a:xfrm>
            <a:off x="9845619" y="3389264"/>
            <a:ext cx="1558867" cy="142288"/>
          </a:xfrm>
          <a:prstGeom prst="rect">
            <a:avLst/>
          </a:prstGeom>
        </p:spPr>
        <p:txBody>
          <a:bodyPr wrap="square" lIns="0" tIns="0" rIns="0" bIns="0" anchor="t" anchorCtr="0">
            <a:spAutoFit/>
          </a:bodyPr>
          <a:lstStyle/>
          <a:p>
            <a:pPr marR="0" lvl="0" algn="l" defTabSz="914400" rtl="0" eaLnBrk="1" fontAlgn="auto" latinLnBrk="1" hangingPunct="1">
              <a:lnSpc>
                <a:spcPct val="100000"/>
              </a:lnSpc>
              <a:spcBef>
                <a:spcPts val="0"/>
              </a:spcBef>
              <a:spcAft>
                <a:spcPts val="0"/>
              </a:spcAft>
              <a:buClrTx/>
              <a:buSzTx/>
              <a:tabLst/>
              <a:defRPr/>
            </a:pPr>
            <a:r>
              <a:rPr kumimoji="1" lang="en-US" altLang="ko-KR" sz="900" spc="-80" dirty="0" smtClean="0">
                <a:ln>
                  <a:solidFill>
                    <a:srgbClr val="4F81BD">
                      <a:alpha val="0"/>
                    </a:srgbClr>
                  </a:solidFill>
                </a:ln>
                <a:solidFill>
                  <a:srgbClr val="3333FF"/>
                </a:solidFill>
                <a:latin typeface="나눔스퀘어" panose="020B0600000101010101" pitchFamily="50" charset="-127"/>
                <a:ea typeface="나눔스퀘어" panose="020B0600000101010101" pitchFamily="50" charset="-127"/>
                <a:cs typeface="Arial Unicode MS" panose="020B0604020202020204" pitchFamily="50" charset="-127"/>
              </a:rPr>
              <a:t>* 2/16~3/15     *5/16~6/15</a:t>
            </a:r>
            <a:endParaRPr kumimoji="1" lang="en-US" altLang="ko-KR" sz="900" b="0" i="0" u="none" strike="noStrike" kern="1200" cap="none" spc="-80" normalizeH="0" noProof="0" dirty="0">
              <a:ln>
                <a:solidFill>
                  <a:srgbClr val="002B5C">
                    <a:alpha val="0"/>
                  </a:srgbClr>
                </a:solidFill>
              </a:ln>
              <a:solidFill>
                <a:srgbClr val="3333FF"/>
              </a:solidFill>
              <a:effectLst/>
              <a:uLnTx/>
              <a:uFillTx/>
              <a:latin typeface="나눔스퀘어" panose="020B0600000101010101" pitchFamily="50" charset="-127"/>
              <a:ea typeface="나눔스퀘어" panose="020B0600000101010101" pitchFamily="50" charset="-127"/>
              <a:cs typeface="Arial" panose="020B0604020202020204" pitchFamily="34" charset="0"/>
            </a:endParaRPr>
          </a:p>
        </p:txBody>
      </p:sp>
      <p:sp>
        <p:nvSpPr>
          <p:cNvPr id="85" name="직사각형 84"/>
          <p:cNvSpPr/>
          <p:nvPr/>
        </p:nvSpPr>
        <p:spPr>
          <a:xfrm>
            <a:off x="8213243" y="3715202"/>
            <a:ext cx="1950241" cy="138499"/>
          </a:xfrm>
          <a:prstGeom prst="rect">
            <a:avLst/>
          </a:prstGeom>
        </p:spPr>
        <p:txBody>
          <a:bodyPr wrap="square" lIns="0" tIns="0" rIns="0" bIns="0" anchor="t" anchorCtr="0">
            <a:spAutoFit/>
          </a:bodyPr>
          <a:lstStyle/>
          <a:p>
            <a:pPr marR="0" lvl="0" algn="l" defTabSz="914400" rtl="0" eaLnBrk="1" fontAlgn="auto" latinLnBrk="1" hangingPunct="1">
              <a:lnSpc>
                <a:spcPct val="100000"/>
              </a:lnSpc>
              <a:spcBef>
                <a:spcPts val="0"/>
              </a:spcBef>
              <a:spcAft>
                <a:spcPts val="0"/>
              </a:spcAft>
              <a:buClrTx/>
              <a:buSzTx/>
              <a:tabLst/>
              <a:defRPr/>
            </a:pPr>
            <a:r>
              <a:rPr kumimoji="1" lang="en-US" altLang="ko-KR" sz="900" spc="-80" dirty="0" smtClean="0">
                <a:ln>
                  <a:solidFill>
                    <a:srgbClr val="4F81BD">
                      <a:alpha val="0"/>
                    </a:srgbClr>
                  </a:solidFill>
                </a:ln>
                <a:solidFill>
                  <a:srgbClr val="3333FF"/>
                </a:solidFill>
                <a:latin typeface="나눔스퀘어" panose="020B0600000101010101" pitchFamily="50" charset="-127"/>
                <a:ea typeface="나눔스퀘어" panose="020B0600000101010101" pitchFamily="50" charset="-127"/>
                <a:cs typeface="Arial Unicode MS" panose="020B0604020202020204" pitchFamily="50" charset="-127"/>
              </a:rPr>
              <a:t>* Based on Korean Air long-haul FSC</a:t>
            </a:r>
            <a:endParaRPr kumimoji="1" lang="en-US" altLang="ko-KR" sz="900" b="0" i="0" u="none" strike="noStrike" kern="1200" cap="none" spc="-80" normalizeH="0" noProof="0" dirty="0">
              <a:ln>
                <a:solidFill>
                  <a:srgbClr val="002B5C">
                    <a:alpha val="0"/>
                  </a:srgbClr>
                </a:solidFill>
              </a:ln>
              <a:solidFill>
                <a:srgbClr val="3333FF"/>
              </a:solidFill>
              <a:effectLst/>
              <a:uLnTx/>
              <a:uFillTx/>
              <a:latin typeface="나눔스퀘어" panose="020B0600000101010101" pitchFamily="50" charset="-127"/>
              <a:ea typeface="나눔스퀘어" panose="020B0600000101010101" pitchFamily="50" charset="-127"/>
              <a:cs typeface="Arial" panose="020B0604020202020204" pitchFamily="34" charset="0"/>
            </a:endParaRPr>
          </a:p>
        </p:txBody>
      </p:sp>
      <p:graphicFrame>
        <p:nvGraphicFramePr>
          <p:cNvPr id="74" name="표 73"/>
          <p:cNvGraphicFramePr>
            <a:graphicFrameLocks noGrp="1"/>
          </p:cNvGraphicFramePr>
          <p:nvPr>
            <p:extLst/>
          </p:nvPr>
        </p:nvGraphicFramePr>
        <p:xfrm>
          <a:off x="3576198" y="5677379"/>
          <a:ext cx="2281726" cy="384810"/>
        </p:xfrm>
        <a:graphic>
          <a:graphicData uri="http://schemas.openxmlformats.org/drawingml/2006/table">
            <a:tbl>
              <a:tblPr>
                <a:tableStyleId>{5C22544A-7EE6-4342-B048-85BDC9FD1C3A}</a:tableStyleId>
              </a:tblPr>
              <a:tblGrid>
                <a:gridCol w="476279">
                  <a:extLst>
                    <a:ext uri="{9D8B030D-6E8A-4147-A177-3AD203B41FA5}">
                      <a16:colId xmlns:a16="http://schemas.microsoft.com/office/drawing/2014/main" val="1149136179"/>
                    </a:ext>
                  </a:extLst>
                </a:gridCol>
                <a:gridCol w="384890">
                  <a:extLst>
                    <a:ext uri="{9D8B030D-6E8A-4147-A177-3AD203B41FA5}">
                      <a16:colId xmlns:a16="http://schemas.microsoft.com/office/drawing/2014/main" val="1656385146"/>
                    </a:ext>
                  </a:extLst>
                </a:gridCol>
                <a:gridCol w="347156">
                  <a:extLst>
                    <a:ext uri="{9D8B030D-6E8A-4147-A177-3AD203B41FA5}">
                      <a16:colId xmlns:a16="http://schemas.microsoft.com/office/drawing/2014/main" val="1491036228"/>
                    </a:ext>
                  </a:extLst>
                </a:gridCol>
                <a:gridCol w="347156">
                  <a:extLst>
                    <a:ext uri="{9D8B030D-6E8A-4147-A177-3AD203B41FA5}">
                      <a16:colId xmlns:a16="http://schemas.microsoft.com/office/drawing/2014/main" val="1218914459"/>
                    </a:ext>
                  </a:extLst>
                </a:gridCol>
                <a:gridCol w="362250">
                  <a:extLst>
                    <a:ext uri="{9D8B030D-6E8A-4147-A177-3AD203B41FA5}">
                      <a16:colId xmlns:a16="http://schemas.microsoft.com/office/drawing/2014/main" val="2559846384"/>
                    </a:ext>
                  </a:extLst>
                </a:gridCol>
                <a:gridCol w="363995">
                  <a:extLst>
                    <a:ext uri="{9D8B030D-6E8A-4147-A177-3AD203B41FA5}">
                      <a16:colId xmlns:a16="http://schemas.microsoft.com/office/drawing/2014/main" val="1776611834"/>
                    </a:ext>
                  </a:extLst>
                </a:gridCol>
              </a:tblGrid>
              <a:tr h="36591">
                <a:tc>
                  <a:txBody>
                    <a:bodyPr/>
                    <a:lstStyle/>
                    <a:p>
                      <a:pPr algn="ctr" fontAlgn="ctr"/>
                      <a:r>
                        <a:rPr lang="en-US" altLang="ko-KR" sz="800" b="1" i="0" u="none" strike="noStrike" spc="-50" baseline="0" dirty="0" smtClean="0">
                          <a:solidFill>
                            <a:srgbClr val="000000"/>
                          </a:solidFill>
                          <a:effectLst/>
                          <a:latin typeface="나눔스퀘어" panose="020B0600000101010101" pitchFamily="50" charset="-127"/>
                          <a:ea typeface="나눔스퀘어" panose="020B0600000101010101" pitchFamily="50" charset="-127"/>
                        </a:rPr>
                        <a:t>Price</a:t>
                      </a:r>
                      <a:endParaRPr lang="en-US" altLang="ko-KR" sz="800" b="1" i="0" u="none" strike="noStrike" spc="-50" baseline="0" dirty="0">
                        <a:solidFill>
                          <a:srgbClr val="000000"/>
                        </a:solidFill>
                        <a:effectLst/>
                        <a:latin typeface="나눔스퀘어" panose="020B0600000101010101" pitchFamily="50" charset="-127"/>
                        <a:ea typeface="나눔스퀘어" panose="020B0600000101010101" pitchFamily="50"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r>
                        <a:rPr lang="en-US" altLang="ko-KR" sz="800" b="1" i="0" u="none" strike="noStrike" spc="-50" baseline="0" dirty="0" smtClean="0">
                          <a:solidFill>
                            <a:schemeClr val="dk1"/>
                          </a:solidFill>
                          <a:effectLst/>
                          <a:latin typeface="나눔스퀘어" panose="020B0600000101010101" pitchFamily="50" charset="-127"/>
                          <a:ea typeface="나눔스퀘어" panose="020B0600000101010101" pitchFamily="50" charset="-127"/>
                        </a:rPr>
                        <a:t>Feb</a:t>
                      </a:r>
                      <a:endParaRPr lang="en-US" altLang="ko-KR" sz="800" b="1" i="0" u="none" strike="noStrike" spc="-50" baseline="0" dirty="0">
                        <a:solidFill>
                          <a:srgbClr val="000000"/>
                        </a:solidFill>
                        <a:effectLst/>
                        <a:latin typeface="나눔스퀘어" panose="020B0600000101010101" pitchFamily="50" charset="-127"/>
                        <a:ea typeface="나눔스퀘어" panose="020B0600000101010101" pitchFamily="50" charset="-127"/>
                      </a:endParaRPr>
                    </a:p>
                  </a:txBody>
                  <a:tcPr marL="36000" marR="3600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r>
                        <a:rPr lang="en-US" altLang="ko-KR" sz="800" b="1" i="0" u="none" strike="noStrike" spc="-50" baseline="0" dirty="0" smtClean="0">
                          <a:solidFill>
                            <a:schemeClr val="dk1"/>
                          </a:solidFill>
                          <a:effectLst/>
                          <a:latin typeface="나눔스퀘어" panose="020B0600000101010101" pitchFamily="50" charset="-127"/>
                          <a:ea typeface="나눔스퀘어" panose="020B0600000101010101" pitchFamily="50" charset="-127"/>
                        </a:rPr>
                        <a:t>Mar</a:t>
                      </a:r>
                      <a:endParaRPr lang="en-US" altLang="ko-KR" sz="800" b="1" i="0" u="none" strike="noStrike" spc="-50" baseline="0" dirty="0">
                        <a:solidFill>
                          <a:srgbClr val="000000"/>
                        </a:solidFill>
                        <a:effectLst/>
                        <a:latin typeface="나눔스퀘어" panose="020B0600000101010101" pitchFamily="50" charset="-127"/>
                        <a:ea typeface="나눔스퀘어" panose="020B0600000101010101" pitchFamily="50" charset="-127"/>
                      </a:endParaRPr>
                    </a:p>
                  </a:txBody>
                  <a:tcPr marL="36000" marR="3600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r>
                        <a:rPr lang="en-US" altLang="ko-KR" sz="800" b="1" u="none" strike="noStrike" spc="-50" baseline="0" dirty="0" smtClean="0">
                          <a:effectLst/>
                          <a:latin typeface="나눔스퀘어" panose="020B0600000101010101" pitchFamily="50" charset="-127"/>
                          <a:ea typeface="나눔스퀘어" panose="020B0600000101010101" pitchFamily="50" charset="-127"/>
                        </a:rPr>
                        <a:t>Apr</a:t>
                      </a:r>
                      <a:endParaRPr lang="en-US" altLang="ko-KR" sz="800" b="1" i="0" u="none" strike="noStrike" spc="-50" baseline="0" dirty="0">
                        <a:solidFill>
                          <a:srgbClr val="000000"/>
                        </a:solidFill>
                        <a:effectLst/>
                        <a:latin typeface="나눔스퀘어" panose="020B0600000101010101" pitchFamily="50" charset="-127"/>
                        <a:ea typeface="나눔스퀘어" panose="020B0600000101010101" pitchFamily="50" charset="-127"/>
                      </a:endParaRPr>
                    </a:p>
                  </a:txBody>
                  <a:tcPr marL="36000" marR="3600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r>
                        <a:rPr lang="en-US" altLang="ko-KR" sz="800" b="1" u="none" strike="noStrike" spc="-50" baseline="0" dirty="0" smtClean="0">
                          <a:effectLst/>
                          <a:latin typeface="나눔스퀘어" panose="020B0600000101010101" pitchFamily="50" charset="-127"/>
                          <a:ea typeface="나눔스퀘어" panose="020B0600000101010101" pitchFamily="50" charset="-127"/>
                        </a:rPr>
                        <a:t>May</a:t>
                      </a:r>
                      <a:endParaRPr lang="en-US" altLang="ko-KR" sz="800" b="1" i="0" u="none" strike="noStrike" spc="-50" baseline="0" dirty="0">
                        <a:solidFill>
                          <a:srgbClr val="000000"/>
                        </a:solidFill>
                        <a:effectLst/>
                        <a:latin typeface="나눔스퀘어" panose="020B0600000101010101" pitchFamily="50" charset="-127"/>
                        <a:ea typeface="나눔스퀘어" panose="020B0600000101010101" pitchFamily="50" charset="-127"/>
                      </a:endParaRPr>
                    </a:p>
                  </a:txBody>
                  <a:tcPr marL="36000" marR="3600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r>
                        <a:rPr lang="en-US" altLang="ko-KR" sz="800" b="1" i="0" u="none" strike="noStrike" spc="-50" baseline="0" dirty="0" smtClean="0">
                          <a:solidFill>
                            <a:srgbClr val="000000"/>
                          </a:solidFill>
                          <a:effectLst/>
                          <a:latin typeface="나눔스퀘어" panose="020B0600000101010101" pitchFamily="50" charset="-127"/>
                          <a:ea typeface="나눔스퀘어" panose="020B0600000101010101" pitchFamily="50" charset="-127"/>
                        </a:rPr>
                        <a:t>Jun</a:t>
                      </a:r>
                      <a:endParaRPr lang="en-US" altLang="ko-KR" sz="800" b="1" i="0" u="none" strike="noStrike" spc="-50" baseline="0" dirty="0">
                        <a:solidFill>
                          <a:srgbClr val="000000"/>
                        </a:solidFill>
                        <a:effectLst/>
                        <a:latin typeface="나눔스퀘어" panose="020B0600000101010101" pitchFamily="50" charset="-127"/>
                        <a:ea typeface="나눔스퀘어" panose="020B0600000101010101" pitchFamily="50" charset="-127"/>
                      </a:endParaRPr>
                    </a:p>
                  </a:txBody>
                  <a:tcPr marL="36000" marR="36000" marT="0" marB="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36596182"/>
                  </a:ext>
                </a:extLst>
              </a:tr>
              <a:tr h="0">
                <a:tc>
                  <a:txBody>
                    <a:bodyPr/>
                    <a:lstStyle/>
                    <a:p>
                      <a:pPr algn="ctr" fontAlgn="ctr"/>
                      <a:r>
                        <a:rPr lang="en-US" altLang="ko-KR" sz="800" b="1" i="0" u="none" strike="noStrike" dirty="0" smtClean="0">
                          <a:solidFill>
                            <a:srgbClr val="000000"/>
                          </a:solidFill>
                          <a:effectLst/>
                          <a:latin typeface="나눔스퀘어" panose="020B0600000101010101" pitchFamily="50" charset="-127"/>
                          <a:ea typeface="나눔스퀘어" panose="020B0600000101010101" pitchFamily="50" charset="-127"/>
                        </a:rPr>
                        <a:t>Brent</a:t>
                      </a:r>
                      <a:endParaRPr lang="en-US" altLang="ko-KR" sz="8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36000" marR="36000" marT="5443" marB="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1" hangingPunct="1"/>
                      <a:r>
                        <a:rPr lang="en-US" altLang="ko-KR" sz="800" b="0" i="0" u="none" strike="noStrike" kern="1200" dirty="0">
                          <a:solidFill>
                            <a:srgbClr val="000000"/>
                          </a:solidFill>
                          <a:effectLst/>
                          <a:latin typeface="나눔스퀘어" panose="020B0600000101010101" pitchFamily="50" charset="-127"/>
                          <a:ea typeface="나눔스퀘어" panose="020B0600000101010101" pitchFamily="50" charset="-127"/>
                          <a:cs typeface="+mn-cs"/>
                        </a:rPr>
                        <a:t>69.2</a:t>
                      </a: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1" hangingPunct="1"/>
                      <a:r>
                        <a:rPr lang="en-US" altLang="ko-KR" sz="800" b="0" i="0" u="none" strike="noStrike" kern="1200" dirty="0">
                          <a:solidFill>
                            <a:srgbClr val="000000"/>
                          </a:solidFill>
                          <a:effectLst/>
                          <a:latin typeface="나눔스퀘어" panose="020B0600000101010101" pitchFamily="50" charset="-127"/>
                          <a:ea typeface="나눔스퀘어" panose="020B0600000101010101" pitchFamily="50" charset="-127"/>
                          <a:cs typeface="+mn-cs"/>
                        </a:rPr>
                        <a:t>98.2</a:t>
                      </a: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1" hangingPunct="1"/>
                      <a:r>
                        <a:rPr lang="en-US" altLang="ko-KR" sz="800" b="0" i="0" u="none" strike="noStrike" kern="1200" dirty="0">
                          <a:solidFill>
                            <a:srgbClr val="000000"/>
                          </a:solidFill>
                          <a:effectLst/>
                          <a:latin typeface="나눔스퀘어" panose="020B0600000101010101" pitchFamily="50" charset="-127"/>
                          <a:ea typeface="나눔스퀘어" panose="020B0600000101010101" pitchFamily="50" charset="-127"/>
                          <a:cs typeface="+mn-cs"/>
                        </a:rPr>
                        <a:t>101.4</a:t>
                      </a: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1" hangingPunct="1"/>
                      <a:r>
                        <a:rPr lang="en-US" altLang="ko-KR" sz="800" b="0" i="0" u="none" strike="noStrike" kern="1200" dirty="0">
                          <a:solidFill>
                            <a:srgbClr val="000000"/>
                          </a:solidFill>
                          <a:effectLst/>
                          <a:latin typeface="나눔스퀘어" panose="020B0600000101010101" pitchFamily="50" charset="-127"/>
                          <a:ea typeface="나눔스퀘어" panose="020B0600000101010101" pitchFamily="50" charset="-127"/>
                          <a:cs typeface="+mn-cs"/>
                        </a:rPr>
                        <a:t>102.8</a:t>
                      </a: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1" hangingPunct="1"/>
                      <a:r>
                        <a:rPr lang="en-US" altLang="ko-KR" sz="800" b="0" i="0" u="none" strike="noStrike" kern="1200" dirty="0" smtClean="0">
                          <a:solidFill>
                            <a:srgbClr val="000000"/>
                          </a:solidFill>
                          <a:effectLst/>
                          <a:latin typeface="나눔스퀘어" panose="020B0600000101010101" pitchFamily="50" charset="-127"/>
                          <a:ea typeface="나눔스퀘어" panose="020B0600000101010101" pitchFamily="50" charset="-127"/>
                          <a:cs typeface="+mn-cs"/>
                        </a:rPr>
                        <a:t>86.9</a:t>
                      </a:r>
                      <a:endParaRPr lang="en-US" altLang="ko-KR" sz="800" b="0" i="0" u="none" strike="noStrike" kern="1200" dirty="0">
                        <a:solidFill>
                          <a:srgbClr val="000000"/>
                        </a:solidFill>
                        <a:effectLst/>
                        <a:latin typeface="나눔스퀘어" panose="020B0600000101010101" pitchFamily="50" charset="-127"/>
                        <a:ea typeface="나눔스퀘어" panose="020B0600000101010101" pitchFamily="50" charset="-127"/>
                        <a:cs typeface="+mn-cs"/>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39628017"/>
                  </a:ext>
                </a:extLst>
              </a:tr>
              <a:tr h="77616">
                <a:tc>
                  <a:txBody>
                    <a:bodyPr/>
                    <a:lstStyle/>
                    <a:p>
                      <a:pPr algn="ctr" fontAlgn="ctr"/>
                      <a:r>
                        <a:rPr lang="en-US" altLang="ko-KR" sz="800" b="1" i="0" u="none" strike="noStrike" dirty="0" smtClean="0">
                          <a:solidFill>
                            <a:srgbClr val="000000"/>
                          </a:solidFill>
                          <a:effectLst/>
                          <a:latin typeface="나눔스퀘어" panose="020B0600000101010101" pitchFamily="50" charset="-127"/>
                          <a:ea typeface="나눔스퀘어" panose="020B0600000101010101" pitchFamily="50" charset="-127"/>
                        </a:rPr>
                        <a:t>Jet</a:t>
                      </a:r>
                      <a:r>
                        <a:rPr lang="en-US" altLang="ko-KR" sz="800" b="1" i="0" u="none" strike="noStrike" baseline="0" dirty="0" smtClean="0">
                          <a:solidFill>
                            <a:srgbClr val="000000"/>
                          </a:solidFill>
                          <a:effectLst/>
                          <a:latin typeface="나눔스퀘어" panose="020B0600000101010101" pitchFamily="50" charset="-127"/>
                          <a:ea typeface="나눔스퀘어" panose="020B0600000101010101" pitchFamily="50" charset="-127"/>
                        </a:rPr>
                        <a:t> Fuel</a:t>
                      </a:r>
                      <a:endParaRPr lang="en-US" altLang="ko-KR" sz="8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36000" marR="36000" marT="5443" marB="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1" hangingPunct="1"/>
                      <a:r>
                        <a:rPr lang="en-US" altLang="ko-KR" sz="800" b="0" i="0" u="none" strike="noStrike" kern="1200" dirty="0">
                          <a:solidFill>
                            <a:srgbClr val="000000"/>
                          </a:solidFill>
                          <a:effectLst/>
                          <a:latin typeface="나눔스퀘어" panose="020B0600000101010101" pitchFamily="50" charset="-127"/>
                          <a:ea typeface="나눔스퀘어" panose="020B0600000101010101" pitchFamily="50" charset="-127"/>
                          <a:cs typeface="+mn-cs"/>
                        </a:rPr>
                        <a:t>95.7</a:t>
                      </a: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1" hangingPunct="1"/>
                      <a:r>
                        <a:rPr lang="en-US" altLang="ko-KR" sz="800" b="0" i="0" u="none" strike="noStrike" kern="1200" dirty="0">
                          <a:solidFill>
                            <a:srgbClr val="000000"/>
                          </a:solidFill>
                          <a:effectLst/>
                          <a:latin typeface="나눔스퀘어" panose="020B0600000101010101" pitchFamily="50" charset="-127"/>
                          <a:ea typeface="나눔스퀘어" panose="020B0600000101010101" pitchFamily="50" charset="-127"/>
                          <a:cs typeface="+mn-cs"/>
                        </a:rPr>
                        <a:t>181.2</a:t>
                      </a: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1" hangingPunct="1"/>
                      <a:r>
                        <a:rPr lang="en-US" altLang="ko-KR" sz="800" b="0" i="0" u="none" strike="noStrike" kern="1200" dirty="0">
                          <a:solidFill>
                            <a:srgbClr val="000000"/>
                          </a:solidFill>
                          <a:effectLst/>
                          <a:latin typeface="나눔스퀘어" panose="020B0600000101010101" pitchFamily="50" charset="-127"/>
                          <a:ea typeface="나눔스퀘어" panose="020B0600000101010101" pitchFamily="50" charset="-127"/>
                          <a:cs typeface="+mn-cs"/>
                        </a:rPr>
                        <a:t>192.7</a:t>
                      </a: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1" hangingPunct="1"/>
                      <a:r>
                        <a:rPr lang="en-US" altLang="ko-KR" sz="800" b="0" i="0" u="none" strike="noStrike" kern="1200" dirty="0">
                          <a:solidFill>
                            <a:srgbClr val="000000"/>
                          </a:solidFill>
                          <a:effectLst/>
                          <a:latin typeface="나눔스퀘어" panose="020B0600000101010101" pitchFamily="50" charset="-127"/>
                          <a:ea typeface="나눔스퀘어" panose="020B0600000101010101" pitchFamily="50" charset="-127"/>
                          <a:cs typeface="+mn-cs"/>
                        </a:rPr>
                        <a:t>161.6</a:t>
                      </a: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1" hangingPunct="1"/>
                      <a:r>
                        <a:rPr lang="en-US" altLang="ko-KR" sz="800" b="0" i="0" u="none" strike="noStrike" kern="1200" dirty="0" smtClean="0">
                          <a:solidFill>
                            <a:srgbClr val="000000"/>
                          </a:solidFill>
                          <a:effectLst/>
                          <a:latin typeface="나눔스퀘어" panose="020B0600000101010101" pitchFamily="50" charset="-127"/>
                          <a:ea typeface="나눔스퀘어" panose="020B0600000101010101" pitchFamily="50" charset="-127"/>
                          <a:cs typeface="+mn-cs"/>
                        </a:rPr>
                        <a:t>134.7</a:t>
                      </a:r>
                      <a:endParaRPr lang="en-US" altLang="ko-KR" sz="800" b="0" i="0" u="none" strike="noStrike" kern="1200" dirty="0">
                        <a:solidFill>
                          <a:srgbClr val="000000"/>
                        </a:solidFill>
                        <a:effectLst/>
                        <a:latin typeface="나눔스퀘어" panose="020B0600000101010101" pitchFamily="50" charset="-127"/>
                        <a:ea typeface="나눔스퀘어" panose="020B0600000101010101" pitchFamily="50" charset="-127"/>
                        <a:cs typeface="+mn-cs"/>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437219756"/>
                  </a:ext>
                </a:extLst>
              </a:tr>
            </a:tbl>
          </a:graphicData>
        </a:graphic>
      </p:graphicFrame>
      <p:sp>
        <p:nvSpPr>
          <p:cNvPr id="94" name="TextBox 93"/>
          <p:cNvSpPr txBox="1"/>
          <p:nvPr/>
        </p:nvSpPr>
        <p:spPr>
          <a:xfrm>
            <a:off x="3424348" y="3367892"/>
            <a:ext cx="4692449" cy="138499"/>
          </a:xfrm>
          <a:prstGeom prst="rect">
            <a:avLst/>
          </a:prstGeom>
          <a:noFill/>
        </p:spPr>
        <p:txBody>
          <a:bodyPr wrap="square" lIns="0" tIns="0" rIns="0" bIns="0" rtlCol="0">
            <a:spAutoFit/>
          </a:bodyPr>
          <a:lstStyle>
            <a:defPPr>
              <a:defRPr lang="ko-KR"/>
            </a:defPPr>
            <a:lvl1pPr>
              <a:defRPr sz="900" spc="-100">
                <a:solidFill>
                  <a:srgbClr val="0000FF"/>
                </a:solidFill>
                <a:latin typeface="나눔스퀘어" panose="020B0600000101010101" pitchFamily="50" charset="-127"/>
                <a:ea typeface="나눔스퀘어" panose="020B0600000101010101" pitchFamily="50" charset="-127"/>
              </a:defRPr>
            </a:lvl1pPr>
          </a:lstStyle>
          <a:p>
            <a:r>
              <a:rPr lang="en-US" altLang="ko-KR" spc="0" dirty="0" smtClean="0"/>
              <a:t>* 20% of total jet fuel supply in ’25</a:t>
            </a:r>
            <a:endParaRPr lang="ko-KR" altLang="en-US" spc="0" dirty="0"/>
          </a:p>
        </p:txBody>
      </p:sp>
      <p:cxnSp>
        <p:nvCxnSpPr>
          <p:cNvPr id="100" name="직선 화살표 연결선 99"/>
          <p:cNvCxnSpPr>
            <a:stCxn id="99" idx="0"/>
            <a:endCxn id="95" idx="1"/>
          </p:cNvCxnSpPr>
          <p:nvPr/>
        </p:nvCxnSpPr>
        <p:spPr>
          <a:xfrm flipV="1">
            <a:off x="8116797" y="5255961"/>
            <a:ext cx="322306" cy="261042"/>
          </a:xfrm>
          <a:prstGeom prst="straightConnector1">
            <a:avLst/>
          </a:prstGeom>
          <a:ln w="127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1" name="직사각형 100"/>
          <p:cNvSpPr/>
          <p:nvPr/>
        </p:nvSpPr>
        <p:spPr>
          <a:xfrm>
            <a:off x="7896910" y="5245548"/>
            <a:ext cx="989323" cy="153888"/>
          </a:xfrm>
          <a:prstGeom prst="rect">
            <a:avLst/>
          </a:prstGeom>
        </p:spPr>
        <p:txBody>
          <a:bodyPr wrap="square" lIns="0" tIns="0" rIns="0" bIns="0" anchor="t" anchorCtr="0">
            <a:spAutoFit/>
          </a:bodyPr>
          <a:lstStyle/>
          <a:p>
            <a:pPr marR="0" lvl="0" algn="l" defTabSz="914400" rtl="0" eaLnBrk="1" fontAlgn="auto" latinLnBrk="1" hangingPunct="1">
              <a:lnSpc>
                <a:spcPct val="100000"/>
              </a:lnSpc>
              <a:spcBef>
                <a:spcPts val="0"/>
              </a:spcBef>
              <a:spcAft>
                <a:spcPts val="0"/>
              </a:spcAft>
              <a:buClrTx/>
              <a:buSzTx/>
              <a:tabLst/>
              <a:defRPr/>
            </a:pPr>
            <a:r>
              <a:rPr kumimoji="1" lang="en-US" altLang="ko-KR" sz="1000" b="1" spc="-80" dirty="0">
                <a:ln>
                  <a:solidFill>
                    <a:srgbClr val="4F81BD">
                      <a:alpha val="0"/>
                    </a:srgbClr>
                  </a:solidFill>
                </a:ln>
                <a:solidFill>
                  <a:srgbClr val="FF0000"/>
                </a:solidFill>
                <a:latin typeface="나눔스퀘어" panose="020B0600000101010101" pitchFamily="50" charset="-127"/>
                <a:ea typeface="나눔스퀘어" panose="020B0600000101010101" pitchFamily="50" charset="-127"/>
                <a:cs typeface="Arial Unicode MS" panose="020B0604020202020204" pitchFamily="50" charset="-127"/>
              </a:rPr>
              <a:t>+</a:t>
            </a:r>
            <a:r>
              <a:rPr kumimoji="1" lang="en-US" altLang="ko-KR" sz="1000" b="1" spc="-80" dirty="0" smtClean="0">
                <a:ln>
                  <a:solidFill>
                    <a:srgbClr val="4F81BD">
                      <a:alpha val="0"/>
                    </a:srgbClr>
                  </a:solidFill>
                </a:ln>
                <a:solidFill>
                  <a:srgbClr val="FF0000"/>
                </a:solidFill>
                <a:latin typeface="나눔스퀘어" panose="020B0600000101010101" pitchFamily="50" charset="-127"/>
                <a:ea typeface="나눔스퀘어" panose="020B0600000101010101" pitchFamily="50" charset="-127"/>
                <a:cs typeface="Arial Unicode MS" panose="020B0604020202020204" pitchFamily="50" charset="-127"/>
              </a:rPr>
              <a:t>504%</a:t>
            </a:r>
            <a:endParaRPr kumimoji="1" lang="en-US" altLang="ko-KR" sz="1000" b="1" i="0" u="none" strike="noStrike" kern="1200" cap="none" spc="-80" normalizeH="0" noProof="0" dirty="0">
              <a:ln>
                <a:solidFill>
                  <a:srgbClr val="002B5C">
                    <a:alpha val="0"/>
                  </a:srgbClr>
                </a:solidFill>
              </a:ln>
              <a:solidFill>
                <a:srgbClr val="FF0000"/>
              </a:solidFill>
              <a:effectLst/>
              <a:uLnTx/>
              <a:uFillTx/>
              <a:latin typeface="나눔스퀘어" panose="020B0600000101010101" pitchFamily="50" charset="-127"/>
              <a:ea typeface="나눔스퀘어" panose="020B0600000101010101" pitchFamily="50" charset="-127"/>
              <a:cs typeface="Arial" panose="020B0604020202020204" pitchFamily="34" charset="0"/>
            </a:endParaRPr>
          </a:p>
        </p:txBody>
      </p:sp>
      <p:sp>
        <p:nvSpPr>
          <p:cNvPr id="82" name="TextBox 81">
            <a:extLst>
              <a:ext uri="{FF2B5EF4-FFF2-40B4-BE49-F238E27FC236}">
                <a16:creationId xmlns:a16="http://schemas.microsoft.com/office/drawing/2014/main" id="{F419EC2A-DA12-DE70-177E-D060836EC73B}"/>
              </a:ext>
            </a:extLst>
          </p:cNvPr>
          <p:cNvSpPr txBox="1"/>
          <p:nvPr/>
        </p:nvSpPr>
        <p:spPr>
          <a:xfrm>
            <a:off x="6468175" y="6342592"/>
            <a:ext cx="2606483" cy="138499"/>
          </a:xfrm>
          <a:prstGeom prst="rect">
            <a:avLst/>
          </a:prstGeom>
          <a:noFill/>
        </p:spPr>
        <p:txBody>
          <a:bodyPr wrap="none" lIns="0" tIns="0" rIns="0" bIns="0" rtlCol="0" anchor="ctr">
            <a:spAutoFit/>
          </a:bodyPr>
          <a:lstStyle/>
          <a:p>
            <a:pPr latinLnBrk="0"/>
            <a:r>
              <a:rPr lang="en-US" altLang="ko-KR"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Long-haul route</a:t>
            </a:r>
            <a:r>
              <a:rPr lang="ko-KR" altLang="en-US"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a:t>
            </a:r>
            <a:r>
              <a:rPr lang="en-US" altLang="ko-KR"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NA/EU/Africa/ME/India/Pacific</a:t>
            </a:r>
          </a:p>
        </p:txBody>
      </p:sp>
      <p:pic>
        <p:nvPicPr>
          <p:cNvPr id="95" name="그림 94" descr="채점"/>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439103" y="5168051"/>
            <a:ext cx="355462" cy="175819"/>
          </a:xfrm>
          <a:prstGeom prst="rect">
            <a:avLst/>
          </a:prstGeom>
          <a:noFill/>
          <a:ln>
            <a:noFill/>
          </a:ln>
        </p:spPr>
      </p:pic>
      <p:pic>
        <p:nvPicPr>
          <p:cNvPr id="99" name="그림 98" descr="채점"/>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910043" y="5517003"/>
            <a:ext cx="413507" cy="227540"/>
          </a:xfrm>
          <a:prstGeom prst="rect">
            <a:avLst/>
          </a:prstGeom>
          <a:noFill/>
          <a:ln>
            <a:noFill/>
          </a:ln>
        </p:spPr>
      </p:pic>
      <p:sp>
        <p:nvSpPr>
          <p:cNvPr id="93" name="직사각형 92"/>
          <p:cNvSpPr/>
          <p:nvPr/>
        </p:nvSpPr>
        <p:spPr>
          <a:xfrm>
            <a:off x="10143692" y="5322492"/>
            <a:ext cx="989323" cy="153888"/>
          </a:xfrm>
          <a:prstGeom prst="rect">
            <a:avLst/>
          </a:prstGeom>
        </p:spPr>
        <p:txBody>
          <a:bodyPr wrap="square" lIns="0" tIns="0" rIns="0" bIns="0" anchor="t" anchorCtr="0">
            <a:spAutoFit/>
          </a:bodyPr>
          <a:lstStyle/>
          <a:p>
            <a:pPr marR="0" lvl="0" algn="l" defTabSz="914400" rtl="0" eaLnBrk="1" fontAlgn="auto" latinLnBrk="1" hangingPunct="1">
              <a:lnSpc>
                <a:spcPct val="100000"/>
              </a:lnSpc>
              <a:spcBef>
                <a:spcPts val="0"/>
              </a:spcBef>
              <a:spcAft>
                <a:spcPts val="0"/>
              </a:spcAft>
              <a:buClrTx/>
              <a:buSzTx/>
              <a:tabLst/>
              <a:defRPr/>
            </a:pPr>
            <a:r>
              <a:rPr kumimoji="1" lang="en-US" altLang="ko-KR" sz="1000" b="1" spc="-80" dirty="0" smtClean="0">
                <a:ln>
                  <a:solidFill>
                    <a:srgbClr val="4F81BD">
                      <a:alpha val="0"/>
                    </a:srgbClr>
                  </a:solidFill>
                </a:ln>
                <a:solidFill>
                  <a:srgbClr val="FF0000"/>
                </a:solidFill>
                <a:latin typeface="나눔스퀘어" panose="020B0600000101010101" pitchFamily="50" charset="-127"/>
                <a:ea typeface="나눔스퀘어" panose="020B0600000101010101" pitchFamily="50" charset="-127"/>
                <a:cs typeface="Arial Unicode MS" panose="020B0604020202020204" pitchFamily="50" charset="-127"/>
              </a:rPr>
              <a:t>+3.3</a:t>
            </a:r>
            <a:r>
              <a:rPr kumimoji="1" lang="en-US" altLang="ko-KR" sz="1000" b="1" spc="-80" dirty="0">
                <a:ln>
                  <a:solidFill>
                    <a:srgbClr val="4F81BD">
                      <a:alpha val="0"/>
                    </a:srgbClr>
                  </a:solidFill>
                </a:ln>
                <a:solidFill>
                  <a:srgbClr val="FF0000"/>
                </a:solidFill>
                <a:latin typeface="나눔스퀘어" panose="020B0600000101010101" pitchFamily="50" charset="-127"/>
                <a:ea typeface="나눔스퀘어" panose="020B0600000101010101" pitchFamily="50" charset="-127"/>
                <a:cs typeface="Arial Unicode MS" panose="020B0604020202020204" pitchFamily="50" charset="-127"/>
              </a:rPr>
              <a:t>x</a:t>
            </a:r>
            <a:endParaRPr kumimoji="1" lang="en-US" altLang="ko-KR" sz="1000" b="1" i="0" u="none" strike="noStrike" kern="1200" cap="none" spc="-80" normalizeH="0" noProof="0" dirty="0">
              <a:ln>
                <a:solidFill>
                  <a:srgbClr val="002B5C">
                    <a:alpha val="0"/>
                  </a:srgbClr>
                </a:solidFill>
              </a:ln>
              <a:solidFill>
                <a:srgbClr val="FF0000"/>
              </a:solidFill>
              <a:effectLst/>
              <a:uLnTx/>
              <a:uFillTx/>
              <a:latin typeface="나눔스퀘어" panose="020B0600000101010101" pitchFamily="50" charset="-127"/>
              <a:ea typeface="나눔스퀘어" panose="020B0600000101010101" pitchFamily="50" charset="-127"/>
              <a:cs typeface="Arial" panose="020B0604020202020204" pitchFamily="34" charset="0"/>
            </a:endParaRPr>
          </a:p>
        </p:txBody>
      </p:sp>
      <p:sp>
        <p:nvSpPr>
          <p:cNvPr id="102" name="슬라이드 번호 개체 틀 5">
            <a:extLst>
              <a:ext uri="{FF2B5EF4-FFF2-40B4-BE49-F238E27FC236}">
                <a16:creationId xmlns:a16="http://schemas.microsoft.com/office/drawing/2014/main" id="{FAC1EB1B-E602-0247-88AB-A89AF71255A6}"/>
              </a:ext>
            </a:extLst>
          </p:cNvPr>
          <p:cNvSpPr txBox="1">
            <a:spLocks/>
          </p:cNvSpPr>
          <p:nvPr/>
        </p:nvSpPr>
        <p:spPr>
          <a:xfrm>
            <a:off x="5419725" y="6426152"/>
            <a:ext cx="788332" cy="326455"/>
          </a:xfrm>
          <a:prstGeom prst="rect">
            <a:avLst/>
          </a:prstGeom>
        </p:spPr>
        <p:txBody>
          <a:bodyPr lIns="162531" tIns="81264" rIns="162531" bIns="81264" anchor="ctr"/>
          <a:lstStyle>
            <a:lvl1pPr algn="r">
              <a:defRPr sz="1200">
                <a:solidFill>
                  <a:schemeClr val="tx1">
                    <a:tint val="75000"/>
                  </a:schemeClr>
                </a:solidFill>
              </a:defRPr>
            </a:lvl1pPr>
          </a:lstStyle>
          <a:p>
            <a:pPr defTabSz="1219048">
              <a:defRPr/>
            </a:pPr>
            <a:r>
              <a:rPr lang="en-US" altLang="ko-KR" dirty="0" smtClean="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rPr>
              <a:t>17</a:t>
            </a:r>
            <a:endParaRPr lang="ko-KR" altLang="en-US"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endParaRPr>
          </a:p>
        </p:txBody>
      </p:sp>
      <p:sp>
        <p:nvSpPr>
          <p:cNvPr id="105" name="TextBox 104">
            <a:extLst>
              <a:ext uri="{FF2B5EF4-FFF2-40B4-BE49-F238E27FC236}">
                <a16:creationId xmlns:a16="http://schemas.microsoft.com/office/drawing/2014/main" id="{F419EC2A-DA12-DE70-177E-D060836EC73B}"/>
              </a:ext>
            </a:extLst>
          </p:cNvPr>
          <p:cNvSpPr txBox="1"/>
          <p:nvPr/>
        </p:nvSpPr>
        <p:spPr>
          <a:xfrm>
            <a:off x="525890" y="6506819"/>
            <a:ext cx="1401025" cy="153888"/>
          </a:xfrm>
          <a:prstGeom prst="rect">
            <a:avLst/>
          </a:prstGeom>
          <a:noFill/>
        </p:spPr>
        <p:txBody>
          <a:bodyPr wrap="none" lIns="0" tIns="0" rIns="0" bIns="0" rtlCol="0" anchor="ctr">
            <a:spAutoFit/>
          </a:bodyPr>
          <a:lstStyle/>
          <a:p>
            <a:pPr latinLnBrk="0"/>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Source</a:t>
            </a:r>
            <a:r>
              <a:rPr lang="ko-KR" altLang="en-US"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IATA / IEA / KE</a:t>
            </a:r>
          </a:p>
        </p:txBody>
      </p:sp>
      <p:grpSp>
        <p:nvGrpSpPr>
          <p:cNvPr id="103" name="그룹 102"/>
          <p:cNvGrpSpPr/>
          <p:nvPr/>
        </p:nvGrpSpPr>
        <p:grpSpPr>
          <a:xfrm>
            <a:off x="10020301" y="6290"/>
            <a:ext cx="1778422" cy="552569"/>
            <a:chOff x="10020301" y="6290"/>
            <a:chExt cx="1778422" cy="552569"/>
          </a:xfrm>
        </p:grpSpPr>
        <p:cxnSp>
          <p:nvCxnSpPr>
            <p:cNvPr id="104" name="직선 연결선 103"/>
            <p:cNvCxnSpPr/>
            <p:nvPr/>
          </p:nvCxnSpPr>
          <p:spPr>
            <a:xfrm>
              <a:off x="11671487" y="6290"/>
              <a:ext cx="0" cy="313957"/>
            </a:xfrm>
            <a:prstGeom prst="line">
              <a:avLst/>
            </a:prstGeom>
            <a:ln w="635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0" name="TextBox 119"/>
            <p:cNvSpPr txBox="1"/>
            <p:nvPr/>
          </p:nvSpPr>
          <p:spPr>
            <a:xfrm>
              <a:off x="10020301" y="381709"/>
              <a:ext cx="1552032" cy="153888"/>
            </a:xfrm>
            <a:prstGeom prst="rect">
              <a:avLst/>
            </a:prstGeom>
            <a:noFill/>
            <a:ln w="9525">
              <a:noFill/>
              <a:miter lim="800000"/>
              <a:headEnd/>
              <a:tailEnd/>
            </a:ln>
          </p:spPr>
          <p:txBody>
            <a:bodyPr wrap="square" lIns="0" tIns="0" rIns="0" bIns="0" anchor="ctr">
              <a:spAutoFit/>
            </a:bodyPr>
            <a:lstStyle>
              <a:defPPr>
                <a:defRPr lang="ko-KR"/>
              </a:defPPr>
              <a:lvl1pPr defTabSz="914125" fontAlgn="base" latinLnBrk="0">
                <a:spcBef>
                  <a:spcPct val="0"/>
                </a:spcBef>
                <a:spcAft>
                  <a:spcPts val="200"/>
                </a:spcAft>
                <a:defRPr sz="1100" spc="-20">
                  <a:ln>
                    <a:solidFill>
                      <a:prstClr val="white">
                        <a:alpha val="0"/>
                      </a:prstClr>
                    </a:solidFill>
                  </a:ln>
                  <a:solidFill>
                    <a:schemeClr val="tx1">
                      <a:lumMod val="75000"/>
                      <a:lumOff val="25000"/>
                    </a:schemeClr>
                  </a:solidFill>
                  <a:latin typeface="KoPub돋움체 Bold" panose="02020603020101020101" pitchFamily="18" charset="-127"/>
                  <a:ea typeface="KoPub돋움체 Bold" panose="02020603020101020101" pitchFamily="18" charset="-127"/>
                  <a:cs typeface="Arial" charset="0"/>
                </a:defRPr>
              </a:lvl1pPr>
            </a:lstStyle>
            <a:p>
              <a:pPr lvl="0" algn="r">
                <a:defRPr/>
              </a:pPr>
              <a:r>
                <a:rPr lang="en-US" altLang="ko-KR"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rPr>
                <a:t>2026 2H Market Outlook</a:t>
              </a:r>
              <a:endParaRPr lang="ko-KR" altLang="en-US"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endParaRPr>
            </a:p>
          </p:txBody>
        </p:sp>
        <p:sp>
          <p:nvSpPr>
            <p:cNvPr id="121" name="타원 120"/>
            <p:cNvSpPr/>
            <p:nvPr/>
          </p:nvSpPr>
          <p:spPr>
            <a:xfrm>
              <a:off x="11340239"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20" normalizeH="0" baseline="0" noProof="0" dirty="0">
                <a:ln>
                  <a:solidFill>
                    <a:srgbClr val="C00000">
                      <a:alpha val="0"/>
                    </a:srgbClr>
                  </a:solidFill>
                </a:ln>
                <a:solidFill>
                  <a:prstClr val="white"/>
                </a:solidFill>
                <a:effectLst/>
                <a:uLnTx/>
                <a:uFillTx/>
                <a:latin typeface="나눔스퀘어" panose="020B0600000101010101" pitchFamily="50" charset="-127"/>
                <a:ea typeface="나눔스퀘어" panose="020B0600000101010101" pitchFamily="50" charset="-127"/>
                <a:cs typeface="+mn-cs"/>
              </a:endParaRPr>
            </a:p>
          </p:txBody>
        </p:sp>
        <p:sp>
          <p:nvSpPr>
            <p:cNvPr id="122" name="타원 121"/>
            <p:cNvSpPr/>
            <p:nvPr/>
          </p:nvSpPr>
          <p:spPr>
            <a:xfrm>
              <a:off x="11422266"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123" name="타원 122"/>
            <p:cNvSpPr/>
            <p:nvPr/>
          </p:nvSpPr>
          <p:spPr>
            <a:xfrm>
              <a:off x="11504294" y="290256"/>
              <a:ext cx="51827" cy="51827"/>
            </a:xfrm>
            <a:prstGeom prst="ellipse">
              <a:avLst/>
            </a:prstGeom>
            <a:solidFill>
              <a:srgbClr val="0146A0"/>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124" name="TextBox 123"/>
            <p:cNvSpPr txBox="1"/>
            <p:nvPr/>
          </p:nvSpPr>
          <p:spPr>
            <a:xfrm>
              <a:off x="11646437" y="343415"/>
              <a:ext cx="152286" cy="215444"/>
            </a:xfrm>
            <a:prstGeom prst="rect">
              <a:avLst/>
            </a:prstGeom>
            <a:noFill/>
          </p:spPr>
          <p:txBody>
            <a:bodyPr wrap="none" lIns="0" tIns="0" rIns="0" bIns="0" rtlCol="0" anchor="ctr" anchorCtr="0">
              <a:spAutoFit/>
            </a:bodyPr>
            <a:lstStyle>
              <a:defPPr>
                <a:defRPr lang="ko-KR"/>
              </a:defPPr>
              <a:lvl1pPr>
                <a:spcAft>
                  <a:spcPts val="300"/>
                </a:spcAft>
                <a:defRPr sz="2800" spc="-100">
                  <a:ln>
                    <a:solidFill>
                      <a:schemeClr val="bg1">
                        <a:alpha val="0"/>
                      </a:schemeClr>
                    </a:solidFill>
                  </a:ln>
                  <a:solidFill>
                    <a:srgbClr val="005B8D"/>
                  </a:solidFill>
                  <a:latin typeface="Times New Roman" panose="02020603050405020304" pitchFamily="18" charset="0"/>
                  <a:ea typeface="KoPub돋움체 Bold" panose="02020603020101020101" pitchFamily="18" charset="-127"/>
                  <a:cs typeface="Times New Roman" panose="02020603050405020304" pitchFamily="18" charset="0"/>
                </a:defRPr>
              </a:lvl1pPr>
            </a:lstStyle>
            <a:p>
              <a:pPr latinLnBrk="0">
                <a:defRPr/>
              </a:pPr>
              <a:r>
                <a:rPr lang="en-US" altLang="ko-KR" sz="1400" spc="-150" dirty="0" smtClean="0">
                  <a:ln>
                    <a:solidFill>
                      <a:prstClr val="white">
                        <a:alpha val="0"/>
                      </a:prstClr>
                    </a:solidFill>
                  </a:ln>
                  <a:solidFill>
                    <a:srgbClr val="0146A0"/>
                  </a:solidFill>
                  <a:ea typeface="KoPub돋움체 Medium" panose="02020603020101020101" pitchFamily="18" charset="-127"/>
                </a:rPr>
                <a:t>Ⅲ</a:t>
              </a:r>
              <a:endParaRPr lang="en-US" altLang="ko-KR" sz="1400" spc="-150" dirty="0">
                <a:ln>
                  <a:solidFill>
                    <a:prstClr val="white">
                      <a:alpha val="0"/>
                    </a:prstClr>
                  </a:solidFill>
                </a:ln>
                <a:solidFill>
                  <a:srgbClr val="0146A0"/>
                </a:solidFill>
                <a:ea typeface="KoPub돋움체 Medium" panose="02020603020101020101" pitchFamily="18" charset="-127"/>
              </a:endParaRPr>
            </a:p>
          </p:txBody>
        </p:sp>
      </p:grpSp>
      <p:grpSp>
        <p:nvGrpSpPr>
          <p:cNvPr id="110" name="그룹 109">
            <a:extLst>
              <a:ext uri="{FF2B5EF4-FFF2-40B4-BE49-F238E27FC236}">
                <a16:creationId xmlns:a16="http://schemas.microsoft.com/office/drawing/2014/main" id="{EF295706-448F-E9F8-6950-97D9B68EEEB9}"/>
              </a:ext>
            </a:extLst>
          </p:cNvPr>
          <p:cNvGrpSpPr/>
          <p:nvPr/>
        </p:nvGrpSpPr>
        <p:grpSpPr>
          <a:xfrm>
            <a:off x="6290801" y="2599033"/>
            <a:ext cx="5410242" cy="230832"/>
            <a:chOff x="522352" y="2590117"/>
            <a:chExt cx="5410242" cy="230832"/>
          </a:xfrm>
        </p:grpSpPr>
        <p:sp>
          <p:nvSpPr>
            <p:cNvPr id="111" name="직사각형 110">
              <a:extLst>
                <a:ext uri="{FF2B5EF4-FFF2-40B4-BE49-F238E27FC236}">
                  <a16:creationId xmlns:a16="http://schemas.microsoft.com/office/drawing/2014/main" id="{4046860D-C324-CEDE-CB74-5CA6C157F262}"/>
                </a:ext>
              </a:extLst>
            </p:cNvPr>
            <p:cNvSpPr/>
            <p:nvPr/>
          </p:nvSpPr>
          <p:spPr>
            <a:xfrm>
              <a:off x="781342" y="2590117"/>
              <a:ext cx="5151252" cy="230832"/>
            </a:xfrm>
            <a:prstGeom prst="rect">
              <a:avLst/>
            </a:prstGeom>
            <a:noFill/>
          </p:spPr>
          <p:txBody>
            <a:bodyPr wrap="none" lIns="0" tIns="0" rIns="0" bIns="0" anchor="t">
              <a:noAutofit/>
            </a:bodyPr>
            <a:lstStyle/>
            <a:p>
              <a:pPr latinLnBrk="0">
                <a:defRPr/>
              </a:pPr>
              <a:r>
                <a:rPr lang="en-US" altLang="ko-KR" sz="1500" spc="-100" dirty="0">
                  <a:ln>
                    <a:solidFill>
                      <a:prstClr val="white">
                        <a:alpha val="0"/>
                      </a:prstClr>
                    </a:solidFill>
                  </a:ln>
                  <a:latin typeface="나눔스퀘어 ExtraBold" panose="020B0600000101010101" pitchFamily="50" charset="-127"/>
                  <a:ea typeface="나눔스퀘어 ExtraBold" panose="020B0600000101010101" pitchFamily="50" charset="-127"/>
                  <a:cs typeface="Arial" panose="020B0604020202020204" pitchFamily="34" charset="0"/>
                </a:rPr>
                <a:t>Rising jet fuel prices are the main driver behind rate increases</a:t>
              </a:r>
            </a:p>
          </p:txBody>
        </p:sp>
        <p:grpSp>
          <p:nvGrpSpPr>
            <p:cNvPr id="115" name="그룹 114">
              <a:extLst>
                <a:ext uri="{FF2B5EF4-FFF2-40B4-BE49-F238E27FC236}">
                  <a16:creationId xmlns:a16="http://schemas.microsoft.com/office/drawing/2014/main" id="{60F9DA37-A4B6-8083-096A-75F9B9A801BD}"/>
                </a:ext>
              </a:extLst>
            </p:cNvPr>
            <p:cNvGrpSpPr/>
            <p:nvPr/>
          </p:nvGrpSpPr>
          <p:grpSpPr>
            <a:xfrm>
              <a:off x="522352" y="2609533"/>
              <a:ext cx="192000" cy="192000"/>
              <a:chOff x="412816" y="1633655"/>
              <a:chExt cx="184804" cy="185998"/>
            </a:xfrm>
          </p:grpSpPr>
          <p:sp>
            <p:nvSpPr>
              <p:cNvPr id="118" name="모서리가 둥근 직사각형 117">
                <a:extLst>
                  <a:ext uri="{FF2B5EF4-FFF2-40B4-BE49-F238E27FC236}">
                    <a16:creationId xmlns:a16="http://schemas.microsoft.com/office/drawing/2014/main" id="{24C50D10-136A-C13B-7860-B3159558891F}"/>
                  </a:ext>
                </a:extLst>
              </p:cNvPr>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119" name="그룹 186">
                <a:extLst>
                  <a:ext uri="{FF2B5EF4-FFF2-40B4-BE49-F238E27FC236}">
                    <a16:creationId xmlns:a16="http://schemas.microsoft.com/office/drawing/2014/main" id="{7F155D93-9560-DFB2-BBD9-BAED35A39F72}"/>
                  </a:ext>
                </a:extLst>
              </p:cNvPr>
              <p:cNvGrpSpPr/>
              <p:nvPr/>
            </p:nvGrpSpPr>
            <p:grpSpPr>
              <a:xfrm>
                <a:off x="454440" y="1688440"/>
                <a:ext cx="106516" cy="76455"/>
                <a:chOff x="3366478" y="5412581"/>
                <a:chExt cx="126078" cy="89916"/>
              </a:xfrm>
              <a:solidFill>
                <a:schemeClr val="bg1"/>
              </a:solidFill>
            </p:grpSpPr>
            <p:sp>
              <p:nvSpPr>
                <p:cNvPr id="125" name="모서리가 둥근 직사각형 124">
                  <a:extLst>
                    <a:ext uri="{FF2B5EF4-FFF2-40B4-BE49-F238E27FC236}">
                      <a16:creationId xmlns:a16="http://schemas.microsoft.com/office/drawing/2014/main" id="{CAE7FADE-62C4-5B41-9772-EEDDAB1BD5C2}"/>
                    </a:ext>
                  </a:extLst>
                </p:cNvPr>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126" name="모서리가 둥근 직사각형 125">
                  <a:extLst>
                    <a:ext uri="{FF2B5EF4-FFF2-40B4-BE49-F238E27FC236}">
                      <a16:creationId xmlns:a16="http://schemas.microsoft.com/office/drawing/2014/main" id="{8D39F778-6FBA-9465-6FDC-3682D55B9DFB}"/>
                    </a:ext>
                  </a:extLst>
                </p:cNvPr>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grpSp>
        <p:nvGrpSpPr>
          <p:cNvPr id="127" name="그룹 126">
            <a:extLst>
              <a:ext uri="{FF2B5EF4-FFF2-40B4-BE49-F238E27FC236}">
                <a16:creationId xmlns:a16="http://schemas.microsoft.com/office/drawing/2014/main" id="{F1901E48-B53D-6506-5405-7DEBF109E30B}"/>
              </a:ext>
            </a:extLst>
          </p:cNvPr>
          <p:cNvGrpSpPr/>
          <p:nvPr/>
        </p:nvGrpSpPr>
        <p:grpSpPr>
          <a:xfrm>
            <a:off x="521699" y="2599033"/>
            <a:ext cx="5410242" cy="230832"/>
            <a:chOff x="522352" y="2590117"/>
            <a:chExt cx="5410242" cy="230832"/>
          </a:xfrm>
        </p:grpSpPr>
        <p:sp>
          <p:nvSpPr>
            <p:cNvPr id="128" name="직사각형 127">
              <a:extLst>
                <a:ext uri="{FF2B5EF4-FFF2-40B4-BE49-F238E27FC236}">
                  <a16:creationId xmlns:a16="http://schemas.microsoft.com/office/drawing/2014/main" id="{23A877DC-AE7A-42B7-FA1C-82DDBA18195D}"/>
                </a:ext>
              </a:extLst>
            </p:cNvPr>
            <p:cNvSpPr/>
            <p:nvPr/>
          </p:nvSpPr>
          <p:spPr>
            <a:xfrm>
              <a:off x="781342" y="2590117"/>
              <a:ext cx="5151252" cy="230832"/>
            </a:xfrm>
            <a:prstGeom prst="rect">
              <a:avLst/>
            </a:prstGeom>
            <a:noFill/>
          </p:spPr>
          <p:txBody>
            <a:bodyPr wrap="none" lIns="0" tIns="0" rIns="0" bIns="0" anchor="t">
              <a:noAutofit/>
            </a:bodyPr>
            <a:lstStyle/>
            <a:p>
              <a:pPr marR="608330" lvl="0" latinLnBrk="0">
                <a:defRPr/>
              </a:pPr>
              <a:r>
                <a:rPr lang="en-US" altLang="ko-KR" sz="1500" b="1" kern="100" dirty="0" err="1">
                  <a:latin typeface="나눔스퀘어 ExtraBold" panose="020B0600000101010101" pitchFamily="50" charset="-127"/>
                  <a:ea typeface="나눔스퀘어 ExtraBold" panose="020B0600000101010101" pitchFamily="50" charset="-127"/>
                  <a:cs typeface="바탕" panose="02030600000101010101" pitchFamily="18" charset="-127"/>
                </a:rPr>
                <a:t>Oil·jet</a:t>
              </a:r>
              <a:r>
                <a:rPr lang="en-US" altLang="ko-KR"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 fuel supply disruptions drive jet fuel price surge</a:t>
              </a:r>
              <a:endParaRPr lang="ko-KR" altLang="en-US"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endParaRPr>
            </a:p>
          </p:txBody>
        </p:sp>
        <p:grpSp>
          <p:nvGrpSpPr>
            <p:cNvPr id="129" name="그룹 128">
              <a:extLst>
                <a:ext uri="{FF2B5EF4-FFF2-40B4-BE49-F238E27FC236}">
                  <a16:creationId xmlns:a16="http://schemas.microsoft.com/office/drawing/2014/main" id="{E7DF7FF3-3A0C-54A6-2CFC-EFC803C02E75}"/>
                </a:ext>
              </a:extLst>
            </p:cNvPr>
            <p:cNvGrpSpPr/>
            <p:nvPr/>
          </p:nvGrpSpPr>
          <p:grpSpPr>
            <a:xfrm>
              <a:off x="522352" y="2609533"/>
              <a:ext cx="192000" cy="192000"/>
              <a:chOff x="412816" y="1633655"/>
              <a:chExt cx="184804" cy="185998"/>
            </a:xfrm>
          </p:grpSpPr>
          <p:sp>
            <p:nvSpPr>
              <p:cNvPr id="130" name="모서리가 둥근 직사각형 129">
                <a:extLst>
                  <a:ext uri="{FF2B5EF4-FFF2-40B4-BE49-F238E27FC236}">
                    <a16:creationId xmlns:a16="http://schemas.microsoft.com/office/drawing/2014/main" id="{ACFD4B78-44F3-C9EC-0E4C-CDFEBFA96E65}"/>
                  </a:ext>
                </a:extLst>
              </p:cNvPr>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131" name="그룹 186">
                <a:extLst>
                  <a:ext uri="{FF2B5EF4-FFF2-40B4-BE49-F238E27FC236}">
                    <a16:creationId xmlns:a16="http://schemas.microsoft.com/office/drawing/2014/main" id="{8FAD1D07-96B7-2F90-2D67-D8FE24112EC3}"/>
                  </a:ext>
                </a:extLst>
              </p:cNvPr>
              <p:cNvGrpSpPr/>
              <p:nvPr/>
            </p:nvGrpSpPr>
            <p:grpSpPr>
              <a:xfrm>
                <a:off x="454440" y="1688440"/>
                <a:ext cx="106516" cy="76455"/>
                <a:chOff x="3366478" y="5412581"/>
                <a:chExt cx="126078" cy="89916"/>
              </a:xfrm>
              <a:solidFill>
                <a:schemeClr val="bg1"/>
              </a:solidFill>
            </p:grpSpPr>
            <p:sp>
              <p:nvSpPr>
                <p:cNvPr id="132" name="모서리가 둥근 직사각형 131">
                  <a:extLst>
                    <a:ext uri="{FF2B5EF4-FFF2-40B4-BE49-F238E27FC236}">
                      <a16:creationId xmlns:a16="http://schemas.microsoft.com/office/drawing/2014/main" id="{CCFA7DFB-B7B8-EE41-E1CC-E9D7BE39369E}"/>
                    </a:ext>
                  </a:extLst>
                </p:cNvPr>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133" name="모서리가 둥근 직사각형 132">
                  <a:extLst>
                    <a:ext uri="{FF2B5EF4-FFF2-40B4-BE49-F238E27FC236}">
                      <a16:creationId xmlns:a16="http://schemas.microsoft.com/office/drawing/2014/main" id="{F3DDF330-44BF-7DB5-CBAB-F5DE83FFCD3A}"/>
                    </a:ext>
                  </a:extLst>
                </p:cNvPr>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spTree>
    <p:extLst>
      <p:ext uri="{BB962C8B-B14F-4D97-AF65-F5344CB8AC3E}">
        <p14:creationId xmlns:p14="http://schemas.microsoft.com/office/powerpoint/2010/main" val="221959852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직사각형 25"/>
          <p:cNvSpPr/>
          <p:nvPr/>
        </p:nvSpPr>
        <p:spPr>
          <a:xfrm>
            <a:off x="6395948" y="2863014"/>
            <a:ext cx="5519827" cy="1808393"/>
          </a:xfrm>
          <a:prstGeom prst="rect">
            <a:avLst/>
          </a:prstGeom>
        </p:spPr>
        <p:txBody>
          <a:bodyPr wrap="square">
            <a:noAutofit/>
          </a:bodyPr>
          <a:lstStyle/>
          <a:p>
            <a:pPr marL="144000" indent="-144000" defTabSz="1038977" latinLnBrk="0">
              <a:spcAft>
                <a:spcPts val="800"/>
              </a:spcAft>
              <a:buFont typeface="Arial" panose="020B0604020202020204" pitchFamily="34" charset="0"/>
              <a:buChar char="•"/>
            </a:pPr>
            <a:r>
              <a:rPr lang="en-US" altLang="ko-KR" sz="1400" dirty="0">
                <a:latin typeface="나눔스퀘어" panose="020B0600000101010101" pitchFamily="50" charset="-127"/>
                <a:ea typeface="나눔스퀘어" panose="020B0600000101010101" pitchFamily="50" charset="-127"/>
              </a:rPr>
              <a:t>Jet fuel to decline on oil normalization and easing supply strain</a:t>
            </a:r>
          </a:p>
          <a:p>
            <a:pPr defTabSz="1038977" latinLnBrk="0">
              <a:spcAft>
                <a:spcPts val="800"/>
              </a:spcAft>
            </a:pPr>
            <a:r>
              <a:rPr lang="en-US" altLang="ko-KR" sz="1400" dirty="0">
                <a:latin typeface="나눔스퀘어" panose="020B0600000101010101" pitchFamily="50" charset="-127"/>
                <a:ea typeface="나눔스퀘어" panose="020B0600000101010101" pitchFamily="50" charset="-127"/>
              </a:rPr>
              <a:t>  - Brent: down 23% to $75 (Q3), down </a:t>
            </a:r>
            <a:r>
              <a:rPr lang="en-US" altLang="ko-KR" sz="1400" dirty="0" smtClean="0">
                <a:latin typeface="나눔스퀘어" panose="020B0600000101010101" pitchFamily="50" charset="-127"/>
                <a:ea typeface="나눔스퀘어" panose="020B0600000101010101" pitchFamily="50" charset="-127"/>
              </a:rPr>
              <a:t>7% </a:t>
            </a:r>
            <a:r>
              <a:rPr lang="en-US" altLang="ko-KR" sz="1400" dirty="0">
                <a:latin typeface="나눔스퀘어" panose="020B0600000101010101" pitchFamily="50" charset="-127"/>
                <a:ea typeface="나눔스퀘어" panose="020B0600000101010101" pitchFamily="50" charset="-127"/>
              </a:rPr>
              <a:t>to $70 (Q4)</a:t>
            </a:r>
          </a:p>
          <a:p>
            <a:pPr defTabSz="1038977" latinLnBrk="0">
              <a:spcAft>
                <a:spcPts val="800"/>
              </a:spcAft>
            </a:pPr>
            <a:r>
              <a:rPr lang="en-US" altLang="ko-KR" sz="1400" dirty="0">
                <a:latin typeface="나눔스퀘어" panose="020B0600000101010101" pitchFamily="50" charset="-127"/>
                <a:ea typeface="나눔스퀘어" panose="020B0600000101010101" pitchFamily="50" charset="-127"/>
              </a:rPr>
              <a:t>  - Jet fuel: down 33% to $110 (Q3), down 11% to $98 (Q4)</a:t>
            </a:r>
          </a:p>
          <a:p>
            <a:pPr marL="144000" indent="-144000" defTabSz="1038977" latinLnBrk="0">
              <a:spcAft>
                <a:spcPts val="800"/>
              </a:spcAft>
              <a:buFont typeface="Arial" panose="020B0604020202020204" pitchFamily="34" charset="0"/>
              <a:buChar char="•"/>
            </a:pPr>
            <a:r>
              <a:rPr lang="en-US" altLang="ko-KR" sz="1400" dirty="0">
                <a:latin typeface="나눔스퀘어" panose="020B0600000101010101" pitchFamily="50" charset="-127"/>
                <a:ea typeface="나눔스퀘어" panose="020B0600000101010101" pitchFamily="50" charset="-127"/>
              </a:rPr>
              <a:t>FSC to normalize in stages to pre-war levels within 2H</a:t>
            </a:r>
          </a:p>
          <a:p>
            <a:pPr defTabSz="1038977" latinLnBrk="0">
              <a:spcAft>
                <a:spcPts val="800"/>
              </a:spcAft>
            </a:pPr>
            <a:r>
              <a:rPr lang="en-US" altLang="ko-KR" sz="1400" dirty="0">
                <a:latin typeface="나눔스퀘어" panose="020B0600000101010101" pitchFamily="50" charset="-127"/>
                <a:ea typeface="나눔스퀘어" panose="020B0600000101010101" pitchFamily="50" charset="-127"/>
              </a:rPr>
              <a:t> - FSC adjusts in stages every 2–4 weeks per the jet fuel outlook</a:t>
            </a:r>
          </a:p>
          <a:p>
            <a:pPr defTabSz="1038977" latinLnBrk="0">
              <a:spcAft>
                <a:spcPts val="800"/>
              </a:spcAft>
            </a:pPr>
            <a:r>
              <a:rPr lang="en-US" altLang="ko-KR" sz="1400" dirty="0">
                <a:latin typeface="나눔스퀘어" panose="020B0600000101010101" pitchFamily="50" charset="-127"/>
                <a:ea typeface="나눔스퀘어" panose="020B0600000101010101" pitchFamily="50" charset="-127"/>
              </a:rPr>
              <a:t> - </a:t>
            </a:r>
            <a:r>
              <a:rPr lang="en-US" altLang="ko-KR" sz="1400" spc="-70" dirty="0">
                <a:latin typeface="나눔스퀘어" panose="020B0600000101010101" pitchFamily="50" charset="-127"/>
                <a:ea typeface="나눔스퀘어" panose="020B0600000101010101" pitchFamily="50" charset="-127"/>
              </a:rPr>
              <a:t>Q3: stage 13, down 50% to $0.55 → Q4: stage 10, down 24% to $0.42</a:t>
            </a:r>
          </a:p>
          <a:p>
            <a:pPr defTabSz="1038977" latinLnBrk="0">
              <a:spcAft>
                <a:spcPts val="800"/>
              </a:spcAft>
            </a:pPr>
            <a:r>
              <a:rPr lang="en-US" altLang="ko-KR" sz="1400" spc="-60" dirty="0">
                <a:latin typeface="나눔스퀘어" panose="020B0600000101010101" pitchFamily="50" charset="-127"/>
                <a:ea typeface="나눔스퀘어" panose="020B0600000101010101" pitchFamily="50" charset="-127"/>
              </a:rPr>
              <a:t> </a:t>
            </a:r>
            <a:endParaRPr lang="ko-KR" altLang="en-US" sz="1400" dirty="0">
              <a:latin typeface="나눔스퀘어" panose="020B0600000101010101" pitchFamily="50" charset="-127"/>
              <a:ea typeface="나눔스퀘어" panose="020B0600000101010101" pitchFamily="50" charset="-127"/>
            </a:endParaRPr>
          </a:p>
          <a:p>
            <a:pPr marL="144000" indent="-144000" defTabSz="1038977" latinLnBrk="0">
              <a:spcAft>
                <a:spcPts val="800"/>
              </a:spcAft>
              <a:buFont typeface="Arial" panose="020B0604020202020204" pitchFamily="34" charset="0"/>
              <a:buChar char="•"/>
            </a:pPr>
            <a:endParaRPr lang="en-US" altLang="ko-KR" sz="100" dirty="0">
              <a:latin typeface="나눔스퀘어" panose="020B0600000101010101" pitchFamily="50" charset="-127"/>
              <a:ea typeface="나눔스퀘어" panose="020B0600000101010101" pitchFamily="50" charset="-127"/>
            </a:endParaRPr>
          </a:p>
          <a:p>
            <a:pPr defTabSz="1038977" latinLnBrk="0">
              <a:spcAft>
                <a:spcPts val="800"/>
              </a:spcAft>
            </a:pPr>
            <a:endParaRPr lang="en-US" altLang="ko-KR" sz="1400" dirty="0">
              <a:latin typeface="나눔스퀘어" panose="020B0600000101010101" pitchFamily="50" charset="-127"/>
              <a:ea typeface="나눔스퀘어" panose="020B0600000101010101" pitchFamily="50" charset="-127"/>
            </a:endParaRPr>
          </a:p>
          <a:p>
            <a:pPr defTabSz="1038977" latinLnBrk="0">
              <a:spcAft>
                <a:spcPts val="800"/>
              </a:spcAft>
            </a:pPr>
            <a:endParaRPr lang="en-US" altLang="ko-KR" sz="1400" dirty="0">
              <a:latin typeface="나눔스퀘어" panose="020B0600000101010101" pitchFamily="50" charset="-127"/>
              <a:ea typeface="나눔스퀘어" panose="020B0600000101010101" pitchFamily="50" charset="-127"/>
            </a:endParaRPr>
          </a:p>
          <a:p>
            <a:pPr defTabSz="1038977" latinLnBrk="0">
              <a:spcAft>
                <a:spcPts val="800"/>
              </a:spcAft>
            </a:pPr>
            <a:endParaRPr lang="en-US" altLang="ko-KR" sz="2200" dirty="0">
              <a:latin typeface="나눔스퀘어" panose="020B0600000101010101" pitchFamily="50" charset="-127"/>
              <a:ea typeface="나눔스퀘어" panose="020B0600000101010101" pitchFamily="50" charset="-127"/>
            </a:endParaRPr>
          </a:p>
          <a:p>
            <a:pPr defTabSz="1038977" latinLnBrk="0">
              <a:spcAft>
                <a:spcPts val="800"/>
              </a:spcAft>
            </a:pPr>
            <a:endParaRPr lang="en-US" altLang="ko-KR" sz="100" dirty="0">
              <a:latin typeface="나눔스퀘어" panose="020B0600000101010101" pitchFamily="50" charset="-127"/>
              <a:ea typeface="나눔스퀘어" panose="020B0600000101010101" pitchFamily="50" charset="-127"/>
            </a:endParaRPr>
          </a:p>
          <a:p>
            <a:pPr defTabSz="1038977" latinLnBrk="0">
              <a:spcAft>
                <a:spcPts val="400"/>
              </a:spcAft>
            </a:pPr>
            <a:endParaRPr lang="en-US" altLang="ko-KR" sz="1400" spc="-70" dirty="0">
              <a:latin typeface="나눔스퀘어" panose="020B0600000101010101" pitchFamily="50" charset="-127"/>
              <a:ea typeface="나눔스퀘어" panose="020B0600000101010101" pitchFamily="50" charset="-127"/>
            </a:endParaRPr>
          </a:p>
        </p:txBody>
      </p:sp>
      <p:graphicFrame>
        <p:nvGraphicFramePr>
          <p:cNvPr id="84" name="차트 83"/>
          <p:cNvGraphicFramePr>
            <a:graphicFrameLocks/>
          </p:cNvGraphicFramePr>
          <p:nvPr>
            <p:extLst/>
          </p:nvPr>
        </p:nvGraphicFramePr>
        <p:xfrm>
          <a:off x="3044930" y="5069725"/>
          <a:ext cx="2901822" cy="1429012"/>
        </p:xfrm>
        <a:graphic>
          <a:graphicData uri="http://schemas.openxmlformats.org/drawingml/2006/chart">
            <c:chart xmlns:c="http://schemas.openxmlformats.org/drawingml/2006/chart" xmlns:r="http://schemas.openxmlformats.org/officeDocument/2006/relationships" r:id="rId3"/>
          </a:graphicData>
        </a:graphic>
      </p:graphicFrame>
      <p:sp>
        <p:nvSpPr>
          <p:cNvPr id="3" name="텍스트 개체 틀 2"/>
          <p:cNvSpPr>
            <a:spLocks noGrp="1"/>
          </p:cNvSpPr>
          <p:nvPr>
            <p:ph type="body" sz="quarter" idx="10"/>
          </p:nvPr>
        </p:nvSpPr>
        <p:spPr/>
        <p:txBody>
          <a:bodyPr/>
          <a:lstStyle/>
          <a:p>
            <a:pPr latinLnBrk="0"/>
            <a:r>
              <a:rPr lang="en-US" altLang="ko-KR" dirty="0" smtClean="0"/>
              <a:t>The ceasefire MOU and easing supply strain stabilize oil prices, with the jet fuel surge normalizing early</a:t>
            </a:r>
          </a:p>
          <a:p>
            <a:pPr latinLnBrk="0"/>
            <a:r>
              <a:rPr lang="en-US" altLang="ko-KR" dirty="0" smtClean="0"/>
              <a:t>Fuel-driven upward rate pressure gradually easing, with FSC expected to fall to pre-war levels within 2H</a:t>
            </a:r>
            <a:endParaRPr lang="en-US" altLang="ko-KR" dirty="0"/>
          </a:p>
        </p:txBody>
      </p:sp>
      <p:grpSp>
        <p:nvGrpSpPr>
          <p:cNvPr id="35" name="组合 2"/>
          <p:cNvGrpSpPr/>
          <p:nvPr/>
        </p:nvGrpSpPr>
        <p:grpSpPr>
          <a:xfrm>
            <a:off x="503790" y="2117975"/>
            <a:ext cx="11167279" cy="374400"/>
            <a:chOff x="386534" y="1461600"/>
            <a:chExt cx="8375459" cy="280800"/>
          </a:xfrm>
        </p:grpSpPr>
        <p:grpSp>
          <p:nvGrpSpPr>
            <p:cNvPr id="36" name="그룹 46"/>
            <p:cNvGrpSpPr/>
            <p:nvPr/>
          </p:nvGrpSpPr>
          <p:grpSpPr>
            <a:xfrm>
              <a:off x="386535" y="1461600"/>
              <a:ext cx="8375458" cy="280800"/>
              <a:chOff x="386535" y="1383614"/>
              <a:chExt cx="8375458" cy="280800"/>
            </a:xfrm>
          </p:grpSpPr>
          <p:grpSp>
            <p:nvGrpSpPr>
              <p:cNvPr id="43" name="그룹 48"/>
              <p:cNvGrpSpPr/>
              <p:nvPr/>
            </p:nvGrpSpPr>
            <p:grpSpPr>
              <a:xfrm>
                <a:off x="386535" y="1383614"/>
                <a:ext cx="4077119" cy="280800"/>
                <a:chOff x="515380" y="1844820"/>
                <a:chExt cx="5436158" cy="374400"/>
              </a:xfrm>
            </p:grpSpPr>
            <p:sp>
              <p:nvSpPr>
                <p:cNvPr id="47" name="Rectangle 215"/>
                <p:cNvSpPr>
                  <a:spLocks noChangeArrowheads="1"/>
                </p:cNvSpPr>
                <p:nvPr/>
              </p:nvSpPr>
              <p:spPr bwMode="auto">
                <a:xfrm>
                  <a:off x="515380" y="1844820"/>
                  <a:ext cx="5436158"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48" name="TextBox 116"/>
                <p:cNvSpPr txBox="1">
                  <a:spLocks noChangeArrowheads="1"/>
                </p:cNvSpPr>
                <p:nvPr/>
              </p:nvSpPr>
              <p:spPr bwMode="auto">
                <a:xfrm>
                  <a:off x="673467" y="1915641"/>
                  <a:ext cx="511998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lvl="0" algn="ctr" defTabSz="1038977" eaLnBrk="1" hangingPunct="1"/>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Jet Fuel on Downtrend as Oil Price Risk Eases</a:t>
                  </a:r>
                </a:p>
              </p:txBody>
            </p:sp>
          </p:grpSp>
          <p:grpSp>
            <p:nvGrpSpPr>
              <p:cNvPr id="44" name="그룹 52"/>
              <p:cNvGrpSpPr/>
              <p:nvPr/>
            </p:nvGrpSpPr>
            <p:grpSpPr>
              <a:xfrm>
                <a:off x="4684993" y="1383614"/>
                <a:ext cx="4077000" cy="280800"/>
                <a:chOff x="6246657" y="1854463"/>
                <a:chExt cx="5436000" cy="374400"/>
              </a:xfrm>
            </p:grpSpPr>
            <p:sp>
              <p:nvSpPr>
                <p:cNvPr id="45" name="Rectangle 215"/>
                <p:cNvSpPr>
                  <a:spLocks noChangeArrowheads="1"/>
                </p:cNvSpPr>
                <p:nvPr/>
              </p:nvSpPr>
              <p:spPr bwMode="auto">
                <a:xfrm>
                  <a:off x="6246657" y="1854463"/>
                  <a:ext cx="5436000"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46" name="TextBox 116"/>
                <p:cNvSpPr txBox="1">
                  <a:spLocks noChangeArrowheads="1"/>
                </p:cNvSpPr>
                <p:nvPr/>
              </p:nvSpPr>
              <p:spPr bwMode="auto">
                <a:xfrm>
                  <a:off x="6404665" y="1907501"/>
                  <a:ext cx="511998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algn="ctr" defTabSz="1038977" eaLnBrk="1" hangingPunct="1"/>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FSC to Decline in 2H, Easing Rate Pressure</a:t>
                  </a:r>
                  <a:endParaRPr kumimoji="0" lang="ko-KR" altLang="en-US" sz="1600" dirty="0" smtClean="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endParaRPr>
                </a:p>
              </p:txBody>
            </p:sp>
          </p:grpSp>
        </p:grpSp>
        <p:grpSp>
          <p:nvGrpSpPr>
            <p:cNvPr id="37" name="그룹 62"/>
            <p:cNvGrpSpPr/>
            <p:nvPr/>
          </p:nvGrpSpPr>
          <p:grpSpPr>
            <a:xfrm>
              <a:off x="386534" y="1461600"/>
              <a:ext cx="585066" cy="276223"/>
              <a:chOff x="-1523239" y="1275702"/>
              <a:chExt cx="564992" cy="357603"/>
            </a:xfrm>
          </p:grpSpPr>
          <p:sp>
            <p:nvSpPr>
              <p:cNvPr id="41" name="자유형 63"/>
              <p:cNvSpPr/>
              <p:nvPr/>
            </p:nvSpPr>
            <p:spPr>
              <a:xfrm>
                <a:off x="-1523239" y="1275702"/>
                <a:ext cx="564991" cy="357603"/>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42" name="자유형 64"/>
              <p:cNvSpPr/>
              <p:nvPr/>
            </p:nvSpPr>
            <p:spPr>
              <a:xfrm>
                <a:off x="-1523239" y="1275702"/>
                <a:ext cx="564992" cy="357603"/>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grpSp>
        <p:grpSp>
          <p:nvGrpSpPr>
            <p:cNvPr id="38" name="그룹 62"/>
            <p:cNvGrpSpPr/>
            <p:nvPr/>
          </p:nvGrpSpPr>
          <p:grpSpPr>
            <a:xfrm>
              <a:off x="4686893" y="1462337"/>
              <a:ext cx="585066" cy="276223"/>
              <a:chOff x="-1523239" y="1275702"/>
              <a:chExt cx="564992" cy="357603"/>
            </a:xfrm>
          </p:grpSpPr>
          <p:sp>
            <p:nvSpPr>
              <p:cNvPr id="39" name="자유형 63"/>
              <p:cNvSpPr/>
              <p:nvPr/>
            </p:nvSpPr>
            <p:spPr>
              <a:xfrm>
                <a:off x="-1523239" y="1275702"/>
                <a:ext cx="564991" cy="357603"/>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40" name="자유형 64"/>
              <p:cNvSpPr/>
              <p:nvPr/>
            </p:nvSpPr>
            <p:spPr>
              <a:xfrm>
                <a:off x="-1523239" y="1275702"/>
                <a:ext cx="564992" cy="357603"/>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grpSp>
      </p:grpSp>
      <p:pic>
        <p:nvPicPr>
          <p:cNvPr id="50" name="Picture 200" descr="악세사리"/>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6200000">
            <a:off x="4339689" y="4546810"/>
            <a:ext cx="3535193" cy="91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3" name="슬라이드 번호 개체 틀 5">
            <a:extLst>
              <a:ext uri="{FF2B5EF4-FFF2-40B4-BE49-F238E27FC236}">
                <a16:creationId xmlns:a16="http://schemas.microsoft.com/office/drawing/2014/main" id="{FAC1EB1B-E602-0247-88AB-A89AF71255A6}"/>
              </a:ext>
            </a:extLst>
          </p:cNvPr>
          <p:cNvSpPr txBox="1">
            <a:spLocks/>
          </p:cNvSpPr>
          <p:nvPr/>
        </p:nvSpPr>
        <p:spPr>
          <a:xfrm>
            <a:off x="5419725" y="6426152"/>
            <a:ext cx="788332" cy="326455"/>
          </a:xfrm>
          <a:prstGeom prst="rect">
            <a:avLst/>
          </a:prstGeom>
        </p:spPr>
        <p:txBody>
          <a:bodyPr lIns="162531" tIns="81264" rIns="162531" bIns="81264" anchor="ctr"/>
          <a:lstStyle>
            <a:lvl1pPr algn="r">
              <a:defRPr sz="1200">
                <a:solidFill>
                  <a:schemeClr val="tx1">
                    <a:tint val="75000"/>
                  </a:schemeClr>
                </a:solidFill>
              </a:defRPr>
            </a:lvl1pPr>
          </a:lstStyle>
          <a:p>
            <a:pPr defTabSz="1219048">
              <a:defRPr/>
            </a:pPr>
            <a:r>
              <a:rPr lang="en-US" altLang="ko-KR" dirty="0" smtClean="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rPr>
              <a:t>18</a:t>
            </a:r>
            <a:endParaRPr lang="ko-KR" altLang="en-US"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endParaRPr>
          </a:p>
        </p:txBody>
      </p:sp>
      <p:graphicFrame>
        <p:nvGraphicFramePr>
          <p:cNvPr id="79" name="차트 78"/>
          <p:cNvGraphicFramePr>
            <a:graphicFrameLocks/>
          </p:cNvGraphicFramePr>
          <p:nvPr>
            <p:extLst/>
          </p:nvPr>
        </p:nvGraphicFramePr>
        <p:xfrm>
          <a:off x="9207527" y="4569528"/>
          <a:ext cx="2549027" cy="2001875"/>
        </p:xfrm>
        <a:graphic>
          <a:graphicData uri="http://schemas.openxmlformats.org/drawingml/2006/chart">
            <c:chart xmlns:c="http://schemas.openxmlformats.org/drawingml/2006/chart" xmlns:r="http://schemas.openxmlformats.org/officeDocument/2006/relationships" r:id="rId5"/>
          </a:graphicData>
        </a:graphic>
      </p:graphicFrame>
      <p:sp>
        <p:nvSpPr>
          <p:cNvPr id="10" name="직사각형 9"/>
          <p:cNvSpPr/>
          <p:nvPr/>
        </p:nvSpPr>
        <p:spPr>
          <a:xfrm>
            <a:off x="11004147" y="5370263"/>
            <a:ext cx="360000" cy="710540"/>
          </a:xfrm>
          <a:prstGeom prst="rect">
            <a:avLst/>
          </a:prstGeom>
          <a:solidFill>
            <a:srgbClr val="0000FF">
              <a:alpha val="6000"/>
            </a:srgbClr>
          </a:solidFill>
          <a:ln>
            <a:noFill/>
          </a:ln>
          <a:effectLst/>
        </p:spPr>
        <p:txBody>
          <a:bodyPr vert="horz" wrap="square" lIns="91440" tIns="45720" rIns="91440" bIns="45720" numCol="1" rtlCol="0" anchor="ctr" anchorCtr="0" compatLnSpc="1">
            <a:prstTxWarp prst="textNoShape">
              <a:avLst/>
            </a:prstTxWarp>
          </a:bodyPr>
          <a:lstStyle/>
          <a:p>
            <a:pPr algn="ctr"/>
            <a:endParaRPr lang="ko-KR" altLang="en-US" sz="2000" b="1" smtClean="0">
              <a:solidFill>
                <a:srgbClr val="0000FF"/>
              </a:solidFill>
            </a:endParaRPr>
          </a:p>
        </p:txBody>
      </p:sp>
      <p:sp>
        <p:nvSpPr>
          <p:cNvPr id="80" name="TextBox 79"/>
          <p:cNvSpPr txBox="1"/>
          <p:nvPr/>
        </p:nvSpPr>
        <p:spPr>
          <a:xfrm>
            <a:off x="11026117" y="5234405"/>
            <a:ext cx="504090" cy="138499"/>
          </a:xfrm>
          <a:prstGeom prst="rect">
            <a:avLst/>
          </a:prstGeom>
          <a:noFill/>
        </p:spPr>
        <p:txBody>
          <a:bodyPr wrap="square" lIns="0" tIns="0" rIns="0" bIns="0" rtlCol="0">
            <a:spAutoFit/>
          </a:bodyPr>
          <a:lstStyle>
            <a:defPPr>
              <a:defRPr lang="ko-KR"/>
            </a:defPPr>
            <a:lvl1pPr>
              <a:defRPr sz="900" spc="-100">
                <a:solidFill>
                  <a:srgbClr val="0000FF"/>
                </a:solidFill>
                <a:latin typeface="나눔스퀘어" panose="020B0600000101010101" pitchFamily="50" charset="-127"/>
                <a:ea typeface="나눔스퀘어" panose="020B0600000101010101" pitchFamily="50" charset="-127"/>
              </a:defRPr>
            </a:lvl1pPr>
          </a:lstStyle>
          <a:p>
            <a:r>
              <a:rPr lang="en-US" altLang="ko-KR" dirty="0" smtClean="0"/>
              <a:t>*Forecast</a:t>
            </a:r>
            <a:endParaRPr lang="ko-KR" altLang="en-US" dirty="0"/>
          </a:p>
        </p:txBody>
      </p:sp>
      <p:sp>
        <p:nvSpPr>
          <p:cNvPr id="75" name="TextBox 74"/>
          <p:cNvSpPr txBox="1"/>
          <p:nvPr/>
        </p:nvSpPr>
        <p:spPr>
          <a:xfrm>
            <a:off x="6358273" y="4898054"/>
            <a:ext cx="3055966" cy="169277"/>
          </a:xfrm>
          <a:prstGeom prst="rect">
            <a:avLst/>
          </a:prstGeom>
          <a:noFill/>
        </p:spPr>
        <p:txBody>
          <a:bodyPr wrap="square" lIns="0" tIns="0" rIns="0" bIns="0" rtlCol="0">
            <a:spAutoFit/>
          </a:bodyPr>
          <a:lstStyle/>
          <a:p>
            <a:pPr algn="ctr"/>
            <a:r>
              <a:rPr lang="en-US" altLang="ko-KR" sz="1100" b="1" spc="-100" dirty="0" smtClean="0">
                <a:solidFill>
                  <a:srgbClr val="595959"/>
                </a:solidFill>
                <a:latin typeface="나눔스퀘어" panose="020B0600000101010101" pitchFamily="50" charset="-127"/>
                <a:ea typeface="나눔스퀘어" panose="020B0600000101010101" pitchFamily="50" charset="-127"/>
              </a:rPr>
              <a:t>[Brent-Jet Fuel</a:t>
            </a:r>
            <a:r>
              <a:rPr lang="en-US" altLang="ko-KR" sz="1100" b="1" spc="-100" dirty="0">
                <a:solidFill>
                  <a:srgbClr val="595959"/>
                </a:solidFill>
                <a:latin typeface="나눔스퀘어" panose="020B0600000101010101" pitchFamily="50" charset="-127"/>
                <a:ea typeface="나눔스퀘어" panose="020B0600000101010101" pitchFamily="50" charset="-127"/>
              </a:rPr>
              <a:t> </a:t>
            </a:r>
            <a:r>
              <a:rPr lang="en-US" altLang="ko-KR" sz="1100" b="1" spc="-100" dirty="0" smtClean="0">
                <a:solidFill>
                  <a:srgbClr val="595959"/>
                </a:solidFill>
                <a:latin typeface="나눔스퀘어" panose="020B0600000101010101" pitchFamily="50" charset="-127"/>
                <a:ea typeface="나눔스퀘어" panose="020B0600000101010101" pitchFamily="50" charset="-127"/>
              </a:rPr>
              <a:t> Change Outlook]</a:t>
            </a:r>
            <a:endParaRPr lang="ko-KR" altLang="en-US" sz="1100" b="1" dirty="0">
              <a:solidFill>
                <a:srgbClr val="595959"/>
              </a:solidFill>
              <a:latin typeface="나눔스퀘어" panose="020B0600000101010101" pitchFamily="50" charset="-127"/>
              <a:ea typeface="나눔스퀘어" panose="020B0600000101010101" pitchFamily="50" charset="-127"/>
            </a:endParaRPr>
          </a:p>
        </p:txBody>
      </p:sp>
      <p:sp>
        <p:nvSpPr>
          <p:cNvPr id="82" name="TextBox 81">
            <a:extLst>
              <a:ext uri="{FF2B5EF4-FFF2-40B4-BE49-F238E27FC236}">
                <a16:creationId xmlns:a16="http://schemas.microsoft.com/office/drawing/2014/main" id="{F419EC2A-DA12-DE70-177E-D060836EC73B}"/>
              </a:ext>
            </a:extLst>
          </p:cNvPr>
          <p:cNvSpPr txBox="1"/>
          <p:nvPr/>
        </p:nvSpPr>
        <p:spPr>
          <a:xfrm>
            <a:off x="6806222" y="5109105"/>
            <a:ext cx="2551904" cy="138499"/>
          </a:xfrm>
          <a:prstGeom prst="rect">
            <a:avLst/>
          </a:prstGeom>
          <a:noFill/>
        </p:spPr>
        <p:txBody>
          <a:bodyPr wrap="square" lIns="0" tIns="0" rIns="0" bIns="0" rtlCol="0" anchor="ctr">
            <a:spAutoFit/>
          </a:bodyPr>
          <a:lstStyle/>
          <a:p>
            <a:pPr algn="r" latinLnBrk="0"/>
            <a:r>
              <a:rPr lang="en-US" altLang="ko-KR"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 Brent</a:t>
            </a:r>
            <a:r>
              <a:rPr lang="ko-KR" altLang="en-US"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a:t>
            </a:r>
            <a:r>
              <a:rPr lang="en-US" altLang="ko-KR"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Outlook</a:t>
            </a:r>
            <a:r>
              <a:rPr lang="ko-KR" altLang="en-US"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a:t>
            </a:r>
            <a:r>
              <a:rPr lang="en-US" altLang="ko-KR"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Citi, Jet Fuel : IATA</a:t>
            </a:r>
            <a:endParaRPr lang="ko-KR" altLang="en-US" sz="90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endParaRPr>
          </a:p>
        </p:txBody>
      </p:sp>
      <p:pic>
        <p:nvPicPr>
          <p:cNvPr id="119" name="그림 118" descr="채점"/>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479972" y="5675906"/>
            <a:ext cx="467019" cy="249156"/>
          </a:xfrm>
          <a:prstGeom prst="rect">
            <a:avLst/>
          </a:prstGeom>
          <a:noFill/>
          <a:ln>
            <a:noFill/>
          </a:ln>
        </p:spPr>
      </p:pic>
      <p:graphicFrame>
        <p:nvGraphicFramePr>
          <p:cNvPr id="4" name="표 3"/>
          <p:cNvGraphicFramePr>
            <a:graphicFrameLocks noGrp="1"/>
          </p:cNvGraphicFramePr>
          <p:nvPr>
            <p:extLst/>
          </p:nvPr>
        </p:nvGraphicFramePr>
        <p:xfrm>
          <a:off x="6391171" y="5275174"/>
          <a:ext cx="2962474" cy="777240"/>
        </p:xfrm>
        <a:graphic>
          <a:graphicData uri="http://schemas.openxmlformats.org/drawingml/2006/table">
            <a:tbl>
              <a:tblPr>
                <a:tableStyleId>{5C22544A-7EE6-4342-B048-85BDC9FD1C3A}</a:tableStyleId>
              </a:tblPr>
              <a:tblGrid>
                <a:gridCol w="436701">
                  <a:extLst>
                    <a:ext uri="{9D8B030D-6E8A-4147-A177-3AD203B41FA5}">
                      <a16:colId xmlns:a16="http://schemas.microsoft.com/office/drawing/2014/main" val="345439358"/>
                    </a:ext>
                  </a:extLst>
                </a:gridCol>
                <a:gridCol w="388341">
                  <a:extLst>
                    <a:ext uri="{9D8B030D-6E8A-4147-A177-3AD203B41FA5}">
                      <a16:colId xmlns:a16="http://schemas.microsoft.com/office/drawing/2014/main" val="1417676705"/>
                    </a:ext>
                  </a:extLst>
                </a:gridCol>
                <a:gridCol w="388341">
                  <a:extLst>
                    <a:ext uri="{9D8B030D-6E8A-4147-A177-3AD203B41FA5}">
                      <a16:colId xmlns:a16="http://schemas.microsoft.com/office/drawing/2014/main" val="3147811860"/>
                    </a:ext>
                  </a:extLst>
                </a:gridCol>
                <a:gridCol w="455880">
                  <a:extLst>
                    <a:ext uri="{9D8B030D-6E8A-4147-A177-3AD203B41FA5}">
                      <a16:colId xmlns:a16="http://schemas.microsoft.com/office/drawing/2014/main" val="3633858400"/>
                    </a:ext>
                  </a:extLst>
                </a:gridCol>
                <a:gridCol w="432105">
                  <a:extLst>
                    <a:ext uri="{9D8B030D-6E8A-4147-A177-3AD203B41FA5}">
                      <a16:colId xmlns:a16="http://schemas.microsoft.com/office/drawing/2014/main" val="6353090"/>
                    </a:ext>
                  </a:extLst>
                </a:gridCol>
                <a:gridCol w="405226">
                  <a:extLst>
                    <a:ext uri="{9D8B030D-6E8A-4147-A177-3AD203B41FA5}">
                      <a16:colId xmlns:a16="http://schemas.microsoft.com/office/drawing/2014/main" val="2259872147"/>
                    </a:ext>
                  </a:extLst>
                </a:gridCol>
                <a:gridCol w="455880">
                  <a:extLst>
                    <a:ext uri="{9D8B030D-6E8A-4147-A177-3AD203B41FA5}">
                      <a16:colId xmlns:a16="http://schemas.microsoft.com/office/drawing/2014/main" val="3162682240"/>
                    </a:ext>
                  </a:extLst>
                </a:gridCol>
              </a:tblGrid>
              <a:tr h="209550">
                <a:tc>
                  <a:txBody>
                    <a:bodyPr/>
                    <a:lstStyle/>
                    <a:p>
                      <a:pPr algn="ctr" rtl="0" fontAlgn="ctr"/>
                      <a:r>
                        <a:rPr lang="en-US" altLang="ko-KR" sz="900" b="1" i="0" u="none" strike="noStrike" dirty="0" smtClean="0">
                          <a:solidFill>
                            <a:schemeClr val="dk1"/>
                          </a:solidFill>
                          <a:effectLst/>
                          <a:latin typeface="나눔스퀘어" panose="020B0600000101010101" pitchFamily="50" charset="-127"/>
                          <a:ea typeface="나눔스퀘어" panose="020B0600000101010101" pitchFamily="50" charset="-127"/>
                        </a:rPr>
                        <a:t>Basis</a:t>
                      </a:r>
                      <a:endParaRPr lang="ko-KR" altLang="en-US"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US" sz="900" b="1" i="0" u="none" strike="noStrike" dirty="0" smtClean="0">
                          <a:solidFill>
                            <a:srgbClr val="000000"/>
                          </a:solidFill>
                          <a:effectLst/>
                          <a:latin typeface="나눔스퀘어" panose="020B0600000101010101" pitchFamily="50" charset="-127"/>
                          <a:ea typeface="나눔스퀘어" panose="020B0600000101010101" pitchFamily="50" charset="-127"/>
                        </a:rPr>
                        <a:t>’26.2</a:t>
                      </a:r>
                      <a:endParaRPr lang="en-US"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US" sz="900" b="1" u="none" strike="noStrike" dirty="0">
                          <a:effectLst/>
                          <a:latin typeface="나눔스퀘어" panose="020B0600000101010101" pitchFamily="50" charset="-127"/>
                          <a:ea typeface="나눔스퀘어" panose="020B0600000101010101" pitchFamily="50" charset="-127"/>
                        </a:rPr>
                        <a:t>2Q</a:t>
                      </a:r>
                      <a:endParaRPr lang="en-US"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US" sz="900" b="1" u="none" strike="noStrike" dirty="0">
                          <a:effectLst/>
                          <a:latin typeface="나눔스퀘어" panose="020B0600000101010101" pitchFamily="50" charset="-127"/>
                          <a:ea typeface="나눔스퀘어" panose="020B0600000101010101" pitchFamily="50" charset="-127"/>
                        </a:rPr>
                        <a:t>3Q(f)</a:t>
                      </a:r>
                      <a:endParaRPr lang="en-US"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US" sz="900" b="1" u="none" strike="noStrike" dirty="0">
                          <a:effectLst/>
                          <a:latin typeface="나눔스퀘어" panose="020B0600000101010101" pitchFamily="50" charset="-127"/>
                          <a:ea typeface="나눔스퀘어" panose="020B0600000101010101" pitchFamily="50" charset="-127"/>
                        </a:rPr>
                        <a:t>3Q </a:t>
                      </a:r>
                      <a:r>
                        <a:rPr lang="en-US" sz="900" b="1" u="none" strike="noStrike" dirty="0" err="1">
                          <a:effectLst/>
                          <a:latin typeface="나눔스퀘어" panose="020B0600000101010101" pitchFamily="50" charset="-127"/>
                          <a:ea typeface="나눔스퀘어" panose="020B0600000101010101" pitchFamily="50" charset="-127"/>
                        </a:rPr>
                        <a:t>QoQ</a:t>
                      </a:r>
                      <a:endParaRPr lang="en-US"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US" sz="900" b="1" u="none" strike="noStrike" dirty="0">
                          <a:effectLst/>
                          <a:latin typeface="나눔스퀘어" panose="020B0600000101010101" pitchFamily="50" charset="-127"/>
                          <a:ea typeface="나눔스퀘어" panose="020B0600000101010101" pitchFamily="50" charset="-127"/>
                        </a:rPr>
                        <a:t>4Q(f)</a:t>
                      </a:r>
                      <a:endParaRPr lang="en-US"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US" sz="900" b="1" u="none" strike="noStrike" dirty="0">
                          <a:effectLst/>
                          <a:latin typeface="나눔스퀘어" panose="020B0600000101010101" pitchFamily="50" charset="-127"/>
                          <a:ea typeface="나눔스퀘어" panose="020B0600000101010101" pitchFamily="50" charset="-127"/>
                        </a:rPr>
                        <a:t>4Q </a:t>
                      </a:r>
                      <a:r>
                        <a:rPr lang="en-US" sz="900" b="1" u="none" strike="noStrike" dirty="0" err="1">
                          <a:effectLst/>
                          <a:latin typeface="나눔스퀘어" panose="020B0600000101010101" pitchFamily="50" charset="-127"/>
                          <a:ea typeface="나눔스퀘어" panose="020B0600000101010101" pitchFamily="50" charset="-127"/>
                        </a:rPr>
                        <a:t>QoQ</a:t>
                      </a:r>
                      <a:endParaRPr lang="en-US"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88804364"/>
                  </a:ext>
                </a:extLst>
              </a:tr>
              <a:tr h="209550">
                <a:tc>
                  <a:txBody>
                    <a:bodyPr/>
                    <a:lstStyle/>
                    <a:p>
                      <a:pPr algn="ctr" rtl="0" fontAlgn="ctr"/>
                      <a:r>
                        <a:rPr lang="en-US" sz="900" u="none" strike="noStrike" dirty="0">
                          <a:effectLst/>
                          <a:latin typeface="나눔스퀘어" panose="020B0600000101010101" pitchFamily="50" charset="-127"/>
                          <a:ea typeface="나눔스퀘어" panose="020B0600000101010101" pitchFamily="50" charset="-127"/>
                        </a:rPr>
                        <a:t>Brent</a:t>
                      </a:r>
                      <a:endParaRPr lang="en-US"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ko-KR" sz="900" b="0" i="0" u="none" strike="noStrike" dirty="0" smtClean="0">
                          <a:solidFill>
                            <a:srgbClr val="000000"/>
                          </a:solidFill>
                          <a:effectLst/>
                          <a:latin typeface="나눔스퀘어" panose="020B0600000101010101" pitchFamily="50" charset="-127"/>
                          <a:ea typeface="나눔스퀘어" panose="020B0600000101010101" pitchFamily="50" charset="-127"/>
                        </a:rPr>
                        <a:t>$69</a:t>
                      </a:r>
                      <a:endParaRPr lang="en-US" altLang="ko-KR" sz="9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ko-KR" sz="900" u="none" strike="noStrike" dirty="0">
                          <a:effectLst/>
                          <a:latin typeface="나눔스퀘어" panose="020B0600000101010101" pitchFamily="50" charset="-127"/>
                          <a:ea typeface="나눔스퀘어" panose="020B0600000101010101" pitchFamily="50" charset="-127"/>
                        </a:rPr>
                        <a:t>$97 </a:t>
                      </a:r>
                      <a:endParaRPr lang="en-US" altLang="ko-KR" sz="9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ko-KR" sz="900" u="none" strike="noStrike" dirty="0">
                          <a:effectLst/>
                          <a:latin typeface="나눔스퀘어" panose="020B0600000101010101" pitchFamily="50" charset="-127"/>
                          <a:ea typeface="나눔스퀘어" panose="020B0600000101010101" pitchFamily="50" charset="-127"/>
                        </a:rPr>
                        <a:t>$75 </a:t>
                      </a:r>
                      <a:endParaRPr lang="en-US" altLang="ko-KR" sz="9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US" altLang="ko-KR" sz="900" u="none" strike="noStrike" dirty="0">
                          <a:effectLst/>
                          <a:latin typeface="나눔스퀘어" panose="020B0600000101010101" pitchFamily="50" charset="-127"/>
                          <a:ea typeface="나눔스퀘어" panose="020B0600000101010101" pitchFamily="50" charset="-127"/>
                        </a:rPr>
                        <a:t>-23%</a:t>
                      </a:r>
                      <a:endParaRPr lang="en-US" altLang="ko-KR"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ko-KR" sz="900" u="none" strike="noStrike" dirty="0">
                          <a:effectLst/>
                          <a:latin typeface="나눔스퀘어" panose="020B0600000101010101" pitchFamily="50" charset="-127"/>
                          <a:ea typeface="나눔스퀘어" panose="020B0600000101010101" pitchFamily="50" charset="-127"/>
                        </a:rPr>
                        <a:t>$70 </a:t>
                      </a:r>
                      <a:endParaRPr lang="en-US" altLang="ko-KR" sz="9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ko-KR" sz="900" u="none" strike="noStrike" dirty="0">
                          <a:effectLst/>
                          <a:latin typeface="나눔스퀘어" panose="020B0600000101010101" pitchFamily="50" charset="-127"/>
                          <a:ea typeface="나눔스퀘어" panose="020B0600000101010101" pitchFamily="50" charset="-127"/>
                        </a:rPr>
                        <a:t>-7%</a:t>
                      </a:r>
                      <a:endParaRPr lang="en-US" altLang="ko-KR" sz="9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641971984"/>
                  </a:ext>
                </a:extLst>
              </a:tr>
              <a:tr h="209550">
                <a:tc>
                  <a:txBody>
                    <a:bodyPr/>
                    <a:lstStyle/>
                    <a:p>
                      <a:pPr algn="ctr" rtl="0" fontAlgn="ctr"/>
                      <a:r>
                        <a:rPr lang="en-US" sz="900" u="none" strike="noStrike" dirty="0">
                          <a:effectLst/>
                          <a:latin typeface="나눔스퀘어" panose="020B0600000101010101" pitchFamily="50" charset="-127"/>
                          <a:ea typeface="나눔스퀘어" panose="020B0600000101010101" pitchFamily="50" charset="-127"/>
                        </a:rPr>
                        <a:t>Jet Fuel</a:t>
                      </a:r>
                      <a:endParaRPr lang="en-US"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ko-KR" sz="900" b="0" i="0" u="none" strike="noStrike" dirty="0" smtClean="0">
                          <a:solidFill>
                            <a:srgbClr val="000000"/>
                          </a:solidFill>
                          <a:effectLst/>
                          <a:latin typeface="나눔스퀘어" panose="020B0600000101010101" pitchFamily="50" charset="-127"/>
                          <a:ea typeface="나눔스퀘어" panose="020B0600000101010101" pitchFamily="50" charset="-127"/>
                        </a:rPr>
                        <a:t>$96</a:t>
                      </a:r>
                      <a:endParaRPr lang="en-US" altLang="ko-KR" sz="9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ko-KR" sz="900" u="none" strike="noStrike" dirty="0">
                          <a:effectLst/>
                          <a:latin typeface="나눔스퀘어" panose="020B0600000101010101" pitchFamily="50" charset="-127"/>
                          <a:ea typeface="나눔스퀘어" panose="020B0600000101010101" pitchFamily="50" charset="-127"/>
                        </a:rPr>
                        <a:t>$163 </a:t>
                      </a:r>
                      <a:endParaRPr lang="en-US" altLang="ko-KR" sz="900" b="0"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ko-KR" sz="900" b="1" u="none" strike="noStrike" dirty="0">
                          <a:effectLst/>
                          <a:latin typeface="나눔스퀘어" panose="020B0600000101010101" pitchFamily="50" charset="-127"/>
                          <a:ea typeface="나눔스퀘어" panose="020B0600000101010101" pitchFamily="50" charset="-127"/>
                        </a:rPr>
                        <a:t>$110 </a:t>
                      </a:r>
                      <a:endParaRPr lang="en-US" altLang="ko-KR"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US" altLang="ko-KR" sz="900" b="1" u="none" strike="noStrike" dirty="0">
                          <a:effectLst/>
                          <a:latin typeface="나눔스퀘어" panose="020B0600000101010101" pitchFamily="50" charset="-127"/>
                          <a:ea typeface="나눔스퀘어" panose="020B0600000101010101" pitchFamily="50" charset="-127"/>
                        </a:rPr>
                        <a:t>-33%</a:t>
                      </a:r>
                      <a:endParaRPr lang="en-US" altLang="ko-KR"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ko-KR" sz="900" b="1" u="none" strike="noStrike" dirty="0">
                          <a:effectLst/>
                          <a:latin typeface="나눔스퀘어" panose="020B0600000101010101" pitchFamily="50" charset="-127"/>
                          <a:ea typeface="나눔스퀘어" panose="020B0600000101010101" pitchFamily="50" charset="-127"/>
                        </a:rPr>
                        <a:t>$98 </a:t>
                      </a:r>
                      <a:endParaRPr lang="en-US" altLang="ko-KR"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ko-KR" sz="900" b="1" u="none" strike="noStrike" dirty="0">
                          <a:effectLst/>
                          <a:latin typeface="나눔스퀘어" panose="020B0600000101010101" pitchFamily="50" charset="-127"/>
                          <a:ea typeface="나눔스퀘어" panose="020B0600000101010101" pitchFamily="50" charset="-127"/>
                        </a:rPr>
                        <a:t>-11%</a:t>
                      </a:r>
                      <a:endParaRPr lang="en-US" altLang="ko-KR" sz="900" b="1" i="0" u="none" strike="noStrike" dirty="0">
                        <a:solidFill>
                          <a:srgbClr val="000000"/>
                        </a:solidFill>
                        <a:effectLst/>
                        <a:latin typeface="나눔스퀘어" panose="020B0600000101010101" pitchFamily="50" charset="-127"/>
                        <a:ea typeface="나눔스퀘어" panose="020B0600000101010101" pitchFamily="50" charset="-127"/>
                      </a:endParaRPr>
                    </a:p>
                  </a:txBody>
                  <a:tcPr marL="9525" marR="9525" marT="9525" marB="0" anchor="ctr">
                    <a:lnL w="3175"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81910891"/>
                  </a:ext>
                </a:extLst>
              </a:tr>
            </a:tbl>
          </a:graphicData>
        </a:graphic>
      </p:graphicFrame>
      <p:sp>
        <p:nvSpPr>
          <p:cNvPr id="86" name="TextBox 85">
            <a:extLst>
              <a:ext uri="{FF2B5EF4-FFF2-40B4-BE49-F238E27FC236}">
                <a16:creationId xmlns:a16="http://schemas.microsoft.com/office/drawing/2014/main" id="{F419EC2A-DA12-DE70-177E-D060836EC73B}"/>
              </a:ext>
            </a:extLst>
          </p:cNvPr>
          <p:cNvSpPr txBox="1"/>
          <p:nvPr/>
        </p:nvSpPr>
        <p:spPr>
          <a:xfrm>
            <a:off x="6387681" y="5095906"/>
            <a:ext cx="398480" cy="138499"/>
          </a:xfrm>
          <a:prstGeom prst="rect">
            <a:avLst/>
          </a:prstGeom>
          <a:noFill/>
        </p:spPr>
        <p:txBody>
          <a:bodyPr wrap="square" lIns="0" tIns="0" rIns="0" bIns="0" rtlCol="0" anchor="ctr">
            <a:spAutoFit/>
          </a:bodyPr>
          <a:lstStyle/>
          <a:p>
            <a:pPr latinLnBrk="0"/>
            <a:r>
              <a:rPr lang="en-US" altLang="ko-KR"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a:t>
            </a:r>
            <a:r>
              <a:rPr lang="en-US" altLang="ko-KR" sz="900" dirty="0" err="1"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bbl</a:t>
            </a:r>
            <a:r>
              <a:rPr lang="en-US" altLang="ko-KR"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a:t>
            </a:r>
          </a:p>
        </p:txBody>
      </p:sp>
      <p:graphicFrame>
        <p:nvGraphicFramePr>
          <p:cNvPr id="72" name="차트 71"/>
          <p:cNvGraphicFramePr/>
          <p:nvPr>
            <p:extLst>
              <p:ext uri="{D42A27DB-BD31-4B8C-83A1-F6EECF244321}">
                <p14:modId xmlns:p14="http://schemas.microsoft.com/office/powerpoint/2010/main" val="2832441235"/>
              </p:ext>
            </p:extLst>
          </p:nvPr>
        </p:nvGraphicFramePr>
        <p:xfrm>
          <a:off x="746680" y="5074933"/>
          <a:ext cx="2134090" cy="1251093"/>
        </p:xfrm>
        <a:graphic>
          <a:graphicData uri="http://schemas.openxmlformats.org/drawingml/2006/chart">
            <c:chart xmlns:c="http://schemas.openxmlformats.org/drawingml/2006/chart" xmlns:r="http://schemas.openxmlformats.org/officeDocument/2006/relationships" r:id="rId7"/>
          </a:graphicData>
        </a:graphic>
      </p:graphicFrame>
      <p:sp>
        <p:nvSpPr>
          <p:cNvPr id="88" name="TextBox 87"/>
          <p:cNvSpPr txBox="1"/>
          <p:nvPr/>
        </p:nvSpPr>
        <p:spPr>
          <a:xfrm>
            <a:off x="2448149" y="5379904"/>
            <a:ext cx="638447" cy="276999"/>
          </a:xfrm>
          <a:prstGeom prst="rect">
            <a:avLst/>
          </a:prstGeom>
          <a:noFill/>
        </p:spPr>
        <p:txBody>
          <a:bodyPr wrap="square" lIns="0" tIns="0" rIns="0" bIns="0" rtlCol="0">
            <a:spAutoFit/>
          </a:bodyPr>
          <a:lstStyle>
            <a:defPPr>
              <a:defRPr lang="ko-KR"/>
            </a:defPPr>
            <a:lvl1pPr>
              <a:defRPr sz="900" spc="-100">
                <a:solidFill>
                  <a:srgbClr val="0000FF"/>
                </a:solidFill>
                <a:latin typeface="나눔스퀘어" panose="020B0600000101010101" pitchFamily="50" charset="-127"/>
                <a:ea typeface="나눔스퀘어" panose="020B0600000101010101" pitchFamily="50" charset="-127"/>
              </a:defRPr>
            </a:lvl1pPr>
          </a:lstStyle>
          <a:p>
            <a:r>
              <a:rPr lang="en-US" altLang="ko-KR" spc="0" dirty="0" smtClean="0"/>
              <a:t>*Citi Forecast</a:t>
            </a:r>
            <a:endParaRPr lang="ko-KR" altLang="en-US" spc="0" dirty="0"/>
          </a:p>
        </p:txBody>
      </p:sp>
      <p:sp>
        <p:nvSpPr>
          <p:cNvPr id="90" name="TextBox 89"/>
          <p:cNvSpPr txBox="1"/>
          <p:nvPr/>
        </p:nvSpPr>
        <p:spPr>
          <a:xfrm>
            <a:off x="1319914" y="4402081"/>
            <a:ext cx="430643" cy="138499"/>
          </a:xfrm>
          <a:prstGeom prst="rect">
            <a:avLst/>
          </a:prstGeom>
          <a:noFill/>
        </p:spPr>
        <p:txBody>
          <a:bodyPr wrap="square" lIns="0" tIns="0" rIns="0" bIns="0" rtlCol="0">
            <a:spAutoFit/>
          </a:bodyPr>
          <a:lstStyle>
            <a:defPPr>
              <a:defRPr lang="ko-KR"/>
            </a:defPPr>
            <a:lvl1pPr>
              <a:defRPr sz="900" spc="-100">
                <a:solidFill>
                  <a:srgbClr val="0000FF"/>
                </a:solidFill>
                <a:latin typeface="나눔스퀘어" panose="020B0600000101010101" pitchFamily="50" charset="-127"/>
                <a:ea typeface="나눔스퀘어" panose="020B0600000101010101" pitchFamily="50" charset="-127"/>
              </a:defRPr>
            </a:lvl1pPr>
          </a:lstStyle>
          <a:p>
            <a:r>
              <a:rPr lang="en-US" altLang="ko-KR" dirty="0"/>
              <a:t>* </a:t>
            </a:r>
            <a:r>
              <a:rPr lang="en-US" altLang="ko-KR" dirty="0" smtClean="0"/>
              <a:t>$/</a:t>
            </a:r>
            <a:r>
              <a:rPr lang="en-US" altLang="ko-KR" dirty="0" err="1" smtClean="0"/>
              <a:t>bbl</a:t>
            </a:r>
            <a:endParaRPr lang="ko-KR" altLang="en-US" dirty="0"/>
          </a:p>
        </p:txBody>
      </p:sp>
      <p:sp>
        <p:nvSpPr>
          <p:cNvPr id="91" name="TextBox 90"/>
          <p:cNvSpPr txBox="1"/>
          <p:nvPr/>
        </p:nvSpPr>
        <p:spPr>
          <a:xfrm>
            <a:off x="2896216" y="3439884"/>
            <a:ext cx="651307" cy="138499"/>
          </a:xfrm>
          <a:prstGeom prst="rect">
            <a:avLst/>
          </a:prstGeom>
          <a:noFill/>
        </p:spPr>
        <p:txBody>
          <a:bodyPr wrap="square" lIns="0" tIns="0" rIns="0" bIns="0" rtlCol="0">
            <a:spAutoFit/>
          </a:bodyPr>
          <a:lstStyle>
            <a:defPPr>
              <a:defRPr lang="ko-KR"/>
            </a:defPPr>
            <a:lvl1pPr>
              <a:defRPr sz="900" spc="-100">
                <a:solidFill>
                  <a:srgbClr val="0000FF"/>
                </a:solidFill>
                <a:latin typeface="나눔스퀘어" panose="020B0600000101010101" pitchFamily="50" charset="-127"/>
                <a:ea typeface="나눔스퀘어" panose="020B0600000101010101" pitchFamily="50" charset="-127"/>
              </a:defRPr>
            </a:lvl1pPr>
          </a:lstStyle>
          <a:p>
            <a:r>
              <a:rPr lang="en-US" altLang="ko-KR" dirty="0"/>
              <a:t> </a:t>
            </a:r>
            <a:r>
              <a:rPr lang="en-US" altLang="ko-KR" dirty="0" smtClean="0"/>
              <a:t>* </a:t>
            </a:r>
            <a:r>
              <a:rPr lang="en-US" altLang="ko-KR" dirty="0" err="1" smtClean="0"/>
              <a:t>mbbl</a:t>
            </a:r>
            <a:r>
              <a:rPr lang="en-US" altLang="ko-KR" dirty="0" smtClean="0"/>
              <a:t>/d</a:t>
            </a:r>
            <a:endParaRPr lang="ko-KR" altLang="en-US" dirty="0"/>
          </a:p>
        </p:txBody>
      </p:sp>
      <p:cxnSp>
        <p:nvCxnSpPr>
          <p:cNvPr id="92" name="직선 화살표 연결선 91"/>
          <p:cNvCxnSpPr>
            <a:stCxn id="94" idx="3"/>
            <a:endCxn id="95" idx="1"/>
          </p:cNvCxnSpPr>
          <p:nvPr/>
        </p:nvCxnSpPr>
        <p:spPr>
          <a:xfrm>
            <a:off x="1470040" y="5569225"/>
            <a:ext cx="298187" cy="153199"/>
          </a:xfrm>
          <a:prstGeom prst="straightConnector1">
            <a:avLst/>
          </a:prstGeom>
          <a:ln w="127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3" name="직사각형 92"/>
          <p:cNvSpPr/>
          <p:nvPr/>
        </p:nvSpPr>
        <p:spPr>
          <a:xfrm>
            <a:off x="1535236" y="5443958"/>
            <a:ext cx="989323" cy="153888"/>
          </a:xfrm>
          <a:prstGeom prst="rect">
            <a:avLst/>
          </a:prstGeom>
        </p:spPr>
        <p:txBody>
          <a:bodyPr wrap="square" lIns="0" tIns="0" rIns="0" bIns="0" anchor="t" anchorCtr="0">
            <a:spAutoFit/>
          </a:bodyPr>
          <a:lstStyle/>
          <a:p>
            <a:pPr marR="0" lvl="0" algn="l" defTabSz="914400" rtl="0" eaLnBrk="1" fontAlgn="auto" latinLnBrk="1" hangingPunct="1">
              <a:lnSpc>
                <a:spcPct val="100000"/>
              </a:lnSpc>
              <a:spcBef>
                <a:spcPts val="0"/>
              </a:spcBef>
              <a:spcAft>
                <a:spcPts val="0"/>
              </a:spcAft>
              <a:buClrTx/>
              <a:buSzTx/>
              <a:tabLst/>
              <a:defRPr/>
            </a:pPr>
            <a:r>
              <a:rPr kumimoji="1" lang="en-US" altLang="ko-KR" sz="1000" b="1" spc="-80" dirty="0" smtClean="0">
                <a:ln>
                  <a:solidFill>
                    <a:srgbClr val="4F81BD">
                      <a:alpha val="0"/>
                    </a:srgbClr>
                  </a:solidFill>
                </a:ln>
                <a:solidFill>
                  <a:srgbClr val="0000FF"/>
                </a:solidFill>
                <a:latin typeface="나눔스퀘어" panose="020B0600000101010101" pitchFamily="50" charset="-127"/>
                <a:ea typeface="나눔스퀘어" panose="020B0600000101010101" pitchFamily="50" charset="-127"/>
                <a:cs typeface="Arial Unicode MS" panose="020B0604020202020204" pitchFamily="50" charset="-127"/>
              </a:rPr>
              <a:t>-14%</a:t>
            </a:r>
            <a:endParaRPr kumimoji="1" lang="en-US" altLang="ko-KR" sz="1000" b="1" i="0" u="none" strike="noStrike" kern="1200" cap="none" spc="-80" normalizeH="0" noProof="0" dirty="0">
              <a:ln>
                <a:solidFill>
                  <a:srgbClr val="002B5C">
                    <a:alpha val="0"/>
                  </a:srgbClr>
                </a:solidFill>
              </a:ln>
              <a:solidFill>
                <a:srgbClr val="0000FF"/>
              </a:solidFill>
              <a:effectLst/>
              <a:uLnTx/>
              <a:uFillTx/>
              <a:latin typeface="나눔스퀘어" panose="020B0600000101010101" pitchFamily="50" charset="-127"/>
              <a:ea typeface="나눔스퀘어" panose="020B0600000101010101" pitchFamily="50" charset="-127"/>
              <a:cs typeface="Arial" panose="020B0604020202020204" pitchFamily="34" charset="0"/>
            </a:endParaRPr>
          </a:p>
        </p:txBody>
      </p:sp>
      <p:pic>
        <p:nvPicPr>
          <p:cNvPr id="94" name="그림 93" descr="채점"/>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97757" y="5438134"/>
            <a:ext cx="472283" cy="262182"/>
          </a:xfrm>
          <a:prstGeom prst="rect">
            <a:avLst/>
          </a:prstGeom>
          <a:noFill/>
          <a:ln>
            <a:noFill/>
          </a:ln>
        </p:spPr>
      </p:pic>
      <p:pic>
        <p:nvPicPr>
          <p:cNvPr id="95" name="그림 94" descr="채점"/>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68227" y="5597846"/>
            <a:ext cx="397899" cy="249156"/>
          </a:xfrm>
          <a:prstGeom prst="rect">
            <a:avLst/>
          </a:prstGeom>
          <a:noFill/>
          <a:ln>
            <a:noFill/>
          </a:ln>
        </p:spPr>
      </p:pic>
      <p:cxnSp>
        <p:nvCxnSpPr>
          <p:cNvPr id="96" name="직선 화살표 연결선 95"/>
          <p:cNvCxnSpPr>
            <a:endCxn id="119" idx="1"/>
          </p:cNvCxnSpPr>
          <p:nvPr/>
        </p:nvCxnSpPr>
        <p:spPr>
          <a:xfrm>
            <a:off x="4898632" y="5591981"/>
            <a:ext cx="581340" cy="208503"/>
          </a:xfrm>
          <a:prstGeom prst="straightConnector1">
            <a:avLst/>
          </a:prstGeom>
          <a:ln w="127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7" name="직사각형 96"/>
          <p:cNvSpPr/>
          <p:nvPr/>
        </p:nvSpPr>
        <p:spPr>
          <a:xfrm>
            <a:off x="5146837" y="5533476"/>
            <a:ext cx="989323" cy="153888"/>
          </a:xfrm>
          <a:prstGeom prst="rect">
            <a:avLst/>
          </a:prstGeom>
        </p:spPr>
        <p:txBody>
          <a:bodyPr wrap="square" lIns="0" tIns="0" rIns="0" bIns="0" anchor="t" anchorCtr="0">
            <a:spAutoFit/>
          </a:bodyPr>
          <a:lstStyle/>
          <a:p>
            <a:pPr marR="0" lvl="0" algn="l" defTabSz="914400" rtl="0" eaLnBrk="1" fontAlgn="auto" latinLnBrk="1" hangingPunct="1">
              <a:lnSpc>
                <a:spcPct val="100000"/>
              </a:lnSpc>
              <a:spcBef>
                <a:spcPts val="0"/>
              </a:spcBef>
              <a:spcAft>
                <a:spcPts val="0"/>
              </a:spcAft>
              <a:buClrTx/>
              <a:buSzTx/>
              <a:tabLst/>
              <a:defRPr/>
            </a:pPr>
            <a:r>
              <a:rPr kumimoji="1" lang="en-US" altLang="ko-KR" sz="1000" b="1" spc="-80" dirty="0" smtClean="0">
                <a:ln>
                  <a:solidFill>
                    <a:srgbClr val="4F81BD">
                      <a:alpha val="0"/>
                    </a:srgbClr>
                  </a:solidFill>
                </a:ln>
                <a:solidFill>
                  <a:srgbClr val="0000FF"/>
                </a:solidFill>
                <a:latin typeface="나눔스퀘어" panose="020B0600000101010101" pitchFamily="50" charset="-127"/>
                <a:ea typeface="나눔스퀘어" panose="020B0600000101010101" pitchFamily="50" charset="-127"/>
                <a:cs typeface="Arial Unicode MS" panose="020B0604020202020204" pitchFamily="50" charset="-127"/>
              </a:rPr>
              <a:t>-43%</a:t>
            </a:r>
            <a:endParaRPr kumimoji="1" lang="en-US" altLang="ko-KR" sz="1000" b="1" i="0" u="none" strike="noStrike" kern="1200" cap="none" spc="-80" normalizeH="0" noProof="0" dirty="0">
              <a:ln>
                <a:solidFill>
                  <a:srgbClr val="002B5C">
                    <a:alpha val="0"/>
                  </a:srgbClr>
                </a:solidFill>
              </a:ln>
              <a:solidFill>
                <a:srgbClr val="0000FF"/>
              </a:solidFill>
              <a:effectLst/>
              <a:uLnTx/>
              <a:uFillTx/>
              <a:latin typeface="나눔스퀘어" panose="020B0600000101010101" pitchFamily="50" charset="-127"/>
              <a:ea typeface="나눔스퀘어" panose="020B0600000101010101" pitchFamily="50" charset="-127"/>
              <a:cs typeface="Arial" panose="020B0604020202020204" pitchFamily="34" charset="0"/>
            </a:endParaRPr>
          </a:p>
        </p:txBody>
      </p:sp>
      <p:sp>
        <p:nvSpPr>
          <p:cNvPr id="99" name="TextBox 98">
            <a:extLst>
              <a:ext uri="{FF2B5EF4-FFF2-40B4-BE49-F238E27FC236}">
                <a16:creationId xmlns:a16="http://schemas.microsoft.com/office/drawing/2014/main" id="{F419EC2A-DA12-DE70-177E-D060836EC73B}"/>
              </a:ext>
            </a:extLst>
          </p:cNvPr>
          <p:cNvSpPr txBox="1"/>
          <p:nvPr/>
        </p:nvSpPr>
        <p:spPr>
          <a:xfrm>
            <a:off x="6358273" y="5915591"/>
            <a:ext cx="3225825" cy="553998"/>
          </a:xfrm>
          <a:prstGeom prst="rect">
            <a:avLst/>
          </a:prstGeom>
          <a:noFill/>
        </p:spPr>
        <p:txBody>
          <a:bodyPr wrap="square" lIns="0" tIns="0" rIns="0" bIns="0" rtlCol="0" anchor="ctr">
            <a:spAutoFit/>
          </a:bodyPr>
          <a:lstStyle/>
          <a:p>
            <a:pPr latinLnBrk="0"/>
            <a:r>
              <a:rPr lang="en-US" altLang="ko-KR"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Brent </a:t>
            </a:r>
            <a:r>
              <a:rPr lang="en-US" altLang="ko-KR" sz="90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decline rate: Q3·Q4 declines as a share of the Q2 rise vs. Feb </a:t>
            </a:r>
            <a:r>
              <a:rPr lang="en-US" altLang="ko-KR"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'26</a:t>
            </a:r>
          </a:p>
          <a:p>
            <a:pPr latinLnBrk="0"/>
            <a:r>
              <a:rPr lang="en-US" altLang="ko-KR"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 Jet fuel outlook: Brent's quarterly decline rates applied to the post-war rise, assuming the same normalization pace</a:t>
            </a:r>
            <a:endParaRPr lang="en-US" altLang="ko-KR" sz="900" dirty="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endParaRPr>
          </a:p>
        </p:txBody>
      </p:sp>
      <p:sp>
        <p:nvSpPr>
          <p:cNvPr id="100" name="TextBox 99"/>
          <p:cNvSpPr txBox="1"/>
          <p:nvPr/>
        </p:nvSpPr>
        <p:spPr>
          <a:xfrm>
            <a:off x="7404177" y="3713840"/>
            <a:ext cx="3931112" cy="138499"/>
          </a:xfrm>
          <a:prstGeom prst="rect">
            <a:avLst/>
          </a:prstGeom>
          <a:noFill/>
        </p:spPr>
        <p:txBody>
          <a:bodyPr wrap="square" lIns="0" tIns="0" rIns="0" bIns="0" rtlCol="0">
            <a:spAutoFit/>
          </a:bodyPr>
          <a:lstStyle>
            <a:defPPr>
              <a:defRPr lang="ko-KR"/>
            </a:defPPr>
            <a:lvl1pPr>
              <a:defRPr sz="900" spc="-100">
                <a:solidFill>
                  <a:srgbClr val="0000FF"/>
                </a:solidFill>
                <a:latin typeface="나눔스퀘어" panose="020B0600000101010101" pitchFamily="50" charset="-127"/>
                <a:ea typeface="나눔스퀘어" panose="020B0600000101010101" pitchFamily="50" charset="-127"/>
              </a:defRPr>
            </a:lvl1pPr>
          </a:lstStyle>
          <a:p>
            <a:r>
              <a:rPr lang="en-US" altLang="ko-KR" spc="0" dirty="0"/>
              <a:t>* Assumes same pace as Brent normalization, Citi decline rates applied</a:t>
            </a:r>
            <a:endParaRPr lang="ko-KR" altLang="en-US" spc="0" dirty="0"/>
          </a:p>
        </p:txBody>
      </p:sp>
      <p:sp>
        <p:nvSpPr>
          <p:cNvPr id="101" name="TextBox 100"/>
          <p:cNvSpPr txBox="1"/>
          <p:nvPr/>
        </p:nvSpPr>
        <p:spPr>
          <a:xfrm>
            <a:off x="6668967" y="4678165"/>
            <a:ext cx="3569237" cy="138499"/>
          </a:xfrm>
          <a:prstGeom prst="rect">
            <a:avLst/>
          </a:prstGeom>
          <a:noFill/>
        </p:spPr>
        <p:txBody>
          <a:bodyPr wrap="square" lIns="0" tIns="0" rIns="0" bIns="0" rtlCol="0">
            <a:spAutoFit/>
          </a:bodyPr>
          <a:lstStyle>
            <a:defPPr>
              <a:defRPr lang="ko-KR"/>
            </a:defPPr>
            <a:lvl1pPr>
              <a:defRPr sz="900" spc="-100">
                <a:solidFill>
                  <a:srgbClr val="0000FF"/>
                </a:solidFill>
                <a:latin typeface="나눔스퀘어" panose="020B0600000101010101" pitchFamily="50" charset="-127"/>
                <a:ea typeface="나눔스퀘어" panose="020B0600000101010101" pitchFamily="50" charset="-127"/>
              </a:defRPr>
            </a:lvl1pPr>
          </a:lstStyle>
          <a:p>
            <a:r>
              <a:rPr lang="en-US" altLang="ko-KR" spc="0" dirty="0" smtClean="0"/>
              <a:t>* </a:t>
            </a:r>
            <a:r>
              <a:rPr lang="en-US" altLang="ko-KR" spc="0" dirty="0"/>
              <a:t>Based on KE long-haul; stage 23 (Jul.) → stage 16 (Aug.)</a:t>
            </a:r>
            <a:endParaRPr lang="ko-KR" altLang="en-US" spc="0" dirty="0"/>
          </a:p>
        </p:txBody>
      </p:sp>
      <p:pic>
        <p:nvPicPr>
          <p:cNvPr id="81" name="그림 80" descr="채점"/>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453114" y="5430160"/>
            <a:ext cx="472283" cy="262182"/>
          </a:xfrm>
          <a:prstGeom prst="rect">
            <a:avLst/>
          </a:prstGeom>
          <a:noFill/>
          <a:ln>
            <a:noFill/>
          </a:ln>
        </p:spPr>
      </p:pic>
      <p:sp>
        <p:nvSpPr>
          <p:cNvPr id="68" name="TextBox 67">
            <a:extLst>
              <a:ext uri="{FF2B5EF4-FFF2-40B4-BE49-F238E27FC236}">
                <a16:creationId xmlns:a16="http://schemas.microsoft.com/office/drawing/2014/main" id="{F419EC2A-DA12-DE70-177E-D060836EC73B}"/>
              </a:ext>
            </a:extLst>
          </p:cNvPr>
          <p:cNvSpPr txBox="1"/>
          <p:nvPr/>
        </p:nvSpPr>
        <p:spPr>
          <a:xfrm>
            <a:off x="525890" y="6506819"/>
            <a:ext cx="2071080" cy="153888"/>
          </a:xfrm>
          <a:prstGeom prst="rect">
            <a:avLst/>
          </a:prstGeom>
          <a:noFill/>
        </p:spPr>
        <p:txBody>
          <a:bodyPr wrap="none" lIns="0" tIns="0" rIns="0" bIns="0" rtlCol="0" anchor="ctr">
            <a:spAutoFit/>
          </a:bodyPr>
          <a:lstStyle/>
          <a:p>
            <a:pPr latinLnBrk="0"/>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Source</a:t>
            </a:r>
            <a:r>
              <a:rPr lang="ko-KR" altLang="en-US"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IATA / EIA / IEA / KE / Fitch</a:t>
            </a:r>
          </a:p>
        </p:txBody>
      </p:sp>
      <p:sp>
        <p:nvSpPr>
          <p:cNvPr id="98" name="직사각형 97"/>
          <p:cNvSpPr/>
          <p:nvPr/>
        </p:nvSpPr>
        <p:spPr>
          <a:xfrm>
            <a:off x="2183331" y="5594452"/>
            <a:ext cx="681983" cy="486351"/>
          </a:xfrm>
          <a:prstGeom prst="rect">
            <a:avLst/>
          </a:prstGeom>
          <a:solidFill>
            <a:srgbClr val="0000FF">
              <a:alpha val="6000"/>
            </a:srgbClr>
          </a:solidFill>
          <a:ln>
            <a:noFill/>
          </a:ln>
          <a:effectLst/>
        </p:spPr>
        <p:txBody>
          <a:bodyPr vert="horz" wrap="square" lIns="91440" tIns="45720" rIns="91440" bIns="45720" numCol="1" rtlCol="0" anchor="ctr" anchorCtr="0" compatLnSpc="1">
            <a:prstTxWarp prst="textNoShape">
              <a:avLst/>
            </a:prstTxWarp>
          </a:bodyPr>
          <a:lstStyle/>
          <a:p>
            <a:pPr algn="ctr"/>
            <a:endParaRPr lang="ko-KR" altLang="en-US" sz="2000" b="1" smtClean="0">
              <a:solidFill>
                <a:srgbClr val="0000FF"/>
              </a:solidFill>
            </a:endParaRPr>
          </a:p>
        </p:txBody>
      </p:sp>
      <p:grpSp>
        <p:nvGrpSpPr>
          <p:cNvPr id="87" name="그룹 86"/>
          <p:cNvGrpSpPr/>
          <p:nvPr/>
        </p:nvGrpSpPr>
        <p:grpSpPr>
          <a:xfrm>
            <a:off x="10020301" y="6290"/>
            <a:ext cx="1778422" cy="552569"/>
            <a:chOff x="10020301" y="6290"/>
            <a:chExt cx="1778422" cy="552569"/>
          </a:xfrm>
        </p:grpSpPr>
        <p:cxnSp>
          <p:nvCxnSpPr>
            <p:cNvPr id="89" name="직선 연결선 88"/>
            <p:cNvCxnSpPr/>
            <p:nvPr/>
          </p:nvCxnSpPr>
          <p:spPr>
            <a:xfrm>
              <a:off x="11671487" y="6290"/>
              <a:ext cx="0" cy="313957"/>
            </a:xfrm>
            <a:prstGeom prst="line">
              <a:avLst/>
            </a:prstGeom>
            <a:ln w="635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2" name="TextBox 101"/>
            <p:cNvSpPr txBox="1"/>
            <p:nvPr/>
          </p:nvSpPr>
          <p:spPr>
            <a:xfrm>
              <a:off x="10020301" y="381709"/>
              <a:ext cx="1552032" cy="153888"/>
            </a:xfrm>
            <a:prstGeom prst="rect">
              <a:avLst/>
            </a:prstGeom>
            <a:noFill/>
            <a:ln w="9525">
              <a:noFill/>
              <a:miter lim="800000"/>
              <a:headEnd/>
              <a:tailEnd/>
            </a:ln>
          </p:spPr>
          <p:txBody>
            <a:bodyPr wrap="square" lIns="0" tIns="0" rIns="0" bIns="0" anchor="ctr">
              <a:spAutoFit/>
            </a:bodyPr>
            <a:lstStyle>
              <a:defPPr>
                <a:defRPr lang="ko-KR"/>
              </a:defPPr>
              <a:lvl1pPr defTabSz="914125" fontAlgn="base" latinLnBrk="0">
                <a:spcBef>
                  <a:spcPct val="0"/>
                </a:spcBef>
                <a:spcAft>
                  <a:spcPts val="200"/>
                </a:spcAft>
                <a:defRPr sz="1100" spc="-20">
                  <a:ln>
                    <a:solidFill>
                      <a:prstClr val="white">
                        <a:alpha val="0"/>
                      </a:prstClr>
                    </a:solidFill>
                  </a:ln>
                  <a:solidFill>
                    <a:schemeClr val="tx1">
                      <a:lumMod val="75000"/>
                      <a:lumOff val="25000"/>
                    </a:schemeClr>
                  </a:solidFill>
                  <a:latin typeface="KoPub돋움체 Bold" panose="02020603020101020101" pitchFamily="18" charset="-127"/>
                  <a:ea typeface="KoPub돋움체 Bold" panose="02020603020101020101" pitchFamily="18" charset="-127"/>
                  <a:cs typeface="Arial" charset="0"/>
                </a:defRPr>
              </a:lvl1pPr>
            </a:lstStyle>
            <a:p>
              <a:pPr lvl="0" algn="r">
                <a:defRPr/>
              </a:pPr>
              <a:r>
                <a:rPr lang="en-US" altLang="ko-KR"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rPr>
                <a:t>2026 2H Market Outlook</a:t>
              </a:r>
              <a:endParaRPr lang="ko-KR" altLang="en-US"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endParaRPr>
            </a:p>
          </p:txBody>
        </p:sp>
        <p:sp>
          <p:nvSpPr>
            <p:cNvPr id="104" name="타원 103"/>
            <p:cNvSpPr/>
            <p:nvPr/>
          </p:nvSpPr>
          <p:spPr>
            <a:xfrm>
              <a:off x="11340239"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20" normalizeH="0" baseline="0" noProof="0" dirty="0">
                <a:ln>
                  <a:solidFill>
                    <a:srgbClr val="C00000">
                      <a:alpha val="0"/>
                    </a:srgbClr>
                  </a:solidFill>
                </a:ln>
                <a:solidFill>
                  <a:prstClr val="white"/>
                </a:solidFill>
                <a:effectLst/>
                <a:uLnTx/>
                <a:uFillTx/>
                <a:latin typeface="나눔스퀘어" panose="020B0600000101010101" pitchFamily="50" charset="-127"/>
                <a:ea typeface="나눔스퀘어" panose="020B0600000101010101" pitchFamily="50" charset="-127"/>
                <a:cs typeface="+mn-cs"/>
              </a:endParaRPr>
            </a:p>
          </p:txBody>
        </p:sp>
        <p:sp>
          <p:nvSpPr>
            <p:cNvPr id="105" name="타원 104"/>
            <p:cNvSpPr/>
            <p:nvPr/>
          </p:nvSpPr>
          <p:spPr>
            <a:xfrm>
              <a:off x="11422266"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106" name="타원 105"/>
            <p:cNvSpPr/>
            <p:nvPr/>
          </p:nvSpPr>
          <p:spPr>
            <a:xfrm>
              <a:off x="11504294" y="290256"/>
              <a:ext cx="51827" cy="51827"/>
            </a:xfrm>
            <a:prstGeom prst="ellipse">
              <a:avLst/>
            </a:prstGeom>
            <a:solidFill>
              <a:srgbClr val="0146A0"/>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107" name="TextBox 106"/>
            <p:cNvSpPr txBox="1"/>
            <p:nvPr/>
          </p:nvSpPr>
          <p:spPr>
            <a:xfrm>
              <a:off x="11646437" y="343415"/>
              <a:ext cx="152286" cy="215444"/>
            </a:xfrm>
            <a:prstGeom prst="rect">
              <a:avLst/>
            </a:prstGeom>
            <a:noFill/>
          </p:spPr>
          <p:txBody>
            <a:bodyPr wrap="none" lIns="0" tIns="0" rIns="0" bIns="0" rtlCol="0" anchor="ctr" anchorCtr="0">
              <a:spAutoFit/>
            </a:bodyPr>
            <a:lstStyle>
              <a:defPPr>
                <a:defRPr lang="ko-KR"/>
              </a:defPPr>
              <a:lvl1pPr>
                <a:spcAft>
                  <a:spcPts val="300"/>
                </a:spcAft>
                <a:defRPr sz="2800" spc="-100">
                  <a:ln>
                    <a:solidFill>
                      <a:schemeClr val="bg1">
                        <a:alpha val="0"/>
                      </a:schemeClr>
                    </a:solidFill>
                  </a:ln>
                  <a:solidFill>
                    <a:srgbClr val="005B8D"/>
                  </a:solidFill>
                  <a:latin typeface="Times New Roman" panose="02020603050405020304" pitchFamily="18" charset="0"/>
                  <a:ea typeface="KoPub돋움체 Bold" panose="02020603020101020101" pitchFamily="18" charset="-127"/>
                  <a:cs typeface="Times New Roman" panose="02020603050405020304" pitchFamily="18" charset="0"/>
                </a:defRPr>
              </a:lvl1pPr>
            </a:lstStyle>
            <a:p>
              <a:pPr latinLnBrk="0">
                <a:defRPr/>
              </a:pPr>
              <a:r>
                <a:rPr lang="en-US" altLang="ko-KR" sz="1400" spc="-150" dirty="0" smtClean="0">
                  <a:ln>
                    <a:solidFill>
                      <a:prstClr val="white">
                        <a:alpha val="0"/>
                      </a:prstClr>
                    </a:solidFill>
                  </a:ln>
                  <a:solidFill>
                    <a:srgbClr val="0146A0"/>
                  </a:solidFill>
                  <a:ea typeface="KoPub돋움체 Medium" panose="02020603020101020101" pitchFamily="18" charset="-127"/>
                </a:rPr>
                <a:t>Ⅲ</a:t>
              </a:r>
              <a:endParaRPr lang="en-US" altLang="ko-KR" sz="1400" spc="-150" dirty="0">
                <a:ln>
                  <a:solidFill>
                    <a:prstClr val="white">
                      <a:alpha val="0"/>
                    </a:prstClr>
                  </a:solidFill>
                </a:ln>
                <a:solidFill>
                  <a:srgbClr val="0146A0"/>
                </a:solidFill>
                <a:ea typeface="KoPub돋움체 Medium" panose="02020603020101020101" pitchFamily="18" charset="-127"/>
              </a:endParaRPr>
            </a:p>
          </p:txBody>
        </p:sp>
      </p:grpSp>
      <p:sp>
        <p:nvSpPr>
          <p:cNvPr id="74" name="제목 1"/>
          <p:cNvSpPr>
            <a:spLocks noGrp="1"/>
          </p:cNvSpPr>
          <p:nvPr>
            <p:ph type="title"/>
          </p:nvPr>
        </p:nvSpPr>
        <p:spPr>
          <a:xfrm>
            <a:off x="515938" y="333375"/>
            <a:ext cx="11676062" cy="880283"/>
          </a:xfrm>
        </p:spPr>
        <p:txBody>
          <a:bodyPr/>
          <a:lstStyle/>
          <a:p>
            <a:r>
              <a:rPr lang="en-US" altLang="ko-KR" spc="-120" dirty="0" smtClean="0"/>
              <a:t>Air Market Outlook </a:t>
            </a:r>
            <a:r>
              <a:rPr lang="en-US" altLang="ko-KR" spc="-120" dirty="0" smtClean="0">
                <a:solidFill>
                  <a:prstClr val="black"/>
                </a:solidFill>
              </a:rPr>
              <a:t>|</a:t>
            </a:r>
            <a:r>
              <a:rPr lang="en-US" altLang="ko-KR" sz="2400" spc="-120" dirty="0" smtClean="0">
                <a:solidFill>
                  <a:prstClr val="black"/>
                </a:solidFill>
              </a:rPr>
              <a:t> </a:t>
            </a:r>
            <a:r>
              <a:rPr lang="en-US" altLang="ko-KR" sz="2400" spc="-150" dirty="0" smtClean="0">
                <a:solidFill>
                  <a:prstClr val="black"/>
                </a:solidFill>
              </a:rPr>
              <a:t>Key </a:t>
            </a:r>
            <a:r>
              <a:rPr lang="en-US" altLang="ko-KR" sz="2400" spc="-100" dirty="0">
                <a:solidFill>
                  <a:prstClr val="black"/>
                </a:solidFill>
              </a:rPr>
              <a:t>Driver</a:t>
            </a:r>
            <a:r>
              <a:rPr lang="en-US" altLang="ko-KR" sz="2400" spc="-150" dirty="0" smtClean="0">
                <a:solidFill>
                  <a:prstClr val="black"/>
                </a:solidFill>
              </a:rPr>
              <a:t> </a:t>
            </a:r>
            <a:r>
              <a:rPr lang="ko-KR" altLang="en-US" sz="2400" spc="-150" dirty="0" smtClean="0">
                <a:solidFill>
                  <a:prstClr val="black"/>
                </a:solidFill>
              </a:rPr>
              <a:t>① </a:t>
            </a:r>
            <a:r>
              <a:rPr lang="en-US" altLang="ko-KR" sz="2400" spc="-150" dirty="0" smtClean="0">
                <a:solidFill>
                  <a:prstClr val="black"/>
                </a:solidFill>
              </a:rPr>
              <a:t>- </a:t>
            </a:r>
            <a:r>
              <a:rPr lang="en-US" altLang="ko-KR" sz="2400" spc="-150" dirty="0">
                <a:solidFill>
                  <a:prstClr val="black"/>
                </a:solidFill>
              </a:rPr>
              <a:t>Jet Fuel </a:t>
            </a:r>
            <a:r>
              <a:rPr lang="en-US" altLang="ko-KR" sz="2400" spc="-150" dirty="0" smtClean="0">
                <a:solidFill>
                  <a:prstClr val="black"/>
                </a:solidFill>
              </a:rPr>
              <a:t>Supply-Demand Stabilization (2/2)</a:t>
            </a:r>
            <a:endParaRPr lang="ko-KR" altLang="en-US" sz="2400" spc="-150" dirty="0"/>
          </a:p>
        </p:txBody>
      </p:sp>
      <p:sp>
        <p:nvSpPr>
          <p:cNvPr id="69" name="직사각형 25"/>
          <p:cNvSpPr/>
          <p:nvPr/>
        </p:nvSpPr>
        <p:spPr>
          <a:xfrm>
            <a:off x="525890" y="2909309"/>
            <a:ext cx="5634218" cy="2215991"/>
          </a:xfrm>
          <a:prstGeom prst="rect">
            <a:avLst/>
          </a:prstGeom>
        </p:spPr>
        <p:txBody>
          <a:bodyPr wrap="square">
            <a:spAutoFit/>
          </a:bodyPr>
          <a:lstStyle/>
          <a:p>
            <a:pPr marL="144000" indent="-144000" defTabSz="1038977" latinLnBrk="0">
              <a:spcAft>
                <a:spcPts val="800"/>
              </a:spcAft>
              <a:buFont typeface="Arial" panose="020B0604020202020204" pitchFamily="34" charset="0"/>
              <a:buChar char="•"/>
            </a:pPr>
            <a:r>
              <a:rPr lang="en-US" altLang="ko-KR" sz="1400" spc="-30" dirty="0">
                <a:latin typeface="나눔스퀘어" panose="020B0600000101010101" pitchFamily="50" charset="-127"/>
                <a:ea typeface="나눔스퀘어" panose="020B0600000101010101" pitchFamily="50" charset="-127"/>
              </a:rPr>
              <a:t>Jet fuel strain eased by alternative US </a:t>
            </a:r>
            <a:r>
              <a:rPr lang="en-US" altLang="ko-KR" sz="1400" spc="-30" dirty="0" err="1">
                <a:latin typeface="나눔스퀘어" panose="020B0600000101010101" pitchFamily="50" charset="-127"/>
                <a:ea typeface="나눔스퀘어" panose="020B0600000101010101" pitchFamily="50" charset="-127"/>
              </a:rPr>
              <a:t>supply·export</a:t>
            </a:r>
            <a:r>
              <a:rPr lang="en-US" altLang="ko-KR" sz="1400" spc="-30" dirty="0">
                <a:latin typeface="나눔스퀘어" panose="020B0600000101010101" pitchFamily="50" charset="-127"/>
                <a:ea typeface="나눔스퀘어" panose="020B0600000101010101" pitchFamily="50" charset="-127"/>
              </a:rPr>
              <a:t> expansion</a:t>
            </a:r>
          </a:p>
          <a:p>
            <a:pPr defTabSz="1038977" latinLnBrk="0">
              <a:spcAft>
                <a:spcPts val="800"/>
              </a:spcAft>
            </a:pPr>
            <a:r>
              <a:rPr lang="en-US" altLang="ko-KR" sz="1400" spc="-100" dirty="0">
                <a:latin typeface="나눔스퀘어" panose="020B0600000101010101" pitchFamily="50" charset="-127"/>
                <a:ea typeface="나눔스퀘어" panose="020B0600000101010101" pitchFamily="50" charset="-127"/>
              </a:rPr>
              <a:t> - US 4-wk </a:t>
            </a:r>
            <a:r>
              <a:rPr lang="en-US" altLang="ko-KR" sz="1400" spc="-100" dirty="0" err="1">
                <a:latin typeface="나눔스퀘어" panose="020B0600000101010101" pitchFamily="50" charset="-127"/>
                <a:ea typeface="나눔스퀘어" panose="020B0600000101010101" pitchFamily="50" charset="-127"/>
              </a:rPr>
              <a:t>avg</a:t>
            </a:r>
            <a:r>
              <a:rPr lang="en-US" altLang="ko-KR" sz="1400" spc="-100" dirty="0">
                <a:latin typeface="나눔스퀘어" panose="020B0600000101010101" pitchFamily="50" charset="-127"/>
                <a:ea typeface="나눔스퀘어" panose="020B0600000101010101" pitchFamily="50" charset="-127"/>
              </a:rPr>
              <a:t> daily output: 1.7 </a:t>
            </a:r>
            <a:r>
              <a:rPr lang="en-US" altLang="ko-KR" sz="1400" spc="-100" dirty="0" err="1">
                <a:latin typeface="나눔스퀘어" panose="020B0600000101010101" pitchFamily="50" charset="-127"/>
                <a:ea typeface="나눔스퀘어" panose="020B0600000101010101" pitchFamily="50" charset="-127"/>
              </a:rPr>
              <a:t>mb</a:t>
            </a:r>
            <a:r>
              <a:rPr lang="en-US" altLang="ko-KR" sz="1400" spc="-100" dirty="0">
                <a:latin typeface="나눔스퀘어" panose="020B0600000101010101" pitchFamily="50" charset="-127"/>
                <a:ea typeface="나눔스퀘어" panose="020B0600000101010101" pitchFamily="50" charset="-127"/>
              </a:rPr>
              <a:t> (late Feb) → 2.0 </a:t>
            </a:r>
            <a:r>
              <a:rPr lang="en-US" altLang="ko-KR" sz="1400" spc="-100" dirty="0" err="1">
                <a:latin typeface="나눔스퀘어" panose="020B0600000101010101" pitchFamily="50" charset="-127"/>
                <a:ea typeface="나눔스퀘어" panose="020B0600000101010101" pitchFamily="50" charset="-127"/>
              </a:rPr>
              <a:t>mb</a:t>
            </a:r>
            <a:r>
              <a:rPr lang="en-US" altLang="ko-KR" sz="1400" spc="-100" dirty="0">
                <a:latin typeface="나눔스퀘어" panose="020B0600000101010101" pitchFamily="50" charset="-127"/>
                <a:ea typeface="나눔스퀘어" panose="020B0600000101010101" pitchFamily="50" charset="-127"/>
              </a:rPr>
              <a:t> (early May), up 18%</a:t>
            </a:r>
          </a:p>
          <a:p>
            <a:pPr defTabSz="1038977" latinLnBrk="0">
              <a:spcAft>
                <a:spcPts val="800"/>
              </a:spcAft>
            </a:pPr>
            <a:r>
              <a:rPr lang="ko-KR" altLang="en-US" sz="1400" spc="-100" dirty="0">
                <a:latin typeface="나눔스퀘어" panose="020B0600000101010101" pitchFamily="50" charset="-127"/>
                <a:ea typeface="나눔스퀘어" panose="020B0600000101010101" pitchFamily="50" charset="-127"/>
              </a:rPr>
              <a:t> </a:t>
            </a:r>
            <a:r>
              <a:rPr lang="en-US" altLang="ko-KR" sz="1400" spc="-100" dirty="0">
                <a:latin typeface="나눔스퀘어" panose="020B0600000101010101" pitchFamily="50" charset="-127"/>
                <a:ea typeface="나눔스퀘어" panose="020B0600000101010101" pitchFamily="50" charset="-127"/>
              </a:rPr>
              <a:t>- </a:t>
            </a:r>
            <a:r>
              <a:rPr lang="en-US" altLang="ko-KR" sz="1400" dirty="0">
                <a:latin typeface="나눔스퀘어" panose="020B0600000101010101" pitchFamily="50" charset="-127"/>
                <a:ea typeface="나눔스퀘어" panose="020B0600000101010101" pitchFamily="50" charset="-127"/>
              </a:rPr>
              <a:t>US–EU exports up 120 kb/d </a:t>
            </a:r>
            <a:r>
              <a:rPr lang="en-US" altLang="ko-KR" sz="1400" dirty="0" err="1">
                <a:latin typeface="나눔스퀘어" panose="020B0600000101010101" pitchFamily="50" charset="-127"/>
                <a:ea typeface="나눔스퀘어" panose="020B0600000101010101" pitchFamily="50" charset="-127"/>
              </a:rPr>
              <a:t>MoM</a:t>
            </a:r>
            <a:r>
              <a:rPr lang="en-US" altLang="ko-KR" sz="1400" dirty="0">
                <a:latin typeface="나눔스퀘어" panose="020B0600000101010101" pitchFamily="50" charset="-127"/>
                <a:ea typeface="나눔스퀘어" panose="020B0600000101010101" pitchFamily="50" charset="-127"/>
              </a:rPr>
              <a:t>, absorbing the ME supply gap</a:t>
            </a:r>
          </a:p>
          <a:p>
            <a:pPr marL="144000" indent="-144000" defTabSz="1038977" latinLnBrk="0">
              <a:spcAft>
                <a:spcPts val="800"/>
              </a:spcAft>
              <a:buFont typeface="Arial" panose="020B0604020202020204" pitchFamily="34" charset="0"/>
              <a:buChar char="•"/>
            </a:pPr>
            <a:r>
              <a:rPr lang="en-US" altLang="ko-KR" sz="1400" spc="-70" dirty="0">
                <a:latin typeface="나눔스퀘어" panose="020B0600000101010101" pitchFamily="50" charset="-127"/>
                <a:ea typeface="나눔스퀘어" panose="020B0600000101010101" pitchFamily="50" charset="-127"/>
              </a:rPr>
              <a:t>Oil prices fall early on the ceasefire; normalization expected within Q3</a:t>
            </a:r>
          </a:p>
          <a:p>
            <a:pPr defTabSz="1038977" latinLnBrk="0">
              <a:spcAft>
                <a:spcPts val="800"/>
              </a:spcAft>
            </a:pPr>
            <a:r>
              <a:rPr lang="en-US" altLang="ko-KR" sz="1400" spc="-100" dirty="0">
                <a:latin typeface="나눔스퀘어" panose="020B0600000101010101" pitchFamily="50" charset="-127"/>
                <a:ea typeface="나눔스퀘어" panose="020B0600000101010101" pitchFamily="50" charset="-127"/>
              </a:rPr>
              <a:t> - Brent $101.4 (Apr) → $86.9 (Jun); Citi forecasts $75 (Q3) → $70 (Q4)</a:t>
            </a:r>
          </a:p>
          <a:p>
            <a:pPr defTabSz="1038977" latinLnBrk="0">
              <a:spcAft>
                <a:spcPts val="800"/>
              </a:spcAft>
            </a:pPr>
            <a:r>
              <a:rPr lang="en-US" altLang="ko-KR" sz="1400" spc="-100" dirty="0">
                <a:latin typeface="나눔스퀘어" panose="020B0600000101010101" pitchFamily="50" charset="-127"/>
                <a:ea typeface="나눔스퀘어" panose="020B0600000101010101" pitchFamily="50" charset="-127"/>
              </a:rPr>
              <a:t> -  Jet fuel down 43%: $209.0 (Apr W1) → $119.2 (Jun W3)</a:t>
            </a:r>
          </a:p>
          <a:p>
            <a:pPr defTabSz="1038977" latinLnBrk="0">
              <a:spcAft>
                <a:spcPts val="800"/>
              </a:spcAft>
            </a:pPr>
            <a:r>
              <a:rPr lang="en-US" altLang="ko-KR" sz="1400" spc="-100" dirty="0">
                <a:latin typeface="나눔스퀘어" panose="020B0600000101010101" pitchFamily="50" charset="-127"/>
                <a:ea typeface="나눔스퀘어" panose="020B0600000101010101" pitchFamily="50" charset="-127"/>
              </a:rPr>
              <a:t> - Jet fuel normalizing early, falling faster than Brent on stable supply</a:t>
            </a:r>
          </a:p>
        </p:txBody>
      </p:sp>
      <p:grpSp>
        <p:nvGrpSpPr>
          <p:cNvPr id="71" name="그룹 70">
            <a:extLst>
              <a:ext uri="{FF2B5EF4-FFF2-40B4-BE49-F238E27FC236}">
                <a16:creationId xmlns:a16="http://schemas.microsoft.com/office/drawing/2014/main" id="{EF295706-448F-E9F8-6950-97D9B68EEEB9}"/>
              </a:ext>
            </a:extLst>
          </p:cNvPr>
          <p:cNvGrpSpPr/>
          <p:nvPr/>
        </p:nvGrpSpPr>
        <p:grpSpPr>
          <a:xfrm>
            <a:off x="6290801" y="2599033"/>
            <a:ext cx="5410242" cy="230832"/>
            <a:chOff x="522352" y="2590117"/>
            <a:chExt cx="5410242" cy="230832"/>
          </a:xfrm>
        </p:grpSpPr>
        <p:sp>
          <p:nvSpPr>
            <p:cNvPr id="73" name="직사각형 72">
              <a:extLst>
                <a:ext uri="{FF2B5EF4-FFF2-40B4-BE49-F238E27FC236}">
                  <a16:creationId xmlns:a16="http://schemas.microsoft.com/office/drawing/2014/main" id="{4046860D-C324-CEDE-CB74-5CA6C157F262}"/>
                </a:ext>
              </a:extLst>
            </p:cNvPr>
            <p:cNvSpPr/>
            <p:nvPr/>
          </p:nvSpPr>
          <p:spPr>
            <a:xfrm>
              <a:off x="781342" y="2590117"/>
              <a:ext cx="5151252" cy="230832"/>
            </a:xfrm>
            <a:prstGeom prst="rect">
              <a:avLst/>
            </a:prstGeom>
            <a:noFill/>
          </p:spPr>
          <p:txBody>
            <a:bodyPr wrap="none" lIns="0" tIns="0" rIns="0" bIns="0" anchor="t">
              <a:noAutofit/>
            </a:bodyPr>
            <a:lstStyle/>
            <a:p>
              <a:pPr latinLnBrk="0">
                <a:defRPr/>
              </a:pPr>
              <a:r>
                <a:rPr lang="en-US" altLang="ko-KR" sz="1500" dirty="0">
                  <a:ln>
                    <a:solidFill>
                      <a:prstClr val="white">
                        <a:alpha val="0"/>
                      </a:prstClr>
                    </a:solidFill>
                  </a:ln>
                  <a:latin typeface="나눔스퀘어 ExtraBold" panose="020B0600000101010101" pitchFamily="50" charset="-127"/>
                  <a:ea typeface="나눔스퀘어 ExtraBold" panose="020B0600000101010101" pitchFamily="50" charset="-127"/>
                  <a:cs typeface="Arial" panose="020B0604020202020204" pitchFamily="34" charset="0"/>
                </a:rPr>
                <a:t>Jet Fuel Shock-Driven Rate Pressure Easing</a:t>
              </a:r>
            </a:p>
          </p:txBody>
        </p:sp>
        <p:grpSp>
          <p:nvGrpSpPr>
            <p:cNvPr id="77" name="그룹 76">
              <a:extLst>
                <a:ext uri="{FF2B5EF4-FFF2-40B4-BE49-F238E27FC236}">
                  <a16:creationId xmlns:a16="http://schemas.microsoft.com/office/drawing/2014/main" id="{60F9DA37-A4B6-8083-096A-75F9B9A801BD}"/>
                </a:ext>
              </a:extLst>
            </p:cNvPr>
            <p:cNvGrpSpPr/>
            <p:nvPr/>
          </p:nvGrpSpPr>
          <p:grpSpPr>
            <a:xfrm>
              <a:off x="522352" y="2609533"/>
              <a:ext cx="192000" cy="192000"/>
              <a:chOff x="412816" y="1633655"/>
              <a:chExt cx="184804" cy="185998"/>
            </a:xfrm>
          </p:grpSpPr>
          <p:sp>
            <p:nvSpPr>
              <p:cNvPr id="83" name="모서리가 둥근 직사각형 82">
                <a:extLst>
                  <a:ext uri="{FF2B5EF4-FFF2-40B4-BE49-F238E27FC236}">
                    <a16:creationId xmlns:a16="http://schemas.microsoft.com/office/drawing/2014/main" id="{24C50D10-136A-C13B-7860-B3159558891F}"/>
                  </a:ext>
                </a:extLst>
              </p:cNvPr>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85" name="그룹 186">
                <a:extLst>
                  <a:ext uri="{FF2B5EF4-FFF2-40B4-BE49-F238E27FC236}">
                    <a16:creationId xmlns:a16="http://schemas.microsoft.com/office/drawing/2014/main" id="{7F155D93-9560-DFB2-BBD9-BAED35A39F72}"/>
                  </a:ext>
                </a:extLst>
              </p:cNvPr>
              <p:cNvGrpSpPr/>
              <p:nvPr/>
            </p:nvGrpSpPr>
            <p:grpSpPr>
              <a:xfrm>
                <a:off x="454440" y="1688440"/>
                <a:ext cx="106516" cy="76455"/>
                <a:chOff x="3366478" y="5412581"/>
                <a:chExt cx="126078" cy="89916"/>
              </a:xfrm>
              <a:solidFill>
                <a:schemeClr val="bg1"/>
              </a:solidFill>
            </p:grpSpPr>
            <p:sp>
              <p:nvSpPr>
                <p:cNvPr id="108" name="모서리가 둥근 직사각형 107">
                  <a:extLst>
                    <a:ext uri="{FF2B5EF4-FFF2-40B4-BE49-F238E27FC236}">
                      <a16:creationId xmlns:a16="http://schemas.microsoft.com/office/drawing/2014/main" id="{CAE7FADE-62C4-5B41-9772-EEDDAB1BD5C2}"/>
                    </a:ext>
                  </a:extLst>
                </p:cNvPr>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109" name="모서리가 둥근 직사각형 108">
                  <a:extLst>
                    <a:ext uri="{FF2B5EF4-FFF2-40B4-BE49-F238E27FC236}">
                      <a16:creationId xmlns:a16="http://schemas.microsoft.com/office/drawing/2014/main" id="{8D39F778-6FBA-9465-6FDC-3682D55B9DFB}"/>
                    </a:ext>
                  </a:extLst>
                </p:cNvPr>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grpSp>
        <p:nvGrpSpPr>
          <p:cNvPr id="110" name="그룹 109">
            <a:extLst>
              <a:ext uri="{FF2B5EF4-FFF2-40B4-BE49-F238E27FC236}">
                <a16:creationId xmlns:a16="http://schemas.microsoft.com/office/drawing/2014/main" id="{F1901E48-B53D-6506-5405-7DEBF109E30B}"/>
              </a:ext>
            </a:extLst>
          </p:cNvPr>
          <p:cNvGrpSpPr/>
          <p:nvPr/>
        </p:nvGrpSpPr>
        <p:grpSpPr>
          <a:xfrm>
            <a:off x="521699" y="2599033"/>
            <a:ext cx="5410242" cy="230832"/>
            <a:chOff x="522352" y="2590117"/>
            <a:chExt cx="5410242" cy="230832"/>
          </a:xfrm>
        </p:grpSpPr>
        <p:sp>
          <p:nvSpPr>
            <p:cNvPr id="111" name="직사각형 110">
              <a:extLst>
                <a:ext uri="{FF2B5EF4-FFF2-40B4-BE49-F238E27FC236}">
                  <a16:creationId xmlns:a16="http://schemas.microsoft.com/office/drawing/2014/main" id="{23A877DC-AE7A-42B7-FA1C-82DDBA18195D}"/>
                </a:ext>
              </a:extLst>
            </p:cNvPr>
            <p:cNvSpPr/>
            <p:nvPr/>
          </p:nvSpPr>
          <p:spPr>
            <a:xfrm>
              <a:off x="781342" y="2590117"/>
              <a:ext cx="5151252" cy="230832"/>
            </a:xfrm>
            <a:prstGeom prst="rect">
              <a:avLst/>
            </a:prstGeom>
            <a:noFill/>
          </p:spPr>
          <p:txBody>
            <a:bodyPr wrap="none" lIns="0" tIns="0" rIns="0" bIns="0" anchor="t">
              <a:noAutofit/>
            </a:bodyPr>
            <a:lstStyle/>
            <a:p>
              <a:pPr marR="608330" lvl="0" latinLnBrk="0">
                <a:defRPr/>
              </a:pPr>
              <a:r>
                <a:rPr lang="en-US" altLang="ko-KR"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Oil falls, supply recovers; early normalization expected</a:t>
              </a:r>
            </a:p>
          </p:txBody>
        </p:sp>
        <p:grpSp>
          <p:nvGrpSpPr>
            <p:cNvPr id="112" name="그룹 111">
              <a:extLst>
                <a:ext uri="{FF2B5EF4-FFF2-40B4-BE49-F238E27FC236}">
                  <a16:creationId xmlns:a16="http://schemas.microsoft.com/office/drawing/2014/main" id="{E7DF7FF3-3A0C-54A6-2CFC-EFC803C02E75}"/>
                </a:ext>
              </a:extLst>
            </p:cNvPr>
            <p:cNvGrpSpPr/>
            <p:nvPr/>
          </p:nvGrpSpPr>
          <p:grpSpPr>
            <a:xfrm>
              <a:off x="522352" y="2609533"/>
              <a:ext cx="192000" cy="192000"/>
              <a:chOff x="412816" y="1633655"/>
              <a:chExt cx="184804" cy="185998"/>
            </a:xfrm>
          </p:grpSpPr>
          <p:sp>
            <p:nvSpPr>
              <p:cNvPr id="113" name="모서리가 둥근 직사각형 112">
                <a:extLst>
                  <a:ext uri="{FF2B5EF4-FFF2-40B4-BE49-F238E27FC236}">
                    <a16:creationId xmlns:a16="http://schemas.microsoft.com/office/drawing/2014/main" id="{ACFD4B78-44F3-C9EC-0E4C-CDFEBFA96E65}"/>
                  </a:ext>
                </a:extLst>
              </p:cNvPr>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114" name="그룹 186">
                <a:extLst>
                  <a:ext uri="{FF2B5EF4-FFF2-40B4-BE49-F238E27FC236}">
                    <a16:creationId xmlns:a16="http://schemas.microsoft.com/office/drawing/2014/main" id="{8FAD1D07-96B7-2F90-2D67-D8FE24112EC3}"/>
                  </a:ext>
                </a:extLst>
              </p:cNvPr>
              <p:cNvGrpSpPr/>
              <p:nvPr/>
            </p:nvGrpSpPr>
            <p:grpSpPr>
              <a:xfrm>
                <a:off x="454440" y="1688440"/>
                <a:ext cx="106516" cy="76455"/>
                <a:chOff x="3366478" y="5412581"/>
                <a:chExt cx="126078" cy="89916"/>
              </a:xfrm>
              <a:solidFill>
                <a:schemeClr val="bg1"/>
              </a:solidFill>
            </p:grpSpPr>
            <p:sp>
              <p:nvSpPr>
                <p:cNvPr id="115" name="모서리가 둥근 직사각형 114">
                  <a:extLst>
                    <a:ext uri="{FF2B5EF4-FFF2-40B4-BE49-F238E27FC236}">
                      <a16:creationId xmlns:a16="http://schemas.microsoft.com/office/drawing/2014/main" id="{CCFA7DFB-B7B8-EE41-E1CC-E9D7BE39369E}"/>
                    </a:ext>
                  </a:extLst>
                </p:cNvPr>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116" name="모서리가 둥근 직사각형 115">
                  <a:extLst>
                    <a:ext uri="{FF2B5EF4-FFF2-40B4-BE49-F238E27FC236}">
                      <a16:creationId xmlns:a16="http://schemas.microsoft.com/office/drawing/2014/main" id="{F3DDF330-44BF-7DB5-CBAB-F5DE83FFCD3A}"/>
                    </a:ext>
                  </a:extLst>
                </p:cNvPr>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spTree>
    <p:extLst>
      <p:ext uri="{BB962C8B-B14F-4D97-AF65-F5344CB8AC3E}">
        <p14:creationId xmlns:p14="http://schemas.microsoft.com/office/powerpoint/2010/main" val="245673435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직사각형 25"/>
          <p:cNvSpPr/>
          <p:nvPr/>
        </p:nvSpPr>
        <p:spPr>
          <a:xfrm>
            <a:off x="6395948" y="2863014"/>
            <a:ext cx="5519827" cy="1808393"/>
          </a:xfrm>
          <a:prstGeom prst="rect">
            <a:avLst/>
          </a:prstGeom>
        </p:spPr>
        <p:txBody>
          <a:bodyPr wrap="square">
            <a:noAutofit/>
          </a:bodyPr>
          <a:lstStyle/>
          <a:p>
            <a:pPr marL="115888" indent="-115888" defTabSz="1038977" latinLnBrk="0">
              <a:spcAft>
                <a:spcPts val="800"/>
              </a:spcAft>
              <a:buFont typeface="Arial" panose="020B0604020202020204" pitchFamily="34" charset="0"/>
              <a:buChar char="•"/>
            </a:pPr>
            <a:r>
              <a:rPr lang="en-US" altLang="ko-KR" sz="1400" dirty="0" err="1">
                <a:latin typeface="나눔스퀘어" panose="020B0600000101010101" pitchFamily="50" charset="-127"/>
                <a:ea typeface="나눔스퀘어" panose="020B0600000101010101" pitchFamily="50" charset="-127"/>
              </a:rPr>
              <a:t>AI·High-tech</a:t>
            </a:r>
            <a:r>
              <a:rPr lang="en-US" altLang="ko-KR" sz="1400" dirty="0">
                <a:latin typeface="나눔스퀘어" panose="020B0600000101010101" pitchFamily="50" charset="-127"/>
                <a:ea typeface="나눔스퀘어" panose="020B0600000101010101" pitchFamily="50" charset="-127"/>
              </a:rPr>
              <a:t> </a:t>
            </a:r>
            <a:r>
              <a:rPr lang="en-US" altLang="ko-KR" sz="1400" dirty="0" smtClean="0">
                <a:latin typeface="나눔스퀘어" panose="020B0600000101010101" pitchFamily="50" charset="-127"/>
                <a:ea typeface="나눔스퀘어" panose="020B0600000101010101" pitchFamily="50" charset="-127"/>
              </a:rPr>
              <a:t>exports, </a:t>
            </a:r>
            <a:r>
              <a:rPr lang="en-US" altLang="ko-KR" sz="1400" dirty="0">
                <a:latin typeface="나눔스퀘어" panose="020B0600000101010101" pitchFamily="50" charset="-127"/>
                <a:ea typeface="나눔스퀘어" panose="020B0600000101010101" pitchFamily="50" charset="-127"/>
              </a:rPr>
              <a:t>driving demand on major Asia-US routes</a:t>
            </a:r>
          </a:p>
          <a:p>
            <a:pPr defTabSz="1038977" latinLnBrk="0">
              <a:spcAft>
                <a:spcPts val="800"/>
              </a:spcAft>
            </a:pPr>
            <a:r>
              <a:rPr lang="en-US" altLang="ko-KR" sz="1400" dirty="0">
                <a:latin typeface="나눔스퀘어" panose="020B0600000101010101" pitchFamily="50" charset="-127"/>
                <a:ea typeface="나눔스퀘어" panose="020B0600000101010101" pitchFamily="50" charset="-127"/>
              </a:rPr>
              <a:t>- Asia-US AI cargo volume </a:t>
            </a:r>
            <a:r>
              <a:rPr lang="en-US" altLang="ko-KR" sz="1400" dirty="0" smtClean="0">
                <a:latin typeface="나눔스퀘어" panose="020B0600000101010101" pitchFamily="50" charset="-127"/>
                <a:ea typeface="나눔스퀘어" panose="020B0600000101010101" pitchFamily="50" charset="-127"/>
              </a:rPr>
              <a:t>is </a:t>
            </a:r>
            <a:r>
              <a:rPr lang="en-US" altLang="ko-KR" sz="1400" dirty="0">
                <a:latin typeface="나눔스퀘어" panose="020B0600000101010101" pitchFamily="50" charset="-127"/>
                <a:ea typeface="나눔스퀘어" panose="020B0600000101010101" pitchFamily="50" charset="-127"/>
              </a:rPr>
              <a:t>394K tons, an 86.1% increase YoY</a:t>
            </a:r>
          </a:p>
          <a:p>
            <a:pPr defTabSz="1038977" latinLnBrk="0">
              <a:spcAft>
                <a:spcPts val="800"/>
              </a:spcAft>
            </a:pPr>
            <a:r>
              <a:rPr lang="en-US" altLang="ko-KR" sz="1400" spc="-40" dirty="0">
                <a:latin typeface="나눔스퀘어" panose="020B0600000101010101" pitchFamily="50" charset="-127"/>
                <a:ea typeface="나눔스퀘어" panose="020B0600000101010101" pitchFamily="50" charset="-127"/>
              </a:rPr>
              <a:t>- </a:t>
            </a:r>
            <a:r>
              <a:rPr lang="en-US" altLang="ko-KR" sz="1400" spc="-120" dirty="0">
                <a:latin typeface="나눔스퀘어" panose="020B0600000101010101" pitchFamily="50" charset="-127"/>
                <a:ea typeface="나눔스퀘어" panose="020B0600000101010101" pitchFamily="50" charset="-127"/>
              </a:rPr>
              <a:t>Growth led by Taiwan +259%, Thailand +198%, Vietnam +107%, Korea +69%</a:t>
            </a:r>
          </a:p>
          <a:p>
            <a:pPr defTabSz="1038977" latinLnBrk="0">
              <a:spcAft>
                <a:spcPts val="800"/>
              </a:spcAft>
            </a:pPr>
            <a:r>
              <a:rPr lang="en-US" altLang="ko-KR" sz="1400" spc="-40" dirty="0">
                <a:latin typeface="나눔스퀘어" panose="020B0600000101010101" pitchFamily="50" charset="-127"/>
                <a:ea typeface="나눔스퀘어" panose="020B0600000101010101" pitchFamily="50" charset="-127"/>
              </a:rPr>
              <a:t>- </a:t>
            </a:r>
            <a:r>
              <a:rPr lang="en-US" altLang="ko-KR" sz="1400" dirty="0">
                <a:latin typeface="나눔스퀘어" panose="020B0600000101010101" pitchFamily="50" charset="-127"/>
                <a:ea typeface="나눔스퀘어" panose="020B0600000101010101" pitchFamily="50" charset="-127"/>
              </a:rPr>
              <a:t>China </a:t>
            </a:r>
            <a:r>
              <a:rPr lang="en-US" altLang="ko-KR" sz="1400" dirty="0" smtClean="0">
                <a:latin typeface="나눔스퀘어" panose="020B0600000101010101" pitchFamily="50" charset="-127"/>
                <a:ea typeface="나눔스퀘어" panose="020B0600000101010101" pitchFamily="50" charset="-127"/>
              </a:rPr>
              <a:t>fell </a:t>
            </a:r>
            <a:r>
              <a:rPr lang="en-US" altLang="ko-KR" sz="1400" dirty="0">
                <a:latin typeface="나눔스퀘어" panose="020B0600000101010101" pitchFamily="50" charset="-127"/>
                <a:ea typeface="나눔스퀘어" panose="020B0600000101010101" pitchFamily="50" charset="-127"/>
              </a:rPr>
              <a:t>37% on new </a:t>
            </a:r>
            <a:r>
              <a:rPr lang="en-US" altLang="ko-KR" sz="1400" dirty="0" smtClean="0">
                <a:latin typeface="나눔스퀘어" panose="020B0600000101010101" pitchFamily="50" charset="-127"/>
                <a:ea typeface="나눔스퀘어" panose="020B0600000101010101" pitchFamily="50" charset="-127"/>
              </a:rPr>
              <a:t>U.S. </a:t>
            </a:r>
            <a:r>
              <a:rPr lang="en-US" altLang="ko-KR" sz="1400" dirty="0">
                <a:latin typeface="나눔스퀘어" panose="020B0600000101010101" pitchFamily="50" charset="-127"/>
                <a:ea typeface="나눔스퀘어" panose="020B0600000101010101" pitchFamily="50" charset="-127"/>
              </a:rPr>
              <a:t>tariffs and production relocation</a:t>
            </a:r>
          </a:p>
        </p:txBody>
      </p:sp>
      <p:sp>
        <p:nvSpPr>
          <p:cNvPr id="175" name="직사각형 25"/>
          <p:cNvSpPr/>
          <p:nvPr/>
        </p:nvSpPr>
        <p:spPr>
          <a:xfrm>
            <a:off x="6404682" y="4568167"/>
            <a:ext cx="5977818" cy="1808393"/>
          </a:xfrm>
          <a:prstGeom prst="rect">
            <a:avLst/>
          </a:prstGeom>
        </p:spPr>
        <p:txBody>
          <a:bodyPr wrap="square">
            <a:noAutofit/>
          </a:bodyPr>
          <a:lstStyle/>
          <a:p>
            <a:pPr marL="115200" indent="-115200" defTabSz="1038977" latinLnBrk="0">
              <a:spcAft>
                <a:spcPts val="800"/>
              </a:spcAft>
              <a:buFont typeface="Arial" panose="020B0604020202020204" pitchFamily="34" charset="0"/>
              <a:buChar char="•"/>
            </a:pPr>
            <a:r>
              <a:rPr lang="en-US" altLang="ko-KR" sz="1400" spc="-30" dirty="0">
                <a:latin typeface="나눔스퀘어" panose="020B0600000101010101" pitchFamily="50" charset="-127"/>
                <a:ea typeface="나눔스퀘어" panose="020B0600000101010101" pitchFamily="50" charset="-127"/>
              </a:rPr>
              <a:t>Transpacific rates showing differentiated gains on rising AI demand</a:t>
            </a:r>
          </a:p>
          <a:p>
            <a:pPr defTabSz="1038977" latinLnBrk="0">
              <a:spcAft>
                <a:spcPts val="800"/>
              </a:spcAft>
            </a:pPr>
            <a:r>
              <a:rPr lang="en-US" altLang="ko-KR" sz="1400" dirty="0">
                <a:latin typeface="나눔스퀘어" panose="020B0600000101010101" pitchFamily="50" charset="-127"/>
                <a:ea typeface="나눔스퀘어" panose="020B0600000101010101" pitchFamily="50" charset="-127"/>
              </a:rPr>
              <a:t> - Asia-NA rates up 36.1% YoY, +7.8%p above air freight index</a:t>
            </a:r>
          </a:p>
          <a:p>
            <a:pPr marL="115200" indent="-115200" defTabSz="1038977" latinLnBrk="0">
              <a:spcAft>
                <a:spcPts val="800"/>
              </a:spcAft>
              <a:buFont typeface="Arial" panose="020B0604020202020204" pitchFamily="34" charset="0"/>
              <a:buChar char="•"/>
            </a:pPr>
            <a:r>
              <a:rPr lang="en-US" altLang="ko-KR" sz="1400" spc="-50" dirty="0">
                <a:latin typeface="나눔스퀘어" panose="020B0600000101010101" pitchFamily="50" charset="-127"/>
                <a:ea typeface="나눔스퀘어" panose="020B0600000101010101" pitchFamily="50" charset="-127"/>
              </a:rPr>
              <a:t>AI cargo demand growth to continue through '27, limiting rate declines</a:t>
            </a:r>
          </a:p>
          <a:p>
            <a:pPr defTabSz="1038977" latinLnBrk="0">
              <a:spcAft>
                <a:spcPts val="800"/>
              </a:spcAft>
            </a:pPr>
            <a:r>
              <a:rPr lang="en-US" altLang="ko-KR" sz="1400" spc="-70" dirty="0">
                <a:latin typeface="나눔스퀘어" panose="020B0600000101010101" pitchFamily="50" charset="-127"/>
                <a:ea typeface="나눔스퀘어" panose="020B0600000101010101" pitchFamily="50" charset="-127"/>
              </a:rPr>
              <a:t> - '27 chip manufacturing equipment sales to increase 7.6% YoY to $156B</a:t>
            </a:r>
          </a:p>
          <a:p>
            <a:pPr defTabSz="1038977" latinLnBrk="0">
              <a:spcAft>
                <a:spcPts val="800"/>
              </a:spcAft>
            </a:pPr>
            <a:r>
              <a:rPr lang="en-US" altLang="ko-KR" sz="1400" spc="-100" dirty="0">
                <a:latin typeface="나눔스퀘어" panose="020B0600000101010101" pitchFamily="50" charset="-127"/>
                <a:ea typeface="나눔스퀘어" panose="020B0600000101010101" pitchFamily="50" charset="-127"/>
              </a:rPr>
              <a:t> - </a:t>
            </a:r>
            <a:r>
              <a:rPr lang="en-US" altLang="ko-KR" sz="1400" dirty="0">
                <a:latin typeface="나눔스퀘어" panose="020B0600000101010101" pitchFamily="50" charset="-127"/>
                <a:ea typeface="나눔스퀘어" panose="020B0600000101010101" pitchFamily="50" charset="-127"/>
              </a:rPr>
              <a:t>AI cargo's higher value and delivery sensitivity per kg may secure </a:t>
            </a:r>
          </a:p>
          <a:p>
            <a:pPr defTabSz="1038977" latinLnBrk="0">
              <a:spcAft>
                <a:spcPts val="800"/>
              </a:spcAft>
            </a:pPr>
            <a:r>
              <a:rPr lang="en-US" altLang="ko-KR" sz="1400" dirty="0">
                <a:latin typeface="나눔스퀘어" panose="020B0600000101010101" pitchFamily="50" charset="-127"/>
                <a:ea typeface="나눔스퀘어" panose="020B0600000101010101" pitchFamily="50" charset="-127"/>
              </a:rPr>
              <a:t>   space priority, supporting rates in peak season</a:t>
            </a:r>
          </a:p>
        </p:txBody>
      </p:sp>
      <p:graphicFrame>
        <p:nvGraphicFramePr>
          <p:cNvPr id="92" name="차트 91"/>
          <p:cNvGraphicFramePr>
            <a:graphicFrameLocks/>
          </p:cNvGraphicFramePr>
          <p:nvPr>
            <p:extLst>
              <p:ext uri="{D42A27DB-BD31-4B8C-83A1-F6EECF244321}">
                <p14:modId xmlns:p14="http://schemas.microsoft.com/office/powerpoint/2010/main" val="2053764755"/>
              </p:ext>
            </p:extLst>
          </p:nvPr>
        </p:nvGraphicFramePr>
        <p:xfrm>
          <a:off x="3158633" y="4298232"/>
          <a:ext cx="2958418" cy="2100327"/>
        </p:xfrm>
        <a:graphic>
          <a:graphicData uri="http://schemas.openxmlformats.org/drawingml/2006/chart">
            <c:chart xmlns:c="http://schemas.openxmlformats.org/drawingml/2006/chart" xmlns:r="http://schemas.openxmlformats.org/officeDocument/2006/relationships" r:id="rId3"/>
          </a:graphicData>
        </a:graphic>
      </p:graphicFrame>
      <p:sp>
        <p:nvSpPr>
          <p:cNvPr id="173" name="직사각형 25"/>
          <p:cNvSpPr/>
          <p:nvPr/>
        </p:nvSpPr>
        <p:spPr>
          <a:xfrm>
            <a:off x="525890" y="2909309"/>
            <a:ext cx="5634218" cy="1579920"/>
          </a:xfrm>
          <a:prstGeom prst="rect">
            <a:avLst/>
          </a:prstGeom>
        </p:spPr>
        <p:txBody>
          <a:bodyPr wrap="square">
            <a:spAutoFit/>
          </a:bodyPr>
          <a:lstStyle/>
          <a:p>
            <a:pPr marL="115888" indent="-115888" defTabSz="1038977" latinLnBrk="0">
              <a:spcAft>
                <a:spcPts val="800"/>
              </a:spcAft>
              <a:buFont typeface="Arial" panose="020B0604020202020204" pitchFamily="34" charset="0"/>
              <a:buChar char="•"/>
            </a:pPr>
            <a:r>
              <a:rPr lang="en-US" altLang="ko-KR" sz="1400" spc="-30" dirty="0">
                <a:latin typeface="나눔스퀘어" panose="020B0600000101010101" pitchFamily="50" charset="-127"/>
                <a:ea typeface="나눔스퀘어" panose="020B0600000101010101" pitchFamily="50" charset="-127"/>
              </a:rPr>
              <a:t>Surging AI demand is boosting transport volume and market </a:t>
            </a:r>
            <a:r>
              <a:rPr lang="en-US" altLang="ko-KR" sz="1400" spc="-30" dirty="0" smtClean="0">
                <a:latin typeface="나눔스퀘어" panose="020B0600000101010101" pitchFamily="50" charset="-127"/>
                <a:ea typeface="나눔스퀘어" panose="020B0600000101010101" pitchFamily="50" charset="-127"/>
              </a:rPr>
              <a:t>value</a:t>
            </a:r>
          </a:p>
          <a:p>
            <a:pPr defTabSz="1038977" latinLnBrk="0">
              <a:spcAft>
                <a:spcPts val="800"/>
              </a:spcAft>
            </a:pPr>
            <a:r>
              <a:rPr lang="en-US" altLang="ko-KR" sz="1400" spc="-30" dirty="0" smtClean="0">
                <a:latin typeface="나눔스퀘어" panose="020B0600000101010101" pitchFamily="50" charset="-127"/>
                <a:ea typeface="나눔스퀘어" panose="020B0600000101010101" pitchFamily="50" charset="-127"/>
              </a:rPr>
              <a:t> </a:t>
            </a:r>
            <a:r>
              <a:rPr lang="en-US" altLang="ko-KR" sz="1400" spc="-30" dirty="0">
                <a:latin typeface="나눔스퀘어" panose="020B0600000101010101" pitchFamily="50" charset="-127"/>
                <a:ea typeface="나눔스퀘어" panose="020B0600000101010101" pitchFamily="50" charset="-127"/>
              </a:rPr>
              <a:t>- In '25, Asia-origin trade value was $2.6T, AI cargo value at $1.7T</a:t>
            </a:r>
          </a:p>
          <a:p>
            <a:pPr marL="115888" indent="-115888" defTabSz="1038977" latinLnBrk="0">
              <a:spcAft>
                <a:spcPts val="800"/>
              </a:spcAft>
              <a:buFont typeface="Arial" panose="020B0604020202020204" pitchFamily="34" charset="0"/>
              <a:buChar char="•"/>
            </a:pPr>
            <a:r>
              <a:rPr lang="en-US" altLang="ko-KR" sz="1400" spc="-30" dirty="0" smtClean="0">
                <a:latin typeface="나눔스퀘어" panose="020B0600000101010101" pitchFamily="50" charset="-127"/>
                <a:ea typeface="나눔스퀘어" panose="020B0600000101010101" pitchFamily="50" charset="-127"/>
              </a:rPr>
              <a:t>AI </a:t>
            </a:r>
            <a:r>
              <a:rPr lang="en-US" altLang="ko-KR" sz="1400" spc="-30" dirty="0">
                <a:latin typeface="나눔스퀘어" panose="020B0600000101010101" pitchFamily="50" charset="-127"/>
                <a:ea typeface="나눔스퀘어" panose="020B0600000101010101" pitchFamily="50" charset="-127"/>
              </a:rPr>
              <a:t>cargo volume soars, expanding share and influence in air demand</a:t>
            </a:r>
          </a:p>
          <a:p>
            <a:pPr defTabSz="1038977" latinLnBrk="0">
              <a:spcAft>
                <a:spcPts val="800"/>
              </a:spcAft>
            </a:pPr>
            <a:r>
              <a:rPr lang="en-US" altLang="ko-KR" sz="1400" spc="-30" dirty="0">
                <a:latin typeface="나눔스퀘어" panose="020B0600000101010101" pitchFamily="50" charset="-127"/>
                <a:ea typeface="나눔스퀘어" panose="020B0600000101010101" pitchFamily="50" charset="-127"/>
              </a:rPr>
              <a:t> - </a:t>
            </a:r>
            <a:r>
              <a:rPr lang="en-US" altLang="ko-KR" sz="1400" dirty="0" smtClean="0">
                <a:latin typeface="나눔스퀘어" panose="020B0600000101010101" pitchFamily="50" charset="-127"/>
                <a:ea typeface="나눔스퀘어" panose="020B0600000101010101" pitchFamily="50" charset="-127"/>
              </a:rPr>
              <a:t>AI </a:t>
            </a:r>
            <a:r>
              <a:rPr lang="en-US" altLang="ko-KR" sz="1400" dirty="0">
                <a:latin typeface="나눔스퀘어" panose="020B0600000101010101" pitchFamily="50" charset="-127"/>
                <a:ea typeface="나눔스퀘어" panose="020B0600000101010101" pitchFamily="50" charset="-127"/>
              </a:rPr>
              <a:t>cargo growth 19% ('25) → 86% ('26), 46% of total </a:t>
            </a:r>
            <a:r>
              <a:rPr lang="en-US" altLang="ko-KR" sz="1400" dirty="0" smtClean="0">
                <a:latin typeface="나눔스퀘어" panose="020B0600000101010101" pitchFamily="50" charset="-127"/>
                <a:ea typeface="나눔스퀘어" panose="020B0600000101010101" pitchFamily="50" charset="-127"/>
              </a:rPr>
              <a:t>volume</a:t>
            </a:r>
          </a:p>
          <a:p>
            <a:pPr defTabSz="1038977" latinLnBrk="0">
              <a:spcAft>
                <a:spcPts val="800"/>
              </a:spcAft>
            </a:pPr>
            <a:r>
              <a:rPr lang="en-US" altLang="ko-KR" sz="1400" spc="-30" dirty="0">
                <a:latin typeface="나눔스퀘어" panose="020B0600000101010101" pitchFamily="50" charset="-127"/>
                <a:ea typeface="나눔스퀘어" panose="020B0600000101010101" pitchFamily="50" charset="-127"/>
              </a:rPr>
              <a:t> </a:t>
            </a:r>
            <a:r>
              <a:rPr lang="en-US" altLang="ko-KR" sz="1400" spc="-30" dirty="0" smtClean="0">
                <a:latin typeface="나눔스퀘어" panose="020B0600000101010101" pitchFamily="50" charset="-127"/>
                <a:ea typeface="나눔스퀘어" panose="020B0600000101010101" pitchFamily="50" charset="-127"/>
              </a:rPr>
              <a:t>- Q1 </a:t>
            </a:r>
            <a:r>
              <a:rPr lang="en-US" altLang="ko-KR" sz="1400" spc="-30" dirty="0">
                <a:latin typeface="나눔스퀘어" panose="020B0600000101010101" pitchFamily="50" charset="-127"/>
                <a:ea typeface="나눔스퀘어" panose="020B0600000101010101" pitchFamily="50" charset="-127"/>
              </a:rPr>
              <a:t>’26, grew 84% YoY, 7 times higher than other product categories</a:t>
            </a:r>
          </a:p>
        </p:txBody>
      </p:sp>
      <p:graphicFrame>
        <p:nvGraphicFramePr>
          <p:cNvPr id="78" name="차트 77"/>
          <p:cNvGraphicFramePr>
            <a:graphicFrameLocks/>
          </p:cNvGraphicFramePr>
          <p:nvPr>
            <p:extLst/>
          </p:nvPr>
        </p:nvGraphicFramePr>
        <p:xfrm>
          <a:off x="553439" y="4589901"/>
          <a:ext cx="2729308" cy="1834210"/>
        </p:xfrm>
        <a:graphic>
          <a:graphicData uri="http://schemas.openxmlformats.org/drawingml/2006/chart">
            <c:chart xmlns:c="http://schemas.openxmlformats.org/drawingml/2006/chart" xmlns:r="http://schemas.openxmlformats.org/officeDocument/2006/relationships" r:id="rId4"/>
          </a:graphicData>
        </a:graphic>
      </p:graphicFrame>
      <p:sp>
        <p:nvSpPr>
          <p:cNvPr id="3" name="텍스트 개체 틀 2"/>
          <p:cNvSpPr>
            <a:spLocks noGrp="1"/>
          </p:cNvSpPr>
          <p:nvPr>
            <p:ph type="body" sz="quarter" idx="10"/>
          </p:nvPr>
        </p:nvSpPr>
        <p:spPr>
          <a:xfrm>
            <a:off x="515937" y="1197383"/>
            <a:ext cx="11160125" cy="771752"/>
          </a:xfrm>
        </p:spPr>
        <p:txBody>
          <a:bodyPr/>
          <a:lstStyle/>
          <a:p>
            <a:pPr latinLnBrk="0"/>
            <a:r>
              <a:rPr lang="en-US" altLang="ko-KR" dirty="0" smtClean="0"/>
              <a:t>Structural AI demand growth expands its market share and influence, lifting Asia–NA volume and rates </a:t>
            </a:r>
          </a:p>
          <a:p>
            <a:pPr latinLnBrk="0"/>
            <a:r>
              <a:rPr lang="en-US" altLang="ko-KR" spc="-70" dirty="0"/>
              <a:t>In peak season and supply crunches, AI cargo's higher rate tolerance secures space </a:t>
            </a:r>
            <a:r>
              <a:rPr lang="en-US" altLang="ko-KR" spc="-70" dirty="0" smtClean="0"/>
              <a:t>priority, </a:t>
            </a:r>
            <a:r>
              <a:rPr lang="en-US" altLang="ko-KR" spc="-70" dirty="0"/>
              <a:t>limiting rate declines</a:t>
            </a:r>
          </a:p>
        </p:txBody>
      </p:sp>
      <p:grpSp>
        <p:nvGrpSpPr>
          <p:cNvPr id="35" name="组合 2"/>
          <p:cNvGrpSpPr/>
          <p:nvPr/>
        </p:nvGrpSpPr>
        <p:grpSpPr>
          <a:xfrm>
            <a:off x="503790" y="2117975"/>
            <a:ext cx="11167279" cy="374400"/>
            <a:chOff x="386534" y="1461600"/>
            <a:chExt cx="8375459" cy="280800"/>
          </a:xfrm>
        </p:grpSpPr>
        <p:grpSp>
          <p:nvGrpSpPr>
            <p:cNvPr id="36" name="그룹 46"/>
            <p:cNvGrpSpPr/>
            <p:nvPr/>
          </p:nvGrpSpPr>
          <p:grpSpPr>
            <a:xfrm>
              <a:off x="386535" y="1461600"/>
              <a:ext cx="8375458" cy="280800"/>
              <a:chOff x="386535" y="1383614"/>
              <a:chExt cx="8375458" cy="280800"/>
            </a:xfrm>
          </p:grpSpPr>
          <p:grpSp>
            <p:nvGrpSpPr>
              <p:cNvPr id="43" name="그룹 48"/>
              <p:cNvGrpSpPr/>
              <p:nvPr/>
            </p:nvGrpSpPr>
            <p:grpSpPr>
              <a:xfrm>
                <a:off x="386535" y="1383614"/>
                <a:ext cx="4077119" cy="280800"/>
                <a:chOff x="515380" y="1844820"/>
                <a:chExt cx="5436158" cy="374400"/>
              </a:xfrm>
            </p:grpSpPr>
            <p:sp>
              <p:nvSpPr>
                <p:cNvPr id="47" name="Rectangle 215"/>
                <p:cNvSpPr>
                  <a:spLocks noChangeArrowheads="1"/>
                </p:cNvSpPr>
                <p:nvPr/>
              </p:nvSpPr>
              <p:spPr bwMode="auto">
                <a:xfrm>
                  <a:off x="515380" y="1844820"/>
                  <a:ext cx="5436158"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48" name="TextBox 116"/>
                <p:cNvSpPr txBox="1">
                  <a:spLocks noChangeArrowheads="1"/>
                </p:cNvSpPr>
                <p:nvPr/>
              </p:nvSpPr>
              <p:spPr bwMode="auto">
                <a:xfrm>
                  <a:off x="673467" y="1915641"/>
                  <a:ext cx="511998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lvl="0" algn="ctr" defTabSz="1038977" eaLnBrk="1" hangingPunct="1"/>
                  <a:r>
                    <a:rPr kumimoji="0" lang="en-US" altLang="ko-KR" sz="15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AI Demand Expands Market Share </a:t>
                  </a:r>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and</a:t>
                  </a:r>
                  <a:r>
                    <a:rPr kumimoji="0" lang="en-US" altLang="ko-KR" sz="15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 Impact</a:t>
                  </a:r>
                </a:p>
              </p:txBody>
            </p:sp>
          </p:grpSp>
          <p:grpSp>
            <p:nvGrpSpPr>
              <p:cNvPr id="44" name="그룹 52"/>
              <p:cNvGrpSpPr/>
              <p:nvPr/>
            </p:nvGrpSpPr>
            <p:grpSpPr>
              <a:xfrm>
                <a:off x="4684993" y="1383614"/>
                <a:ext cx="4077000" cy="280800"/>
                <a:chOff x="6246657" y="1854463"/>
                <a:chExt cx="5436000" cy="374400"/>
              </a:xfrm>
            </p:grpSpPr>
            <p:sp>
              <p:nvSpPr>
                <p:cNvPr id="45" name="Rectangle 215"/>
                <p:cNvSpPr>
                  <a:spLocks noChangeArrowheads="1"/>
                </p:cNvSpPr>
                <p:nvPr/>
              </p:nvSpPr>
              <p:spPr bwMode="auto">
                <a:xfrm>
                  <a:off x="6246657" y="1854463"/>
                  <a:ext cx="5436000" cy="374400"/>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1219110" latinLnBrk="0">
                    <a:defRPr/>
                  </a:pPr>
                  <a:endParaRPr lang="ko-KR" altLang="ko-KR" sz="3200" dirty="0">
                    <a:ln>
                      <a:solidFill>
                        <a:prstClr val="white">
                          <a:alpha val="0"/>
                        </a:prstClr>
                      </a:solidFill>
                    </a:ln>
                    <a:solidFill>
                      <a:schemeClr val="bg1"/>
                    </a:solidFill>
                    <a:latin typeface="Segoe UI" panose="020B0502040204020203" pitchFamily="34" charset="0"/>
                    <a:ea typeface="나눔스퀘어" panose="020B0600000101010101" pitchFamily="50" charset="-127"/>
                    <a:cs typeface="Segoe UI" panose="020B0502040204020203" pitchFamily="34" charset="0"/>
                  </a:endParaRPr>
                </a:p>
              </p:txBody>
            </p:sp>
            <p:sp>
              <p:nvSpPr>
                <p:cNvPr id="46" name="TextBox 116"/>
                <p:cNvSpPr txBox="1">
                  <a:spLocks noChangeArrowheads="1"/>
                </p:cNvSpPr>
                <p:nvPr/>
              </p:nvSpPr>
              <p:spPr bwMode="auto">
                <a:xfrm>
                  <a:off x="6404665" y="1907501"/>
                  <a:ext cx="511998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Autofit/>
                </a:bodyPr>
                <a:lstStyle>
                  <a:lvl1pPr eaLnBrk="0" hangingPunct="0">
                    <a:defRPr kumimoji="1">
                      <a:solidFill>
                        <a:schemeClr val="tx1"/>
                      </a:solidFill>
                      <a:latin typeface="나눔스퀘어 Bold" pitchFamily="50" charset="-127"/>
                      <a:ea typeface="나눔스퀘어 Bold" pitchFamily="50" charset="-127"/>
                    </a:defRPr>
                  </a:lvl1pPr>
                  <a:lvl2pPr marL="742950" indent="-285750" eaLnBrk="0" hangingPunct="0">
                    <a:defRPr kumimoji="1">
                      <a:solidFill>
                        <a:schemeClr val="tx1"/>
                      </a:solidFill>
                      <a:latin typeface="나눔스퀘어 Bold" pitchFamily="50" charset="-127"/>
                      <a:ea typeface="나눔스퀘어 Bold" pitchFamily="50" charset="-127"/>
                    </a:defRPr>
                  </a:lvl2pPr>
                  <a:lvl3pPr marL="1143000" indent="-228600" eaLnBrk="0" hangingPunct="0">
                    <a:defRPr kumimoji="1">
                      <a:solidFill>
                        <a:schemeClr val="tx1"/>
                      </a:solidFill>
                      <a:latin typeface="나눔스퀘어 Bold" pitchFamily="50" charset="-127"/>
                      <a:ea typeface="나눔스퀘어 Bold" pitchFamily="50" charset="-127"/>
                    </a:defRPr>
                  </a:lvl3pPr>
                  <a:lvl4pPr marL="1600200" indent="-228600" eaLnBrk="0" hangingPunct="0">
                    <a:defRPr kumimoji="1">
                      <a:solidFill>
                        <a:schemeClr val="tx1"/>
                      </a:solidFill>
                      <a:latin typeface="나눔스퀘어 Bold" pitchFamily="50" charset="-127"/>
                      <a:ea typeface="나눔스퀘어 Bold" pitchFamily="50" charset="-127"/>
                    </a:defRPr>
                  </a:lvl4pPr>
                  <a:lvl5pPr marL="2057400" indent="-228600" eaLnBrk="0" hangingPunct="0">
                    <a:defRPr kumimoji="1">
                      <a:solidFill>
                        <a:schemeClr val="tx1"/>
                      </a:solidFill>
                      <a:latin typeface="나눔스퀘어 Bold" pitchFamily="50" charset="-127"/>
                      <a:ea typeface="나눔스퀘어 Bold" pitchFamily="50" charset="-127"/>
                    </a:defRPr>
                  </a:lvl5pPr>
                  <a:lvl6pPr marL="25146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6pPr>
                  <a:lvl7pPr marL="29718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7pPr>
                  <a:lvl8pPr marL="34290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8pPr>
                  <a:lvl9pPr marL="3886200" indent="-228600" eaLnBrk="0" fontAlgn="base" hangingPunct="0">
                    <a:spcBef>
                      <a:spcPct val="0"/>
                    </a:spcBef>
                    <a:spcAft>
                      <a:spcPct val="0"/>
                    </a:spcAft>
                    <a:defRPr kumimoji="1">
                      <a:solidFill>
                        <a:schemeClr val="tx1"/>
                      </a:solidFill>
                      <a:latin typeface="나눔스퀘어 Bold" pitchFamily="50" charset="-127"/>
                      <a:ea typeface="나눔스퀘어 Bold" pitchFamily="50" charset="-127"/>
                    </a:defRPr>
                  </a:lvl9pPr>
                </a:lstStyle>
                <a:p>
                  <a:pPr lvl="0" algn="ctr" defTabSz="1038977" eaLnBrk="1" hangingPunct="1"/>
                  <a:r>
                    <a:rPr kumimoji="0" lang="en-US" altLang="ko-KR" sz="1600" dirty="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Segoe UI" panose="020B0502040204020203" pitchFamily="34" charset="0"/>
                    </a:rPr>
                    <a:t>Main Route Volume and Rate Upside</a:t>
                  </a:r>
                </a:p>
              </p:txBody>
            </p:sp>
          </p:grpSp>
        </p:grpSp>
        <p:grpSp>
          <p:nvGrpSpPr>
            <p:cNvPr id="37" name="그룹 62"/>
            <p:cNvGrpSpPr/>
            <p:nvPr/>
          </p:nvGrpSpPr>
          <p:grpSpPr>
            <a:xfrm>
              <a:off x="386534" y="1461600"/>
              <a:ext cx="585066" cy="276223"/>
              <a:chOff x="-1523239" y="1275702"/>
              <a:chExt cx="564992" cy="357603"/>
            </a:xfrm>
          </p:grpSpPr>
          <p:sp>
            <p:nvSpPr>
              <p:cNvPr id="41" name="자유형 63"/>
              <p:cNvSpPr/>
              <p:nvPr/>
            </p:nvSpPr>
            <p:spPr>
              <a:xfrm>
                <a:off x="-1523239" y="1275702"/>
                <a:ext cx="564991" cy="357603"/>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42" name="자유형 64"/>
              <p:cNvSpPr/>
              <p:nvPr/>
            </p:nvSpPr>
            <p:spPr>
              <a:xfrm>
                <a:off x="-1523239" y="1275702"/>
                <a:ext cx="564992" cy="357603"/>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grpSp>
        <p:grpSp>
          <p:nvGrpSpPr>
            <p:cNvPr id="38" name="그룹 62"/>
            <p:cNvGrpSpPr/>
            <p:nvPr/>
          </p:nvGrpSpPr>
          <p:grpSpPr>
            <a:xfrm>
              <a:off x="4686893" y="1462337"/>
              <a:ext cx="585066" cy="276223"/>
              <a:chOff x="-1523239" y="1275702"/>
              <a:chExt cx="564992" cy="357603"/>
            </a:xfrm>
          </p:grpSpPr>
          <p:sp>
            <p:nvSpPr>
              <p:cNvPr id="39" name="자유형 63"/>
              <p:cNvSpPr/>
              <p:nvPr/>
            </p:nvSpPr>
            <p:spPr>
              <a:xfrm>
                <a:off x="-1523239" y="1275702"/>
                <a:ext cx="564991" cy="357603"/>
              </a:xfrm>
              <a:custGeom>
                <a:avLst/>
                <a:gdLst>
                  <a:gd name="connsiteX0" fmla="*/ 0 w 594724"/>
                  <a:gd name="connsiteY0" fmla="*/ 0 h 357603"/>
                  <a:gd name="connsiteX1" fmla="*/ 292922 w 594724"/>
                  <a:gd name="connsiteY1" fmla="*/ 0 h 357603"/>
                  <a:gd name="connsiteX2" fmla="*/ 359218 w 594724"/>
                  <a:gd name="connsiteY2" fmla="*/ 35984 h 357603"/>
                  <a:gd name="connsiteX3" fmla="*/ 576973 w 594724"/>
                  <a:gd name="connsiteY3" fmla="*/ 300419 h 357603"/>
                  <a:gd name="connsiteX4" fmla="*/ 594724 w 594724"/>
                  <a:gd name="connsiteY4" fmla="*/ 357603 h 357603"/>
                  <a:gd name="connsiteX5" fmla="*/ 0 w 594724"/>
                  <a:gd name="connsiteY5" fmla="*/ 357603 h 357603"/>
                  <a:gd name="connsiteX6" fmla="*/ 0 w 594724"/>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724" h="357603">
                    <a:moveTo>
                      <a:pt x="0" y="0"/>
                    </a:moveTo>
                    <a:lnTo>
                      <a:pt x="292922" y="0"/>
                    </a:lnTo>
                    <a:lnTo>
                      <a:pt x="359218" y="35984"/>
                    </a:lnTo>
                    <a:cubicBezTo>
                      <a:pt x="455142" y="100789"/>
                      <a:pt x="531353" y="192560"/>
                      <a:pt x="576973" y="300419"/>
                    </a:cubicBezTo>
                    <a:lnTo>
                      <a:pt x="594724" y="357603"/>
                    </a:lnTo>
                    <a:lnTo>
                      <a:pt x="0" y="357603"/>
                    </a:lnTo>
                    <a:lnTo>
                      <a:pt x="0" y="0"/>
                    </a:lnTo>
                    <a:close/>
                  </a:path>
                </a:pathLst>
              </a:custGeom>
              <a:solidFill>
                <a:schemeClr val="bg1">
                  <a:alpha val="8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sp>
            <p:nvSpPr>
              <p:cNvPr id="40" name="자유형 64"/>
              <p:cNvSpPr/>
              <p:nvPr/>
            </p:nvSpPr>
            <p:spPr>
              <a:xfrm>
                <a:off x="-1523239" y="1275702"/>
                <a:ext cx="564992" cy="357603"/>
              </a:xfrm>
              <a:custGeom>
                <a:avLst/>
                <a:gdLst>
                  <a:gd name="connsiteX0" fmla="*/ 0 w 607836"/>
                  <a:gd name="connsiteY0" fmla="*/ 0 h 357603"/>
                  <a:gd name="connsiteX1" fmla="*/ 607836 w 607836"/>
                  <a:gd name="connsiteY1" fmla="*/ 0 h 357603"/>
                  <a:gd name="connsiteX2" fmla="*/ 607453 w 607836"/>
                  <a:gd name="connsiteY2" fmla="*/ 1233 h 357603"/>
                  <a:gd name="connsiteX3" fmla="*/ 174785 w 607836"/>
                  <a:gd name="connsiteY3" fmla="*/ 356103 h 357603"/>
                  <a:gd name="connsiteX4" fmla="*/ 159906 w 607836"/>
                  <a:gd name="connsiteY4" fmla="*/ 357603 h 357603"/>
                  <a:gd name="connsiteX5" fmla="*/ 0 w 607836"/>
                  <a:gd name="connsiteY5" fmla="*/ 357603 h 357603"/>
                  <a:gd name="connsiteX6" fmla="*/ 0 w 607836"/>
                  <a:gd name="connsiteY6" fmla="*/ 0 h 3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836" h="357603">
                    <a:moveTo>
                      <a:pt x="0" y="0"/>
                    </a:moveTo>
                    <a:lnTo>
                      <a:pt x="607836" y="0"/>
                    </a:lnTo>
                    <a:lnTo>
                      <a:pt x="607453" y="1233"/>
                    </a:lnTo>
                    <a:cubicBezTo>
                      <a:pt x="531419" y="180999"/>
                      <a:pt x="370413" y="316072"/>
                      <a:pt x="174785" y="356103"/>
                    </a:cubicBezTo>
                    <a:lnTo>
                      <a:pt x="159906" y="357603"/>
                    </a:lnTo>
                    <a:lnTo>
                      <a:pt x="0" y="357603"/>
                    </a:lnTo>
                    <a:lnTo>
                      <a:pt x="0" y="0"/>
                    </a:lnTo>
                    <a:close/>
                  </a:path>
                </a:pathLst>
              </a:custGeom>
              <a:solidFill>
                <a:srgbClr val="0D3C67">
                  <a:alpha val="13000"/>
                </a:srgb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scene3d>
                  <a:camera prst="orthographicFront"/>
                  <a:lightRig rig="threePt" dir="t"/>
                </a:scene3d>
                <a:sp3d extrusionH="12700">
                  <a:bevelT w="0"/>
                  <a:contourClr>
                    <a:schemeClr val="bg1"/>
                  </a:contourClr>
                </a:sp3d>
              </a:bodyPr>
              <a:lstStyle/>
              <a:p>
                <a:pPr algn="ctr" defTabSz="1066921">
                  <a:buClr>
                    <a:srgbClr val="F06325"/>
                  </a:buClr>
                  <a:buSzPct val="80000"/>
                </a:pPr>
                <a:endParaRPr lang="ko-KR" altLang="en-US" sz="2000" dirty="0">
                  <a:ln>
                    <a:solidFill>
                      <a:prstClr val="white">
                        <a:lumMod val="85000"/>
                        <a:alpha val="0"/>
                      </a:prstClr>
                    </a:solidFill>
                  </a:ln>
                  <a:solidFill>
                    <a:schemeClr val="bg1"/>
                  </a:solidFill>
                  <a:latin typeface="Arial" panose="020B0604020202020204" pitchFamily="34" charset="0"/>
                  <a:ea typeface="Arial Unicode MS" panose="020B0604020202020204" pitchFamily="50" charset="-127"/>
                  <a:cs typeface="Arial" panose="020B0604020202020204" pitchFamily="34" charset="0"/>
                </a:endParaRPr>
              </a:p>
            </p:txBody>
          </p:sp>
        </p:grpSp>
      </p:grpSp>
      <p:sp>
        <p:nvSpPr>
          <p:cNvPr id="60" name="TextBox 59">
            <a:extLst>
              <a:ext uri="{FF2B5EF4-FFF2-40B4-BE49-F238E27FC236}">
                <a16:creationId xmlns:a16="http://schemas.microsoft.com/office/drawing/2014/main" id="{5C91891D-2B97-7824-4757-F84C493DF63F}"/>
              </a:ext>
            </a:extLst>
          </p:cNvPr>
          <p:cNvSpPr txBox="1"/>
          <p:nvPr/>
        </p:nvSpPr>
        <p:spPr>
          <a:xfrm>
            <a:off x="525890" y="6498737"/>
            <a:ext cx="1375377" cy="153888"/>
          </a:xfrm>
          <a:prstGeom prst="rect">
            <a:avLst/>
          </a:prstGeom>
          <a:noFill/>
        </p:spPr>
        <p:txBody>
          <a:bodyPr wrap="none" lIns="0" tIns="0" rIns="0" bIns="0" rtlCol="0" anchor="ctr">
            <a:spAutoFit/>
          </a:bodyPr>
          <a:lstStyle/>
          <a:p>
            <a:pPr latinLnBrk="0"/>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Source</a:t>
            </a:r>
            <a:r>
              <a:rPr lang="ko-KR" altLang="en-US"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 </a:t>
            </a:r>
            <a:r>
              <a:rPr lang="en-US" altLang="ko-KR" sz="1000" dirty="0" smtClean="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rPr>
              <a:t>IATA / Seabury</a:t>
            </a:r>
            <a:endParaRPr lang="en-US" altLang="ko-KR" sz="1000" dirty="0">
              <a:ln>
                <a:solidFill>
                  <a:srgbClr val="0FEFC4">
                    <a:alpha val="0"/>
                  </a:srgbClr>
                </a:solidFill>
              </a:ln>
              <a:solidFill>
                <a:schemeClr val="tx1">
                  <a:lumMod val="95000"/>
                  <a:lumOff val="5000"/>
                </a:schemeClr>
              </a:solidFill>
              <a:latin typeface="나눔스퀘어" panose="020B0600000101010101" pitchFamily="50" charset="-127"/>
              <a:ea typeface="나눔스퀘어" panose="020B0600000101010101" pitchFamily="50" charset="-127"/>
            </a:endParaRPr>
          </a:p>
        </p:txBody>
      </p:sp>
      <p:pic>
        <p:nvPicPr>
          <p:cNvPr id="50" name="Picture 200" descr="악세사리"/>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6200000">
            <a:off x="4339689" y="4546810"/>
            <a:ext cx="3535193" cy="91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77" name="TextBox 76"/>
          <p:cNvSpPr txBox="1"/>
          <p:nvPr/>
        </p:nvSpPr>
        <p:spPr>
          <a:xfrm>
            <a:off x="834072" y="4563276"/>
            <a:ext cx="2607983" cy="169277"/>
          </a:xfrm>
          <a:prstGeom prst="rect">
            <a:avLst/>
          </a:prstGeom>
          <a:noFill/>
        </p:spPr>
        <p:txBody>
          <a:bodyPr wrap="square" lIns="0" tIns="0" rIns="0" bIns="0" rtlCol="0">
            <a:spAutoFit/>
          </a:bodyPr>
          <a:lstStyle/>
          <a:p>
            <a:pPr algn="ctr"/>
            <a:r>
              <a:rPr lang="en-US" altLang="ko-KR" sz="1100" b="1" spc="-100" dirty="0">
                <a:solidFill>
                  <a:srgbClr val="595959"/>
                </a:solidFill>
                <a:latin typeface="나눔스퀘어" panose="020B0600000101010101" pitchFamily="50" charset="-127"/>
                <a:ea typeface="나눔스퀘어" panose="020B0600000101010101" pitchFamily="50" charset="-127"/>
              </a:rPr>
              <a:t>[Asia-U.S. </a:t>
            </a:r>
            <a:r>
              <a:rPr lang="en-US" altLang="ko-KR" sz="1100" b="1" spc="-100" dirty="0" smtClean="0">
                <a:solidFill>
                  <a:srgbClr val="595959"/>
                </a:solidFill>
                <a:latin typeface="나눔스퀘어" panose="020B0600000101010101" pitchFamily="50" charset="-127"/>
                <a:ea typeface="나눔스퀘어" panose="020B0600000101010101" pitchFamily="50" charset="-127"/>
              </a:rPr>
              <a:t>cargo volume in ’24-’26]</a:t>
            </a:r>
          </a:p>
        </p:txBody>
      </p:sp>
      <p:sp>
        <p:nvSpPr>
          <p:cNvPr id="100" name="TextBox 99"/>
          <p:cNvSpPr txBox="1"/>
          <p:nvPr/>
        </p:nvSpPr>
        <p:spPr>
          <a:xfrm>
            <a:off x="3560859" y="4579458"/>
            <a:ext cx="2607983" cy="169277"/>
          </a:xfrm>
          <a:prstGeom prst="rect">
            <a:avLst/>
          </a:prstGeom>
          <a:noFill/>
        </p:spPr>
        <p:txBody>
          <a:bodyPr wrap="square" lIns="0" tIns="0" rIns="0" bIns="0" rtlCol="0">
            <a:spAutoFit/>
          </a:bodyPr>
          <a:lstStyle/>
          <a:p>
            <a:pPr algn="ctr"/>
            <a:r>
              <a:rPr lang="en-US" altLang="ko-KR" sz="1100" b="1" spc="-100" dirty="0" smtClean="0">
                <a:solidFill>
                  <a:srgbClr val="595959"/>
                </a:solidFill>
                <a:latin typeface="나눔스퀘어" panose="020B0600000101010101" pitchFamily="50" charset="-127"/>
                <a:ea typeface="나눔스퀘어" panose="020B0600000101010101" pitchFamily="50" charset="-127"/>
              </a:rPr>
              <a:t>[Volume Growth Trend by Item]</a:t>
            </a:r>
            <a:endParaRPr lang="ko-KR" altLang="en-US" sz="1100" b="1" dirty="0">
              <a:solidFill>
                <a:srgbClr val="595959"/>
              </a:solidFill>
              <a:latin typeface="나눔스퀘어" panose="020B0600000101010101" pitchFamily="50" charset="-127"/>
              <a:ea typeface="나눔스퀘어" panose="020B0600000101010101" pitchFamily="50" charset="-127"/>
            </a:endParaRPr>
          </a:p>
        </p:txBody>
      </p:sp>
      <p:cxnSp>
        <p:nvCxnSpPr>
          <p:cNvPr id="101" name="직선 화살표 연결선 100"/>
          <p:cNvCxnSpPr>
            <a:stCxn id="102" idx="3"/>
            <a:endCxn id="104" idx="1"/>
          </p:cNvCxnSpPr>
          <p:nvPr/>
        </p:nvCxnSpPr>
        <p:spPr>
          <a:xfrm flipV="1">
            <a:off x="1537273" y="5463755"/>
            <a:ext cx="433355" cy="23655"/>
          </a:xfrm>
          <a:prstGeom prst="straightConnector1">
            <a:avLst/>
          </a:prstGeom>
          <a:ln w="12700" cap="rnd">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8651130" y="3392850"/>
            <a:ext cx="3167992" cy="138499"/>
          </a:xfrm>
          <a:prstGeom prst="rect">
            <a:avLst/>
          </a:prstGeom>
          <a:noFill/>
        </p:spPr>
        <p:txBody>
          <a:bodyPr wrap="square" lIns="0" tIns="0" rIns="0" bIns="0" rtlCol="0">
            <a:spAutoFit/>
          </a:bodyPr>
          <a:lstStyle>
            <a:defPPr>
              <a:defRPr lang="ko-KR"/>
            </a:defPPr>
            <a:lvl1pPr>
              <a:defRPr sz="900" spc="-100">
                <a:solidFill>
                  <a:srgbClr val="0000FF"/>
                </a:solidFill>
                <a:latin typeface="나눔스퀘어" panose="020B0600000101010101" pitchFamily="50" charset="-127"/>
                <a:ea typeface="나눔스퀘어" panose="020B0600000101010101" pitchFamily="50" charset="-127"/>
              </a:defRPr>
            </a:lvl1pPr>
          </a:lstStyle>
          <a:p>
            <a:r>
              <a:rPr lang="en-US" altLang="ko-KR" dirty="0" smtClean="0"/>
              <a:t>* From Jan.-Apr. </a:t>
            </a:r>
            <a:r>
              <a:rPr lang="en-US" altLang="ko-KR" dirty="0"/>
              <a:t>'26</a:t>
            </a:r>
            <a:endParaRPr lang="ko-KR" altLang="en-US" dirty="0"/>
          </a:p>
        </p:txBody>
      </p:sp>
      <p:sp>
        <p:nvSpPr>
          <p:cNvPr id="105" name="직사각형 104"/>
          <p:cNvSpPr/>
          <p:nvPr/>
        </p:nvSpPr>
        <p:spPr>
          <a:xfrm>
            <a:off x="2394829" y="5234684"/>
            <a:ext cx="1030641" cy="276999"/>
          </a:xfrm>
          <a:prstGeom prst="rect">
            <a:avLst/>
          </a:prstGeom>
        </p:spPr>
        <p:txBody>
          <a:bodyPr wrap="square" lIns="0" tIns="0" rIns="0" bIns="0" anchor="t" anchorCtr="0">
            <a:spAutoFit/>
          </a:bodyPr>
          <a:lstStyle/>
          <a:p>
            <a:pPr marR="0" lvl="0" algn="ctr" defTabSz="914400" rtl="0" eaLnBrk="1" fontAlgn="auto" latinLnBrk="1" hangingPunct="1">
              <a:lnSpc>
                <a:spcPct val="100000"/>
              </a:lnSpc>
              <a:spcBef>
                <a:spcPts val="0"/>
              </a:spcBef>
              <a:spcAft>
                <a:spcPts val="0"/>
              </a:spcAft>
              <a:buClrTx/>
              <a:buSzTx/>
              <a:tabLst/>
              <a:defRPr/>
            </a:pPr>
            <a:r>
              <a:rPr kumimoji="1" lang="en-US" altLang="ko-KR" sz="900" spc="-80" dirty="0" smtClean="0">
                <a:ln>
                  <a:solidFill>
                    <a:srgbClr val="002B5C">
                      <a:alpha val="0"/>
                    </a:srgbClr>
                  </a:solidFill>
                </a:ln>
                <a:solidFill>
                  <a:srgbClr val="FF0000"/>
                </a:solidFill>
                <a:latin typeface="나눔스퀘어" panose="020B0600000101010101" pitchFamily="50" charset="-127"/>
                <a:ea typeface="나눔스퀘어" panose="020B0600000101010101" pitchFamily="50" charset="-127"/>
                <a:cs typeface="Arial" panose="020B0604020202020204" pitchFamily="34" charset="0"/>
              </a:rPr>
              <a:t>AI Cargo, </a:t>
            </a:r>
          </a:p>
          <a:p>
            <a:pPr marR="0" lvl="0" algn="ctr" defTabSz="914400" rtl="0" eaLnBrk="1" fontAlgn="auto" latinLnBrk="1" hangingPunct="1">
              <a:lnSpc>
                <a:spcPct val="100000"/>
              </a:lnSpc>
              <a:spcBef>
                <a:spcPts val="0"/>
              </a:spcBef>
              <a:spcAft>
                <a:spcPts val="0"/>
              </a:spcAft>
              <a:buClrTx/>
              <a:buSzTx/>
              <a:tabLst/>
              <a:defRPr/>
            </a:pPr>
            <a:r>
              <a:rPr kumimoji="1" lang="en-US" altLang="ko-KR" sz="900" spc="-80" dirty="0" smtClean="0">
                <a:ln>
                  <a:solidFill>
                    <a:srgbClr val="002B5C">
                      <a:alpha val="0"/>
                    </a:srgbClr>
                  </a:solidFill>
                </a:ln>
                <a:solidFill>
                  <a:srgbClr val="FF0000"/>
                </a:solidFill>
                <a:latin typeface="나눔스퀘어" panose="020B0600000101010101" pitchFamily="50" charset="-127"/>
                <a:ea typeface="나눔스퀘어" panose="020B0600000101010101" pitchFamily="50" charset="-127"/>
                <a:cs typeface="Arial" panose="020B0604020202020204" pitchFamily="34" charset="0"/>
              </a:rPr>
              <a:t>46% of the total</a:t>
            </a:r>
            <a:endParaRPr kumimoji="1" lang="en-US" altLang="ko-KR" sz="900" i="0" u="none" strike="noStrike" kern="1200" cap="none" spc="-80" normalizeH="0" noProof="0" dirty="0">
              <a:ln>
                <a:solidFill>
                  <a:srgbClr val="002B5C">
                    <a:alpha val="0"/>
                  </a:srgbClr>
                </a:solidFill>
              </a:ln>
              <a:solidFill>
                <a:srgbClr val="FF0000"/>
              </a:solidFill>
              <a:effectLst/>
              <a:uLnTx/>
              <a:uFillTx/>
              <a:latin typeface="나눔스퀘어" panose="020B0600000101010101" pitchFamily="50" charset="-127"/>
              <a:ea typeface="나눔스퀘어" panose="020B0600000101010101" pitchFamily="50" charset="-127"/>
              <a:cs typeface="Arial" panose="020B0604020202020204" pitchFamily="34" charset="0"/>
            </a:endParaRPr>
          </a:p>
        </p:txBody>
      </p:sp>
      <p:pic>
        <p:nvPicPr>
          <p:cNvPr id="93" name="그림 92" descr="채점"/>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649950" y="4891959"/>
            <a:ext cx="352190" cy="289956"/>
          </a:xfrm>
          <a:prstGeom prst="rect">
            <a:avLst/>
          </a:prstGeom>
          <a:noFill/>
          <a:ln>
            <a:noFill/>
          </a:ln>
        </p:spPr>
      </p:pic>
      <p:sp>
        <p:nvSpPr>
          <p:cNvPr id="99" name="직사각형 98"/>
          <p:cNvSpPr/>
          <p:nvPr/>
        </p:nvSpPr>
        <p:spPr>
          <a:xfrm>
            <a:off x="2279529" y="5673175"/>
            <a:ext cx="359272" cy="138499"/>
          </a:xfrm>
          <a:prstGeom prst="rect">
            <a:avLst/>
          </a:prstGeom>
        </p:spPr>
        <p:txBody>
          <a:bodyPr wrap="square" lIns="0" tIns="0" rIns="0" bIns="0" anchor="t" anchorCtr="0">
            <a:spAutoFit/>
          </a:bodyPr>
          <a:lstStyle/>
          <a:p>
            <a:pPr marR="0" lvl="0" algn="l" defTabSz="914400" rtl="0" eaLnBrk="1" fontAlgn="auto" latinLnBrk="1" hangingPunct="1">
              <a:lnSpc>
                <a:spcPct val="100000"/>
              </a:lnSpc>
              <a:spcBef>
                <a:spcPts val="0"/>
              </a:spcBef>
              <a:spcAft>
                <a:spcPts val="0"/>
              </a:spcAft>
              <a:buClrTx/>
              <a:buSzTx/>
              <a:tabLst/>
              <a:defRPr/>
            </a:pPr>
            <a:r>
              <a:rPr kumimoji="1" lang="en-US" altLang="ko-KR" sz="900" b="1" spc="-80" dirty="0" smtClean="0">
                <a:ln>
                  <a:solidFill>
                    <a:srgbClr val="4F81BD">
                      <a:alpha val="0"/>
                    </a:srgbClr>
                  </a:solidFill>
                </a:ln>
                <a:solidFill>
                  <a:srgbClr val="FF0000"/>
                </a:solidFill>
                <a:latin typeface="나눔스퀘어" panose="020B0600000101010101" pitchFamily="50" charset="-127"/>
                <a:ea typeface="나눔스퀘어" panose="020B0600000101010101" pitchFamily="50" charset="-127"/>
                <a:cs typeface="Arial Unicode MS" panose="020B0604020202020204" pitchFamily="50" charset="-127"/>
              </a:rPr>
              <a:t>+86%</a:t>
            </a:r>
            <a:endParaRPr kumimoji="1" lang="en-US" altLang="ko-KR" sz="900" b="1" i="0" u="none" strike="noStrike" kern="1200" cap="none" spc="-80" normalizeH="0" noProof="0" dirty="0">
              <a:ln>
                <a:solidFill>
                  <a:srgbClr val="002B5C">
                    <a:alpha val="0"/>
                  </a:srgbClr>
                </a:solidFill>
              </a:ln>
              <a:solidFill>
                <a:srgbClr val="FF0000"/>
              </a:solidFill>
              <a:effectLst/>
              <a:uLnTx/>
              <a:uFillTx/>
              <a:latin typeface="나눔스퀘어" panose="020B0600000101010101" pitchFamily="50" charset="-127"/>
              <a:ea typeface="나눔스퀘어" panose="020B0600000101010101" pitchFamily="50" charset="-127"/>
              <a:cs typeface="Arial" panose="020B0604020202020204" pitchFamily="34" charset="0"/>
            </a:endParaRPr>
          </a:p>
        </p:txBody>
      </p:sp>
      <p:sp>
        <p:nvSpPr>
          <p:cNvPr id="110" name="직사각형 109"/>
          <p:cNvSpPr/>
          <p:nvPr/>
        </p:nvSpPr>
        <p:spPr>
          <a:xfrm>
            <a:off x="2004722" y="5388289"/>
            <a:ext cx="223200" cy="107020"/>
          </a:xfrm>
          <a:prstGeom prst="rect">
            <a:avLst/>
          </a:prstGeom>
          <a:pattFill prst="dkUpDiag">
            <a:fgClr>
              <a:schemeClr val="bg1"/>
            </a:fgClr>
            <a:bgClr>
              <a:srgbClr val="3CD0BA"/>
            </a:bgClr>
          </a:pattFill>
          <a:ln>
            <a:noFill/>
            <a:prstDash val="dash"/>
          </a:ln>
          <a:effectLst/>
        </p:spPr>
        <p:txBody>
          <a:bodyPr vert="horz" wrap="square" lIns="91440" tIns="45720" rIns="91440" bIns="45720" numCol="1" rtlCol="0" anchor="ctr" anchorCtr="0" compatLnSpc="1">
            <a:prstTxWarp prst="textNoShape">
              <a:avLst/>
            </a:prstTxWarp>
          </a:bodyPr>
          <a:lstStyle/>
          <a:p>
            <a:pPr algn="ctr"/>
            <a:endParaRPr lang="ko-KR" altLang="en-US" sz="2000" b="1" smtClean="0">
              <a:solidFill>
                <a:srgbClr val="0000FF"/>
              </a:solidFill>
            </a:endParaRPr>
          </a:p>
        </p:txBody>
      </p:sp>
      <p:sp>
        <p:nvSpPr>
          <p:cNvPr id="108" name="직사각형 107"/>
          <p:cNvSpPr/>
          <p:nvPr/>
        </p:nvSpPr>
        <p:spPr>
          <a:xfrm>
            <a:off x="1592061" y="5288995"/>
            <a:ext cx="359272" cy="153888"/>
          </a:xfrm>
          <a:prstGeom prst="rect">
            <a:avLst/>
          </a:prstGeom>
        </p:spPr>
        <p:txBody>
          <a:bodyPr wrap="square" lIns="0" tIns="0" rIns="0" bIns="0" anchor="t" anchorCtr="0">
            <a:spAutoFit/>
          </a:bodyPr>
          <a:lstStyle/>
          <a:p>
            <a:pPr marR="0" lvl="0" algn="l" defTabSz="914400" rtl="0" eaLnBrk="1" fontAlgn="auto" latinLnBrk="1" hangingPunct="1">
              <a:lnSpc>
                <a:spcPct val="100000"/>
              </a:lnSpc>
              <a:spcBef>
                <a:spcPts val="0"/>
              </a:spcBef>
              <a:spcAft>
                <a:spcPts val="0"/>
              </a:spcAft>
              <a:buClrTx/>
              <a:buSzTx/>
              <a:tabLst/>
              <a:defRPr/>
            </a:pPr>
            <a:r>
              <a:rPr kumimoji="1" lang="en-US" altLang="ko-KR" sz="1000" b="1" spc="-80" dirty="0" smtClean="0">
                <a:ln>
                  <a:solidFill>
                    <a:srgbClr val="4F81BD">
                      <a:alpha val="0"/>
                    </a:srgbClr>
                  </a:solidFill>
                </a:ln>
                <a:solidFill>
                  <a:srgbClr val="FF0000"/>
                </a:solidFill>
                <a:latin typeface="나눔스퀘어" panose="020B0600000101010101" pitchFamily="50" charset="-127"/>
                <a:ea typeface="나눔스퀘어" panose="020B0600000101010101" pitchFamily="50" charset="-127"/>
                <a:cs typeface="Arial Unicode MS" panose="020B0604020202020204" pitchFamily="50" charset="-127"/>
              </a:rPr>
              <a:t>+19%</a:t>
            </a:r>
            <a:endParaRPr kumimoji="1" lang="en-US" altLang="ko-KR" sz="1000" b="1" i="0" u="none" strike="noStrike" kern="1200" cap="none" spc="-80" normalizeH="0" noProof="0" dirty="0">
              <a:ln>
                <a:solidFill>
                  <a:srgbClr val="002B5C">
                    <a:alpha val="0"/>
                  </a:srgbClr>
                </a:solidFill>
              </a:ln>
              <a:solidFill>
                <a:srgbClr val="FF0000"/>
              </a:solidFill>
              <a:effectLst/>
              <a:uLnTx/>
              <a:uFillTx/>
              <a:latin typeface="나눔스퀘어" panose="020B0600000101010101" pitchFamily="50" charset="-127"/>
              <a:ea typeface="나눔스퀘어" panose="020B0600000101010101" pitchFamily="50" charset="-127"/>
              <a:cs typeface="Arial" panose="020B0604020202020204" pitchFamily="34" charset="0"/>
            </a:endParaRPr>
          </a:p>
        </p:txBody>
      </p:sp>
      <p:cxnSp>
        <p:nvCxnSpPr>
          <p:cNvPr id="121" name="직선 화살표 연결선 120"/>
          <p:cNvCxnSpPr>
            <a:stCxn id="120" idx="3"/>
            <a:endCxn id="97" idx="1"/>
          </p:cNvCxnSpPr>
          <p:nvPr/>
        </p:nvCxnSpPr>
        <p:spPr>
          <a:xfrm>
            <a:off x="2252804" y="5446460"/>
            <a:ext cx="447052" cy="369609"/>
          </a:xfrm>
          <a:prstGeom prst="straightConnector1">
            <a:avLst/>
          </a:prstGeom>
          <a:ln w="127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5" name="직사각형 84"/>
          <p:cNvSpPr/>
          <p:nvPr/>
        </p:nvSpPr>
        <p:spPr>
          <a:xfrm>
            <a:off x="1298287" y="5426989"/>
            <a:ext cx="228570" cy="83057"/>
          </a:xfrm>
          <a:prstGeom prst="rect">
            <a:avLst/>
          </a:prstGeom>
          <a:pattFill prst="dkUpDiag">
            <a:fgClr>
              <a:srgbClr val="3CD0BA"/>
            </a:fgClr>
            <a:bgClr>
              <a:schemeClr val="bg1"/>
            </a:bgClr>
          </a:pattFill>
          <a:ln>
            <a:noFill/>
            <a:prstDash val="dash"/>
          </a:ln>
          <a:effectLst/>
        </p:spPr>
        <p:txBody>
          <a:bodyPr vert="horz" wrap="square" lIns="91440" tIns="45720" rIns="91440" bIns="45720" numCol="1" rtlCol="0" anchor="ctr" anchorCtr="0" compatLnSpc="1">
            <a:prstTxWarp prst="textNoShape">
              <a:avLst/>
            </a:prstTxWarp>
          </a:bodyPr>
          <a:lstStyle/>
          <a:p>
            <a:pPr algn="ctr"/>
            <a:endParaRPr lang="ko-KR" altLang="en-US" sz="2000" b="1" smtClean="0">
              <a:solidFill>
                <a:srgbClr val="0000FF"/>
              </a:solidFill>
            </a:endParaRPr>
          </a:p>
        </p:txBody>
      </p:sp>
      <p:pic>
        <p:nvPicPr>
          <p:cNvPr id="104" name="그림 103" descr="채점"/>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970628" y="5342283"/>
            <a:ext cx="267003" cy="242943"/>
          </a:xfrm>
          <a:prstGeom prst="rect">
            <a:avLst/>
          </a:prstGeom>
          <a:noFill/>
          <a:ln>
            <a:noFill/>
          </a:ln>
        </p:spPr>
      </p:pic>
      <p:sp>
        <p:nvSpPr>
          <p:cNvPr id="120" name="TextBox 119"/>
          <p:cNvSpPr txBox="1"/>
          <p:nvPr/>
        </p:nvSpPr>
        <p:spPr>
          <a:xfrm>
            <a:off x="2023087" y="5377210"/>
            <a:ext cx="229717" cy="138499"/>
          </a:xfrm>
          <a:prstGeom prst="rect">
            <a:avLst/>
          </a:prstGeom>
          <a:noFill/>
        </p:spPr>
        <p:txBody>
          <a:bodyPr wrap="square" lIns="0" tIns="0" rIns="0" bIns="0" rtlCol="0">
            <a:spAutoFit/>
          </a:bodyPr>
          <a:lstStyle>
            <a:defPPr>
              <a:defRPr lang="ko-KR"/>
            </a:defPPr>
            <a:lvl1pPr>
              <a:defRPr sz="900" spc="-100">
                <a:solidFill>
                  <a:srgbClr val="0000FF"/>
                </a:solidFill>
                <a:latin typeface="나눔스퀘어" panose="020B0600000101010101" pitchFamily="50" charset="-127"/>
                <a:ea typeface="나눔스퀘어" panose="020B0600000101010101" pitchFamily="50" charset="-127"/>
              </a:defRPr>
            </a:lvl1pPr>
          </a:lstStyle>
          <a:p>
            <a:r>
              <a:rPr lang="en-US" altLang="ko-KR" b="1" dirty="0" smtClean="0">
                <a:solidFill>
                  <a:schemeClr val="tx1"/>
                </a:solidFill>
              </a:rPr>
              <a:t>212</a:t>
            </a:r>
            <a:endParaRPr lang="ko-KR" altLang="en-US" dirty="0">
              <a:solidFill>
                <a:schemeClr val="tx1"/>
              </a:solidFill>
            </a:endParaRPr>
          </a:p>
        </p:txBody>
      </p:sp>
      <p:pic>
        <p:nvPicPr>
          <p:cNvPr id="102" name="그림 101" descr="채점"/>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246244" y="5370050"/>
            <a:ext cx="291029" cy="234719"/>
          </a:xfrm>
          <a:prstGeom prst="rect">
            <a:avLst/>
          </a:prstGeom>
          <a:noFill/>
          <a:ln>
            <a:noFill/>
          </a:ln>
        </p:spPr>
      </p:pic>
      <p:sp>
        <p:nvSpPr>
          <p:cNvPr id="80" name="TextBox 79"/>
          <p:cNvSpPr txBox="1"/>
          <p:nvPr/>
        </p:nvSpPr>
        <p:spPr>
          <a:xfrm>
            <a:off x="1312571" y="5402014"/>
            <a:ext cx="301928" cy="139781"/>
          </a:xfrm>
          <a:prstGeom prst="rect">
            <a:avLst/>
          </a:prstGeom>
          <a:noFill/>
        </p:spPr>
        <p:txBody>
          <a:bodyPr wrap="square" lIns="0" tIns="0" rIns="0" bIns="0" rtlCol="0">
            <a:spAutoFit/>
          </a:bodyPr>
          <a:lstStyle>
            <a:defPPr>
              <a:defRPr lang="ko-KR"/>
            </a:defPPr>
            <a:lvl1pPr>
              <a:defRPr sz="900" spc="-100">
                <a:solidFill>
                  <a:srgbClr val="0000FF"/>
                </a:solidFill>
                <a:latin typeface="나눔스퀘어" panose="020B0600000101010101" pitchFamily="50" charset="-127"/>
                <a:ea typeface="나눔스퀘어" panose="020B0600000101010101" pitchFamily="50" charset="-127"/>
              </a:defRPr>
            </a:lvl1pPr>
          </a:lstStyle>
          <a:p>
            <a:r>
              <a:rPr lang="en-US" altLang="ko-KR" b="1" dirty="0" smtClean="0">
                <a:solidFill>
                  <a:schemeClr val="tx1"/>
                </a:solidFill>
              </a:rPr>
              <a:t>178</a:t>
            </a:r>
            <a:endParaRPr lang="ko-KR" altLang="en-US" dirty="0">
              <a:solidFill>
                <a:schemeClr val="tx1"/>
              </a:solidFill>
            </a:endParaRPr>
          </a:p>
        </p:txBody>
      </p:sp>
      <p:sp>
        <p:nvSpPr>
          <p:cNvPr id="95" name="직사각형 94"/>
          <p:cNvSpPr/>
          <p:nvPr/>
        </p:nvSpPr>
        <p:spPr>
          <a:xfrm>
            <a:off x="2707765" y="5708105"/>
            <a:ext cx="225862" cy="169769"/>
          </a:xfrm>
          <a:prstGeom prst="rect">
            <a:avLst/>
          </a:prstGeom>
          <a:pattFill prst="dkUpDiag">
            <a:fgClr>
              <a:schemeClr val="bg1"/>
            </a:fgClr>
            <a:bgClr>
              <a:srgbClr val="3CD0BA"/>
            </a:bgClr>
          </a:pattFill>
          <a:ln>
            <a:noFill/>
            <a:prstDash val="dash"/>
          </a:ln>
          <a:effectLst/>
        </p:spPr>
        <p:txBody>
          <a:bodyPr vert="horz" wrap="square" lIns="91440" tIns="45720" rIns="91440" bIns="45720" numCol="1" rtlCol="0" anchor="ctr" anchorCtr="0" compatLnSpc="1">
            <a:prstTxWarp prst="textNoShape">
              <a:avLst/>
            </a:prstTxWarp>
          </a:bodyPr>
          <a:lstStyle/>
          <a:p>
            <a:pPr algn="ctr"/>
            <a:endParaRPr lang="ko-KR" altLang="en-US" sz="2000" b="1" smtClean="0">
              <a:solidFill>
                <a:srgbClr val="0000FF"/>
              </a:solidFill>
            </a:endParaRPr>
          </a:p>
        </p:txBody>
      </p:sp>
      <p:sp>
        <p:nvSpPr>
          <p:cNvPr id="128" name="TextBox 127"/>
          <p:cNvSpPr txBox="1"/>
          <p:nvPr/>
        </p:nvSpPr>
        <p:spPr>
          <a:xfrm>
            <a:off x="2728073" y="5572062"/>
            <a:ext cx="229717" cy="138499"/>
          </a:xfrm>
          <a:prstGeom prst="rect">
            <a:avLst/>
          </a:prstGeom>
          <a:noFill/>
        </p:spPr>
        <p:txBody>
          <a:bodyPr wrap="square" lIns="0" tIns="0" rIns="0" bIns="0" rtlCol="0">
            <a:spAutoFit/>
          </a:bodyPr>
          <a:lstStyle>
            <a:defPPr>
              <a:defRPr lang="ko-KR"/>
            </a:defPPr>
            <a:lvl1pPr>
              <a:defRPr sz="900" spc="-100">
                <a:solidFill>
                  <a:srgbClr val="0000FF"/>
                </a:solidFill>
                <a:latin typeface="나눔스퀘어" panose="020B0600000101010101" pitchFamily="50" charset="-127"/>
                <a:ea typeface="나눔스퀘어" panose="020B0600000101010101" pitchFamily="50" charset="-127"/>
              </a:defRPr>
            </a:lvl1pPr>
          </a:lstStyle>
          <a:p>
            <a:r>
              <a:rPr lang="en-US" altLang="ko-KR" b="1" dirty="0" smtClean="0">
                <a:solidFill>
                  <a:schemeClr val="tx1"/>
                </a:solidFill>
              </a:rPr>
              <a:t>861</a:t>
            </a:r>
            <a:endParaRPr lang="ko-KR" altLang="en-US" dirty="0">
              <a:solidFill>
                <a:schemeClr val="tx1"/>
              </a:solidFill>
            </a:endParaRPr>
          </a:p>
        </p:txBody>
      </p:sp>
      <p:sp>
        <p:nvSpPr>
          <p:cNvPr id="131" name="TextBox 130">
            <a:extLst>
              <a:ext uri="{FF2B5EF4-FFF2-40B4-BE49-F238E27FC236}">
                <a16:creationId xmlns:a16="http://schemas.microsoft.com/office/drawing/2014/main" id="{F419EC2A-DA12-DE70-177E-D060836EC73B}"/>
              </a:ext>
            </a:extLst>
          </p:cNvPr>
          <p:cNvSpPr txBox="1"/>
          <p:nvPr/>
        </p:nvSpPr>
        <p:spPr>
          <a:xfrm>
            <a:off x="634832" y="4750875"/>
            <a:ext cx="398480" cy="138499"/>
          </a:xfrm>
          <a:prstGeom prst="rect">
            <a:avLst/>
          </a:prstGeom>
          <a:noFill/>
        </p:spPr>
        <p:txBody>
          <a:bodyPr wrap="square" lIns="0" tIns="0" rIns="0" bIns="0" rtlCol="0" anchor="ctr">
            <a:spAutoFit/>
          </a:bodyPr>
          <a:lstStyle/>
          <a:p>
            <a:pPr latinLnBrk="0"/>
            <a:r>
              <a:rPr lang="en-US" altLang="ko-KR" sz="900" dirty="0" smtClean="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rPr>
              <a:t>(k ton)</a:t>
            </a:r>
          </a:p>
        </p:txBody>
      </p:sp>
      <p:sp>
        <p:nvSpPr>
          <p:cNvPr id="123" name="TextBox 122"/>
          <p:cNvSpPr txBox="1"/>
          <p:nvPr/>
        </p:nvSpPr>
        <p:spPr>
          <a:xfrm>
            <a:off x="2733292" y="5730591"/>
            <a:ext cx="200335" cy="138499"/>
          </a:xfrm>
          <a:prstGeom prst="rect">
            <a:avLst/>
          </a:prstGeom>
          <a:noFill/>
        </p:spPr>
        <p:txBody>
          <a:bodyPr wrap="square" lIns="0" tIns="0" rIns="0" bIns="0" rtlCol="0">
            <a:spAutoFit/>
          </a:bodyPr>
          <a:lstStyle>
            <a:defPPr>
              <a:defRPr lang="ko-KR"/>
            </a:defPPr>
            <a:lvl1pPr>
              <a:defRPr sz="900" spc="-100">
                <a:solidFill>
                  <a:srgbClr val="0000FF"/>
                </a:solidFill>
                <a:latin typeface="나눔스퀘어" panose="020B0600000101010101" pitchFamily="50" charset="-127"/>
                <a:ea typeface="나눔스퀘어" panose="020B0600000101010101" pitchFamily="50" charset="-127"/>
              </a:defRPr>
            </a:lvl1pPr>
          </a:lstStyle>
          <a:p>
            <a:r>
              <a:rPr lang="en-US" altLang="ko-KR" b="1" dirty="0" smtClean="0">
                <a:solidFill>
                  <a:schemeClr val="tx1"/>
                </a:solidFill>
              </a:rPr>
              <a:t>394</a:t>
            </a:r>
            <a:endParaRPr lang="ko-KR" altLang="en-US" b="1" dirty="0">
              <a:solidFill>
                <a:schemeClr val="tx1"/>
              </a:solidFill>
            </a:endParaRPr>
          </a:p>
        </p:txBody>
      </p:sp>
      <p:pic>
        <p:nvPicPr>
          <p:cNvPr id="97" name="그림 96" descr="채점"/>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699856" y="5705742"/>
            <a:ext cx="267206" cy="220654"/>
          </a:xfrm>
          <a:prstGeom prst="rect">
            <a:avLst/>
          </a:prstGeom>
          <a:noFill/>
          <a:ln>
            <a:noFill/>
          </a:ln>
        </p:spPr>
      </p:pic>
      <p:sp>
        <p:nvSpPr>
          <p:cNvPr id="81" name="TextBox 80"/>
          <p:cNvSpPr txBox="1"/>
          <p:nvPr/>
        </p:nvSpPr>
        <p:spPr>
          <a:xfrm>
            <a:off x="7071315" y="4029222"/>
            <a:ext cx="3983421" cy="138499"/>
          </a:xfrm>
          <a:prstGeom prst="rect">
            <a:avLst/>
          </a:prstGeom>
          <a:noFill/>
        </p:spPr>
        <p:txBody>
          <a:bodyPr wrap="square" lIns="0" tIns="0" rIns="0" bIns="0" rtlCol="0">
            <a:spAutoFit/>
          </a:bodyPr>
          <a:lstStyle>
            <a:defPPr>
              <a:defRPr lang="ko-KR"/>
            </a:defPPr>
            <a:lvl1pPr>
              <a:defRPr sz="900" spc="-100">
                <a:solidFill>
                  <a:srgbClr val="0000FF"/>
                </a:solidFill>
                <a:latin typeface="나눔스퀘어" panose="020B0600000101010101" pitchFamily="50" charset="-127"/>
                <a:ea typeface="나눔스퀘어" panose="020B0600000101010101" pitchFamily="50" charset="-127"/>
              </a:defRPr>
            </a:lvl1pPr>
          </a:lstStyle>
          <a:p>
            <a:r>
              <a:rPr lang="en-US" altLang="ko-KR" dirty="0" smtClean="0"/>
              <a:t>* </a:t>
            </a:r>
            <a:r>
              <a:rPr lang="en-US" altLang="ko-KR" dirty="0"/>
              <a:t>Post US-China trade conflict, server assembly/post-process volumes shifted CN→VN·TH·TW·MX</a:t>
            </a:r>
            <a:endParaRPr lang="ko-KR" altLang="en-US" dirty="0"/>
          </a:p>
        </p:txBody>
      </p:sp>
      <p:sp>
        <p:nvSpPr>
          <p:cNvPr id="96" name="슬라이드 번호 개체 틀 5">
            <a:extLst>
              <a:ext uri="{FF2B5EF4-FFF2-40B4-BE49-F238E27FC236}">
                <a16:creationId xmlns:a16="http://schemas.microsoft.com/office/drawing/2014/main" id="{FAC1EB1B-E602-0247-88AB-A89AF71255A6}"/>
              </a:ext>
            </a:extLst>
          </p:cNvPr>
          <p:cNvSpPr txBox="1">
            <a:spLocks/>
          </p:cNvSpPr>
          <p:nvPr/>
        </p:nvSpPr>
        <p:spPr>
          <a:xfrm>
            <a:off x="5419725" y="6426152"/>
            <a:ext cx="788332" cy="326455"/>
          </a:xfrm>
          <a:prstGeom prst="rect">
            <a:avLst/>
          </a:prstGeom>
        </p:spPr>
        <p:txBody>
          <a:bodyPr lIns="162531" tIns="81264" rIns="162531" bIns="81264" anchor="ctr"/>
          <a:lstStyle>
            <a:lvl1pPr algn="r">
              <a:defRPr sz="1200">
                <a:solidFill>
                  <a:schemeClr val="tx1">
                    <a:tint val="75000"/>
                  </a:schemeClr>
                </a:solidFill>
              </a:defRPr>
            </a:lvl1pPr>
          </a:lstStyle>
          <a:p>
            <a:pPr defTabSz="1219048">
              <a:defRPr/>
            </a:pPr>
            <a:r>
              <a:rPr lang="en-US" altLang="ko-KR" dirty="0" smtClean="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rPr>
              <a:t>19</a:t>
            </a:r>
            <a:endParaRPr lang="ko-KR" altLang="en-US" dirty="0">
              <a:ln>
                <a:solidFill>
                  <a:prstClr val="white">
                    <a:alpha val="0"/>
                  </a:prstClr>
                </a:solidFill>
              </a:ln>
              <a:solidFill>
                <a:schemeClr val="tx1">
                  <a:lumMod val="65000"/>
                  <a:lumOff val="35000"/>
                  <a:alpha val="70000"/>
                </a:schemeClr>
              </a:solidFill>
              <a:latin typeface="나눔스퀘어 Bold" panose="020B0600000101010101" pitchFamily="50" charset="-127"/>
              <a:ea typeface="나눔스퀘어 Bold" panose="020B0600000101010101" pitchFamily="50" charset="-127"/>
              <a:cs typeface="Arial" panose="020B0604020202020204" pitchFamily="34" charset="0"/>
            </a:endParaRPr>
          </a:p>
        </p:txBody>
      </p:sp>
      <p:grpSp>
        <p:nvGrpSpPr>
          <p:cNvPr id="98" name="그룹 97"/>
          <p:cNvGrpSpPr/>
          <p:nvPr/>
        </p:nvGrpSpPr>
        <p:grpSpPr>
          <a:xfrm>
            <a:off x="10020301" y="6290"/>
            <a:ext cx="1778422" cy="552569"/>
            <a:chOff x="10020301" y="6290"/>
            <a:chExt cx="1778422" cy="552569"/>
          </a:xfrm>
        </p:grpSpPr>
        <p:cxnSp>
          <p:nvCxnSpPr>
            <p:cNvPr id="107" name="직선 연결선 106"/>
            <p:cNvCxnSpPr/>
            <p:nvPr/>
          </p:nvCxnSpPr>
          <p:spPr>
            <a:xfrm>
              <a:off x="11671487" y="6290"/>
              <a:ext cx="0" cy="313957"/>
            </a:xfrm>
            <a:prstGeom prst="line">
              <a:avLst/>
            </a:prstGeom>
            <a:ln w="635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1" name="TextBox 110"/>
            <p:cNvSpPr txBox="1"/>
            <p:nvPr/>
          </p:nvSpPr>
          <p:spPr>
            <a:xfrm>
              <a:off x="10020301" y="381709"/>
              <a:ext cx="1552032" cy="153888"/>
            </a:xfrm>
            <a:prstGeom prst="rect">
              <a:avLst/>
            </a:prstGeom>
            <a:noFill/>
            <a:ln w="9525">
              <a:noFill/>
              <a:miter lim="800000"/>
              <a:headEnd/>
              <a:tailEnd/>
            </a:ln>
          </p:spPr>
          <p:txBody>
            <a:bodyPr wrap="square" lIns="0" tIns="0" rIns="0" bIns="0" anchor="ctr">
              <a:spAutoFit/>
            </a:bodyPr>
            <a:lstStyle>
              <a:defPPr>
                <a:defRPr lang="ko-KR"/>
              </a:defPPr>
              <a:lvl1pPr defTabSz="914125" fontAlgn="base" latinLnBrk="0">
                <a:spcBef>
                  <a:spcPct val="0"/>
                </a:spcBef>
                <a:spcAft>
                  <a:spcPts val="200"/>
                </a:spcAft>
                <a:defRPr sz="1100" spc="-20">
                  <a:ln>
                    <a:solidFill>
                      <a:prstClr val="white">
                        <a:alpha val="0"/>
                      </a:prstClr>
                    </a:solidFill>
                  </a:ln>
                  <a:solidFill>
                    <a:schemeClr val="tx1">
                      <a:lumMod val="75000"/>
                      <a:lumOff val="25000"/>
                    </a:schemeClr>
                  </a:solidFill>
                  <a:latin typeface="KoPub돋움체 Bold" panose="02020603020101020101" pitchFamily="18" charset="-127"/>
                  <a:ea typeface="KoPub돋움체 Bold" panose="02020603020101020101" pitchFamily="18" charset="-127"/>
                  <a:cs typeface="Arial" charset="0"/>
                </a:defRPr>
              </a:lvl1pPr>
            </a:lstStyle>
            <a:p>
              <a:pPr lvl="0" algn="r">
                <a:defRPr/>
              </a:pPr>
              <a:r>
                <a:rPr lang="en-US" altLang="ko-KR"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rPr>
                <a:t>2026 2H Market Outlook</a:t>
              </a:r>
              <a:endParaRPr lang="ko-KR" altLang="en-US" sz="1000" spc="-80" dirty="0">
                <a:ln>
                  <a:solidFill>
                    <a:srgbClr val="C00000">
                      <a:alpha val="0"/>
                    </a:srgbClr>
                  </a:solidFill>
                </a:ln>
                <a:solidFill>
                  <a:prstClr val="black"/>
                </a:solidFill>
                <a:latin typeface="나눔스퀘어 Bold" panose="020B0600000101010101" pitchFamily="50" charset="-127"/>
                <a:ea typeface="나눔스퀘어 Bold" panose="020B0600000101010101" pitchFamily="50" charset="-127"/>
              </a:endParaRPr>
            </a:p>
          </p:txBody>
        </p:sp>
        <p:sp>
          <p:nvSpPr>
            <p:cNvPr id="115" name="타원 114"/>
            <p:cNvSpPr/>
            <p:nvPr/>
          </p:nvSpPr>
          <p:spPr>
            <a:xfrm>
              <a:off x="11340239"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20" normalizeH="0" baseline="0" noProof="0" dirty="0">
                <a:ln>
                  <a:solidFill>
                    <a:srgbClr val="C00000">
                      <a:alpha val="0"/>
                    </a:srgbClr>
                  </a:solidFill>
                </a:ln>
                <a:solidFill>
                  <a:prstClr val="white"/>
                </a:solidFill>
                <a:effectLst/>
                <a:uLnTx/>
                <a:uFillTx/>
                <a:latin typeface="나눔스퀘어" panose="020B0600000101010101" pitchFamily="50" charset="-127"/>
                <a:ea typeface="나눔스퀘어" panose="020B0600000101010101" pitchFamily="50" charset="-127"/>
                <a:cs typeface="+mn-cs"/>
              </a:endParaRPr>
            </a:p>
          </p:txBody>
        </p:sp>
        <p:sp>
          <p:nvSpPr>
            <p:cNvPr id="122" name="타원 121"/>
            <p:cNvSpPr/>
            <p:nvPr/>
          </p:nvSpPr>
          <p:spPr>
            <a:xfrm>
              <a:off x="11422266" y="290256"/>
              <a:ext cx="51827" cy="51827"/>
            </a:xfrm>
            <a:prstGeom prst="ellipse">
              <a:avLst/>
            </a:prstGeom>
            <a:solidFill>
              <a:srgbClr val="CCCCCC"/>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124" name="타원 123"/>
            <p:cNvSpPr/>
            <p:nvPr/>
          </p:nvSpPr>
          <p:spPr>
            <a:xfrm>
              <a:off x="11504294" y="290256"/>
              <a:ext cx="51827" cy="51827"/>
            </a:xfrm>
            <a:prstGeom prst="ellipse">
              <a:avLst/>
            </a:prstGeom>
            <a:solidFill>
              <a:srgbClr val="0146A0"/>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spc="-20" dirty="0">
                <a:ln>
                  <a:solidFill>
                    <a:srgbClr val="C00000">
                      <a:alpha val="0"/>
                    </a:srgbClr>
                  </a:solidFill>
                </a:ln>
                <a:solidFill>
                  <a:prstClr val="white"/>
                </a:solidFill>
                <a:latin typeface="나눔스퀘어" panose="020B0600000101010101" pitchFamily="50" charset="-127"/>
                <a:ea typeface="나눔스퀘어" panose="020B0600000101010101" pitchFamily="50" charset="-127"/>
              </a:endParaRPr>
            </a:p>
          </p:txBody>
        </p:sp>
        <p:sp>
          <p:nvSpPr>
            <p:cNvPr id="125" name="TextBox 124"/>
            <p:cNvSpPr txBox="1"/>
            <p:nvPr/>
          </p:nvSpPr>
          <p:spPr>
            <a:xfrm>
              <a:off x="11646437" y="343415"/>
              <a:ext cx="152286" cy="215444"/>
            </a:xfrm>
            <a:prstGeom prst="rect">
              <a:avLst/>
            </a:prstGeom>
            <a:noFill/>
          </p:spPr>
          <p:txBody>
            <a:bodyPr wrap="none" lIns="0" tIns="0" rIns="0" bIns="0" rtlCol="0" anchor="ctr" anchorCtr="0">
              <a:spAutoFit/>
            </a:bodyPr>
            <a:lstStyle>
              <a:defPPr>
                <a:defRPr lang="ko-KR"/>
              </a:defPPr>
              <a:lvl1pPr>
                <a:spcAft>
                  <a:spcPts val="300"/>
                </a:spcAft>
                <a:defRPr sz="2800" spc="-100">
                  <a:ln>
                    <a:solidFill>
                      <a:schemeClr val="bg1">
                        <a:alpha val="0"/>
                      </a:schemeClr>
                    </a:solidFill>
                  </a:ln>
                  <a:solidFill>
                    <a:srgbClr val="005B8D"/>
                  </a:solidFill>
                  <a:latin typeface="Times New Roman" panose="02020603050405020304" pitchFamily="18" charset="0"/>
                  <a:ea typeface="KoPub돋움체 Bold" panose="02020603020101020101" pitchFamily="18" charset="-127"/>
                  <a:cs typeface="Times New Roman" panose="02020603050405020304" pitchFamily="18" charset="0"/>
                </a:defRPr>
              </a:lvl1pPr>
            </a:lstStyle>
            <a:p>
              <a:pPr latinLnBrk="0">
                <a:defRPr/>
              </a:pPr>
              <a:r>
                <a:rPr lang="en-US" altLang="ko-KR" sz="1400" spc="-150" dirty="0" smtClean="0">
                  <a:ln>
                    <a:solidFill>
                      <a:prstClr val="white">
                        <a:alpha val="0"/>
                      </a:prstClr>
                    </a:solidFill>
                  </a:ln>
                  <a:solidFill>
                    <a:srgbClr val="0146A0"/>
                  </a:solidFill>
                  <a:ea typeface="KoPub돋움체 Medium" panose="02020603020101020101" pitchFamily="18" charset="-127"/>
                </a:rPr>
                <a:t>Ⅲ</a:t>
              </a:r>
              <a:endParaRPr lang="en-US" altLang="ko-KR" sz="1400" spc="-150" dirty="0">
                <a:ln>
                  <a:solidFill>
                    <a:prstClr val="white">
                      <a:alpha val="0"/>
                    </a:prstClr>
                  </a:solidFill>
                </a:ln>
                <a:solidFill>
                  <a:srgbClr val="0146A0"/>
                </a:solidFill>
                <a:ea typeface="KoPub돋움체 Medium" panose="02020603020101020101" pitchFamily="18" charset="-127"/>
              </a:endParaRPr>
            </a:p>
          </p:txBody>
        </p:sp>
      </p:grpSp>
      <p:sp>
        <p:nvSpPr>
          <p:cNvPr id="103" name="TextBox 102"/>
          <p:cNvSpPr txBox="1"/>
          <p:nvPr/>
        </p:nvSpPr>
        <p:spPr>
          <a:xfrm>
            <a:off x="3863084" y="3445288"/>
            <a:ext cx="1492351" cy="138499"/>
          </a:xfrm>
          <a:prstGeom prst="rect">
            <a:avLst/>
          </a:prstGeom>
          <a:noFill/>
        </p:spPr>
        <p:txBody>
          <a:bodyPr wrap="square" lIns="0" tIns="0" rIns="0" bIns="0" rtlCol="0">
            <a:spAutoFit/>
          </a:bodyPr>
          <a:lstStyle>
            <a:defPPr>
              <a:defRPr lang="ko-KR"/>
            </a:defPPr>
            <a:lvl1pPr>
              <a:defRPr sz="900" spc="-100">
                <a:solidFill>
                  <a:srgbClr val="0000FF"/>
                </a:solidFill>
                <a:latin typeface="나눔스퀘어" panose="020B0600000101010101" pitchFamily="50" charset="-127"/>
                <a:ea typeface="나눔스퀘어" panose="020B0600000101010101" pitchFamily="50" charset="-127"/>
              </a:defRPr>
            </a:lvl1pPr>
          </a:lstStyle>
          <a:p>
            <a:r>
              <a:rPr lang="en-US" altLang="ko-KR" dirty="0" smtClean="0"/>
              <a:t>* $</a:t>
            </a:r>
            <a:r>
              <a:rPr lang="en-US" altLang="ko-KR" dirty="0"/>
              <a:t>1.39T in '24,  </a:t>
            </a:r>
            <a:r>
              <a:rPr lang="en-US" altLang="ko-KR" dirty="0" smtClean="0"/>
              <a:t>24.5% increase YoY</a:t>
            </a:r>
            <a:endParaRPr lang="ko-KR" altLang="en-US" dirty="0"/>
          </a:p>
        </p:txBody>
      </p:sp>
      <p:sp>
        <p:nvSpPr>
          <p:cNvPr id="126" name="TextBox 125"/>
          <p:cNvSpPr txBox="1"/>
          <p:nvPr/>
        </p:nvSpPr>
        <p:spPr>
          <a:xfrm>
            <a:off x="2051547" y="4058846"/>
            <a:ext cx="1538297" cy="138499"/>
          </a:xfrm>
          <a:prstGeom prst="rect">
            <a:avLst/>
          </a:prstGeom>
          <a:noFill/>
        </p:spPr>
        <p:txBody>
          <a:bodyPr wrap="square" lIns="0" tIns="0" rIns="0" bIns="0" rtlCol="0">
            <a:spAutoFit/>
          </a:bodyPr>
          <a:lstStyle>
            <a:defPPr>
              <a:defRPr lang="ko-KR"/>
            </a:defPPr>
            <a:lvl1pPr>
              <a:defRPr sz="900" spc="-100">
                <a:solidFill>
                  <a:srgbClr val="0000FF"/>
                </a:solidFill>
                <a:latin typeface="나눔스퀘어" panose="020B0600000101010101" pitchFamily="50" charset="-127"/>
                <a:ea typeface="나눔스퀘어" panose="020B0600000101010101" pitchFamily="50" charset="-127"/>
              </a:defRPr>
            </a:lvl1pPr>
          </a:lstStyle>
          <a:p>
            <a:r>
              <a:rPr lang="en-US" altLang="ko-KR" dirty="0"/>
              <a:t>* </a:t>
            </a:r>
            <a:r>
              <a:rPr lang="en-US" altLang="ko-KR" dirty="0" smtClean="0"/>
              <a:t>From Jan . – Apr., YoY</a:t>
            </a:r>
            <a:endParaRPr lang="ko-KR" altLang="en-US" dirty="0"/>
          </a:p>
        </p:txBody>
      </p:sp>
      <p:sp>
        <p:nvSpPr>
          <p:cNvPr id="129" name="TextBox 128"/>
          <p:cNvSpPr txBox="1"/>
          <p:nvPr/>
        </p:nvSpPr>
        <p:spPr>
          <a:xfrm>
            <a:off x="9063025" y="5748965"/>
            <a:ext cx="2967538" cy="138499"/>
          </a:xfrm>
          <a:prstGeom prst="rect">
            <a:avLst/>
          </a:prstGeom>
          <a:noFill/>
        </p:spPr>
        <p:txBody>
          <a:bodyPr wrap="square" lIns="0" tIns="0" rIns="0" bIns="0" rtlCol="0">
            <a:spAutoFit/>
          </a:bodyPr>
          <a:lstStyle>
            <a:defPPr>
              <a:defRPr lang="ko-KR"/>
            </a:defPPr>
            <a:lvl1pPr>
              <a:defRPr sz="900" spc="-100">
                <a:solidFill>
                  <a:srgbClr val="0000FF"/>
                </a:solidFill>
                <a:latin typeface="나눔스퀘어" panose="020B0600000101010101" pitchFamily="50" charset="-127"/>
                <a:ea typeface="나눔스퀘어" panose="020B0600000101010101" pitchFamily="50" charset="-127"/>
              </a:defRPr>
            </a:lvl1pPr>
          </a:lstStyle>
          <a:p>
            <a:pPr defTabSz="1038977" latinLnBrk="0">
              <a:spcAft>
                <a:spcPts val="800"/>
              </a:spcAft>
            </a:pPr>
            <a:r>
              <a:rPr lang="en-US" altLang="ko-KR" dirty="0" smtClean="0"/>
              <a:t>*  SEMI, $</a:t>
            </a:r>
            <a:r>
              <a:rPr lang="en-US" altLang="ko-KR" spc="-40" dirty="0" smtClean="0"/>
              <a:t>133B </a:t>
            </a:r>
            <a:r>
              <a:rPr lang="en-US" altLang="ko-KR" spc="-40" dirty="0"/>
              <a:t>in </a:t>
            </a:r>
            <a:r>
              <a:rPr lang="en-US" altLang="ko-KR" dirty="0"/>
              <a:t>'</a:t>
            </a:r>
            <a:r>
              <a:rPr lang="en-US" altLang="ko-KR" spc="-40" dirty="0" smtClean="0"/>
              <a:t>25→$145B in </a:t>
            </a:r>
            <a:r>
              <a:rPr lang="en-US" altLang="ko-KR" dirty="0"/>
              <a:t>'</a:t>
            </a:r>
            <a:r>
              <a:rPr lang="en-US" altLang="ko-KR" spc="-40" dirty="0" smtClean="0"/>
              <a:t>26 -&gt;$156B in </a:t>
            </a:r>
            <a:r>
              <a:rPr lang="en-US" altLang="ko-KR" dirty="0"/>
              <a:t>'</a:t>
            </a:r>
            <a:r>
              <a:rPr lang="en-US" altLang="ko-KR" spc="-40" dirty="0" smtClean="0"/>
              <a:t>27</a:t>
            </a:r>
            <a:endParaRPr lang="en-US" altLang="ko-KR" spc="-40" dirty="0"/>
          </a:p>
        </p:txBody>
      </p:sp>
      <p:sp>
        <p:nvSpPr>
          <p:cNvPr id="130" name="TextBox 129"/>
          <p:cNvSpPr txBox="1"/>
          <p:nvPr/>
        </p:nvSpPr>
        <p:spPr>
          <a:xfrm>
            <a:off x="9643055" y="5111403"/>
            <a:ext cx="1240190" cy="138499"/>
          </a:xfrm>
          <a:prstGeom prst="rect">
            <a:avLst/>
          </a:prstGeom>
          <a:noFill/>
        </p:spPr>
        <p:txBody>
          <a:bodyPr wrap="square" lIns="0" tIns="0" rIns="0" bIns="0" rtlCol="0">
            <a:spAutoFit/>
          </a:bodyPr>
          <a:lstStyle>
            <a:defPPr>
              <a:defRPr lang="ko-KR"/>
            </a:defPPr>
            <a:lvl1pPr>
              <a:defRPr sz="900" spc="-100">
                <a:solidFill>
                  <a:srgbClr val="0000FF"/>
                </a:solidFill>
                <a:latin typeface="나눔스퀘어" panose="020B0600000101010101" pitchFamily="50" charset="-127"/>
                <a:ea typeface="나눔스퀘어" panose="020B0600000101010101" pitchFamily="50" charset="-127"/>
              </a:defRPr>
            </a:lvl1pPr>
          </a:lstStyle>
          <a:p>
            <a:r>
              <a:rPr lang="en-US" altLang="ko-KR" dirty="0" smtClean="0"/>
              <a:t>* BAI00, +28.3%</a:t>
            </a:r>
            <a:endParaRPr lang="ko-KR" altLang="en-US" dirty="0"/>
          </a:p>
        </p:txBody>
      </p:sp>
      <p:sp>
        <p:nvSpPr>
          <p:cNvPr id="132" name="TextBox 131"/>
          <p:cNvSpPr txBox="1"/>
          <p:nvPr/>
        </p:nvSpPr>
        <p:spPr>
          <a:xfrm>
            <a:off x="7857633" y="5111403"/>
            <a:ext cx="1520220" cy="138499"/>
          </a:xfrm>
          <a:prstGeom prst="rect">
            <a:avLst/>
          </a:prstGeom>
          <a:noFill/>
        </p:spPr>
        <p:txBody>
          <a:bodyPr wrap="square" lIns="0" tIns="0" rIns="0" bIns="0" rtlCol="0">
            <a:spAutoFit/>
          </a:bodyPr>
          <a:lstStyle>
            <a:defPPr>
              <a:defRPr lang="ko-KR"/>
            </a:defPPr>
            <a:lvl1pPr>
              <a:defRPr sz="900" spc="-100">
                <a:solidFill>
                  <a:srgbClr val="0000FF"/>
                </a:solidFill>
                <a:latin typeface="나눔스퀘어" panose="020B0600000101010101" pitchFamily="50" charset="-127"/>
                <a:ea typeface="나눔스퀘어" panose="020B0600000101010101" pitchFamily="50" charset="-127"/>
              </a:defRPr>
            </a:lvl1pPr>
          </a:lstStyle>
          <a:p>
            <a:r>
              <a:rPr lang="en-US" altLang="ko-KR" dirty="0"/>
              <a:t>*  Q2 avg., $5.02/kg</a:t>
            </a:r>
            <a:r>
              <a:rPr lang="en-US" altLang="ko-KR" dirty="0" smtClean="0"/>
              <a:t>→$6.84/kg</a:t>
            </a:r>
            <a:endParaRPr lang="ko-KR" altLang="en-US" dirty="0"/>
          </a:p>
        </p:txBody>
      </p:sp>
      <p:sp>
        <p:nvSpPr>
          <p:cNvPr id="133" name="TextBox 132"/>
          <p:cNvSpPr txBox="1"/>
          <p:nvPr/>
        </p:nvSpPr>
        <p:spPr>
          <a:xfrm>
            <a:off x="7439356" y="6060921"/>
            <a:ext cx="2370742" cy="138499"/>
          </a:xfrm>
          <a:prstGeom prst="rect">
            <a:avLst/>
          </a:prstGeom>
          <a:noFill/>
        </p:spPr>
        <p:txBody>
          <a:bodyPr wrap="square" lIns="0" tIns="0" rIns="0" bIns="0" rtlCol="0">
            <a:spAutoFit/>
          </a:bodyPr>
          <a:lstStyle>
            <a:defPPr>
              <a:defRPr lang="ko-KR"/>
            </a:defPPr>
            <a:lvl1pPr>
              <a:defRPr sz="900" spc="-100">
                <a:solidFill>
                  <a:srgbClr val="0000FF"/>
                </a:solidFill>
                <a:latin typeface="나눔스퀘어" panose="020B0600000101010101" pitchFamily="50" charset="-127"/>
                <a:ea typeface="나눔스퀘어" panose="020B0600000101010101" pitchFamily="50" charset="-127"/>
              </a:defRPr>
            </a:lvl1pPr>
          </a:lstStyle>
          <a:p>
            <a:pPr defTabSz="1038977" latinLnBrk="0">
              <a:spcAft>
                <a:spcPts val="800"/>
              </a:spcAft>
            </a:pPr>
            <a:r>
              <a:rPr lang="en-US" altLang="ko-KR" dirty="0" smtClean="0"/>
              <a:t>*  </a:t>
            </a:r>
            <a:r>
              <a:rPr lang="it-IT" altLang="ko-KR" dirty="0"/>
              <a:t>AI cargo value per kg estimated at ~15x general cargo</a:t>
            </a:r>
            <a:endParaRPr lang="en-US" altLang="ko-KR" spc="-40" dirty="0"/>
          </a:p>
        </p:txBody>
      </p:sp>
      <p:sp>
        <p:nvSpPr>
          <p:cNvPr id="94" name="TextBox 93">
            <a:extLst>
              <a:ext uri="{FF2B5EF4-FFF2-40B4-BE49-F238E27FC236}">
                <a16:creationId xmlns:a16="http://schemas.microsoft.com/office/drawing/2014/main" id="{F419EC2A-DA12-DE70-177E-D060836EC73B}"/>
              </a:ext>
            </a:extLst>
          </p:cNvPr>
          <p:cNvSpPr txBox="1"/>
          <p:nvPr/>
        </p:nvSpPr>
        <p:spPr>
          <a:xfrm>
            <a:off x="897534" y="6251383"/>
            <a:ext cx="4270400" cy="153888"/>
          </a:xfrm>
          <a:prstGeom prst="rect">
            <a:avLst/>
          </a:prstGeom>
          <a:noFill/>
        </p:spPr>
        <p:txBody>
          <a:bodyPr wrap="none" lIns="0" tIns="0" rIns="0" bIns="0" rtlCol="0" anchor="ctr">
            <a:spAutoFit/>
          </a:bodyPr>
          <a:lstStyle>
            <a:defPPr>
              <a:defRPr lang="ko-KR"/>
            </a:defPPr>
            <a:lvl1pPr latinLnBrk="0">
              <a:defRPr sz="1000" spc="-50">
                <a:ln>
                  <a:solidFill>
                    <a:srgbClr val="0FEFC4">
                      <a:alpha val="0"/>
                    </a:srgbClr>
                  </a:solidFill>
                </a:ln>
                <a:solidFill>
                  <a:schemeClr val="tx1">
                    <a:lumMod val="65000"/>
                    <a:lumOff val="35000"/>
                  </a:schemeClr>
                </a:solidFill>
                <a:latin typeface="나눔스퀘어" panose="020B0600000101010101" pitchFamily="50" charset="-127"/>
                <a:ea typeface="나눔스퀘어" panose="020B0600000101010101" pitchFamily="50" charset="-127"/>
              </a:defRPr>
            </a:lvl1pPr>
          </a:lstStyle>
          <a:p>
            <a:r>
              <a:rPr lang="en-US" altLang="ko-KR" dirty="0"/>
              <a:t>※ </a:t>
            </a:r>
            <a:r>
              <a:rPr lang="en-US" altLang="ko-KR" dirty="0" err="1" smtClean="0"/>
              <a:t>AI·High</a:t>
            </a:r>
            <a:r>
              <a:rPr lang="en-US" altLang="ko-KR" dirty="0"/>
              <a:t> </a:t>
            </a:r>
            <a:r>
              <a:rPr lang="en-US" altLang="ko-KR" dirty="0" smtClean="0"/>
              <a:t>Tech: </a:t>
            </a:r>
            <a:r>
              <a:rPr lang="en-US" altLang="ko-KR" dirty="0"/>
              <a:t>Telecom/Semiconductors/Computers/Scientific </a:t>
            </a:r>
            <a:r>
              <a:rPr lang="en-US" altLang="ko-KR" dirty="0" err="1"/>
              <a:t>machinery·parts</a:t>
            </a:r>
            <a:endParaRPr lang="ko-KR" altLang="en-US" dirty="0"/>
          </a:p>
        </p:txBody>
      </p:sp>
      <p:sp>
        <p:nvSpPr>
          <p:cNvPr id="106" name="제목 1"/>
          <p:cNvSpPr txBox="1">
            <a:spLocks/>
          </p:cNvSpPr>
          <p:nvPr/>
        </p:nvSpPr>
        <p:spPr>
          <a:xfrm>
            <a:off x="515938" y="333375"/>
            <a:ext cx="11676062" cy="880283"/>
          </a:xfrm>
          <a:prstGeom prst="rect">
            <a:avLst/>
          </a:prstGeom>
        </p:spPr>
        <p:txBody>
          <a:bodyPr lIns="0" rIns="0" anchor="ctr"/>
          <a:lstStyle>
            <a:lvl1pPr algn="l" defTabSz="914400" rtl="0" eaLnBrk="1" latinLnBrk="1" hangingPunct="1">
              <a:lnSpc>
                <a:spcPct val="90000"/>
              </a:lnSpc>
              <a:spcBef>
                <a:spcPct val="0"/>
              </a:spcBef>
              <a:buNone/>
              <a:defRPr sz="3200" kern="1200">
                <a:solidFill>
                  <a:schemeClr val="tx1"/>
                </a:solidFill>
                <a:latin typeface="나눔스퀘어 ExtraBold" panose="020B0600000101010101" pitchFamily="50" charset="-127"/>
                <a:ea typeface="나눔스퀘어 ExtraBold" panose="020B0600000101010101" pitchFamily="50" charset="-127"/>
                <a:cs typeface="+mj-cs"/>
              </a:defRPr>
            </a:lvl1pPr>
          </a:lstStyle>
          <a:p>
            <a:r>
              <a:rPr lang="en-US" altLang="ko-KR" spc="-120" dirty="0" smtClean="0"/>
              <a:t>Air Market Outlook </a:t>
            </a:r>
            <a:r>
              <a:rPr lang="en-US" altLang="ko-KR" spc="-120" dirty="0" smtClean="0">
                <a:solidFill>
                  <a:prstClr val="black"/>
                </a:solidFill>
              </a:rPr>
              <a:t>|</a:t>
            </a:r>
            <a:r>
              <a:rPr lang="en-US" altLang="ko-KR" sz="2400" spc="-120" dirty="0" smtClean="0">
                <a:solidFill>
                  <a:prstClr val="black"/>
                </a:solidFill>
              </a:rPr>
              <a:t> </a:t>
            </a:r>
            <a:r>
              <a:rPr lang="en-US" altLang="ko-KR" sz="2400" spc="-150" dirty="0" smtClean="0">
                <a:solidFill>
                  <a:prstClr val="black"/>
                </a:solidFill>
              </a:rPr>
              <a:t>Key </a:t>
            </a:r>
            <a:r>
              <a:rPr lang="en-US" altLang="ko-KR" sz="2400" spc="-100" dirty="0">
                <a:solidFill>
                  <a:prstClr val="black"/>
                </a:solidFill>
              </a:rPr>
              <a:t>Driver</a:t>
            </a:r>
            <a:r>
              <a:rPr lang="en-US" altLang="ko-KR" sz="2400" spc="-150" dirty="0" smtClean="0">
                <a:solidFill>
                  <a:prstClr val="black"/>
                </a:solidFill>
              </a:rPr>
              <a:t> </a:t>
            </a:r>
            <a:r>
              <a:rPr lang="en-US" altLang="ko-KR" sz="2400" spc="-150" dirty="0">
                <a:solidFill>
                  <a:prstClr val="black"/>
                </a:solidFill>
              </a:rPr>
              <a:t>② - AI Boom Restructures Air Market</a:t>
            </a:r>
            <a:endParaRPr lang="ko-KR" altLang="en-US" sz="2400" spc="-150" dirty="0"/>
          </a:p>
        </p:txBody>
      </p:sp>
      <p:grpSp>
        <p:nvGrpSpPr>
          <p:cNvPr id="152" name="그룹 151"/>
          <p:cNvGrpSpPr/>
          <p:nvPr/>
        </p:nvGrpSpPr>
        <p:grpSpPr>
          <a:xfrm>
            <a:off x="6335441" y="4252528"/>
            <a:ext cx="5369056" cy="230832"/>
            <a:chOff x="522352" y="2590117"/>
            <a:chExt cx="5410242" cy="230832"/>
          </a:xfrm>
        </p:grpSpPr>
        <p:sp>
          <p:nvSpPr>
            <p:cNvPr id="153" name="직사각형 152">
              <a:extLst>
                <a:ext uri="{FF2B5EF4-FFF2-40B4-BE49-F238E27FC236}">
                  <a16:creationId xmlns:a16="http://schemas.microsoft.com/office/drawing/2014/main" id="{5E1BAC51-93E3-4E55-A59B-3BB621CD3405}"/>
                </a:ext>
              </a:extLst>
            </p:cNvPr>
            <p:cNvSpPr/>
            <p:nvPr/>
          </p:nvSpPr>
          <p:spPr>
            <a:xfrm>
              <a:off x="781342" y="2590117"/>
              <a:ext cx="5151252" cy="230832"/>
            </a:xfrm>
            <a:prstGeom prst="rect">
              <a:avLst/>
            </a:prstGeom>
            <a:noFill/>
          </p:spPr>
          <p:txBody>
            <a:bodyPr wrap="none" lIns="0" tIns="0" rIns="0" bIns="0" anchor="t">
              <a:noAutofit/>
            </a:bodyPr>
            <a:lstStyle/>
            <a:p>
              <a:pPr latinLnBrk="0">
                <a:defRPr/>
              </a:pPr>
              <a:r>
                <a:rPr lang="en-US" altLang="ko-KR" sz="1600" spc="-50" dirty="0">
                  <a:ln>
                    <a:solidFill>
                      <a:prstClr val="white">
                        <a:alpha val="0"/>
                      </a:prstClr>
                    </a:solidFill>
                  </a:ln>
                  <a:latin typeface="나눔스퀘어 ExtraBold" panose="020B0600000101010101" pitchFamily="50" charset="-127"/>
                  <a:ea typeface="나눔스퀘어 ExtraBold" panose="020B0600000101010101" pitchFamily="50" charset="-127"/>
                  <a:cs typeface="Arial" panose="020B0604020202020204" pitchFamily="34" charset="0"/>
                </a:rPr>
                <a:t>Wider gains on major routes limit overall rate downside</a:t>
              </a:r>
            </a:p>
          </p:txBody>
        </p:sp>
        <p:grpSp>
          <p:nvGrpSpPr>
            <p:cNvPr id="154" name="그룹 153"/>
            <p:cNvGrpSpPr/>
            <p:nvPr/>
          </p:nvGrpSpPr>
          <p:grpSpPr>
            <a:xfrm>
              <a:off x="522352" y="2609533"/>
              <a:ext cx="192000" cy="192000"/>
              <a:chOff x="412816" y="1633655"/>
              <a:chExt cx="184804" cy="185998"/>
            </a:xfrm>
          </p:grpSpPr>
          <p:sp>
            <p:nvSpPr>
              <p:cNvPr id="155" name="모서리가 둥근 직사각형 154"/>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156" name="그룹 186"/>
              <p:cNvGrpSpPr/>
              <p:nvPr/>
            </p:nvGrpSpPr>
            <p:grpSpPr>
              <a:xfrm>
                <a:off x="454440" y="1688440"/>
                <a:ext cx="106516" cy="76455"/>
                <a:chOff x="3366478" y="5412581"/>
                <a:chExt cx="126078" cy="89916"/>
              </a:xfrm>
              <a:solidFill>
                <a:schemeClr val="bg1"/>
              </a:solidFill>
            </p:grpSpPr>
            <p:sp>
              <p:nvSpPr>
                <p:cNvPr id="157" name="모서리가 둥근 직사각형 156"/>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158" name="모서리가 둥근 직사각형 157"/>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grpSp>
        <p:nvGrpSpPr>
          <p:cNvPr id="159" name="그룹 158">
            <a:extLst>
              <a:ext uri="{FF2B5EF4-FFF2-40B4-BE49-F238E27FC236}">
                <a16:creationId xmlns:a16="http://schemas.microsoft.com/office/drawing/2014/main" id="{EF295706-448F-E9F8-6950-97D9B68EEEB9}"/>
              </a:ext>
            </a:extLst>
          </p:cNvPr>
          <p:cNvGrpSpPr/>
          <p:nvPr/>
        </p:nvGrpSpPr>
        <p:grpSpPr>
          <a:xfrm>
            <a:off x="6290801" y="2599033"/>
            <a:ext cx="5410242" cy="230832"/>
            <a:chOff x="522352" y="2590117"/>
            <a:chExt cx="5410242" cy="230832"/>
          </a:xfrm>
        </p:grpSpPr>
        <p:sp>
          <p:nvSpPr>
            <p:cNvPr id="160" name="직사각형 159">
              <a:extLst>
                <a:ext uri="{FF2B5EF4-FFF2-40B4-BE49-F238E27FC236}">
                  <a16:creationId xmlns:a16="http://schemas.microsoft.com/office/drawing/2014/main" id="{4046860D-C324-CEDE-CB74-5CA6C157F262}"/>
                </a:ext>
              </a:extLst>
            </p:cNvPr>
            <p:cNvSpPr/>
            <p:nvPr/>
          </p:nvSpPr>
          <p:spPr>
            <a:xfrm>
              <a:off x="781342" y="2590117"/>
              <a:ext cx="5151252" cy="230832"/>
            </a:xfrm>
            <a:prstGeom prst="rect">
              <a:avLst/>
            </a:prstGeom>
            <a:noFill/>
          </p:spPr>
          <p:txBody>
            <a:bodyPr wrap="none" lIns="0" tIns="0" rIns="0" bIns="0" anchor="t">
              <a:noAutofit/>
            </a:bodyPr>
            <a:lstStyle/>
            <a:p>
              <a:pPr latinLnBrk="0">
                <a:defRPr/>
              </a:pPr>
              <a:r>
                <a:rPr lang="en-US" altLang="ko-KR" sz="1500" dirty="0">
                  <a:ln>
                    <a:solidFill>
                      <a:prstClr val="white">
                        <a:alpha val="0"/>
                      </a:prstClr>
                    </a:solidFill>
                  </a:ln>
                  <a:latin typeface="나눔스퀘어 ExtraBold" panose="020B0600000101010101" pitchFamily="50" charset="-127"/>
                  <a:ea typeface="나눔스퀘어 ExtraBold" panose="020B0600000101010101" pitchFamily="50" charset="-127"/>
                  <a:cs typeface="Arial" panose="020B0604020202020204" pitchFamily="34" charset="0"/>
                </a:rPr>
                <a:t>AI cargo, transpacific route volume and rate increases</a:t>
              </a:r>
            </a:p>
          </p:txBody>
        </p:sp>
        <p:grpSp>
          <p:nvGrpSpPr>
            <p:cNvPr id="161" name="그룹 160">
              <a:extLst>
                <a:ext uri="{FF2B5EF4-FFF2-40B4-BE49-F238E27FC236}">
                  <a16:creationId xmlns:a16="http://schemas.microsoft.com/office/drawing/2014/main" id="{60F9DA37-A4B6-8083-096A-75F9B9A801BD}"/>
                </a:ext>
              </a:extLst>
            </p:cNvPr>
            <p:cNvGrpSpPr/>
            <p:nvPr/>
          </p:nvGrpSpPr>
          <p:grpSpPr>
            <a:xfrm>
              <a:off x="522352" y="2609533"/>
              <a:ext cx="192000" cy="192000"/>
              <a:chOff x="412816" y="1633655"/>
              <a:chExt cx="184804" cy="185998"/>
            </a:xfrm>
          </p:grpSpPr>
          <p:sp>
            <p:nvSpPr>
              <p:cNvPr id="162" name="모서리가 둥근 직사각형 161">
                <a:extLst>
                  <a:ext uri="{FF2B5EF4-FFF2-40B4-BE49-F238E27FC236}">
                    <a16:creationId xmlns:a16="http://schemas.microsoft.com/office/drawing/2014/main" id="{24C50D10-136A-C13B-7860-B3159558891F}"/>
                  </a:ext>
                </a:extLst>
              </p:cNvPr>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163" name="그룹 186">
                <a:extLst>
                  <a:ext uri="{FF2B5EF4-FFF2-40B4-BE49-F238E27FC236}">
                    <a16:creationId xmlns:a16="http://schemas.microsoft.com/office/drawing/2014/main" id="{7F155D93-9560-DFB2-BBD9-BAED35A39F72}"/>
                  </a:ext>
                </a:extLst>
              </p:cNvPr>
              <p:cNvGrpSpPr/>
              <p:nvPr/>
            </p:nvGrpSpPr>
            <p:grpSpPr>
              <a:xfrm>
                <a:off x="454440" y="1688440"/>
                <a:ext cx="106516" cy="76455"/>
                <a:chOff x="3366478" y="5412581"/>
                <a:chExt cx="126078" cy="89916"/>
              </a:xfrm>
              <a:solidFill>
                <a:schemeClr val="bg1"/>
              </a:solidFill>
            </p:grpSpPr>
            <p:sp>
              <p:nvSpPr>
                <p:cNvPr id="164" name="모서리가 둥근 직사각형 163">
                  <a:extLst>
                    <a:ext uri="{FF2B5EF4-FFF2-40B4-BE49-F238E27FC236}">
                      <a16:creationId xmlns:a16="http://schemas.microsoft.com/office/drawing/2014/main" id="{CAE7FADE-62C4-5B41-9772-EEDDAB1BD5C2}"/>
                    </a:ext>
                  </a:extLst>
                </p:cNvPr>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165" name="모서리가 둥근 직사각형 164">
                  <a:extLst>
                    <a:ext uri="{FF2B5EF4-FFF2-40B4-BE49-F238E27FC236}">
                      <a16:creationId xmlns:a16="http://schemas.microsoft.com/office/drawing/2014/main" id="{8D39F778-6FBA-9465-6FDC-3682D55B9DFB}"/>
                    </a:ext>
                  </a:extLst>
                </p:cNvPr>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grpSp>
        <p:nvGrpSpPr>
          <p:cNvPr id="166" name="그룹 165">
            <a:extLst>
              <a:ext uri="{FF2B5EF4-FFF2-40B4-BE49-F238E27FC236}">
                <a16:creationId xmlns:a16="http://schemas.microsoft.com/office/drawing/2014/main" id="{F1901E48-B53D-6506-5405-7DEBF109E30B}"/>
              </a:ext>
            </a:extLst>
          </p:cNvPr>
          <p:cNvGrpSpPr/>
          <p:nvPr/>
        </p:nvGrpSpPr>
        <p:grpSpPr>
          <a:xfrm>
            <a:off x="521699" y="2599033"/>
            <a:ext cx="5410242" cy="230832"/>
            <a:chOff x="522352" y="2590117"/>
            <a:chExt cx="5410242" cy="230832"/>
          </a:xfrm>
        </p:grpSpPr>
        <p:sp>
          <p:nvSpPr>
            <p:cNvPr id="167" name="직사각형 166">
              <a:extLst>
                <a:ext uri="{FF2B5EF4-FFF2-40B4-BE49-F238E27FC236}">
                  <a16:creationId xmlns:a16="http://schemas.microsoft.com/office/drawing/2014/main" id="{23A877DC-AE7A-42B7-FA1C-82DDBA18195D}"/>
                </a:ext>
              </a:extLst>
            </p:cNvPr>
            <p:cNvSpPr/>
            <p:nvPr/>
          </p:nvSpPr>
          <p:spPr>
            <a:xfrm>
              <a:off x="781342" y="2590117"/>
              <a:ext cx="5151252" cy="230832"/>
            </a:xfrm>
            <a:prstGeom prst="rect">
              <a:avLst/>
            </a:prstGeom>
            <a:noFill/>
          </p:spPr>
          <p:txBody>
            <a:bodyPr wrap="none" lIns="0" tIns="0" rIns="0" bIns="0" anchor="t">
              <a:noAutofit/>
            </a:bodyPr>
            <a:lstStyle/>
            <a:p>
              <a:pPr marR="608330" lvl="0" latinLnBrk="0">
                <a:defRPr/>
              </a:pPr>
              <a:r>
                <a:rPr lang="en-US" altLang="ko-KR" sz="1500" b="1" kern="100" dirty="0">
                  <a:latin typeface="나눔스퀘어 ExtraBold" panose="020B0600000101010101" pitchFamily="50" charset="-127"/>
                  <a:ea typeface="나눔스퀘어 ExtraBold" panose="020B0600000101010101" pitchFamily="50" charset="-127"/>
                  <a:cs typeface="바탕" panose="02030600000101010101" pitchFamily="18" charset="-127"/>
                </a:rPr>
                <a:t>'26 AI volume surge lifts cargo value and demand share </a:t>
              </a:r>
            </a:p>
          </p:txBody>
        </p:sp>
        <p:grpSp>
          <p:nvGrpSpPr>
            <p:cNvPr id="168" name="그룹 167">
              <a:extLst>
                <a:ext uri="{FF2B5EF4-FFF2-40B4-BE49-F238E27FC236}">
                  <a16:creationId xmlns:a16="http://schemas.microsoft.com/office/drawing/2014/main" id="{E7DF7FF3-3A0C-54A6-2CFC-EFC803C02E75}"/>
                </a:ext>
              </a:extLst>
            </p:cNvPr>
            <p:cNvGrpSpPr/>
            <p:nvPr/>
          </p:nvGrpSpPr>
          <p:grpSpPr>
            <a:xfrm>
              <a:off x="522352" y="2609533"/>
              <a:ext cx="192000" cy="192000"/>
              <a:chOff x="412816" y="1633655"/>
              <a:chExt cx="184804" cy="185998"/>
            </a:xfrm>
          </p:grpSpPr>
          <p:sp>
            <p:nvSpPr>
              <p:cNvPr id="169" name="모서리가 둥근 직사각형 168">
                <a:extLst>
                  <a:ext uri="{FF2B5EF4-FFF2-40B4-BE49-F238E27FC236}">
                    <a16:creationId xmlns:a16="http://schemas.microsoft.com/office/drawing/2014/main" id="{ACFD4B78-44F3-C9EC-0E4C-CDFEBFA96E65}"/>
                  </a:ext>
                </a:extLst>
              </p:cNvPr>
              <p:cNvSpPr/>
              <p:nvPr/>
            </p:nvSpPr>
            <p:spPr>
              <a:xfrm>
                <a:off x="412816" y="1633655"/>
                <a:ext cx="184804" cy="185998"/>
              </a:xfrm>
              <a:prstGeom prst="round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nvGrpSpPr>
              <p:cNvPr id="170" name="그룹 186">
                <a:extLst>
                  <a:ext uri="{FF2B5EF4-FFF2-40B4-BE49-F238E27FC236}">
                    <a16:creationId xmlns:a16="http://schemas.microsoft.com/office/drawing/2014/main" id="{8FAD1D07-96B7-2F90-2D67-D8FE24112EC3}"/>
                  </a:ext>
                </a:extLst>
              </p:cNvPr>
              <p:cNvGrpSpPr/>
              <p:nvPr/>
            </p:nvGrpSpPr>
            <p:grpSpPr>
              <a:xfrm>
                <a:off x="454440" y="1688440"/>
                <a:ext cx="106516" cy="76455"/>
                <a:chOff x="3366478" y="5412581"/>
                <a:chExt cx="126078" cy="89916"/>
              </a:xfrm>
              <a:solidFill>
                <a:schemeClr val="bg1"/>
              </a:solidFill>
            </p:grpSpPr>
            <p:sp>
              <p:nvSpPr>
                <p:cNvPr id="171" name="모서리가 둥근 직사각형 170">
                  <a:extLst>
                    <a:ext uri="{FF2B5EF4-FFF2-40B4-BE49-F238E27FC236}">
                      <a16:creationId xmlns:a16="http://schemas.microsoft.com/office/drawing/2014/main" id="{CCFA7DFB-B7B8-EE41-E1CC-E9D7BE39369E}"/>
                    </a:ext>
                  </a:extLst>
                </p:cNvPr>
                <p:cNvSpPr/>
                <p:nvPr/>
              </p:nvSpPr>
              <p:spPr>
                <a:xfrm rot="18427643">
                  <a:off x="3414341" y="5364720"/>
                  <a:ext cx="30353" cy="126076"/>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sp>
              <p:nvSpPr>
                <p:cNvPr id="172" name="모서리가 둥근 직사각형 171">
                  <a:extLst>
                    <a:ext uri="{FF2B5EF4-FFF2-40B4-BE49-F238E27FC236}">
                      <a16:creationId xmlns:a16="http://schemas.microsoft.com/office/drawing/2014/main" id="{F3DDF330-44BF-7DB5-CBAB-F5DE83FFCD3A}"/>
                    </a:ext>
                  </a:extLst>
                </p:cNvPr>
                <p:cNvSpPr/>
                <p:nvPr/>
              </p:nvSpPr>
              <p:spPr>
                <a:xfrm rot="3172357" flipV="1">
                  <a:off x="3414340" y="5424282"/>
                  <a:ext cx="30353" cy="126077"/>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latinLnBrk="0">
                    <a:defRPr/>
                  </a:pPr>
                  <a:endParaRPr lang="ko-KR" altLang="en-US" sz="1867" dirty="0">
                    <a:ln>
                      <a:solidFill>
                        <a:sysClr val="window" lastClr="FFFFFF">
                          <a:alpha val="0"/>
                        </a:sysClr>
                      </a:solidFill>
                    </a:ln>
                    <a:solidFill>
                      <a:prstClr val="white"/>
                    </a:solidFill>
                    <a:latin typeface="나눔고딕" panose="020B0600000101010101" charset="-127"/>
                    <a:ea typeface="나눔고딕" panose="020B0600000101010101" charset="-127"/>
                  </a:endParaRPr>
                </a:p>
              </p:txBody>
            </p:sp>
          </p:grpSp>
        </p:grpSp>
      </p:grpSp>
    </p:spTree>
    <p:extLst>
      <p:ext uri="{BB962C8B-B14F-4D97-AF65-F5344CB8AC3E}">
        <p14:creationId xmlns:p14="http://schemas.microsoft.com/office/powerpoint/2010/main" val="120433003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p:cNvGrpSpPr/>
          <p:nvPr/>
        </p:nvGrpSpPr>
        <p:grpSpPr>
          <a:xfrm>
            <a:off x="2244236" y="4279095"/>
            <a:ext cx="7710515" cy="1423418"/>
            <a:chOff x="1988457" y="3806825"/>
            <a:chExt cx="7710515" cy="1423418"/>
          </a:xfrm>
        </p:grpSpPr>
        <p:grpSp>
          <p:nvGrpSpPr>
            <p:cNvPr id="42" name="그룹 41"/>
            <p:cNvGrpSpPr/>
            <p:nvPr/>
          </p:nvGrpSpPr>
          <p:grpSpPr>
            <a:xfrm>
              <a:off x="1988457" y="3806825"/>
              <a:ext cx="2284558" cy="1423418"/>
              <a:chOff x="2246364" y="3807636"/>
              <a:chExt cx="2284558" cy="1423418"/>
            </a:xfrm>
          </p:grpSpPr>
          <p:grpSp>
            <p:nvGrpSpPr>
              <p:cNvPr id="43" name="그룹 42"/>
              <p:cNvGrpSpPr/>
              <p:nvPr/>
            </p:nvGrpSpPr>
            <p:grpSpPr>
              <a:xfrm>
                <a:off x="2246364" y="3807636"/>
                <a:ext cx="2284558" cy="1423418"/>
                <a:chOff x="2486515" y="3807636"/>
                <a:chExt cx="1800000" cy="1423418"/>
              </a:xfrm>
            </p:grpSpPr>
            <p:grpSp>
              <p:nvGrpSpPr>
                <p:cNvPr id="46" name="그룹 45"/>
                <p:cNvGrpSpPr/>
                <p:nvPr/>
              </p:nvGrpSpPr>
              <p:grpSpPr>
                <a:xfrm>
                  <a:off x="2486515" y="3807636"/>
                  <a:ext cx="1800000" cy="1423418"/>
                  <a:chOff x="2486515" y="3807636"/>
                  <a:chExt cx="1800000" cy="1423418"/>
                </a:xfrm>
                <a:effectLst>
                  <a:outerShdw blurRad="50800" dist="38100" dir="2700000" algn="tl" rotWithShape="0">
                    <a:prstClr val="black">
                      <a:alpha val="40000"/>
                    </a:prstClr>
                  </a:outerShdw>
                </a:effectLst>
              </p:grpSpPr>
              <p:sp>
                <p:nvSpPr>
                  <p:cNvPr id="48" name="직사각형 47"/>
                  <p:cNvSpPr/>
                  <p:nvPr/>
                </p:nvSpPr>
                <p:spPr>
                  <a:xfrm>
                    <a:off x="2486515" y="3807636"/>
                    <a:ext cx="1800000" cy="1423418"/>
                  </a:xfrm>
                  <a:prstGeom prst="rect">
                    <a:avLst/>
                  </a:prstGeom>
                  <a:solidFill>
                    <a:srgbClr val="1429A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b="1" dirty="0">
                      <a:solidFill>
                        <a:schemeClr val="tx1"/>
                      </a:solidFill>
                      <a:latin typeface="나눔스퀘어 Bold" panose="020B0600000101010101" pitchFamily="50" charset="-127"/>
                      <a:ea typeface="나눔스퀘어 Bold" panose="020B0600000101010101" pitchFamily="50" charset="-127"/>
                    </a:endParaRPr>
                  </a:p>
                </p:txBody>
              </p:sp>
              <p:sp>
                <p:nvSpPr>
                  <p:cNvPr id="49" name="직사각형 48"/>
                  <p:cNvSpPr/>
                  <p:nvPr/>
                </p:nvSpPr>
                <p:spPr>
                  <a:xfrm>
                    <a:off x="2486515" y="4203223"/>
                    <a:ext cx="1800000" cy="102783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b="1" dirty="0">
                      <a:solidFill>
                        <a:schemeClr val="tx1"/>
                      </a:solidFill>
                      <a:latin typeface="나눔스퀘어 Bold" panose="020B0600000101010101" pitchFamily="50" charset="-127"/>
                      <a:ea typeface="나눔스퀘어 Bold" panose="020B0600000101010101" pitchFamily="50" charset="-127"/>
                    </a:endParaRPr>
                  </a:p>
                </p:txBody>
              </p:sp>
            </p:grpSp>
            <p:sp>
              <p:nvSpPr>
                <p:cNvPr id="47" name="TextBox 46"/>
                <p:cNvSpPr txBox="1"/>
                <p:nvPr/>
              </p:nvSpPr>
              <p:spPr>
                <a:xfrm>
                  <a:off x="2943076" y="3846217"/>
                  <a:ext cx="886881" cy="307777"/>
                </a:xfrm>
                <a:prstGeom prst="rect">
                  <a:avLst/>
                </a:prstGeom>
                <a:solidFill>
                  <a:srgbClr val="1429A0"/>
                </a:solidFill>
              </p:spPr>
              <p:txBody>
                <a:bodyPr wrap="none" rtlCol="0">
                  <a:spAutoFit/>
                </a:bodyPr>
                <a:lstStyle/>
                <a:p>
                  <a:pPr algn="ctr"/>
                  <a:r>
                    <a:rPr lang="en-US" altLang="ko-KR" sz="1400" b="1" dirty="0" smtClean="0">
                      <a:solidFill>
                        <a:schemeClr val="bg1"/>
                      </a:solidFill>
                      <a:latin typeface="나눔스퀘어 ExtraBold" panose="020B0600000101010101" pitchFamily="50" charset="-127"/>
                      <a:ea typeface="나눔스퀘어 ExtraBold" panose="020B0600000101010101" pitchFamily="50" charset="-127"/>
                    </a:rPr>
                    <a:t>Daily News</a:t>
                  </a:r>
                  <a:endParaRPr lang="ko-KR" altLang="en-US" sz="1400" b="1" dirty="0" err="1">
                    <a:solidFill>
                      <a:schemeClr val="bg1"/>
                    </a:solidFill>
                    <a:latin typeface="나눔스퀘어 ExtraBold" panose="020B0600000101010101" pitchFamily="50" charset="-127"/>
                    <a:ea typeface="나눔스퀘어 ExtraBold" panose="020B0600000101010101" pitchFamily="50" charset="-127"/>
                  </a:endParaRPr>
                </a:p>
              </p:txBody>
            </p:sp>
          </p:grpSp>
          <p:pic>
            <p:nvPicPr>
              <p:cNvPr id="44" name="그림 4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0785" y="4390466"/>
                <a:ext cx="576000" cy="576000"/>
              </a:xfrm>
              <a:prstGeom prst="rect">
                <a:avLst/>
              </a:prstGeom>
            </p:spPr>
          </p:pic>
          <p:sp>
            <p:nvSpPr>
              <p:cNvPr id="45" name="TextBox 44"/>
              <p:cNvSpPr txBox="1"/>
              <p:nvPr/>
            </p:nvSpPr>
            <p:spPr>
              <a:xfrm>
                <a:off x="3147785" y="4387093"/>
                <a:ext cx="1184940" cy="556563"/>
              </a:xfrm>
              <a:prstGeom prst="rect">
                <a:avLst/>
              </a:prstGeom>
              <a:noFill/>
            </p:spPr>
            <p:txBody>
              <a:bodyPr wrap="none" rtlCol="0">
                <a:spAutoFit/>
              </a:bodyPr>
              <a:lstStyle/>
              <a:p>
                <a:pPr>
                  <a:spcAft>
                    <a:spcPts val="500"/>
                  </a:spcAft>
                </a:pPr>
                <a:r>
                  <a:rPr lang="en-US" altLang="ko-KR" sz="1000" b="1" dirty="0" smtClean="0">
                    <a:latin typeface="나눔스퀘어 Bold" panose="020B0600000101010101" pitchFamily="50" charset="-127"/>
                    <a:ea typeface="나눔스퀘어 Bold" panose="020B0600000101010101" pitchFamily="50" charset="-127"/>
                  </a:rPr>
                  <a:t>Daily</a:t>
                </a:r>
              </a:p>
              <a:p>
                <a:r>
                  <a:rPr lang="en-US" altLang="ko-KR" sz="800" b="1" dirty="0" smtClean="0">
                    <a:latin typeface="나눔스퀘어 Bold" panose="020B0600000101010101" pitchFamily="50" charset="-127"/>
                    <a:ea typeface="나눔스퀘어 Bold" panose="020B0600000101010101" pitchFamily="50" charset="-127"/>
                  </a:rPr>
                  <a:t>Latest key news on</a:t>
                </a:r>
              </a:p>
              <a:p>
                <a:r>
                  <a:rPr lang="en-US" altLang="ko-KR" sz="800" b="1" dirty="0">
                    <a:latin typeface="나눔스퀘어 Bold" panose="020B0600000101010101" pitchFamily="50" charset="-127"/>
                    <a:ea typeface="나눔스퀘어 Bold" panose="020B0600000101010101" pitchFamily="50" charset="-127"/>
                  </a:rPr>
                  <a:t>o</a:t>
                </a:r>
                <a:r>
                  <a:rPr lang="en-US" altLang="ko-KR" sz="800" b="1" dirty="0" smtClean="0">
                    <a:latin typeface="나눔스퀘어 Bold" panose="020B0600000101010101" pitchFamily="50" charset="-127"/>
                    <a:ea typeface="나눔스퀘어 Bold" panose="020B0600000101010101" pitchFamily="50" charset="-127"/>
                  </a:rPr>
                  <a:t>cean and air freight</a:t>
                </a:r>
                <a:endParaRPr lang="ko-KR" altLang="en-US" sz="800" b="1" dirty="0">
                  <a:latin typeface="나눔스퀘어 Bold" panose="020B0600000101010101" pitchFamily="50" charset="-127"/>
                  <a:ea typeface="나눔스퀘어 Bold" panose="020B0600000101010101" pitchFamily="50" charset="-127"/>
                </a:endParaRPr>
              </a:p>
            </p:txBody>
          </p:sp>
        </p:grpSp>
        <p:grpSp>
          <p:nvGrpSpPr>
            <p:cNvPr id="50" name="그룹 49"/>
            <p:cNvGrpSpPr/>
            <p:nvPr/>
          </p:nvGrpSpPr>
          <p:grpSpPr>
            <a:xfrm>
              <a:off x="4697942" y="3806825"/>
              <a:ext cx="2284558" cy="1423418"/>
              <a:chOff x="4955849" y="3807636"/>
              <a:chExt cx="2284558" cy="1423418"/>
            </a:xfrm>
          </p:grpSpPr>
          <p:grpSp>
            <p:nvGrpSpPr>
              <p:cNvPr id="51" name="그룹 50"/>
              <p:cNvGrpSpPr/>
              <p:nvPr/>
            </p:nvGrpSpPr>
            <p:grpSpPr>
              <a:xfrm>
                <a:off x="4955849" y="3807636"/>
                <a:ext cx="2284558" cy="1423418"/>
                <a:chOff x="5196000" y="3807636"/>
                <a:chExt cx="1800000" cy="1423418"/>
              </a:xfrm>
            </p:grpSpPr>
            <p:grpSp>
              <p:nvGrpSpPr>
                <p:cNvPr id="54" name="그룹 53"/>
                <p:cNvGrpSpPr/>
                <p:nvPr/>
              </p:nvGrpSpPr>
              <p:grpSpPr>
                <a:xfrm>
                  <a:off x="5196000" y="3807636"/>
                  <a:ext cx="1800000" cy="1423418"/>
                  <a:chOff x="2486515" y="3807636"/>
                  <a:chExt cx="1800000" cy="1423418"/>
                </a:xfrm>
                <a:effectLst>
                  <a:outerShdw blurRad="50800" dist="38100" dir="2700000" algn="tl" rotWithShape="0">
                    <a:prstClr val="black">
                      <a:alpha val="40000"/>
                    </a:prstClr>
                  </a:outerShdw>
                </a:effectLst>
              </p:grpSpPr>
              <p:sp>
                <p:nvSpPr>
                  <p:cNvPr id="56" name="직사각형 55"/>
                  <p:cNvSpPr/>
                  <p:nvPr/>
                </p:nvSpPr>
                <p:spPr>
                  <a:xfrm>
                    <a:off x="2486515" y="3807636"/>
                    <a:ext cx="1800000" cy="1423418"/>
                  </a:xfrm>
                  <a:prstGeom prst="rect">
                    <a:avLst/>
                  </a:prstGeom>
                  <a:solidFill>
                    <a:srgbClr val="1429A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b="1" dirty="0">
                      <a:solidFill>
                        <a:schemeClr val="tx1"/>
                      </a:solidFill>
                      <a:latin typeface="나눔스퀘어 Bold" panose="020B0600000101010101" pitchFamily="50" charset="-127"/>
                      <a:ea typeface="나눔스퀘어 Bold" panose="020B0600000101010101" pitchFamily="50" charset="-127"/>
                    </a:endParaRPr>
                  </a:p>
                </p:txBody>
              </p:sp>
              <p:sp>
                <p:nvSpPr>
                  <p:cNvPr id="57" name="직사각형 56"/>
                  <p:cNvSpPr/>
                  <p:nvPr/>
                </p:nvSpPr>
                <p:spPr>
                  <a:xfrm>
                    <a:off x="2486515" y="4203223"/>
                    <a:ext cx="1800000" cy="102783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b="1" dirty="0">
                      <a:solidFill>
                        <a:schemeClr val="tx1"/>
                      </a:solidFill>
                      <a:latin typeface="나눔스퀘어 Bold" panose="020B0600000101010101" pitchFamily="50" charset="-127"/>
                      <a:ea typeface="나눔스퀘어 Bold" panose="020B0600000101010101" pitchFamily="50" charset="-127"/>
                    </a:endParaRPr>
                  </a:p>
                </p:txBody>
              </p:sp>
            </p:grpSp>
            <p:sp>
              <p:nvSpPr>
                <p:cNvPr id="55" name="TextBox 54"/>
                <p:cNvSpPr txBox="1"/>
                <p:nvPr/>
              </p:nvSpPr>
              <p:spPr>
                <a:xfrm>
                  <a:off x="5488294" y="3846217"/>
                  <a:ext cx="1215414" cy="307777"/>
                </a:xfrm>
                <a:prstGeom prst="rect">
                  <a:avLst/>
                </a:prstGeom>
                <a:solidFill>
                  <a:srgbClr val="1429A0"/>
                </a:solidFill>
              </p:spPr>
              <p:txBody>
                <a:bodyPr wrap="none" rtlCol="0">
                  <a:spAutoFit/>
                </a:bodyPr>
                <a:lstStyle/>
                <a:p>
                  <a:pPr algn="ctr"/>
                  <a:r>
                    <a:rPr lang="en-US" altLang="ko-KR" sz="1400" b="1" dirty="0" smtClean="0">
                      <a:solidFill>
                        <a:schemeClr val="bg1"/>
                      </a:solidFill>
                      <a:latin typeface="나눔스퀘어 ExtraBold" panose="020B0600000101010101" pitchFamily="50" charset="-127"/>
                      <a:ea typeface="나눔스퀘어 ExtraBold" panose="020B0600000101010101" pitchFamily="50" charset="-127"/>
                    </a:rPr>
                    <a:t>Monthly </a:t>
                  </a:r>
                  <a:r>
                    <a:rPr lang="en-US" altLang="ko-KR" sz="1400" b="1" dirty="0">
                      <a:solidFill>
                        <a:schemeClr val="bg1"/>
                      </a:solidFill>
                      <a:latin typeface="나눔스퀘어 ExtraBold" panose="020B0600000101010101" pitchFamily="50" charset="-127"/>
                      <a:ea typeface="나눔스퀘어 ExtraBold" panose="020B0600000101010101" pitchFamily="50" charset="-127"/>
                    </a:rPr>
                    <a:t>Report</a:t>
                  </a:r>
                  <a:endParaRPr lang="ko-KR" altLang="en-US" sz="1400" b="1" dirty="0" err="1">
                    <a:solidFill>
                      <a:schemeClr val="bg1"/>
                    </a:solidFill>
                    <a:latin typeface="나눔스퀘어 ExtraBold" panose="020B0600000101010101" pitchFamily="50" charset="-127"/>
                    <a:ea typeface="나눔스퀘어 ExtraBold" panose="020B0600000101010101" pitchFamily="50" charset="-127"/>
                  </a:endParaRPr>
                </a:p>
              </p:txBody>
            </p:sp>
          </p:grpSp>
          <p:pic>
            <p:nvPicPr>
              <p:cNvPr id="52" name="그림 5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0270" y="4390466"/>
                <a:ext cx="576000" cy="576000"/>
              </a:xfrm>
              <a:prstGeom prst="rect">
                <a:avLst/>
              </a:prstGeom>
            </p:spPr>
          </p:pic>
          <p:sp>
            <p:nvSpPr>
              <p:cNvPr id="53" name="TextBox 52"/>
              <p:cNvSpPr txBox="1"/>
              <p:nvPr/>
            </p:nvSpPr>
            <p:spPr>
              <a:xfrm>
                <a:off x="5857270" y="4387093"/>
                <a:ext cx="1281120" cy="679673"/>
              </a:xfrm>
              <a:prstGeom prst="rect">
                <a:avLst/>
              </a:prstGeom>
              <a:noFill/>
            </p:spPr>
            <p:txBody>
              <a:bodyPr wrap="none" rtlCol="0">
                <a:spAutoFit/>
              </a:bodyPr>
              <a:lstStyle/>
              <a:p>
                <a:pPr>
                  <a:spcAft>
                    <a:spcPts val="500"/>
                  </a:spcAft>
                </a:pPr>
                <a:r>
                  <a:rPr lang="en-US" altLang="ko-KR" sz="1000" b="1" dirty="0" smtClean="0">
                    <a:latin typeface="나눔스퀘어 Bold" panose="020B0600000101010101" pitchFamily="50" charset="-127"/>
                    <a:ea typeface="나눔스퀘어 Bold" panose="020B0600000101010101" pitchFamily="50" charset="-127"/>
                  </a:rPr>
                  <a:t>Monthly</a:t>
                </a:r>
              </a:p>
              <a:p>
                <a:r>
                  <a:rPr lang="en-US" altLang="ko-KR" sz="800" b="1" dirty="0" smtClean="0">
                    <a:latin typeface="나눔스퀘어 Bold" panose="020B0600000101010101" pitchFamily="50" charset="-127"/>
                    <a:ea typeface="나눔스퀘어 Bold" panose="020B0600000101010101" pitchFamily="50" charset="-127"/>
                  </a:rPr>
                  <a:t>Key market trends and</a:t>
                </a:r>
              </a:p>
              <a:p>
                <a:r>
                  <a:rPr lang="en-US" altLang="ko-KR" sz="800" b="1" dirty="0" smtClean="0">
                    <a:latin typeface="나눔스퀘어 Bold" panose="020B0600000101010101" pitchFamily="50" charset="-127"/>
                    <a:ea typeface="나눔스퀘어 Bold" panose="020B0600000101010101" pitchFamily="50" charset="-127"/>
                  </a:rPr>
                  <a:t>updates on ocean and</a:t>
                </a:r>
              </a:p>
              <a:p>
                <a:r>
                  <a:rPr lang="en-US" altLang="ko-KR" sz="800" b="1" dirty="0">
                    <a:latin typeface="나눔스퀘어 Bold" panose="020B0600000101010101" pitchFamily="50" charset="-127"/>
                    <a:ea typeface="나눔스퀘어 Bold" panose="020B0600000101010101" pitchFamily="50" charset="-127"/>
                  </a:rPr>
                  <a:t>a</a:t>
                </a:r>
                <a:r>
                  <a:rPr lang="en-US" altLang="ko-KR" sz="800" b="1" dirty="0" smtClean="0">
                    <a:latin typeface="나눔스퀘어 Bold" panose="020B0600000101010101" pitchFamily="50" charset="-127"/>
                    <a:ea typeface="나눔스퀘어 Bold" panose="020B0600000101010101" pitchFamily="50" charset="-127"/>
                  </a:rPr>
                  <a:t>ir freight</a:t>
                </a:r>
                <a:endParaRPr lang="ko-KR" altLang="en-US" sz="800" b="1" dirty="0">
                  <a:latin typeface="나눔스퀘어 Bold" panose="020B0600000101010101" pitchFamily="50" charset="-127"/>
                  <a:ea typeface="나눔스퀘어 Bold" panose="020B0600000101010101" pitchFamily="50" charset="-127"/>
                </a:endParaRPr>
              </a:p>
            </p:txBody>
          </p:sp>
        </p:grpSp>
        <p:grpSp>
          <p:nvGrpSpPr>
            <p:cNvPr id="58" name="그룹 57"/>
            <p:cNvGrpSpPr/>
            <p:nvPr/>
          </p:nvGrpSpPr>
          <p:grpSpPr>
            <a:xfrm>
              <a:off x="7407427" y="3806825"/>
              <a:ext cx="2291545" cy="1423418"/>
              <a:chOff x="7665334" y="3807636"/>
              <a:chExt cx="2291545" cy="1423418"/>
            </a:xfrm>
          </p:grpSpPr>
          <p:grpSp>
            <p:nvGrpSpPr>
              <p:cNvPr id="59" name="그룹 58"/>
              <p:cNvGrpSpPr/>
              <p:nvPr/>
            </p:nvGrpSpPr>
            <p:grpSpPr>
              <a:xfrm>
                <a:off x="7665334" y="3807636"/>
                <a:ext cx="2284558" cy="1423418"/>
                <a:chOff x="7905485" y="3807636"/>
                <a:chExt cx="1800000" cy="1423418"/>
              </a:xfrm>
            </p:grpSpPr>
            <p:grpSp>
              <p:nvGrpSpPr>
                <p:cNvPr id="62" name="그룹 61"/>
                <p:cNvGrpSpPr/>
                <p:nvPr/>
              </p:nvGrpSpPr>
              <p:grpSpPr>
                <a:xfrm>
                  <a:off x="7905485" y="3807636"/>
                  <a:ext cx="1800000" cy="1423418"/>
                  <a:chOff x="2486515" y="3807636"/>
                  <a:chExt cx="1800000" cy="1423418"/>
                </a:xfrm>
                <a:effectLst>
                  <a:outerShdw blurRad="50800" dist="38100" dir="2700000" algn="tl" rotWithShape="0">
                    <a:prstClr val="black">
                      <a:alpha val="40000"/>
                    </a:prstClr>
                  </a:outerShdw>
                </a:effectLst>
              </p:grpSpPr>
              <p:sp>
                <p:nvSpPr>
                  <p:cNvPr id="64" name="직사각형 63"/>
                  <p:cNvSpPr/>
                  <p:nvPr/>
                </p:nvSpPr>
                <p:spPr>
                  <a:xfrm>
                    <a:off x="2486515" y="3807636"/>
                    <a:ext cx="1800000" cy="1423418"/>
                  </a:xfrm>
                  <a:prstGeom prst="rect">
                    <a:avLst/>
                  </a:prstGeom>
                  <a:solidFill>
                    <a:srgbClr val="1429A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b="1" dirty="0">
                      <a:solidFill>
                        <a:schemeClr val="tx1"/>
                      </a:solidFill>
                      <a:latin typeface="나눔스퀘어 Bold" panose="020B0600000101010101" pitchFamily="50" charset="-127"/>
                      <a:ea typeface="나눔스퀘어 Bold" panose="020B0600000101010101" pitchFamily="50" charset="-127"/>
                    </a:endParaRPr>
                  </a:p>
                </p:txBody>
              </p:sp>
              <p:sp>
                <p:nvSpPr>
                  <p:cNvPr id="65" name="직사각형 64"/>
                  <p:cNvSpPr/>
                  <p:nvPr/>
                </p:nvSpPr>
                <p:spPr>
                  <a:xfrm>
                    <a:off x="2486515" y="4203223"/>
                    <a:ext cx="1800000" cy="102783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b="1" dirty="0">
                      <a:solidFill>
                        <a:schemeClr val="tx1"/>
                      </a:solidFill>
                      <a:latin typeface="나눔스퀘어 Bold" panose="020B0600000101010101" pitchFamily="50" charset="-127"/>
                      <a:ea typeface="나눔스퀘어 Bold" panose="020B0600000101010101" pitchFamily="50" charset="-127"/>
                    </a:endParaRPr>
                  </a:p>
                </p:txBody>
              </p:sp>
            </p:grpSp>
            <p:sp>
              <p:nvSpPr>
                <p:cNvPr id="63" name="TextBox 62"/>
                <p:cNvSpPr txBox="1"/>
                <p:nvPr/>
              </p:nvSpPr>
              <p:spPr>
                <a:xfrm>
                  <a:off x="8233142" y="3846217"/>
                  <a:ext cx="1144687" cy="307777"/>
                </a:xfrm>
                <a:prstGeom prst="rect">
                  <a:avLst/>
                </a:prstGeom>
                <a:solidFill>
                  <a:srgbClr val="1429A0"/>
                </a:solidFill>
              </p:spPr>
              <p:txBody>
                <a:bodyPr wrap="none" rtlCol="0">
                  <a:spAutoFit/>
                </a:bodyPr>
                <a:lstStyle/>
                <a:p>
                  <a:pPr algn="ctr"/>
                  <a:r>
                    <a:rPr lang="en-US" altLang="ko-KR" sz="1400" b="1" dirty="0">
                      <a:solidFill>
                        <a:schemeClr val="bg1"/>
                      </a:solidFill>
                      <a:latin typeface="나눔스퀘어 ExtraBold" panose="020B0600000101010101" pitchFamily="50" charset="-127"/>
                      <a:ea typeface="나눔스퀘어 ExtraBold" panose="020B0600000101010101" pitchFamily="50" charset="-127"/>
                    </a:rPr>
                    <a:t>Special Report</a:t>
                  </a:r>
                  <a:endParaRPr lang="ko-KR" altLang="en-US" sz="1400" b="1" dirty="0" err="1">
                    <a:solidFill>
                      <a:schemeClr val="bg1"/>
                    </a:solidFill>
                    <a:latin typeface="나눔스퀘어 ExtraBold" panose="020B0600000101010101" pitchFamily="50" charset="-127"/>
                    <a:ea typeface="나눔스퀘어 ExtraBold" panose="020B0600000101010101" pitchFamily="50" charset="-127"/>
                  </a:endParaRPr>
                </a:p>
              </p:txBody>
            </p:sp>
          </p:grpSp>
          <p:pic>
            <p:nvPicPr>
              <p:cNvPr id="60" name="그림 5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05599" y="4389335"/>
                <a:ext cx="576000" cy="576000"/>
              </a:xfrm>
              <a:prstGeom prst="rect">
                <a:avLst/>
              </a:prstGeom>
            </p:spPr>
          </p:pic>
          <p:sp>
            <p:nvSpPr>
              <p:cNvPr id="61" name="TextBox 60"/>
              <p:cNvSpPr txBox="1"/>
              <p:nvPr/>
            </p:nvSpPr>
            <p:spPr>
              <a:xfrm>
                <a:off x="8566755" y="4387093"/>
                <a:ext cx="1390124" cy="556563"/>
              </a:xfrm>
              <a:prstGeom prst="rect">
                <a:avLst/>
              </a:prstGeom>
              <a:noFill/>
            </p:spPr>
            <p:txBody>
              <a:bodyPr wrap="none" rtlCol="0">
                <a:spAutoFit/>
              </a:bodyPr>
              <a:lstStyle/>
              <a:p>
                <a:pPr>
                  <a:spcAft>
                    <a:spcPts val="500"/>
                  </a:spcAft>
                </a:pPr>
                <a:r>
                  <a:rPr lang="en-US" altLang="ko-KR" sz="1000" b="1" dirty="0" smtClean="0">
                    <a:latin typeface="나눔스퀘어 Bold" panose="020B0600000101010101" pitchFamily="50" charset="-127"/>
                    <a:ea typeface="나눔스퀘어 Bold" panose="020B0600000101010101" pitchFamily="50" charset="-127"/>
                  </a:rPr>
                  <a:t>On Demand</a:t>
                </a:r>
              </a:p>
              <a:p>
                <a:r>
                  <a:rPr lang="en-US" altLang="ko-KR" sz="800" b="1" dirty="0" smtClean="0">
                    <a:latin typeface="나눔스퀘어 Bold" panose="020B0600000101010101" pitchFamily="50" charset="-127"/>
                    <a:ea typeface="나눔스퀘어 Bold" panose="020B0600000101010101" pitchFamily="50" charset="-127"/>
                  </a:rPr>
                  <a:t>In-depth reports focused</a:t>
                </a:r>
              </a:p>
              <a:p>
                <a:r>
                  <a:rPr lang="en-US" altLang="ko-KR" sz="800" b="1" dirty="0">
                    <a:latin typeface="나눔스퀘어 Bold" panose="020B0600000101010101" pitchFamily="50" charset="-127"/>
                    <a:ea typeface="나눔스퀘어 Bold" panose="020B0600000101010101" pitchFamily="50" charset="-127"/>
                  </a:rPr>
                  <a:t>o</a:t>
                </a:r>
                <a:r>
                  <a:rPr lang="en-US" altLang="ko-KR" sz="800" b="1" dirty="0" smtClean="0">
                    <a:latin typeface="나눔스퀘어 Bold" panose="020B0600000101010101" pitchFamily="50" charset="-127"/>
                    <a:ea typeface="나눔스퀘어 Bold" panose="020B0600000101010101" pitchFamily="50" charset="-127"/>
                  </a:rPr>
                  <a:t>n specific topics</a:t>
                </a:r>
                <a:endParaRPr lang="ko-KR" altLang="en-US" sz="800" b="1" dirty="0">
                  <a:latin typeface="나눔스퀘어 Bold" panose="020B0600000101010101" pitchFamily="50" charset="-127"/>
                  <a:ea typeface="나눔스퀘어 Bold" panose="020B0600000101010101" pitchFamily="50" charset="-127"/>
                </a:endParaRPr>
              </a:p>
            </p:txBody>
          </p:sp>
        </p:grpSp>
      </p:grpSp>
      <p:sp>
        <p:nvSpPr>
          <p:cNvPr id="30" name="TextBox 29">
            <a:extLst>
              <a:ext uri="{FF2B5EF4-FFF2-40B4-BE49-F238E27FC236}">
                <a16:creationId xmlns:a16="http://schemas.microsoft.com/office/drawing/2014/main" id="{367326E6-8EBD-6240-8F6D-1E0DFB7ECEA8}"/>
              </a:ext>
            </a:extLst>
          </p:cNvPr>
          <p:cNvSpPr txBox="1"/>
          <p:nvPr/>
        </p:nvSpPr>
        <p:spPr>
          <a:xfrm>
            <a:off x="2671033" y="1348675"/>
            <a:ext cx="6860870" cy="461665"/>
          </a:xfrm>
          <a:prstGeom prst="rect">
            <a:avLst/>
          </a:prstGeom>
          <a:noFill/>
        </p:spPr>
        <p:txBody>
          <a:bodyPr wrap="square" rtlCol="0">
            <a:spAutoFit/>
          </a:bodyPr>
          <a:lstStyle/>
          <a:p>
            <a:pPr algn="ctr"/>
            <a:r>
              <a:rPr lang="en-US" altLang="ko-KR" sz="2400" dirty="0">
                <a:latin typeface="나눔스퀘어 ExtraBold" panose="020B0600000101010101" pitchFamily="50" charset="-127"/>
                <a:ea typeface="나눔스퀘어 ExtraBold" panose="020B0600000101010101" pitchFamily="50" charset="-127"/>
                <a:cs typeface="Pretendard" panose="02000503000000020004" pitchFamily="2" charset="-127"/>
              </a:rPr>
              <a:t>If you are a Cello Square member,</a:t>
            </a:r>
          </a:p>
        </p:txBody>
      </p:sp>
      <p:sp>
        <p:nvSpPr>
          <p:cNvPr id="31" name="TextBox 30">
            <a:extLst>
              <a:ext uri="{FF2B5EF4-FFF2-40B4-BE49-F238E27FC236}">
                <a16:creationId xmlns:a16="http://schemas.microsoft.com/office/drawing/2014/main" id="{3B19F91D-D1E1-1947-8414-38DF49890103}"/>
              </a:ext>
            </a:extLst>
          </p:cNvPr>
          <p:cNvSpPr txBox="1"/>
          <p:nvPr/>
        </p:nvSpPr>
        <p:spPr>
          <a:xfrm>
            <a:off x="1349406" y="1944710"/>
            <a:ext cx="9504125" cy="830997"/>
          </a:xfrm>
          <a:prstGeom prst="rect">
            <a:avLst/>
          </a:prstGeom>
          <a:noFill/>
        </p:spPr>
        <p:txBody>
          <a:bodyPr wrap="square" rtlCol="0">
            <a:spAutoFit/>
          </a:bodyPr>
          <a:lstStyle/>
          <a:p>
            <a:pPr algn="ctr"/>
            <a:r>
              <a:rPr lang="en-US" altLang="ko-KR" sz="2400" dirty="0">
                <a:latin typeface="나눔스퀘어 ExtraBold" panose="020B0600000101010101" pitchFamily="50" charset="-127"/>
                <a:ea typeface="나눔스퀘어 ExtraBold" panose="020B0600000101010101" pitchFamily="50" charset="-127"/>
                <a:cs typeface="Pretendard" panose="02000503000000020004" pitchFamily="2" charset="-127"/>
              </a:rPr>
              <a:t>Logistics Market Intelligence Reports analyzed by Samsung SDS experts will be provided for free!</a:t>
            </a:r>
          </a:p>
        </p:txBody>
      </p:sp>
      <p:sp>
        <p:nvSpPr>
          <p:cNvPr id="32" name="TextBox 31">
            <a:extLst>
              <a:ext uri="{FF2B5EF4-FFF2-40B4-BE49-F238E27FC236}">
                <a16:creationId xmlns:a16="http://schemas.microsoft.com/office/drawing/2014/main" id="{C3300EC9-AD8C-5046-983E-84E4A6248709}"/>
              </a:ext>
            </a:extLst>
          </p:cNvPr>
          <p:cNvSpPr txBox="1"/>
          <p:nvPr/>
        </p:nvSpPr>
        <p:spPr>
          <a:xfrm>
            <a:off x="2781423" y="2861574"/>
            <a:ext cx="6630135" cy="661720"/>
          </a:xfrm>
          <a:prstGeom prst="rect">
            <a:avLst/>
          </a:prstGeom>
          <a:noFill/>
        </p:spPr>
        <p:txBody>
          <a:bodyPr wrap="square" rtlCol="0">
            <a:spAutoFit/>
          </a:bodyPr>
          <a:lstStyle/>
          <a:p>
            <a:pPr algn="ctr">
              <a:spcAft>
                <a:spcPts val="600"/>
              </a:spcAft>
            </a:pPr>
            <a:r>
              <a:rPr lang="en-US" altLang="ko-KR" sz="2000" b="1" u="sng" dirty="0">
                <a:solidFill>
                  <a:srgbClr val="0070C0"/>
                </a:solidFill>
                <a:latin typeface="나눔스퀘어 Bold" panose="020B0600000101010101" pitchFamily="50" charset="-127"/>
                <a:ea typeface="나눔스퀘어 Bold" panose="020B0600000101010101" pitchFamily="50" charset="-127"/>
                <a:cs typeface="Pretendard" panose="02000503000000020004" pitchFamily="2" charset="-127"/>
                <a:hlinkClick r:id="rId5"/>
              </a:rPr>
              <a:t>Go to Logistics Market Intelligence Report</a:t>
            </a:r>
            <a:endParaRPr lang="en-US" altLang="ko-KR" sz="2000" b="1" u="sng" dirty="0">
              <a:solidFill>
                <a:srgbClr val="0070C0"/>
              </a:solidFill>
              <a:latin typeface="나눔스퀘어 Bold" panose="020B0600000101010101" pitchFamily="50" charset="-127"/>
              <a:ea typeface="나눔스퀘어 Bold" panose="020B0600000101010101" pitchFamily="50" charset="-127"/>
              <a:cs typeface="Pretendard" panose="02000503000000020004" pitchFamily="2" charset="-127"/>
            </a:endParaRPr>
          </a:p>
          <a:p>
            <a:pPr algn="ctr">
              <a:spcAft>
                <a:spcPts val="600"/>
              </a:spcAft>
            </a:pPr>
            <a:r>
              <a:rPr lang="ko-KR" altLang="en-US" sz="1200" b="1" dirty="0">
                <a:latin typeface="나눔스퀘어 Bold" panose="020B0600000101010101" pitchFamily="50" charset="-127"/>
                <a:ea typeface="나눔스퀘어 Bold" panose="020B0600000101010101" pitchFamily="50" charset="-127"/>
                <a:cs typeface="Pretendard" panose="02000503000000020004" pitchFamily="2" charset="-127"/>
              </a:rPr>
              <a:t>☞ </a:t>
            </a:r>
            <a:r>
              <a:rPr lang="en-US" altLang="ko-KR" sz="1200" b="1" dirty="0">
                <a:latin typeface="나눔스퀘어 Bold" panose="020B0600000101010101" pitchFamily="50" charset="-127"/>
                <a:ea typeface="나눔스퀘어 Bold" panose="020B0600000101010101" pitchFamily="50" charset="-127"/>
                <a:cs typeface="Pretendard" panose="02000503000000020004" pitchFamily="2" charset="-127"/>
              </a:rPr>
              <a:t>Click here to download various Logistics Market Intelligence Reports by Samsung SDS.</a:t>
            </a:r>
            <a:endParaRPr lang="en-US" altLang="ko-KR" dirty="0">
              <a:latin typeface="나눔스퀘어 Bold" panose="020B0600000101010101" pitchFamily="50" charset="-127"/>
              <a:ea typeface="나눔스퀘어 Bold" panose="020B0600000101010101" pitchFamily="50" charset="-127"/>
              <a:cs typeface="Pretendard" panose="02000503000000020004" pitchFamily="2" charset="-127"/>
            </a:endParaRPr>
          </a:p>
        </p:txBody>
      </p:sp>
    </p:spTree>
    <p:extLst>
      <p:ext uri="{BB962C8B-B14F-4D97-AF65-F5344CB8AC3E}">
        <p14:creationId xmlns:p14="http://schemas.microsoft.com/office/powerpoint/2010/main" val="228209848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6"/>
          <p:cNvSpPr>
            <a:spLocks/>
          </p:cNvSpPr>
          <p:nvPr/>
        </p:nvSpPr>
        <p:spPr bwMode="auto">
          <a:xfrm>
            <a:off x="10001550" y="6189457"/>
            <a:ext cx="214988" cy="217251"/>
          </a:xfrm>
          <a:custGeom>
            <a:avLst/>
            <a:gdLst>
              <a:gd name="T0" fmla="*/ 0 w 391"/>
              <a:gd name="T1" fmla="*/ 0 h 391"/>
              <a:gd name="T2" fmla="*/ 0 w 391"/>
              <a:gd name="T3" fmla="*/ 226 h 391"/>
              <a:gd name="T4" fmla="*/ 160 w 391"/>
              <a:gd name="T5" fmla="*/ 129 h 391"/>
              <a:gd name="T6" fmla="*/ 172 w 391"/>
              <a:gd name="T7" fmla="*/ 137 h 391"/>
              <a:gd name="T8" fmla="*/ 184 w 391"/>
              <a:gd name="T9" fmla="*/ 145 h 391"/>
              <a:gd name="T10" fmla="*/ 200 w 391"/>
              <a:gd name="T11" fmla="*/ 155 h 391"/>
              <a:gd name="T12" fmla="*/ 211 w 391"/>
              <a:gd name="T13" fmla="*/ 163 h 391"/>
              <a:gd name="T14" fmla="*/ 223 w 391"/>
              <a:gd name="T15" fmla="*/ 170 h 391"/>
              <a:gd name="T16" fmla="*/ 147 w 391"/>
              <a:gd name="T17" fmla="*/ 263 h 391"/>
              <a:gd name="T18" fmla="*/ 25 w 391"/>
              <a:gd name="T19" fmla="*/ 301 h 391"/>
              <a:gd name="T20" fmla="*/ 0 w 391"/>
              <a:gd name="T21" fmla="*/ 300 h 391"/>
              <a:gd name="T22" fmla="*/ 0 w 391"/>
              <a:gd name="T23" fmla="*/ 391 h 391"/>
              <a:gd name="T24" fmla="*/ 391 w 391"/>
              <a:gd name="T25" fmla="*/ 391 h 391"/>
              <a:gd name="T26" fmla="*/ 391 w 391"/>
              <a:gd name="T27" fmla="*/ 0 h 391"/>
              <a:gd name="T28" fmla="*/ 0 w 391"/>
              <a:gd name="T29" fmla="*/ 0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91" h="391">
                <a:moveTo>
                  <a:pt x="0" y="0"/>
                </a:moveTo>
                <a:cubicBezTo>
                  <a:pt x="0" y="226"/>
                  <a:pt x="0" y="226"/>
                  <a:pt x="0" y="226"/>
                </a:cubicBezTo>
                <a:cubicBezTo>
                  <a:pt x="71" y="238"/>
                  <a:pt x="139" y="196"/>
                  <a:pt x="160" y="129"/>
                </a:cubicBezTo>
                <a:cubicBezTo>
                  <a:pt x="164" y="132"/>
                  <a:pt x="168" y="134"/>
                  <a:pt x="172" y="137"/>
                </a:cubicBezTo>
                <a:cubicBezTo>
                  <a:pt x="176" y="140"/>
                  <a:pt x="180" y="142"/>
                  <a:pt x="184" y="145"/>
                </a:cubicBezTo>
                <a:cubicBezTo>
                  <a:pt x="189" y="148"/>
                  <a:pt x="194" y="151"/>
                  <a:pt x="200" y="155"/>
                </a:cubicBezTo>
                <a:cubicBezTo>
                  <a:pt x="204" y="157"/>
                  <a:pt x="207" y="160"/>
                  <a:pt x="211" y="163"/>
                </a:cubicBezTo>
                <a:cubicBezTo>
                  <a:pt x="215" y="165"/>
                  <a:pt x="219" y="168"/>
                  <a:pt x="223" y="170"/>
                </a:cubicBezTo>
                <a:cubicBezTo>
                  <a:pt x="207" y="208"/>
                  <a:pt x="181" y="240"/>
                  <a:pt x="147" y="263"/>
                </a:cubicBezTo>
                <a:cubicBezTo>
                  <a:pt x="110" y="288"/>
                  <a:pt x="68" y="301"/>
                  <a:pt x="25" y="301"/>
                </a:cubicBezTo>
                <a:cubicBezTo>
                  <a:pt x="17" y="301"/>
                  <a:pt x="8" y="301"/>
                  <a:pt x="0" y="300"/>
                </a:cubicBezTo>
                <a:cubicBezTo>
                  <a:pt x="0" y="391"/>
                  <a:pt x="0" y="391"/>
                  <a:pt x="0" y="391"/>
                </a:cubicBezTo>
                <a:cubicBezTo>
                  <a:pt x="391" y="391"/>
                  <a:pt x="391" y="391"/>
                  <a:pt x="391" y="391"/>
                </a:cubicBezTo>
                <a:cubicBezTo>
                  <a:pt x="391" y="0"/>
                  <a:pt x="391" y="0"/>
                  <a:pt x="391" y="0"/>
                </a:cubicBezTo>
                <a:lnTo>
                  <a:pt x="0" y="0"/>
                </a:lnTo>
                <a:close/>
              </a:path>
            </a:pathLst>
          </a:custGeom>
          <a:solidFill>
            <a:srgbClr val="04C3A6"/>
          </a:solidFill>
          <a:ln>
            <a:noFill/>
          </a:ln>
        </p:spPr>
        <p:txBody>
          <a:bodyPr vert="horz" wrap="square" lIns="91440" tIns="45720" rIns="91440" bIns="45720" numCol="1" anchor="t" anchorCtr="0" compatLnSpc="1">
            <a:prstTxWarp prst="textNoShape">
              <a:avLst/>
            </a:prstTxWarp>
          </a:bodyPr>
          <a:lstStyle/>
          <a:p>
            <a:endParaRPr lang="ko-KR" altLang="en-US">
              <a:solidFill>
                <a:prstClr val="black"/>
              </a:solidFill>
            </a:endParaRPr>
          </a:p>
        </p:txBody>
      </p:sp>
      <p:grpSp>
        <p:nvGrpSpPr>
          <p:cNvPr id="8" name="그룹 7"/>
          <p:cNvGrpSpPr/>
          <p:nvPr userDrawn="1"/>
        </p:nvGrpSpPr>
        <p:grpSpPr>
          <a:xfrm>
            <a:off x="10287825" y="6213220"/>
            <a:ext cx="1330664" cy="220644"/>
            <a:chOff x="840475" y="6130762"/>
            <a:chExt cx="1511109" cy="250566"/>
          </a:xfrm>
          <a:solidFill>
            <a:schemeClr val="tx1"/>
          </a:solidFill>
        </p:grpSpPr>
        <p:sp>
          <p:nvSpPr>
            <p:cNvPr id="9" name="Freeform 7"/>
            <p:cNvSpPr>
              <a:spLocks/>
            </p:cNvSpPr>
            <p:nvPr/>
          </p:nvSpPr>
          <p:spPr bwMode="auto">
            <a:xfrm>
              <a:off x="840475" y="6130762"/>
              <a:ext cx="181179" cy="201739"/>
            </a:xfrm>
            <a:custGeom>
              <a:avLst/>
              <a:gdLst>
                <a:gd name="T0" fmla="*/ 159 w 291"/>
                <a:gd name="T1" fmla="*/ 261 h 320"/>
                <a:gd name="T2" fmla="*/ 59 w 291"/>
                <a:gd name="T3" fmla="*/ 160 h 320"/>
                <a:gd name="T4" fmla="*/ 159 w 291"/>
                <a:gd name="T5" fmla="*/ 59 h 320"/>
                <a:gd name="T6" fmla="*/ 242 w 291"/>
                <a:gd name="T7" fmla="*/ 102 h 320"/>
                <a:gd name="T8" fmla="*/ 290 w 291"/>
                <a:gd name="T9" fmla="*/ 68 h 320"/>
                <a:gd name="T10" fmla="*/ 159 w 291"/>
                <a:gd name="T11" fmla="*/ 0 h 320"/>
                <a:gd name="T12" fmla="*/ 0 w 291"/>
                <a:gd name="T13" fmla="*/ 160 h 320"/>
                <a:gd name="T14" fmla="*/ 159 w 291"/>
                <a:gd name="T15" fmla="*/ 320 h 320"/>
                <a:gd name="T16" fmla="*/ 291 w 291"/>
                <a:gd name="T17" fmla="*/ 250 h 320"/>
                <a:gd name="T18" fmla="*/ 243 w 291"/>
                <a:gd name="T19" fmla="*/ 217 h 320"/>
                <a:gd name="T20" fmla="*/ 159 w 291"/>
                <a:gd name="T21" fmla="*/ 261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1" h="320">
                  <a:moveTo>
                    <a:pt x="159" y="261"/>
                  </a:moveTo>
                  <a:cubicBezTo>
                    <a:pt x="104" y="261"/>
                    <a:pt x="59" y="215"/>
                    <a:pt x="59" y="160"/>
                  </a:cubicBezTo>
                  <a:cubicBezTo>
                    <a:pt x="59" y="104"/>
                    <a:pt x="104" y="59"/>
                    <a:pt x="159" y="59"/>
                  </a:cubicBezTo>
                  <a:cubicBezTo>
                    <a:pt x="194" y="59"/>
                    <a:pt x="224" y="76"/>
                    <a:pt x="242" y="102"/>
                  </a:cubicBezTo>
                  <a:cubicBezTo>
                    <a:pt x="290" y="68"/>
                    <a:pt x="290" y="68"/>
                    <a:pt x="290" y="68"/>
                  </a:cubicBezTo>
                  <a:cubicBezTo>
                    <a:pt x="261" y="27"/>
                    <a:pt x="213" y="0"/>
                    <a:pt x="159" y="0"/>
                  </a:cubicBezTo>
                  <a:cubicBezTo>
                    <a:pt x="71" y="0"/>
                    <a:pt x="0" y="71"/>
                    <a:pt x="0" y="160"/>
                  </a:cubicBezTo>
                  <a:cubicBezTo>
                    <a:pt x="0" y="248"/>
                    <a:pt x="71" y="320"/>
                    <a:pt x="159" y="320"/>
                  </a:cubicBezTo>
                  <a:cubicBezTo>
                    <a:pt x="214" y="320"/>
                    <a:pt x="262" y="292"/>
                    <a:pt x="291" y="250"/>
                  </a:cubicBezTo>
                  <a:cubicBezTo>
                    <a:pt x="243" y="217"/>
                    <a:pt x="243" y="217"/>
                    <a:pt x="243" y="217"/>
                  </a:cubicBezTo>
                  <a:cubicBezTo>
                    <a:pt x="224" y="243"/>
                    <a:pt x="194" y="261"/>
                    <a:pt x="159" y="261"/>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a:solidFill>
                  <a:prstClr val="black"/>
                </a:solidFill>
              </a:endParaRPr>
            </a:p>
          </p:txBody>
        </p:sp>
        <p:sp>
          <p:nvSpPr>
            <p:cNvPr id="10" name="Rectangle 8"/>
            <p:cNvSpPr>
              <a:spLocks noChangeArrowheads="1"/>
            </p:cNvSpPr>
            <p:nvPr/>
          </p:nvSpPr>
          <p:spPr bwMode="auto">
            <a:xfrm>
              <a:off x="1245236" y="6130762"/>
              <a:ext cx="37264" cy="201739"/>
            </a:xfrm>
            <a:prstGeom prst="rect">
              <a:avLst/>
            </a:prstGeom>
            <a:grpFill/>
            <a:ln>
              <a:noFill/>
            </a:ln>
          </p:spPr>
          <p:txBody>
            <a:bodyPr vert="horz" wrap="square" lIns="91440" tIns="45720" rIns="91440" bIns="45720" numCol="1" anchor="t" anchorCtr="0" compatLnSpc="1">
              <a:prstTxWarp prst="textNoShape">
                <a:avLst/>
              </a:prstTxWarp>
            </a:bodyPr>
            <a:lstStyle/>
            <a:p>
              <a:endParaRPr lang="ko-KR" altLang="en-US">
                <a:solidFill>
                  <a:prstClr val="black"/>
                </a:solidFill>
              </a:endParaRPr>
            </a:p>
          </p:txBody>
        </p:sp>
        <p:sp>
          <p:nvSpPr>
            <p:cNvPr id="11" name="Rectangle 9"/>
            <p:cNvSpPr>
              <a:spLocks noChangeArrowheads="1"/>
            </p:cNvSpPr>
            <p:nvPr/>
          </p:nvSpPr>
          <p:spPr bwMode="auto">
            <a:xfrm>
              <a:off x="1191267" y="6130762"/>
              <a:ext cx="35979" cy="201739"/>
            </a:xfrm>
            <a:prstGeom prst="rect">
              <a:avLst/>
            </a:prstGeom>
            <a:grpFill/>
            <a:ln>
              <a:noFill/>
            </a:ln>
          </p:spPr>
          <p:txBody>
            <a:bodyPr vert="horz" wrap="square" lIns="91440" tIns="45720" rIns="91440" bIns="45720" numCol="1" anchor="t" anchorCtr="0" compatLnSpc="1">
              <a:prstTxWarp prst="textNoShape">
                <a:avLst/>
              </a:prstTxWarp>
            </a:bodyPr>
            <a:lstStyle/>
            <a:p>
              <a:endParaRPr lang="ko-KR" altLang="en-US">
                <a:solidFill>
                  <a:prstClr val="black"/>
                </a:solidFill>
              </a:endParaRPr>
            </a:p>
          </p:txBody>
        </p:sp>
        <p:sp>
          <p:nvSpPr>
            <p:cNvPr id="12" name="Freeform 10"/>
            <p:cNvSpPr>
              <a:spLocks noEditPoints="1"/>
            </p:cNvSpPr>
            <p:nvPr/>
          </p:nvSpPr>
          <p:spPr bwMode="auto">
            <a:xfrm>
              <a:off x="1030648" y="6183444"/>
              <a:ext cx="142631" cy="149055"/>
            </a:xfrm>
            <a:custGeom>
              <a:avLst/>
              <a:gdLst>
                <a:gd name="T0" fmla="*/ 182 w 228"/>
                <a:gd name="T1" fmla="*/ 20 h 237"/>
                <a:gd name="T2" fmla="*/ 174 w 228"/>
                <a:gd name="T3" fmla="*/ 15 h 237"/>
                <a:gd name="T4" fmla="*/ 115 w 228"/>
                <a:gd name="T5" fmla="*/ 0 h 237"/>
                <a:gd name="T6" fmla="*/ 0 w 228"/>
                <a:gd name="T7" fmla="*/ 115 h 237"/>
                <a:gd name="T8" fmla="*/ 117 w 228"/>
                <a:gd name="T9" fmla="*/ 237 h 237"/>
                <a:gd name="T10" fmla="*/ 216 w 228"/>
                <a:gd name="T11" fmla="*/ 184 h 237"/>
                <a:gd name="T12" fmla="*/ 169 w 228"/>
                <a:gd name="T13" fmla="*/ 152 h 237"/>
                <a:gd name="T14" fmla="*/ 117 w 228"/>
                <a:gd name="T15" fmla="*/ 184 h 237"/>
                <a:gd name="T16" fmla="*/ 71 w 228"/>
                <a:gd name="T17" fmla="*/ 165 h 237"/>
                <a:gd name="T18" fmla="*/ 57 w 228"/>
                <a:gd name="T19" fmla="*/ 137 h 237"/>
                <a:gd name="T20" fmla="*/ 147 w 228"/>
                <a:gd name="T21" fmla="*/ 137 h 237"/>
                <a:gd name="T22" fmla="*/ 228 w 228"/>
                <a:gd name="T23" fmla="*/ 137 h 237"/>
                <a:gd name="T24" fmla="*/ 228 w 228"/>
                <a:gd name="T25" fmla="*/ 114 h 237"/>
                <a:gd name="T26" fmla="*/ 182 w 228"/>
                <a:gd name="T27" fmla="*/ 20 h 237"/>
                <a:gd name="T28" fmla="*/ 88 w 228"/>
                <a:gd name="T29" fmla="*/ 86 h 237"/>
                <a:gd name="T30" fmla="*/ 74 w 228"/>
                <a:gd name="T31" fmla="*/ 86 h 237"/>
                <a:gd name="T32" fmla="*/ 62 w 228"/>
                <a:gd name="T33" fmla="*/ 86 h 237"/>
                <a:gd name="T34" fmla="*/ 115 w 228"/>
                <a:gd name="T35" fmla="*/ 53 h 237"/>
                <a:gd name="T36" fmla="*/ 120 w 228"/>
                <a:gd name="T37" fmla="*/ 53 h 237"/>
                <a:gd name="T38" fmla="*/ 132 w 228"/>
                <a:gd name="T39" fmla="*/ 55 h 237"/>
                <a:gd name="T40" fmla="*/ 167 w 228"/>
                <a:gd name="T41" fmla="*/ 86 h 237"/>
                <a:gd name="T42" fmla="*/ 88 w 228"/>
                <a:gd name="T43" fmla="*/ 86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8" h="237">
                  <a:moveTo>
                    <a:pt x="182" y="20"/>
                  </a:moveTo>
                  <a:cubicBezTo>
                    <a:pt x="179" y="18"/>
                    <a:pt x="176" y="17"/>
                    <a:pt x="174" y="15"/>
                  </a:cubicBezTo>
                  <a:cubicBezTo>
                    <a:pt x="157" y="6"/>
                    <a:pt x="137" y="0"/>
                    <a:pt x="115" y="0"/>
                  </a:cubicBezTo>
                  <a:cubicBezTo>
                    <a:pt x="51" y="0"/>
                    <a:pt x="0" y="51"/>
                    <a:pt x="0" y="115"/>
                  </a:cubicBezTo>
                  <a:cubicBezTo>
                    <a:pt x="0" y="175"/>
                    <a:pt x="44" y="237"/>
                    <a:pt x="117" y="237"/>
                  </a:cubicBezTo>
                  <a:cubicBezTo>
                    <a:pt x="159" y="237"/>
                    <a:pt x="194" y="218"/>
                    <a:pt x="216" y="184"/>
                  </a:cubicBezTo>
                  <a:cubicBezTo>
                    <a:pt x="169" y="152"/>
                    <a:pt x="169" y="152"/>
                    <a:pt x="169" y="152"/>
                  </a:cubicBezTo>
                  <a:cubicBezTo>
                    <a:pt x="159" y="172"/>
                    <a:pt x="140" y="184"/>
                    <a:pt x="117" y="184"/>
                  </a:cubicBezTo>
                  <a:cubicBezTo>
                    <a:pt x="99" y="184"/>
                    <a:pt x="82" y="177"/>
                    <a:pt x="71" y="165"/>
                  </a:cubicBezTo>
                  <a:cubicBezTo>
                    <a:pt x="63" y="157"/>
                    <a:pt x="58" y="147"/>
                    <a:pt x="57" y="137"/>
                  </a:cubicBezTo>
                  <a:cubicBezTo>
                    <a:pt x="147" y="137"/>
                    <a:pt x="147" y="137"/>
                    <a:pt x="147" y="137"/>
                  </a:cubicBezTo>
                  <a:cubicBezTo>
                    <a:pt x="228" y="137"/>
                    <a:pt x="228" y="137"/>
                    <a:pt x="228" y="137"/>
                  </a:cubicBezTo>
                  <a:cubicBezTo>
                    <a:pt x="228" y="114"/>
                    <a:pt x="228" y="114"/>
                    <a:pt x="228" y="114"/>
                  </a:cubicBezTo>
                  <a:cubicBezTo>
                    <a:pt x="228" y="73"/>
                    <a:pt x="210" y="40"/>
                    <a:pt x="182" y="20"/>
                  </a:cubicBezTo>
                  <a:close/>
                  <a:moveTo>
                    <a:pt x="88" y="86"/>
                  </a:moveTo>
                  <a:cubicBezTo>
                    <a:pt x="74" y="86"/>
                    <a:pt x="74" y="86"/>
                    <a:pt x="74" y="86"/>
                  </a:cubicBezTo>
                  <a:cubicBezTo>
                    <a:pt x="62" y="86"/>
                    <a:pt x="62" y="86"/>
                    <a:pt x="62" y="86"/>
                  </a:cubicBezTo>
                  <a:cubicBezTo>
                    <a:pt x="72" y="66"/>
                    <a:pt x="91" y="53"/>
                    <a:pt x="115" y="53"/>
                  </a:cubicBezTo>
                  <a:cubicBezTo>
                    <a:pt x="117" y="53"/>
                    <a:pt x="118" y="53"/>
                    <a:pt x="120" y="53"/>
                  </a:cubicBezTo>
                  <a:cubicBezTo>
                    <a:pt x="124" y="54"/>
                    <a:pt x="128" y="54"/>
                    <a:pt x="132" y="55"/>
                  </a:cubicBezTo>
                  <a:cubicBezTo>
                    <a:pt x="149" y="59"/>
                    <a:pt x="161" y="70"/>
                    <a:pt x="167" y="86"/>
                  </a:cubicBezTo>
                  <a:lnTo>
                    <a:pt x="88" y="86"/>
                  </a:ln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a:solidFill>
                  <a:prstClr val="black"/>
                </a:solidFill>
              </a:endParaRPr>
            </a:p>
          </p:txBody>
        </p:sp>
        <p:sp>
          <p:nvSpPr>
            <p:cNvPr id="13" name="Freeform 11"/>
            <p:cNvSpPr>
              <a:spLocks/>
            </p:cNvSpPr>
            <p:nvPr/>
          </p:nvSpPr>
          <p:spPr bwMode="auto">
            <a:xfrm>
              <a:off x="1498373" y="6130762"/>
              <a:ext cx="142631" cy="201739"/>
            </a:xfrm>
            <a:custGeom>
              <a:avLst/>
              <a:gdLst>
                <a:gd name="T0" fmla="*/ 139 w 229"/>
                <a:gd name="T1" fmla="*/ 130 h 320"/>
                <a:gd name="T2" fmla="*/ 133 w 229"/>
                <a:gd name="T3" fmla="*/ 128 h 320"/>
                <a:gd name="T4" fmla="*/ 112 w 229"/>
                <a:gd name="T5" fmla="*/ 120 h 320"/>
                <a:gd name="T6" fmla="*/ 77 w 229"/>
                <a:gd name="T7" fmla="*/ 87 h 320"/>
                <a:gd name="T8" fmla="*/ 119 w 229"/>
                <a:gd name="T9" fmla="*/ 54 h 320"/>
                <a:gd name="T10" fmla="*/ 171 w 229"/>
                <a:gd name="T11" fmla="*/ 79 h 320"/>
                <a:gd name="T12" fmla="*/ 221 w 229"/>
                <a:gd name="T13" fmla="*/ 44 h 320"/>
                <a:gd name="T14" fmla="*/ 220 w 229"/>
                <a:gd name="T15" fmla="*/ 42 h 320"/>
                <a:gd name="T16" fmla="*/ 118 w 229"/>
                <a:gd name="T17" fmla="*/ 0 h 320"/>
                <a:gd name="T18" fmla="*/ 14 w 229"/>
                <a:gd name="T19" fmla="*/ 89 h 320"/>
                <a:gd name="T20" fmla="*/ 56 w 229"/>
                <a:gd name="T21" fmla="*/ 160 h 320"/>
                <a:gd name="T22" fmla="*/ 103 w 229"/>
                <a:gd name="T23" fmla="*/ 179 h 320"/>
                <a:gd name="T24" fmla="*/ 108 w 229"/>
                <a:gd name="T25" fmla="*/ 180 h 320"/>
                <a:gd name="T26" fmla="*/ 166 w 229"/>
                <a:gd name="T27" fmla="*/ 222 h 320"/>
                <a:gd name="T28" fmla="*/ 157 w 229"/>
                <a:gd name="T29" fmla="*/ 246 h 320"/>
                <a:gd name="T30" fmla="*/ 121 w 229"/>
                <a:gd name="T31" fmla="*/ 262 h 320"/>
                <a:gd name="T32" fmla="*/ 83 w 229"/>
                <a:gd name="T33" fmla="*/ 251 h 320"/>
                <a:gd name="T34" fmla="*/ 56 w 229"/>
                <a:gd name="T35" fmla="*/ 224 h 320"/>
                <a:gd name="T36" fmla="*/ 0 w 229"/>
                <a:gd name="T37" fmla="*/ 264 h 320"/>
                <a:gd name="T38" fmla="*/ 2 w 229"/>
                <a:gd name="T39" fmla="*/ 267 h 320"/>
                <a:gd name="T40" fmla="*/ 120 w 229"/>
                <a:gd name="T41" fmla="*/ 320 h 320"/>
                <a:gd name="T42" fmla="*/ 121 w 229"/>
                <a:gd name="T43" fmla="*/ 320 h 320"/>
                <a:gd name="T44" fmla="*/ 201 w 229"/>
                <a:gd name="T45" fmla="*/ 289 h 320"/>
                <a:gd name="T46" fmla="*/ 208 w 229"/>
                <a:gd name="T47" fmla="*/ 281 h 320"/>
                <a:gd name="T48" fmla="*/ 229 w 229"/>
                <a:gd name="T49" fmla="*/ 222 h 320"/>
                <a:gd name="T50" fmla="*/ 139 w 229"/>
                <a:gd name="T51" fmla="*/ 130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9" h="320">
                  <a:moveTo>
                    <a:pt x="139" y="130"/>
                  </a:moveTo>
                  <a:cubicBezTo>
                    <a:pt x="133" y="128"/>
                    <a:pt x="133" y="128"/>
                    <a:pt x="133" y="128"/>
                  </a:cubicBezTo>
                  <a:cubicBezTo>
                    <a:pt x="125" y="125"/>
                    <a:pt x="118" y="123"/>
                    <a:pt x="112" y="120"/>
                  </a:cubicBezTo>
                  <a:cubicBezTo>
                    <a:pt x="90" y="112"/>
                    <a:pt x="77" y="104"/>
                    <a:pt x="77" y="87"/>
                  </a:cubicBezTo>
                  <a:cubicBezTo>
                    <a:pt x="77" y="67"/>
                    <a:pt x="93" y="54"/>
                    <a:pt x="119" y="54"/>
                  </a:cubicBezTo>
                  <a:cubicBezTo>
                    <a:pt x="140" y="54"/>
                    <a:pt x="158" y="62"/>
                    <a:pt x="171" y="79"/>
                  </a:cubicBezTo>
                  <a:cubicBezTo>
                    <a:pt x="221" y="44"/>
                    <a:pt x="221" y="44"/>
                    <a:pt x="221" y="44"/>
                  </a:cubicBezTo>
                  <a:cubicBezTo>
                    <a:pt x="220" y="42"/>
                    <a:pt x="220" y="42"/>
                    <a:pt x="220" y="42"/>
                  </a:cubicBezTo>
                  <a:cubicBezTo>
                    <a:pt x="199" y="21"/>
                    <a:pt x="171" y="0"/>
                    <a:pt x="118" y="0"/>
                  </a:cubicBezTo>
                  <a:cubicBezTo>
                    <a:pt x="59" y="0"/>
                    <a:pt x="14" y="38"/>
                    <a:pt x="14" y="89"/>
                  </a:cubicBezTo>
                  <a:cubicBezTo>
                    <a:pt x="14" y="126"/>
                    <a:pt x="33" y="147"/>
                    <a:pt x="56" y="160"/>
                  </a:cubicBezTo>
                  <a:cubicBezTo>
                    <a:pt x="71" y="169"/>
                    <a:pt x="88" y="174"/>
                    <a:pt x="103" y="179"/>
                  </a:cubicBezTo>
                  <a:cubicBezTo>
                    <a:pt x="108" y="180"/>
                    <a:pt x="108" y="180"/>
                    <a:pt x="108" y="180"/>
                  </a:cubicBezTo>
                  <a:cubicBezTo>
                    <a:pt x="139" y="190"/>
                    <a:pt x="166" y="198"/>
                    <a:pt x="166" y="222"/>
                  </a:cubicBezTo>
                  <a:cubicBezTo>
                    <a:pt x="166" y="232"/>
                    <a:pt x="163" y="240"/>
                    <a:pt x="157" y="246"/>
                  </a:cubicBezTo>
                  <a:cubicBezTo>
                    <a:pt x="149" y="257"/>
                    <a:pt x="135" y="262"/>
                    <a:pt x="121" y="262"/>
                  </a:cubicBezTo>
                  <a:cubicBezTo>
                    <a:pt x="107" y="262"/>
                    <a:pt x="94" y="258"/>
                    <a:pt x="83" y="251"/>
                  </a:cubicBezTo>
                  <a:cubicBezTo>
                    <a:pt x="73" y="244"/>
                    <a:pt x="64" y="235"/>
                    <a:pt x="56" y="224"/>
                  </a:cubicBezTo>
                  <a:cubicBezTo>
                    <a:pt x="0" y="264"/>
                    <a:pt x="0" y="264"/>
                    <a:pt x="0" y="264"/>
                  </a:cubicBezTo>
                  <a:cubicBezTo>
                    <a:pt x="2" y="267"/>
                    <a:pt x="2" y="267"/>
                    <a:pt x="2" y="267"/>
                  </a:cubicBezTo>
                  <a:cubicBezTo>
                    <a:pt x="35" y="302"/>
                    <a:pt x="72" y="319"/>
                    <a:pt x="120" y="320"/>
                  </a:cubicBezTo>
                  <a:cubicBezTo>
                    <a:pt x="120" y="320"/>
                    <a:pt x="121" y="320"/>
                    <a:pt x="121" y="320"/>
                  </a:cubicBezTo>
                  <a:cubicBezTo>
                    <a:pt x="153" y="320"/>
                    <a:pt x="181" y="309"/>
                    <a:pt x="201" y="289"/>
                  </a:cubicBezTo>
                  <a:cubicBezTo>
                    <a:pt x="203" y="287"/>
                    <a:pt x="206" y="284"/>
                    <a:pt x="208" y="281"/>
                  </a:cubicBezTo>
                  <a:cubicBezTo>
                    <a:pt x="221" y="264"/>
                    <a:pt x="229" y="243"/>
                    <a:pt x="229" y="222"/>
                  </a:cubicBezTo>
                  <a:cubicBezTo>
                    <a:pt x="229" y="164"/>
                    <a:pt x="182" y="144"/>
                    <a:pt x="139" y="130"/>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a:solidFill>
                  <a:prstClr val="black"/>
                </a:solidFill>
              </a:endParaRPr>
            </a:p>
          </p:txBody>
        </p:sp>
        <p:sp>
          <p:nvSpPr>
            <p:cNvPr id="14" name="Freeform 12"/>
            <p:cNvSpPr>
              <a:spLocks/>
            </p:cNvSpPr>
            <p:nvPr/>
          </p:nvSpPr>
          <p:spPr bwMode="auto">
            <a:xfrm>
              <a:off x="1817042" y="6188584"/>
              <a:ext cx="131066" cy="143915"/>
            </a:xfrm>
            <a:custGeom>
              <a:avLst/>
              <a:gdLst>
                <a:gd name="T0" fmla="*/ 210 w 210"/>
                <a:gd name="T1" fmla="*/ 0 h 229"/>
                <a:gd name="T2" fmla="*/ 152 w 210"/>
                <a:gd name="T3" fmla="*/ 0 h 229"/>
                <a:gd name="T4" fmla="*/ 152 w 210"/>
                <a:gd name="T5" fmla="*/ 122 h 229"/>
                <a:gd name="T6" fmla="*/ 152 w 210"/>
                <a:gd name="T7" fmla="*/ 124 h 229"/>
                <a:gd name="T8" fmla="*/ 152 w 210"/>
                <a:gd name="T9" fmla="*/ 125 h 229"/>
                <a:gd name="T10" fmla="*/ 105 w 210"/>
                <a:gd name="T11" fmla="*/ 170 h 229"/>
                <a:gd name="T12" fmla="*/ 58 w 210"/>
                <a:gd name="T13" fmla="*/ 125 h 229"/>
                <a:gd name="T14" fmla="*/ 58 w 210"/>
                <a:gd name="T15" fmla="*/ 124 h 229"/>
                <a:gd name="T16" fmla="*/ 58 w 210"/>
                <a:gd name="T17" fmla="*/ 122 h 229"/>
                <a:gd name="T18" fmla="*/ 58 w 210"/>
                <a:gd name="T19" fmla="*/ 0 h 229"/>
                <a:gd name="T20" fmla="*/ 0 w 210"/>
                <a:gd name="T21" fmla="*/ 0 h 229"/>
                <a:gd name="T22" fmla="*/ 0 w 210"/>
                <a:gd name="T23" fmla="*/ 124 h 229"/>
                <a:gd name="T24" fmla="*/ 58 w 210"/>
                <a:gd name="T25" fmla="*/ 217 h 229"/>
                <a:gd name="T26" fmla="*/ 105 w 210"/>
                <a:gd name="T27" fmla="*/ 229 h 229"/>
                <a:gd name="T28" fmla="*/ 152 w 210"/>
                <a:gd name="T29" fmla="*/ 217 h 229"/>
                <a:gd name="T30" fmla="*/ 152 w 210"/>
                <a:gd name="T31" fmla="*/ 217 h 229"/>
                <a:gd name="T32" fmla="*/ 152 w 210"/>
                <a:gd name="T33" fmla="*/ 229 h 229"/>
                <a:gd name="T34" fmla="*/ 210 w 210"/>
                <a:gd name="T35" fmla="*/ 229 h 229"/>
                <a:gd name="T36" fmla="*/ 210 w 210"/>
                <a:gd name="T37" fmla="*/ 0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0" h="229">
                  <a:moveTo>
                    <a:pt x="210" y="0"/>
                  </a:moveTo>
                  <a:cubicBezTo>
                    <a:pt x="152" y="0"/>
                    <a:pt x="152" y="0"/>
                    <a:pt x="152" y="0"/>
                  </a:cubicBezTo>
                  <a:cubicBezTo>
                    <a:pt x="152" y="122"/>
                    <a:pt x="152" y="122"/>
                    <a:pt x="152" y="122"/>
                  </a:cubicBezTo>
                  <a:cubicBezTo>
                    <a:pt x="152" y="122"/>
                    <a:pt x="152" y="123"/>
                    <a:pt x="152" y="124"/>
                  </a:cubicBezTo>
                  <a:cubicBezTo>
                    <a:pt x="152" y="124"/>
                    <a:pt x="152" y="125"/>
                    <a:pt x="152" y="125"/>
                  </a:cubicBezTo>
                  <a:cubicBezTo>
                    <a:pt x="151" y="150"/>
                    <a:pt x="130" y="170"/>
                    <a:pt x="105" y="170"/>
                  </a:cubicBezTo>
                  <a:cubicBezTo>
                    <a:pt x="80" y="170"/>
                    <a:pt x="59" y="150"/>
                    <a:pt x="58" y="125"/>
                  </a:cubicBezTo>
                  <a:cubicBezTo>
                    <a:pt x="58" y="125"/>
                    <a:pt x="58" y="124"/>
                    <a:pt x="58" y="124"/>
                  </a:cubicBezTo>
                  <a:cubicBezTo>
                    <a:pt x="58" y="123"/>
                    <a:pt x="58" y="122"/>
                    <a:pt x="58" y="122"/>
                  </a:cubicBezTo>
                  <a:cubicBezTo>
                    <a:pt x="58" y="0"/>
                    <a:pt x="58" y="0"/>
                    <a:pt x="58" y="0"/>
                  </a:cubicBezTo>
                  <a:cubicBezTo>
                    <a:pt x="0" y="0"/>
                    <a:pt x="0" y="0"/>
                    <a:pt x="0" y="0"/>
                  </a:cubicBezTo>
                  <a:cubicBezTo>
                    <a:pt x="0" y="124"/>
                    <a:pt x="0" y="124"/>
                    <a:pt x="0" y="124"/>
                  </a:cubicBezTo>
                  <a:cubicBezTo>
                    <a:pt x="0" y="165"/>
                    <a:pt x="23" y="200"/>
                    <a:pt x="58" y="217"/>
                  </a:cubicBezTo>
                  <a:cubicBezTo>
                    <a:pt x="72" y="225"/>
                    <a:pt x="88" y="229"/>
                    <a:pt x="105" y="229"/>
                  </a:cubicBezTo>
                  <a:cubicBezTo>
                    <a:pt x="122" y="229"/>
                    <a:pt x="138" y="225"/>
                    <a:pt x="152" y="217"/>
                  </a:cubicBezTo>
                  <a:cubicBezTo>
                    <a:pt x="152" y="217"/>
                    <a:pt x="152" y="217"/>
                    <a:pt x="152" y="217"/>
                  </a:cubicBezTo>
                  <a:cubicBezTo>
                    <a:pt x="152" y="229"/>
                    <a:pt x="152" y="229"/>
                    <a:pt x="152" y="229"/>
                  </a:cubicBezTo>
                  <a:cubicBezTo>
                    <a:pt x="210" y="229"/>
                    <a:pt x="210" y="229"/>
                    <a:pt x="210" y="229"/>
                  </a:cubicBezTo>
                  <a:lnTo>
                    <a:pt x="210" y="0"/>
                  </a:ln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a:solidFill>
                  <a:prstClr val="black"/>
                </a:solidFill>
              </a:endParaRPr>
            </a:p>
          </p:txBody>
        </p:sp>
        <p:sp>
          <p:nvSpPr>
            <p:cNvPr id="15" name="Freeform 13"/>
            <p:cNvSpPr>
              <a:spLocks noEditPoints="1"/>
            </p:cNvSpPr>
            <p:nvPr/>
          </p:nvSpPr>
          <p:spPr bwMode="auto">
            <a:xfrm>
              <a:off x="1967381" y="6183444"/>
              <a:ext cx="143915" cy="149055"/>
            </a:xfrm>
            <a:custGeom>
              <a:avLst/>
              <a:gdLst>
                <a:gd name="T0" fmla="*/ 231 w 231"/>
                <a:gd name="T1" fmla="*/ 115 h 237"/>
                <a:gd name="T2" fmla="*/ 231 w 231"/>
                <a:gd name="T3" fmla="*/ 115 h 237"/>
                <a:gd name="T4" fmla="*/ 231 w 231"/>
                <a:gd name="T5" fmla="*/ 115 h 237"/>
                <a:gd name="T6" fmla="*/ 200 w 231"/>
                <a:gd name="T7" fmla="*/ 35 h 237"/>
                <a:gd name="T8" fmla="*/ 128 w 231"/>
                <a:gd name="T9" fmla="*/ 1 h 237"/>
                <a:gd name="T10" fmla="*/ 115 w 231"/>
                <a:gd name="T11" fmla="*/ 0 h 237"/>
                <a:gd name="T12" fmla="*/ 103 w 231"/>
                <a:gd name="T13" fmla="*/ 1 h 237"/>
                <a:gd name="T14" fmla="*/ 0 w 231"/>
                <a:gd name="T15" fmla="*/ 115 h 237"/>
                <a:gd name="T16" fmla="*/ 0 w 231"/>
                <a:gd name="T17" fmla="*/ 115 h 237"/>
                <a:gd name="T18" fmla="*/ 0 w 231"/>
                <a:gd name="T19" fmla="*/ 121 h 237"/>
                <a:gd name="T20" fmla="*/ 63 w 231"/>
                <a:gd name="T21" fmla="*/ 225 h 237"/>
                <a:gd name="T22" fmla="*/ 63 w 231"/>
                <a:gd name="T23" fmla="*/ 225 h 237"/>
                <a:gd name="T24" fmla="*/ 102 w 231"/>
                <a:gd name="T25" fmla="*/ 236 h 237"/>
                <a:gd name="T26" fmla="*/ 102 w 231"/>
                <a:gd name="T27" fmla="*/ 236 h 237"/>
                <a:gd name="T28" fmla="*/ 115 w 231"/>
                <a:gd name="T29" fmla="*/ 236 h 237"/>
                <a:gd name="T30" fmla="*/ 129 w 231"/>
                <a:gd name="T31" fmla="*/ 236 h 237"/>
                <a:gd name="T32" fmla="*/ 129 w 231"/>
                <a:gd name="T33" fmla="*/ 236 h 237"/>
                <a:gd name="T34" fmla="*/ 168 w 231"/>
                <a:gd name="T35" fmla="*/ 225 h 237"/>
                <a:gd name="T36" fmla="*/ 173 w 231"/>
                <a:gd name="T37" fmla="*/ 222 h 237"/>
                <a:gd name="T38" fmla="*/ 173 w 231"/>
                <a:gd name="T39" fmla="*/ 237 h 237"/>
                <a:gd name="T40" fmla="*/ 231 w 231"/>
                <a:gd name="T41" fmla="*/ 237 h 237"/>
                <a:gd name="T42" fmla="*/ 231 w 231"/>
                <a:gd name="T43" fmla="*/ 121 h 237"/>
                <a:gd name="T44" fmla="*/ 231 w 231"/>
                <a:gd name="T45" fmla="*/ 121 h 237"/>
                <a:gd name="T46" fmla="*/ 231 w 231"/>
                <a:gd name="T47" fmla="*/ 115 h 237"/>
                <a:gd name="T48" fmla="*/ 129 w 231"/>
                <a:gd name="T49" fmla="*/ 179 h 237"/>
                <a:gd name="T50" fmla="*/ 115 w 231"/>
                <a:gd name="T51" fmla="*/ 181 h 237"/>
                <a:gd name="T52" fmla="*/ 102 w 231"/>
                <a:gd name="T53" fmla="*/ 179 h 237"/>
                <a:gd name="T54" fmla="*/ 58 w 231"/>
                <a:gd name="T55" fmla="*/ 118 h 237"/>
                <a:gd name="T56" fmla="*/ 102 w 231"/>
                <a:gd name="T57" fmla="*/ 57 h 237"/>
                <a:gd name="T58" fmla="*/ 115 w 231"/>
                <a:gd name="T59" fmla="*/ 56 h 237"/>
                <a:gd name="T60" fmla="*/ 129 w 231"/>
                <a:gd name="T61" fmla="*/ 57 h 237"/>
                <a:gd name="T62" fmla="*/ 173 w 231"/>
                <a:gd name="T63" fmla="*/ 118 h 237"/>
                <a:gd name="T64" fmla="*/ 129 w 231"/>
                <a:gd name="T65" fmla="*/ 179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1" h="237">
                  <a:moveTo>
                    <a:pt x="231" y="115"/>
                  </a:moveTo>
                  <a:cubicBezTo>
                    <a:pt x="231" y="115"/>
                    <a:pt x="231" y="115"/>
                    <a:pt x="231" y="115"/>
                  </a:cubicBezTo>
                  <a:cubicBezTo>
                    <a:pt x="231" y="115"/>
                    <a:pt x="231" y="115"/>
                    <a:pt x="231" y="115"/>
                  </a:cubicBezTo>
                  <a:cubicBezTo>
                    <a:pt x="231" y="83"/>
                    <a:pt x="219" y="56"/>
                    <a:pt x="200" y="35"/>
                  </a:cubicBezTo>
                  <a:cubicBezTo>
                    <a:pt x="182" y="16"/>
                    <a:pt x="157" y="3"/>
                    <a:pt x="128" y="1"/>
                  </a:cubicBezTo>
                  <a:cubicBezTo>
                    <a:pt x="124" y="0"/>
                    <a:pt x="120" y="0"/>
                    <a:pt x="115" y="0"/>
                  </a:cubicBezTo>
                  <a:cubicBezTo>
                    <a:pt x="111" y="0"/>
                    <a:pt x="107" y="0"/>
                    <a:pt x="103" y="1"/>
                  </a:cubicBezTo>
                  <a:cubicBezTo>
                    <a:pt x="44" y="6"/>
                    <a:pt x="1" y="53"/>
                    <a:pt x="0" y="115"/>
                  </a:cubicBezTo>
                  <a:cubicBezTo>
                    <a:pt x="0" y="115"/>
                    <a:pt x="0" y="115"/>
                    <a:pt x="0" y="115"/>
                  </a:cubicBezTo>
                  <a:cubicBezTo>
                    <a:pt x="0" y="121"/>
                    <a:pt x="0" y="121"/>
                    <a:pt x="0" y="121"/>
                  </a:cubicBezTo>
                  <a:cubicBezTo>
                    <a:pt x="1" y="169"/>
                    <a:pt x="25" y="207"/>
                    <a:pt x="63" y="225"/>
                  </a:cubicBezTo>
                  <a:cubicBezTo>
                    <a:pt x="63" y="225"/>
                    <a:pt x="63" y="225"/>
                    <a:pt x="63" y="225"/>
                  </a:cubicBezTo>
                  <a:cubicBezTo>
                    <a:pt x="75" y="231"/>
                    <a:pt x="88" y="234"/>
                    <a:pt x="102" y="236"/>
                  </a:cubicBezTo>
                  <a:cubicBezTo>
                    <a:pt x="102" y="236"/>
                    <a:pt x="102" y="236"/>
                    <a:pt x="102" y="236"/>
                  </a:cubicBezTo>
                  <a:cubicBezTo>
                    <a:pt x="106" y="236"/>
                    <a:pt x="111" y="236"/>
                    <a:pt x="115" y="236"/>
                  </a:cubicBezTo>
                  <a:cubicBezTo>
                    <a:pt x="120" y="236"/>
                    <a:pt x="125" y="236"/>
                    <a:pt x="129" y="236"/>
                  </a:cubicBezTo>
                  <a:cubicBezTo>
                    <a:pt x="129" y="236"/>
                    <a:pt x="129" y="236"/>
                    <a:pt x="129" y="236"/>
                  </a:cubicBezTo>
                  <a:cubicBezTo>
                    <a:pt x="143" y="234"/>
                    <a:pt x="156" y="231"/>
                    <a:pt x="168" y="225"/>
                  </a:cubicBezTo>
                  <a:cubicBezTo>
                    <a:pt x="169" y="224"/>
                    <a:pt x="171" y="223"/>
                    <a:pt x="173" y="222"/>
                  </a:cubicBezTo>
                  <a:cubicBezTo>
                    <a:pt x="173" y="237"/>
                    <a:pt x="173" y="237"/>
                    <a:pt x="173" y="237"/>
                  </a:cubicBezTo>
                  <a:cubicBezTo>
                    <a:pt x="231" y="237"/>
                    <a:pt x="231" y="237"/>
                    <a:pt x="231" y="237"/>
                  </a:cubicBezTo>
                  <a:cubicBezTo>
                    <a:pt x="231" y="121"/>
                    <a:pt x="231" y="121"/>
                    <a:pt x="231" y="121"/>
                  </a:cubicBezTo>
                  <a:cubicBezTo>
                    <a:pt x="231" y="121"/>
                    <a:pt x="231" y="121"/>
                    <a:pt x="231" y="121"/>
                  </a:cubicBezTo>
                  <a:lnTo>
                    <a:pt x="231" y="115"/>
                  </a:lnTo>
                  <a:close/>
                  <a:moveTo>
                    <a:pt x="129" y="179"/>
                  </a:moveTo>
                  <a:cubicBezTo>
                    <a:pt x="125" y="180"/>
                    <a:pt x="120" y="181"/>
                    <a:pt x="115" y="181"/>
                  </a:cubicBezTo>
                  <a:cubicBezTo>
                    <a:pt x="111" y="181"/>
                    <a:pt x="106" y="180"/>
                    <a:pt x="102" y="179"/>
                  </a:cubicBezTo>
                  <a:cubicBezTo>
                    <a:pt x="73" y="173"/>
                    <a:pt x="58" y="145"/>
                    <a:pt x="58" y="118"/>
                  </a:cubicBezTo>
                  <a:cubicBezTo>
                    <a:pt x="58" y="91"/>
                    <a:pt x="73" y="64"/>
                    <a:pt x="102" y="57"/>
                  </a:cubicBezTo>
                  <a:cubicBezTo>
                    <a:pt x="106" y="56"/>
                    <a:pt x="111" y="56"/>
                    <a:pt x="115" y="56"/>
                  </a:cubicBezTo>
                  <a:cubicBezTo>
                    <a:pt x="120" y="56"/>
                    <a:pt x="125" y="56"/>
                    <a:pt x="129" y="57"/>
                  </a:cubicBezTo>
                  <a:cubicBezTo>
                    <a:pt x="158" y="64"/>
                    <a:pt x="173" y="91"/>
                    <a:pt x="173" y="118"/>
                  </a:cubicBezTo>
                  <a:cubicBezTo>
                    <a:pt x="173" y="145"/>
                    <a:pt x="158" y="173"/>
                    <a:pt x="129" y="17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a:solidFill>
                  <a:prstClr val="black"/>
                </a:solidFill>
              </a:endParaRPr>
            </a:p>
          </p:txBody>
        </p:sp>
        <p:sp>
          <p:nvSpPr>
            <p:cNvPr id="16" name="Freeform 14"/>
            <p:cNvSpPr>
              <a:spLocks noEditPoints="1"/>
            </p:cNvSpPr>
            <p:nvPr/>
          </p:nvSpPr>
          <p:spPr bwMode="auto">
            <a:xfrm>
              <a:off x="1653852" y="6183444"/>
              <a:ext cx="145201" cy="197884"/>
            </a:xfrm>
            <a:custGeom>
              <a:avLst/>
              <a:gdLst>
                <a:gd name="T0" fmla="*/ 232 w 232"/>
                <a:gd name="T1" fmla="*/ 115 h 315"/>
                <a:gd name="T2" fmla="*/ 128 w 232"/>
                <a:gd name="T3" fmla="*/ 1 h 315"/>
                <a:gd name="T4" fmla="*/ 116 w 232"/>
                <a:gd name="T5" fmla="*/ 0 h 315"/>
                <a:gd name="T6" fmla="*/ 104 w 232"/>
                <a:gd name="T7" fmla="*/ 1 h 315"/>
                <a:gd name="T8" fmla="*/ 0 w 232"/>
                <a:gd name="T9" fmla="*/ 115 h 315"/>
                <a:gd name="T10" fmla="*/ 0 w 232"/>
                <a:gd name="T11" fmla="*/ 115 h 315"/>
                <a:gd name="T12" fmla="*/ 0 w 232"/>
                <a:gd name="T13" fmla="*/ 121 h 315"/>
                <a:gd name="T14" fmla="*/ 64 w 232"/>
                <a:gd name="T15" fmla="*/ 225 h 315"/>
                <a:gd name="T16" fmla="*/ 64 w 232"/>
                <a:gd name="T17" fmla="*/ 225 h 315"/>
                <a:gd name="T18" fmla="*/ 102 w 232"/>
                <a:gd name="T19" fmla="*/ 236 h 315"/>
                <a:gd name="T20" fmla="*/ 103 w 232"/>
                <a:gd name="T21" fmla="*/ 236 h 315"/>
                <a:gd name="T22" fmla="*/ 116 w 232"/>
                <a:gd name="T23" fmla="*/ 236 h 315"/>
                <a:gd name="T24" fmla="*/ 130 w 232"/>
                <a:gd name="T25" fmla="*/ 236 h 315"/>
                <a:gd name="T26" fmla="*/ 130 w 232"/>
                <a:gd name="T27" fmla="*/ 236 h 315"/>
                <a:gd name="T28" fmla="*/ 168 w 232"/>
                <a:gd name="T29" fmla="*/ 225 h 315"/>
                <a:gd name="T30" fmla="*/ 174 w 232"/>
                <a:gd name="T31" fmla="*/ 222 h 315"/>
                <a:gd name="T32" fmla="*/ 174 w 232"/>
                <a:gd name="T33" fmla="*/ 315 h 315"/>
                <a:gd name="T34" fmla="*/ 232 w 232"/>
                <a:gd name="T35" fmla="*/ 315 h 315"/>
                <a:gd name="T36" fmla="*/ 232 w 232"/>
                <a:gd name="T37" fmla="*/ 119 h 315"/>
                <a:gd name="T38" fmla="*/ 232 w 232"/>
                <a:gd name="T39" fmla="*/ 115 h 315"/>
                <a:gd name="T40" fmla="*/ 232 w 232"/>
                <a:gd name="T41" fmla="*/ 115 h 315"/>
                <a:gd name="T42" fmla="*/ 130 w 232"/>
                <a:gd name="T43" fmla="*/ 179 h 315"/>
                <a:gd name="T44" fmla="*/ 116 w 232"/>
                <a:gd name="T45" fmla="*/ 181 h 315"/>
                <a:gd name="T46" fmla="*/ 103 w 232"/>
                <a:gd name="T47" fmla="*/ 179 h 315"/>
                <a:gd name="T48" fmla="*/ 59 w 232"/>
                <a:gd name="T49" fmla="*/ 118 h 315"/>
                <a:gd name="T50" fmla="*/ 103 w 232"/>
                <a:gd name="T51" fmla="*/ 57 h 315"/>
                <a:gd name="T52" fmla="*/ 116 w 232"/>
                <a:gd name="T53" fmla="*/ 56 h 315"/>
                <a:gd name="T54" fmla="*/ 130 w 232"/>
                <a:gd name="T55" fmla="*/ 57 h 315"/>
                <a:gd name="T56" fmla="*/ 174 w 232"/>
                <a:gd name="T57" fmla="*/ 118 h 315"/>
                <a:gd name="T58" fmla="*/ 130 w 232"/>
                <a:gd name="T59" fmla="*/ 179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2" h="315">
                  <a:moveTo>
                    <a:pt x="232" y="115"/>
                  </a:moveTo>
                  <a:cubicBezTo>
                    <a:pt x="231" y="53"/>
                    <a:pt x="188" y="6"/>
                    <a:pt x="128" y="1"/>
                  </a:cubicBezTo>
                  <a:cubicBezTo>
                    <a:pt x="124" y="0"/>
                    <a:pt x="120" y="0"/>
                    <a:pt x="116" y="0"/>
                  </a:cubicBezTo>
                  <a:cubicBezTo>
                    <a:pt x="112" y="0"/>
                    <a:pt x="108" y="0"/>
                    <a:pt x="104" y="1"/>
                  </a:cubicBezTo>
                  <a:cubicBezTo>
                    <a:pt x="45" y="6"/>
                    <a:pt x="2" y="53"/>
                    <a:pt x="0" y="115"/>
                  </a:cubicBezTo>
                  <a:cubicBezTo>
                    <a:pt x="0" y="115"/>
                    <a:pt x="0" y="115"/>
                    <a:pt x="0" y="115"/>
                  </a:cubicBezTo>
                  <a:cubicBezTo>
                    <a:pt x="0" y="121"/>
                    <a:pt x="0" y="121"/>
                    <a:pt x="0" y="121"/>
                  </a:cubicBezTo>
                  <a:cubicBezTo>
                    <a:pt x="1" y="169"/>
                    <a:pt x="26" y="207"/>
                    <a:pt x="64" y="225"/>
                  </a:cubicBezTo>
                  <a:cubicBezTo>
                    <a:pt x="64" y="225"/>
                    <a:pt x="64" y="225"/>
                    <a:pt x="64" y="225"/>
                  </a:cubicBezTo>
                  <a:cubicBezTo>
                    <a:pt x="76" y="230"/>
                    <a:pt x="89" y="234"/>
                    <a:pt x="102" y="236"/>
                  </a:cubicBezTo>
                  <a:cubicBezTo>
                    <a:pt x="102" y="236"/>
                    <a:pt x="103" y="236"/>
                    <a:pt x="103" y="236"/>
                  </a:cubicBezTo>
                  <a:cubicBezTo>
                    <a:pt x="107" y="236"/>
                    <a:pt x="112" y="236"/>
                    <a:pt x="116" y="236"/>
                  </a:cubicBezTo>
                  <a:cubicBezTo>
                    <a:pt x="121" y="236"/>
                    <a:pt x="125" y="236"/>
                    <a:pt x="130" y="236"/>
                  </a:cubicBezTo>
                  <a:cubicBezTo>
                    <a:pt x="130" y="236"/>
                    <a:pt x="130" y="236"/>
                    <a:pt x="130" y="236"/>
                  </a:cubicBezTo>
                  <a:cubicBezTo>
                    <a:pt x="143" y="234"/>
                    <a:pt x="156" y="230"/>
                    <a:pt x="168" y="225"/>
                  </a:cubicBezTo>
                  <a:cubicBezTo>
                    <a:pt x="170" y="224"/>
                    <a:pt x="172" y="223"/>
                    <a:pt x="174" y="222"/>
                  </a:cubicBezTo>
                  <a:cubicBezTo>
                    <a:pt x="174" y="315"/>
                    <a:pt x="174" y="315"/>
                    <a:pt x="174" y="315"/>
                  </a:cubicBezTo>
                  <a:cubicBezTo>
                    <a:pt x="232" y="315"/>
                    <a:pt x="232" y="315"/>
                    <a:pt x="232" y="315"/>
                  </a:cubicBezTo>
                  <a:cubicBezTo>
                    <a:pt x="232" y="119"/>
                    <a:pt x="232" y="119"/>
                    <a:pt x="232" y="119"/>
                  </a:cubicBezTo>
                  <a:cubicBezTo>
                    <a:pt x="232" y="115"/>
                    <a:pt x="232" y="115"/>
                    <a:pt x="232" y="115"/>
                  </a:cubicBezTo>
                  <a:cubicBezTo>
                    <a:pt x="232" y="115"/>
                    <a:pt x="232" y="115"/>
                    <a:pt x="232" y="115"/>
                  </a:cubicBezTo>
                  <a:close/>
                  <a:moveTo>
                    <a:pt x="130" y="179"/>
                  </a:moveTo>
                  <a:cubicBezTo>
                    <a:pt x="125" y="180"/>
                    <a:pt x="121" y="181"/>
                    <a:pt x="116" y="181"/>
                  </a:cubicBezTo>
                  <a:cubicBezTo>
                    <a:pt x="112" y="181"/>
                    <a:pt x="107" y="180"/>
                    <a:pt x="103" y="179"/>
                  </a:cubicBezTo>
                  <a:cubicBezTo>
                    <a:pt x="74" y="173"/>
                    <a:pt x="59" y="145"/>
                    <a:pt x="59" y="118"/>
                  </a:cubicBezTo>
                  <a:cubicBezTo>
                    <a:pt x="59" y="91"/>
                    <a:pt x="74" y="64"/>
                    <a:pt x="103" y="57"/>
                  </a:cubicBezTo>
                  <a:cubicBezTo>
                    <a:pt x="107" y="56"/>
                    <a:pt x="112" y="56"/>
                    <a:pt x="116" y="56"/>
                  </a:cubicBezTo>
                  <a:cubicBezTo>
                    <a:pt x="121" y="56"/>
                    <a:pt x="125" y="56"/>
                    <a:pt x="130" y="57"/>
                  </a:cubicBezTo>
                  <a:cubicBezTo>
                    <a:pt x="159" y="64"/>
                    <a:pt x="174" y="91"/>
                    <a:pt x="174" y="118"/>
                  </a:cubicBezTo>
                  <a:cubicBezTo>
                    <a:pt x="174" y="145"/>
                    <a:pt x="159" y="173"/>
                    <a:pt x="130" y="17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a:solidFill>
                  <a:prstClr val="black"/>
                </a:solidFill>
              </a:endParaRPr>
            </a:p>
          </p:txBody>
        </p:sp>
        <p:sp>
          <p:nvSpPr>
            <p:cNvPr id="17" name="Freeform 15"/>
            <p:cNvSpPr>
              <a:spLocks/>
            </p:cNvSpPr>
            <p:nvPr/>
          </p:nvSpPr>
          <p:spPr bwMode="auto">
            <a:xfrm>
              <a:off x="2129286" y="6183444"/>
              <a:ext cx="74528" cy="149055"/>
            </a:xfrm>
            <a:custGeom>
              <a:avLst/>
              <a:gdLst>
                <a:gd name="T0" fmla="*/ 104 w 120"/>
                <a:gd name="T1" fmla="*/ 0 h 237"/>
                <a:gd name="T2" fmla="*/ 0 w 120"/>
                <a:gd name="T3" fmla="*/ 104 h 237"/>
                <a:gd name="T4" fmla="*/ 0 w 120"/>
                <a:gd name="T5" fmla="*/ 137 h 237"/>
                <a:gd name="T6" fmla="*/ 0 w 120"/>
                <a:gd name="T7" fmla="*/ 234 h 237"/>
                <a:gd name="T8" fmla="*/ 0 w 120"/>
                <a:gd name="T9" fmla="*/ 237 h 237"/>
                <a:gd name="T10" fmla="*/ 58 w 120"/>
                <a:gd name="T11" fmla="*/ 237 h 237"/>
                <a:gd name="T12" fmla="*/ 58 w 120"/>
                <a:gd name="T13" fmla="*/ 234 h 237"/>
                <a:gd name="T14" fmla="*/ 58 w 120"/>
                <a:gd name="T15" fmla="*/ 136 h 237"/>
                <a:gd name="T16" fmla="*/ 58 w 120"/>
                <a:gd name="T17" fmla="*/ 104 h 237"/>
                <a:gd name="T18" fmla="*/ 113 w 120"/>
                <a:gd name="T19" fmla="*/ 60 h 237"/>
                <a:gd name="T20" fmla="*/ 120 w 120"/>
                <a:gd name="T21" fmla="*/ 61 h 237"/>
                <a:gd name="T22" fmla="*/ 120 w 120"/>
                <a:gd name="T23" fmla="*/ 1 h 237"/>
                <a:gd name="T24" fmla="*/ 115 w 120"/>
                <a:gd name="T25" fmla="*/ 1 h 237"/>
                <a:gd name="T26" fmla="*/ 104 w 120"/>
                <a:gd name="T27" fmla="*/ 0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0" h="237">
                  <a:moveTo>
                    <a:pt x="104" y="0"/>
                  </a:moveTo>
                  <a:cubicBezTo>
                    <a:pt x="47" y="0"/>
                    <a:pt x="0" y="47"/>
                    <a:pt x="0" y="104"/>
                  </a:cubicBezTo>
                  <a:cubicBezTo>
                    <a:pt x="0" y="137"/>
                    <a:pt x="0" y="137"/>
                    <a:pt x="0" y="137"/>
                  </a:cubicBezTo>
                  <a:cubicBezTo>
                    <a:pt x="0" y="234"/>
                    <a:pt x="0" y="234"/>
                    <a:pt x="0" y="234"/>
                  </a:cubicBezTo>
                  <a:cubicBezTo>
                    <a:pt x="0" y="237"/>
                    <a:pt x="0" y="237"/>
                    <a:pt x="0" y="237"/>
                  </a:cubicBezTo>
                  <a:cubicBezTo>
                    <a:pt x="58" y="237"/>
                    <a:pt x="58" y="237"/>
                    <a:pt x="58" y="237"/>
                  </a:cubicBezTo>
                  <a:cubicBezTo>
                    <a:pt x="58" y="234"/>
                    <a:pt x="58" y="234"/>
                    <a:pt x="58" y="234"/>
                  </a:cubicBezTo>
                  <a:cubicBezTo>
                    <a:pt x="58" y="136"/>
                    <a:pt x="58" y="136"/>
                    <a:pt x="58" y="136"/>
                  </a:cubicBezTo>
                  <a:cubicBezTo>
                    <a:pt x="58" y="104"/>
                    <a:pt x="58" y="104"/>
                    <a:pt x="58" y="104"/>
                  </a:cubicBezTo>
                  <a:cubicBezTo>
                    <a:pt x="58" y="75"/>
                    <a:pt x="84" y="53"/>
                    <a:pt x="113" y="60"/>
                  </a:cubicBezTo>
                  <a:cubicBezTo>
                    <a:pt x="120" y="61"/>
                    <a:pt x="120" y="61"/>
                    <a:pt x="120" y="61"/>
                  </a:cubicBezTo>
                  <a:cubicBezTo>
                    <a:pt x="120" y="1"/>
                    <a:pt x="120" y="1"/>
                    <a:pt x="120" y="1"/>
                  </a:cubicBezTo>
                  <a:cubicBezTo>
                    <a:pt x="115" y="1"/>
                    <a:pt x="115" y="1"/>
                    <a:pt x="115" y="1"/>
                  </a:cubicBezTo>
                  <a:cubicBezTo>
                    <a:pt x="111" y="0"/>
                    <a:pt x="107" y="0"/>
                    <a:pt x="10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a:solidFill>
                  <a:prstClr val="black"/>
                </a:solidFill>
              </a:endParaRPr>
            </a:p>
          </p:txBody>
        </p:sp>
        <p:sp>
          <p:nvSpPr>
            <p:cNvPr id="18" name="Freeform 16"/>
            <p:cNvSpPr>
              <a:spLocks noEditPoints="1"/>
            </p:cNvSpPr>
            <p:nvPr/>
          </p:nvSpPr>
          <p:spPr bwMode="auto">
            <a:xfrm>
              <a:off x="2208953" y="6183444"/>
              <a:ext cx="142631" cy="149055"/>
            </a:xfrm>
            <a:custGeom>
              <a:avLst/>
              <a:gdLst>
                <a:gd name="T0" fmla="*/ 228 w 228"/>
                <a:gd name="T1" fmla="*/ 137 h 237"/>
                <a:gd name="T2" fmla="*/ 228 w 228"/>
                <a:gd name="T3" fmla="*/ 114 h 237"/>
                <a:gd name="T4" fmla="*/ 181 w 228"/>
                <a:gd name="T5" fmla="*/ 20 h 237"/>
                <a:gd name="T6" fmla="*/ 173 w 228"/>
                <a:gd name="T7" fmla="*/ 15 h 237"/>
                <a:gd name="T8" fmla="*/ 114 w 228"/>
                <a:gd name="T9" fmla="*/ 0 h 237"/>
                <a:gd name="T10" fmla="*/ 0 w 228"/>
                <a:gd name="T11" fmla="*/ 115 h 237"/>
                <a:gd name="T12" fmla="*/ 116 w 228"/>
                <a:gd name="T13" fmla="*/ 237 h 237"/>
                <a:gd name="T14" fmla="*/ 215 w 228"/>
                <a:gd name="T15" fmla="*/ 184 h 237"/>
                <a:gd name="T16" fmla="*/ 168 w 228"/>
                <a:gd name="T17" fmla="*/ 152 h 237"/>
                <a:gd name="T18" fmla="*/ 116 w 228"/>
                <a:gd name="T19" fmla="*/ 184 h 237"/>
                <a:gd name="T20" fmla="*/ 70 w 228"/>
                <a:gd name="T21" fmla="*/ 165 h 237"/>
                <a:gd name="T22" fmla="*/ 56 w 228"/>
                <a:gd name="T23" fmla="*/ 137 h 237"/>
                <a:gd name="T24" fmla="*/ 147 w 228"/>
                <a:gd name="T25" fmla="*/ 137 h 237"/>
                <a:gd name="T26" fmla="*/ 228 w 228"/>
                <a:gd name="T27" fmla="*/ 137 h 237"/>
                <a:gd name="T28" fmla="*/ 73 w 228"/>
                <a:gd name="T29" fmla="*/ 86 h 237"/>
                <a:gd name="T30" fmla="*/ 61 w 228"/>
                <a:gd name="T31" fmla="*/ 86 h 237"/>
                <a:gd name="T32" fmla="*/ 114 w 228"/>
                <a:gd name="T33" fmla="*/ 53 h 237"/>
                <a:gd name="T34" fmla="*/ 119 w 228"/>
                <a:gd name="T35" fmla="*/ 53 h 237"/>
                <a:gd name="T36" fmla="*/ 131 w 228"/>
                <a:gd name="T37" fmla="*/ 55 h 237"/>
                <a:gd name="T38" fmla="*/ 166 w 228"/>
                <a:gd name="T39" fmla="*/ 86 h 237"/>
                <a:gd name="T40" fmla="*/ 87 w 228"/>
                <a:gd name="T41" fmla="*/ 86 h 237"/>
                <a:gd name="T42" fmla="*/ 73 w 228"/>
                <a:gd name="T43" fmla="*/ 86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8" h="237">
                  <a:moveTo>
                    <a:pt x="228" y="137"/>
                  </a:moveTo>
                  <a:cubicBezTo>
                    <a:pt x="228" y="114"/>
                    <a:pt x="228" y="114"/>
                    <a:pt x="228" y="114"/>
                  </a:cubicBezTo>
                  <a:cubicBezTo>
                    <a:pt x="228" y="73"/>
                    <a:pt x="210" y="40"/>
                    <a:pt x="181" y="20"/>
                  </a:cubicBezTo>
                  <a:cubicBezTo>
                    <a:pt x="178" y="18"/>
                    <a:pt x="176" y="17"/>
                    <a:pt x="173" y="15"/>
                  </a:cubicBezTo>
                  <a:cubicBezTo>
                    <a:pt x="156" y="6"/>
                    <a:pt x="136" y="0"/>
                    <a:pt x="114" y="0"/>
                  </a:cubicBezTo>
                  <a:cubicBezTo>
                    <a:pt x="50" y="0"/>
                    <a:pt x="0" y="51"/>
                    <a:pt x="0" y="115"/>
                  </a:cubicBezTo>
                  <a:cubicBezTo>
                    <a:pt x="0" y="175"/>
                    <a:pt x="43" y="237"/>
                    <a:pt x="116" y="237"/>
                  </a:cubicBezTo>
                  <a:cubicBezTo>
                    <a:pt x="159" y="237"/>
                    <a:pt x="194" y="218"/>
                    <a:pt x="215" y="184"/>
                  </a:cubicBezTo>
                  <a:cubicBezTo>
                    <a:pt x="168" y="152"/>
                    <a:pt x="168" y="152"/>
                    <a:pt x="168" y="152"/>
                  </a:cubicBezTo>
                  <a:cubicBezTo>
                    <a:pt x="158" y="172"/>
                    <a:pt x="139" y="184"/>
                    <a:pt x="116" y="184"/>
                  </a:cubicBezTo>
                  <a:cubicBezTo>
                    <a:pt x="99" y="184"/>
                    <a:pt x="81" y="177"/>
                    <a:pt x="70" y="165"/>
                  </a:cubicBezTo>
                  <a:cubicBezTo>
                    <a:pt x="62" y="157"/>
                    <a:pt x="57" y="147"/>
                    <a:pt x="56" y="137"/>
                  </a:cubicBezTo>
                  <a:cubicBezTo>
                    <a:pt x="147" y="137"/>
                    <a:pt x="147" y="137"/>
                    <a:pt x="147" y="137"/>
                  </a:cubicBezTo>
                  <a:lnTo>
                    <a:pt x="228" y="137"/>
                  </a:lnTo>
                  <a:close/>
                  <a:moveTo>
                    <a:pt x="73" y="86"/>
                  </a:moveTo>
                  <a:cubicBezTo>
                    <a:pt x="61" y="86"/>
                    <a:pt x="61" y="86"/>
                    <a:pt x="61" y="86"/>
                  </a:cubicBezTo>
                  <a:cubicBezTo>
                    <a:pt x="71" y="66"/>
                    <a:pt x="91" y="53"/>
                    <a:pt x="114" y="53"/>
                  </a:cubicBezTo>
                  <a:cubicBezTo>
                    <a:pt x="116" y="53"/>
                    <a:pt x="117" y="53"/>
                    <a:pt x="119" y="53"/>
                  </a:cubicBezTo>
                  <a:cubicBezTo>
                    <a:pt x="123" y="54"/>
                    <a:pt x="127" y="54"/>
                    <a:pt x="131" y="55"/>
                  </a:cubicBezTo>
                  <a:cubicBezTo>
                    <a:pt x="148" y="59"/>
                    <a:pt x="160" y="70"/>
                    <a:pt x="166" y="86"/>
                  </a:cubicBezTo>
                  <a:cubicBezTo>
                    <a:pt x="87" y="86"/>
                    <a:pt x="87" y="86"/>
                    <a:pt x="87" y="86"/>
                  </a:cubicBezTo>
                  <a:lnTo>
                    <a:pt x="73" y="86"/>
                  </a:ln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a:solidFill>
                  <a:prstClr val="black"/>
                </a:solidFill>
              </a:endParaRPr>
            </a:p>
          </p:txBody>
        </p:sp>
        <p:sp>
          <p:nvSpPr>
            <p:cNvPr id="19" name="Freeform 17"/>
            <p:cNvSpPr>
              <a:spLocks noEditPoints="1"/>
            </p:cNvSpPr>
            <p:nvPr/>
          </p:nvSpPr>
          <p:spPr bwMode="auto">
            <a:xfrm>
              <a:off x="1300489" y="6183444"/>
              <a:ext cx="143915" cy="149055"/>
            </a:xfrm>
            <a:custGeom>
              <a:avLst/>
              <a:gdLst>
                <a:gd name="T0" fmla="*/ 231 w 231"/>
                <a:gd name="T1" fmla="*/ 115 h 237"/>
                <a:gd name="T2" fmla="*/ 128 w 231"/>
                <a:gd name="T3" fmla="*/ 1 h 237"/>
                <a:gd name="T4" fmla="*/ 115 w 231"/>
                <a:gd name="T5" fmla="*/ 0 h 237"/>
                <a:gd name="T6" fmla="*/ 103 w 231"/>
                <a:gd name="T7" fmla="*/ 1 h 237"/>
                <a:gd name="T8" fmla="*/ 0 w 231"/>
                <a:gd name="T9" fmla="*/ 115 h 237"/>
                <a:gd name="T10" fmla="*/ 0 w 231"/>
                <a:gd name="T11" fmla="*/ 116 h 237"/>
                <a:gd name="T12" fmla="*/ 0 w 231"/>
                <a:gd name="T13" fmla="*/ 121 h 237"/>
                <a:gd name="T14" fmla="*/ 63 w 231"/>
                <a:gd name="T15" fmla="*/ 225 h 237"/>
                <a:gd name="T16" fmla="*/ 63 w 231"/>
                <a:gd name="T17" fmla="*/ 225 h 237"/>
                <a:gd name="T18" fmla="*/ 102 w 231"/>
                <a:gd name="T19" fmla="*/ 236 h 237"/>
                <a:gd name="T20" fmla="*/ 102 w 231"/>
                <a:gd name="T21" fmla="*/ 236 h 237"/>
                <a:gd name="T22" fmla="*/ 115 w 231"/>
                <a:gd name="T23" fmla="*/ 237 h 237"/>
                <a:gd name="T24" fmla="*/ 129 w 231"/>
                <a:gd name="T25" fmla="*/ 236 h 237"/>
                <a:gd name="T26" fmla="*/ 129 w 231"/>
                <a:gd name="T27" fmla="*/ 236 h 237"/>
                <a:gd name="T28" fmla="*/ 168 w 231"/>
                <a:gd name="T29" fmla="*/ 225 h 237"/>
                <a:gd name="T30" fmla="*/ 231 w 231"/>
                <a:gd name="T31" fmla="*/ 121 h 237"/>
                <a:gd name="T32" fmla="*/ 231 w 231"/>
                <a:gd name="T33" fmla="*/ 116 h 237"/>
                <a:gd name="T34" fmla="*/ 231 w 231"/>
                <a:gd name="T35" fmla="*/ 115 h 237"/>
                <a:gd name="T36" fmla="*/ 129 w 231"/>
                <a:gd name="T37" fmla="*/ 179 h 237"/>
                <a:gd name="T38" fmla="*/ 115 w 231"/>
                <a:gd name="T39" fmla="*/ 181 h 237"/>
                <a:gd name="T40" fmla="*/ 102 w 231"/>
                <a:gd name="T41" fmla="*/ 179 h 237"/>
                <a:gd name="T42" fmla="*/ 58 w 231"/>
                <a:gd name="T43" fmla="*/ 118 h 237"/>
                <a:gd name="T44" fmla="*/ 102 w 231"/>
                <a:gd name="T45" fmla="*/ 57 h 237"/>
                <a:gd name="T46" fmla="*/ 115 w 231"/>
                <a:gd name="T47" fmla="*/ 56 h 237"/>
                <a:gd name="T48" fmla="*/ 129 w 231"/>
                <a:gd name="T49" fmla="*/ 57 h 237"/>
                <a:gd name="T50" fmla="*/ 173 w 231"/>
                <a:gd name="T51" fmla="*/ 118 h 237"/>
                <a:gd name="T52" fmla="*/ 129 w 231"/>
                <a:gd name="T53" fmla="*/ 179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31" h="237">
                  <a:moveTo>
                    <a:pt x="231" y="115"/>
                  </a:moveTo>
                  <a:cubicBezTo>
                    <a:pt x="230" y="53"/>
                    <a:pt x="187" y="6"/>
                    <a:pt x="128" y="1"/>
                  </a:cubicBezTo>
                  <a:cubicBezTo>
                    <a:pt x="124" y="0"/>
                    <a:pt x="120" y="0"/>
                    <a:pt x="115" y="0"/>
                  </a:cubicBezTo>
                  <a:cubicBezTo>
                    <a:pt x="111" y="0"/>
                    <a:pt x="107" y="0"/>
                    <a:pt x="103" y="1"/>
                  </a:cubicBezTo>
                  <a:cubicBezTo>
                    <a:pt x="44" y="6"/>
                    <a:pt x="1" y="53"/>
                    <a:pt x="0" y="115"/>
                  </a:cubicBezTo>
                  <a:cubicBezTo>
                    <a:pt x="0" y="115"/>
                    <a:pt x="0" y="115"/>
                    <a:pt x="0" y="116"/>
                  </a:cubicBezTo>
                  <a:cubicBezTo>
                    <a:pt x="0" y="121"/>
                    <a:pt x="0" y="121"/>
                    <a:pt x="0" y="121"/>
                  </a:cubicBezTo>
                  <a:cubicBezTo>
                    <a:pt x="1" y="169"/>
                    <a:pt x="25" y="207"/>
                    <a:pt x="63" y="225"/>
                  </a:cubicBezTo>
                  <a:cubicBezTo>
                    <a:pt x="63" y="225"/>
                    <a:pt x="63" y="225"/>
                    <a:pt x="63" y="225"/>
                  </a:cubicBezTo>
                  <a:cubicBezTo>
                    <a:pt x="75" y="231"/>
                    <a:pt x="88" y="234"/>
                    <a:pt x="102" y="236"/>
                  </a:cubicBezTo>
                  <a:cubicBezTo>
                    <a:pt x="102" y="236"/>
                    <a:pt x="102" y="236"/>
                    <a:pt x="102" y="236"/>
                  </a:cubicBezTo>
                  <a:cubicBezTo>
                    <a:pt x="106" y="236"/>
                    <a:pt x="111" y="237"/>
                    <a:pt x="115" y="237"/>
                  </a:cubicBezTo>
                  <a:cubicBezTo>
                    <a:pt x="120" y="237"/>
                    <a:pt x="125" y="236"/>
                    <a:pt x="129" y="236"/>
                  </a:cubicBezTo>
                  <a:cubicBezTo>
                    <a:pt x="129" y="236"/>
                    <a:pt x="129" y="236"/>
                    <a:pt x="129" y="236"/>
                  </a:cubicBezTo>
                  <a:cubicBezTo>
                    <a:pt x="143" y="234"/>
                    <a:pt x="156" y="231"/>
                    <a:pt x="168" y="225"/>
                  </a:cubicBezTo>
                  <a:cubicBezTo>
                    <a:pt x="206" y="207"/>
                    <a:pt x="230" y="169"/>
                    <a:pt x="231" y="121"/>
                  </a:cubicBezTo>
                  <a:cubicBezTo>
                    <a:pt x="231" y="116"/>
                    <a:pt x="231" y="116"/>
                    <a:pt x="231" y="116"/>
                  </a:cubicBezTo>
                  <a:cubicBezTo>
                    <a:pt x="231" y="115"/>
                    <a:pt x="231" y="115"/>
                    <a:pt x="231" y="115"/>
                  </a:cubicBezTo>
                  <a:close/>
                  <a:moveTo>
                    <a:pt x="129" y="179"/>
                  </a:moveTo>
                  <a:cubicBezTo>
                    <a:pt x="125" y="180"/>
                    <a:pt x="120" y="181"/>
                    <a:pt x="115" y="181"/>
                  </a:cubicBezTo>
                  <a:cubicBezTo>
                    <a:pt x="111" y="181"/>
                    <a:pt x="106" y="180"/>
                    <a:pt x="102" y="179"/>
                  </a:cubicBezTo>
                  <a:cubicBezTo>
                    <a:pt x="73" y="173"/>
                    <a:pt x="58" y="145"/>
                    <a:pt x="58" y="118"/>
                  </a:cubicBezTo>
                  <a:cubicBezTo>
                    <a:pt x="58" y="91"/>
                    <a:pt x="73" y="64"/>
                    <a:pt x="102" y="57"/>
                  </a:cubicBezTo>
                  <a:cubicBezTo>
                    <a:pt x="106" y="57"/>
                    <a:pt x="111" y="56"/>
                    <a:pt x="115" y="56"/>
                  </a:cubicBezTo>
                  <a:cubicBezTo>
                    <a:pt x="120" y="56"/>
                    <a:pt x="125" y="57"/>
                    <a:pt x="129" y="57"/>
                  </a:cubicBezTo>
                  <a:cubicBezTo>
                    <a:pt x="158" y="64"/>
                    <a:pt x="173" y="91"/>
                    <a:pt x="173" y="118"/>
                  </a:cubicBezTo>
                  <a:cubicBezTo>
                    <a:pt x="173" y="145"/>
                    <a:pt x="158" y="173"/>
                    <a:pt x="129" y="17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a:solidFill>
                  <a:prstClr val="black"/>
                </a:solidFill>
              </a:endParaRPr>
            </a:p>
          </p:txBody>
        </p:sp>
      </p:grpSp>
      <p:sp>
        <p:nvSpPr>
          <p:cNvPr id="20" name="TextBox 19"/>
          <p:cNvSpPr txBox="1"/>
          <p:nvPr/>
        </p:nvSpPr>
        <p:spPr>
          <a:xfrm>
            <a:off x="1599413" y="1385460"/>
            <a:ext cx="9503639" cy="4119461"/>
          </a:xfrm>
          <a:prstGeom prst="rect">
            <a:avLst/>
          </a:prstGeom>
          <a:noFill/>
        </p:spPr>
        <p:txBody>
          <a:bodyPr wrap="square" rtlCol="0">
            <a:spAutoFit/>
          </a:bodyPr>
          <a:lstStyle/>
          <a:p>
            <a:pPr>
              <a:lnSpc>
                <a:spcPct val="150000"/>
              </a:lnSpc>
            </a:pPr>
            <a:r>
              <a:rPr lang="en-US" altLang="ko-KR" sz="1600" dirty="0">
                <a:latin typeface="나눔스퀘어" panose="020B0600000101010101" pitchFamily="50" charset="-127"/>
                <a:ea typeface="나눔스퀘어" panose="020B0600000101010101" pitchFamily="50" charset="-127"/>
              </a:rPr>
              <a:t>This report has been prepared for informational purposes only and is current as of the date of provision. The information presented may change over time and should not be considered as a substitute for advice or other professional opinions when making business decisions.</a:t>
            </a:r>
          </a:p>
          <a:p>
            <a:pPr>
              <a:lnSpc>
                <a:spcPct val="150000"/>
              </a:lnSpc>
            </a:pPr>
            <a:endParaRPr lang="en-US" altLang="ko-KR" sz="1600" dirty="0">
              <a:latin typeface="나눔스퀘어" panose="020B0600000101010101" pitchFamily="50" charset="-127"/>
              <a:ea typeface="나눔스퀘어" panose="020B0600000101010101" pitchFamily="50" charset="-127"/>
            </a:endParaRPr>
          </a:p>
          <a:p>
            <a:pPr>
              <a:lnSpc>
                <a:spcPct val="150000"/>
              </a:lnSpc>
            </a:pPr>
            <a:r>
              <a:rPr lang="en-US" altLang="ko-KR" sz="1600" dirty="0">
                <a:latin typeface="나눔스퀘어" panose="020B0600000101010101" pitchFamily="50" charset="-127"/>
                <a:ea typeface="나눔스퀘어" panose="020B0600000101010101" pitchFamily="50" charset="-127"/>
              </a:rPr>
              <a:t>As such, we disclaim any liability for any loss or damage arising out of the use of this report, regardless of the country in which it occurs. All responsibilities for the use and utilization of this webinar rest solely with the user, and we assume no obligation or responsibility for its contents.</a:t>
            </a:r>
          </a:p>
          <a:p>
            <a:pPr>
              <a:lnSpc>
                <a:spcPct val="150000"/>
              </a:lnSpc>
            </a:pPr>
            <a:endParaRPr lang="en-US" altLang="ko-KR" sz="1600" dirty="0">
              <a:latin typeface="나눔스퀘어" panose="020B0600000101010101" pitchFamily="50" charset="-127"/>
              <a:ea typeface="나눔스퀘어" panose="020B0600000101010101" pitchFamily="50" charset="-127"/>
            </a:endParaRPr>
          </a:p>
          <a:p>
            <a:pPr>
              <a:lnSpc>
                <a:spcPct val="150000"/>
              </a:lnSpc>
            </a:pPr>
            <a:r>
              <a:rPr lang="en-US" altLang="ko-KR" sz="1600" dirty="0">
                <a:latin typeface="나눔스퀘어" panose="020B0600000101010101" pitchFamily="50" charset="-127"/>
                <a:ea typeface="나눔스퀘어" panose="020B0600000101010101" pitchFamily="50" charset="-127"/>
              </a:rPr>
              <a:t>Furthermore, the materials contained within this report may not be reproduced in any form or by any means without prior written consent. Should you wish to use part or all of the report materials, please direct your inquiries to </a:t>
            </a:r>
            <a:r>
              <a:rPr lang="en-US" altLang="ko-KR" sz="1600" dirty="0">
                <a:solidFill>
                  <a:srgbClr val="0000FF"/>
                </a:solidFill>
                <a:latin typeface="나눔스퀘어" panose="020B0600000101010101" pitchFamily="50" charset="-127"/>
                <a:ea typeface="나눔스퀘어" panose="020B0600000101010101" pitchFamily="50" charset="-127"/>
              </a:rPr>
              <a:t>cellosquare@samsung.com</a:t>
            </a:r>
            <a:r>
              <a:rPr lang="en-US" altLang="ko-KR" sz="1600" dirty="0">
                <a:latin typeface="나눔스퀘어" panose="020B0600000101010101" pitchFamily="50" charset="-127"/>
                <a:ea typeface="나눔스퀘어" panose="020B0600000101010101" pitchFamily="50" charset="-127"/>
              </a:rPr>
              <a:t>.</a:t>
            </a:r>
          </a:p>
        </p:txBody>
      </p:sp>
    </p:spTree>
    <p:extLst>
      <p:ext uri="{BB962C8B-B14F-4D97-AF65-F5344CB8AC3E}">
        <p14:creationId xmlns:p14="http://schemas.microsoft.com/office/powerpoint/2010/main" val="318374556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8587615"/>
      </p:ext>
    </p:extLst>
  </p:cSld>
  <p:clrMapOvr>
    <a:masterClrMapping/>
  </p:clrMapOvr>
  <p:timing>
    <p:tnLst>
      <p:par>
        <p:cTn id="1" dur="indefinite" restart="never" nodeType="tmRoot"/>
      </p:par>
    </p:tnLst>
  </p:timing>
</p:sld>
</file>

<file path=ppt/theme/theme1.xml><?xml version="1.0" encoding="utf-8"?>
<a:theme xmlns:a="http://schemas.openxmlformats.org/drawingml/2006/main" name="2025 첼로컨퍼런스 공통">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나눔스퀘어" panose="020F0302020204030204"/>
        <a:ea typeface=""/>
        <a:cs typeface=""/>
        <a:font script="Jpan" typeface="游ゴシック Light"/>
        <a:font script="Hang" typeface="나눔스퀘어"/>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나눔스퀘어"/>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나눔스퀘어" panose="020F0502020204030204"/>
        <a:ea typeface=""/>
        <a:cs typeface=""/>
        <a:font script="Jpan" typeface="游ゴシック"/>
        <a:font script="Hang" typeface="나눔스퀘어"/>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나눔스퀘어"/>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00"/>
        </a:solidFill>
        <a:ln>
          <a:solidFill>
            <a:schemeClr val="tx1">
              <a:lumMod val="50000"/>
              <a:lumOff val="50000"/>
            </a:schemeClr>
          </a:solidFill>
        </a:ln>
        <a:effectLst/>
      </a:spPr>
      <a:bodyPr vert="horz" wrap="square" lIns="91440" tIns="45720" rIns="91440" bIns="45720" numCol="1" rtlCol="0" anchor="ctr" anchorCtr="0" compatLnSpc="1">
        <a:prstTxWarp prst="textNoShape">
          <a:avLst/>
        </a:prstTxWarp>
      </a:bodyPr>
      <a:lstStyle>
        <a:defPPr algn="ctr">
          <a:defRPr sz="2000" b="1" smtClean="0">
            <a:solidFill>
              <a:srgbClr val="0000FF"/>
            </a:solidFill>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나눔스퀘어" panose="020F0302020204030204"/>
        <a:ea typeface=""/>
        <a:cs typeface=""/>
        <a:font script="Jpan" typeface="游ゴシック Light"/>
        <a:font script="Hang" typeface="나눔스퀘어"/>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나눔스퀘어" panose="020F0502020204030204"/>
        <a:ea typeface=""/>
        <a:cs typeface=""/>
        <a:font script="Jpan" typeface="游ゴシック"/>
        <a:font script="Hang" typeface="나눔스퀘어"/>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DSCA">
    <a:dk1>
      <a:sysClr val="windowText" lastClr="000000"/>
    </a:dk1>
    <a:lt1>
      <a:sysClr val="window" lastClr="FFFFFF"/>
    </a:lt1>
    <a:dk2>
      <a:srgbClr val="1F497D"/>
    </a:dk2>
    <a:lt2>
      <a:srgbClr val="E5E9EE"/>
    </a:lt2>
    <a:accent1>
      <a:srgbClr val="002B5C"/>
    </a:accent1>
    <a:accent2>
      <a:srgbClr val="00A6AA"/>
    </a:accent2>
    <a:accent3>
      <a:srgbClr val="B68D30"/>
    </a:accent3>
    <a:accent4>
      <a:srgbClr val="F3B000"/>
    </a:accent4>
    <a:accent5>
      <a:srgbClr val="70767A"/>
    </a:accent5>
    <a:accent6>
      <a:srgbClr val="B2B9BE"/>
    </a:accent6>
    <a:hlink>
      <a:srgbClr val="B68D30"/>
    </a:hlink>
    <a:folHlink>
      <a:srgbClr val="84BCE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32011</TotalTime>
  <Words>5704</Words>
  <Application>Microsoft Office PowerPoint</Application>
  <PresentationFormat>와이드스크린</PresentationFormat>
  <Paragraphs>983</Paragraphs>
  <Slides>27</Slides>
  <Notes>19</Notes>
  <HiddenSlides>0</HiddenSlides>
  <MMClips>0</MMClips>
  <ScaleCrop>false</ScaleCrop>
  <HeadingPairs>
    <vt:vector size="8" baseType="variant">
      <vt:variant>
        <vt:lpstr>사용한 글꼴</vt:lpstr>
      </vt:variant>
      <vt:variant>
        <vt:i4>13</vt:i4>
      </vt:variant>
      <vt:variant>
        <vt:lpstr>테마</vt:lpstr>
      </vt:variant>
      <vt:variant>
        <vt:i4>2</vt:i4>
      </vt:variant>
      <vt:variant>
        <vt:lpstr>슬라이드 제목</vt:lpstr>
      </vt:variant>
      <vt:variant>
        <vt:i4>27</vt:i4>
      </vt:variant>
      <vt:variant>
        <vt:lpstr>재구성한 쇼</vt:lpstr>
      </vt:variant>
      <vt:variant>
        <vt:i4>2</vt:i4>
      </vt:variant>
    </vt:vector>
  </HeadingPairs>
  <TitlesOfParts>
    <vt:vector size="44" baseType="lpstr">
      <vt:lpstr>Arial Unicode MS</vt:lpstr>
      <vt:lpstr>KoPub돋움체 Medium</vt:lpstr>
      <vt:lpstr>Noto Sans KR</vt:lpstr>
      <vt:lpstr>Pretendard</vt:lpstr>
      <vt:lpstr>나눔고딕</vt:lpstr>
      <vt:lpstr>나눔스퀘어</vt:lpstr>
      <vt:lpstr>나눔스퀘어 Bold</vt:lpstr>
      <vt:lpstr>나눔스퀘어 ExtraBold</vt:lpstr>
      <vt:lpstr>맑은 고딕</vt:lpstr>
      <vt:lpstr>바탕</vt:lpstr>
      <vt:lpstr>Arial</vt:lpstr>
      <vt:lpstr>Segoe UI</vt:lpstr>
      <vt:lpstr>Times New Roman</vt:lpstr>
      <vt:lpstr>2025 첼로컨퍼런스 공통</vt:lpstr>
      <vt:lpstr>디자인 사용자 지정</vt:lpstr>
      <vt:lpstr>PowerPoint 프레젠테이션</vt:lpstr>
      <vt:lpstr>PowerPoint 프레젠테이션</vt:lpstr>
      <vt:lpstr>PowerPoint 프레젠테이션</vt:lpstr>
      <vt:lpstr>Executive Summary</vt:lpstr>
      <vt:lpstr>PowerPoint 프레젠테이션</vt:lpstr>
      <vt:lpstr>Ocean Demand Trend </vt:lpstr>
      <vt:lpstr>Ocean Supply Trend</vt:lpstr>
      <vt:lpstr>Ocean Market Trend</vt:lpstr>
      <vt:lpstr>Air Demand Trends</vt:lpstr>
      <vt:lpstr>Air Supply Trends</vt:lpstr>
      <vt:lpstr>Air Market Trends</vt:lpstr>
      <vt:lpstr>PowerPoint 프레젠테이션</vt:lpstr>
      <vt:lpstr>Ocean Demand Outlook</vt:lpstr>
      <vt:lpstr>Ocean Supply Outlook</vt:lpstr>
      <vt:lpstr>Ocean Market Outlook</vt:lpstr>
      <vt:lpstr>Ocean Market Outlook | Key Driver ① - Stabilization of Global Oil Prices (1/2)</vt:lpstr>
      <vt:lpstr>Ocean Market Outlook | Key Driver ① - Stabilization of Global Oil Prices (2/2)</vt:lpstr>
      <vt:lpstr>Ocean Market Outlook | Key Driver ② - Normalization of the Strait of Hormuz</vt:lpstr>
      <vt:lpstr>Air Demand Outlook</vt:lpstr>
      <vt:lpstr>Air Supply Outlook</vt:lpstr>
      <vt:lpstr>Air Market Outlook</vt:lpstr>
      <vt:lpstr>Air Market Outlook | Key Driver ① - Jet Fuel Supply-Demand Stabilization (1/2)</vt:lpstr>
      <vt:lpstr>Air Market Outlook | Key Driver ① - Jet Fuel Supply-Demand Stabilization (2/2)</vt:lpstr>
      <vt:lpstr>PowerPoint 프레젠테이션</vt:lpstr>
      <vt:lpstr>PowerPoint 프레젠테이션</vt:lpstr>
      <vt:lpstr>PowerPoint 프레젠테이션</vt:lpstr>
      <vt:lpstr>PowerPoint 프레젠테이션</vt:lpstr>
      <vt:lpstr>리스크GPT</vt:lpstr>
      <vt:lpstr>MI GPT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Microsoft Office User</dc:creator>
  <cp:lastModifiedBy>prof</cp:lastModifiedBy>
  <cp:revision>2198</cp:revision>
  <cp:lastPrinted>2026-07-06T07:27:49Z</cp:lastPrinted>
  <dcterms:created xsi:type="dcterms:W3CDTF">2025-02-07T01:32:03Z</dcterms:created>
  <dcterms:modified xsi:type="dcterms:W3CDTF">2026-07-31T05:30:49Z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y fmtid="{D5CDD505-2E9C-101B-9397-08002B2CF9AE}" pid="3" name="FLCMData">
    <vt:lpwstr>E04980C6EBF2D903902856AC1806A6BB003B5C81B087132C7B9A2A96685ACA3B0D66BA1F4D0364040A9B0BCA0A0E066F6F08CEBB50CAC431A9DF851781659BDF</vt:lpwstr>
  </property>
</Properties>
</file>