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Aptos Bold" panose="020B0600000101010101" charset="0"/>
      <p:regular r:id="rId16"/>
    </p:embeddedFont>
    <p:embeddedFont>
      <p:font typeface="Arimo" panose="020B0600000101010101" charset="0"/>
      <p:regular r:id="rId17"/>
    </p:embeddedFont>
    <p:embeddedFont>
      <p:font typeface="Aptos" panose="020B0600000101010101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2" d="100"/>
          <a:sy n="102" d="100"/>
        </p:scale>
        <p:origin x="559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2937" y="411070"/>
            <a:ext cx="9053341" cy="9464859"/>
            <a:chOff x="0" y="0"/>
            <a:chExt cx="12071121" cy="126198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71096" cy="12619863"/>
            </a:xfrm>
            <a:custGeom>
              <a:avLst/>
              <a:gdLst/>
              <a:ahLst/>
              <a:cxnLst/>
              <a:rect l="l" t="t" r="r" b="b"/>
              <a:pathLst>
                <a:path w="12071096" h="12619863">
                  <a:moveTo>
                    <a:pt x="0" y="0"/>
                  </a:moveTo>
                  <a:lnTo>
                    <a:pt x="12071096" y="0"/>
                  </a:lnTo>
                  <a:lnTo>
                    <a:pt x="12071096" y="12619863"/>
                  </a:lnTo>
                  <a:lnTo>
                    <a:pt x="0" y="12619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096214" y="12269362"/>
            <a:ext cx="6823462" cy="214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Cello Square Conference 2026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Logistics Megatrends 2026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Empowering the era of Agentic Supply Chains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12 (Tue.) 9:00~12:30 (local time)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Sofitel Mexico City Reforma (40ᵗʰ Floor)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6214" y="11297812"/>
            <a:ext cx="1575292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ENGLISH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96214" y="15565012"/>
            <a:ext cx="8049758" cy="505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technologies and digital transformation is driving global supply chains toward a more intelligent.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“smartly” is your supply chain operating?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 marks a pivotal inflection point where logistics shifts from operations to intelligence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AI-driven Logistics Megatrends with insights from Samsung SDS.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cordially invite you to the Cello Square Conference 2026.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9675" y="565375"/>
            <a:ext cx="3193742" cy="700897"/>
            <a:chOff x="0" y="0"/>
            <a:chExt cx="4258323" cy="9345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58310" cy="934593"/>
            </a:xfrm>
            <a:custGeom>
              <a:avLst/>
              <a:gdLst/>
              <a:ahLst/>
              <a:cxnLst/>
              <a:rect l="l" t="t" r="r" b="b"/>
              <a:pathLst>
                <a:path w="4258310" h="934593">
                  <a:moveTo>
                    <a:pt x="0" y="0"/>
                  </a:moveTo>
                  <a:lnTo>
                    <a:pt x="4258310" y="0"/>
                  </a:lnTo>
                  <a:lnTo>
                    <a:pt x="4258310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83" b="-3877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 rot="2700000">
            <a:off x="3898649" y="86405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0083689" y="667236"/>
            <a:ext cx="1421540" cy="461666"/>
            <a:chOff x="0" y="0"/>
            <a:chExt cx="1895386" cy="6155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95348" cy="615567"/>
            </a:xfrm>
            <a:custGeom>
              <a:avLst/>
              <a:gdLst/>
              <a:ahLst/>
              <a:cxnLst/>
              <a:rect l="l" t="t" r="r" b="b"/>
              <a:pathLst>
                <a:path w="1895348" h="615567">
                  <a:moveTo>
                    <a:pt x="0" y="0"/>
                  </a:moveTo>
                  <a:lnTo>
                    <a:pt x="1895348" y="0"/>
                  </a:lnTo>
                  <a:lnTo>
                    <a:pt x="1895348" y="615567"/>
                  </a:lnTo>
                  <a:lnTo>
                    <a:pt x="0" y="6155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97" r="-2" b="-999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895386" cy="61555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0000"/>
                  </a:solidFill>
                  <a:latin typeface="Aptos"/>
                  <a:ea typeface="Aptos"/>
                  <a:cs typeface="Aptos"/>
                  <a:sym typeface="Aptos"/>
                </a:rPr>
                <a:t>Keep logo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3873408" y="898069"/>
            <a:ext cx="6210281" cy="17755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965425" y="2154203"/>
            <a:ext cx="8258175" cy="635946"/>
            <a:chOff x="0" y="0"/>
            <a:chExt cx="11010900" cy="8479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10900" cy="847979"/>
            </a:xfrm>
            <a:custGeom>
              <a:avLst/>
              <a:gdLst/>
              <a:ahLst/>
              <a:cxnLst/>
              <a:rect l="l" t="t" r="r" b="b"/>
              <a:pathLst>
                <a:path w="11010900" h="847979">
                  <a:moveTo>
                    <a:pt x="0" y="0"/>
                  </a:moveTo>
                  <a:lnTo>
                    <a:pt x="11010900" y="0"/>
                  </a:lnTo>
                  <a:lnTo>
                    <a:pt x="11010900" y="847979"/>
                  </a:lnTo>
                  <a:lnTo>
                    <a:pt x="0" y="8479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013" b="-20300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16" name="AutoShape 16"/>
          <p:cNvSpPr/>
          <p:nvPr/>
        </p:nvSpPr>
        <p:spPr>
          <a:xfrm rot="2700000">
            <a:off x="4184399" y="2452878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0083689" y="2154203"/>
            <a:ext cx="5256343" cy="492751"/>
            <a:chOff x="0" y="0"/>
            <a:chExt cx="7008457" cy="6570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08495" cy="657014"/>
            </a:xfrm>
            <a:custGeom>
              <a:avLst/>
              <a:gdLst/>
              <a:ahLst/>
              <a:cxnLst/>
              <a:rect l="l" t="t" r="r" b="b"/>
              <a:pathLst>
                <a:path w="7008495" h="657014">
                  <a:moveTo>
                    <a:pt x="0" y="0"/>
                  </a:moveTo>
                  <a:lnTo>
                    <a:pt x="7008495" y="0"/>
                  </a:lnTo>
                  <a:lnTo>
                    <a:pt x="7008495" y="657014"/>
                  </a:lnTo>
                  <a:lnTo>
                    <a:pt x="0" y="6570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04" b="-15469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008457" cy="6760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Cello Square Conference Southeast Asia 2026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9223600" y="2400578"/>
            <a:ext cx="860088" cy="71597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2207190" y="2900362"/>
            <a:ext cx="5595833" cy="1057094"/>
            <a:chOff x="0" y="0"/>
            <a:chExt cx="7461110" cy="14094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61123" cy="1409446"/>
            </a:xfrm>
            <a:custGeom>
              <a:avLst/>
              <a:gdLst/>
              <a:ahLst/>
              <a:cxnLst/>
              <a:rect l="l" t="t" r="r" b="b"/>
              <a:pathLst>
                <a:path w="7461123" h="1409446">
                  <a:moveTo>
                    <a:pt x="0" y="0"/>
                  </a:moveTo>
                  <a:lnTo>
                    <a:pt x="7461123" y="0"/>
                  </a:lnTo>
                  <a:lnTo>
                    <a:pt x="7461123" y="1409446"/>
                  </a:lnTo>
                  <a:lnTo>
                    <a:pt x="0" y="1409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46" b="-5314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3" name="AutoShape 23"/>
          <p:cNvSpPr/>
          <p:nvPr/>
        </p:nvSpPr>
        <p:spPr>
          <a:xfrm rot="2700000">
            <a:off x="5426164" y="3296393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0083689" y="3060387"/>
            <a:ext cx="7169416" cy="519639"/>
            <a:chOff x="0" y="0"/>
            <a:chExt cx="9559221" cy="6928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59233" cy="692890"/>
            </a:xfrm>
            <a:custGeom>
              <a:avLst/>
              <a:gdLst/>
              <a:ahLst/>
              <a:cxnLst/>
              <a:rect l="l" t="t" r="r" b="b"/>
              <a:pathLst>
                <a:path w="9559233" h="692890">
                  <a:moveTo>
                    <a:pt x="0" y="0"/>
                  </a:moveTo>
                  <a:lnTo>
                    <a:pt x="9559233" y="0"/>
                  </a:lnTo>
                  <a:lnTo>
                    <a:pt x="9559233" y="692890"/>
                  </a:lnTo>
                  <a:lnTo>
                    <a:pt x="0" y="692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528" r="11821" b="-21255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9559221" cy="71190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Driving Supply Chain Agility: From Insight to Action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flipV="1">
            <a:off x="7803023" y="3320207"/>
            <a:ext cx="2280666" cy="108703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14483463" y="868815"/>
            <a:ext cx="3546175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To be reflected on English site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Keep font size as it is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Center alignment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83887" y="3987146"/>
            <a:ext cx="6723288" cy="578091"/>
            <a:chOff x="0" y="0"/>
            <a:chExt cx="8964384" cy="7707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64422" cy="770763"/>
            </a:xfrm>
            <a:custGeom>
              <a:avLst/>
              <a:gdLst/>
              <a:ahLst/>
              <a:cxnLst/>
              <a:rect l="l" t="t" r="r" b="b"/>
              <a:pathLst>
                <a:path w="8964422" h="770763">
                  <a:moveTo>
                    <a:pt x="0" y="0"/>
                  </a:moveTo>
                  <a:lnTo>
                    <a:pt x="8964422" y="0"/>
                  </a:lnTo>
                  <a:lnTo>
                    <a:pt x="8964422" y="770763"/>
                  </a:lnTo>
                  <a:lnTo>
                    <a:pt x="0" y="770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619" b="-176623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1" name="AutoShape 31"/>
          <p:cNvSpPr/>
          <p:nvPr/>
        </p:nvSpPr>
        <p:spPr>
          <a:xfrm rot="2700000">
            <a:off x="4902860" y="428582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0083689" y="3872653"/>
            <a:ext cx="8204311" cy="807076"/>
            <a:chOff x="0" y="0"/>
            <a:chExt cx="10939081" cy="107610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9119" cy="1076114"/>
            </a:xfrm>
            <a:custGeom>
              <a:avLst/>
              <a:gdLst/>
              <a:ahLst/>
              <a:cxnLst/>
              <a:rect l="l" t="t" r="r" b="b"/>
              <a:pathLst>
                <a:path w="10939119" h="1076114">
                  <a:moveTo>
                    <a:pt x="0" y="0"/>
                  </a:moveTo>
                  <a:lnTo>
                    <a:pt x="10939119" y="0"/>
                  </a:lnTo>
                  <a:lnTo>
                    <a:pt x="10939119" y="1076114"/>
                  </a:lnTo>
                  <a:lnTo>
                    <a:pt x="0" y="1076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21" r="5427" b="-115923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0939081" cy="10951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 July (Friday) 13:30 ~ 17:00 (local time)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InterContinental Hanoi Landmark 72 | 5F Ballroom 1 | Hanoi, Vietnam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>
            <a:off x="8407175" y="4276192"/>
            <a:ext cx="1676514" cy="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>
            <a:off x="1087888" y="5762244"/>
            <a:ext cx="8233686" cy="3975706"/>
            <a:chOff x="0" y="0"/>
            <a:chExt cx="10978248" cy="53009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978261" cy="5300980"/>
            </a:xfrm>
            <a:custGeom>
              <a:avLst/>
              <a:gdLst/>
              <a:ahLst/>
              <a:cxnLst/>
              <a:rect l="l" t="t" r="r" b="b"/>
              <a:pathLst>
                <a:path w="10978261" h="5300980">
                  <a:moveTo>
                    <a:pt x="0" y="0"/>
                  </a:moveTo>
                  <a:lnTo>
                    <a:pt x="10978261" y="0"/>
                  </a:lnTo>
                  <a:lnTo>
                    <a:pt x="10978261" y="5300980"/>
                  </a:lnTo>
                  <a:lnTo>
                    <a:pt x="0" y="53009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52" r="-11952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8" name="AutoShape 38"/>
          <p:cNvSpPr/>
          <p:nvPr/>
        </p:nvSpPr>
        <p:spPr>
          <a:xfrm rot="2700000">
            <a:off x="4306862" y="7256726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39"/>
          <p:cNvGrpSpPr/>
          <p:nvPr/>
        </p:nvGrpSpPr>
        <p:grpSpPr>
          <a:xfrm>
            <a:off x="10083689" y="4964120"/>
            <a:ext cx="7945949" cy="3722104"/>
            <a:chOff x="0" y="0"/>
            <a:chExt cx="10594599" cy="496280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594542" cy="4962765"/>
            </a:xfrm>
            <a:custGeom>
              <a:avLst/>
              <a:gdLst/>
              <a:ahLst/>
              <a:cxnLst/>
              <a:rect l="l" t="t" r="r" b="b"/>
              <a:pathLst>
                <a:path w="10594542" h="4962765">
                  <a:moveTo>
                    <a:pt x="0" y="0"/>
                  </a:moveTo>
                  <a:lnTo>
                    <a:pt x="10594542" y="0"/>
                  </a:lnTo>
                  <a:lnTo>
                    <a:pt x="10594542" y="4962765"/>
                  </a:lnTo>
                  <a:lnTo>
                    <a:pt x="0" y="4962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51" r="-19930" b="-2527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10594599" cy="498185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Global supply chains are changing rapidly. To stay competitive, businesses must move beyond basic visibility toward agile, AI-powered, and data-driven decision-making.</a:t>
              </a:r>
            </a:p>
            <a:p>
              <a:pPr algn="l">
                <a:lnSpc>
                  <a:spcPts val="2520"/>
                </a:lnSpc>
              </a:pPr>
              <a:endPara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Returning for its fourth edition in Hanoi, the Cello Square Conference 2026 connects industry leaders and experts to explore the latest market trends, automation strategies, and digital logistics innovations.</a:t>
              </a:r>
            </a:p>
            <a:p>
              <a:pPr algn="l">
                <a:lnSpc>
                  <a:spcPts val="2520"/>
                </a:lnSpc>
              </a:pPr>
              <a:endPara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 us at the InterContinental Hanoi Landmark 72 to discover how Samsung SDS is shaping the future of logistics and helping businesses turn technology insights into immediate action.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 flipV="1">
            <a:off x="9321575" y="6825172"/>
            <a:ext cx="762114" cy="924926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16488485" y="368276"/>
            <a:ext cx="1541631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774" y="559670"/>
            <a:ext cx="8607533" cy="9167651"/>
            <a:chOff x="0" y="0"/>
            <a:chExt cx="11476711" cy="12223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76736" cy="12223496"/>
            </a:xfrm>
            <a:custGeom>
              <a:avLst/>
              <a:gdLst/>
              <a:ahLst/>
              <a:cxnLst/>
              <a:rect l="l" t="t" r="r" b="b"/>
              <a:pathLst>
                <a:path w="11476736" h="12223496">
                  <a:moveTo>
                    <a:pt x="0" y="0"/>
                  </a:moveTo>
                  <a:lnTo>
                    <a:pt x="11476736" y="0"/>
                  </a:lnTo>
                  <a:lnTo>
                    <a:pt x="11476736" y="12223496"/>
                  </a:lnTo>
                  <a:lnTo>
                    <a:pt x="0" y="12223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197060"/>
              </p:ext>
            </p:extLst>
          </p:nvPr>
        </p:nvGraphicFramePr>
        <p:xfrm>
          <a:off x="9413405" y="1618567"/>
          <a:ext cx="8270719" cy="7288399"/>
        </p:xfrm>
        <a:graphic>
          <a:graphicData uri="http://schemas.openxmlformats.org/drawingml/2006/table">
            <a:tbl>
              <a:tblPr/>
              <a:tblGrid>
                <a:gridCol w="169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1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55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Session / Speaker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1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13:30 ~ 14:00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Registration &amp; Refreshments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14:00 ~ 14:20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Welcome &amp; Opening Remarks</a:t>
                      </a:r>
                      <a:endParaRPr lang="en-US" sz="1100" dirty="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altLang="ko-KR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Southeast Asia Vice President | Mr. Kim Dong </a:t>
                      </a:r>
                      <a:r>
                        <a:rPr lang="en-US" altLang="ko-KR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Kyun</a:t>
                      </a:r>
                      <a:endParaRPr lang="en-US" altLang="ko-KR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14:20 ~ 14:40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AI-Based Solutions for Securing Competitive Advantage</a:t>
                      </a:r>
                      <a:endParaRPr lang="en-US" sz="1100" dirty="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Southeast Asia Vice President | Mr. Kim Dong </a:t>
                      </a:r>
                      <a:r>
                        <a:rPr lang="en-US" sz="1800" dirty="0" err="1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Kyun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14:40 ~ 15:00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Air Freight Market Outlook and Strategy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Southeast Asia, Air Logistics Team Leader | Mr. Bae Kyungjin</a:t>
                      </a: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249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15:00 ~ 15:20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Networking &amp; Break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15:20 ~ 15:40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Ocean Freight Market Outlook and Strategy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Southeast Asia, Ocean Logistics Team Leader | Mr. Matthew Thong Jit Fong</a:t>
                      </a: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1872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16:00 ~ 16:20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From Outsourced Function to Strategic Engine: The New Era of Contract Logistics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Southeast Asia Vice President, Contract Logistics Team Leader | Mr. Nay Htoo Aung</a:t>
                      </a: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1872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16:20 ~ 17:00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Driving Enterprise Resilience: Navigating Global Disruption with Automation</a:t>
                      </a:r>
                      <a:endParaRPr lang="en-US" sz="1100" dirty="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Southeast Asia, Operations and Automation Team Leader | Mr.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J.O Lee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16:20 ~ 17:00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Lucky Draw &amp; Closing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9413405" y="9311095"/>
            <a:ext cx="7610881" cy="430523"/>
            <a:chOff x="0" y="0"/>
            <a:chExt cx="10147841" cy="5740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47809" cy="574004"/>
            </a:xfrm>
            <a:custGeom>
              <a:avLst/>
              <a:gdLst/>
              <a:ahLst/>
              <a:cxnLst/>
              <a:rect l="l" t="t" r="r" b="b"/>
              <a:pathLst>
                <a:path w="10147809" h="574004">
                  <a:moveTo>
                    <a:pt x="0" y="0"/>
                  </a:moveTo>
                  <a:lnTo>
                    <a:pt x="10147809" y="0"/>
                  </a:lnTo>
                  <a:lnTo>
                    <a:pt x="10147809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455" r="-19518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147841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※ This agenda is subject to change without prior notification.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3975" y="1920650"/>
            <a:ext cx="8027805" cy="6021162"/>
            <a:chOff x="0" y="0"/>
            <a:chExt cx="10703739" cy="80282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03740" cy="8028178"/>
            </a:xfrm>
            <a:custGeom>
              <a:avLst/>
              <a:gdLst/>
              <a:ahLst/>
              <a:cxnLst/>
              <a:rect l="l" t="t" r="r" b="b"/>
              <a:pathLst>
                <a:path w="10703740" h="8028178">
                  <a:moveTo>
                    <a:pt x="0" y="0"/>
                  </a:moveTo>
                  <a:lnTo>
                    <a:pt x="10703740" y="0"/>
                  </a:lnTo>
                  <a:lnTo>
                    <a:pt x="10703740" y="8028178"/>
                  </a:lnTo>
                  <a:lnTo>
                    <a:pt x="0" y="80281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29" r="-48735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10" name="AutoShape 10"/>
          <p:cNvSpPr/>
          <p:nvPr/>
        </p:nvSpPr>
        <p:spPr>
          <a:xfrm rot="2700000">
            <a:off x="3898649" y="86405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3920900" y="1179376"/>
            <a:ext cx="1914525" cy="671874"/>
            <a:chOff x="0" y="0"/>
            <a:chExt cx="2552700" cy="8958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52700" cy="895858"/>
            </a:xfrm>
            <a:custGeom>
              <a:avLst/>
              <a:gdLst/>
              <a:ahLst/>
              <a:cxnLst/>
              <a:rect l="l" t="t" r="r" b="b"/>
              <a:pathLst>
                <a:path w="2552700" h="895858">
                  <a:moveTo>
                    <a:pt x="0" y="0"/>
                  </a:moveTo>
                  <a:lnTo>
                    <a:pt x="2552700" y="0"/>
                  </a:lnTo>
                  <a:lnTo>
                    <a:pt x="2552700" y="895858"/>
                  </a:lnTo>
                  <a:lnTo>
                    <a:pt x="0" y="895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3" b="-552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13" name="AutoShape 13"/>
          <p:cNvSpPr/>
          <p:nvPr/>
        </p:nvSpPr>
        <p:spPr>
          <a:xfrm rot="2700000">
            <a:off x="3898649" y="86405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9413405" y="1028700"/>
            <a:ext cx="3110589" cy="468269"/>
            <a:chOff x="0" y="0"/>
            <a:chExt cx="4147452" cy="6243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47439" cy="624371"/>
            </a:xfrm>
            <a:custGeom>
              <a:avLst/>
              <a:gdLst/>
              <a:ahLst/>
              <a:cxnLst/>
              <a:rect l="l" t="t" r="r" b="b"/>
              <a:pathLst>
                <a:path w="4147439" h="624371">
                  <a:moveTo>
                    <a:pt x="0" y="0"/>
                  </a:moveTo>
                  <a:lnTo>
                    <a:pt x="4147439" y="0"/>
                  </a:lnTo>
                  <a:lnTo>
                    <a:pt x="4147439" y="624371"/>
                  </a:lnTo>
                  <a:lnTo>
                    <a:pt x="0" y="624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137" b="-7872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147452" cy="63388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Agenda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5835425" y="1262835"/>
            <a:ext cx="3577981" cy="252479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2181901" y="9040720"/>
            <a:ext cx="5147586" cy="700897"/>
            <a:chOff x="0" y="0"/>
            <a:chExt cx="6863448" cy="9345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63461" cy="934593"/>
            </a:xfrm>
            <a:custGeom>
              <a:avLst/>
              <a:gdLst/>
              <a:ahLst/>
              <a:cxnLst/>
              <a:rect l="l" t="t" r="r" b="b"/>
              <a:pathLst>
                <a:path w="6863461" h="934593">
                  <a:moveTo>
                    <a:pt x="0" y="0"/>
                  </a:moveTo>
                  <a:lnTo>
                    <a:pt x="6863461" y="0"/>
                  </a:lnTo>
                  <a:lnTo>
                    <a:pt x="6863461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097" b="-9309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1" name="AutoShape 21"/>
          <p:cNvSpPr/>
          <p:nvPr/>
        </p:nvSpPr>
        <p:spPr>
          <a:xfrm>
            <a:off x="7300913" y="9376872"/>
            <a:ext cx="2112492" cy="149484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793975" y="7996685"/>
            <a:ext cx="5147586" cy="700897"/>
            <a:chOff x="0" y="0"/>
            <a:chExt cx="6863448" cy="9345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63461" cy="934593"/>
            </a:xfrm>
            <a:custGeom>
              <a:avLst/>
              <a:gdLst/>
              <a:ahLst/>
              <a:cxnLst/>
              <a:rect l="l" t="t" r="r" b="b"/>
              <a:pathLst>
                <a:path w="6863461" h="934593">
                  <a:moveTo>
                    <a:pt x="0" y="0"/>
                  </a:moveTo>
                  <a:lnTo>
                    <a:pt x="6863461" y="0"/>
                  </a:lnTo>
                  <a:lnTo>
                    <a:pt x="6863461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097" b="-9309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4" name="AutoShape 24"/>
          <p:cNvSpPr/>
          <p:nvPr/>
        </p:nvSpPr>
        <p:spPr>
          <a:xfrm>
            <a:off x="5912987" y="8582131"/>
            <a:ext cx="3500418" cy="541397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6482289" y="334094"/>
            <a:ext cx="1541631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ENGLISH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413405" y="8946350"/>
            <a:ext cx="7610881" cy="430523"/>
            <a:chOff x="0" y="0"/>
            <a:chExt cx="10147841" cy="5740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147809" cy="574004"/>
            </a:xfrm>
            <a:custGeom>
              <a:avLst/>
              <a:gdLst/>
              <a:ahLst/>
              <a:cxnLst/>
              <a:rect l="l" t="t" r="r" b="b"/>
              <a:pathLst>
                <a:path w="10147809" h="574004">
                  <a:moveTo>
                    <a:pt x="0" y="0"/>
                  </a:moveTo>
                  <a:lnTo>
                    <a:pt x="10147809" y="0"/>
                  </a:lnTo>
                  <a:lnTo>
                    <a:pt x="10147809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455" r="-19518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0147841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remove this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774" y="263604"/>
            <a:ext cx="6032630" cy="4727496"/>
            <a:chOff x="0" y="0"/>
            <a:chExt cx="8043507" cy="63033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43545" cy="6303264"/>
            </a:xfrm>
            <a:custGeom>
              <a:avLst/>
              <a:gdLst/>
              <a:ahLst/>
              <a:cxnLst/>
              <a:rect l="l" t="t" r="r" b="b"/>
              <a:pathLst>
                <a:path w="8043545" h="6303264">
                  <a:moveTo>
                    <a:pt x="0" y="0"/>
                  </a:moveTo>
                  <a:lnTo>
                    <a:pt x="8043545" y="0"/>
                  </a:lnTo>
                  <a:lnTo>
                    <a:pt x="8043545" y="6303264"/>
                  </a:lnTo>
                  <a:lnTo>
                    <a:pt x="0" y="6303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54774" y="5143500"/>
            <a:ext cx="6063682" cy="4727496"/>
            <a:chOff x="0" y="0"/>
            <a:chExt cx="8084909" cy="63033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84947" cy="6303391"/>
            </a:xfrm>
            <a:custGeom>
              <a:avLst/>
              <a:gdLst/>
              <a:ahLst/>
              <a:cxnLst/>
              <a:rect l="l" t="t" r="r" b="b"/>
              <a:pathLst>
                <a:path w="8084947" h="6303391">
                  <a:moveTo>
                    <a:pt x="0" y="0"/>
                  </a:moveTo>
                  <a:lnTo>
                    <a:pt x="8084947" y="0"/>
                  </a:lnTo>
                  <a:lnTo>
                    <a:pt x="8084947" y="6303391"/>
                  </a:lnTo>
                  <a:lnTo>
                    <a:pt x="0" y="630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 flipH="1">
            <a:off x="6082575" y="1585767"/>
            <a:ext cx="7244997" cy="13005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6994556" y="4566464"/>
            <a:ext cx="4127561" cy="4546299"/>
          </a:xfrm>
          <a:custGeom>
            <a:avLst/>
            <a:gdLst/>
            <a:ahLst/>
            <a:cxnLst/>
            <a:rect l="l" t="t" r="r" b="b"/>
            <a:pathLst>
              <a:path w="4127561" h="4546299">
                <a:moveTo>
                  <a:pt x="0" y="0"/>
                </a:moveTo>
                <a:lnTo>
                  <a:pt x="4127562" y="0"/>
                </a:lnTo>
                <a:lnTo>
                  <a:pt x="4127562" y="4546299"/>
                </a:lnTo>
                <a:lnTo>
                  <a:pt x="0" y="4546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00657" y="6334687"/>
            <a:ext cx="2034018" cy="2239655"/>
          </a:xfrm>
          <a:custGeom>
            <a:avLst/>
            <a:gdLst/>
            <a:ahLst/>
            <a:cxnLst/>
            <a:rect l="l" t="t" r="r" b="b"/>
            <a:pathLst>
              <a:path w="2034018" h="2239655">
                <a:moveTo>
                  <a:pt x="0" y="0"/>
                </a:moveTo>
                <a:lnTo>
                  <a:pt x="2034018" y="0"/>
                </a:lnTo>
                <a:lnTo>
                  <a:pt x="2034018" y="2239654"/>
                </a:lnTo>
                <a:lnTo>
                  <a:pt x="0" y="2239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4179" t="-11467" r="-78742" b="-17474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327572" y="2235111"/>
            <a:ext cx="2052913" cy="430523"/>
            <a:chOff x="0" y="0"/>
            <a:chExt cx="2737217" cy="5740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37208" cy="574004"/>
            </a:xfrm>
            <a:custGeom>
              <a:avLst/>
              <a:gdLst/>
              <a:ahLst/>
              <a:cxnLst/>
              <a:rect l="l" t="t" r="r" b="b"/>
              <a:pathLst>
                <a:path w="2737208" h="574004">
                  <a:moveTo>
                    <a:pt x="0" y="0"/>
                  </a:moveTo>
                  <a:lnTo>
                    <a:pt x="2737208" y="0"/>
                  </a:lnTo>
                  <a:lnTo>
                    <a:pt x="2737208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343098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737217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1st Prize (1 winner)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820842" y="5861302"/>
            <a:ext cx="2193648" cy="430523"/>
            <a:chOff x="0" y="0"/>
            <a:chExt cx="2924864" cy="5740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4854" cy="574004"/>
            </a:xfrm>
            <a:custGeom>
              <a:avLst/>
              <a:gdLst/>
              <a:ahLst/>
              <a:cxnLst/>
              <a:rect l="l" t="t" r="r" b="b"/>
              <a:pathLst>
                <a:path w="2924854" h="574004">
                  <a:moveTo>
                    <a:pt x="0" y="0"/>
                  </a:moveTo>
                  <a:lnTo>
                    <a:pt x="2924854" y="0"/>
                  </a:lnTo>
                  <a:lnTo>
                    <a:pt x="2924854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314671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24864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2nd Prize (3 winners)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015128" y="5861302"/>
            <a:ext cx="2367165" cy="430523"/>
            <a:chOff x="0" y="0"/>
            <a:chExt cx="3156220" cy="5740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56210" cy="574004"/>
            </a:xfrm>
            <a:custGeom>
              <a:avLst/>
              <a:gdLst/>
              <a:ahLst/>
              <a:cxnLst/>
              <a:rect l="l" t="t" r="r" b="b"/>
              <a:pathLst>
                <a:path w="3156210" h="574004">
                  <a:moveTo>
                    <a:pt x="0" y="0"/>
                  </a:moveTo>
                  <a:lnTo>
                    <a:pt x="3156210" y="0"/>
                  </a:lnTo>
                  <a:lnTo>
                    <a:pt x="3156210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284275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156220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3rd Prize (10 winners)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227299" y="2779934"/>
            <a:ext cx="2065445" cy="2309440"/>
          </a:xfrm>
          <a:custGeom>
            <a:avLst/>
            <a:gdLst/>
            <a:ahLst/>
            <a:cxnLst/>
            <a:rect l="l" t="t" r="r" b="b"/>
            <a:pathLst>
              <a:path w="2065445" h="2309440">
                <a:moveTo>
                  <a:pt x="0" y="0"/>
                </a:moveTo>
                <a:lnTo>
                  <a:pt x="2065446" y="0"/>
                </a:lnTo>
                <a:lnTo>
                  <a:pt x="2065446" y="2309440"/>
                </a:lnTo>
                <a:lnTo>
                  <a:pt x="0" y="23094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711" t="-16247" r="-109469" b="-8440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961753" y="5202179"/>
            <a:ext cx="2801961" cy="430523"/>
            <a:chOff x="0" y="0"/>
            <a:chExt cx="3735948" cy="574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35937" cy="574004"/>
            </a:xfrm>
            <a:custGeom>
              <a:avLst/>
              <a:gdLst/>
              <a:ahLst/>
              <a:cxnLst/>
              <a:rect l="l" t="t" r="r" b="b"/>
              <a:pathLst>
                <a:path w="3735937" h="574004">
                  <a:moveTo>
                    <a:pt x="0" y="0"/>
                  </a:moveTo>
                  <a:lnTo>
                    <a:pt x="3735937" y="0"/>
                  </a:lnTo>
                  <a:lnTo>
                    <a:pt x="3735937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224645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735948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Samsung Galaxy S26 256GB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169464" y="6415746"/>
            <a:ext cx="2058492" cy="2077536"/>
          </a:xfrm>
          <a:custGeom>
            <a:avLst/>
            <a:gdLst/>
            <a:ahLst/>
            <a:cxnLst/>
            <a:rect l="l" t="t" r="r" b="b"/>
            <a:pathLst>
              <a:path w="2058492" h="2077536">
                <a:moveTo>
                  <a:pt x="0" y="0"/>
                </a:moveTo>
                <a:lnTo>
                  <a:pt x="2058493" y="0"/>
                </a:lnTo>
                <a:lnTo>
                  <a:pt x="2058493" y="2077536"/>
                </a:lnTo>
                <a:lnTo>
                  <a:pt x="0" y="20775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1700379" y="8617204"/>
            <a:ext cx="2434574" cy="430523"/>
            <a:chOff x="0" y="0"/>
            <a:chExt cx="3246099" cy="57403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46089" cy="574004"/>
            </a:xfrm>
            <a:custGeom>
              <a:avLst/>
              <a:gdLst/>
              <a:ahLst/>
              <a:cxnLst/>
              <a:rect l="l" t="t" r="r" b="b"/>
              <a:pathLst>
                <a:path w="3246089" h="574004">
                  <a:moveTo>
                    <a:pt x="0" y="0"/>
                  </a:moveTo>
                  <a:lnTo>
                    <a:pt x="3246089" y="0"/>
                  </a:lnTo>
                  <a:lnTo>
                    <a:pt x="3246089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273635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3246099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Samsung Galaxy Buds4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858853" y="8617204"/>
            <a:ext cx="2679715" cy="430523"/>
            <a:chOff x="0" y="0"/>
            <a:chExt cx="3572954" cy="5740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72943" cy="574004"/>
            </a:xfrm>
            <a:custGeom>
              <a:avLst/>
              <a:gdLst/>
              <a:ahLst/>
              <a:cxnLst/>
              <a:rect l="l" t="t" r="r" b="b"/>
              <a:pathLst>
                <a:path w="3572943" h="574004">
                  <a:moveTo>
                    <a:pt x="0" y="0"/>
                  </a:moveTo>
                  <a:lnTo>
                    <a:pt x="3572943" y="0"/>
                  </a:lnTo>
                  <a:lnTo>
                    <a:pt x="3572943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239455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3572954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VinID Vouchers (1M VND)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403430" y="590960"/>
            <a:ext cx="2425673" cy="671874"/>
            <a:chOff x="0" y="0"/>
            <a:chExt cx="3234230" cy="8958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34230" cy="895858"/>
            </a:xfrm>
            <a:custGeom>
              <a:avLst/>
              <a:gdLst/>
              <a:ahLst/>
              <a:cxnLst/>
              <a:rect l="l" t="t" r="r" b="b"/>
              <a:pathLst>
                <a:path w="3234230" h="895858">
                  <a:moveTo>
                    <a:pt x="0" y="0"/>
                  </a:moveTo>
                  <a:lnTo>
                    <a:pt x="3234230" y="0"/>
                  </a:lnTo>
                  <a:lnTo>
                    <a:pt x="3234230" y="895858"/>
                  </a:lnTo>
                  <a:lnTo>
                    <a:pt x="0" y="895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523" r="21072" b="-552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1" name="AutoShape 31"/>
          <p:cNvSpPr/>
          <p:nvPr/>
        </p:nvSpPr>
        <p:spPr>
          <a:xfrm>
            <a:off x="4829103" y="926897"/>
            <a:ext cx="8498469" cy="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3327572" y="711636"/>
            <a:ext cx="2167941" cy="430523"/>
            <a:chOff x="0" y="0"/>
            <a:chExt cx="2890588" cy="57403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890578" cy="574004"/>
            </a:xfrm>
            <a:custGeom>
              <a:avLst/>
              <a:gdLst/>
              <a:ahLst/>
              <a:cxnLst/>
              <a:rect l="l" t="t" r="r" b="b"/>
              <a:pathLst>
                <a:path w="2890578" h="574004">
                  <a:moveTo>
                    <a:pt x="0" y="0"/>
                  </a:moveTo>
                  <a:lnTo>
                    <a:pt x="2890578" y="0"/>
                  </a:lnTo>
                  <a:lnTo>
                    <a:pt x="2890578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319588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890588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Lucky Draw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5417" y="1262835"/>
            <a:ext cx="4937158" cy="671874"/>
            <a:chOff x="0" y="0"/>
            <a:chExt cx="6582878" cy="8958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582877" cy="895858"/>
            </a:xfrm>
            <a:custGeom>
              <a:avLst/>
              <a:gdLst/>
              <a:ahLst/>
              <a:cxnLst/>
              <a:rect l="l" t="t" r="r" b="b"/>
              <a:pathLst>
                <a:path w="6582877" h="895858">
                  <a:moveTo>
                    <a:pt x="0" y="0"/>
                  </a:moveTo>
                  <a:lnTo>
                    <a:pt x="6582877" y="0"/>
                  </a:lnTo>
                  <a:lnTo>
                    <a:pt x="6582877" y="895858"/>
                  </a:lnTo>
                  <a:lnTo>
                    <a:pt x="0" y="895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523" r="61222" b="-552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47688" y="2016036"/>
            <a:ext cx="4934887" cy="2550427"/>
            <a:chOff x="0" y="0"/>
            <a:chExt cx="6805495" cy="351718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805495" cy="3517212"/>
            </a:xfrm>
            <a:custGeom>
              <a:avLst/>
              <a:gdLst/>
              <a:ahLst/>
              <a:cxnLst/>
              <a:rect l="l" t="t" r="r" b="b"/>
              <a:pathLst>
                <a:path w="6805495" h="3517212">
                  <a:moveTo>
                    <a:pt x="0" y="0"/>
                  </a:moveTo>
                  <a:lnTo>
                    <a:pt x="6805495" y="0"/>
                  </a:lnTo>
                  <a:lnTo>
                    <a:pt x="6805495" y="3517212"/>
                  </a:lnTo>
                  <a:lnTo>
                    <a:pt x="0" y="35172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406" r="62490" b="73123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9" name="AutoShape 39"/>
          <p:cNvSpPr/>
          <p:nvPr/>
        </p:nvSpPr>
        <p:spPr>
          <a:xfrm flipH="1">
            <a:off x="6081752" y="3207142"/>
            <a:ext cx="7088153" cy="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13327572" y="1368504"/>
            <a:ext cx="3206209" cy="434524"/>
            <a:chOff x="0" y="0"/>
            <a:chExt cx="4274945" cy="57936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74932" cy="579339"/>
            </a:xfrm>
            <a:custGeom>
              <a:avLst/>
              <a:gdLst/>
              <a:ahLst/>
              <a:cxnLst/>
              <a:rect l="l" t="t" r="r" b="b"/>
              <a:pathLst>
                <a:path w="4274932" h="579339">
                  <a:moveTo>
                    <a:pt x="0" y="0"/>
                  </a:moveTo>
                  <a:lnTo>
                    <a:pt x="4274932" y="0"/>
                  </a:lnTo>
                  <a:lnTo>
                    <a:pt x="4274932" y="579339"/>
                  </a:lnTo>
                  <a:lnTo>
                    <a:pt x="0" y="5793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0108" r="-183713" b="-35573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4274945" cy="59841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Amazing prizes to be won!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994556" y="4060860"/>
            <a:ext cx="3700033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For example, 2025: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488485" y="368276"/>
            <a:ext cx="1541631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774" y="263604"/>
            <a:ext cx="6032630" cy="4727496"/>
            <a:chOff x="0" y="0"/>
            <a:chExt cx="8043507" cy="63033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43545" cy="6303264"/>
            </a:xfrm>
            <a:custGeom>
              <a:avLst/>
              <a:gdLst/>
              <a:ahLst/>
              <a:cxnLst/>
              <a:rect l="l" t="t" r="r" b="b"/>
              <a:pathLst>
                <a:path w="8043545" h="6303264">
                  <a:moveTo>
                    <a:pt x="0" y="0"/>
                  </a:moveTo>
                  <a:lnTo>
                    <a:pt x="8043545" y="0"/>
                  </a:lnTo>
                  <a:lnTo>
                    <a:pt x="8043545" y="6303264"/>
                  </a:lnTo>
                  <a:lnTo>
                    <a:pt x="0" y="6303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54774" y="5143500"/>
            <a:ext cx="6063682" cy="4727496"/>
            <a:chOff x="0" y="0"/>
            <a:chExt cx="8084909" cy="63033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84947" cy="6303391"/>
            </a:xfrm>
            <a:custGeom>
              <a:avLst/>
              <a:gdLst/>
              <a:ahLst/>
              <a:cxnLst/>
              <a:rect l="l" t="t" r="r" b="b"/>
              <a:pathLst>
                <a:path w="8084947" h="6303391">
                  <a:moveTo>
                    <a:pt x="0" y="0"/>
                  </a:moveTo>
                  <a:lnTo>
                    <a:pt x="8084947" y="0"/>
                  </a:lnTo>
                  <a:lnTo>
                    <a:pt x="8084947" y="6303391"/>
                  </a:lnTo>
                  <a:lnTo>
                    <a:pt x="0" y="630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481870" y="8131850"/>
            <a:ext cx="9085351" cy="1435726"/>
            <a:chOff x="0" y="0"/>
            <a:chExt cx="12113801" cy="19143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13747" cy="1914340"/>
            </a:xfrm>
            <a:custGeom>
              <a:avLst/>
              <a:gdLst/>
              <a:ahLst/>
              <a:cxnLst/>
              <a:rect l="l" t="t" r="r" b="b"/>
              <a:pathLst>
                <a:path w="12113747" h="1914340">
                  <a:moveTo>
                    <a:pt x="0" y="0"/>
                  </a:moveTo>
                  <a:lnTo>
                    <a:pt x="12113747" y="0"/>
                  </a:lnTo>
                  <a:lnTo>
                    <a:pt x="12113747" y="1914340"/>
                  </a:lnTo>
                  <a:lnTo>
                    <a:pt x="0" y="19143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6781" r="7450" b="-4144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113801" cy="19333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InterContinental Hanoi Landmark72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Located in Keangnam Landmark Tower 72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Keangnam Hanoi Landmark Tower Plot E6, Cau Giay New Urban Area, Yen Hoa Ward, Yên Hòa, Hà Nội, Vietnam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1364" y="5463950"/>
            <a:ext cx="4812849" cy="649434"/>
            <a:chOff x="0" y="0"/>
            <a:chExt cx="6417132" cy="8659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17183" cy="865886"/>
            </a:xfrm>
            <a:custGeom>
              <a:avLst/>
              <a:gdLst/>
              <a:ahLst/>
              <a:cxnLst/>
              <a:rect l="l" t="t" r="r" b="b"/>
              <a:pathLst>
                <a:path w="6417183" h="865886">
                  <a:moveTo>
                    <a:pt x="0" y="0"/>
                  </a:moveTo>
                  <a:lnTo>
                    <a:pt x="6417183" y="0"/>
                  </a:lnTo>
                  <a:lnTo>
                    <a:pt x="6417183" y="865886"/>
                  </a:lnTo>
                  <a:lnTo>
                    <a:pt x="0" y="8658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403" b="-94406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481870" y="1228137"/>
            <a:ext cx="1508103" cy="617209"/>
            <a:chOff x="0" y="0"/>
            <a:chExt cx="2010804" cy="8229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10791" cy="822903"/>
            </a:xfrm>
            <a:custGeom>
              <a:avLst/>
              <a:gdLst/>
              <a:ahLst/>
              <a:cxnLst/>
              <a:rect l="l" t="t" r="r" b="b"/>
              <a:pathLst>
                <a:path w="2010791" h="822903">
                  <a:moveTo>
                    <a:pt x="0" y="0"/>
                  </a:moveTo>
                  <a:lnTo>
                    <a:pt x="2010791" y="0"/>
                  </a:lnTo>
                  <a:lnTo>
                    <a:pt x="2010791" y="822903"/>
                  </a:lnTo>
                  <a:lnTo>
                    <a:pt x="0" y="8229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30" b="750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10804" cy="84199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Location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5974213" y="1536741"/>
            <a:ext cx="2507656" cy="4251925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161364" y="6208614"/>
            <a:ext cx="4812849" cy="2277837"/>
            <a:chOff x="0" y="0"/>
            <a:chExt cx="6417132" cy="30371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17183" cy="3037078"/>
            </a:xfrm>
            <a:custGeom>
              <a:avLst/>
              <a:gdLst/>
              <a:ahLst/>
              <a:cxnLst/>
              <a:rect l="l" t="t" r="r" b="b"/>
              <a:pathLst>
                <a:path w="6417183" h="3037078">
                  <a:moveTo>
                    <a:pt x="0" y="0"/>
                  </a:moveTo>
                  <a:lnTo>
                    <a:pt x="6417183" y="0"/>
                  </a:lnTo>
                  <a:lnTo>
                    <a:pt x="6417183" y="3037078"/>
                  </a:lnTo>
                  <a:lnTo>
                    <a:pt x="0" y="30370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723" r="-10722" b="-1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64665" y="8581701"/>
            <a:ext cx="4812849" cy="995401"/>
            <a:chOff x="0" y="0"/>
            <a:chExt cx="6417132" cy="13272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417183" cy="1327150"/>
            </a:xfrm>
            <a:custGeom>
              <a:avLst/>
              <a:gdLst/>
              <a:ahLst/>
              <a:cxnLst/>
              <a:rect l="l" t="t" r="r" b="b"/>
              <a:pathLst>
                <a:path w="6417183" h="1327150">
                  <a:moveTo>
                    <a:pt x="0" y="0"/>
                  </a:moveTo>
                  <a:lnTo>
                    <a:pt x="6417183" y="0"/>
                  </a:lnTo>
                  <a:lnTo>
                    <a:pt x="6417183" y="1327150"/>
                  </a:lnTo>
                  <a:lnTo>
                    <a:pt x="0" y="1327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213" b="-4421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19" name="AutoShape 19"/>
          <p:cNvSpPr/>
          <p:nvPr/>
        </p:nvSpPr>
        <p:spPr>
          <a:xfrm flipH="1">
            <a:off x="5977514" y="8849714"/>
            <a:ext cx="2504356" cy="229688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8481870" y="2226821"/>
            <a:ext cx="9085351" cy="5514029"/>
            <a:chOff x="0" y="0"/>
            <a:chExt cx="14880120" cy="90309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80082" cy="9030970"/>
            </a:xfrm>
            <a:custGeom>
              <a:avLst/>
              <a:gdLst/>
              <a:ahLst/>
              <a:cxnLst/>
              <a:rect l="l" t="t" r="r" b="b"/>
              <a:pathLst>
                <a:path w="14880082" h="9030970">
                  <a:moveTo>
                    <a:pt x="0" y="0"/>
                  </a:moveTo>
                  <a:lnTo>
                    <a:pt x="14880082" y="0"/>
                  </a:lnTo>
                  <a:lnTo>
                    <a:pt x="14880082" y="9030970"/>
                  </a:lnTo>
                  <a:lnTo>
                    <a:pt x="0" y="9030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247" r="-12247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6488485" y="368276"/>
            <a:ext cx="1541631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ENGLISH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6039496" y="4983835"/>
            <a:ext cx="2442373" cy="2442373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890798" y="3252791"/>
            <a:ext cx="5368502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Keep the same form.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FF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We are also gathering participants from this page.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591086" y="398669"/>
            <a:ext cx="8759457" cy="9888331"/>
            <a:chOff x="0" y="0"/>
            <a:chExt cx="11679276" cy="131844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79301" cy="13184378"/>
            </a:xfrm>
            <a:custGeom>
              <a:avLst/>
              <a:gdLst/>
              <a:ahLst/>
              <a:cxnLst/>
              <a:rect l="l" t="t" r="r" b="b"/>
              <a:pathLst>
                <a:path w="11679301" h="13184378">
                  <a:moveTo>
                    <a:pt x="0" y="0"/>
                  </a:moveTo>
                  <a:lnTo>
                    <a:pt x="11679301" y="0"/>
                  </a:lnTo>
                  <a:lnTo>
                    <a:pt x="11679301" y="13184378"/>
                  </a:lnTo>
                  <a:lnTo>
                    <a:pt x="0" y="13184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2937" y="411070"/>
            <a:ext cx="9053341" cy="9464859"/>
            <a:chOff x="0" y="0"/>
            <a:chExt cx="12071121" cy="126198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71096" cy="12619863"/>
            </a:xfrm>
            <a:custGeom>
              <a:avLst/>
              <a:gdLst/>
              <a:ahLst/>
              <a:cxnLst/>
              <a:rect l="l" t="t" r="r" b="b"/>
              <a:pathLst>
                <a:path w="12071096" h="12619863">
                  <a:moveTo>
                    <a:pt x="0" y="0"/>
                  </a:moveTo>
                  <a:lnTo>
                    <a:pt x="12071096" y="0"/>
                  </a:lnTo>
                  <a:lnTo>
                    <a:pt x="12071096" y="12619863"/>
                  </a:lnTo>
                  <a:lnTo>
                    <a:pt x="0" y="12619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096214" y="12269362"/>
            <a:ext cx="6823462" cy="214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Cello Square Conference 2026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Logistics Megatrends 2026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Empowering the era of Agentic Supply Chains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12 (Tue.) 9:00~12:30 (local time)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Sofitel Mexico City Reforma (40ᵗʰ Floor)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6214" y="11297812"/>
            <a:ext cx="1575292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ENGLISH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96214" y="15565012"/>
            <a:ext cx="8049758" cy="505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technologies and digital transformation is driving global supply chains toward a more intelligent.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“smartly” is your supply chain operating?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 marks a pivotal inflection point where logistics shifts from operations to intelligence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AI-driven Logistics Megatrends with insights from Samsung SDS.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cordially invite you to the Cello Square Conference 2026.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9675" y="565375"/>
            <a:ext cx="3193742" cy="700897"/>
            <a:chOff x="0" y="0"/>
            <a:chExt cx="4258323" cy="9345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58310" cy="934593"/>
            </a:xfrm>
            <a:custGeom>
              <a:avLst/>
              <a:gdLst/>
              <a:ahLst/>
              <a:cxnLst/>
              <a:rect l="l" t="t" r="r" b="b"/>
              <a:pathLst>
                <a:path w="4258310" h="934593">
                  <a:moveTo>
                    <a:pt x="0" y="0"/>
                  </a:moveTo>
                  <a:lnTo>
                    <a:pt x="4258310" y="0"/>
                  </a:lnTo>
                  <a:lnTo>
                    <a:pt x="4258310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83" b="-3877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 rot="2700000">
            <a:off x="3898649" y="86405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0083689" y="667236"/>
            <a:ext cx="1421540" cy="461666"/>
            <a:chOff x="0" y="0"/>
            <a:chExt cx="1895386" cy="6155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95348" cy="615567"/>
            </a:xfrm>
            <a:custGeom>
              <a:avLst/>
              <a:gdLst/>
              <a:ahLst/>
              <a:cxnLst/>
              <a:rect l="l" t="t" r="r" b="b"/>
              <a:pathLst>
                <a:path w="1895348" h="615567">
                  <a:moveTo>
                    <a:pt x="0" y="0"/>
                  </a:moveTo>
                  <a:lnTo>
                    <a:pt x="1895348" y="0"/>
                  </a:lnTo>
                  <a:lnTo>
                    <a:pt x="1895348" y="615567"/>
                  </a:lnTo>
                  <a:lnTo>
                    <a:pt x="0" y="6155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97" r="-2" b="-999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895386" cy="61555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0000"/>
                  </a:solidFill>
                  <a:latin typeface="Aptos"/>
                  <a:ea typeface="Aptos"/>
                  <a:cs typeface="Aptos"/>
                  <a:sym typeface="Aptos"/>
                </a:rPr>
                <a:t>Keep logo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3873408" y="898069"/>
            <a:ext cx="6210281" cy="17755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965425" y="2154203"/>
            <a:ext cx="8258175" cy="635946"/>
            <a:chOff x="0" y="0"/>
            <a:chExt cx="11010900" cy="8479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10900" cy="847979"/>
            </a:xfrm>
            <a:custGeom>
              <a:avLst/>
              <a:gdLst/>
              <a:ahLst/>
              <a:cxnLst/>
              <a:rect l="l" t="t" r="r" b="b"/>
              <a:pathLst>
                <a:path w="11010900" h="847979">
                  <a:moveTo>
                    <a:pt x="0" y="0"/>
                  </a:moveTo>
                  <a:lnTo>
                    <a:pt x="11010900" y="0"/>
                  </a:lnTo>
                  <a:lnTo>
                    <a:pt x="11010900" y="847979"/>
                  </a:lnTo>
                  <a:lnTo>
                    <a:pt x="0" y="8479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013" b="-20300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16" name="AutoShape 16"/>
          <p:cNvSpPr/>
          <p:nvPr/>
        </p:nvSpPr>
        <p:spPr>
          <a:xfrm rot="2700000">
            <a:off x="4184399" y="2452878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0083689" y="2154203"/>
            <a:ext cx="5256343" cy="492751"/>
            <a:chOff x="0" y="0"/>
            <a:chExt cx="7008457" cy="6570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08495" cy="657014"/>
            </a:xfrm>
            <a:custGeom>
              <a:avLst/>
              <a:gdLst/>
              <a:ahLst/>
              <a:cxnLst/>
              <a:rect l="l" t="t" r="r" b="b"/>
              <a:pathLst>
                <a:path w="7008495" h="657014">
                  <a:moveTo>
                    <a:pt x="0" y="0"/>
                  </a:moveTo>
                  <a:lnTo>
                    <a:pt x="7008495" y="0"/>
                  </a:lnTo>
                  <a:lnTo>
                    <a:pt x="7008495" y="657014"/>
                  </a:lnTo>
                  <a:lnTo>
                    <a:pt x="0" y="6570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04" b="-15469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008457" cy="6760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Cello Square Conference Southeast Asia 2026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9223600" y="2400578"/>
            <a:ext cx="860088" cy="71597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2207190" y="2900362"/>
            <a:ext cx="5595833" cy="1057094"/>
            <a:chOff x="0" y="0"/>
            <a:chExt cx="7461110" cy="14094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61123" cy="1409446"/>
            </a:xfrm>
            <a:custGeom>
              <a:avLst/>
              <a:gdLst/>
              <a:ahLst/>
              <a:cxnLst/>
              <a:rect l="l" t="t" r="r" b="b"/>
              <a:pathLst>
                <a:path w="7461123" h="1409446">
                  <a:moveTo>
                    <a:pt x="0" y="0"/>
                  </a:moveTo>
                  <a:lnTo>
                    <a:pt x="7461123" y="0"/>
                  </a:lnTo>
                  <a:lnTo>
                    <a:pt x="7461123" y="1409446"/>
                  </a:lnTo>
                  <a:lnTo>
                    <a:pt x="0" y="1409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46" b="-5314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3" name="AutoShape 23"/>
          <p:cNvSpPr/>
          <p:nvPr/>
        </p:nvSpPr>
        <p:spPr>
          <a:xfrm rot="2700000">
            <a:off x="5426164" y="3296393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0083689" y="3060387"/>
            <a:ext cx="7945906" cy="519639"/>
            <a:chOff x="0" y="0"/>
            <a:chExt cx="9559221" cy="6928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59233" cy="692890"/>
            </a:xfrm>
            <a:custGeom>
              <a:avLst/>
              <a:gdLst/>
              <a:ahLst/>
              <a:cxnLst/>
              <a:rect l="l" t="t" r="r" b="b"/>
              <a:pathLst>
                <a:path w="9559233" h="692890">
                  <a:moveTo>
                    <a:pt x="0" y="0"/>
                  </a:moveTo>
                  <a:lnTo>
                    <a:pt x="9559233" y="0"/>
                  </a:lnTo>
                  <a:lnTo>
                    <a:pt x="9559233" y="692890"/>
                  </a:lnTo>
                  <a:lnTo>
                    <a:pt x="0" y="692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528" r="11821" b="-21255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9559221" cy="71190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>
                <a:lnSpc>
                  <a:spcPts val="2520"/>
                </a:lnSpc>
              </a:pP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Nâng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cao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tính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linh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hoạt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chuỗi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cung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ứng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Từ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nhận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thức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đến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hành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động</a:t>
              </a:r>
              <a:endPara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7" name="AutoShape 27"/>
          <p:cNvSpPr/>
          <p:nvPr/>
        </p:nvSpPr>
        <p:spPr>
          <a:xfrm flipV="1">
            <a:off x="7803023" y="3320207"/>
            <a:ext cx="2280666" cy="108703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14000906" y="868815"/>
            <a:ext cx="397297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To be reflected on Vietnamese site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Keep font size as it is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Center alignment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83887" y="3987146"/>
            <a:ext cx="6723288" cy="578091"/>
            <a:chOff x="0" y="0"/>
            <a:chExt cx="8964384" cy="7707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64422" cy="770763"/>
            </a:xfrm>
            <a:custGeom>
              <a:avLst/>
              <a:gdLst/>
              <a:ahLst/>
              <a:cxnLst/>
              <a:rect l="l" t="t" r="r" b="b"/>
              <a:pathLst>
                <a:path w="8964422" h="770763">
                  <a:moveTo>
                    <a:pt x="0" y="0"/>
                  </a:moveTo>
                  <a:lnTo>
                    <a:pt x="8964422" y="0"/>
                  </a:lnTo>
                  <a:lnTo>
                    <a:pt x="8964422" y="770763"/>
                  </a:lnTo>
                  <a:lnTo>
                    <a:pt x="0" y="770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619" b="-176623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1" name="AutoShape 31"/>
          <p:cNvSpPr/>
          <p:nvPr/>
        </p:nvSpPr>
        <p:spPr>
          <a:xfrm rot="2700000">
            <a:off x="4902860" y="428582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0083689" y="3872653"/>
            <a:ext cx="8204311" cy="807076"/>
            <a:chOff x="0" y="0"/>
            <a:chExt cx="10939081" cy="107610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9119" cy="1076114"/>
            </a:xfrm>
            <a:custGeom>
              <a:avLst/>
              <a:gdLst/>
              <a:ahLst/>
              <a:cxnLst/>
              <a:rect l="l" t="t" r="r" b="b"/>
              <a:pathLst>
                <a:path w="10939119" h="1076114">
                  <a:moveTo>
                    <a:pt x="0" y="0"/>
                  </a:moveTo>
                  <a:lnTo>
                    <a:pt x="10939119" y="0"/>
                  </a:lnTo>
                  <a:lnTo>
                    <a:pt x="10939119" y="1076114"/>
                  </a:lnTo>
                  <a:lnTo>
                    <a:pt x="0" y="1076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21" r="5427" b="-115923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0939081" cy="10951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 July (Friday) 13:30 ~ 17:00 (local time)</a:t>
              </a:r>
            </a:p>
            <a:p>
              <a:pPr>
                <a:lnSpc>
                  <a:spcPts val="252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InterContinental Hanoi Landmark 72 | 5F Ballroom 1 |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Hà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Nội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Việt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Nam</a:t>
              </a:r>
              <a:endPara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" name="AutoShape 35"/>
          <p:cNvSpPr/>
          <p:nvPr/>
        </p:nvSpPr>
        <p:spPr>
          <a:xfrm>
            <a:off x="8407175" y="4276192"/>
            <a:ext cx="1676514" cy="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>
            <a:off x="1087888" y="5762244"/>
            <a:ext cx="8233686" cy="3975706"/>
            <a:chOff x="0" y="0"/>
            <a:chExt cx="10978248" cy="53009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978261" cy="5300980"/>
            </a:xfrm>
            <a:custGeom>
              <a:avLst/>
              <a:gdLst/>
              <a:ahLst/>
              <a:cxnLst/>
              <a:rect l="l" t="t" r="r" b="b"/>
              <a:pathLst>
                <a:path w="10978261" h="5300980">
                  <a:moveTo>
                    <a:pt x="0" y="0"/>
                  </a:moveTo>
                  <a:lnTo>
                    <a:pt x="10978261" y="0"/>
                  </a:lnTo>
                  <a:lnTo>
                    <a:pt x="10978261" y="5300980"/>
                  </a:lnTo>
                  <a:lnTo>
                    <a:pt x="0" y="53009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52" r="-11952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8" name="AutoShape 38"/>
          <p:cNvSpPr/>
          <p:nvPr/>
        </p:nvSpPr>
        <p:spPr>
          <a:xfrm rot="2700000">
            <a:off x="4306862" y="7256726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39"/>
          <p:cNvGrpSpPr/>
          <p:nvPr/>
        </p:nvGrpSpPr>
        <p:grpSpPr>
          <a:xfrm>
            <a:off x="10083689" y="4964120"/>
            <a:ext cx="7945949" cy="4598980"/>
            <a:chOff x="0" y="0"/>
            <a:chExt cx="10594599" cy="496280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594542" cy="4962765"/>
            </a:xfrm>
            <a:custGeom>
              <a:avLst/>
              <a:gdLst/>
              <a:ahLst/>
              <a:cxnLst/>
              <a:rect l="l" t="t" r="r" b="b"/>
              <a:pathLst>
                <a:path w="10594542" h="4962765">
                  <a:moveTo>
                    <a:pt x="0" y="0"/>
                  </a:moveTo>
                  <a:lnTo>
                    <a:pt x="10594542" y="0"/>
                  </a:lnTo>
                  <a:lnTo>
                    <a:pt x="10594542" y="4962765"/>
                  </a:lnTo>
                  <a:lnTo>
                    <a:pt x="0" y="4962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51" r="-19930" b="-2527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10594599" cy="498185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>
                <a:lnSpc>
                  <a:spcPts val="2520"/>
                </a:lnSpc>
              </a:pP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Chuỗi cung ứng toàn cầu đang thay đổi nhanh chóng. Để duy trì lợi thế cạnh tranh, doanh nghiệp cần vượt ra khỏi khả năng nắm bắt thông tin ở mức cơ bản, hướng tới mô hình ra quyết định linh hoạt, ứng dụng AI và dựa 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trên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cơ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sở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dữ liệu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lang="en-US" sz="21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ts val="2520"/>
                </a:lnSpc>
              </a:pPr>
              <a:endParaRPr lang="en-US" sz="21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ts val="2520"/>
                </a:lnSpc>
              </a:pP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Trở lại Hà Nội lần thứ tư, Cello Square Conference 2026 quy tụ các lãnh đạo 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và </a:t>
              </a: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chuyên gia đầu ngành nhằm cùng thảo luận về các xu hướng thị trường mới nhất,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ứng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dụng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tự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động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hóa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trong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vận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hành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và các đổi mới trong lĩnh vực logistics số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lang="en-US" sz="21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ts val="2520"/>
                </a:lnSpc>
              </a:pPr>
              <a:endParaRPr lang="en-US" sz="21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ts val="2520"/>
                </a:lnSpc>
              </a:pP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Tham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gia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Cello Square Conference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tại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InterContinental </a:t>
              </a: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Hanoi Landmark 72 để khám phá cách Samsung SDS đang định hình tương lai ngành logistics, đồng thời giúp doanh nghiệp chuyển hóa các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nhận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thức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từ </a:t>
              </a: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công nghệ thành hành động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thực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tiễn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ngay </a:t>
              </a: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lập tức.</a:t>
              </a:r>
              <a:endPara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2" name="AutoShape 42"/>
          <p:cNvSpPr/>
          <p:nvPr/>
        </p:nvSpPr>
        <p:spPr>
          <a:xfrm flipV="1">
            <a:off x="9321575" y="6825172"/>
            <a:ext cx="762114" cy="924926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15987393" y="368276"/>
            <a:ext cx="230060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Vietnamese</a:t>
            </a:r>
          </a:p>
        </p:txBody>
      </p:sp>
    </p:spTree>
    <p:extLst>
      <p:ext uri="{BB962C8B-B14F-4D97-AF65-F5344CB8AC3E}">
        <p14:creationId xmlns:p14="http://schemas.microsoft.com/office/powerpoint/2010/main" val="99879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774" y="559670"/>
            <a:ext cx="8607533" cy="9167651"/>
            <a:chOff x="0" y="0"/>
            <a:chExt cx="11476711" cy="12223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76736" cy="12223496"/>
            </a:xfrm>
            <a:custGeom>
              <a:avLst/>
              <a:gdLst/>
              <a:ahLst/>
              <a:cxnLst/>
              <a:rect l="l" t="t" r="r" b="b"/>
              <a:pathLst>
                <a:path w="11476736" h="12223496">
                  <a:moveTo>
                    <a:pt x="0" y="0"/>
                  </a:moveTo>
                  <a:lnTo>
                    <a:pt x="11476736" y="0"/>
                  </a:lnTo>
                  <a:lnTo>
                    <a:pt x="11476736" y="12223496"/>
                  </a:lnTo>
                  <a:lnTo>
                    <a:pt x="0" y="12223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129573"/>
              </p:ext>
            </p:extLst>
          </p:nvPr>
        </p:nvGraphicFramePr>
        <p:xfrm>
          <a:off x="9413405" y="1618567"/>
          <a:ext cx="8270719" cy="7288399"/>
        </p:xfrm>
        <a:graphic>
          <a:graphicData uri="http://schemas.openxmlformats.org/drawingml/2006/table">
            <a:tbl>
              <a:tblPr/>
              <a:tblGrid>
                <a:gridCol w="169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1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55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Thời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gian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Nội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dung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chương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trình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Diễn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giả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1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13:30 ~ 14:00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Đăng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ký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và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đón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tiếp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14:00 ~ 14:20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Phát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biểu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khai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mạc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Đông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Nam Á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Phó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chủ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tịch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Kim Dong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Kyun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14:20 ~ 14:40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Giải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pháp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ứng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dụng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AI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nhằm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nâng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cao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lợi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thế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cạnh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tranh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Đông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Nam Á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Phó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chủ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tịch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Kim Dong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Kyun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14:40 ~ 15:00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Triển vọng và định hướng chiến lược thị trường vận tải hàng không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Đông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Nam Á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Trưởng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bộ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tải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hàng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không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Bae Kyung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Jin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249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15:00 ~ 15:20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Giao lưu/ Giải lao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15:20 ~ 15:40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Triển vọng và định hướng chiến lược thị trường vận tải đường biển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Đông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Nam Á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Trưởng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bộ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tải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đường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biển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Matthew Thong Jit Fong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1872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16:00 ~ 16:20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Từ hoạt động thuê ngoài đến trụ cột chiến lược: Kỷ nguyên mới của contract logistics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Đông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Nam Á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Phó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chủ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tịch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Trưởng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bộ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Contract Logistics 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Nay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Htoo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Aung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1872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16:20 ~ 17:00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Tăng cường sức bền doanh nghiệp: Ứng phó với biến động toàn cầu bằng tự động hóa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Đông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Nam Á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Trưởng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bộ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hành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và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tự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động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hóa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Lee Je Ho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16:20 ~ 17:00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Rút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thăm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may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mắn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và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Bế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mạc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9413405" y="9311095"/>
            <a:ext cx="7610881" cy="430523"/>
            <a:chOff x="0" y="0"/>
            <a:chExt cx="10147841" cy="5740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47809" cy="574004"/>
            </a:xfrm>
            <a:custGeom>
              <a:avLst/>
              <a:gdLst/>
              <a:ahLst/>
              <a:cxnLst/>
              <a:rect l="l" t="t" r="r" b="b"/>
              <a:pathLst>
                <a:path w="10147809" h="574004">
                  <a:moveTo>
                    <a:pt x="0" y="0"/>
                  </a:moveTo>
                  <a:lnTo>
                    <a:pt x="10147809" y="0"/>
                  </a:lnTo>
                  <a:lnTo>
                    <a:pt x="10147809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455" r="-19518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147841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>
                <a:lnSpc>
                  <a:spcPts val="2160"/>
                </a:lnSpc>
              </a:pPr>
              <a:r>
                <a:rPr lang="en-US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*</a:t>
              </a:r>
              <a:r>
                <a:rPr lang="vi-VN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Chương </a:t>
              </a:r>
              <a:r>
                <a:rPr lang="vi-V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trình có thể thay đổi mà không cần thông báo trước. </a:t>
              </a:r>
              <a:r>
                <a:rPr lang="en-US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/>
              </a:r>
              <a:br>
                <a:rPr lang="en-US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vi-VN" dirty="0" smtClean="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Ngôn </a:t>
              </a:r>
              <a:r>
                <a:rPr lang="vi-VN" dirty="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ngữ chính của hội nghị sẽ là tiếng Hàn và tiếng Anh, kèm theo phiên dịch tiếng Việt trong điều kiện cho phép.</a:t>
              </a:r>
              <a:endParaRPr lang="en-US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3975" y="1920650"/>
            <a:ext cx="8027805" cy="6021162"/>
            <a:chOff x="0" y="0"/>
            <a:chExt cx="10703739" cy="80282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03740" cy="8028178"/>
            </a:xfrm>
            <a:custGeom>
              <a:avLst/>
              <a:gdLst/>
              <a:ahLst/>
              <a:cxnLst/>
              <a:rect l="l" t="t" r="r" b="b"/>
              <a:pathLst>
                <a:path w="10703740" h="8028178">
                  <a:moveTo>
                    <a:pt x="0" y="0"/>
                  </a:moveTo>
                  <a:lnTo>
                    <a:pt x="10703740" y="0"/>
                  </a:lnTo>
                  <a:lnTo>
                    <a:pt x="10703740" y="8028178"/>
                  </a:lnTo>
                  <a:lnTo>
                    <a:pt x="0" y="80281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29" r="-48735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10" name="AutoShape 10"/>
          <p:cNvSpPr/>
          <p:nvPr/>
        </p:nvSpPr>
        <p:spPr>
          <a:xfrm rot="2700000">
            <a:off x="3898649" y="86405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3920900" y="1179376"/>
            <a:ext cx="1914525" cy="671874"/>
            <a:chOff x="0" y="0"/>
            <a:chExt cx="2552700" cy="8958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52700" cy="895858"/>
            </a:xfrm>
            <a:custGeom>
              <a:avLst/>
              <a:gdLst/>
              <a:ahLst/>
              <a:cxnLst/>
              <a:rect l="l" t="t" r="r" b="b"/>
              <a:pathLst>
                <a:path w="2552700" h="895858">
                  <a:moveTo>
                    <a:pt x="0" y="0"/>
                  </a:moveTo>
                  <a:lnTo>
                    <a:pt x="2552700" y="0"/>
                  </a:lnTo>
                  <a:lnTo>
                    <a:pt x="2552700" y="895858"/>
                  </a:lnTo>
                  <a:lnTo>
                    <a:pt x="0" y="895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3" b="-552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13" name="AutoShape 13"/>
          <p:cNvSpPr/>
          <p:nvPr/>
        </p:nvSpPr>
        <p:spPr>
          <a:xfrm rot="2700000">
            <a:off x="3898649" y="86405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9413405" y="1028700"/>
            <a:ext cx="2626195" cy="468269"/>
            <a:chOff x="0" y="0"/>
            <a:chExt cx="4147452" cy="6243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47439" cy="624371"/>
            </a:xfrm>
            <a:custGeom>
              <a:avLst/>
              <a:gdLst/>
              <a:ahLst/>
              <a:cxnLst/>
              <a:rect l="l" t="t" r="r" b="b"/>
              <a:pathLst>
                <a:path w="4147439" h="624371">
                  <a:moveTo>
                    <a:pt x="0" y="0"/>
                  </a:moveTo>
                  <a:lnTo>
                    <a:pt x="4147439" y="0"/>
                  </a:lnTo>
                  <a:lnTo>
                    <a:pt x="4147439" y="624371"/>
                  </a:lnTo>
                  <a:lnTo>
                    <a:pt x="0" y="624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137" b="-7872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147452" cy="63388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err="1" smtClean="0">
                  <a:solidFill>
                    <a:srgbClr val="000000"/>
                  </a:solidFill>
                  <a:latin typeface="+mj-lt"/>
                  <a:ea typeface="Aptos Bold"/>
                  <a:cs typeface="Times New Roman" panose="02020603050405020304" pitchFamily="18" charset="0"/>
                  <a:sym typeface="Aptos Bold"/>
                </a:rPr>
                <a:t>Nội</a:t>
              </a:r>
              <a:r>
                <a:rPr lang="en-US" sz="2100" b="1" dirty="0" smtClean="0">
                  <a:solidFill>
                    <a:srgbClr val="000000"/>
                  </a:solidFill>
                  <a:latin typeface="+mj-lt"/>
                  <a:ea typeface="Aptos Bold"/>
                  <a:cs typeface="Times New Roman" panose="02020603050405020304" pitchFamily="18" charset="0"/>
                  <a:sym typeface="Aptos Bold"/>
                </a:rPr>
                <a:t> dung </a:t>
              </a:r>
              <a:r>
                <a:rPr lang="en-US" sz="2100" b="1" dirty="0" err="1" smtClean="0">
                  <a:solidFill>
                    <a:srgbClr val="000000"/>
                  </a:solidFill>
                  <a:latin typeface="+mj-lt"/>
                  <a:ea typeface="Aptos Bold"/>
                  <a:cs typeface="Times New Roman" panose="02020603050405020304" pitchFamily="18" charset="0"/>
                  <a:sym typeface="Aptos Bold"/>
                </a:rPr>
                <a:t>chương</a:t>
              </a:r>
              <a:r>
                <a:rPr lang="en-US" sz="2100" b="1" dirty="0" smtClean="0">
                  <a:solidFill>
                    <a:srgbClr val="000000"/>
                  </a:solidFill>
                  <a:latin typeface="+mj-lt"/>
                  <a:ea typeface="Aptos Bold"/>
                  <a:cs typeface="Times New Roman" panose="02020603050405020304" pitchFamily="18" charset="0"/>
                  <a:sym typeface="Aptos Bold"/>
                </a:rPr>
                <a:t> </a:t>
              </a:r>
              <a:r>
                <a:rPr lang="en-US" sz="2100" b="1" dirty="0" err="1" smtClean="0">
                  <a:solidFill>
                    <a:srgbClr val="000000"/>
                  </a:solidFill>
                  <a:latin typeface="+mj-lt"/>
                  <a:ea typeface="Aptos Bold"/>
                  <a:cs typeface="Times New Roman" panose="02020603050405020304" pitchFamily="18" charset="0"/>
                  <a:sym typeface="Aptos Bold"/>
                </a:rPr>
                <a:t>trình</a:t>
              </a:r>
              <a:endParaRPr lang="en-US" sz="2100" b="1" dirty="0">
                <a:solidFill>
                  <a:srgbClr val="000000"/>
                </a:solidFill>
                <a:latin typeface="+mj-lt"/>
                <a:ea typeface="Aptos Bold"/>
                <a:cs typeface="Times New Roman" panose="02020603050405020304" pitchFamily="18" charset="0"/>
                <a:sym typeface="Aptos Bold"/>
              </a:endParaRPr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5835425" y="1262835"/>
            <a:ext cx="3577981" cy="252479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2181901" y="9040720"/>
            <a:ext cx="5147586" cy="700897"/>
            <a:chOff x="0" y="0"/>
            <a:chExt cx="6863448" cy="9345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63461" cy="934593"/>
            </a:xfrm>
            <a:custGeom>
              <a:avLst/>
              <a:gdLst/>
              <a:ahLst/>
              <a:cxnLst/>
              <a:rect l="l" t="t" r="r" b="b"/>
              <a:pathLst>
                <a:path w="6863461" h="934593">
                  <a:moveTo>
                    <a:pt x="0" y="0"/>
                  </a:moveTo>
                  <a:lnTo>
                    <a:pt x="6863461" y="0"/>
                  </a:lnTo>
                  <a:lnTo>
                    <a:pt x="6863461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097" b="-9309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1" name="AutoShape 21"/>
          <p:cNvSpPr/>
          <p:nvPr/>
        </p:nvSpPr>
        <p:spPr>
          <a:xfrm>
            <a:off x="7300913" y="9376872"/>
            <a:ext cx="2112492" cy="149484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793975" y="7996685"/>
            <a:ext cx="5147586" cy="700897"/>
            <a:chOff x="0" y="0"/>
            <a:chExt cx="6863448" cy="9345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63461" cy="934593"/>
            </a:xfrm>
            <a:custGeom>
              <a:avLst/>
              <a:gdLst/>
              <a:ahLst/>
              <a:cxnLst/>
              <a:rect l="l" t="t" r="r" b="b"/>
              <a:pathLst>
                <a:path w="6863461" h="934593">
                  <a:moveTo>
                    <a:pt x="0" y="0"/>
                  </a:moveTo>
                  <a:lnTo>
                    <a:pt x="6863461" y="0"/>
                  </a:lnTo>
                  <a:lnTo>
                    <a:pt x="6863461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097" b="-9309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4" name="AutoShape 24"/>
          <p:cNvSpPr/>
          <p:nvPr/>
        </p:nvSpPr>
        <p:spPr>
          <a:xfrm>
            <a:off x="5941571" y="8411689"/>
            <a:ext cx="3471834" cy="711839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5987393" y="368276"/>
            <a:ext cx="230060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Vietnamese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57740" y="8955598"/>
            <a:ext cx="10124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 có mặt, bài phát biểu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mạc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sẽ do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Samsung SDS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Kooil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đảm nhiệm.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5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774" y="263604"/>
            <a:ext cx="6032630" cy="4727496"/>
            <a:chOff x="0" y="0"/>
            <a:chExt cx="8043507" cy="63033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43545" cy="6303264"/>
            </a:xfrm>
            <a:custGeom>
              <a:avLst/>
              <a:gdLst/>
              <a:ahLst/>
              <a:cxnLst/>
              <a:rect l="l" t="t" r="r" b="b"/>
              <a:pathLst>
                <a:path w="8043545" h="6303264">
                  <a:moveTo>
                    <a:pt x="0" y="0"/>
                  </a:moveTo>
                  <a:lnTo>
                    <a:pt x="8043545" y="0"/>
                  </a:lnTo>
                  <a:lnTo>
                    <a:pt x="8043545" y="6303264"/>
                  </a:lnTo>
                  <a:lnTo>
                    <a:pt x="0" y="6303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54774" y="5143500"/>
            <a:ext cx="6063682" cy="4727496"/>
            <a:chOff x="0" y="0"/>
            <a:chExt cx="8084909" cy="63033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84947" cy="6303391"/>
            </a:xfrm>
            <a:custGeom>
              <a:avLst/>
              <a:gdLst/>
              <a:ahLst/>
              <a:cxnLst/>
              <a:rect l="l" t="t" r="r" b="b"/>
              <a:pathLst>
                <a:path w="8084947" h="6303391">
                  <a:moveTo>
                    <a:pt x="0" y="0"/>
                  </a:moveTo>
                  <a:lnTo>
                    <a:pt x="8084947" y="0"/>
                  </a:lnTo>
                  <a:lnTo>
                    <a:pt x="8084947" y="6303391"/>
                  </a:lnTo>
                  <a:lnTo>
                    <a:pt x="0" y="630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 flipH="1">
            <a:off x="6082575" y="1585767"/>
            <a:ext cx="7244997" cy="13005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6994556" y="4566464"/>
            <a:ext cx="4127561" cy="4546299"/>
          </a:xfrm>
          <a:custGeom>
            <a:avLst/>
            <a:gdLst/>
            <a:ahLst/>
            <a:cxnLst/>
            <a:rect l="l" t="t" r="r" b="b"/>
            <a:pathLst>
              <a:path w="4127561" h="4546299">
                <a:moveTo>
                  <a:pt x="0" y="0"/>
                </a:moveTo>
                <a:lnTo>
                  <a:pt x="4127562" y="0"/>
                </a:lnTo>
                <a:lnTo>
                  <a:pt x="4127562" y="4546299"/>
                </a:lnTo>
                <a:lnTo>
                  <a:pt x="0" y="4546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00657" y="6334687"/>
            <a:ext cx="2034018" cy="2239655"/>
          </a:xfrm>
          <a:custGeom>
            <a:avLst/>
            <a:gdLst/>
            <a:ahLst/>
            <a:cxnLst/>
            <a:rect l="l" t="t" r="r" b="b"/>
            <a:pathLst>
              <a:path w="2034018" h="2239655">
                <a:moveTo>
                  <a:pt x="0" y="0"/>
                </a:moveTo>
                <a:lnTo>
                  <a:pt x="2034018" y="0"/>
                </a:lnTo>
                <a:lnTo>
                  <a:pt x="2034018" y="2239654"/>
                </a:lnTo>
                <a:lnTo>
                  <a:pt x="0" y="2239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4179" t="-11467" r="-78742" b="-17474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327572" y="2235111"/>
            <a:ext cx="2052913" cy="430523"/>
            <a:chOff x="0" y="0"/>
            <a:chExt cx="2737217" cy="5740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37208" cy="574004"/>
            </a:xfrm>
            <a:custGeom>
              <a:avLst/>
              <a:gdLst/>
              <a:ahLst/>
              <a:cxnLst/>
              <a:rect l="l" t="t" r="r" b="b"/>
              <a:pathLst>
                <a:path w="2737208" h="574004">
                  <a:moveTo>
                    <a:pt x="0" y="0"/>
                  </a:moveTo>
                  <a:lnTo>
                    <a:pt x="2737208" y="0"/>
                  </a:lnTo>
                  <a:lnTo>
                    <a:pt x="2737208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343098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737217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1st Prize (1 winner)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820842" y="5861302"/>
            <a:ext cx="2193648" cy="430523"/>
            <a:chOff x="0" y="0"/>
            <a:chExt cx="2924864" cy="5740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4854" cy="574004"/>
            </a:xfrm>
            <a:custGeom>
              <a:avLst/>
              <a:gdLst/>
              <a:ahLst/>
              <a:cxnLst/>
              <a:rect l="l" t="t" r="r" b="b"/>
              <a:pathLst>
                <a:path w="2924854" h="574004">
                  <a:moveTo>
                    <a:pt x="0" y="0"/>
                  </a:moveTo>
                  <a:lnTo>
                    <a:pt x="2924854" y="0"/>
                  </a:lnTo>
                  <a:lnTo>
                    <a:pt x="2924854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314671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24864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2nd Prize (3 winners)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015128" y="5861302"/>
            <a:ext cx="2367165" cy="430523"/>
            <a:chOff x="0" y="0"/>
            <a:chExt cx="3156220" cy="5740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56210" cy="574004"/>
            </a:xfrm>
            <a:custGeom>
              <a:avLst/>
              <a:gdLst/>
              <a:ahLst/>
              <a:cxnLst/>
              <a:rect l="l" t="t" r="r" b="b"/>
              <a:pathLst>
                <a:path w="3156210" h="574004">
                  <a:moveTo>
                    <a:pt x="0" y="0"/>
                  </a:moveTo>
                  <a:lnTo>
                    <a:pt x="3156210" y="0"/>
                  </a:lnTo>
                  <a:lnTo>
                    <a:pt x="3156210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284275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156220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3rd Prize (10 winners)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227299" y="2779934"/>
            <a:ext cx="2065445" cy="2309440"/>
          </a:xfrm>
          <a:custGeom>
            <a:avLst/>
            <a:gdLst/>
            <a:ahLst/>
            <a:cxnLst/>
            <a:rect l="l" t="t" r="r" b="b"/>
            <a:pathLst>
              <a:path w="2065445" h="2309440">
                <a:moveTo>
                  <a:pt x="0" y="0"/>
                </a:moveTo>
                <a:lnTo>
                  <a:pt x="2065446" y="0"/>
                </a:lnTo>
                <a:lnTo>
                  <a:pt x="2065446" y="2309440"/>
                </a:lnTo>
                <a:lnTo>
                  <a:pt x="0" y="23094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711" t="-16247" r="-109469" b="-8440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961753" y="5202179"/>
            <a:ext cx="2801961" cy="430523"/>
            <a:chOff x="0" y="0"/>
            <a:chExt cx="3735948" cy="574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35937" cy="574004"/>
            </a:xfrm>
            <a:custGeom>
              <a:avLst/>
              <a:gdLst/>
              <a:ahLst/>
              <a:cxnLst/>
              <a:rect l="l" t="t" r="r" b="b"/>
              <a:pathLst>
                <a:path w="3735937" h="574004">
                  <a:moveTo>
                    <a:pt x="0" y="0"/>
                  </a:moveTo>
                  <a:lnTo>
                    <a:pt x="3735937" y="0"/>
                  </a:lnTo>
                  <a:lnTo>
                    <a:pt x="3735937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224645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735948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Samsung Galaxy S26 256GB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169464" y="6415746"/>
            <a:ext cx="2058492" cy="2077536"/>
          </a:xfrm>
          <a:custGeom>
            <a:avLst/>
            <a:gdLst/>
            <a:ahLst/>
            <a:cxnLst/>
            <a:rect l="l" t="t" r="r" b="b"/>
            <a:pathLst>
              <a:path w="2058492" h="2077536">
                <a:moveTo>
                  <a:pt x="0" y="0"/>
                </a:moveTo>
                <a:lnTo>
                  <a:pt x="2058493" y="0"/>
                </a:lnTo>
                <a:lnTo>
                  <a:pt x="2058493" y="2077536"/>
                </a:lnTo>
                <a:lnTo>
                  <a:pt x="0" y="20775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1700379" y="8617204"/>
            <a:ext cx="2434574" cy="430523"/>
            <a:chOff x="0" y="0"/>
            <a:chExt cx="3246099" cy="57403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46089" cy="574004"/>
            </a:xfrm>
            <a:custGeom>
              <a:avLst/>
              <a:gdLst/>
              <a:ahLst/>
              <a:cxnLst/>
              <a:rect l="l" t="t" r="r" b="b"/>
              <a:pathLst>
                <a:path w="3246089" h="574004">
                  <a:moveTo>
                    <a:pt x="0" y="0"/>
                  </a:moveTo>
                  <a:lnTo>
                    <a:pt x="3246089" y="0"/>
                  </a:lnTo>
                  <a:lnTo>
                    <a:pt x="3246089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273635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3246099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Samsung Galaxy Buds4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858853" y="8617204"/>
            <a:ext cx="2679715" cy="430523"/>
            <a:chOff x="0" y="0"/>
            <a:chExt cx="3572954" cy="5740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72943" cy="574004"/>
            </a:xfrm>
            <a:custGeom>
              <a:avLst/>
              <a:gdLst/>
              <a:ahLst/>
              <a:cxnLst/>
              <a:rect l="l" t="t" r="r" b="b"/>
              <a:pathLst>
                <a:path w="3572943" h="574004">
                  <a:moveTo>
                    <a:pt x="0" y="0"/>
                  </a:moveTo>
                  <a:lnTo>
                    <a:pt x="3572943" y="0"/>
                  </a:lnTo>
                  <a:lnTo>
                    <a:pt x="3572943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239455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3572954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VinID Vouchers (1M VND)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403430" y="590960"/>
            <a:ext cx="2425673" cy="671874"/>
            <a:chOff x="0" y="0"/>
            <a:chExt cx="3234230" cy="8958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34230" cy="895858"/>
            </a:xfrm>
            <a:custGeom>
              <a:avLst/>
              <a:gdLst/>
              <a:ahLst/>
              <a:cxnLst/>
              <a:rect l="l" t="t" r="r" b="b"/>
              <a:pathLst>
                <a:path w="3234230" h="895858">
                  <a:moveTo>
                    <a:pt x="0" y="0"/>
                  </a:moveTo>
                  <a:lnTo>
                    <a:pt x="3234230" y="0"/>
                  </a:lnTo>
                  <a:lnTo>
                    <a:pt x="3234230" y="895858"/>
                  </a:lnTo>
                  <a:lnTo>
                    <a:pt x="0" y="895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523" r="21072" b="-552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1" name="AutoShape 31"/>
          <p:cNvSpPr/>
          <p:nvPr/>
        </p:nvSpPr>
        <p:spPr>
          <a:xfrm>
            <a:off x="4829103" y="926897"/>
            <a:ext cx="8498469" cy="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3327572" y="711636"/>
            <a:ext cx="3588828" cy="430523"/>
            <a:chOff x="0" y="0"/>
            <a:chExt cx="2890588" cy="57403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890578" cy="574004"/>
            </a:xfrm>
            <a:custGeom>
              <a:avLst/>
              <a:gdLst/>
              <a:ahLst/>
              <a:cxnLst/>
              <a:rect l="l" t="t" r="r" b="b"/>
              <a:pathLst>
                <a:path w="2890578" h="574004">
                  <a:moveTo>
                    <a:pt x="0" y="0"/>
                  </a:moveTo>
                  <a:lnTo>
                    <a:pt x="2890578" y="0"/>
                  </a:lnTo>
                  <a:lnTo>
                    <a:pt x="2890578" y="574004"/>
                  </a:lnTo>
                  <a:lnTo>
                    <a:pt x="0" y="5740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3455" r="-319588" b="-35997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890588" cy="593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Chương</a:t>
              </a:r>
              <a:r>
                <a:rPr lang="en-US" sz="18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trình</a:t>
              </a:r>
              <a:r>
                <a:rPr lang="en-US" sz="18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rút</a:t>
              </a:r>
              <a:r>
                <a:rPr lang="en-US" sz="18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thăm</a:t>
              </a:r>
              <a:r>
                <a:rPr lang="en-US" sz="18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may </a:t>
              </a:r>
              <a:r>
                <a:rPr lang="en-US" sz="18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mắn</a:t>
              </a:r>
              <a:endPara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5417" y="1262835"/>
            <a:ext cx="4937158" cy="671874"/>
            <a:chOff x="0" y="0"/>
            <a:chExt cx="6582878" cy="8958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582877" cy="895858"/>
            </a:xfrm>
            <a:custGeom>
              <a:avLst/>
              <a:gdLst/>
              <a:ahLst/>
              <a:cxnLst/>
              <a:rect l="l" t="t" r="r" b="b"/>
              <a:pathLst>
                <a:path w="6582877" h="895858">
                  <a:moveTo>
                    <a:pt x="0" y="0"/>
                  </a:moveTo>
                  <a:lnTo>
                    <a:pt x="6582877" y="0"/>
                  </a:lnTo>
                  <a:lnTo>
                    <a:pt x="6582877" y="895858"/>
                  </a:lnTo>
                  <a:lnTo>
                    <a:pt x="0" y="895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523" r="61222" b="-552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47688" y="2016036"/>
            <a:ext cx="4934887" cy="2550427"/>
            <a:chOff x="0" y="0"/>
            <a:chExt cx="6805495" cy="351718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805495" cy="3517212"/>
            </a:xfrm>
            <a:custGeom>
              <a:avLst/>
              <a:gdLst/>
              <a:ahLst/>
              <a:cxnLst/>
              <a:rect l="l" t="t" r="r" b="b"/>
              <a:pathLst>
                <a:path w="6805495" h="3517212">
                  <a:moveTo>
                    <a:pt x="0" y="0"/>
                  </a:moveTo>
                  <a:lnTo>
                    <a:pt x="6805495" y="0"/>
                  </a:lnTo>
                  <a:lnTo>
                    <a:pt x="6805495" y="3517212"/>
                  </a:lnTo>
                  <a:lnTo>
                    <a:pt x="0" y="35172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406" r="62490" b="73123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9" name="AutoShape 39"/>
          <p:cNvSpPr/>
          <p:nvPr/>
        </p:nvSpPr>
        <p:spPr>
          <a:xfrm flipH="1">
            <a:off x="6081752" y="3207142"/>
            <a:ext cx="7088153" cy="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13327572" y="1368504"/>
            <a:ext cx="5341428" cy="434524"/>
            <a:chOff x="0" y="0"/>
            <a:chExt cx="4274945" cy="57936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74932" cy="579339"/>
            </a:xfrm>
            <a:custGeom>
              <a:avLst/>
              <a:gdLst/>
              <a:ahLst/>
              <a:cxnLst/>
              <a:rect l="l" t="t" r="r" b="b"/>
              <a:pathLst>
                <a:path w="4274932" h="579339">
                  <a:moveTo>
                    <a:pt x="0" y="0"/>
                  </a:moveTo>
                  <a:lnTo>
                    <a:pt x="4274932" y="0"/>
                  </a:lnTo>
                  <a:lnTo>
                    <a:pt x="4274932" y="579339"/>
                  </a:lnTo>
                  <a:lnTo>
                    <a:pt x="0" y="5793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0108" r="-183713" b="-35573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4274945" cy="59841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>
                <a:lnSpc>
                  <a:spcPts val="2160"/>
                </a:lnSpc>
              </a:pP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Nhiều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phần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quà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giá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trị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đang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chờ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đón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quý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khách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!</a:t>
              </a:r>
            </a:p>
            <a:p>
              <a:pPr>
                <a:lnSpc>
                  <a:spcPts val="2160"/>
                </a:lnSpc>
              </a:pPr>
              <a:endPara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994556" y="4060860"/>
            <a:ext cx="3700033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For example, 2025: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987393" y="368276"/>
            <a:ext cx="230060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Vietnamese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774" y="263604"/>
            <a:ext cx="6032630" cy="4727496"/>
            <a:chOff x="0" y="0"/>
            <a:chExt cx="8043507" cy="63033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43545" cy="6303264"/>
            </a:xfrm>
            <a:custGeom>
              <a:avLst/>
              <a:gdLst/>
              <a:ahLst/>
              <a:cxnLst/>
              <a:rect l="l" t="t" r="r" b="b"/>
              <a:pathLst>
                <a:path w="8043545" h="6303264">
                  <a:moveTo>
                    <a:pt x="0" y="0"/>
                  </a:moveTo>
                  <a:lnTo>
                    <a:pt x="8043545" y="0"/>
                  </a:lnTo>
                  <a:lnTo>
                    <a:pt x="8043545" y="6303264"/>
                  </a:lnTo>
                  <a:lnTo>
                    <a:pt x="0" y="6303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54774" y="5143500"/>
            <a:ext cx="6063682" cy="4727496"/>
            <a:chOff x="0" y="0"/>
            <a:chExt cx="8084909" cy="63033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84947" cy="6303391"/>
            </a:xfrm>
            <a:custGeom>
              <a:avLst/>
              <a:gdLst/>
              <a:ahLst/>
              <a:cxnLst/>
              <a:rect l="l" t="t" r="r" b="b"/>
              <a:pathLst>
                <a:path w="8084947" h="6303391">
                  <a:moveTo>
                    <a:pt x="0" y="0"/>
                  </a:moveTo>
                  <a:lnTo>
                    <a:pt x="8084947" y="0"/>
                  </a:lnTo>
                  <a:lnTo>
                    <a:pt x="8084947" y="6303391"/>
                  </a:lnTo>
                  <a:lnTo>
                    <a:pt x="0" y="630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098682" y="8188525"/>
            <a:ext cx="9085351" cy="1435726"/>
            <a:chOff x="0" y="0"/>
            <a:chExt cx="12113801" cy="19143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13747" cy="1914340"/>
            </a:xfrm>
            <a:custGeom>
              <a:avLst/>
              <a:gdLst/>
              <a:ahLst/>
              <a:cxnLst/>
              <a:rect l="l" t="t" r="r" b="b"/>
              <a:pathLst>
                <a:path w="12113747" h="1914340">
                  <a:moveTo>
                    <a:pt x="0" y="0"/>
                  </a:moveTo>
                  <a:lnTo>
                    <a:pt x="12113747" y="0"/>
                  </a:lnTo>
                  <a:lnTo>
                    <a:pt x="12113747" y="1914340"/>
                  </a:lnTo>
                  <a:lnTo>
                    <a:pt x="0" y="19143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6781" r="7450" b="-4144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113801" cy="19333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InterContinental Hanoi Landmark72</a:t>
              </a:r>
            </a:p>
            <a:p>
              <a:pPr>
                <a:lnSpc>
                  <a:spcPts val="2520"/>
                </a:lnSpc>
              </a:pP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Tọa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lạc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tại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Keangnam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Landmark Tower 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72</a:t>
              </a:r>
              <a:b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r>
                <a:rPr lang="vi-VN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òa </a:t>
              </a:r>
              <a:r>
                <a:rPr lang="vi-VN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Keangnam Hanoi Landmark, lô E6, khu đô thị mới Cầu Giấy, phường Yên Hòa, Hà Nội, Việt Nam</a:t>
              </a:r>
              <a:endPara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1364" y="5463950"/>
            <a:ext cx="4812849" cy="649434"/>
            <a:chOff x="0" y="0"/>
            <a:chExt cx="6417132" cy="8659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17183" cy="865886"/>
            </a:xfrm>
            <a:custGeom>
              <a:avLst/>
              <a:gdLst/>
              <a:ahLst/>
              <a:cxnLst/>
              <a:rect l="l" t="t" r="r" b="b"/>
              <a:pathLst>
                <a:path w="6417183" h="865886">
                  <a:moveTo>
                    <a:pt x="0" y="0"/>
                  </a:moveTo>
                  <a:lnTo>
                    <a:pt x="6417183" y="0"/>
                  </a:lnTo>
                  <a:lnTo>
                    <a:pt x="6417183" y="865886"/>
                  </a:lnTo>
                  <a:lnTo>
                    <a:pt x="0" y="8658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403" b="-94406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098682" y="1228137"/>
            <a:ext cx="1508103" cy="617209"/>
            <a:chOff x="0" y="0"/>
            <a:chExt cx="2010804" cy="8229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10791" cy="822903"/>
            </a:xfrm>
            <a:custGeom>
              <a:avLst/>
              <a:gdLst/>
              <a:ahLst/>
              <a:cxnLst/>
              <a:rect l="l" t="t" r="r" b="b"/>
              <a:pathLst>
                <a:path w="2010791" h="822903">
                  <a:moveTo>
                    <a:pt x="0" y="0"/>
                  </a:moveTo>
                  <a:lnTo>
                    <a:pt x="2010791" y="0"/>
                  </a:lnTo>
                  <a:lnTo>
                    <a:pt x="2010791" y="822903"/>
                  </a:lnTo>
                  <a:lnTo>
                    <a:pt x="0" y="8229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30" b="750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10804" cy="84199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Location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5974213" y="1536741"/>
            <a:ext cx="2124469" cy="4251925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161364" y="6208614"/>
            <a:ext cx="4812849" cy="2277837"/>
            <a:chOff x="0" y="0"/>
            <a:chExt cx="6417132" cy="30371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17183" cy="3037078"/>
            </a:xfrm>
            <a:custGeom>
              <a:avLst/>
              <a:gdLst/>
              <a:ahLst/>
              <a:cxnLst/>
              <a:rect l="l" t="t" r="r" b="b"/>
              <a:pathLst>
                <a:path w="6417183" h="3037078">
                  <a:moveTo>
                    <a:pt x="0" y="0"/>
                  </a:moveTo>
                  <a:lnTo>
                    <a:pt x="6417183" y="0"/>
                  </a:lnTo>
                  <a:lnTo>
                    <a:pt x="6417183" y="3037078"/>
                  </a:lnTo>
                  <a:lnTo>
                    <a:pt x="0" y="30370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723" r="-10722" b="-1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64665" y="8581701"/>
            <a:ext cx="4812849" cy="995401"/>
            <a:chOff x="0" y="0"/>
            <a:chExt cx="6417132" cy="13272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417183" cy="1327150"/>
            </a:xfrm>
            <a:custGeom>
              <a:avLst/>
              <a:gdLst/>
              <a:ahLst/>
              <a:cxnLst/>
              <a:rect l="l" t="t" r="r" b="b"/>
              <a:pathLst>
                <a:path w="6417183" h="1327150">
                  <a:moveTo>
                    <a:pt x="0" y="0"/>
                  </a:moveTo>
                  <a:lnTo>
                    <a:pt x="6417183" y="0"/>
                  </a:lnTo>
                  <a:lnTo>
                    <a:pt x="6417183" y="1327150"/>
                  </a:lnTo>
                  <a:lnTo>
                    <a:pt x="0" y="1327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213" b="-4421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19" name="AutoShape 19"/>
          <p:cNvSpPr/>
          <p:nvPr/>
        </p:nvSpPr>
        <p:spPr>
          <a:xfrm flipH="1">
            <a:off x="5977514" y="8906388"/>
            <a:ext cx="2121168" cy="173013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8098682" y="2226821"/>
            <a:ext cx="9085351" cy="5514029"/>
            <a:chOff x="0" y="0"/>
            <a:chExt cx="14880120" cy="90309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80082" cy="9030970"/>
            </a:xfrm>
            <a:custGeom>
              <a:avLst/>
              <a:gdLst/>
              <a:ahLst/>
              <a:cxnLst/>
              <a:rect l="l" t="t" r="r" b="b"/>
              <a:pathLst>
                <a:path w="14880082" h="9030970">
                  <a:moveTo>
                    <a:pt x="0" y="0"/>
                  </a:moveTo>
                  <a:lnTo>
                    <a:pt x="14880082" y="0"/>
                  </a:lnTo>
                  <a:lnTo>
                    <a:pt x="14880082" y="9030970"/>
                  </a:lnTo>
                  <a:lnTo>
                    <a:pt x="0" y="9030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247" r="-12247"/>
              </a:stretch>
            </a:blipFill>
          </p:spPr>
        </p:sp>
      </p:grpSp>
      <p:sp>
        <p:nvSpPr>
          <p:cNvPr id="22" name="AutoShape 22"/>
          <p:cNvSpPr/>
          <p:nvPr/>
        </p:nvSpPr>
        <p:spPr>
          <a:xfrm flipV="1">
            <a:off x="5974213" y="4983835"/>
            <a:ext cx="2124469" cy="2363697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15987393" y="368276"/>
            <a:ext cx="230060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Vietnamese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890798" y="3252791"/>
            <a:ext cx="5368502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Keep the same form.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FF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We are also gathering participants from this page.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591086" y="398669"/>
            <a:ext cx="8759457" cy="9888331"/>
            <a:chOff x="0" y="0"/>
            <a:chExt cx="11679276" cy="131844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79301" cy="13184378"/>
            </a:xfrm>
            <a:custGeom>
              <a:avLst/>
              <a:gdLst/>
              <a:ahLst/>
              <a:cxnLst/>
              <a:rect l="l" t="t" r="r" b="b"/>
              <a:pathLst>
                <a:path w="11679301" h="13184378">
                  <a:moveTo>
                    <a:pt x="0" y="0"/>
                  </a:moveTo>
                  <a:lnTo>
                    <a:pt x="11679301" y="0"/>
                  </a:lnTo>
                  <a:lnTo>
                    <a:pt x="11679301" y="13184378"/>
                  </a:lnTo>
                  <a:lnTo>
                    <a:pt x="0" y="13184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5987393" y="368276"/>
            <a:ext cx="230060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Vietnamese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1245</Words>
  <Application>Microsoft Office PowerPoint</Application>
  <PresentationFormat>사용자 지정</PresentationFormat>
  <Paragraphs>146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Arial</vt:lpstr>
      <vt:lpstr>Calibri</vt:lpstr>
      <vt:lpstr>Aptos Bold</vt:lpstr>
      <vt:lpstr>Times New Roman</vt:lpstr>
      <vt:lpstr>Arimo</vt:lpstr>
      <vt:lpstr>Aptos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- Promotional Page - Cello Square Conference 2026.pptx</dc:title>
  <dc:creator>SDS</dc:creator>
  <cp:lastModifiedBy>SDS</cp:lastModifiedBy>
  <cp:revision>15</cp:revision>
  <dcterms:created xsi:type="dcterms:W3CDTF">2006-08-16T00:00:00Z</dcterms:created>
  <dcterms:modified xsi:type="dcterms:W3CDTF">2026-06-25T07:01:17Z</dcterms:modified>
  <dc:identifier>DAHMyfIBDs8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6702B66554776F3956C606272CF7E4847EF0D7832A76169BBC6520F5AB3BAD55D7262106BF0811ED7046B61F17F7955D4D4A50B346EDB99A26BBE2CC4AD5F236</vt:lpwstr>
  </property>
</Properties>
</file>