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84" r:id="rId2"/>
    <p:sldId id="283" r:id="rId3"/>
    <p:sldId id="282" r:id="rId4"/>
    <p:sldId id="259" r:id="rId5"/>
    <p:sldId id="261" r:id="rId6"/>
    <p:sldId id="260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3" r:id="rId16"/>
    <p:sldId id="272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AD2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13" autoAdjust="0"/>
    <p:restoredTop sz="94660"/>
  </p:normalViewPr>
  <p:slideViewPr>
    <p:cSldViewPr snapToGrid="0">
      <p:cViewPr>
        <p:scale>
          <a:sx n="100" d="100"/>
          <a:sy n="100" d="100"/>
        </p:scale>
        <p:origin x="2032" y="1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955CA9-6E58-4F0F-927B-E6A082DEF2B9}" type="datetimeFigureOut">
              <a:rPr lang="en-US" smtClean="0"/>
              <a:t>5/21/26</a:t>
            </a:fld>
            <a:endParaRPr 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69DB1F-DCAF-47E3-8197-01DE922C2E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6336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384EB-C3C3-4682-BA2E-19AEDF7B9032}" type="datetimeFigureOut">
              <a:rPr lang="ko-KR" altLang="en-US" smtClean="0"/>
              <a:t>2026. 5. 21.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3A6D3-2F64-4023-89B7-643B2A3CC5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8325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384EB-C3C3-4682-BA2E-19AEDF7B9032}" type="datetimeFigureOut">
              <a:rPr lang="ko-KR" altLang="en-US" smtClean="0"/>
              <a:t>2026. 5. 21.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3A6D3-2F64-4023-89B7-643B2A3CC5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6867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384EB-C3C3-4682-BA2E-19AEDF7B9032}" type="datetimeFigureOut">
              <a:rPr lang="ko-KR" altLang="en-US" smtClean="0"/>
              <a:t>2026. 5. 21.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3A6D3-2F64-4023-89B7-643B2A3CC5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7453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384EB-C3C3-4682-BA2E-19AEDF7B9032}" type="datetimeFigureOut">
              <a:rPr lang="ko-KR" altLang="en-US" smtClean="0"/>
              <a:t>2026. 5. 21.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3A6D3-2F64-4023-89B7-643B2A3CC5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7753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384EB-C3C3-4682-BA2E-19AEDF7B9032}" type="datetimeFigureOut">
              <a:rPr lang="ko-KR" altLang="en-US" smtClean="0"/>
              <a:t>2026. 5. 21.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3A6D3-2F64-4023-89B7-643B2A3CC5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5927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384EB-C3C3-4682-BA2E-19AEDF7B9032}" type="datetimeFigureOut">
              <a:rPr lang="ko-KR" altLang="en-US" smtClean="0"/>
              <a:t>2026. 5. 21.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3A6D3-2F64-4023-89B7-643B2A3CC5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1060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384EB-C3C3-4682-BA2E-19AEDF7B9032}" type="datetimeFigureOut">
              <a:rPr lang="ko-KR" altLang="en-US" smtClean="0"/>
              <a:t>2026. 5. 21.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3A6D3-2F64-4023-89B7-643B2A3CC5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23112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384EB-C3C3-4682-BA2E-19AEDF7B9032}" type="datetimeFigureOut">
              <a:rPr lang="ko-KR" altLang="en-US" smtClean="0"/>
              <a:t>2026. 5. 21.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3A6D3-2F64-4023-89B7-643B2A3CC5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572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384EB-C3C3-4682-BA2E-19AEDF7B9032}" type="datetimeFigureOut">
              <a:rPr lang="ko-KR" altLang="en-US" smtClean="0"/>
              <a:t>2026. 5. 21.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3A6D3-2F64-4023-89B7-643B2A3CC5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2795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384EB-C3C3-4682-BA2E-19AEDF7B9032}" type="datetimeFigureOut">
              <a:rPr lang="ko-KR" altLang="en-US" smtClean="0"/>
              <a:t>2026. 5. 21.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3A6D3-2F64-4023-89B7-643B2A3CC5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3426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384EB-C3C3-4682-BA2E-19AEDF7B9032}" type="datetimeFigureOut">
              <a:rPr lang="ko-KR" altLang="en-US" smtClean="0"/>
              <a:t>2026. 5. 21.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3A6D3-2F64-4023-89B7-643B2A3CC5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1867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1384EB-C3C3-4682-BA2E-19AEDF7B9032}" type="datetimeFigureOut">
              <a:rPr lang="ko-KR" altLang="en-US" smtClean="0"/>
              <a:t>2026. 5. 21.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03A6D3-2F64-4023-89B7-643B2A3CC5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1916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ello-square.com/kr/transportation.do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ello-square.com/kr/company/global-network.do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cello-square.com/kr/company/global-network/US-ko.do" TargetMode="Externa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ello-square.com/kr/company/global-network.do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ello-square.com/kr/company/global-network/VN-ko.do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cellosquare.vn@samsung.com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www.cello-square.com/kr/company/global-network/VN-ko.do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ello-square.com/kr/company/global-network/VN-ko.do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www.cello-square.com/kr/company/global-network/MY-ko.do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ello-square.com/kr/company/global-network/MY-ko.do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ello-square.com/kr/company/global-network/MY-ko.do" TargetMode="External"/><Relationship Id="rId7" Type="http://schemas.openxmlformats.org/officeDocument/2006/relationships/image" Target="../media/image1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ello-square.com/kr/company/global-network/SG-ko.do" TargetMode="External"/><Relationship Id="rId7" Type="http://schemas.openxmlformats.org/officeDocument/2006/relationships/image" Target="../media/image2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hyperlink" Target="https://www.cello-square.com/kr/company/global-network/SG-ko.do" TargetMode="External"/><Relationship Id="rId7" Type="http://schemas.openxmlformats.org/officeDocument/2006/relationships/hyperlink" Target="mailto:jeffrey.kee@partner.samsung.com" TargetMode="Externa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ivan.xu@samsung.com" TargetMode="External"/><Relationship Id="rId5" Type="http://schemas.openxmlformats.org/officeDocument/2006/relationships/hyperlink" Target="mailto:terrance.lee@samsung.com" TargetMode="External"/><Relationship Id="rId4" Type="http://schemas.openxmlformats.org/officeDocument/2006/relationships/hyperlink" Target="mailto:cellosquare.my@samsung.co" TargetMode="External"/><Relationship Id="rId9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hyperlink" Target="https://www.cello-square.com/kr/company/global-network/ID-ko.do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hyperlink" Target="https://www.cello-square.com/kr/company/global-network/ID-ko.do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ello-square.com/kr/company/global-network/ID-ko.do" TargetMode="Externa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hyperlink" Target="https://www.cello-square.com/kr/company/global-network/TH-ko.do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hyperlink" Target="https://www.cello-square.com/kr/company/global-network/TH-ko.do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hyperlink" Target="https://www.cello-square.com/kr/company/global-network/TH-ko.do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ello-square.com/kr/company/global-network/PH-ko.do" TargetMode="External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6.png"/><Relationship Id="rId7" Type="http://schemas.openxmlformats.org/officeDocument/2006/relationships/image" Target="../media/image20.png"/><Relationship Id="rId2" Type="http://schemas.openxmlformats.org/officeDocument/2006/relationships/hyperlink" Target="https://www.cello-square.com/kr/company/global-network/AU-ko.do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21.png"/><Relationship Id="rId4" Type="http://schemas.openxmlformats.org/officeDocument/2006/relationships/image" Target="../media/image3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hyperlink" Target="https://www.cello-square.com/kr/company/global-network/AU-ko.do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ello-square.com/kr/company/global-network/AU-ko.do" TargetMode="External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ello-square.com/kr/company/global-network/CO-ko.do" TargetMode="External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cello-square.com/kr/company/global-network/CL-ko.do" TargetMode="External"/><Relationship Id="rId4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2207192" y="2907441"/>
            <a:ext cx="757935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4500" dirty="0"/>
              <a:t>서안 개발팀</a:t>
            </a:r>
          </a:p>
        </p:txBody>
      </p:sp>
    </p:spTree>
    <p:extLst>
      <p:ext uri="{BB962C8B-B14F-4D97-AF65-F5344CB8AC3E}">
        <p14:creationId xmlns:p14="http://schemas.microsoft.com/office/powerpoint/2010/main" val="29155706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949" y="1380166"/>
            <a:ext cx="7143751" cy="4962098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391179" y="310634"/>
            <a:ext cx="39420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hlinkClick r:id="rId3"/>
              </a:rPr>
              <a:t>국제운송 </a:t>
            </a:r>
            <a:r>
              <a:rPr lang="en-US" altLang="ko-KR" dirty="0">
                <a:hlinkClick r:id="rId3"/>
              </a:rPr>
              <a:t>| </a:t>
            </a:r>
            <a:r>
              <a:rPr lang="ko-KR" altLang="en-US" dirty="0" err="1">
                <a:hlinkClick r:id="rId3"/>
              </a:rPr>
              <a:t>첼로스퀘어</a:t>
            </a:r>
            <a:r>
              <a:rPr lang="en-US" altLang="ko-KR" dirty="0">
                <a:hlinkClick r:id="rId3"/>
              </a:rPr>
              <a:t>(</a:t>
            </a:r>
            <a:r>
              <a:rPr lang="en-US" dirty="0">
                <a:hlinkClick r:id="rId3"/>
              </a:rPr>
              <a:t>Cello Square)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8408006" y="350234"/>
            <a:ext cx="3783994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국영문</a:t>
            </a:r>
            <a:r>
              <a:rPr lang="ko-KR" altLang="en-US" dirty="0"/>
              <a:t> 모두 </a:t>
            </a:r>
            <a:r>
              <a:rPr lang="ko-KR" altLang="en-US" dirty="0" err="1"/>
              <a:t>반영부탁드립니다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9484" y="1560904"/>
            <a:ext cx="4757693" cy="5132981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7678679" y="3272100"/>
            <a:ext cx="1178041" cy="253916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altLang="ko-KR" sz="1050" dirty="0"/>
              <a:t>52</a:t>
            </a:r>
            <a:r>
              <a:rPr lang="ko-KR" altLang="en-US" sz="1050" dirty="0"/>
              <a:t>개 거점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833753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l="10869" r="5946"/>
          <a:stretch/>
        </p:blipFill>
        <p:spPr>
          <a:xfrm>
            <a:off x="1219199" y="1398831"/>
            <a:ext cx="9505951" cy="3851512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342900" y="343585"/>
            <a:ext cx="7848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 err="1">
                <a:hlinkClick r:id="rId3"/>
              </a:rPr>
              <a:t>첼로스퀘어</a:t>
            </a:r>
            <a:r>
              <a:rPr lang="ko-KR" altLang="en-US" dirty="0">
                <a:hlinkClick r:id="rId3"/>
              </a:rPr>
              <a:t> 글로벌 네트워크</a:t>
            </a:r>
            <a:r>
              <a:rPr lang="en-US" altLang="ko-KR" dirty="0">
                <a:hlinkClick r:id="rId3"/>
              </a:rPr>
              <a:t>(Global Network) | </a:t>
            </a:r>
            <a:r>
              <a:rPr lang="ko-KR" altLang="en-US" dirty="0" err="1">
                <a:hlinkClick r:id="rId3"/>
              </a:rPr>
              <a:t>첼로스퀘어</a:t>
            </a:r>
            <a:r>
              <a:rPr lang="en-US" altLang="ko-KR" dirty="0">
                <a:hlinkClick r:id="rId3"/>
              </a:rPr>
              <a:t>(Cello Square)</a:t>
            </a:r>
            <a:endParaRPr 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366" y="6300956"/>
            <a:ext cx="10317015" cy="5182323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342900" y="565462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dirty="0" err="1">
                <a:hlinkClick r:id="rId5"/>
              </a:rPr>
              <a:t>첼로스퀘어</a:t>
            </a:r>
            <a:r>
              <a:rPr lang="ko-KR" altLang="en-US" dirty="0">
                <a:hlinkClick r:id="rId5"/>
              </a:rPr>
              <a:t> 미국 소개 </a:t>
            </a:r>
            <a:r>
              <a:rPr lang="en-US" altLang="ko-KR" dirty="0">
                <a:hlinkClick r:id="rId5"/>
              </a:rPr>
              <a:t>- Global Network | </a:t>
            </a:r>
            <a:r>
              <a:rPr lang="ko-KR" altLang="en-US" dirty="0" err="1">
                <a:hlinkClick r:id="rId5"/>
              </a:rPr>
              <a:t>첼로스퀘어</a:t>
            </a:r>
            <a:r>
              <a:rPr lang="en-US" altLang="ko-KR" dirty="0">
                <a:hlinkClick r:id="rId5"/>
              </a:rPr>
              <a:t>(Cello Square)</a:t>
            </a:r>
            <a:endParaRPr lang="en-US" dirty="0"/>
          </a:p>
        </p:txBody>
      </p:sp>
      <p:sp>
        <p:nvSpPr>
          <p:cNvPr id="8" name="직사각형 7"/>
          <p:cNvSpPr/>
          <p:nvPr/>
        </p:nvSpPr>
        <p:spPr>
          <a:xfrm>
            <a:off x="5014983" y="3126694"/>
            <a:ext cx="4456563" cy="4490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직사각형 8"/>
          <p:cNvSpPr/>
          <p:nvPr/>
        </p:nvSpPr>
        <p:spPr>
          <a:xfrm>
            <a:off x="2481333" y="9466033"/>
            <a:ext cx="4456563" cy="4490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8408006" y="350234"/>
            <a:ext cx="3783994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국영문</a:t>
            </a:r>
            <a:r>
              <a:rPr lang="ko-KR" altLang="en-US" dirty="0"/>
              <a:t> 모두 </a:t>
            </a:r>
            <a:r>
              <a:rPr lang="ko-KR" altLang="en-US" dirty="0" err="1"/>
              <a:t>반영부탁드립니다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1" name="직사각형 10"/>
          <p:cNvSpPr/>
          <p:nvPr/>
        </p:nvSpPr>
        <p:spPr>
          <a:xfrm>
            <a:off x="9589542" y="3206381"/>
            <a:ext cx="5442516" cy="369332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1F497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801 E. Old Settlers Blvd, Round Rock, Texas 78664</a:t>
            </a:r>
            <a:endParaRPr lang="en-US" dirty="0"/>
          </a:p>
        </p:txBody>
      </p:sp>
      <p:sp>
        <p:nvSpPr>
          <p:cNvPr id="12" name="직사각형 11"/>
          <p:cNvSpPr/>
          <p:nvPr/>
        </p:nvSpPr>
        <p:spPr>
          <a:xfrm>
            <a:off x="7243264" y="9545720"/>
            <a:ext cx="5442516" cy="369332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1F497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801 E. Old Settlers Blvd, Round Rock, Texas 78664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9496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t="20230" b="10805"/>
          <a:stretch/>
        </p:blipFill>
        <p:spPr>
          <a:xfrm>
            <a:off x="0" y="1235675"/>
            <a:ext cx="11640064" cy="1767016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354227" y="164927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dirty="0" err="1">
                <a:hlinkClick r:id="rId3"/>
              </a:rPr>
              <a:t>첼로스퀘어</a:t>
            </a:r>
            <a:r>
              <a:rPr lang="ko-KR" altLang="en-US" dirty="0">
                <a:hlinkClick r:id="rId3"/>
              </a:rPr>
              <a:t> 글로벌 네트워크</a:t>
            </a:r>
            <a:r>
              <a:rPr lang="en-US" altLang="ko-KR" dirty="0">
                <a:hlinkClick r:id="rId3"/>
              </a:rPr>
              <a:t>(Global Network) | </a:t>
            </a:r>
            <a:r>
              <a:rPr lang="ko-KR" altLang="en-US" dirty="0" err="1">
                <a:hlinkClick r:id="rId3"/>
              </a:rPr>
              <a:t>첼로스퀘어</a:t>
            </a:r>
            <a:r>
              <a:rPr lang="en-US" altLang="ko-KR" dirty="0">
                <a:hlinkClick r:id="rId3"/>
              </a:rPr>
              <a:t>(Cello Square)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185916" y="3427108"/>
            <a:ext cx="192552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/>
              <a:t>베트남 하노이 거점 </a:t>
            </a:r>
            <a:endParaRPr lang="en-US" sz="1500" dirty="0"/>
          </a:p>
        </p:txBody>
      </p:sp>
      <p:sp>
        <p:nvSpPr>
          <p:cNvPr id="8" name="TextBox 7"/>
          <p:cNvSpPr txBox="1"/>
          <p:nvPr/>
        </p:nvSpPr>
        <p:spPr>
          <a:xfrm>
            <a:off x="5246431" y="3427108"/>
            <a:ext cx="65542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Lot CN05, Road YP6, Yen </a:t>
            </a:r>
            <a:r>
              <a:rPr lang="en-SG" altLang="ko-KR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Phong</a:t>
            </a:r>
            <a:r>
              <a:rPr lang="en-SG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Industrial Zone, Yen </a:t>
            </a:r>
            <a:r>
              <a:rPr lang="en-SG" altLang="ko-KR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Trung</a:t>
            </a:r>
            <a:r>
              <a:rPr lang="en-SG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Commune, Bac </a:t>
            </a:r>
            <a:r>
              <a:rPr lang="en-SG" altLang="ko-KR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Ninh</a:t>
            </a:r>
            <a:r>
              <a:rPr lang="en-SG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Province, 16000, Vietnam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286734" y="2942359"/>
            <a:ext cx="2203622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/>
              <a:t>하노이 </a:t>
            </a:r>
            <a:r>
              <a:rPr lang="en-US" altLang="ko-KR" dirty="0"/>
              <a:t>(RHQ) </a:t>
            </a:r>
            <a:r>
              <a:rPr lang="ko-KR" altLang="en-US" dirty="0"/>
              <a:t>밑에 추가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74197" y="4997004"/>
            <a:ext cx="1946367" cy="5975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0">
              <a:lnSpc>
                <a:spcPct val="90000"/>
              </a:lnSpc>
              <a:spcAft>
                <a:spcPts val="700"/>
              </a:spcAft>
              <a:buClr>
                <a:prstClr val="black"/>
              </a:buClr>
              <a:defRPr/>
            </a:pPr>
            <a:r>
              <a:rPr lang="en-US" altLang="ko-KR" sz="15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Vietnam</a:t>
            </a:r>
          </a:p>
          <a:p>
            <a:pPr latinLnBrk="0">
              <a:lnSpc>
                <a:spcPct val="90000"/>
              </a:lnSpc>
              <a:spcAft>
                <a:spcPts val="700"/>
              </a:spcAft>
              <a:buClr>
                <a:prstClr val="black"/>
              </a:buClr>
              <a:defRPr/>
            </a:pPr>
            <a:r>
              <a:rPr lang="en-US" altLang="ko-KR" sz="1500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Hochiminh</a:t>
            </a:r>
            <a:r>
              <a:rPr lang="en-US" altLang="ko-KR" sz="15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 Branch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11443" y="4886835"/>
            <a:ext cx="65542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Lot CN05, Road YP6, Yen </a:t>
            </a:r>
            <a:r>
              <a:rPr lang="en-SG" altLang="ko-KR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Phong</a:t>
            </a:r>
            <a:r>
              <a:rPr lang="en-SG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Industrial Zone, Yen </a:t>
            </a:r>
            <a:r>
              <a:rPr lang="en-SG" altLang="ko-KR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Trung</a:t>
            </a:r>
            <a:r>
              <a:rPr lang="en-SG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Commune, Bac </a:t>
            </a:r>
            <a:r>
              <a:rPr lang="en-SG" altLang="ko-KR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Ninh</a:t>
            </a:r>
            <a:r>
              <a:rPr lang="en-SG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Province, 16000, Vietnam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557850" y="3031691"/>
            <a:ext cx="733703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ko-KR" altLang="en-US" dirty="0"/>
              <a:t>국문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57850" y="4560669"/>
            <a:ext cx="733703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ko-KR" altLang="en-US" dirty="0"/>
              <a:t>영문</a:t>
            </a:r>
          </a:p>
        </p:txBody>
      </p:sp>
    </p:spTree>
    <p:extLst>
      <p:ext uri="{BB962C8B-B14F-4D97-AF65-F5344CB8AC3E}">
        <p14:creationId xmlns:p14="http://schemas.microsoft.com/office/powerpoint/2010/main" val="34364822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2207192" y="2907441"/>
            <a:ext cx="757935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4500" dirty="0" err="1"/>
              <a:t>콘센트릭스</a:t>
            </a:r>
            <a:endParaRPr lang="ko-KR" altLang="en-US" sz="4500" dirty="0"/>
          </a:p>
        </p:txBody>
      </p:sp>
    </p:spTree>
    <p:extLst>
      <p:ext uri="{BB962C8B-B14F-4D97-AF65-F5344CB8AC3E}">
        <p14:creationId xmlns:p14="http://schemas.microsoft.com/office/powerpoint/2010/main" val="4327645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8669" y="1015454"/>
            <a:ext cx="10793331" cy="3515216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212321" y="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dirty="0" err="1">
                <a:hlinkClick r:id="rId3"/>
              </a:rPr>
              <a:t>첼로스퀘어</a:t>
            </a:r>
            <a:r>
              <a:rPr lang="ko-KR" altLang="en-US" dirty="0">
                <a:hlinkClick r:id="rId3"/>
              </a:rPr>
              <a:t> 베트남 소개 </a:t>
            </a:r>
            <a:r>
              <a:rPr lang="en-US" altLang="ko-KR" dirty="0">
                <a:hlinkClick r:id="rId3"/>
              </a:rPr>
              <a:t>- Global Network | </a:t>
            </a:r>
            <a:r>
              <a:rPr lang="ko-KR" altLang="en-US" dirty="0" err="1">
                <a:hlinkClick r:id="rId3"/>
              </a:rPr>
              <a:t>첼로스퀘어</a:t>
            </a:r>
            <a:r>
              <a:rPr lang="en-US" altLang="ko-KR" dirty="0">
                <a:hlinkClick r:id="rId3"/>
              </a:rPr>
              <a:t>(Cello Square)</a:t>
            </a:r>
            <a:endParaRPr lang="en-US" dirty="0"/>
          </a:p>
        </p:txBody>
      </p:sp>
      <p:sp>
        <p:nvSpPr>
          <p:cNvPr id="6" name="직사각형 5"/>
          <p:cNvSpPr/>
          <p:nvPr/>
        </p:nvSpPr>
        <p:spPr>
          <a:xfrm>
            <a:off x="2292285" y="4123989"/>
            <a:ext cx="6096000" cy="5228098"/>
          </a:xfrm>
          <a:prstGeom prst="rect">
            <a:avLst/>
          </a:prstGeom>
        </p:spPr>
        <p:txBody>
          <a:bodyPr>
            <a:spAutoFit/>
          </a:bodyPr>
          <a:lstStyle/>
          <a:p>
            <a:pPr marL="144000" indent="-144000" latinLnBrk="0">
              <a:lnSpc>
                <a:spcPct val="90000"/>
              </a:lnSpc>
              <a:spcAft>
                <a:spcPts val="700"/>
              </a:spcAft>
              <a:buClr>
                <a:prstClr val="black"/>
              </a:buClr>
              <a:buFont typeface="Arial" panose="020B0604020202020204" pitchFamily="34" charset="0"/>
              <a:buChar char="•"/>
              <a:defRPr/>
            </a:pPr>
            <a:r>
              <a:rPr lang="en-US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RHQ</a:t>
            </a:r>
          </a:p>
          <a:p>
            <a:pPr latinLnBrk="0">
              <a:lnSpc>
                <a:spcPct val="90000"/>
              </a:lnSpc>
              <a:spcAft>
                <a:spcPts val="700"/>
              </a:spcAft>
              <a:buClr>
                <a:prstClr val="black"/>
              </a:buClr>
              <a:defRPr/>
            </a:pPr>
            <a:r>
              <a:rPr lang="en-SG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Zone B&amp;C, Level 14, PVI Building, No. 01, Pham Van Bach Street, </a:t>
            </a:r>
            <a:r>
              <a:rPr lang="en-SG" altLang="ko-KR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Cau</a:t>
            </a:r>
            <a:r>
              <a:rPr lang="en-SG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SG" altLang="ko-KR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Giay</a:t>
            </a:r>
            <a:r>
              <a:rPr lang="en-SG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Ward, Hanoi, 1000000, Vietnam</a:t>
            </a:r>
          </a:p>
          <a:p>
            <a:pPr marL="144000" indent="-144000" latinLnBrk="0">
              <a:lnSpc>
                <a:spcPct val="90000"/>
              </a:lnSpc>
              <a:spcAft>
                <a:spcPts val="700"/>
              </a:spcAft>
              <a:buClr>
                <a:prstClr val="black"/>
              </a:buClr>
              <a:buFont typeface="Arial" panose="020B0604020202020204" pitchFamily="34" charset="0"/>
              <a:buChar char="•"/>
              <a:defRPr/>
            </a:pPr>
            <a:endParaRPr lang="en-US" altLang="ko-KR" kern="0" dirty="0">
              <a:ln>
                <a:solidFill>
                  <a:prstClr val="black">
                    <a:alpha val="0"/>
                  </a:prstClr>
                </a:solidFill>
              </a:ln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  <a:p>
            <a:pPr marL="144000" indent="-144000" latinLnBrk="0">
              <a:lnSpc>
                <a:spcPct val="90000"/>
              </a:lnSpc>
              <a:spcAft>
                <a:spcPts val="700"/>
              </a:spcAft>
              <a:buClr>
                <a:prstClr val="black"/>
              </a:buClr>
              <a:buFont typeface="Arial" panose="020B0604020202020204" pitchFamily="34" charset="0"/>
              <a:buChar char="•"/>
              <a:defRPr/>
            </a:pPr>
            <a:r>
              <a:rPr lang="en-US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ALS </a:t>
            </a:r>
          </a:p>
          <a:p>
            <a:pPr latinLnBrk="0">
              <a:lnSpc>
                <a:spcPct val="90000"/>
              </a:lnSpc>
              <a:spcAft>
                <a:spcPts val="700"/>
              </a:spcAft>
              <a:buClr>
                <a:prstClr val="black"/>
              </a:buClr>
              <a:defRPr/>
            </a:pPr>
            <a:r>
              <a:rPr lang="en-SG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Zone B&amp;C, Level 14, PVI Building, No. 01, Pham Van Bach Street, </a:t>
            </a:r>
            <a:r>
              <a:rPr lang="en-SG" altLang="ko-KR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Cau</a:t>
            </a:r>
            <a:r>
              <a:rPr lang="en-SG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SG" altLang="ko-KR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Giay</a:t>
            </a:r>
            <a:r>
              <a:rPr lang="en-SG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Ward, Hanoi, 1000000, Vietnam</a:t>
            </a:r>
            <a:endParaRPr lang="en-US" altLang="ko-KR" kern="0" dirty="0">
              <a:ln>
                <a:solidFill>
                  <a:prstClr val="black">
                    <a:alpha val="0"/>
                  </a:prstClr>
                </a:solidFill>
              </a:ln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  <a:p>
            <a:pPr marL="144000" indent="-144000" latinLnBrk="0">
              <a:lnSpc>
                <a:spcPct val="90000"/>
              </a:lnSpc>
              <a:spcAft>
                <a:spcPts val="700"/>
              </a:spcAft>
              <a:buClr>
                <a:prstClr val="black"/>
              </a:buClr>
              <a:buFont typeface="Arial" panose="020B0604020202020204" pitchFamily="34" charset="0"/>
              <a:buChar char="•"/>
              <a:defRPr/>
            </a:pPr>
            <a:endParaRPr lang="en-US" altLang="ko-KR" kern="0" dirty="0">
              <a:ln>
                <a:solidFill>
                  <a:prstClr val="black">
                    <a:alpha val="0"/>
                  </a:prstClr>
                </a:solidFill>
              </a:ln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  <a:p>
            <a:pPr latinLnBrk="0">
              <a:lnSpc>
                <a:spcPct val="90000"/>
              </a:lnSpc>
              <a:spcAft>
                <a:spcPts val="700"/>
              </a:spcAft>
              <a:buClr>
                <a:prstClr val="black"/>
              </a:buClr>
              <a:defRPr/>
            </a:pPr>
            <a:r>
              <a:rPr lang="en-US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Hanoi, Bac </a:t>
            </a:r>
            <a:r>
              <a:rPr lang="en-US" altLang="ko-KR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Ninh</a:t>
            </a:r>
            <a:endParaRPr lang="en-US" altLang="ko-KR" kern="0" dirty="0">
              <a:ln>
                <a:solidFill>
                  <a:prstClr val="black">
                    <a:alpha val="0"/>
                  </a:prstClr>
                </a:solidFill>
              </a:ln>
              <a:solidFill>
                <a:prstClr val="black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Arial" panose="020B0604020202020204" pitchFamily="34" charset="0"/>
            </a:endParaRPr>
          </a:p>
          <a:p>
            <a:pPr latinLnBrk="0">
              <a:lnSpc>
                <a:spcPct val="90000"/>
              </a:lnSpc>
              <a:spcAft>
                <a:spcPts val="700"/>
              </a:spcAft>
              <a:buClr>
                <a:prstClr val="black"/>
              </a:buClr>
              <a:defRPr/>
            </a:pPr>
            <a:r>
              <a:rPr lang="en-SG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Lot CN05, Road YP6, Yen </a:t>
            </a:r>
            <a:r>
              <a:rPr lang="en-SG" altLang="ko-KR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Phong</a:t>
            </a:r>
            <a:r>
              <a:rPr lang="en-SG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Industrial Zone, Yen </a:t>
            </a:r>
            <a:r>
              <a:rPr lang="en-SG" altLang="ko-KR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Trung</a:t>
            </a:r>
            <a:r>
              <a:rPr lang="en-SG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Commune, Bac </a:t>
            </a:r>
            <a:r>
              <a:rPr lang="en-SG" altLang="ko-KR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Ninh</a:t>
            </a:r>
            <a:r>
              <a:rPr lang="en-SG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Province, 16000, Vietnam</a:t>
            </a:r>
            <a:endParaRPr lang="en-US" altLang="ko-KR" kern="0" dirty="0">
              <a:ln>
                <a:solidFill>
                  <a:prstClr val="black">
                    <a:alpha val="0"/>
                  </a:prstClr>
                </a:solidFill>
              </a:ln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  <a:p>
            <a:pPr marL="144000" indent="-144000" latinLnBrk="0">
              <a:lnSpc>
                <a:spcPct val="90000"/>
              </a:lnSpc>
              <a:spcAft>
                <a:spcPts val="700"/>
              </a:spcAft>
              <a:buClr>
                <a:prstClr val="black"/>
              </a:buClr>
              <a:buFont typeface="Arial" panose="020B0604020202020204" pitchFamily="34" charset="0"/>
              <a:buChar char="•"/>
              <a:defRPr/>
            </a:pPr>
            <a:endParaRPr lang="en-US" altLang="ko-KR" kern="0" dirty="0">
              <a:ln>
                <a:solidFill>
                  <a:prstClr val="black">
                    <a:alpha val="0"/>
                  </a:prstClr>
                </a:solidFill>
              </a:ln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  <a:p>
            <a:pPr latinLnBrk="0">
              <a:lnSpc>
                <a:spcPct val="90000"/>
              </a:lnSpc>
              <a:spcAft>
                <a:spcPts val="700"/>
              </a:spcAft>
              <a:buClr>
                <a:prstClr val="black"/>
              </a:buClr>
              <a:defRPr/>
            </a:pPr>
            <a:r>
              <a:rPr lang="en-US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Ho Chi Minh</a:t>
            </a:r>
          </a:p>
          <a:p>
            <a:pPr latinLnBrk="0">
              <a:lnSpc>
                <a:spcPct val="90000"/>
              </a:lnSpc>
              <a:spcAft>
                <a:spcPts val="700"/>
              </a:spcAft>
              <a:buClr>
                <a:prstClr val="black"/>
              </a:buClr>
              <a:defRPr/>
            </a:pPr>
            <a:r>
              <a:rPr lang="en-US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6F, </a:t>
            </a:r>
            <a:r>
              <a:rPr lang="en-US" altLang="ko-KR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Sacom</a:t>
            </a:r>
            <a:r>
              <a:rPr lang="en-US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-Chip Sang Building, Lot T2-4, D1 Road, Sai </a:t>
            </a:r>
            <a:r>
              <a:rPr lang="en-US" altLang="ko-KR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Gon</a:t>
            </a:r>
            <a:r>
              <a:rPr lang="en-US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Hi-Tech Park, Tang </a:t>
            </a:r>
            <a:r>
              <a:rPr lang="en-US" altLang="ko-KR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Nhon</a:t>
            </a:r>
            <a:r>
              <a:rPr lang="en-US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altLang="ko-KR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Phu</a:t>
            </a:r>
            <a:r>
              <a:rPr lang="en-US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Ward, Ho Chi Minh City, 700000, Vietnam</a:t>
            </a:r>
            <a:br>
              <a:rPr lang="en-US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</a:br>
            <a:r>
              <a:rPr lang="en-US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*</a:t>
            </a:r>
            <a:r>
              <a:rPr lang="ko-KR" altLang="en-US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연락처</a:t>
            </a:r>
            <a:r>
              <a:rPr lang="en-US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: cho.jinho@samsung.com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8685918" y="4123989"/>
            <a:ext cx="6096000" cy="5387629"/>
          </a:xfrm>
          <a:prstGeom prst="rect">
            <a:avLst/>
          </a:prstGeom>
        </p:spPr>
        <p:txBody>
          <a:bodyPr>
            <a:spAutoFit/>
          </a:bodyPr>
          <a:lstStyle/>
          <a:p>
            <a:pPr latinLnBrk="0">
              <a:lnSpc>
                <a:spcPct val="90000"/>
              </a:lnSpc>
              <a:spcAft>
                <a:spcPts val="700"/>
              </a:spcAft>
              <a:buClr>
                <a:prstClr val="black"/>
              </a:buClr>
              <a:defRPr/>
            </a:pPr>
            <a:r>
              <a:rPr lang="en-SG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Zone B&amp;C, Level 14, PVI Building, No. 01, Pham Van Bach Street, </a:t>
            </a:r>
            <a:r>
              <a:rPr lang="en-SG" altLang="ko-KR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Cau</a:t>
            </a:r>
            <a:r>
              <a:rPr lang="en-SG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SG" altLang="ko-KR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Giay</a:t>
            </a:r>
            <a:r>
              <a:rPr lang="en-SG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Ward, Hanoi, 1000000, Vietnam</a:t>
            </a:r>
            <a:br>
              <a:rPr lang="en-SG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</a:br>
            <a:r>
              <a:rPr lang="en-US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  <a:hlinkClick r:id="rId4"/>
              </a:rPr>
              <a:t>cellosquare.vn@samsung.com</a:t>
            </a:r>
            <a:endParaRPr lang="en-US" altLang="ko-KR" kern="0" dirty="0">
              <a:ln>
                <a:solidFill>
                  <a:prstClr val="black">
                    <a:alpha val="0"/>
                  </a:prstClr>
                </a:solidFill>
              </a:ln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  <a:p>
            <a:pPr latinLnBrk="0">
              <a:lnSpc>
                <a:spcPct val="90000"/>
              </a:lnSpc>
              <a:spcAft>
                <a:spcPts val="700"/>
              </a:spcAft>
              <a:buClr>
                <a:prstClr val="black"/>
              </a:buClr>
              <a:defRPr/>
            </a:pPr>
            <a:r>
              <a:rPr lang="en-US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Tel: </a:t>
            </a:r>
            <a:r>
              <a:rPr lang="ko-KR" altLang="en-US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유지 </a:t>
            </a:r>
            <a:endParaRPr lang="en-US" altLang="ko-KR" kern="0" dirty="0">
              <a:ln>
                <a:solidFill>
                  <a:prstClr val="black">
                    <a:alpha val="0"/>
                  </a:prstClr>
                </a:solidFill>
              </a:ln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  <a:p>
            <a:pPr latinLnBrk="0">
              <a:lnSpc>
                <a:spcPct val="90000"/>
              </a:lnSpc>
              <a:spcAft>
                <a:spcPts val="700"/>
              </a:spcAft>
              <a:buClr>
                <a:prstClr val="black"/>
              </a:buClr>
              <a:defRPr/>
            </a:pPr>
            <a:endParaRPr lang="en-US" altLang="ko-KR" kern="0" dirty="0">
              <a:ln>
                <a:solidFill>
                  <a:prstClr val="black">
                    <a:alpha val="0"/>
                  </a:prstClr>
                </a:solidFill>
              </a:ln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  <a:p>
            <a:pPr latinLnBrk="0">
              <a:lnSpc>
                <a:spcPct val="90000"/>
              </a:lnSpc>
              <a:spcAft>
                <a:spcPts val="700"/>
              </a:spcAft>
              <a:buClr>
                <a:prstClr val="black"/>
              </a:buClr>
              <a:defRPr/>
            </a:pPr>
            <a:r>
              <a:rPr lang="en-SG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Zone B&amp;C, Level 14, PVI Building, No. 01, Pham Van Bach Street, </a:t>
            </a:r>
            <a:r>
              <a:rPr lang="en-SG" altLang="ko-KR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Cau</a:t>
            </a:r>
            <a:r>
              <a:rPr lang="en-SG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SG" altLang="ko-KR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Giay</a:t>
            </a:r>
            <a:r>
              <a:rPr lang="en-SG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Ward, Hanoi, 1000000, Vietnam</a:t>
            </a:r>
            <a:br>
              <a:rPr lang="en-SG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</a:br>
            <a:r>
              <a:rPr lang="en-US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jungho.shon@samsung.com</a:t>
            </a:r>
          </a:p>
          <a:p>
            <a:pPr latinLnBrk="0">
              <a:lnSpc>
                <a:spcPct val="90000"/>
              </a:lnSpc>
              <a:spcAft>
                <a:spcPts val="700"/>
              </a:spcAft>
              <a:buClr>
                <a:prstClr val="black"/>
              </a:buClr>
              <a:defRPr/>
            </a:pPr>
            <a:endParaRPr lang="en-SG" altLang="ko-KR" kern="0" dirty="0">
              <a:ln>
                <a:solidFill>
                  <a:prstClr val="black">
                    <a:alpha val="0"/>
                  </a:prstClr>
                </a:solidFill>
              </a:ln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  <a:p>
            <a:pPr latinLnBrk="0">
              <a:lnSpc>
                <a:spcPct val="90000"/>
              </a:lnSpc>
              <a:spcAft>
                <a:spcPts val="700"/>
              </a:spcAft>
              <a:buClr>
                <a:prstClr val="black"/>
              </a:buClr>
              <a:defRPr/>
            </a:pPr>
            <a:r>
              <a:rPr lang="en-SG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Lot CN05, Road YP6, Yen </a:t>
            </a:r>
            <a:r>
              <a:rPr lang="en-SG" altLang="ko-KR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Phong</a:t>
            </a:r>
            <a:r>
              <a:rPr lang="en-SG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Industrial Zone, Yen </a:t>
            </a:r>
            <a:r>
              <a:rPr lang="en-SG" altLang="ko-KR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Trung</a:t>
            </a:r>
            <a:r>
              <a:rPr lang="en-SG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Commune, Bac </a:t>
            </a:r>
            <a:r>
              <a:rPr lang="en-SG" altLang="ko-KR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Ninh</a:t>
            </a:r>
            <a:r>
              <a:rPr lang="en-SG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Province, 16000, Vietnam</a:t>
            </a:r>
            <a:br>
              <a:rPr lang="en-SG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</a:br>
            <a:r>
              <a:rPr lang="en-US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jungho.shon@samsung.com</a:t>
            </a:r>
          </a:p>
          <a:p>
            <a:pPr latinLnBrk="0">
              <a:lnSpc>
                <a:spcPct val="90000"/>
              </a:lnSpc>
              <a:spcAft>
                <a:spcPts val="700"/>
              </a:spcAft>
              <a:buClr>
                <a:prstClr val="black"/>
              </a:buClr>
              <a:defRPr/>
            </a:pPr>
            <a:endParaRPr lang="en-US" altLang="ko-KR" kern="0" dirty="0">
              <a:ln>
                <a:solidFill>
                  <a:prstClr val="black">
                    <a:alpha val="0"/>
                  </a:prstClr>
                </a:solidFill>
              </a:ln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  <a:p>
            <a:pPr latinLnBrk="0">
              <a:lnSpc>
                <a:spcPct val="90000"/>
              </a:lnSpc>
              <a:spcAft>
                <a:spcPts val="700"/>
              </a:spcAft>
              <a:buClr>
                <a:prstClr val="black"/>
              </a:buClr>
              <a:defRPr/>
            </a:pPr>
            <a:r>
              <a:rPr lang="en-US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6F, </a:t>
            </a:r>
            <a:r>
              <a:rPr lang="en-US" altLang="ko-KR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Sacom</a:t>
            </a:r>
            <a:r>
              <a:rPr lang="en-US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-Chip Sang Building, Lot T2-4, D1 Road, Sai </a:t>
            </a:r>
            <a:r>
              <a:rPr lang="en-US" altLang="ko-KR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Gon</a:t>
            </a:r>
            <a:r>
              <a:rPr lang="en-US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Hi-Tech Park, Tang </a:t>
            </a:r>
            <a:r>
              <a:rPr lang="en-US" altLang="ko-KR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Nhon</a:t>
            </a:r>
            <a:r>
              <a:rPr lang="en-US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altLang="ko-KR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Phu</a:t>
            </a:r>
            <a:r>
              <a:rPr lang="en-US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Ward, Ho Chi Minh City, 700000, Vietnam</a:t>
            </a:r>
          </a:p>
          <a:p>
            <a:pPr latinLnBrk="0">
              <a:lnSpc>
                <a:spcPct val="90000"/>
              </a:lnSpc>
              <a:spcAft>
                <a:spcPts val="700"/>
              </a:spcAft>
              <a:buClr>
                <a:prstClr val="black"/>
              </a:buClr>
              <a:defRPr/>
            </a:pPr>
            <a:r>
              <a:rPr lang="en-US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Tel: </a:t>
            </a:r>
            <a:r>
              <a:rPr lang="ko-KR" altLang="en-US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유지 </a:t>
            </a:r>
            <a:endParaRPr lang="en-US" altLang="ko-KR" kern="0" dirty="0">
              <a:ln>
                <a:solidFill>
                  <a:prstClr val="black">
                    <a:alpha val="0"/>
                  </a:prstClr>
                </a:solidFill>
              </a:ln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  <a:p>
            <a:pPr latinLnBrk="0">
              <a:lnSpc>
                <a:spcPct val="90000"/>
              </a:lnSpc>
              <a:spcAft>
                <a:spcPts val="700"/>
              </a:spcAft>
              <a:buClr>
                <a:prstClr val="black"/>
              </a:buClr>
              <a:defRPr/>
            </a:pPr>
            <a:r>
              <a:rPr lang="en-US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cho.jinho@samsung.com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3335" y="1788471"/>
            <a:ext cx="1501240" cy="9233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 동일</a:t>
            </a:r>
            <a:endParaRPr lang="en-US" altLang="ko-KR" dirty="0"/>
          </a:p>
          <a:p>
            <a:r>
              <a:rPr lang="ko-KR" altLang="en-US" dirty="0" err="1"/>
              <a:t>반영부탁드립니다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2A9D5FBC-D5C5-4522-6A3F-04D43CF9FBA4}"/>
              </a:ext>
            </a:extLst>
          </p:cNvPr>
          <p:cNvSpPr/>
          <p:nvPr/>
        </p:nvSpPr>
        <p:spPr>
          <a:xfrm>
            <a:off x="9283700" y="228600"/>
            <a:ext cx="2520000" cy="2520000"/>
          </a:xfrm>
          <a:prstGeom prst="ellipse">
            <a:avLst/>
          </a:prstGeom>
          <a:solidFill>
            <a:srgbClr val="0AD2B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/>
              <a:t>총 </a:t>
            </a:r>
            <a:r>
              <a:rPr kumimoji="1" lang="en-US" altLang="ko-KR" dirty="0"/>
              <a:t>4</a:t>
            </a:r>
            <a:r>
              <a:rPr kumimoji="1" lang="ko-KR" altLang="en-US" dirty="0"/>
              <a:t>개 지점</a:t>
            </a:r>
          </a:p>
        </p:txBody>
      </p:sp>
    </p:spTree>
    <p:extLst>
      <p:ext uri="{BB962C8B-B14F-4D97-AF65-F5344CB8AC3E}">
        <p14:creationId xmlns:p14="http://schemas.microsoft.com/office/powerpoint/2010/main" val="3090257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25038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dirty="0" err="1">
                <a:hlinkClick r:id="rId2"/>
              </a:rPr>
              <a:t>첼로스퀘어</a:t>
            </a:r>
            <a:r>
              <a:rPr lang="ko-KR" altLang="en-US" dirty="0">
                <a:hlinkClick r:id="rId2"/>
              </a:rPr>
              <a:t> 베트남 소개 </a:t>
            </a:r>
            <a:r>
              <a:rPr lang="en-US" altLang="ko-KR" dirty="0">
                <a:hlinkClick r:id="rId2"/>
              </a:rPr>
              <a:t>- Global Network | </a:t>
            </a:r>
            <a:r>
              <a:rPr lang="ko-KR" altLang="en-US" dirty="0" err="1">
                <a:hlinkClick r:id="rId2"/>
              </a:rPr>
              <a:t>첼로스퀘어</a:t>
            </a:r>
            <a:r>
              <a:rPr lang="en-US" altLang="ko-KR" dirty="0">
                <a:hlinkClick r:id="rId2"/>
              </a:rPr>
              <a:t>(Cello Square)</a:t>
            </a:r>
            <a:endParaRPr 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7394" y="3424237"/>
            <a:ext cx="257211" cy="9526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6283" y="842601"/>
            <a:ext cx="8659433" cy="5172797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1766282" y="2510433"/>
            <a:ext cx="865943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>
                <a:solidFill>
                  <a:prstClr val="black"/>
                </a:solidFill>
              </a:rPr>
              <a:t>2011</a:t>
            </a:r>
            <a:r>
              <a:rPr lang="ko-KR" altLang="en-US" dirty="0">
                <a:solidFill>
                  <a:prstClr val="black"/>
                </a:solidFill>
              </a:rPr>
              <a:t>년에 설립된 삼성</a:t>
            </a:r>
            <a:r>
              <a:rPr lang="en-US" altLang="ko-KR" dirty="0">
                <a:solidFill>
                  <a:prstClr val="black"/>
                </a:solidFill>
              </a:rPr>
              <a:t>SDS </a:t>
            </a:r>
            <a:r>
              <a:rPr lang="ko-KR" altLang="en-US" dirty="0">
                <a:solidFill>
                  <a:prstClr val="black"/>
                </a:solidFill>
              </a:rPr>
              <a:t>베트남은 다양한 산업의 고객을 대상으로 효율성과 확장성을 제고하는 솔루션을 제공하며 물류 리더로 빠르게 성장하고 있습니다</a:t>
            </a:r>
            <a:r>
              <a:rPr lang="en-US" altLang="ko-KR" dirty="0">
                <a:solidFill>
                  <a:prstClr val="black"/>
                </a:solidFill>
              </a:rPr>
              <a:t>.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79406" y="130805"/>
            <a:ext cx="3765071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/>
              <a:t>국문만 </a:t>
            </a:r>
            <a:r>
              <a:rPr lang="ko-KR" altLang="en-US" dirty="0" err="1"/>
              <a:t>반영부탁드립니다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D4262203-74D0-F15A-DF89-CCF42514FDE3}"/>
              </a:ext>
            </a:extLst>
          </p:cNvPr>
          <p:cNvSpPr/>
          <p:nvPr/>
        </p:nvSpPr>
        <p:spPr>
          <a:xfrm>
            <a:off x="9283700" y="228600"/>
            <a:ext cx="2520000" cy="2520000"/>
          </a:xfrm>
          <a:prstGeom prst="ellipse">
            <a:avLst/>
          </a:prstGeom>
          <a:solidFill>
            <a:srgbClr val="0AD2B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/>
              <a:t>국문 문구 반영</a:t>
            </a:r>
            <a:endParaRPr kumimoji="1" lang="en-US" altLang="ko-KR" dirty="0"/>
          </a:p>
          <a:p>
            <a:pPr algn="ctr"/>
            <a:r>
              <a:rPr kumimoji="1" lang="en-US" altLang="ko-KR" dirty="0"/>
              <a:t>Only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493324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040" y="0"/>
            <a:ext cx="6515664" cy="6863497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7373257" y="475067"/>
            <a:ext cx="4673600" cy="17889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창고 유형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: 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신선 물류 센터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음료 물류 센터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상온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), </a:t>
            </a:r>
            <a:r>
              <a:rPr lang="ko-KR" altLang="en-US" sz="1050" dirty="0" err="1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리테일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물류 센터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국제 </a:t>
            </a:r>
            <a:r>
              <a:rPr lang="ko-KR" altLang="en-US" sz="1050" dirty="0" err="1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특송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허브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 </a:t>
            </a:r>
          </a:p>
          <a:p>
            <a:pPr lvl="0">
              <a:lnSpc>
                <a:spcPct val="150000"/>
              </a:lnSpc>
              <a:defRPr/>
            </a:pP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창고 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(11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개소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 </a:t>
            </a:r>
          </a:p>
          <a:p>
            <a:pPr lvl="0">
              <a:lnSpc>
                <a:spcPct val="150000"/>
              </a:lnSpc>
              <a:buFont typeface="나눔스퀘어" panose="020B0600000101010101" pitchFamily="50" charset="-127"/>
              <a:buChar char="–"/>
              <a:defRPr/>
            </a:pPr>
            <a:r>
              <a:rPr lang="vi-VN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Bắc Ninh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(4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개소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r>
              <a:rPr lang="vi-VN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총 면적</a:t>
            </a:r>
            <a:r>
              <a:rPr lang="vi-VN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: 34,734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050" dirty="0" err="1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sqm</a:t>
            </a:r>
            <a:endParaRPr lang="en-US" altLang="ko-KR" sz="1050" dirty="0">
              <a:solidFill>
                <a:srgbClr val="FF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lvl="0">
              <a:lnSpc>
                <a:spcPct val="150000"/>
              </a:lnSpc>
              <a:buFont typeface="나눔스퀘어" panose="020B0600000101010101" pitchFamily="50" charset="-127"/>
              <a:buChar char="–"/>
              <a:defRPr/>
            </a:pPr>
            <a:r>
              <a:rPr lang="vi-VN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Đông Anh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(1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개소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r>
              <a:rPr lang="vi-VN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총 면적 </a:t>
            </a:r>
            <a:r>
              <a:rPr lang="vi-VN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: 1,098 </a:t>
            </a:r>
            <a:r>
              <a:rPr lang="en-US" altLang="ko-KR" sz="1050" dirty="0" err="1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sqm</a:t>
            </a:r>
            <a:endParaRPr lang="en-US" altLang="ko-KR" sz="1050" dirty="0">
              <a:solidFill>
                <a:srgbClr val="FF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lvl="0">
              <a:lnSpc>
                <a:spcPct val="150000"/>
              </a:lnSpc>
              <a:buFont typeface="나눔스퀘어" panose="020B0600000101010101" pitchFamily="50" charset="-127"/>
              <a:buChar char="–"/>
              <a:defRPr/>
            </a:pPr>
            <a:r>
              <a:rPr lang="vi-VN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Thái Nguyên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(2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개소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r>
              <a:rPr lang="vi-VN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총 면적 </a:t>
            </a:r>
            <a:r>
              <a:rPr lang="vi-VN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: 4,160 sqm</a:t>
            </a:r>
            <a:endParaRPr lang="en-US" altLang="ko-KR" sz="1050" dirty="0">
              <a:solidFill>
                <a:srgbClr val="FF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lvl="0">
              <a:lnSpc>
                <a:spcPct val="150000"/>
              </a:lnSpc>
              <a:buFont typeface="나눔스퀘어" panose="020B0600000101010101" pitchFamily="50" charset="-127"/>
              <a:buChar char="–"/>
              <a:defRPr/>
            </a:pPr>
            <a:r>
              <a:rPr lang="vi-VN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Hải Dương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(1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개소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r>
              <a:rPr lang="vi-VN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총 면적 </a:t>
            </a:r>
            <a:r>
              <a:rPr lang="vi-VN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: 3,548 </a:t>
            </a:r>
            <a:r>
              <a:rPr lang="en-US" altLang="ko-KR" sz="1050" dirty="0" err="1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sqm</a:t>
            </a:r>
            <a:endParaRPr lang="en-US" altLang="ko-KR" sz="1050" dirty="0">
              <a:solidFill>
                <a:srgbClr val="FF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lvl="0">
              <a:lnSpc>
                <a:spcPct val="150000"/>
              </a:lnSpc>
              <a:buFont typeface="나눔스퀘어" panose="020B0600000101010101" pitchFamily="50" charset="-127"/>
              <a:buChar char="–"/>
              <a:defRPr/>
            </a:pP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기타 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3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개소</a:t>
            </a:r>
            <a:r>
              <a:rPr lang="vi-VN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총 면적 </a:t>
            </a:r>
            <a:r>
              <a:rPr lang="vi-VN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: 7,455 </a:t>
            </a:r>
            <a:r>
              <a:rPr lang="en-US" altLang="ko-KR" sz="1050" dirty="0" err="1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sqm</a:t>
            </a:r>
            <a:endParaRPr lang="en-US" altLang="ko-KR" sz="1050" dirty="0">
              <a:solidFill>
                <a:srgbClr val="FF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7373257" y="3901665"/>
            <a:ext cx="4426857" cy="1304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창고 유형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: 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모바일 및 가전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물류 센터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공장 물류 센터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(</a:t>
            </a:r>
            <a:r>
              <a:rPr lang="ko-KR" altLang="en-US" sz="1050" dirty="0" err="1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호치민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내 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개소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), 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신선물류센터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중남부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), 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식품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지역 물류센터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상온 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5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개소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냉장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냉동 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개소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 </a:t>
            </a:r>
          </a:p>
          <a:p>
            <a:pPr>
              <a:lnSpc>
                <a:spcPct val="150000"/>
              </a:lnSpc>
              <a:defRPr/>
            </a:pP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창고 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(6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개소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 </a:t>
            </a:r>
          </a:p>
          <a:p>
            <a:pPr>
              <a:lnSpc>
                <a:spcPct val="150000"/>
              </a:lnSpc>
              <a:buFont typeface="나눔스퀘어" panose="020B0600000101010101" pitchFamily="50" charset="-127"/>
              <a:buChar char="–"/>
              <a:defRPr/>
            </a:pPr>
            <a:r>
              <a:rPr lang="en-US" altLang="ko-KR" sz="1050" dirty="0" err="1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Bình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050" dirty="0" err="1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Dương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(3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개소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), 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총 면적 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: 4,070 </a:t>
            </a:r>
            <a:r>
              <a:rPr lang="en-US" altLang="ko-KR" sz="1050" dirty="0" err="1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sqm</a:t>
            </a:r>
            <a:endParaRPr lang="en-US" altLang="ko-KR" sz="1050" dirty="0">
              <a:solidFill>
                <a:srgbClr val="FF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  <a:buFont typeface="나눔스퀘어" panose="020B0600000101010101" pitchFamily="50" charset="-127"/>
              <a:buChar char="–"/>
              <a:defRPr/>
            </a:pPr>
            <a:r>
              <a:rPr lang="en-US" altLang="ko-KR" sz="1050" dirty="0" err="1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Thủ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050" dirty="0" err="1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Đức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City (3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개소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), 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총 면적 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: 21,400 </a:t>
            </a:r>
            <a:r>
              <a:rPr lang="en-US" altLang="ko-KR" sz="1050" dirty="0" err="1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sqm</a:t>
            </a:r>
            <a:endParaRPr lang="en-US" altLang="ko-KR" sz="1050" dirty="0">
              <a:solidFill>
                <a:srgbClr val="FF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0" y="25038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dirty="0" err="1">
                <a:hlinkClick r:id="rId3"/>
              </a:rPr>
              <a:t>첼로스퀘어</a:t>
            </a:r>
            <a:r>
              <a:rPr lang="ko-KR" altLang="en-US" dirty="0">
                <a:hlinkClick r:id="rId3"/>
              </a:rPr>
              <a:t> 베트남 소개 </a:t>
            </a:r>
            <a:r>
              <a:rPr lang="en-US" altLang="ko-KR" dirty="0">
                <a:hlinkClick r:id="rId3"/>
              </a:rPr>
              <a:t>- Global Network | </a:t>
            </a:r>
            <a:r>
              <a:rPr lang="ko-KR" altLang="en-US" dirty="0" err="1">
                <a:hlinkClick r:id="rId3"/>
              </a:rPr>
              <a:t>첼로스퀘어</a:t>
            </a:r>
            <a:r>
              <a:rPr lang="en-US" altLang="ko-KR" dirty="0">
                <a:hlinkClick r:id="rId3"/>
              </a:rPr>
              <a:t>(Cello Square)</a:t>
            </a:r>
            <a:endParaRPr lang="en-US" dirty="0"/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8D71B1FE-2C13-4CDB-5901-84A09F79174D}"/>
              </a:ext>
            </a:extLst>
          </p:cNvPr>
          <p:cNvSpPr/>
          <p:nvPr/>
        </p:nvSpPr>
        <p:spPr>
          <a:xfrm>
            <a:off x="9283700" y="228600"/>
            <a:ext cx="2520000" cy="2520000"/>
          </a:xfrm>
          <a:prstGeom prst="ellipse">
            <a:avLst/>
          </a:prstGeom>
          <a:solidFill>
            <a:srgbClr val="0AD2B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/>
              <a:t>텍스트 변경</a:t>
            </a:r>
            <a:endParaRPr kumimoji="1" lang="en-US" altLang="ko-KR" dirty="0"/>
          </a:p>
          <a:p>
            <a:pPr algn="ctr"/>
            <a:r>
              <a:rPr kumimoji="1" lang="ko-KR" altLang="en-US" dirty="0"/>
              <a:t>다국어 엑셀파일 참고</a:t>
            </a:r>
          </a:p>
        </p:txBody>
      </p:sp>
    </p:spTree>
    <p:extLst>
      <p:ext uri="{BB962C8B-B14F-4D97-AF65-F5344CB8AC3E}">
        <p14:creationId xmlns:p14="http://schemas.microsoft.com/office/powerpoint/2010/main" val="36568225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dirty="0" err="1">
                <a:hlinkClick r:id="rId2"/>
              </a:rPr>
              <a:t>첼로스퀘어</a:t>
            </a:r>
            <a:r>
              <a:rPr lang="ko-KR" altLang="en-US" dirty="0">
                <a:hlinkClick r:id="rId2"/>
              </a:rPr>
              <a:t> 말레이시아 소개 </a:t>
            </a:r>
            <a:r>
              <a:rPr lang="en-US" altLang="ko-KR" dirty="0">
                <a:hlinkClick r:id="rId2"/>
              </a:rPr>
              <a:t>- Global Network | </a:t>
            </a:r>
            <a:r>
              <a:rPr lang="ko-KR" altLang="en-US" dirty="0" err="1">
                <a:hlinkClick r:id="rId2"/>
              </a:rPr>
              <a:t>첼로스퀘어</a:t>
            </a:r>
            <a:r>
              <a:rPr lang="en-US" altLang="ko-KR" dirty="0">
                <a:hlinkClick r:id="rId2"/>
              </a:rPr>
              <a:t>(Cello Square)</a:t>
            </a:r>
            <a:endParaRPr 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087" y="646331"/>
            <a:ext cx="6183541" cy="4401333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1146628" y="3219271"/>
            <a:ext cx="6096000" cy="646331"/>
          </a:xfrm>
          <a:prstGeom prst="rect">
            <a:avLst/>
          </a:prstGeom>
          <a:solidFill>
            <a:srgbClr val="FFFF00"/>
          </a:solidFill>
        </p:spPr>
        <p:txBody>
          <a:bodyPr>
            <a:spAutoFit/>
          </a:bodyPr>
          <a:lstStyle/>
          <a:p>
            <a:pPr lvl="0">
              <a:defRPr/>
            </a:pPr>
            <a:r>
              <a:rPr lang="en-US" altLang="ko-KR" sz="1200" dirty="0">
                <a:solidFill>
                  <a:prstClr val="black"/>
                </a:solidFill>
              </a:rPr>
              <a:t>2011</a:t>
            </a:r>
            <a:r>
              <a:rPr lang="ko-KR" altLang="en-US" sz="1200" dirty="0">
                <a:solidFill>
                  <a:prstClr val="black"/>
                </a:solidFill>
              </a:rPr>
              <a:t>년부터 삼성</a:t>
            </a:r>
            <a:r>
              <a:rPr lang="en-US" altLang="ko-KR" sz="1200" dirty="0">
                <a:solidFill>
                  <a:prstClr val="black"/>
                </a:solidFill>
              </a:rPr>
              <a:t>SDS </a:t>
            </a:r>
            <a:r>
              <a:rPr lang="ko-KR" altLang="en-US" sz="1200" dirty="0">
                <a:solidFill>
                  <a:prstClr val="black"/>
                </a:solidFill>
              </a:rPr>
              <a:t>말레이시아는 선도적인 물류 서비스 기업으로 성장해왔습니다</a:t>
            </a:r>
            <a:r>
              <a:rPr lang="en-US" altLang="ko-KR" sz="1200" dirty="0">
                <a:solidFill>
                  <a:prstClr val="black"/>
                </a:solidFill>
              </a:rPr>
              <a:t>. </a:t>
            </a:r>
            <a:r>
              <a:rPr lang="ko-KR" altLang="en-US" sz="1200" dirty="0" err="1">
                <a:solidFill>
                  <a:prstClr val="black"/>
                </a:solidFill>
              </a:rPr>
              <a:t>샤알람</a:t>
            </a:r>
            <a:r>
              <a:rPr lang="ko-KR" altLang="en-US" sz="1200" dirty="0">
                <a:solidFill>
                  <a:prstClr val="black"/>
                </a:solidFill>
              </a:rPr>
              <a:t> </a:t>
            </a:r>
            <a:r>
              <a:rPr lang="ko-KR" altLang="en-US" sz="1200" dirty="0" err="1">
                <a:solidFill>
                  <a:prstClr val="black"/>
                </a:solidFill>
              </a:rPr>
              <a:t>글렌마리</a:t>
            </a:r>
            <a:r>
              <a:rPr lang="ko-KR" altLang="en-US" sz="1200" dirty="0">
                <a:solidFill>
                  <a:prstClr val="black"/>
                </a:solidFill>
              </a:rPr>
              <a:t> </a:t>
            </a:r>
            <a:r>
              <a:rPr lang="en-US" altLang="ko-KR" sz="1200" dirty="0">
                <a:solidFill>
                  <a:prstClr val="black"/>
                </a:solidFill>
              </a:rPr>
              <a:t>(Glen Marie, Shah </a:t>
            </a:r>
            <a:r>
              <a:rPr lang="en-US" altLang="ko-KR" sz="1200" dirty="0" err="1">
                <a:solidFill>
                  <a:prstClr val="black"/>
                </a:solidFill>
              </a:rPr>
              <a:t>Alam</a:t>
            </a:r>
            <a:r>
              <a:rPr lang="en-US" altLang="ko-KR" sz="1200" dirty="0">
                <a:solidFill>
                  <a:prstClr val="black"/>
                </a:solidFill>
              </a:rPr>
              <a:t>)</a:t>
            </a:r>
            <a:r>
              <a:rPr lang="ko-KR" altLang="en-US" sz="1200" dirty="0">
                <a:solidFill>
                  <a:prstClr val="black"/>
                </a:solidFill>
              </a:rPr>
              <a:t>에 위치한 거점을 기반으로</a:t>
            </a:r>
            <a:r>
              <a:rPr lang="en-US" altLang="ko-KR" sz="1200" dirty="0">
                <a:solidFill>
                  <a:prstClr val="black"/>
                </a:solidFill>
              </a:rPr>
              <a:t>, </a:t>
            </a:r>
            <a:r>
              <a:rPr lang="ko-KR" altLang="en-US" sz="1200" dirty="0">
                <a:solidFill>
                  <a:prstClr val="black"/>
                </a:solidFill>
              </a:rPr>
              <a:t>지난 </a:t>
            </a:r>
            <a:r>
              <a:rPr lang="en-US" altLang="ko-KR" sz="1200" dirty="0">
                <a:solidFill>
                  <a:prstClr val="black"/>
                </a:solidFill>
              </a:rPr>
              <a:t>13</a:t>
            </a:r>
            <a:r>
              <a:rPr lang="ko-KR" altLang="en-US" sz="1200" dirty="0">
                <a:solidFill>
                  <a:prstClr val="black"/>
                </a:solidFill>
              </a:rPr>
              <a:t>년 동안 고객 맞춤형 물류 솔루션을 제공하고 있습니다</a:t>
            </a:r>
            <a:r>
              <a:rPr lang="en-US" altLang="ko-KR" sz="1200" dirty="0">
                <a:solidFill>
                  <a:prstClr val="black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79406" y="130805"/>
            <a:ext cx="3765071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해당부분</a:t>
            </a:r>
            <a:r>
              <a:rPr lang="en-US" altLang="ko-KR" dirty="0"/>
              <a:t>, </a:t>
            </a:r>
            <a:r>
              <a:rPr lang="ko-KR" altLang="en-US" dirty="0"/>
              <a:t>국문만 </a:t>
            </a:r>
            <a:r>
              <a:rPr lang="ko-KR" altLang="en-US" dirty="0" err="1"/>
              <a:t>반영부탁드립니다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F83AA826-87E1-2183-0325-798AD1DFD6C0}"/>
              </a:ext>
            </a:extLst>
          </p:cNvPr>
          <p:cNvSpPr/>
          <p:nvPr/>
        </p:nvSpPr>
        <p:spPr>
          <a:xfrm>
            <a:off x="9283700" y="228600"/>
            <a:ext cx="2520000" cy="2520000"/>
          </a:xfrm>
          <a:prstGeom prst="ellipse">
            <a:avLst/>
          </a:prstGeom>
          <a:solidFill>
            <a:srgbClr val="0AD2B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/>
              <a:t>국문 문구 반영</a:t>
            </a:r>
            <a:endParaRPr kumimoji="1" lang="en-US" altLang="ko-KR" dirty="0"/>
          </a:p>
          <a:p>
            <a:pPr algn="ctr"/>
            <a:r>
              <a:rPr kumimoji="1" lang="en-US" altLang="ko-KR" dirty="0"/>
              <a:t>Only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981425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59" y="236624"/>
            <a:ext cx="8792802" cy="3896269"/>
          </a:xfrm>
          <a:prstGeom prst="rect">
            <a:avLst/>
          </a:prstGeom>
        </p:spPr>
      </p:pic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6569239"/>
              </p:ext>
            </p:extLst>
          </p:nvPr>
        </p:nvGraphicFramePr>
        <p:xfrm>
          <a:off x="1334859" y="3391214"/>
          <a:ext cx="10537827" cy="26322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9884">
                  <a:extLst>
                    <a:ext uri="{9D8B030D-6E8A-4147-A177-3AD203B41FA5}">
                      <a16:colId xmlns:a16="http://schemas.microsoft.com/office/drawing/2014/main" val="1526357769"/>
                    </a:ext>
                  </a:extLst>
                </a:gridCol>
                <a:gridCol w="5065334">
                  <a:extLst>
                    <a:ext uri="{9D8B030D-6E8A-4147-A177-3AD203B41FA5}">
                      <a16:colId xmlns:a16="http://schemas.microsoft.com/office/drawing/2014/main" val="3704624977"/>
                    </a:ext>
                  </a:extLst>
                </a:gridCol>
                <a:gridCol w="3512609">
                  <a:extLst>
                    <a:ext uri="{9D8B030D-6E8A-4147-A177-3AD203B41FA5}">
                      <a16:colId xmlns:a16="http://schemas.microsoft.com/office/drawing/2014/main" val="561315315"/>
                    </a:ext>
                  </a:extLst>
                </a:gridCol>
              </a:tblGrid>
              <a:tr h="526443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 err="1">
                          <a:solidFill>
                            <a:sysClr val="windowText" lastClr="000000"/>
                          </a:solidFill>
                        </a:rPr>
                        <a:t>오피스명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ysClr val="windowText" lastClr="000000"/>
                          </a:solidFill>
                        </a:rPr>
                        <a:t>위치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ysClr val="windowText" lastClr="000000"/>
                          </a:solidFill>
                        </a:rPr>
                        <a:t>연락처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4224422"/>
                  </a:ext>
                </a:extLst>
              </a:tr>
              <a:tr h="52644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HQ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Unit 3-1, Level 3, Tower 2A, UOA Business Park. No. 1, </a:t>
                      </a:r>
                      <a:r>
                        <a:rPr lang="en-US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Jalan</a:t>
                      </a: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Pengaturcara</a:t>
                      </a: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U1/51A. </a:t>
                      </a:r>
                      <a:r>
                        <a:rPr lang="en-US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Seksyen</a:t>
                      </a: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U1, 40150 Shah </a:t>
                      </a:r>
                      <a:r>
                        <a:rPr lang="en-US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Alam</a:t>
                      </a: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, Selangor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cellosquare.my@samsung.com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0629969"/>
                  </a:ext>
                </a:extLst>
              </a:tr>
              <a:tr h="52644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Sabah </a:t>
                      </a:r>
                      <a:r>
                        <a:rPr lang="ko-KR" altLang="en-US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지점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Unit B1326, 13th Floor, </a:t>
                      </a:r>
                      <a:r>
                        <a:rPr lang="en-US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Wisma</a:t>
                      </a: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Merdeka Phase 2, </a:t>
                      </a:r>
                      <a:r>
                        <a:rPr lang="en-US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Jalan</a:t>
                      </a: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Tun</a:t>
                      </a: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Razak</a:t>
                      </a: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88000 Kota </a:t>
                      </a:r>
                      <a:r>
                        <a:rPr lang="en-US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Kinabalu</a:t>
                      </a: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, Sabah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0066719"/>
                  </a:ext>
                </a:extLst>
              </a:tr>
              <a:tr h="52644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Shah </a:t>
                      </a:r>
                      <a:r>
                        <a:rPr lang="en-US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Alam</a:t>
                      </a: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ko-KR" altLang="en-US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물류창고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Shah </a:t>
                      </a:r>
                      <a:r>
                        <a:rPr lang="en-US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Alam</a:t>
                      </a: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, Selangor, Malaysia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kern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0169971"/>
                  </a:ext>
                </a:extLst>
              </a:tr>
              <a:tr h="52644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Subang</a:t>
                      </a: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 Jaya </a:t>
                      </a:r>
                      <a:r>
                        <a:rPr lang="ko-KR" altLang="en-US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물류창고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SS 15, </a:t>
                      </a:r>
                      <a:r>
                        <a:rPr lang="en-US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Subang</a:t>
                      </a: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Jaya 47500, Selangor, Malaysia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5513510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8367111"/>
              </p:ext>
            </p:extLst>
          </p:nvPr>
        </p:nvGraphicFramePr>
        <p:xfrm>
          <a:off x="1334859" y="6545804"/>
          <a:ext cx="10537827" cy="26322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9884">
                  <a:extLst>
                    <a:ext uri="{9D8B030D-6E8A-4147-A177-3AD203B41FA5}">
                      <a16:colId xmlns:a16="http://schemas.microsoft.com/office/drawing/2014/main" val="1526357769"/>
                    </a:ext>
                  </a:extLst>
                </a:gridCol>
                <a:gridCol w="5065334">
                  <a:extLst>
                    <a:ext uri="{9D8B030D-6E8A-4147-A177-3AD203B41FA5}">
                      <a16:colId xmlns:a16="http://schemas.microsoft.com/office/drawing/2014/main" val="3704624977"/>
                    </a:ext>
                  </a:extLst>
                </a:gridCol>
                <a:gridCol w="3512609">
                  <a:extLst>
                    <a:ext uri="{9D8B030D-6E8A-4147-A177-3AD203B41FA5}">
                      <a16:colId xmlns:a16="http://schemas.microsoft.com/office/drawing/2014/main" val="561315315"/>
                    </a:ext>
                  </a:extLst>
                </a:gridCol>
              </a:tblGrid>
              <a:tr h="526443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 err="1">
                          <a:solidFill>
                            <a:sysClr val="windowText" lastClr="000000"/>
                          </a:solidFill>
                        </a:rPr>
                        <a:t>오피스명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ysClr val="windowText" lastClr="000000"/>
                          </a:solidFill>
                        </a:rPr>
                        <a:t>위치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ysClr val="windowText" lastClr="000000"/>
                          </a:solidFill>
                        </a:rPr>
                        <a:t>연락처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4224422"/>
                  </a:ext>
                </a:extLst>
              </a:tr>
              <a:tr h="52644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HQ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Unit 3-1, Level 3, Tower 2A, UOA Business Park. No. 1, </a:t>
                      </a:r>
                      <a:r>
                        <a:rPr lang="en-US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Jalan</a:t>
                      </a: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Pengaturcara</a:t>
                      </a: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U1/51A. </a:t>
                      </a:r>
                      <a:r>
                        <a:rPr lang="en-US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Seksyen</a:t>
                      </a: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U1, 40150 Shah </a:t>
                      </a:r>
                      <a:r>
                        <a:rPr lang="en-US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Alam</a:t>
                      </a: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, Selangor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cellosquare.my@samsung.com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0629969"/>
                  </a:ext>
                </a:extLst>
              </a:tr>
              <a:tr h="52644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1" dirty="0">
                          <a:solidFill>
                            <a:prstClr val="black"/>
                          </a:solidFill>
                          <a:latin typeface="Arial" panose="020B0604020202020204" pitchFamily="34" charset="0"/>
                          <a:ea typeface="맑은 고딕" panose="020B0503020000020004" pitchFamily="34" charset="-127"/>
                          <a:cs typeface="Arial" panose="020B0604020202020204" pitchFamily="34" charset="0"/>
                        </a:rPr>
                        <a:t>Sabah Office (East Malaysia) 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Unit B1326, 13th Floor, </a:t>
                      </a:r>
                      <a:r>
                        <a:rPr lang="en-US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Wisma</a:t>
                      </a: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Merdeka Phase 2, </a:t>
                      </a:r>
                      <a:r>
                        <a:rPr lang="en-US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Jalan</a:t>
                      </a: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Tun</a:t>
                      </a: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Razak</a:t>
                      </a: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88000 Kota </a:t>
                      </a:r>
                      <a:r>
                        <a:rPr lang="en-US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Kinabalu</a:t>
                      </a: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, Sabah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0066719"/>
                  </a:ext>
                </a:extLst>
              </a:tr>
              <a:tr h="52644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1" dirty="0">
                          <a:solidFill>
                            <a:prstClr val="black"/>
                          </a:solidFill>
                          <a:latin typeface="Arial" panose="020B0604020202020204" pitchFamily="34" charset="0"/>
                          <a:ea typeface="맑은 고딕" panose="020B0503020000020004" pitchFamily="34" charset="-127"/>
                          <a:cs typeface="Arial" panose="020B0604020202020204" pitchFamily="34" charset="0"/>
                        </a:rPr>
                        <a:t>Shah </a:t>
                      </a:r>
                      <a:r>
                        <a:rPr lang="en-US" altLang="ko-KR" sz="1100" b="1" dirty="0" err="1">
                          <a:solidFill>
                            <a:prstClr val="black"/>
                          </a:solidFill>
                          <a:latin typeface="Arial" panose="020B0604020202020204" pitchFamily="34" charset="0"/>
                          <a:ea typeface="맑은 고딕" panose="020B0503020000020004" pitchFamily="34" charset="-127"/>
                          <a:cs typeface="Arial" panose="020B0604020202020204" pitchFamily="34" charset="0"/>
                        </a:rPr>
                        <a:t>Alam</a:t>
                      </a:r>
                      <a:r>
                        <a:rPr lang="en-US" altLang="ko-KR" sz="1100" b="1" dirty="0">
                          <a:solidFill>
                            <a:prstClr val="black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Warehouse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Shah </a:t>
                      </a:r>
                      <a:r>
                        <a:rPr lang="en-US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Alam</a:t>
                      </a: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, Selangor, Malaysia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kern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0169971"/>
                  </a:ext>
                </a:extLst>
              </a:tr>
              <a:tr h="52644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1" dirty="0" err="1">
                          <a:solidFill>
                            <a:prstClr val="black"/>
                          </a:solidFill>
                          <a:latin typeface="Arial" panose="020B0604020202020204" pitchFamily="34" charset="0"/>
                          <a:ea typeface="맑은 고딕" panose="020B0503020000020004" pitchFamily="34" charset="-127"/>
                          <a:cs typeface="Arial" panose="020B0604020202020204" pitchFamily="34" charset="0"/>
                        </a:rPr>
                        <a:t>Subang</a:t>
                      </a:r>
                      <a:r>
                        <a:rPr lang="en-US" altLang="ko-KR" sz="1100" b="1" dirty="0">
                          <a:solidFill>
                            <a:prstClr val="black"/>
                          </a:solidFill>
                          <a:latin typeface="Arial" panose="020B0604020202020204" pitchFamily="34" charset="0"/>
                          <a:ea typeface="맑은 고딕" panose="020B0503020000020004" pitchFamily="34" charset="-127"/>
                          <a:cs typeface="Arial" panose="020B0604020202020204" pitchFamily="34" charset="0"/>
                        </a:rPr>
                        <a:t> Jaya Warehouse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SS 15, </a:t>
                      </a:r>
                      <a:r>
                        <a:rPr lang="en-US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Subang</a:t>
                      </a: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Jaya 47500, Selangor, Malaysia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5513510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80707" y="3391214"/>
            <a:ext cx="733703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/>
              <a:t>국문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0707" y="6545804"/>
            <a:ext cx="733703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/>
              <a:t>영문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0" y="0"/>
            <a:ext cx="8432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 err="1">
                <a:hlinkClick r:id="rId3"/>
              </a:rPr>
              <a:t>첼로스퀘어</a:t>
            </a:r>
            <a:r>
              <a:rPr lang="ko-KR" altLang="en-US" dirty="0">
                <a:hlinkClick r:id="rId3"/>
              </a:rPr>
              <a:t> 말레이시아 소개 </a:t>
            </a:r>
            <a:r>
              <a:rPr lang="en-US" altLang="ko-KR" dirty="0">
                <a:hlinkClick r:id="rId3"/>
              </a:rPr>
              <a:t>- Global Network | </a:t>
            </a:r>
            <a:r>
              <a:rPr lang="ko-KR" altLang="en-US" dirty="0" err="1">
                <a:hlinkClick r:id="rId3"/>
              </a:rPr>
              <a:t>첼로스퀘어</a:t>
            </a:r>
            <a:r>
              <a:rPr lang="en-US" altLang="ko-KR" dirty="0">
                <a:hlinkClick r:id="rId3"/>
              </a:rPr>
              <a:t>(Cello Square)</a:t>
            </a:r>
            <a:endParaRPr lang="en-US" dirty="0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EE2BB340-B04C-5BDE-4C70-BCEE92D0746C}"/>
              </a:ext>
            </a:extLst>
          </p:cNvPr>
          <p:cNvSpPr/>
          <p:nvPr/>
        </p:nvSpPr>
        <p:spPr>
          <a:xfrm>
            <a:off x="9283700" y="228600"/>
            <a:ext cx="2520000" cy="2520000"/>
          </a:xfrm>
          <a:prstGeom prst="ellipse">
            <a:avLst/>
          </a:prstGeom>
          <a:solidFill>
            <a:srgbClr val="0AD2B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/>
              <a:t>총 </a:t>
            </a:r>
            <a:r>
              <a:rPr kumimoji="1" lang="en-US" altLang="ko-KR" dirty="0"/>
              <a:t>4</a:t>
            </a:r>
            <a:r>
              <a:rPr kumimoji="1" lang="ko-KR" altLang="en-US" dirty="0"/>
              <a:t>개 지점</a:t>
            </a:r>
            <a:r>
              <a:rPr kumimoji="1" lang="en-US" altLang="ko-KR" dirty="0"/>
              <a:t>,</a:t>
            </a:r>
          </a:p>
          <a:p>
            <a:pPr algn="ctr"/>
            <a:r>
              <a:rPr kumimoji="1" lang="ko-KR" altLang="en-US" dirty="0"/>
              <a:t>연락처 추가</a:t>
            </a:r>
            <a:r>
              <a:rPr kumimoji="1" lang="en-US" altLang="ko-KR" dirty="0"/>
              <a:t>,</a:t>
            </a:r>
          </a:p>
          <a:p>
            <a:pPr algn="ctr"/>
            <a:r>
              <a:rPr kumimoji="1" lang="ko-KR" altLang="en-US" dirty="0"/>
              <a:t>영문 버전으로 다국어 반영</a:t>
            </a:r>
          </a:p>
        </p:txBody>
      </p:sp>
    </p:spTree>
    <p:extLst>
      <p:ext uri="{BB962C8B-B14F-4D97-AF65-F5344CB8AC3E}">
        <p14:creationId xmlns:p14="http://schemas.microsoft.com/office/powerpoint/2010/main" val="32692779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/>
          <p:cNvSpPr/>
          <p:nvPr/>
        </p:nvSpPr>
        <p:spPr>
          <a:xfrm>
            <a:off x="6171610" y="2700493"/>
            <a:ext cx="7950790" cy="307933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직사각형 29"/>
          <p:cNvSpPr/>
          <p:nvPr/>
        </p:nvSpPr>
        <p:spPr>
          <a:xfrm>
            <a:off x="6171610" y="6060152"/>
            <a:ext cx="7950790" cy="39474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539" y="698162"/>
            <a:ext cx="4524921" cy="6159838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0" y="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dirty="0" err="1">
                <a:hlinkClick r:id="rId3"/>
              </a:rPr>
              <a:t>첼로스퀘어</a:t>
            </a:r>
            <a:r>
              <a:rPr lang="ko-KR" altLang="en-US" dirty="0">
                <a:hlinkClick r:id="rId3"/>
              </a:rPr>
              <a:t> 말레이시아 소개 </a:t>
            </a:r>
            <a:r>
              <a:rPr lang="en-US" altLang="ko-KR" dirty="0">
                <a:hlinkClick r:id="rId3"/>
              </a:rPr>
              <a:t>- Global Network | </a:t>
            </a:r>
            <a:r>
              <a:rPr lang="ko-KR" altLang="en-US" dirty="0" err="1">
                <a:hlinkClick r:id="rId3"/>
              </a:rPr>
              <a:t>첼로스퀘어</a:t>
            </a:r>
            <a:r>
              <a:rPr lang="en-US" altLang="ko-KR" dirty="0">
                <a:hlinkClick r:id="rId3"/>
              </a:rPr>
              <a:t>(Cello Square)</a:t>
            </a:r>
            <a:endParaRPr lang="en-US" dirty="0"/>
          </a:p>
        </p:txBody>
      </p:sp>
      <p:sp>
        <p:nvSpPr>
          <p:cNvPr id="6" name="사각형 설명선 5"/>
          <p:cNvSpPr/>
          <p:nvPr/>
        </p:nvSpPr>
        <p:spPr>
          <a:xfrm>
            <a:off x="5515429" y="819221"/>
            <a:ext cx="6096000" cy="923330"/>
          </a:xfrm>
          <a:prstGeom prst="wedgeRectCallout">
            <a:avLst>
              <a:gd name="adj1" fmla="val -92976"/>
              <a:gd name="adj2" fmla="val -25529"/>
            </a:avLst>
          </a:prstGeom>
          <a:solidFill>
            <a:srgbClr val="FFFF00"/>
          </a:solidFill>
        </p:spPr>
        <p:txBody>
          <a:bodyPr>
            <a:spAutoFit/>
          </a:bodyPr>
          <a:lstStyle/>
          <a:p>
            <a:pPr lvl="0">
              <a:defRPr/>
            </a:pPr>
            <a:r>
              <a:rPr lang="ko-KR" altLang="en-US" dirty="0">
                <a:solidFill>
                  <a:prstClr val="black"/>
                </a:solidFill>
              </a:rPr>
              <a:t>시스템 중심의 맞춤형 고객 지향 </a:t>
            </a:r>
            <a:r>
              <a:rPr lang="en-US" altLang="ko-KR" dirty="0">
                <a:solidFill>
                  <a:prstClr val="black"/>
                </a:solidFill>
              </a:rPr>
              <a:t>4PL </a:t>
            </a:r>
            <a:r>
              <a:rPr lang="ko-KR" altLang="en-US" dirty="0">
                <a:solidFill>
                  <a:prstClr val="black"/>
                </a:solidFill>
              </a:rPr>
              <a:t>물류 파트너로서</a:t>
            </a:r>
            <a:r>
              <a:rPr lang="en-US" altLang="ko-KR" dirty="0">
                <a:solidFill>
                  <a:prstClr val="black"/>
                </a:solidFill>
              </a:rPr>
              <a:t>, </a:t>
            </a:r>
            <a:r>
              <a:rPr lang="ko-KR" altLang="en-US" dirty="0">
                <a:solidFill>
                  <a:prstClr val="black"/>
                </a:solidFill>
              </a:rPr>
              <a:t>삼성</a:t>
            </a:r>
            <a:r>
              <a:rPr lang="en-US" altLang="ko-KR" dirty="0">
                <a:solidFill>
                  <a:prstClr val="black"/>
                </a:solidFill>
              </a:rPr>
              <a:t>SDS </a:t>
            </a:r>
            <a:r>
              <a:rPr lang="ko-KR" altLang="en-US" dirty="0">
                <a:solidFill>
                  <a:prstClr val="black"/>
                </a:solidFill>
              </a:rPr>
              <a:t>말레이시아는 유통산업 물류 전반을 총괄하는 </a:t>
            </a:r>
            <a:r>
              <a:rPr lang="en-US" altLang="ko-KR" dirty="0">
                <a:solidFill>
                  <a:prstClr val="black"/>
                </a:solidFill>
              </a:rPr>
              <a:t>End-to-End </a:t>
            </a:r>
            <a:r>
              <a:rPr lang="ko-KR" altLang="en-US" dirty="0">
                <a:solidFill>
                  <a:prstClr val="black"/>
                </a:solidFill>
              </a:rPr>
              <a:t>파트너로 자리매김하고 있습니다</a:t>
            </a:r>
            <a:r>
              <a:rPr lang="en-US" altLang="ko-KR" dirty="0">
                <a:solidFill>
                  <a:prstClr val="black"/>
                </a:solidFill>
              </a:rPr>
              <a:t>. 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6243096" y="2568437"/>
            <a:ext cx="1209312" cy="2251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 defTabSz="609585" latinLnBrk="0">
              <a:defRPr/>
            </a:pPr>
            <a:r>
              <a:rPr lang="ko-KR" altLang="en-US" sz="16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Arial" panose="020B0604020202020204" pitchFamily="34" charset="0"/>
                <a:ea typeface="맑은 고딕" panose="020B0503020000020004" pitchFamily="34" charset="-127"/>
                <a:cs typeface="Arial" panose="020B0604020202020204" pitchFamily="34" charset="0"/>
              </a:rPr>
              <a:t>전국 물류 창고 네트워크 </a:t>
            </a:r>
            <a:endParaRPr kumimoji="0" lang="en-US" altLang="ko-KR" sz="1600" b="1" i="0" u="none" strike="noStrike" kern="120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34" charset="-127"/>
              <a:cs typeface="Arial" panose="020B0604020202020204" pitchFamily="34" charset="0"/>
            </a:endParaRPr>
          </a:p>
        </p:txBody>
      </p:sp>
      <p:pic>
        <p:nvPicPr>
          <p:cNvPr id="10" name="Picture 91">
            <a:extLst>
              <a:ext uri="{FF2B5EF4-FFF2-40B4-BE49-F238E27FC236}">
                <a16:creationId xmlns:a16="http://schemas.microsoft.com/office/drawing/2014/main" id="{2B111052-8540-4A1B-BB12-2A9E6031FE31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110747" y="3831771"/>
            <a:ext cx="2189150" cy="897689"/>
          </a:xfrm>
          <a:prstGeom prst="rect">
            <a:avLst/>
          </a:prstGeom>
        </p:spPr>
      </p:pic>
      <p:sp>
        <p:nvSpPr>
          <p:cNvPr id="11" name="직사각형 90">
            <a:extLst>
              <a:ext uri="{FF2B5EF4-FFF2-40B4-BE49-F238E27FC236}">
                <a16:creationId xmlns:a16="http://schemas.microsoft.com/office/drawing/2014/main" id="{FA04C549-F2E0-4388-898B-6291389B4684}"/>
              </a:ext>
            </a:extLst>
          </p:cNvPr>
          <p:cNvSpPr/>
          <p:nvPr/>
        </p:nvSpPr>
        <p:spPr>
          <a:xfrm>
            <a:off x="11103125" y="4462682"/>
            <a:ext cx="2189152" cy="26633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rPr>
              <a:t>Stock/Storage Mgmt</a:t>
            </a:r>
            <a:endParaRPr kumimoji="1" lang="ko-KR" altLang="en-US" sz="900" b="0" i="0" u="none" strike="noStrike" kern="120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12" name="직사각형 101">
            <a:extLst>
              <a:ext uri="{FF2B5EF4-FFF2-40B4-BE49-F238E27FC236}">
                <a16:creationId xmlns:a16="http://schemas.microsoft.com/office/drawing/2014/main" id="{E18DC5DB-DA18-4C47-A309-414A4373888E}"/>
              </a:ext>
            </a:extLst>
          </p:cNvPr>
          <p:cNvSpPr/>
          <p:nvPr/>
        </p:nvSpPr>
        <p:spPr>
          <a:xfrm>
            <a:off x="11109402" y="5374867"/>
            <a:ext cx="2194367" cy="261516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rPr>
              <a:t>Local Delivery (5</a:t>
            </a:r>
            <a:r>
              <a:rPr kumimoji="1" lang="ko-KR" altLang="en-US" sz="900" b="0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rPr>
              <a:t>톤</a:t>
            </a:r>
            <a:r>
              <a:rPr kumimoji="1" lang="en-US" altLang="ko-KR" sz="900" b="0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rPr>
              <a:t>)</a:t>
            </a:r>
            <a:endParaRPr kumimoji="1" lang="ko-KR" altLang="en-US" sz="900" b="0" i="0" u="none" strike="noStrike" kern="120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154934" y="3117463"/>
            <a:ext cx="5133278" cy="73609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ko-KR"/>
            </a:defPPr>
            <a:lvl1pPr marL="285750" lvl="0" indent="-285750" latinLnBrk="0">
              <a:lnSpc>
                <a:spcPct val="120000"/>
              </a:lnSpc>
              <a:spcAft>
                <a:spcPts val="700"/>
              </a:spcAft>
              <a:buClr>
                <a:prstClr val="black"/>
              </a:buClr>
              <a:buSzPct val="100000"/>
              <a:buFont typeface="Arial" panose="020B0604020202020204" pitchFamily="34" charset="0"/>
              <a:buChar char="•"/>
              <a:defRPr sz="1400" ker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95000"/>
                    <a:lumOff val="5000"/>
                  </a:prst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ko-KR" altLang="en-US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전용 </a:t>
            </a:r>
            <a:r>
              <a:rPr lang="en-US" altLang="ko-KR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25,000 </a:t>
            </a:r>
            <a:r>
              <a:rPr lang="en-US" altLang="ko-KR" sz="10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sqft</a:t>
            </a:r>
            <a:r>
              <a:rPr lang="en-US" altLang="ko-KR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시설</a:t>
            </a:r>
            <a:r>
              <a:rPr lang="en-US" altLang="ko-KR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Cello WMS/TMS </a:t>
            </a:r>
            <a:r>
              <a:rPr lang="ko-KR" altLang="en-US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운영</a:t>
            </a:r>
          </a:p>
          <a:p>
            <a:pPr>
              <a:defRPr/>
            </a:pPr>
            <a:r>
              <a:rPr lang="ko-KR" altLang="en-US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전국 라스트 마일 배송 및 가정 설치 서비스를 포함한 </a:t>
            </a:r>
            <a:r>
              <a:rPr lang="en-US" altLang="ko-KR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14</a:t>
            </a:r>
            <a:r>
              <a:rPr lang="ko-KR" altLang="en-US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개의 물류 창고 운영 중</a:t>
            </a:r>
            <a:r>
              <a:rPr lang="en-US" altLang="ko-KR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성수기 수요 대응을 위한 유연한 운송 파트너 지원</a:t>
            </a:r>
          </a:p>
        </p:txBody>
      </p:sp>
      <p:pic>
        <p:nvPicPr>
          <p:cNvPr id="16" name="그림 6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8347" y="3997191"/>
            <a:ext cx="2959834" cy="1630277"/>
          </a:xfrm>
          <a:prstGeom prst="rect">
            <a:avLst/>
          </a:prstGeom>
        </p:spPr>
      </p:pic>
      <p:pic>
        <p:nvPicPr>
          <p:cNvPr id="18" name="그림 10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8468" b="27908"/>
          <a:stretch/>
        </p:blipFill>
        <p:spPr>
          <a:xfrm>
            <a:off x="11109403" y="4688963"/>
            <a:ext cx="2193572" cy="714896"/>
          </a:xfrm>
          <a:prstGeom prst="rect">
            <a:avLst/>
          </a:prstGeom>
        </p:spPr>
      </p:pic>
      <p:sp>
        <p:nvSpPr>
          <p:cNvPr id="21" name="직사각형 20"/>
          <p:cNvSpPr/>
          <p:nvPr/>
        </p:nvSpPr>
        <p:spPr>
          <a:xfrm>
            <a:off x="6390468" y="6151379"/>
            <a:ext cx="1269973" cy="6348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Arial" panose="020B0604020202020204" pitchFamily="34" charset="0"/>
                <a:ea typeface="맑은 고딕" panose="020B0503020000020004" pitchFamily="34" charset="-127"/>
                <a:cs typeface="Arial" panose="020B0604020202020204" pitchFamily="34" charset="0"/>
              </a:rPr>
              <a:t>타이어 창고</a:t>
            </a:r>
            <a:endParaRPr kumimoji="0" lang="en-US" altLang="ko-KR" sz="1600" b="1" i="0" u="none" strike="noStrike" kern="120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959862" y="6363862"/>
            <a:ext cx="5124533" cy="136409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ko-KR"/>
            </a:defPPr>
            <a:lvl1pPr marL="285750" lvl="0" indent="-285750" latinLnBrk="0">
              <a:lnSpc>
                <a:spcPct val="120000"/>
              </a:lnSpc>
              <a:spcAft>
                <a:spcPts val="700"/>
              </a:spcAft>
              <a:buClr>
                <a:prstClr val="black"/>
              </a:buClr>
              <a:buSzPct val="100000"/>
              <a:buFont typeface="Arial" panose="020B0604020202020204" pitchFamily="34" charset="0"/>
              <a:buChar char="•"/>
              <a:defRPr sz="1400" ker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95000"/>
                    <a:lumOff val="5000"/>
                  </a:prst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 lvl="0">
              <a:defRPr/>
            </a:pPr>
            <a:r>
              <a:rPr lang="ko-KR" altLang="en-US" sz="10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쿠알라룸푸르</a:t>
            </a:r>
            <a:r>
              <a:rPr lang="ko-KR" altLang="en-US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내 전국 물류센터 대상 </a:t>
            </a:r>
            <a:r>
              <a:rPr lang="en-US" altLang="ko-KR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4PL</a:t>
            </a:r>
          </a:p>
          <a:p>
            <a:pPr marL="0" indent="0">
              <a:buNone/>
              <a:defRPr/>
            </a:pPr>
            <a:r>
              <a:rPr lang="en-US" altLang="ko-KR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     - </a:t>
            </a:r>
            <a:r>
              <a:rPr lang="ko-KR" altLang="en-US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자체 </a:t>
            </a:r>
            <a:r>
              <a:rPr lang="en-US" altLang="ko-KR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Cello WMS/TMS </a:t>
            </a:r>
            <a:r>
              <a:rPr lang="ko-KR" altLang="en-US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시스템 기반 운영</a:t>
            </a:r>
            <a:endParaRPr lang="en-US" altLang="ko-KR" sz="10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>
              <a:buNone/>
              <a:defRPr/>
            </a:pPr>
            <a:r>
              <a:rPr lang="en-US" altLang="ko-KR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     - </a:t>
            </a:r>
            <a:r>
              <a:rPr lang="ko-KR" altLang="en-US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선입선출 기반 배치</a:t>
            </a:r>
          </a:p>
          <a:p>
            <a:pPr lvl="0">
              <a:defRPr/>
            </a:pPr>
            <a:r>
              <a:rPr lang="ko-KR" altLang="en-US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자체 팀 운영 통관 전 과정 서비스</a:t>
            </a:r>
          </a:p>
          <a:p>
            <a:pPr lvl="0">
              <a:defRPr/>
            </a:pPr>
            <a:r>
              <a:rPr lang="en-US" altLang="ko-KR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CCTV </a:t>
            </a:r>
            <a:r>
              <a:rPr lang="ko-KR" altLang="en-US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감시 및 </a:t>
            </a:r>
            <a:r>
              <a:rPr lang="en-US" altLang="ko-KR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24</a:t>
            </a:r>
            <a:r>
              <a:rPr lang="ko-KR" altLang="en-US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시간 보안요원</a:t>
            </a:r>
          </a:p>
        </p:txBody>
      </p:sp>
      <p:pic>
        <p:nvPicPr>
          <p:cNvPr id="23" name="Picture 4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6747" y="7944359"/>
            <a:ext cx="5070764" cy="1828800"/>
          </a:xfrm>
          <a:prstGeom prst="rect">
            <a:avLst/>
          </a:prstGeom>
        </p:spPr>
      </p:pic>
      <p:sp>
        <p:nvSpPr>
          <p:cNvPr id="25" name="직사각형 24"/>
          <p:cNvSpPr/>
          <p:nvPr/>
        </p:nvSpPr>
        <p:spPr>
          <a:xfrm>
            <a:off x="785539" y="2700493"/>
            <a:ext cx="4860518" cy="20052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직사각형 25"/>
          <p:cNvSpPr/>
          <p:nvPr/>
        </p:nvSpPr>
        <p:spPr>
          <a:xfrm>
            <a:off x="785539" y="4789714"/>
            <a:ext cx="4860518" cy="19739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오른쪽 화살표 26"/>
          <p:cNvSpPr/>
          <p:nvPr/>
        </p:nvSpPr>
        <p:spPr>
          <a:xfrm>
            <a:off x="5515429" y="3523878"/>
            <a:ext cx="504670" cy="307893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오른쪽 화살표 27"/>
          <p:cNvSpPr/>
          <p:nvPr/>
        </p:nvSpPr>
        <p:spPr>
          <a:xfrm rot="1955466">
            <a:off x="5598129" y="6125636"/>
            <a:ext cx="504670" cy="307893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83090" y="787119"/>
            <a:ext cx="733703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/>
              <a:t>국문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24590" y="787119"/>
            <a:ext cx="733703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/>
              <a:t>영문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14624590" y="2700493"/>
            <a:ext cx="7950790" cy="307933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직사각형 39"/>
          <p:cNvSpPr/>
          <p:nvPr/>
        </p:nvSpPr>
        <p:spPr>
          <a:xfrm>
            <a:off x="14696076" y="2568437"/>
            <a:ext cx="1209312" cy="2251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 defTabSz="609585" latinLnBrk="0">
              <a:defRPr/>
            </a:pPr>
            <a:r>
              <a:rPr lang="en-US" altLang="ko-KR" sz="16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Arial" panose="020B0604020202020204" pitchFamily="34" charset="0"/>
                <a:ea typeface="맑은 고딕" panose="020B0503020000020004" pitchFamily="34" charset="-127"/>
                <a:cs typeface="Arial" panose="020B0604020202020204" pitchFamily="34" charset="0"/>
              </a:rPr>
              <a:t>Nationwide Warehouse Network</a:t>
            </a:r>
          </a:p>
        </p:txBody>
      </p:sp>
      <p:pic>
        <p:nvPicPr>
          <p:cNvPr id="41" name="Picture 91">
            <a:extLst>
              <a:ext uri="{FF2B5EF4-FFF2-40B4-BE49-F238E27FC236}">
                <a16:creationId xmlns:a16="http://schemas.microsoft.com/office/drawing/2014/main" id="{2B111052-8540-4A1B-BB12-2A9E6031FE31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563727" y="3831771"/>
            <a:ext cx="2189150" cy="897689"/>
          </a:xfrm>
          <a:prstGeom prst="rect">
            <a:avLst/>
          </a:prstGeom>
        </p:spPr>
      </p:pic>
      <p:sp>
        <p:nvSpPr>
          <p:cNvPr id="42" name="직사각형 90">
            <a:extLst>
              <a:ext uri="{FF2B5EF4-FFF2-40B4-BE49-F238E27FC236}">
                <a16:creationId xmlns:a16="http://schemas.microsoft.com/office/drawing/2014/main" id="{FA04C549-F2E0-4388-898B-6291389B4684}"/>
              </a:ext>
            </a:extLst>
          </p:cNvPr>
          <p:cNvSpPr/>
          <p:nvPr/>
        </p:nvSpPr>
        <p:spPr>
          <a:xfrm>
            <a:off x="19556105" y="4462682"/>
            <a:ext cx="2189152" cy="26633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rPr>
              <a:t>Stock/Storage Mgmt</a:t>
            </a:r>
            <a:endParaRPr kumimoji="1" lang="ko-KR" altLang="en-US" sz="900" b="0" i="0" u="none" strike="noStrike" kern="120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43" name="직사각형 101">
            <a:extLst>
              <a:ext uri="{FF2B5EF4-FFF2-40B4-BE49-F238E27FC236}">
                <a16:creationId xmlns:a16="http://schemas.microsoft.com/office/drawing/2014/main" id="{E18DC5DB-DA18-4C47-A309-414A4373888E}"/>
              </a:ext>
            </a:extLst>
          </p:cNvPr>
          <p:cNvSpPr/>
          <p:nvPr/>
        </p:nvSpPr>
        <p:spPr>
          <a:xfrm>
            <a:off x="19562382" y="5374867"/>
            <a:ext cx="2194367" cy="261516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rPr>
              <a:t>Local Delivery (5</a:t>
            </a:r>
            <a:r>
              <a:rPr kumimoji="1" lang="ko-KR" altLang="en-US" sz="900" b="0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rPr>
              <a:t>톤</a:t>
            </a:r>
            <a:r>
              <a:rPr kumimoji="1" lang="en-US" altLang="ko-KR" sz="900" b="0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rPr>
              <a:t>)</a:t>
            </a:r>
            <a:endParaRPr kumimoji="1" lang="ko-KR" altLang="en-US" sz="900" b="0" i="0" u="none" strike="noStrike" kern="120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pic>
        <p:nvPicPr>
          <p:cNvPr id="44" name="그림 6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41327" y="3997191"/>
            <a:ext cx="2959834" cy="1630277"/>
          </a:xfrm>
          <a:prstGeom prst="rect">
            <a:avLst/>
          </a:prstGeom>
        </p:spPr>
      </p:pic>
      <p:pic>
        <p:nvPicPr>
          <p:cNvPr id="45" name="그림 10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8468" b="27908"/>
          <a:stretch/>
        </p:blipFill>
        <p:spPr>
          <a:xfrm>
            <a:off x="19562383" y="4688963"/>
            <a:ext cx="2193572" cy="714896"/>
          </a:xfrm>
          <a:prstGeom prst="rect">
            <a:avLst/>
          </a:prstGeom>
        </p:spPr>
      </p:pic>
      <p:sp>
        <p:nvSpPr>
          <p:cNvPr id="46" name="직사각형 45"/>
          <p:cNvSpPr/>
          <p:nvPr/>
        </p:nvSpPr>
        <p:spPr>
          <a:xfrm>
            <a:off x="14624590" y="6060152"/>
            <a:ext cx="7950790" cy="39474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직사각형 46"/>
          <p:cNvSpPr/>
          <p:nvPr/>
        </p:nvSpPr>
        <p:spPr>
          <a:xfrm>
            <a:off x="14843448" y="6151379"/>
            <a:ext cx="1269973" cy="6348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 defTabSz="609585" latinLnBrk="0">
              <a:defRPr/>
            </a:pPr>
            <a:r>
              <a:rPr lang="en-US" altLang="ko-KR" sz="16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Arial" panose="020B0604020202020204" pitchFamily="34" charset="0"/>
                <a:ea typeface="맑은 고딕" panose="020B0503020000020004" pitchFamily="34" charset="-127"/>
                <a:cs typeface="Arial" panose="020B0604020202020204" pitchFamily="34" charset="0"/>
              </a:rPr>
              <a:t>Tire Warehouse</a:t>
            </a:r>
          </a:p>
        </p:txBody>
      </p:sp>
      <p:pic>
        <p:nvPicPr>
          <p:cNvPr id="48" name="Picture 4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39727" y="7944359"/>
            <a:ext cx="5070764" cy="182880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16439727" y="6258379"/>
            <a:ext cx="5124533" cy="159633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ko-KR"/>
            </a:defPPr>
            <a:lvl1pPr marL="285750" lvl="0" indent="-285750" latinLnBrk="0">
              <a:lnSpc>
                <a:spcPct val="120000"/>
              </a:lnSpc>
              <a:spcAft>
                <a:spcPts val="700"/>
              </a:spcAft>
              <a:buClr>
                <a:prstClr val="black"/>
              </a:buClr>
              <a:buSzPct val="100000"/>
              <a:buFont typeface="Arial" panose="020B0604020202020204" pitchFamily="34" charset="0"/>
              <a:buChar char="•"/>
              <a:defRPr sz="1400" ker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95000"/>
                    <a:lumOff val="5000"/>
                  </a:prst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 marL="285750" marR="0" lvl="0" indent="-2857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  <a:buClr>
                <a:prstClr val="black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4PL for Nationwide Distribution Center in KL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  <a:buClr>
                <a:prstClr val="black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     - System based operation by own Cello WMS/ TMS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  <a:buClr>
                <a:prstClr val="black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     - FIFO(First-in, First-out) based bin allocation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  <a:buClr>
                <a:prstClr val="black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altLang="ko-KR" sz="1200" b="0" i="0" u="none" strike="noStrike" kern="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Full customs clearance service scopes by own team</a:t>
            </a:r>
          </a:p>
          <a:p>
            <a:pPr marL="285750" marR="0" lvl="0" indent="-2857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  <a:buClr>
                <a:prstClr val="black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altLang="ko-KR" sz="1200" b="0" i="0" u="none" strike="noStrike" kern="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Constant CCTV surveillance with 24/7 security guards</a:t>
            </a:r>
            <a:endParaRPr kumimoji="0" lang="en-US" altLang="ko-KR" sz="1200" b="0" i="0" u="none" strike="noStrike" kern="0" cap="none" spc="0" normalizeH="0" baseline="0" noProof="0" dirty="0">
              <a:ln>
                <a:solidFill>
                  <a:prstClr val="black">
                    <a:alpha val="0"/>
                  </a:prstClr>
                </a:solidFill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6377213" y="2807341"/>
            <a:ext cx="5133278" cy="106849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ko-KR"/>
            </a:defPPr>
            <a:lvl1pPr marL="285750" lvl="0" indent="-285750" latinLnBrk="0">
              <a:lnSpc>
                <a:spcPct val="120000"/>
              </a:lnSpc>
              <a:spcAft>
                <a:spcPts val="700"/>
              </a:spcAft>
              <a:buClr>
                <a:prstClr val="black"/>
              </a:buClr>
              <a:buSzPct val="100000"/>
              <a:buFont typeface="Arial" panose="020B0604020202020204" pitchFamily="34" charset="0"/>
              <a:buChar char="•"/>
              <a:defRPr sz="1400" ker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95000"/>
                    <a:lumOff val="5000"/>
                  </a:prst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r>
              <a:rPr lang="en-SG" altLang="ko-KR" sz="1200" dirty="0"/>
              <a:t>A dedicated 25,000 </a:t>
            </a:r>
            <a:r>
              <a:rPr lang="en-SG" altLang="ko-KR" sz="1200" dirty="0" err="1"/>
              <a:t>sq</a:t>
            </a:r>
            <a:r>
              <a:rPr lang="en-SG" altLang="ko-KR" sz="1200" dirty="0"/>
              <a:t> </a:t>
            </a:r>
            <a:r>
              <a:rPr lang="en-SG" altLang="ko-KR" sz="1200" dirty="0" err="1"/>
              <a:t>ft</a:t>
            </a:r>
            <a:r>
              <a:rPr lang="en-SG" altLang="ko-KR" sz="1200" dirty="0"/>
              <a:t> facility powered by our Cello WMS/TMS.</a:t>
            </a:r>
          </a:p>
          <a:p>
            <a:r>
              <a:rPr lang="en-SG" altLang="ko-KR" sz="1200" dirty="0"/>
              <a:t>We manage 14 ongoing warehouse operations with nationwide last-mile and home installation coverage, supported by a flexible network of transport partners to handle peak-season demand.</a:t>
            </a:r>
            <a:endParaRPr lang="ko-KR" altLang="en-US" sz="1200" dirty="0"/>
          </a:p>
        </p:txBody>
      </p:sp>
      <p:sp>
        <p:nvSpPr>
          <p:cNvPr id="52" name="사각형 설명선 51"/>
          <p:cNvSpPr/>
          <p:nvPr/>
        </p:nvSpPr>
        <p:spPr>
          <a:xfrm>
            <a:off x="15882329" y="819221"/>
            <a:ext cx="6096000" cy="369332"/>
          </a:xfrm>
          <a:prstGeom prst="wedgeRectCallout">
            <a:avLst>
              <a:gd name="adj1" fmla="val -60268"/>
              <a:gd name="adj2" fmla="val 4731"/>
            </a:avLst>
          </a:prstGeom>
          <a:solidFill>
            <a:srgbClr val="FFFF00"/>
          </a:solidFill>
        </p:spPr>
        <p:txBody>
          <a:bodyPr>
            <a:spAutoFit/>
          </a:bodyPr>
          <a:lstStyle/>
          <a:p>
            <a:pPr lvl="0">
              <a:defRPr/>
            </a:pPr>
            <a:r>
              <a:rPr lang="ko-KR" altLang="en-US" dirty="0">
                <a:solidFill>
                  <a:prstClr val="black"/>
                </a:solidFill>
              </a:rPr>
              <a:t>이 부분 변화 없음</a:t>
            </a:r>
            <a:r>
              <a:rPr lang="en-US" altLang="ko-KR" dirty="0">
                <a:solidFill>
                  <a:prstClr val="black"/>
                </a:solidFill>
              </a:rPr>
              <a:t>, </a:t>
            </a:r>
            <a:r>
              <a:rPr lang="ko-KR" altLang="en-US" dirty="0">
                <a:solidFill>
                  <a:prstClr val="black"/>
                </a:solidFill>
              </a:rPr>
              <a:t>아래만 반영</a:t>
            </a:r>
            <a:endParaRPr lang="en-US" altLang="ko-KR" dirty="0">
              <a:solidFill>
                <a:prstClr val="black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5464781" y="532059"/>
            <a:ext cx="733703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/>
              <a:t>국문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26614" y="2263882"/>
            <a:ext cx="733703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/>
              <a:t>국문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4624590" y="2263882"/>
            <a:ext cx="733703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/>
              <a:t>영문</a:t>
            </a: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DB4CF235-0ACE-EAE5-1D44-4BAB28917B7C}"/>
              </a:ext>
            </a:extLst>
          </p:cNvPr>
          <p:cNvSpPr/>
          <p:nvPr/>
        </p:nvSpPr>
        <p:spPr>
          <a:xfrm>
            <a:off x="9283700" y="228600"/>
            <a:ext cx="2520000" cy="2520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/>
              <a:t>디자인 이미지 변경 </a:t>
            </a:r>
            <a:endParaRPr kumimoji="1" lang="en-US" altLang="ko-KR" dirty="0"/>
          </a:p>
          <a:p>
            <a:pPr algn="ctr"/>
            <a:r>
              <a:rPr kumimoji="1" lang="ko-KR" altLang="en-US" dirty="0" err="1"/>
              <a:t>퍼블</a:t>
            </a:r>
            <a:r>
              <a:rPr kumimoji="1" lang="ko-KR" altLang="en-US" dirty="0"/>
              <a:t> </a:t>
            </a:r>
            <a:r>
              <a:rPr kumimoji="1" lang="en-US" altLang="ko-KR" dirty="0"/>
              <a:t>:</a:t>
            </a:r>
            <a:r>
              <a:rPr kumimoji="1" lang="ko-KR" altLang="en-US" dirty="0"/>
              <a:t> 다국어 엑셀파일 참고</a:t>
            </a:r>
          </a:p>
        </p:txBody>
      </p:sp>
    </p:spTree>
    <p:extLst>
      <p:ext uri="{BB962C8B-B14F-4D97-AF65-F5344CB8AC3E}">
        <p14:creationId xmlns:p14="http://schemas.microsoft.com/office/powerpoint/2010/main" val="6048297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t="6054" b="11657"/>
          <a:stretch/>
        </p:blipFill>
        <p:spPr>
          <a:xfrm>
            <a:off x="723209" y="850900"/>
            <a:ext cx="8149622" cy="5829300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0" y="50269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dirty="0" err="1">
                <a:hlinkClick r:id="rId3"/>
              </a:rPr>
              <a:t>첼로스퀘어</a:t>
            </a:r>
            <a:r>
              <a:rPr lang="ko-KR" altLang="en-US" dirty="0">
                <a:hlinkClick r:id="rId3"/>
              </a:rPr>
              <a:t> 싱가포르 소개 </a:t>
            </a:r>
            <a:r>
              <a:rPr lang="en-US" altLang="ko-KR" dirty="0">
                <a:hlinkClick r:id="rId3"/>
              </a:rPr>
              <a:t>- Global Network | </a:t>
            </a:r>
            <a:r>
              <a:rPr lang="ko-KR" altLang="en-US" dirty="0" err="1">
                <a:hlinkClick r:id="rId3"/>
              </a:rPr>
              <a:t>첼로스퀘어</a:t>
            </a:r>
            <a:r>
              <a:rPr lang="en-US" altLang="ko-KR" dirty="0">
                <a:hlinkClick r:id="rId3"/>
              </a:rPr>
              <a:t>(Cello Square)</a:t>
            </a:r>
            <a:endParaRPr lang="en-US" dirty="0"/>
          </a:p>
        </p:txBody>
      </p:sp>
      <p:sp>
        <p:nvSpPr>
          <p:cNvPr id="6" name="사각형 설명선 5"/>
          <p:cNvSpPr/>
          <p:nvPr/>
        </p:nvSpPr>
        <p:spPr>
          <a:xfrm>
            <a:off x="8207829" y="3077170"/>
            <a:ext cx="6096000" cy="923330"/>
          </a:xfrm>
          <a:prstGeom prst="wedgeRectCallout">
            <a:avLst>
              <a:gd name="adj1" fmla="val -66934"/>
              <a:gd name="adj2" fmla="val 14359"/>
            </a:avLst>
          </a:prstGeom>
          <a:solidFill>
            <a:srgbClr val="FFFF00"/>
          </a:solidFill>
        </p:spPr>
        <p:txBody>
          <a:bodyPr>
            <a:spAutoFit/>
          </a:bodyPr>
          <a:lstStyle/>
          <a:p>
            <a:pPr lvl="0">
              <a:defRPr/>
            </a:pPr>
            <a:r>
              <a:rPr lang="ko-KR" altLang="en-US" dirty="0">
                <a:solidFill>
                  <a:prstClr val="black"/>
                </a:solidFill>
              </a:rPr>
              <a:t>삼성</a:t>
            </a:r>
            <a:r>
              <a:rPr lang="en-US" altLang="ko-KR" dirty="0">
                <a:solidFill>
                  <a:prstClr val="black"/>
                </a:solidFill>
              </a:rPr>
              <a:t>SDS </a:t>
            </a:r>
            <a:r>
              <a:rPr lang="ko-KR" altLang="en-US" dirty="0">
                <a:solidFill>
                  <a:prstClr val="black"/>
                </a:solidFill>
              </a:rPr>
              <a:t>싱가포르는 강력한 운임 경쟁력과 탄탄한 현지 운영 역량을 바탕으로 디지털 </a:t>
            </a:r>
            <a:r>
              <a:rPr lang="ko-KR" altLang="en-US" dirty="0" err="1">
                <a:solidFill>
                  <a:prstClr val="black"/>
                </a:solidFill>
              </a:rPr>
              <a:t>포워딩</a:t>
            </a:r>
            <a:r>
              <a:rPr lang="ko-KR" altLang="en-US" dirty="0">
                <a:solidFill>
                  <a:prstClr val="black"/>
                </a:solidFill>
              </a:rPr>
              <a:t> 리더로 자리매김 하고 있습니다</a:t>
            </a:r>
            <a:r>
              <a:rPr lang="en-US" altLang="ko-KR" dirty="0">
                <a:solidFill>
                  <a:prstClr val="black"/>
                </a:solidFill>
              </a:rPr>
              <a:t>. </a:t>
            </a:r>
            <a:endParaRPr lang="en-US" altLang="ko-KR" sz="150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547538" y="3348193"/>
            <a:ext cx="6097861" cy="6523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9100090" y="1193519"/>
            <a:ext cx="733703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/>
              <a:t>국문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1547538" y="4309100"/>
            <a:ext cx="6097861" cy="24348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4878590" y="1193519"/>
            <a:ext cx="733703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/>
              <a:t>영문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66DE5BFF-387F-B4CF-BD09-AE05D18FF9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37009"/>
          <a:stretch/>
        </p:blipFill>
        <p:spPr bwMode="auto">
          <a:xfrm>
            <a:off x="8469728" y="4309101"/>
            <a:ext cx="5122473" cy="265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2" name="직선 연결선 51"/>
          <p:cNvCxnSpPr/>
          <p:nvPr/>
        </p:nvCxnSpPr>
        <p:spPr>
          <a:xfrm>
            <a:off x="13897001" y="4501742"/>
            <a:ext cx="0" cy="3966647"/>
          </a:xfrm>
          <a:prstGeom prst="line">
            <a:avLst/>
          </a:prstGeom>
          <a:ln w="12700" cap="rnd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" name="그룹 52"/>
          <p:cNvGrpSpPr/>
          <p:nvPr/>
        </p:nvGrpSpPr>
        <p:grpSpPr>
          <a:xfrm>
            <a:off x="10950648" y="5651499"/>
            <a:ext cx="359282" cy="360000"/>
            <a:chOff x="2424318" y="2632193"/>
            <a:chExt cx="359282" cy="360000"/>
          </a:xfrm>
        </p:grpSpPr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D4E1DCA4-F4C8-D022-DC9E-653243F8A19C}"/>
                </a:ext>
              </a:extLst>
            </p:cNvPr>
            <p:cNvSpPr/>
            <p:nvPr/>
          </p:nvSpPr>
          <p:spPr>
            <a:xfrm>
              <a:off x="2542065" y="2764451"/>
              <a:ext cx="134360" cy="134360"/>
            </a:xfrm>
            <a:prstGeom prst="ellipse">
              <a:avLst/>
            </a:prstGeom>
            <a:gradFill flip="none" rotWithShape="1">
              <a:gsLst>
                <a:gs pos="7000">
                  <a:schemeClr val="bg1">
                    <a:alpha val="66000"/>
                  </a:schemeClr>
                </a:gs>
                <a:gs pos="52000">
                  <a:schemeClr val="bg1">
                    <a:alpha val="1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DS Sans Light" panose="020B0000000101010101" pitchFamily="50" charset="-127"/>
                <a:ea typeface="SDS Sans Light" panose="020B0000000101010101" pitchFamily="50" charset="-127"/>
                <a:cs typeface="+mn-cs"/>
              </a:endParaRPr>
            </a:p>
          </p:txBody>
        </p:sp>
        <p:pic>
          <p:nvPicPr>
            <p:cNvPr id="55" name="그림 54">
              <a:extLst>
                <a:ext uri="{FF2B5EF4-FFF2-40B4-BE49-F238E27FC236}">
                  <a16:creationId xmlns:a16="http://schemas.microsoft.com/office/drawing/2014/main" id="{74A322BA-CF1E-C465-4409-A3A08BE38EF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424318" y="2632193"/>
              <a:ext cx="359282" cy="360000"/>
            </a:xfrm>
            <a:prstGeom prst="rect">
              <a:avLst/>
            </a:prstGeom>
          </p:spPr>
        </p:pic>
      </p:grpSp>
      <p:grpSp>
        <p:nvGrpSpPr>
          <p:cNvPr id="56" name="그룹 55"/>
          <p:cNvGrpSpPr/>
          <p:nvPr/>
        </p:nvGrpSpPr>
        <p:grpSpPr>
          <a:xfrm>
            <a:off x="11131176" y="5460495"/>
            <a:ext cx="508516" cy="1159840"/>
            <a:chOff x="3330175" y="3145295"/>
            <a:chExt cx="508516" cy="1159840"/>
          </a:xfrm>
        </p:grpSpPr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6DD4D543-6F91-B2A7-906A-55EDBEE01ADC}"/>
                </a:ext>
              </a:extLst>
            </p:cNvPr>
            <p:cNvCxnSpPr/>
            <p:nvPr/>
          </p:nvCxnSpPr>
          <p:spPr>
            <a:xfrm flipH="1" flipV="1">
              <a:off x="3330175" y="3585135"/>
              <a:ext cx="10754" cy="720000"/>
            </a:xfrm>
            <a:prstGeom prst="line">
              <a:avLst/>
            </a:prstGeom>
            <a:noFill/>
            <a:ln w="12700" cap="rnd"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6DD4D543-6F91-B2A7-906A-55EDBEE01ADC}"/>
                </a:ext>
              </a:extLst>
            </p:cNvPr>
            <p:cNvCxnSpPr/>
            <p:nvPr/>
          </p:nvCxnSpPr>
          <p:spPr>
            <a:xfrm flipH="1" flipV="1">
              <a:off x="3827937" y="3145295"/>
              <a:ext cx="10754" cy="720000"/>
            </a:xfrm>
            <a:prstGeom prst="line">
              <a:avLst/>
            </a:prstGeom>
            <a:noFill/>
            <a:ln w="12700" cap="rnd"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59" name="그룹 58"/>
          <p:cNvGrpSpPr/>
          <p:nvPr/>
        </p:nvGrpSpPr>
        <p:grpSpPr>
          <a:xfrm>
            <a:off x="11441356" y="5213047"/>
            <a:ext cx="359282" cy="360000"/>
            <a:chOff x="2424318" y="2632193"/>
            <a:chExt cx="359282" cy="360000"/>
          </a:xfrm>
        </p:grpSpPr>
        <p:sp>
          <p:nvSpPr>
            <p:cNvPr id="60" name="타원 59">
              <a:extLst>
                <a:ext uri="{FF2B5EF4-FFF2-40B4-BE49-F238E27FC236}">
                  <a16:creationId xmlns:a16="http://schemas.microsoft.com/office/drawing/2014/main" id="{D4E1DCA4-F4C8-D022-DC9E-653243F8A19C}"/>
                </a:ext>
              </a:extLst>
            </p:cNvPr>
            <p:cNvSpPr/>
            <p:nvPr/>
          </p:nvSpPr>
          <p:spPr>
            <a:xfrm>
              <a:off x="2542065" y="2764451"/>
              <a:ext cx="134360" cy="134360"/>
            </a:xfrm>
            <a:prstGeom prst="ellipse">
              <a:avLst/>
            </a:prstGeom>
            <a:gradFill flip="none" rotWithShape="1">
              <a:gsLst>
                <a:gs pos="7000">
                  <a:schemeClr val="bg1">
                    <a:alpha val="66000"/>
                  </a:schemeClr>
                </a:gs>
                <a:gs pos="52000">
                  <a:schemeClr val="bg1">
                    <a:alpha val="1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DS Sans Light" panose="020B0000000101010101" pitchFamily="50" charset="-127"/>
                <a:ea typeface="SDS Sans Light" panose="020B0000000101010101" pitchFamily="50" charset="-127"/>
                <a:cs typeface="+mn-cs"/>
              </a:endParaRPr>
            </a:p>
          </p:txBody>
        </p:sp>
        <p:pic>
          <p:nvPicPr>
            <p:cNvPr id="61" name="그림 60">
              <a:extLst>
                <a:ext uri="{FF2B5EF4-FFF2-40B4-BE49-F238E27FC236}">
                  <a16:creationId xmlns:a16="http://schemas.microsoft.com/office/drawing/2014/main" id="{74A322BA-CF1E-C465-4409-A3A08BE38EF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424318" y="2632193"/>
              <a:ext cx="359282" cy="360000"/>
            </a:xfrm>
            <a:prstGeom prst="rect">
              <a:avLst/>
            </a:prstGeom>
          </p:spPr>
        </p:pic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903DC0D1-2844-2E76-2869-CDF6EC90CD6B}"/>
              </a:ext>
            </a:extLst>
          </p:cNvPr>
          <p:cNvGrpSpPr/>
          <p:nvPr/>
        </p:nvGrpSpPr>
        <p:grpSpPr>
          <a:xfrm>
            <a:off x="10305790" y="6421334"/>
            <a:ext cx="1660746" cy="504000"/>
            <a:chOff x="1297143" y="162343"/>
            <a:chExt cx="1838103" cy="696740"/>
          </a:xfrm>
        </p:grpSpPr>
        <p:grpSp>
          <p:nvGrpSpPr>
            <p:cNvPr id="63" name="그룹 62">
              <a:extLst>
                <a:ext uri="{FF2B5EF4-FFF2-40B4-BE49-F238E27FC236}">
                  <a16:creationId xmlns:a16="http://schemas.microsoft.com/office/drawing/2014/main" id="{FFF041CB-3DFC-FB41-F31E-477EE938A2AB}"/>
                </a:ext>
              </a:extLst>
            </p:cNvPr>
            <p:cNvGrpSpPr/>
            <p:nvPr/>
          </p:nvGrpSpPr>
          <p:grpSpPr>
            <a:xfrm>
              <a:off x="1302396" y="162343"/>
              <a:ext cx="1832850" cy="696740"/>
              <a:chOff x="540679" y="1745399"/>
              <a:chExt cx="1832850" cy="696740"/>
            </a:xfrm>
          </p:grpSpPr>
          <p:sp>
            <p:nvSpPr>
              <p:cNvPr id="67" name="모서리가 둥근 직사각형 240">
                <a:extLst>
                  <a:ext uri="{FF2B5EF4-FFF2-40B4-BE49-F238E27FC236}">
                    <a16:creationId xmlns:a16="http://schemas.microsoft.com/office/drawing/2014/main" id="{1D18C733-A5D5-311E-08E4-3FFF8CD91906}"/>
                  </a:ext>
                </a:extLst>
              </p:cNvPr>
              <p:cNvSpPr/>
              <p:nvPr/>
            </p:nvSpPr>
            <p:spPr>
              <a:xfrm>
                <a:off x="540679" y="1745399"/>
                <a:ext cx="1832850" cy="69674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solidFill>
                  <a:srgbClr val="1428A0"/>
                </a:solidFill>
              </a:ln>
              <a:effectLst>
                <a:outerShdw blurRad="1270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78D0A822-87C0-4959-51F2-A808B0297E82}"/>
                  </a:ext>
                </a:extLst>
              </p:cNvPr>
              <p:cNvSpPr txBox="1"/>
              <p:nvPr/>
            </p:nvSpPr>
            <p:spPr>
              <a:xfrm>
                <a:off x="1268278" y="1899359"/>
                <a:ext cx="617419" cy="47866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>
                <a:defPPr>
                  <a:defRPr lang="ko-KR"/>
                </a:defPPr>
                <a:lvl1pPr algn="r" latinLnBrk="0">
                  <a:spcAft>
                    <a:spcPts val="200"/>
                  </a:spcAft>
                  <a:defRPr sz="90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  <a:cs typeface="Arial" panose="020B0604020202020204" pitchFamily="34" charset="0"/>
                  </a:defRPr>
                </a:lvl1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ExtraBold" panose="020B0600000101010101" pitchFamily="50" charset="-127"/>
                    <a:ea typeface="나눔스퀘어 ExtraBold" panose="020B0600000101010101" pitchFamily="50" charset="-127"/>
                    <a:cs typeface="Arial" panose="020B0604020202020204" pitchFamily="34" charset="0"/>
                  </a:rPr>
                  <a:t>싱가포르</a:t>
                </a:r>
                <a:br>
                  <a:rPr kumimoji="0" lang="en-US" altLang="ko-KR" sz="800" b="0" i="0" u="none" strike="noStrike" kern="120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95000"/>
                        <a:lumOff val="5000"/>
                      </a:prstClr>
                    </a:solidFill>
                    <a:effectLst/>
                    <a:uLnTx/>
                    <a:uFillTx/>
                    <a:latin typeface="SDS Sans  Regular" panose="020B0000000101010101" pitchFamily="50" charset="-127"/>
                    <a:ea typeface="SDS Sans  Regular" panose="020B0000000101010101" pitchFamily="50" charset="-127"/>
                    <a:cs typeface="Arial" panose="020B0604020202020204" pitchFamily="34" charset="0"/>
                  </a:rPr>
                </a:br>
                <a:r>
                  <a:rPr kumimoji="0" lang="ko-KR" altLang="en-US" sz="1050" b="0" i="0" u="none" strike="noStrike" kern="120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95000"/>
                        <a:lumOff val="5000"/>
                      </a:prstClr>
                    </a:solidFill>
                    <a:effectLst/>
                    <a:uLnTx/>
                    <a:uFillTx/>
                    <a:latin typeface="나눔스퀘어" panose="020B0600000101010101" pitchFamily="50" charset="-127"/>
                    <a:ea typeface="나눔스퀘어" panose="020B0600000101010101" pitchFamily="50" charset="-127"/>
                    <a:cs typeface="Arial" panose="020B0604020202020204" pitchFamily="34" charset="0"/>
                  </a:rPr>
                  <a:t>싱가포르</a:t>
                </a:r>
                <a:endParaRPr kumimoji="0" lang="en-US" altLang="ko-KR" sz="1050" b="0" i="0" u="none" strike="noStrike" kern="120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871EC1A8-C945-F422-47EB-3EC31A5C1B29}"/>
                </a:ext>
              </a:extLst>
            </p:cNvPr>
            <p:cNvGrpSpPr/>
            <p:nvPr/>
          </p:nvGrpSpPr>
          <p:grpSpPr>
            <a:xfrm>
              <a:off x="1297143" y="162343"/>
              <a:ext cx="605637" cy="696740"/>
              <a:chOff x="4797175" y="1799754"/>
              <a:chExt cx="605637" cy="696740"/>
            </a:xfrm>
          </p:grpSpPr>
          <p:sp>
            <p:nvSpPr>
              <p:cNvPr id="65" name="양쪽 모서리가 둥근 사각형 245">
                <a:extLst>
                  <a:ext uri="{FF2B5EF4-FFF2-40B4-BE49-F238E27FC236}">
                    <a16:creationId xmlns:a16="http://schemas.microsoft.com/office/drawing/2014/main" id="{509F0944-F6B2-06A1-F123-B46488B45D27}"/>
                  </a:ext>
                </a:extLst>
              </p:cNvPr>
              <p:cNvSpPr/>
              <p:nvPr/>
            </p:nvSpPr>
            <p:spPr>
              <a:xfrm rot="16200000">
                <a:off x="4751624" y="1845305"/>
                <a:ext cx="696740" cy="605637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1428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  <p:pic>
            <p:nvPicPr>
              <p:cNvPr id="66" name="그림 65">
                <a:extLst>
                  <a:ext uri="{FF2B5EF4-FFF2-40B4-BE49-F238E27FC236}">
                    <a16:creationId xmlns:a16="http://schemas.microsoft.com/office/drawing/2014/main" id="{ED4CD418-DFF3-035D-94FF-B68636597C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4891695" y="1897719"/>
                <a:ext cx="475354" cy="475356"/>
              </a:xfrm>
              <a:prstGeom prst="rect">
                <a:avLst/>
              </a:prstGeom>
            </p:spPr>
          </p:pic>
        </p:grpSp>
      </p:grpSp>
      <p:grpSp>
        <p:nvGrpSpPr>
          <p:cNvPr id="69" name="그룹 68"/>
          <p:cNvGrpSpPr/>
          <p:nvPr/>
        </p:nvGrpSpPr>
        <p:grpSpPr>
          <a:xfrm>
            <a:off x="11543717" y="5931750"/>
            <a:ext cx="1358345" cy="368623"/>
            <a:chOff x="4702254" y="3968686"/>
            <a:chExt cx="1358345" cy="368623"/>
          </a:xfrm>
        </p:grpSpPr>
        <p:grpSp>
          <p:nvGrpSpPr>
            <p:cNvPr id="70" name="그룹 69">
              <a:extLst>
                <a:ext uri="{FF2B5EF4-FFF2-40B4-BE49-F238E27FC236}">
                  <a16:creationId xmlns:a16="http://schemas.microsoft.com/office/drawing/2014/main" id="{903DC0D1-2844-2E76-2869-CDF6EC90CD6B}"/>
                </a:ext>
              </a:extLst>
            </p:cNvPr>
            <p:cNvGrpSpPr/>
            <p:nvPr/>
          </p:nvGrpSpPr>
          <p:grpSpPr>
            <a:xfrm>
              <a:off x="4702254" y="3968686"/>
              <a:ext cx="1358345" cy="368623"/>
              <a:chOff x="1297144" y="159828"/>
              <a:chExt cx="1503408" cy="509592"/>
            </a:xfrm>
          </p:grpSpPr>
          <p:grpSp>
            <p:nvGrpSpPr>
              <p:cNvPr id="72" name="그룹 71">
                <a:extLst>
                  <a:ext uri="{FF2B5EF4-FFF2-40B4-BE49-F238E27FC236}">
                    <a16:creationId xmlns:a16="http://schemas.microsoft.com/office/drawing/2014/main" id="{FFF041CB-3DFC-FB41-F31E-477EE938A2AB}"/>
                  </a:ext>
                </a:extLst>
              </p:cNvPr>
              <p:cNvGrpSpPr/>
              <p:nvPr/>
            </p:nvGrpSpPr>
            <p:grpSpPr>
              <a:xfrm>
                <a:off x="1302396" y="162344"/>
                <a:ext cx="1498156" cy="504621"/>
                <a:chOff x="540679" y="1745400"/>
                <a:chExt cx="1498156" cy="504621"/>
              </a:xfrm>
            </p:grpSpPr>
            <p:sp>
              <p:nvSpPr>
                <p:cNvPr id="74" name="모서리가 둥근 직사각형 240">
                  <a:extLst>
                    <a:ext uri="{FF2B5EF4-FFF2-40B4-BE49-F238E27FC236}">
                      <a16:creationId xmlns:a16="http://schemas.microsoft.com/office/drawing/2014/main" id="{1D18C733-A5D5-311E-08E4-3FFF8CD91906}"/>
                    </a:ext>
                  </a:extLst>
                </p:cNvPr>
                <p:cNvSpPr/>
                <p:nvPr/>
              </p:nvSpPr>
              <p:spPr>
                <a:xfrm>
                  <a:off x="540679" y="1745400"/>
                  <a:ext cx="1498156" cy="50462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맑은 고딕" panose="020F0502020204030204"/>
                    <a:ea typeface="맑은 고딕" panose="020B0503020000020004" pitchFamily="34" charset="-127"/>
                    <a:cs typeface="+mn-cs"/>
                  </a:endParaRPr>
                </a:p>
              </p:txBody>
            </p:sp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78D0A822-87C0-4959-51F2-A808B0297E82}"/>
                    </a:ext>
                  </a:extLst>
                </p:cNvPr>
                <p:cNvSpPr txBox="1"/>
                <p:nvPr/>
              </p:nvSpPr>
              <p:spPr>
                <a:xfrm>
                  <a:off x="1133416" y="1827162"/>
                  <a:ext cx="734516" cy="36165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>
                  <a:defPPr>
                    <a:defRPr lang="ko-KR"/>
                  </a:defPPr>
                  <a:lvl1pPr algn="r" latinLnBrk="0">
                    <a:spcAft>
                      <a:spcPts val="200"/>
                    </a:spcAft>
                    <a:defRPr sz="90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latin typeface="나눔스퀘어 Bold" panose="020B0600000101010101" pitchFamily="50" charset="-127"/>
                      <a:ea typeface="나눔스퀘어 Bold" panose="020B0600000101010101" pitchFamily="50" charset="-127"/>
                      <a:cs typeface="Arial" panose="020B0604020202020204" pitchFamily="34" charset="0"/>
                    </a:defRPr>
                  </a:lvl1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1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ko-KR" altLang="en-US" dirty="0">
                      <a:latin typeface="나눔스퀘어 ExtraBold" panose="020B0600000101010101" pitchFamily="50" charset="-127"/>
                      <a:ea typeface="나눔스퀘어 ExtraBold" panose="020B0600000101010101" pitchFamily="50" charset="-127"/>
                    </a:rPr>
                    <a:t>그린위치 </a:t>
                  </a:r>
                  <a:r>
                    <a:rPr kumimoji="0" lang="ko-KR" altLang="en-US" sz="900" b="0" i="0" u="none" strike="noStrike" kern="1200" cap="none" spc="0" normalizeH="0" baseline="0" noProof="0" dirty="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나눔스퀘어 ExtraBold" panose="020B0600000101010101" pitchFamily="50" charset="-127"/>
                      <a:ea typeface="나눔스퀘어 ExtraBold" panose="020B0600000101010101" pitchFamily="50" charset="-127"/>
                      <a:cs typeface="Arial" panose="020B0604020202020204" pitchFamily="34" charset="0"/>
                    </a:rPr>
                    <a:t>창고</a:t>
                  </a:r>
                  <a:br>
                    <a:rPr kumimoji="0" lang="en-US" altLang="ko-KR" sz="1050" b="1" i="0" u="none" strike="noStrike" kern="1200" cap="none" spc="0" normalizeH="0" baseline="0" noProof="0" dirty="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prstClr val="black">
                          <a:lumMod val="95000"/>
                          <a:lumOff val="5000"/>
                        </a:prstClr>
                      </a:solidFill>
                      <a:effectLst/>
                      <a:uLnTx/>
                      <a:uFillTx/>
                      <a:latin typeface="SDS Sans  Medium" panose="020B0000000101010101" pitchFamily="50" charset="-127"/>
                      <a:ea typeface="SDS Sans  Bold"/>
                      <a:cs typeface="Arial" panose="020B0604020202020204" pitchFamily="34" charset="0"/>
                    </a:rPr>
                  </a:br>
                  <a:r>
                    <a:rPr kumimoji="0" lang="ko-KR" altLang="en-US" sz="800" b="0" i="0" u="none" strike="noStrike" kern="1200" cap="none" spc="0" normalizeH="0" baseline="0" noProof="0" dirty="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prstClr val="black">
                          <a:lumMod val="95000"/>
                          <a:lumOff val="5000"/>
                        </a:prstClr>
                      </a:solidFill>
                      <a:effectLst/>
                      <a:uLnTx/>
                      <a:uFillTx/>
                      <a:latin typeface="나눔스퀘어" panose="020B0600000101010101" pitchFamily="50" charset="-127"/>
                      <a:ea typeface="나눔스퀘어" panose="020B0600000101010101" pitchFamily="50" charset="-127"/>
                      <a:cs typeface="Arial" panose="020B0604020202020204" pitchFamily="34" charset="0"/>
                    </a:rPr>
                    <a:t>그린위치</a:t>
                  </a:r>
                  <a:endParaRPr kumimoji="0" lang="en-US" altLang="ko-KR" sz="800" b="0" i="0" u="none" strike="noStrike" kern="120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95000"/>
                        <a:lumOff val="5000"/>
                      </a:prstClr>
                    </a:solidFill>
                    <a:effectLst/>
                    <a:uLnTx/>
                    <a:uFillTx/>
                    <a:latin typeface="나눔스퀘어" panose="020B0600000101010101" pitchFamily="50" charset="-127"/>
                    <a:ea typeface="나눔스퀘어" panose="020B0600000101010101" pitchFamily="50" charset="-127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73" name="양쪽 모서리가 둥근 사각형 245">
                <a:extLst>
                  <a:ext uri="{FF2B5EF4-FFF2-40B4-BE49-F238E27FC236}">
                    <a16:creationId xmlns:a16="http://schemas.microsoft.com/office/drawing/2014/main" id="{509F0944-F6B2-06A1-F123-B46488B45D27}"/>
                  </a:ext>
                </a:extLst>
              </p:cNvPr>
              <p:cNvSpPr/>
              <p:nvPr/>
            </p:nvSpPr>
            <p:spPr>
              <a:xfrm rot="16200000">
                <a:off x="1315141" y="141831"/>
                <a:ext cx="509592" cy="545585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</p:grpSp>
        <p:pic>
          <p:nvPicPr>
            <p:cNvPr id="71" name="Picture 9"/>
            <p:cNvPicPr>
              <a:picLocks noChangeAspect="1" noChangeArrowheads="1"/>
            </p:cNvPicPr>
            <p:nvPr/>
          </p:nvPicPr>
          <p:blipFill>
            <a:blip r:embed="rId7" cstate="print"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4819130" y="3978522"/>
              <a:ext cx="314449" cy="3144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76" name="그룹 96"/>
          <p:cNvGrpSpPr/>
          <p:nvPr/>
        </p:nvGrpSpPr>
        <p:grpSpPr>
          <a:xfrm>
            <a:off x="8108479" y="5764899"/>
            <a:ext cx="1380311" cy="372482"/>
            <a:chOff x="4702254" y="3964827"/>
            <a:chExt cx="1380311" cy="372482"/>
          </a:xfrm>
        </p:grpSpPr>
        <p:grpSp>
          <p:nvGrpSpPr>
            <p:cNvPr id="77" name="그룹 102">
              <a:extLst>
                <a:ext uri="{FF2B5EF4-FFF2-40B4-BE49-F238E27FC236}">
                  <a16:creationId xmlns:a16="http://schemas.microsoft.com/office/drawing/2014/main" id="{903DC0D1-2844-2E76-2869-CDF6EC90CD6B}"/>
                </a:ext>
              </a:extLst>
            </p:cNvPr>
            <p:cNvGrpSpPr/>
            <p:nvPr/>
          </p:nvGrpSpPr>
          <p:grpSpPr>
            <a:xfrm>
              <a:off x="4702254" y="3964827"/>
              <a:ext cx="1380311" cy="372482"/>
              <a:chOff x="1297144" y="154493"/>
              <a:chExt cx="1527720" cy="514927"/>
            </a:xfrm>
          </p:grpSpPr>
          <p:grpSp>
            <p:nvGrpSpPr>
              <p:cNvPr id="79" name="그룹 117">
                <a:extLst>
                  <a:ext uri="{FF2B5EF4-FFF2-40B4-BE49-F238E27FC236}">
                    <a16:creationId xmlns:a16="http://schemas.microsoft.com/office/drawing/2014/main" id="{FFF041CB-3DFC-FB41-F31E-477EE938A2AB}"/>
                  </a:ext>
                </a:extLst>
              </p:cNvPr>
              <p:cNvGrpSpPr/>
              <p:nvPr/>
            </p:nvGrpSpPr>
            <p:grpSpPr>
              <a:xfrm>
                <a:off x="1302396" y="154493"/>
                <a:ext cx="1522468" cy="504621"/>
                <a:chOff x="540679" y="1737549"/>
                <a:chExt cx="1522468" cy="504621"/>
              </a:xfrm>
            </p:grpSpPr>
            <p:sp>
              <p:nvSpPr>
                <p:cNvPr id="81" name="모서리가 둥근 직사각형 240">
                  <a:extLst>
                    <a:ext uri="{FF2B5EF4-FFF2-40B4-BE49-F238E27FC236}">
                      <a16:creationId xmlns:a16="http://schemas.microsoft.com/office/drawing/2014/main" id="{1D18C733-A5D5-311E-08E4-3FFF8CD91906}"/>
                    </a:ext>
                  </a:extLst>
                </p:cNvPr>
                <p:cNvSpPr/>
                <p:nvPr/>
              </p:nvSpPr>
              <p:spPr>
                <a:xfrm>
                  <a:off x="540679" y="1737549"/>
                  <a:ext cx="1522468" cy="50462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맑은 고딕" panose="020F0502020204030204"/>
                    <a:ea typeface="맑은 고딕" panose="020B0503020000020004" pitchFamily="34" charset="-127"/>
                    <a:cs typeface="+mn-cs"/>
                  </a:endParaRPr>
                </a:p>
              </p:txBody>
            </p:sp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78D0A822-87C0-4959-51F2-A808B0297E82}"/>
                    </a:ext>
                  </a:extLst>
                </p:cNvPr>
                <p:cNvSpPr txBox="1"/>
                <p:nvPr/>
              </p:nvSpPr>
              <p:spPr>
                <a:xfrm>
                  <a:off x="1133416" y="1811457"/>
                  <a:ext cx="617419" cy="36165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>
                  <a:defPPr>
                    <a:defRPr lang="ko-KR"/>
                  </a:defPPr>
                  <a:lvl1pPr algn="r" latinLnBrk="0">
                    <a:spcAft>
                      <a:spcPts val="200"/>
                    </a:spcAft>
                    <a:defRPr sz="90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latin typeface="나눔스퀘어 Bold" panose="020B0600000101010101" pitchFamily="50" charset="-127"/>
                      <a:ea typeface="나눔스퀘어 Bold" panose="020B0600000101010101" pitchFamily="50" charset="-127"/>
                      <a:cs typeface="Arial" panose="020B0604020202020204" pitchFamily="34" charset="0"/>
                    </a:defRPr>
                  </a:lvl1pPr>
                </a:lstStyle>
                <a:p>
                  <a:pPr algn="l">
                    <a:spcAft>
                      <a:spcPts val="100"/>
                    </a:spcAft>
                    <a:defRPr/>
                  </a:pPr>
                  <a:r>
                    <a:rPr lang="ko-KR" altLang="en-US" dirty="0" err="1">
                      <a:latin typeface="나눔스퀘어 ExtraBold" panose="020B0600000101010101" pitchFamily="50" charset="-127"/>
                      <a:ea typeface="나눔스퀘어 ExtraBold" panose="020B0600000101010101" pitchFamily="50" charset="-127"/>
                    </a:rPr>
                    <a:t>투아스</a:t>
                  </a:r>
                  <a:r>
                    <a:rPr lang="ko-KR" altLang="en-US" dirty="0">
                      <a:latin typeface="나눔스퀘어 ExtraBold" panose="020B0600000101010101" pitchFamily="50" charset="-127"/>
                      <a:ea typeface="나눔스퀘어 ExtraBold" panose="020B0600000101010101" pitchFamily="50" charset="-127"/>
                    </a:rPr>
                    <a:t> 창고</a:t>
                  </a:r>
                  <a:br>
                    <a:rPr lang="en-US" altLang="ko-KR" dirty="0">
                      <a:latin typeface="나눔스퀘어 ExtraBold" panose="020B0600000101010101" pitchFamily="50" charset="-127"/>
                      <a:ea typeface="나눔스퀘어 ExtraBold" panose="020B0600000101010101" pitchFamily="50" charset="-127"/>
                    </a:rPr>
                  </a:br>
                  <a:r>
                    <a:rPr lang="ko-KR" altLang="en-US" sz="800" dirty="0" err="1">
                      <a:solidFill>
                        <a:prstClr val="black">
                          <a:lumMod val="95000"/>
                          <a:lumOff val="5000"/>
                        </a:prstClr>
                      </a:solidFill>
                      <a:latin typeface="나눔스퀘어" panose="020B0600000101010101" pitchFamily="50" charset="-127"/>
                      <a:ea typeface="나눔스퀘어" panose="020B0600000101010101" pitchFamily="50" charset="-127"/>
                    </a:rPr>
                    <a:t>투아스</a:t>
                  </a:r>
                  <a:endParaRPr lang="en-US" altLang="ko-KR" sz="800" dirty="0">
                    <a:solidFill>
                      <a:prstClr val="black">
                        <a:lumMod val="95000"/>
                        <a:lumOff val="5000"/>
                      </a:prstClr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endParaRPr>
                </a:p>
              </p:txBody>
            </p:sp>
          </p:grpSp>
          <p:sp>
            <p:nvSpPr>
              <p:cNvPr id="80" name="양쪽 모서리가 둥근 사각형 245">
                <a:extLst>
                  <a:ext uri="{FF2B5EF4-FFF2-40B4-BE49-F238E27FC236}">
                    <a16:creationId xmlns:a16="http://schemas.microsoft.com/office/drawing/2014/main" id="{509F0944-F6B2-06A1-F123-B46488B45D27}"/>
                  </a:ext>
                </a:extLst>
              </p:cNvPr>
              <p:cNvSpPr/>
              <p:nvPr/>
            </p:nvSpPr>
            <p:spPr>
              <a:xfrm rot="16200000">
                <a:off x="1315141" y="141831"/>
                <a:ext cx="509592" cy="545585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</p:grpSp>
        <p:pic>
          <p:nvPicPr>
            <p:cNvPr id="78" name="Picture 9"/>
            <p:cNvPicPr>
              <a:picLocks noChangeAspect="1" noChangeArrowheads="1"/>
            </p:cNvPicPr>
            <p:nvPr/>
          </p:nvPicPr>
          <p:blipFill>
            <a:blip r:embed="rId7" cstate="screen"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4819130" y="3978522"/>
              <a:ext cx="314449" cy="3144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3" name="Rectangle 157"/>
          <p:cNvSpPr/>
          <p:nvPr/>
        </p:nvSpPr>
        <p:spPr>
          <a:xfrm>
            <a:off x="8067058" y="4549389"/>
            <a:ext cx="5600798" cy="23801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4" name="그룹 83"/>
          <p:cNvGrpSpPr/>
          <p:nvPr/>
        </p:nvGrpSpPr>
        <p:grpSpPr>
          <a:xfrm>
            <a:off x="9382559" y="5807641"/>
            <a:ext cx="359282" cy="360000"/>
            <a:chOff x="2424318" y="2632193"/>
            <a:chExt cx="359282" cy="360000"/>
          </a:xfrm>
        </p:grpSpPr>
        <p:sp>
          <p:nvSpPr>
            <p:cNvPr id="85" name="타원 84">
              <a:extLst>
                <a:ext uri="{FF2B5EF4-FFF2-40B4-BE49-F238E27FC236}">
                  <a16:creationId xmlns:a16="http://schemas.microsoft.com/office/drawing/2014/main" id="{D4E1DCA4-F4C8-D022-DC9E-653243F8A19C}"/>
                </a:ext>
              </a:extLst>
            </p:cNvPr>
            <p:cNvSpPr/>
            <p:nvPr/>
          </p:nvSpPr>
          <p:spPr>
            <a:xfrm>
              <a:off x="2542065" y="2764451"/>
              <a:ext cx="134360" cy="134360"/>
            </a:xfrm>
            <a:prstGeom prst="ellipse">
              <a:avLst/>
            </a:prstGeom>
            <a:gradFill flip="none" rotWithShape="1">
              <a:gsLst>
                <a:gs pos="7000">
                  <a:schemeClr val="bg1">
                    <a:alpha val="66000"/>
                  </a:schemeClr>
                </a:gs>
                <a:gs pos="52000">
                  <a:schemeClr val="bg1">
                    <a:alpha val="1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DS Sans Light" panose="020B0000000101010101" pitchFamily="50" charset="-127"/>
                <a:ea typeface="SDS Sans Light" panose="020B0000000101010101" pitchFamily="50" charset="-127"/>
                <a:cs typeface="+mn-cs"/>
              </a:endParaRPr>
            </a:p>
          </p:txBody>
        </p:sp>
        <p:pic>
          <p:nvPicPr>
            <p:cNvPr id="86" name="그림 85">
              <a:extLst>
                <a:ext uri="{FF2B5EF4-FFF2-40B4-BE49-F238E27FC236}">
                  <a16:creationId xmlns:a16="http://schemas.microsoft.com/office/drawing/2014/main" id="{74A322BA-CF1E-C465-4409-A3A08BE38EF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424318" y="2632193"/>
              <a:ext cx="359282" cy="360000"/>
            </a:xfrm>
            <a:prstGeom prst="rect">
              <a:avLst/>
            </a:prstGeom>
          </p:spPr>
        </p:pic>
      </p:grpSp>
      <p:sp>
        <p:nvSpPr>
          <p:cNvPr id="87" name="오른쪽 화살표 86"/>
          <p:cNvSpPr/>
          <p:nvPr/>
        </p:nvSpPr>
        <p:spPr>
          <a:xfrm>
            <a:off x="7784434" y="5148760"/>
            <a:ext cx="504670" cy="307893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8" name="Picture 2">
            <a:extLst>
              <a:ext uri="{FF2B5EF4-FFF2-40B4-BE49-F238E27FC236}">
                <a16:creationId xmlns:a16="http://schemas.microsoft.com/office/drawing/2014/main" id="{66DE5BFF-387F-B4CF-BD09-AE05D18FF9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34014"/>
          <a:stretch/>
        </p:blipFill>
        <p:spPr bwMode="auto">
          <a:xfrm>
            <a:off x="15100815" y="4390334"/>
            <a:ext cx="5122473" cy="2776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9" name="그룹 88"/>
          <p:cNvGrpSpPr/>
          <p:nvPr/>
        </p:nvGrpSpPr>
        <p:grpSpPr>
          <a:xfrm>
            <a:off x="17581735" y="5732732"/>
            <a:ext cx="359282" cy="360000"/>
            <a:chOff x="2424318" y="2632193"/>
            <a:chExt cx="359282" cy="360000"/>
          </a:xfrm>
        </p:grpSpPr>
        <p:sp>
          <p:nvSpPr>
            <p:cNvPr id="90" name="타원 89">
              <a:extLst>
                <a:ext uri="{FF2B5EF4-FFF2-40B4-BE49-F238E27FC236}">
                  <a16:creationId xmlns:a16="http://schemas.microsoft.com/office/drawing/2014/main" id="{D4E1DCA4-F4C8-D022-DC9E-653243F8A19C}"/>
                </a:ext>
              </a:extLst>
            </p:cNvPr>
            <p:cNvSpPr/>
            <p:nvPr/>
          </p:nvSpPr>
          <p:spPr>
            <a:xfrm>
              <a:off x="2542065" y="2764451"/>
              <a:ext cx="134360" cy="134360"/>
            </a:xfrm>
            <a:prstGeom prst="ellipse">
              <a:avLst/>
            </a:prstGeom>
            <a:gradFill flip="none" rotWithShape="1">
              <a:gsLst>
                <a:gs pos="7000">
                  <a:schemeClr val="bg1">
                    <a:alpha val="66000"/>
                  </a:schemeClr>
                </a:gs>
                <a:gs pos="52000">
                  <a:schemeClr val="bg1">
                    <a:alpha val="1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DS Sans Light" panose="020B0000000101010101" pitchFamily="50" charset="-127"/>
                <a:ea typeface="SDS Sans Light" panose="020B0000000101010101" pitchFamily="50" charset="-127"/>
                <a:cs typeface="+mn-cs"/>
              </a:endParaRPr>
            </a:p>
          </p:txBody>
        </p:sp>
        <p:pic>
          <p:nvPicPr>
            <p:cNvPr id="91" name="그림 90">
              <a:extLst>
                <a:ext uri="{FF2B5EF4-FFF2-40B4-BE49-F238E27FC236}">
                  <a16:creationId xmlns:a16="http://schemas.microsoft.com/office/drawing/2014/main" id="{74A322BA-CF1E-C465-4409-A3A08BE38EF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424318" y="2632193"/>
              <a:ext cx="359282" cy="360000"/>
            </a:xfrm>
            <a:prstGeom prst="rect">
              <a:avLst/>
            </a:prstGeom>
          </p:spPr>
        </p:pic>
      </p:grpSp>
      <p:grpSp>
        <p:nvGrpSpPr>
          <p:cNvPr id="92" name="그룹 91"/>
          <p:cNvGrpSpPr/>
          <p:nvPr/>
        </p:nvGrpSpPr>
        <p:grpSpPr>
          <a:xfrm>
            <a:off x="17762263" y="5541728"/>
            <a:ext cx="508516" cy="1159840"/>
            <a:chOff x="3330175" y="3145295"/>
            <a:chExt cx="508516" cy="1159840"/>
          </a:xfrm>
        </p:grpSpPr>
        <p:cxnSp>
          <p:nvCxnSpPr>
            <p:cNvPr id="93" name="직선 연결선 92">
              <a:extLst>
                <a:ext uri="{FF2B5EF4-FFF2-40B4-BE49-F238E27FC236}">
                  <a16:creationId xmlns:a16="http://schemas.microsoft.com/office/drawing/2014/main" id="{6DD4D543-6F91-B2A7-906A-55EDBEE01ADC}"/>
                </a:ext>
              </a:extLst>
            </p:cNvPr>
            <p:cNvCxnSpPr/>
            <p:nvPr/>
          </p:nvCxnSpPr>
          <p:spPr>
            <a:xfrm flipH="1" flipV="1">
              <a:off x="3330175" y="3585135"/>
              <a:ext cx="10754" cy="720000"/>
            </a:xfrm>
            <a:prstGeom prst="line">
              <a:avLst/>
            </a:prstGeom>
            <a:noFill/>
            <a:ln w="12700" cap="rnd"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4" name="직선 연결선 93">
              <a:extLst>
                <a:ext uri="{FF2B5EF4-FFF2-40B4-BE49-F238E27FC236}">
                  <a16:creationId xmlns:a16="http://schemas.microsoft.com/office/drawing/2014/main" id="{6DD4D543-6F91-B2A7-906A-55EDBEE01ADC}"/>
                </a:ext>
              </a:extLst>
            </p:cNvPr>
            <p:cNvCxnSpPr/>
            <p:nvPr/>
          </p:nvCxnSpPr>
          <p:spPr>
            <a:xfrm flipH="1" flipV="1">
              <a:off x="3827937" y="3145295"/>
              <a:ext cx="10754" cy="720000"/>
            </a:xfrm>
            <a:prstGeom prst="line">
              <a:avLst/>
            </a:prstGeom>
            <a:noFill/>
            <a:ln w="12700" cap="rnd"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95" name="그룹 94"/>
          <p:cNvGrpSpPr/>
          <p:nvPr/>
        </p:nvGrpSpPr>
        <p:grpSpPr>
          <a:xfrm>
            <a:off x="18072443" y="5294280"/>
            <a:ext cx="359282" cy="360000"/>
            <a:chOff x="2424318" y="2632193"/>
            <a:chExt cx="359282" cy="360000"/>
          </a:xfrm>
        </p:grpSpPr>
        <p:sp>
          <p:nvSpPr>
            <p:cNvPr id="96" name="타원 95">
              <a:extLst>
                <a:ext uri="{FF2B5EF4-FFF2-40B4-BE49-F238E27FC236}">
                  <a16:creationId xmlns:a16="http://schemas.microsoft.com/office/drawing/2014/main" id="{D4E1DCA4-F4C8-D022-DC9E-653243F8A19C}"/>
                </a:ext>
              </a:extLst>
            </p:cNvPr>
            <p:cNvSpPr/>
            <p:nvPr/>
          </p:nvSpPr>
          <p:spPr>
            <a:xfrm>
              <a:off x="2542065" y="2764451"/>
              <a:ext cx="134360" cy="134360"/>
            </a:xfrm>
            <a:prstGeom prst="ellipse">
              <a:avLst/>
            </a:prstGeom>
            <a:gradFill flip="none" rotWithShape="1">
              <a:gsLst>
                <a:gs pos="7000">
                  <a:schemeClr val="bg1">
                    <a:alpha val="66000"/>
                  </a:schemeClr>
                </a:gs>
                <a:gs pos="52000">
                  <a:schemeClr val="bg1">
                    <a:alpha val="1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DS Sans Light" panose="020B0000000101010101" pitchFamily="50" charset="-127"/>
                <a:ea typeface="SDS Sans Light" panose="020B0000000101010101" pitchFamily="50" charset="-127"/>
                <a:cs typeface="+mn-cs"/>
              </a:endParaRPr>
            </a:p>
          </p:txBody>
        </p:sp>
        <p:pic>
          <p:nvPicPr>
            <p:cNvPr id="97" name="그림 96">
              <a:extLst>
                <a:ext uri="{FF2B5EF4-FFF2-40B4-BE49-F238E27FC236}">
                  <a16:creationId xmlns:a16="http://schemas.microsoft.com/office/drawing/2014/main" id="{74A322BA-CF1E-C465-4409-A3A08BE38EF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424318" y="2632193"/>
              <a:ext cx="359282" cy="360000"/>
            </a:xfrm>
            <a:prstGeom prst="rect">
              <a:avLst/>
            </a:prstGeom>
          </p:spPr>
        </p:pic>
      </p:grp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903DC0D1-2844-2E76-2869-CDF6EC90CD6B}"/>
              </a:ext>
            </a:extLst>
          </p:cNvPr>
          <p:cNvGrpSpPr/>
          <p:nvPr/>
        </p:nvGrpSpPr>
        <p:grpSpPr>
          <a:xfrm>
            <a:off x="16936878" y="6500747"/>
            <a:ext cx="1171509" cy="368623"/>
            <a:chOff x="1297144" y="159827"/>
            <a:chExt cx="1296619" cy="509592"/>
          </a:xfrm>
        </p:grpSpPr>
        <p:grpSp>
          <p:nvGrpSpPr>
            <p:cNvPr id="99" name="그룹 98">
              <a:extLst>
                <a:ext uri="{FF2B5EF4-FFF2-40B4-BE49-F238E27FC236}">
                  <a16:creationId xmlns:a16="http://schemas.microsoft.com/office/drawing/2014/main" id="{FFF041CB-3DFC-FB41-F31E-477EE938A2AB}"/>
                </a:ext>
              </a:extLst>
            </p:cNvPr>
            <p:cNvGrpSpPr/>
            <p:nvPr/>
          </p:nvGrpSpPr>
          <p:grpSpPr>
            <a:xfrm>
              <a:off x="1302397" y="162344"/>
              <a:ext cx="1291366" cy="504621"/>
              <a:chOff x="540680" y="1745400"/>
              <a:chExt cx="1291366" cy="504621"/>
            </a:xfrm>
          </p:grpSpPr>
          <p:sp>
            <p:nvSpPr>
              <p:cNvPr id="103" name="모서리가 둥근 직사각형 240">
                <a:extLst>
                  <a:ext uri="{FF2B5EF4-FFF2-40B4-BE49-F238E27FC236}">
                    <a16:creationId xmlns:a16="http://schemas.microsoft.com/office/drawing/2014/main" id="{1D18C733-A5D5-311E-08E4-3FFF8CD91906}"/>
                  </a:ext>
                </a:extLst>
              </p:cNvPr>
              <p:cNvSpPr/>
              <p:nvPr/>
            </p:nvSpPr>
            <p:spPr>
              <a:xfrm>
                <a:off x="540680" y="1745400"/>
                <a:ext cx="1291366" cy="504621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solidFill>
                  <a:srgbClr val="1428A0"/>
                </a:solidFill>
              </a:ln>
              <a:effectLst>
                <a:outerShdw blurRad="1270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78D0A822-87C0-4959-51F2-A808B0297E82}"/>
                  </a:ext>
                </a:extLst>
              </p:cNvPr>
              <p:cNvSpPr txBox="1"/>
              <p:nvPr/>
            </p:nvSpPr>
            <p:spPr>
              <a:xfrm>
                <a:off x="1133414" y="1827162"/>
                <a:ext cx="463065" cy="39002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>
                <a:defPPr>
                  <a:defRPr lang="ko-KR"/>
                </a:defPPr>
                <a:lvl1pPr algn="r" latinLnBrk="0">
                  <a:spcAft>
                    <a:spcPts val="200"/>
                  </a:spcAft>
                  <a:defRPr sz="90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  <a:cs typeface="Arial" panose="020B0604020202020204" pitchFamily="34" charset="0"/>
                  </a:defRPr>
                </a:lvl1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50" b="1" i="0" u="none" strike="noStrike" kern="120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95000"/>
                        <a:lumOff val="5000"/>
                      </a:prstClr>
                    </a:solidFill>
                    <a:effectLst/>
                    <a:uLnTx/>
                    <a:uFillTx/>
                    <a:latin typeface="SDS Sans  Medium" panose="020B0000000101010101" pitchFamily="50" charset="-127"/>
                    <a:ea typeface="SDS Sans  Bold"/>
                    <a:cs typeface="Arial" panose="020B0604020202020204" pitchFamily="34" charset="0"/>
                  </a:rPr>
                  <a:t>SDSAP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700" b="0" i="0" u="none" strike="noStrike" kern="120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95000"/>
                        <a:lumOff val="5000"/>
                      </a:prstClr>
                    </a:solidFill>
                    <a:effectLst/>
                    <a:uLnTx/>
                    <a:uFillTx/>
                    <a:latin typeface="SDS Sans  Regular" panose="020B0000000101010101" pitchFamily="50" charset="-127"/>
                    <a:ea typeface="SDS Sans  Regular" panose="020B0000000101010101" pitchFamily="50" charset="-127"/>
                    <a:cs typeface="Arial" panose="020B0604020202020204" pitchFamily="34" charset="0"/>
                  </a:rPr>
                  <a:t>Singapore</a:t>
                </a:r>
              </a:p>
            </p:txBody>
          </p:sp>
        </p:grpSp>
        <p:grpSp>
          <p:nvGrpSpPr>
            <p:cNvPr id="100" name="그룹 99">
              <a:extLst>
                <a:ext uri="{FF2B5EF4-FFF2-40B4-BE49-F238E27FC236}">
                  <a16:creationId xmlns:a16="http://schemas.microsoft.com/office/drawing/2014/main" id="{871EC1A8-C945-F422-47EB-3EC31A5C1B29}"/>
                </a:ext>
              </a:extLst>
            </p:cNvPr>
            <p:cNvGrpSpPr/>
            <p:nvPr/>
          </p:nvGrpSpPr>
          <p:grpSpPr>
            <a:xfrm>
              <a:off x="1297144" y="159827"/>
              <a:ext cx="545586" cy="509592"/>
              <a:chOff x="4797176" y="1797238"/>
              <a:chExt cx="545586" cy="509592"/>
            </a:xfrm>
          </p:grpSpPr>
          <p:sp>
            <p:nvSpPr>
              <p:cNvPr id="101" name="양쪽 모서리가 둥근 사각형 245">
                <a:extLst>
                  <a:ext uri="{FF2B5EF4-FFF2-40B4-BE49-F238E27FC236}">
                    <a16:creationId xmlns:a16="http://schemas.microsoft.com/office/drawing/2014/main" id="{509F0944-F6B2-06A1-F123-B46488B45D27}"/>
                  </a:ext>
                </a:extLst>
              </p:cNvPr>
              <p:cNvSpPr/>
              <p:nvPr/>
            </p:nvSpPr>
            <p:spPr>
              <a:xfrm rot="16200000">
                <a:off x="4815173" y="1779241"/>
                <a:ext cx="509592" cy="545586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1428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  <p:pic>
            <p:nvPicPr>
              <p:cNvPr id="102" name="그림 101">
                <a:extLst>
                  <a:ext uri="{FF2B5EF4-FFF2-40B4-BE49-F238E27FC236}">
                    <a16:creationId xmlns:a16="http://schemas.microsoft.com/office/drawing/2014/main" id="{ED4CD418-DFF3-035D-94FF-B68636597C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4916762" y="1872483"/>
                <a:ext cx="366351" cy="366351"/>
              </a:xfrm>
              <a:prstGeom prst="rect">
                <a:avLst/>
              </a:prstGeom>
            </p:spPr>
          </p:pic>
        </p:grpSp>
      </p:grpSp>
      <p:grpSp>
        <p:nvGrpSpPr>
          <p:cNvPr id="105" name="그룹 104"/>
          <p:cNvGrpSpPr/>
          <p:nvPr/>
        </p:nvGrpSpPr>
        <p:grpSpPr>
          <a:xfrm>
            <a:off x="18174804" y="6114583"/>
            <a:ext cx="1380311" cy="368623"/>
            <a:chOff x="4702254" y="3968686"/>
            <a:chExt cx="1380311" cy="368623"/>
          </a:xfrm>
        </p:grpSpPr>
        <p:grpSp>
          <p:nvGrpSpPr>
            <p:cNvPr id="106" name="그룹 105">
              <a:extLst>
                <a:ext uri="{FF2B5EF4-FFF2-40B4-BE49-F238E27FC236}">
                  <a16:creationId xmlns:a16="http://schemas.microsoft.com/office/drawing/2014/main" id="{903DC0D1-2844-2E76-2869-CDF6EC90CD6B}"/>
                </a:ext>
              </a:extLst>
            </p:cNvPr>
            <p:cNvGrpSpPr/>
            <p:nvPr/>
          </p:nvGrpSpPr>
          <p:grpSpPr>
            <a:xfrm>
              <a:off x="4702254" y="3968686"/>
              <a:ext cx="1380311" cy="368623"/>
              <a:chOff x="1297144" y="159828"/>
              <a:chExt cx="1527720" cy="509592"/>
            </a:xfrm>
          </p:grpSpPr>
          <p:grpSp>
            <p:nvGrpSpPr>
              <p:cNvPr id="108" name="그룹 107">
                <a:extLst>
                  <a:ext uri="{FF2B5EF4-FFF2-40B4-BE49-F238E27FC236}">
                    <a16:creationId xmlns:a16="http://schemas.microsoft.com/office/drawing/2014/main" id="{FFF041CB-3DFC-FB41-F31E-477EE938A2AB}"/>
                  </a:ext>
                </a:extLst>
              </p:cNvPr>
              <p:cNvGrpSpPr/>
              <p:nvPr/>
            </p:nvGrpSpPr>
            <p:grpSpPr>
              <a:xfrm>
                <a:off x="1302396" y="162344"/>
                <a:ext cx="1522468" cy="504621"/>
                <a:chOff x="540679" y="1745400"/>
                <a:chExt cx="1522468" cy="504621"/>
              </a:xfrm>
            </p:grpSpPr>
            <p:sp>
              <p:nvSpPr>
                <p:cNvPr id="110" name="모서리가 둥근 직사각형 240">
                  <a:extLst>
                    <a:ext uri="{FF2B5EF4-FFF2-40B4-BE49-F238E27FC236}">
                      <a16:creationId xmlns:a16="http://schemas.microsoft.com/office/drawing/2014/main" id="{1D18C733-A5D5-311E-08E4-3FFF8CD91906}"/>
                    </a:ext>
                  </a:extLst>
                </p:cNvPr>
                <p:cNvSpPr/>
                <p:nvPr/>
              </p:nvSpPr>
              <p:spPr>
                <a:xfrm>
                  <a:off x="540679" y="1745400"/>
                  <a:ext cx="1522468" cy="50462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맑은 고딕" panose="020F0502020204030204"/>
                    <a:ea typeface="맑은 고딕" panose="020B0503020000020004" pitchFamily="34" charset="-127"/>
                    <a:cs typeface="+mn-cs"/>
                  </a:endParaRPr>
                </a:p>
              </p:txBody>
            </p:sp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78D0A822-87C0-4959-51F2-A808B0297E82}"/>
                    </a:ext>
                  </a:extLst>
                </p:cNvPr>
                <p:cNvSpPr txBox="1"/>
                <p:nvPr/>
              </p:nvSpPr>
              <p:spPr>
                <a:xfrm>
                  <a:off x="1133416" y="1827162"/>
                  <a:ext cx="809032" cy="3900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>
                  <a:defPPr>
                    <a:defRPr lang="ko-KR"/>
                  </a:defPPr>
                  <a:lvl1pPr algn="r" latinLnBrk="0">
                    <a:spcAft>
                      <a:spcPts val="200"/>
                    </a:spcAft>
                    <a:defRPr sz="90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latin typeface="나눔스퀘어 Bold" panose="020B0600000101010101" pitchFamily="50" charset="-127"/>
                      <a:ea typeface="나눔스퀘어 Bold" panose="020B0600000101010101" pitchFamily="50" charset="-127"/>
                      <a:cs typeface="Arial" panose="020B0604020202020204" pitchFamily="34" charset="0"/>
                    </a:defRPr>
                  </a:lvl1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1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050" b="1" i="0" u="none" strike="noStrike" kern="1200" cap="none" spc="0" normalizeH="0" baseline="0" noProof="0" dirty="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prstClr val="black">
                          <a:lumMod val="95000"/>
                          <a:lumOff val="5000"/>
                        </a:prstClr>
                      </a:solidFill>
                      <a:effectLst/>
                      <a:uLnTx/>
                      <a:uFillTx/>
                      <a:latin typeface="SDS Sans  Medium" panose="020B0000000101010101" pitchFamily="50" charset="-127"/>
                      <a:ea typeface="SDS Sans  Bold"/>
                      <a:cs typeface="Arial" panose="020B0604020202020204" pitchFamily="34" charset="0"/>
                    </a:rPr>
                    <a:t>Warehouse 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1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700" b="0" i="0" u="none" strike="noStrike" kern="1200" cap="none" spc="0" normalizeH="0" baseline="0" noProof="0" dirty="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prstClr val="black">
                          <a:lumMod val="95000"/>
                          <a:lumOff val="5000"/>
                        </a:prstClr>
                      </a:solidFill>
                      <a:effectLst/>
                      <a:uLnTx/>
                      <a:uFillTx/>
                      <a:latin typeface="SDS Sans  Regular" panose="020B0000000101010101" pitchFamily="50" charset="-127"/>
                      <a:ea typeface="SDS Sans  Regular" panose="020B0000000101010101" pitchFamily="50" charset="-127"/>
                      <a:cs typeface="Arial" panose="020B0604020202020204" pitchFamily="34" charset="0"/>
                    </a:rPr>
                    <a:t>Greenwich</a:t>
                  </a:r>
                </a:p>
              </p:txBody>
            </p:sp>
          </p:grpSp>
          <p:sp>
            <p:nvSpPr>
              <p:cNvPr id="109" name="양쪽 모서리가 둥근 사각형 245">
                <a:extLst>
                  <a:ext uri="{FF2B5EF4-FFF2-40B4-BE49-F238E27FC236}">
                    <a16:creationId xmlns:a16="http://schemas.microsoft.com/office/drawing/2014/main" id="{509F0944-F6B2-06A1-F123-B46488B45D27}"/>
                  </a:ext>
                </a:extLst>
              </p:cNvPr>
              <p:cNvSpPr/>
              <p:nvPr/>
            </p:nvSpPr>
            <p:spPr>
              <a:xfrm rot="16200000">
                <a:off x="1315141" y="141831"/>
                <a:ext cx="509592" cy="545585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</p:grpSp>
        <p:pic>
          <p:nvPicPr>
            <p:cNvPr id="107" name="Picture 9"/>
            <p:cNvPicPr>
              <a:picLocks noChangeAspect="1" noChangeArrowheads="1"/>
            </p:cNvPicPr>
            <p:nvPr/>
          </p:nvPicPr>
          <p:blipFill>
            <a:blip r:embed="rId7" cstate="print"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4819130" y="3978522"/>
              <a:ext cx="314449" cy="3144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12" name="모서리가 둥근 직사각형 240">
            <a:hlinkClick r:id="" action="ppaction://noaction"/>
            <a:extLst>
              <a:ext uri="{FF2B5EF4-FFF2-40B4-BE49-F238E27FC236}">
                <a16:creationId xmlns:a16="http://schemas.microsoft.com/office/drawing/2014/main" id="{1D18C733-A5D5-311E-08E4-3FFF8CD91906}"/>
              </a:ext>
            </a:extLst>
          </p:cNvPr>
          <p:cNvSpPr/>
          <p:nvPr/>
        </p:nvSpPr>
        <p:spPr>
          <a:xfrm>
            <a:off x="18174804" y="6119472"/>
            <a:ext cx="1380311" cy="365027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113" name="그룹 96"/>
          <p:cNvGrpSpPr/>
          <p:nvPr/>
        </p:nvGrpSpPr>
        <p:grpSpPr>
          <a:xfrm>
            <a:off x="14739566" y="5846132"/>
            <a:ext cx="1380311" cy="372482"/>
            <a:chOff x="4702254" y="3964827"/>
            <a:chExt cx="1380311" cy="372482"/>
          </a:xfrm>
        </p:grpSpPr>
        <p:grpSp>
          <p:nvGrpSpPr>
            <p:cNvPr id="114" name="그룹 102">
              <a:extLst>
                <a:ext uri="{FF2B5EF4-FFF2-40B4-BE49-F238E27FC236}">
                  <a16:creationId xmlns:a16="http://schemas.microsoft.com/office/drawing/2014/main" id="{903DC0D1-2844-2E76-2869-CDF6EC90CD6B}"/>
                </a:ext>
              </a:extLst>
            </p:cNvPr>
            <p:cNvGrpSpPr/>
            <p:nvPr/>
          </p:nvGrpSpPr>
          <p:grpSpPr>
            <a:xfrm>
              <a:off x="4702254" y="3964827"/>
              <a:ext cx="1380311" cy="372482"/>
              <a:chOff x="1297144" y="154493"/>
              <a:chExt cx="1527720" cy="514927"/>
            </a:xfrm>
          </p:grpSpPr>
          <p:grpSp>
            <p:nvGrpSpPr>
              <p:cNvPr id="116" name="그룹 117">
                <a:extLst>
                  <a:ext uri="{FF2B5EF4-FFF2-40B4-BE49-F238E27FC236}">
                    <a16:creationId xmlns:a16="http://schemas.microsoft.com/office/drawing/2014/main" id="{FFF041CB-3DFC-FB41-F31E-477EE938A2AB}"/>
                  </a:ext>
                </a:extLst>
              </p:cNvPr>
              <p:cNvGrpSpPr/>
              <p:nvPr/>
            </p:nvGrpSpPr>
            <p:grpSpPr>
              <a:xfrm>
                <a:off x="1302396" y="154493"/>
                <a:ext cx="1522468" cy="504621"/>
                <a:chOff x="540679" y="1737549"/>
                <a:chExt cx="1522468" cy="504621"/>
              </a:xfrm>
            </p:grpSpPr>
            <p:sp>
              <p:nvSpPr>
                <p:cNvPr id="118" name="모서리가 둥근 직사각형 240">
                  <a:extLst>
                    <a:ext uri="{FF2B5EF4-FFF2-40B4-BE49-F238E27FC236}">
                      <a16:creationId xmlns:a16="http://schemas.microsoft.com/office/drawing/2014/main" id="{1D18C733-A5D5-311E-08E4-3FFF8CD91906}"/>
                    </a:ext>
                  </a:extLst>
                </p:cNvPr>
                <p:cNvSpPr/>
                <p:nvPr/>
              </p:nvSpPr>
              <p:spPr>
                <a:xfrm>
                  <a:off x="540679" y="1737549"/>
                  <a:ext cx="1522468" cy="50462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맑은 고딕" panose="020F0502020204030204"/>
                    <a:ea typeface="맑은 고딕" panose="020B0503020000020004" pitchFamily="34" charset="-127"/>
                    <a:cs typeface="+mn-cs"/>
                  </a:endParaRPr>
                </a:p>
              </p:txBody>
            </p:sp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78D0A822-87C0-4959-51F2-A808B0297E82}"/>
                    </a:ext>
                  </a:extLst>
                </p:cNvPr>
                <p:cNvSpPr txBox="1"/>
                <p:nvPr/>
              </p:nvSpPr>
              <p:spPr>
                <a:xfrm>
                  <a:off x="1133416" y="1811457"/>
                  <a:ext cx="809032" cy="3900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>
                  <a:defPPr>
                    <a:defRPr lang="ko-KR"/>
                  </a:defPPr>
                  <a:lvl1pPr algn="r" latinLnBrk="0">
                    <a:spcAft>
                      <a:spcPts val="200"/>
                    </a:spcAft>
                    <a:defRPr sz="90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latin typeface="나눔스퀘어 Bold" panose="020B0600000101010101" pitchFamily="50" charset="-127"/>
                      <a:ea typeface="나눔스퀘어 Bold" panose="020B0600000101010101" pitchFamily="50" charset="-127"/>
                      <a:cs typeface="Arial" panose="020B0604020202020204" pitchFamily="34" charset="0"/>
                    </a:defRPr>
                  </a:lvl1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1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050" b="1" i="0" u="none" strike="noStrike" kern="1200" cap="none" spc="0" normalizeH="0" baseline="0" noProof="0" dirty="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prstClr val="black">
                          <a:lumMod val="95000"/>
                          <a:lumOff val="5000"/>
                        </a:prstClr>
                      </a:solidFill>
                      <a:effectLst/>
                      <a:uLnTx/>
                      <a:uFillTx/>
                      <a:latin typeface="SDS Sans  Medium" panose="020B0000000101010101" pitchFamily="50" charset="-127"/>
                      <a:ea typeface="SDS Sans  Bold"/>
                      <a:cs typeface="Arial" panose="020B0604020202020204" pitchFamily="34" charset="0"/>
                    </a:rPr>
                    <a:t>Warehouse 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1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altLang="ko-KR" sz="700" dirty="0" err="1">
                      <a:solidFill>
                        <a:prstClr val="black">
                          <a:lumMod val="95000"/>
                          <a:lumOff val="5000"/>
                        </a:prstClr>
                      </a:solidFill>
                      <a:latin typeface="SDS Sans  Regular" panose="020B0000000101010101" pitchFamily="50" charset="-127"/>
                      <a:ea typeface="SDS Sans  Regular" panose="020B0000000101010101" pitchFamily="50" charset="-127"/>
                    </a:rPr>
                    <a:t>Tuas</a:t>
                  </a:r>
                  <a:endParaRPr kumimoji="0" lang="en-US" altLang="ko-KR" sz="700" b="0" i="0" u="none" strike="noStrike" kern="120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95000"/>
                        <a:lumOff val="5000"/>
                      </a:prstClr>
                    </a:solidFill>
                    <a:effectLst/>
                    <a:uLnTx/>
                    <a:uFillTx/>
                    <a:latin typeface="SDS Sans  Regular" panose="020B0000000101010101" pitchFamily="50" charset="-127"/>
                    <a:ea typeface="SDS Sans  Regular" panose="020B0000000101010101" pitchFamily="50" charset="-127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17" name="양쪽 모서리가 둥근 사각형 245">
                <a:extLst>
                  <a:ext uri="{FF2B5EF4-FFF2-40B4-BE49-F238E27FC236}">
                    <a16:creationId xmlns:a16="http://schemas.microsoft.com/office/drawing/2014/main" id="{509F0944-F6B2-06A1-F123-B46488B45D27}"/>
                  </a:ext>
                </a:extLst>
              </p:cNvPr>
              <p:cNvSpPr/>
              <p:nvPr/>
            </p:nvSpPr>
            <p:spPr>
              <a:xfrm rot="16200000">
                <a:off x="1315141" y="141831"/>
                <a:ext cx="509592" cy="545585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</p:grpSp>
        <p:pic>
          <p:nvPicPr>
            <p:cNvPr id="115" name="Picture 9"/>
            <p:cNvPicPr>
              <a:picLocks noChangeAspect="1" noChangeArrowheads="1"/>
            </p:cNvPicPr>
            <p:nvPr/>
          </p:nvPicPr>
          <p:blipFill>
            <a:blip r:embed="rId7" cstate="screen"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4819130" y="3978522"/>
              <a:ext cx="314449" cy="3144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20" name="그룹 119"/>
          <p:cNvGrpSpPr/>
          <p:nvPr/>
        </p:nvGrpSpPr>
        <p:grpSpPr>
          <a:xfrm>
            <a:off x="16013646" y="5888874"/>
            <a:ext cx="359282" cy="360000"/>
            <a:chOff x="2424318" y="2632193"/>
            <a:chExt cx="359282" cy="360000"/>
          </a:xfrm>
        </p:grpSpPr>
        <p:sp>
          <p:nvSpPr>
            <p:cNvPr id="121" name="타원 120">
              <a:extLst>
                <a:ext uri="{FF2B5EF4-FFF2-40B4-BE49-F238E27FC236}">
                  <a16:creationId xmlns:a16="http://schemas.microsoft.com/office/drawing/2014/main" id="{D4E1DCA4-F4C8-D022-DC9E-653243F8A19C}"/>
                </a:ext>
              </a:extLst>
            </p:cNvPr>
            <p:cNvSpPr/>
            <p:nvPr/>
          </p:nvSpPr>
          <p:spPr>
            <a:xfrm>
              <a:off x="2542065" y="2764451"/>
              <a:ext cx="134360" cy="134360"/>
            </a:xfrm>
            <a:prstGeom prst="ellipse">
              <a:avLst/>
            </a:prstGeom>
            <a:gradFill flip="none" rotWithShape="1">
              <a:gsLst>
                <a:gs pos="7000">
                  <a:schemeClr val="bg1">
                    <a:alpha val="66000"/>
                  </a:schemeClr>
                </a:gs>
                <a:gs pos="52000">
                  <a:schemeClr val="bg1">
                    <a:alpha val="1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DS Sans Light" panose="020B0000000101010101" pitchFamily="50" charset="-127"/>
                <a:ea typeface="SDS Sans Light" panose="020B0000000101010101" pitchFamily="50" charset="-127"/>
                <a:cs typeface="+mn-cs"/>
              </a:endParaRPr>
            </a:p>
          </p:txBody>
        </p:sp>
        <p:pic>
          <p:nvPicPr>
            <p:cNvPr id="122" name="그림 121">
              <a:extLst>
                <a:ext uri="{FF2B5EF4-FFF2-40B4-BE49-F238E27FC236}">
                  <a16:creationId xmlns:a16="http://schemas.microsoft.com/office/drawing/2014/main" id="{74A322BA-CF1E-C465-4409-A3A08BE38EF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424318" y="2632193"/>
              <a:ext cx="359282" cy="360000"/>
            </a:xfrm>
            <a:prstGeom prst="rect">
              <a:avLst/>
            </a:prstGeom>
          </p:spPr>
        </p:pic>
      </p:grpSp>
      <p:sp>
        <p:nvSpPr>
          <p:cNvPr id="123" name="사각형 설명선 122"/>
          <p:cNvSpPr/>
          <p:nvPr/>
        </p:nvSpPr>
        <p:spPr>
          <a:xfrm>
            <a:off x="15222779" y="3077170"/>
            <a:ext cx="4223283" cy="369332"/>
          </a:xfrm>
          <a:prstGeom prst="wedgeRectCallout">
            <a:avLst>
              <a:gd name="adj1" fmla="val -54642"/>
              <a:gd name="adj2" fmla="val 17798"/>
            </a:avLst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dirty="0">
                <a:solidFill>
                  <a:prstClr val="black"/>
                </a:solidFill>
              </a:rPr>
              <a:t>영문 텍스트 유지</a:t>
            </a:r>
            <a:endParaRPr lang="en-US" altLang="ko-KR" sz="150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5651D347-1F34-BFFE-3781-A2EE6633199D}"/>
              </a:ext>
            </a:extLst>
          </p:cNvPr>
          <p:cNvSpPr/>
          <p:nvPr/>
        </p:nvSpPr>
        <p:spPr>
          <a:xfrm>
            <a:off x="9283700" y="228600"/>
            <a:ext cx="2520000" cy="2520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/>
              <a:t>디자인 </a:t>
            </a:r>
            <a:endParaRPr kumimoji="1" lang="en-US" altLang="ko-KR" dirty="0"/>
          </a:p>
          <a:p>
            <a:pPr algn="ctr"/>
            <a:r>
              <a:rPr kumimoji="1" lang="ko-KR" altLang="en-US" dirty="0"/>
              <a:t>지도 변경</a:t>
            </a:r>
          </a:p>
        </p:txBody>
      </p:sp>
    </p:spTree>
    <p:extLst>
      <p:ext uri="{BB962C8B-B14F-4D97-AF65-F5344CB8AC3E}">
        <p14:creationId xmlns:p14="http://schemas.microsoft.com/office/powerpoint/2010/main" val="1687024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8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8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8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7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7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25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25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25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10937 -0.40648 L -1.45833E-6 -4.81481E-6 " pathEditMode="relative" rAng="0" ptsTypes="AA">
                                      <p:cBhvr>
                                        <p:cTn id="44" dur="25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469" y="20324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25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25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25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42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10937 -0.40648 L -1.45833E-6 -4.81481E-6 " pathEditMode="relative" rAng="0" ptsTypes="AA">
                                      <p:cBhvr>
                                        <p:cTn id="51" dur="25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469" y="20324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5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8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8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8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75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75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75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75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5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75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75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75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75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75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75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1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1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b="5026"/>
          <a:stretch/>
        </p:blipFill>
        <p:spPr>
          <a:xfrm>
            <a:off x="913825" y="921136"/>
            <a:ext cx="5182175" cy="5759064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0" y="50269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1400" dirty="0" err="1">
                <a:hlinkClick r:id="rId3"/>
              </a:rPr>
              <a:t>첼로스퀘어</a:t>
            </a:r>
            <a:r>
              <a:rPr lang="ko-KR" altLang="en-US" sz="1400" dirty="0">
                <a:hlinkClick r:id="rId3"/>
              </a:rPr>
              <a:t> 싱가포르 소개 </a:t>
            </a:r>
            <a:r>
              <a:rPr lang="en-US" altLang="ko-KR" sz="1400" dirty="0">
                <a:hlinkClick r:id="rId3"/>
              </a:rPr>
              <a:t>- Global Network | </a:t>
            </a:r>
            <a:r>
              <a:rPr lang="ko-KR" altLang="en-US" sz="1400" dirty="0" err="1">
                <a:hlinkClick r:id="rId3"/>
              </a:rPr>
              <a:t>첼로스퀘어</a:t>
            </a:r>
            <a:r>
              <a:rPr lang="en-US" altLang="ko-KR" sz="1400" dirty="0">
                <a:hlinkClick r:id="rId3"/>
              </a:rPr>
              <a:t>(Cello Square)</a:t>
            </a:r>
            <a:endParaRPr lang="en-US" sz="1400" dirty="0"/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4427643"/>
              </p:ext>
            </p:extLst>
          </p:nvPr>
        </p:nvGraphicFramePr>
        <p:xfrm>
          <a:off x="6156003" y="5799134"/>
          <a:ext cx="7994337" cy="12884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1597">
                  <a:extLst>
                    <a:ext uri="{9D8B030D-6E8A-4147-A177-3AD203B41FA5}">
                      <a16:colId xmlns:a16="http://schemas.microsoft.com/office/drawing/2014/main" val="1526357769"/>
                    </a:ext>
                  </a:extLst>
                </a:gridCol>
                <a:gridCol w="2446020">
                  <a:extLst>
                    <a:ext uri="{9D8B030D-6E8A-4147-A177-3AD203B41FA5}">
                      <a16:colId xmlns:a16="http://schemas.microsoft.com/office/drawing/2014/main" val="3704624977"/>
                    </a:ext>
                  </a:extLst>
                </a:gridCol>
                <a:gridCol w="4236720">
                  <a:extLst>
                    <a:ext uri="{9D8B030D-6E8A-4147-A177-3AD203B41FA5}">
                      <a16:colId xmlns:a16="http://schemas.microsoft.com/office/drawing/2014/main" val="561315315"/>
                    </a:ext>
                  </a:extLst>
                </a:gridCol>
              </a:tblGrid>
              <a:tr h="526443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>
                          <a:solidFill>
                            <a:sysClr val="windowText" lastClr="000000"/>
                          </a:solidFill>
                        </a:rPr>
                        <a:t>오피스명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ysClr val="windowText" lastClr="000000"/>
                          </a:solidFill>
                        </a:rPr>
                        <a:t>위치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>
                          <a:solidFill>
                            <a:sysClr val="windowText" lastClr="000000"/>
                          </a:solidFill>
                        </a:rPr>
                        <a:t>연락처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4224422"/>
                  </a:ext>
                </a:extLst>
              </a:tr>
              <a:tr h="526443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싱가포르 거점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0">
                        <a:lnSpc>
                          <a:spcPct val="90000"/>
                        </a:lnSpc>
                        <a:spcAft>
                          <a:spcPts val="700"/>
                        </a:spcAft>
                        <a:buClr>
                          <a:prstClr val="black"/>
                        </a:buClr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SG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30 </a:t>
                      </a:r>
                      <a:r>
                        <a:rPr lang="en-SG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Pasir</a:t>
                      </a:r>
                      <a:r>
                        <a:rPr lang="en-SG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SG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Panjang</a:t>
                      </a:r>
                      <a:r>
                        <a:rPr lang="en-SG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Road #07-32, </a:t>
                      </a:r>
                      <a:r>
                        <a:rPr lang="en-SG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Mapletree</a:t>
                      </a:r>
                      <a:r>
                        <a:rPr lang="en-SG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Business City, 117440, Singapore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일반</a:t>
                      </a:r>
                      <a:r>
                        <a:rPr lang="en-SG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: </a:t>
                      </a:r>
                      <a:r>
                        <a:rPr lang="en-SG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  <a:hlinkClick r:id="rId4"/>
                        </a:rPr>
                        <a:t>cellosquare.my@samsung.co</a:t>
                      </a:r>
                      <a:endParaRPr lang="en-SG" altLang="ko-KR" sz="1100" kern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해상 서비스</a:t>
                      </a:r>
                      <a:r>
                        <a:rPr lang="en-SG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: </a:t>
                      </a:r>
                      <a:r>
                        <a:rPr lang="en-SG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  <a:hlinkClick r:id="rId5"/>
                        </a:rPr>
                        <a:t>terrance.lee@samsung.com</a:t>
                      </a:r>
                      <a:endParaRPr lang="en-SG" altLang="ko-KR" sz="1100" kern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계약 물류</a:t>
                      </a:r>
                      <a:r>
                        <a:rPr lang="en-SG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: </a:t>
                      </a:r>
                      <a:r>
                        <a:rPr lang="en-SG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  <a:hlinkClick r:id="rId6"/>
                        </a:rPr>
                        <a:t>ivan.xu@samsung.com</a:t>
                      </a:r>
                      <a:endParaRPr lang="en-SG" altLang="ko-KR" sz="1100" kern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기타</a:t>
                      </a:r>
                      <a:r>
                        <a:rPr lang="en-SG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: </a:t>
                      </a:r>
                      <a:r>
                        <a:rPr lang="en-SG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  <a:hlinkClick r:id="rId7"/>
                        </a:rPr>
                        <a:t>jeffrey.kee@partner.samsung.com</a:t>
                      </a:r>
                      <a:endParaRPr lang="en-US" altLang="ko-KR" sz="1100" kern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0629969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9596979"/>
              </p:ext>
            </p:extLst>
          </p:nvPr>
        </p:nvGraphicFramePr>
        <p:xfrm>
          <a:off x="14512603" y="5799134"/>
          <a:ext cx="7994337" cy="12884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1597">
                  <a:extLst>
                    <a:ext uri="{9D8B030D-6E8A-4147-A177-3AD203B41FA5}">
                      <a16:colId xmlns:a16="http://schemas.microsoft.com/office/drawing/2014/main" val="1526357769"/>
                    </a:ext>
                  </a:extLst>
                </a:gridCol>
                <a:gridCol w="2446020">
                  <a:extLst>
                    <a:ext uri="{9D8B030D-6E8A-4147-A177-3AD203B41FA5}">
                      <a16:colId xmlns:a16="http://schemas.microsoft.com/office/drawing/2014/main" val="3704624977"/>
                    </a:ext>
                  </a:extLst>
                </a:gridCol>
                <a:gridCol w="4236720">
                  <a:extLst>
                    <a:ext uri="{9D8B030D-6E8A-4147-A177-3AD203B41FA5}">
                      <a16:colId xmlns:a16="http://schemas.microsoft.com/office/drawing/2014/main" val="561315315"/>
                    </a:ext>
                  </a:extLst>
                </a:gridCol>
              </a:tblGrid>
              <a:tr h="526443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>
                          <a:solidFill>
                            <a:sysClr val="windowText" lastClr="000000"/>
                          </a:solidFill>
                        </a:rPr>
                        <a:t>오피스명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ysClr val="windowText" lastClr="000000"/>
                          </a:solidFill>
                        </a:rPr>
                        <a:t>위치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>
                          <a:solidFill>
                            <a:sysClr val="windowText" lastClr="000000"/>
                          </a:solidFill>
                        </a:rPr>
                        <a:t>연락처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4224422"/>
                  </a:ext>
                </a:extLst>
              </a:tr>
              <a:tr h="526443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34" charset="-127"/>
                          <a:cs typeface="Arial" panose="020B0604020202020204" pitchFamily="34" charset="0"/>
                        </a:rPr>
                        <a:t>Singapore Office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0">
                        <a:lnSpc>
                          <a:spcPct val="90000"/>
                        </a:lnSpc>
                        <a:spcAft>
                          <a:spcPts val="700"/>
                        </a:spcAft>
                        <a:buClr>
                          <a:prstClr val="black"/>
                        </a:buClr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SG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30 </a:t>
                      </a:r>
                      <a:r>
                        <a:rPr lang="en-SG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Pasir</a:t>
                      </a:r>
                      <a:r>
                        <a:rPr lang="en-SG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SG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Panjang</a:t>
                      </a:r>
                      <a:r>
                        <a:rPr lang="en-SG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Road #07-32, </a:t>
                      </a:r>
                      <a:r>
                        <a:rPr lang="en-SG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Mapletree</a:t>
                      </a:r>
                      <a:r>
                        <a:rPr lang="en-SG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Business City, 117440, Singapore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General: </a:t>
                      </a: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  <a:hlinkClick r:id="rId4"/>
                        </a:rPr>
                        <a:t>cellosquare.my@samsung.co</a:t>
                      </a:r>
                      <a:endParaRPr lang="en-US" altLang="ko-KR" sz="1100" kern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Ocean Logistics: </a:t>
                      </a: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  <a:hlinkClick r:id="rId5"/>
                        </a:rPr>
                        <a:t>terrance.lee@samsung.com</a:t>
                      </a:r>
                      <a:endParaRPr lang="en-US" altLang="ko-KR" sz="1100" kern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Contract Logistics: </a:t>
                      </a: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  <a:hlinkClick r:id="rId6"/>
                        </a:rPr>
                        <a:t>ivan.xu@samsung.com</a:t>
                      </a:r>
                      <a:endParaRPr lang="en-US" altLang="ko-KR" sz="1100" kern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Business Development: </a:t>
                      </a: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  <a:hlinkClick r:id="rId7"/>
                        </a:rPr>
                        <a:t>jeffrey.kee@partner.samsung.com</a:t>
                      </a:r>
                      <a:endParaRPr lang="en-US" altLang="ko-KR" sz="1100" kern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0629969"/>
                  </a:ext>
                </a:extLst>
              </a:tr>
            </a:tbl>
          </a:graphicData>
        </a:graphic>
      </p:graphicFrame>
      <p:sp>
        <p:nvSpPr>
          <p:cNvPr id="123" name="TextBox 122"/>
          <p:cNvSpPr txBox="1"/>
          <p:nvPr/>
        </p:nvSpPr>
        <p:spPr>
          <a:xfrm>
            <a:off x="6471629" y="-1005651"/>
            <a:ext cx="4956779" cy="145898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ko-KR"/>
            </a:defPPr>
            <a:lvl1pPr marL="285750" lvl="0" indent="-285750" latinLnBrk="0">
              <a:lnSpc>
                <a:spcPct val="120000"/>
              </a:lnSpc>
              <a:spcAft>
                <a:spcPts val="700"/>
              </a:spcAft>
              <a:buClr>
                <a:prstClr val="black"/>
              </a:buClr>
              <a:buSzPct val="100000"/>
              <a:buFont typeface="Arial" panose="020B0604020202020204" pitchFamily="34" charset="0"/>
              <a:buChar char="•"/>
              <a:defRPr sz="1400" ker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95000"/>
                    <a:lumOff val="5000"/>
                  </a:prst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창고 위치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: 15 Greenwich Drive, Singapore 534022</a:t>
            </a:r>
          </a:p>
          <a:p>
            <a:pPr>
              <a:defRPr/>
            </a:pP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창고 면적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: 116,875 </a:t>
            </a:r>
            <a:r>
              <a:rPr lang="en-US" altLang="ko-KR" sz="1000" dirty="0" err="1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sqft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규모의 가전 제품 및 서비스 부품 운영 창고</a:t>
            </a:r>
          </a:p>
          <a:p>
            <a:pPr>
              <a:defRPr/>
            </a:pPr>
            <a:r>
              <a:rPr lang="ko-KR" altLang="en-US" sz="1000" dirty="0" err="1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이커머스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000" dirty="0" err="1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풀필먼트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: 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정확도 높은 </a:t>
            </a:r>
            <a:r>
              <a:rPr lang="ko-KR" altLang="en-US" sz="1000" dirty="0" err="1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피킹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·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패킹을 통한 </a:t>
            </a:r>
            <a:r>
              <a:rPr lang="ko-KR" altLang="en-US" sz="1000" dirty="0" err="1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고가치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모바일 기기 핸들링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정시 배송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(OTD) 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최적화를 위한 지정 시간대 배송 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(Time-slot delivery) 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서비스</a:t>
            </a:r>
          </a:p>
          <a:p>
            <a:pPr>
              <a:defRPr/>
            </a:pP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첨단 자동화 솔루션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: AI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카메라 기술 탑재한 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3D </a:t>
            </a:r>
            <a:r>
              <a:rPr lang="ko-KR" altLang="en-US" sz="1000" dirty="0" err="1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소터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(3D Sorter) 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도입으로 정확도 및 처리량 극대화 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(2025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년 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07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월 도입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471629" y="2687809"/>
            <a:ext cx="5125839" cy="7254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ko-KR"/>
            </a:defPPr>
            <a:lvl1pPr marL="285750" lvl="0" indent="-285750" latinLnBrk="0">
              <a:lnSpc>
                <a:spcPct val="120000"/>
              </a:lnSpc>
              <a:spcAft>
                <a:spcPts val="700"/>
              </a:spcAft>
              <a:buClr>
                <a:prstClr val="black"/>
              </a:buClr>
              <a:buSzPct val="100000"/>
              <a:buFont typeface="Arial" panose="020B0604020202020204" pitchFamily="34" charset="0"/>
              <a:buChar char="•"/>
              <a:defRPr sz="1400" ker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95000"/>
                    <a:lumOff val="5000"/>
                  </a:prst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창고 위치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: 29 </a:t>
            </a:r>
            <a:r>
              <a:rPr lang="en-US" altLang="ko-KR" sz="1000" dirty="0" err="1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Tuas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Avenue 11, Singapore 639089</a:t>
            </a:r>
          </a:p>
          <a:p>
            <a:pPr>
              <a:defRPr/>
            </a:pP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창고 면적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: 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가전 및 제조 제품 등 다양한 화물 핸들링을 위한 유연한 물류 시설로 고객 수요에 맞춰 확장 가능</a:t>
            </a:r>
          </a:p>
        </p:txBody>
      </p:sp>
      <p:pic>
        <p:nvPicPr>
          <p:cNvPr id="125" name="Picture 4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2336" y="540399"/>
            <a:ext cx="5070764" cy="1828800"/>
          </a:xfrm>
          <a:prstGeom prst="rect">
            <a:avLst/>
          </a:prstGeom>
        </p:spPr>
      </p:pic>
      <p:pic>
        <p:nvPicPr>
          <p:cNvPr id="126" name="Picture 4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0623" y="3645374"/>
            <a:ext cx="5088369" cy="1835150"/>
          </a:xfrm>
          <a:prstGeom prst="rect">
            <a:avLst/>
          </a:prstGeom>
        </p:spPr>
      </p:pic>
      <p:sp>
        <p:nvSpPr>
          <p:cNvPr id="127" name="TextBox 126"/>
          <p:cNvSpPr txBox="1"/>
          <p:nvPr/>
        </p:nvSpPr>
        <p:spPr>
          <a:xfrm>
            <a:off x="14951126" y="-1681092"/>
            <a:ext cx="4956779" cy="21344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ko-KR"/>
            </a:defPPr>
            <a:lvl1pPr marL="285750" lvl="0" indent="-285750" latinLnBrk="0">
              <a:lnSpc>
                <a:spcPct val="120000"/>
              </a:lnSpc>
              <a:spcAft>
                <a:spcPts val="700"/>
              </a:spcAft>
              <a:buClr>
                <a:prstClr val="black"/>
              </a:buClr>
              <a:buSzPct val="100000"/>
              <a:buFont typeface="Arial" panose="020B0604020202020204" pitchFamily="34" charset="0"/>
              <a:buChar char="•"/>
              <a:defRPr sz="1400" ker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95000"/>
                    <a:lumOff val="5000"/>
                  </a:prst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 marL="171450" indent="-171450"/>
            <a:r>
              <a:rPr lang="en-SG" altLang="ko-KR" sz="1200" dirty="0"/>
              <a:t>Location: 15 Greenwich Drive, Singapore 534022</a:t>
            </a:r>
          </a:p>
          <a:p>
            <a:pPr marL="171450" indent="-171450"/>
            <a:r>
              <a:rPr lang="en-SG" altLang="ko-KR" sz="1200" dirty="0"/>
              <a:t>Warehouse Space: A 116,875 </a:t>
            </a:r>
            <a:r>
              <a:rPr lang="en-SG" altLang="ko-KR" sz="1200" dirty="0" err="1"/>
              <a:t>sq</a:t>
            </a:r>
            <a:r>
              <a:rPr lang="en-SG" altLang="ko-KR" sz="1200" dirty="0"/>
              <a:t> </a:t>
            </a:r>
            <a:r>
              <a:rPr lang="en-SG" altLang="ko-KR" sz="1200" dirty="0" err="1"/>
              <a:t>ft</a:t>
            </a:r>
            <a:r>
              <a:rPr lang="en-SG" altLang="ko-KR" sz="1200" dirty="0"/>
              <a:t> facility specializing in consumer electronics and service parts operations.</a:t>
            </a:r>
          </a:p>
          <a:p>
            <a:pPr marL="171450" indent="-171450"/>
            <a:r>
              <a:rPr lang="en-SG" altLang="ko-KR" sz="1200" dirty="0" err="1"/>
              <a:t>eCommerce</a:t>
            </a:r>
            <a:r>
              <a:rPr lang="en-SG" altLang="ko-KR" sz="1200" dirty="0"/>
              <a:t> </a:t>
            </a:r>
            <a:r>
              <a:rPr lang="en-SG" altLang="ko-KR" sz="1200" dirty="0" err="1"/>
              <a:t>Fulfillment</a:t>
            </a:r>
            <a:r>
              <a:rPr lang="en-SG" altLang="ko-KR" sz="1200" dirty="0"/>
              <a:t>: Secure handling of high‑value mobile devices with precision picking and packing; time‑slot delivery supported by optimized on‑time delivery (OTD) performance.</a:t>
            </a:r>
          </a:p>
          <a:p>
            <a:pPr marL="171450" indent="-171450"/>
            <a:r>
              <a:rPr lang="en-SG" altLang="ko-KR" sz="1200" dirty="0"/>
              <a:t>Advanced Automation: 3D sorter with AI‑powered camera technology (go‑live: July 2025) enhances accuracy and throughput.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5277583" y="2983857"/>
            <a:ext cx="5125839" cy="104817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ko-KR"/>
            </a:defPPr>
            <a:lvl1pPr marL="285750" lvl="0" indent="-285750" latinLnBrk="0">
              <a:lnSpc>
                <a:spcPct val="120000"/>
              </a:lnSpc>
              <a:spcAft>
                <a:spcPts val="700"/>
              </a:spcAft>
              <a:buClr>
                <a:prstClr val="black"/>
              </a:buClr>
              <a:buSzPct val="100000"/>
              <a:buFont typeface="Arial" panose="020B0604020202020204" pitchFamily="34" charset="0"/>
              <a:buChar char="•"/>
              <a:defRPr sz="1400" ker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95000"/>
                    <a:lumOff val="5000"/>
                  </a:prst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 marL="171450" indent="-171450"/>
            <a:r>
              <a:rPr lang="en-SG" altLang="ko-KR" sz="1200" dirty="0"/>
              <a:t>Location: 29 </a:t>
            </a:r>
            <a:r>
              <a:rPr lang="en-SG" altLang="ko-KR" sz="1200" dirty="0" err="1"/>
              <a:t>Tuas</a:t>
            </a:r>
            <a:r>
              <a:rPr lang="en-SG" altLang="ko-KR" sz="1200" dirty="0"/>
              <a:t> Avenue 11, Singapore 639089</a:t>
            </a:r>
          </a:p>
          <a:p>
            <a:pPr marL="171450" indent="-171450"/>
            <a:r>
              <a:rPr lang="en-SG" altLang="ko-KR" sz="1200" dirty="0"/>
              <a:t>Warehouse Space: A flexible facility designed for consumer electronics, manufacturing products, and heating &amp; water systems. The space is expandable to accommodate growing customer needs.</a:t>
            </a:r>
          </a:p>
        </p:txBody>
      </p:sp>
      <p:pic>
        <p:nvPicPr>
          <p:cNvPr id="129" name="Picture 4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91833" y="859009"/>
            <a:ext cx="5070764" cy="1828800"/>
          </a:xfrm>
          <a:prstGeom prst="rect">
            <a:avLst/>
          </a:prstGeom>
        </p:spPr>
      </p:pic>
      <p:pic>
        <p:nvPicPr>
          <p:cNvPr id="130" name="Picture 4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77583" y="4074034"/>
            <a:ext cx="4020067" cy="1449861"/>
          </a:xfrm>
          <a:prstGeom prst="rect">
            <a:avLst/>
          </a:prstGeom>
        </p:spPr>
      </p:pic>
      <p:sp>
        <p:nvSpPr>
          <p:cNvPr id="131" name="직사각형 130"/>
          <p:cNvSpPr/>
          <p:nvPr/>
        </p:nvSpPr>
        <p:spPr>
          <a:xfrm>
            <a:off x="2176189" y="1365347"/>
            <a:ext cx="3469868" cy="17779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직사각형 131"/>
          <p:cNvSpPr/>
          <p:nvPr/>
        </p:nvSpPr>
        <p:spPr>
          <a:xfrm>
            <a:off x="2172761" y="3200399"/>
            <a:ext cx="3580339" cy="188827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오른쪽 화살표 132"/>
          <p:cNvSpPr/>
          <p:nvPr/>
        </p:nvSpPr>
        <p:spPr>
          <a:xfrm>
            <a:off x="5554940" y="2100352"/>
            <a:ext cx="504670" cy="307893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오른쪽 화살표 133"/>
          <p:cNvSpPr/>
          <p:nvPr/>
        </p:nvSpPr>
        <p:spPr>
          <a:xfrm>
            <a:off x="5719592" y="4124652"/>
            <a:ext cx="504670" cy="307893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TextBox 134"/>
          <p:cNvSpPr txBox="1"/>
          <p:nvPr/>
        </p:nvSpPr>
        <p:spPr>
          <a:xfrm>
            <a:off x="6699790" y="-2224191"/>
            <a:ext cx="733703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/>
              <a:t>국문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4991833" y="-2224191"/>
            <a:ext cx="733703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/>
              <a:t>영문</a:t>
            </a: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B137162F-375E-AC4D-0A36-15FE636CF104}"/>
              </a:ext>
            </a:extLst>
          </p:cNvPr>
          <p:cNvSpPr/>
          <p:nvPr/>
        </p:nvSpPr>
        <p:spPr>
          <a:xfrm>
            <a:off x="9283700" y="228600"/>
            <a:ext cx="2520000" cy="2520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/>
              <a:t>디자인 이미지 변경 </a:t>
            </a:r>
            <a:endParaRPr kumimoji="1" lang="en-US" altLang="ko-KR" dirty="0"/>
          </a:p>
          <a:p>
            <a:pPr algn="ctr"/>
            <a:r>
              <a:rPr kumimoji="1" lang="ko-KR" altLang="en-US" dirty="0" err="1"/>
              <a:t>퍼블</a:t>
            </a:r>
            <a:r>
              <a:rPr kumimoji="1" lang="ko-KR" altLang="en-US" dirty="0"/>
              <a:t> </a:t>
            </a:r>
            <a:r>
              <a:rPr kumimoji="1" lang="en-US" altLang="ko-KR" dirty="0"/>
              <a:t>:</a:t>
            </a:r>
            <a:r>
              <a:rPr kumimoji="1" lang="ko-KR" altLang="en-US" dirty="0"/>
              <a:t> 다국어 엑셀파일 참고</a:t>
            </a:r>
          </a:p>
        </p:txBody>
      </p:sp>
    </p:spTree>
    <p:extLst>
      <p:ext uri="{BB962C8B-B14F-4D97-AF65-F5344CB8AC3E}">
        <p14:creationId xmlns:p14="http://schemas.microsoft.com/office/powerpoint/2010/main" val="2450360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215900" y="95935"/>
            <a:ext cx="69088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600" dirty="0" err="1">
                <a:hlinkClick r:id="rId2"/>
              </a:rPr>
              <a:t>첼로스퀘어</a:t>
            </a:r>
            <a:r>
              <a:rPr lang="ko-KR" altLang="en-US" sz="1600" dirty="0">
                <a:hlinkClick r:id="rId2"/>
              </a:rPr>
              <a:t> 인도네시아 소개 </a:t>
            </a:r>
            <a:r>
              <a:rPr lang="en-US" altLang="ko-KR" sz="1600" dirty="0">
                <a:hlinkClick r:id="rId2"/>
              </a:rPr>
              <a:t>- Global Network | </a:t>
            </a:r>
            <a:r>
              <a:rPr lang="ko-KR" altLang="en-US" sz="1600" dirty="0" err="1">
                <a:hlinkClick r:id="rId2"/>
              </a:rPr>
              <a:t>첼로스퀘어</a:t>
            </a:r>
            <a:r>
              <a:rPr lang="en-US" altLang="ko-KR" sz="1600" dirty="0">
                <a:hlinkClick r:id="rId2"/>
              </a:rPr>
              <a:t>(Cello Square)</a:t>
            </a:r>
            <a:endParaRPr lang="en-US" sz="160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/>
          <a:srcRect b="24667"/>
          <a:stretch/>
        </p:blipFill>
        <p:spPr>
          <a:xfrm>
            <a:off x="351889" y="758267"/>
            <a:ext cx="7357012" cy="494403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79406" y="130805"/>
            <a:ext cx="3765071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해당부분</a:t>
            </a:r>
            <a:r>
              <a:rPr lang="en-US" altLang="ko-KR" dirty="0"/>
              <a:t>, </a:t>
            </a:r>
            <a:r>
              <a:rPr lang="ko-KR" altLang="en-US" dirty="0"/>
              <a:t>국문만 </a:t>
            </a:r>
            <a:r>
              <a:rPr lang="ko-KR" altLang="en-US" dirty="0" err="1"/>
              <a:t>반영부탁드립니다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982394" y="2179935"/>
            <a:ext cx="6548705" cy="830997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600" dirty="0">
                <a:solidFill>
                  <a:prstClr val="black"/>
                </a:solidFill>
              </a:rPr>
              <a:t>삼성</a:t>
            </a:r>
            <a:r>
              <a:rPr lang="en-US" altLang="ko-KR" sz="1600" dirty="0">
                <a:solidFill>
                  <a:prstClr val="black"/>
                </a:solidFill>
              </a:rPr>
              <a:t>SDS </a:t>
            </a:r>
            <a:r>
              <a:rPr lang="ko-KR" altLang="en-US" sz="1600" dirty="0">
                <a:solidFill>
                  <a:prstClr val="black"/>
                </a:solidFill>
              </a:rPr>
              <a:t>인도네시아는 자카르타 남부 </a:t>
            </a:r>
            <a:r>
              <a:rPr lang="ko-KR" altLang="en-US" sz="1600" dirty="0" err="1">
                <a:solidFill>
                  <a:prstClr val="black"/>
                </a:solidFill>
              </a:rPr>
              <a:t>가톳</a:t>
            </a:r>
            <a:r>
              <a:rPr lang="ko-KR" altLang="en-US" sz="1600" dirty="0">
                <a:solidFill>
                  <a:prstClr val="black"/>
                </a:solidFill>
              </a:rPr>
              <a:t> </a:t>
            </a:r>
            <a:r>
              <a:rPr lang="ko-KR" altLang="en-US" sz="1600" dirty="0" err="1">
                <a:solidFill>
                  <a:prstClr val="black"/>
                </a:solidFill>
              </a:rPr>
              <a:t>수브로토</a:t>
            </a:r>
            <a:r>
              <a:rPr lang="en-US" altLang="ko-KR" sz="1600" dirty="0">
                <a:solidFill>
                  <a:prstClr val="black"/>
                </a:solidFill>
              </a:rPr>
              <a:t>(</a:t>
            </a:r>
            <a:r>
              <a:rPr lang="en-US" altLang="ko-KR" sz="1600" dirty="0" err="1">
                <a:solidFill>
                  <a:prstClr val="black"/>
                </a:solidFill>
              </a:rPr>
              <a:t>Gatot</a:t>
            </a:r>
            <a:r>
              <a:rPr lang="en-US" altLang="ko-KR" sz="1600" dirty="0">
                <a:solidFill>
                  <a:prstClr val="black"/>
                </a:solidFill>
              </a:rPr>
              <a:t> </a:t>
            </a:r>
            <a:r>
              <a:rPr lang="en-US" altLang="ko-KR" sz="1600" dirty="0" err="1">
                <a:solidFill>
                  <a:prstClr val="black"/>
                </a:solidFill>
              </a:rPr>
              <a:t>Subroto</a:t>
            </a:r>
            <a:r>
              <a:rPr lang="en-US" altLang="ko-KR" sz="1600" dirty="0">
                <a:solidFill>
                  <a:prstClr val="black"/>
                </a:solidFill>
              </a:rPr>
              <a:t>)</a:t>
            </a:r>
            <a:r>
              <a:rPr lang="ko-KR" altLang="en-US" sz="1600" dirty="0">
                <a:solidFill>
                  <a:prstClr val="black"/>
                </a:solidFill>
              </a:rPr>
              <a:t>에 위치하고 있으며</a:t>
            </a:r>
            <a:r>
              <a:rPr lang="en-US" altLang="ko-KR" sz="1600" dirty="0">
                <a:solidFill>
                  <a:prstClr val="black"/>
                </a:solidFill>
              </a:rPr>
              <a:t>, 10</a:t>
            </a:r>
            <a:r>
              <a:rPr lang="ko-KR" altLang="en-US" sz="1600" dirty="0">
                <a:solidFill>
                  <a:prstClr val="black"/>
                </a:solidFill>
              </a:rPr>
              <a:t>년 이상 종합 물류 서비스를 제공하고 있습니다</a:t>
            </a:r>
            <a:r>
              <a:rPr lang="en-US" altLang="ko-KR" sz="1600" dirty="0">
                <a:solidFill>
                  <a:prstClr val="black"/>
                </a:solidFill>
              </a:rPr>
              <a:t>.</a:t>
            </a: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16DBD2A7-6D03-D1CC-F3F5-34BDDD06FB12}"/>
              </a:ext>
            </a:extLst>
          </p:cNvPr>
          <p:cNvSpPr/>
          <p:nvPr/>
        </p:nvSpPr>
        <p:spPr>
          <a:xfrm>
            <a:off x="9283700" y="228600"/>
            <a:ext cx="2520000" cy="2520000"/>
          </a:xfrm>
          <a:prstGeom prst="ellipse">
            <a:avLst/>
          </a:prstGeom>
          <a:solidFill>
            <a:srgbClr val="0AD2B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/>
              <a:t>국문 문구 반영</a:t>
            </a:r>
            <a:endParaRPr kumimoji="1" lang="en-US" altLang="ko-KR" dirty="0"/>
          </a:p>
          <a:p>
            <a:pPr algn="ctr"/>
            <a:r>
              <a:rPr kumimoji="1" lang="en-US" altLang="ko-KR" dirty="0"/>
              <a:t>Only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778525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215900" y="95935"/>
            <a:ext cx="69088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600" dirty="0" err="1">
                <a:hlinkClick r:id="rId2"/>
              </a:rPr>
              <a:t>첼로스퀘어</a:t>
            </a:r>
            <a:r>
              <a:rPr lang="ko-KR" altLang="en-US" sz="1600" dirty="0">
                <a:hlinkClick r:id="rId2"/>
              </a:rPr>
              <a:t> 인도네시아 소개 </a:t>
            </a:r>
            <a:r>
              <a:rPr lang="en-US" altLang="ko-KR" sz="1600" dirty="0">
                <a:hlinkClick r:id="rId2"/>
              </a:rPr>
              <a:t>- Global Network | </a:t>
            </a:r>
            <a:r>
              <a:rPr lang="ko-KR" altLang="en-US" sz="1600" dirty="0" err="1">
                <a:hlinkClick r:id="rId2"/>
              </a:rPr>
              <a:t>첼로스퀘어</a:t>
            </a:r>
            <a:r>
              <a:rPr lang="en-US" altLang="ko-KR" sz="1600" dirty="0">
                <a:hlinkClick r:id="rId2"/>
              </a:rPr>
              <a:t>(Cello Square)</a:t>
            </a:r>
            <a:endParaRPr lang="en-US" sz="160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" y="813924"/>
            <a:ext cx="6744641" cy="6639852"/>
          </a:xfrm>
          <a:prstGeom prst="rect">
            <a:avLst/>
          </a:prstGeom>
        </p:spPr>
      </p:pic>
      <p:sp>
        <p:nvSpPr>
          <p:cNvPr id="8" name="직사각형 16"/>
          <p:cNvSpPr/>
          <p:nvPr/>
        </p:nvSpPr>
        <p:spPr>
          <a:xfrm>
            <a:off x="7668319" y="2454694"/>
            <a:ext cx="1943872" cy="8037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 defTabSz="609585" latinLnBrk="0">
              <a:defRPr/>
            </a:pPr>
            <a:r>
              <a:rPr lang="ko-KR" altLang="en-US" sz="1600" b="1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카쿵</a:t>
            </a:r>
            <a:r>
              <a:rPr lang="en-US" altLang="ko-KR" sz="16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lang="ko-KR" altLang="en-US" sz="1600" b="1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탕게랑</a:t>
            </a:r>
            <a:r>
              <a:rPr lang="ko-KR" altLang="en-US" sz="16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창고</a:t>
            </a:r>
            <a:endParaRPr lang="en-US" altLang="ko-KR" sz="1600" b="1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612191" y="1527978"/>
            <a:ext cx="5159617" cy="73609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ko-KR"/>
            </a:defPPr>
            <a:lvl1pPr marL="285750" lvl="0" indent="-285750" latinLnBrk="0">
              <a:lnSpc>
                <a:spcPct val="120000"/>
              </a:lnSpc>
              <a:spcAft>
                <a:spcPts val="700"/>
              </a:spcAft>
              <a:buClr>
                <a:prstClr val="black"/>
              </a:buClr>
              <a:buSzPct val="100000"/>
              <a:buFont typeface="Arial" panose="020B0604020202020204" pitchFamily="34" charset="0"/>
              <a:buChar char="•"/>
              <a:defRPr sz="1400" ker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95000"/>
                    <a:lumOff val="5000"/>
                  </a:prst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통합 물류 운영 역량을 바탕으로 삼성전자 가전 물류 서비스를 제공</a:t>
            </a:r>
          </a:p>
          <a:p>
            <a:pPr>
              <a:defRPr/>
            </a:pP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전담 현장 보안 인력 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24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시간 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CCTV 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모니터링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전국적인 전자상거래 주문 처리 및 지역 배송을 지원</a:t>
            </a:r>
          </a:p>
        </p:txBody>
      </p:sp>
      <p:pic>
        <p:nvPicPr>
          <p:cNvPr id="10" name="Picture 4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6517" y="2348288"/>
            <a:ext cx="5044644" cy="1820334"/>
          </a:xfrm>
          <a:prstGeom prst="rect">
            <a:avLst/>
          </a:prstGeom>
        </p:spPr>
      </p:pic>
      <p:sp>
        <p:nvSpPr>
          <p:cNvPr id="13" name="직사각형 16"/>
          <p:cNvSpPr/>
          <p:nvPr/>
        </p:nvSpPr>
        <p:spPr>
          <a:xfrm>
            <a:off x="8022516" y="5592446"/>
            <a:ext cx="1797241" cy="13596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 defTabSz="609585" latinLnBrk="0">
              <a:defRPr/>
            </a:pPr>
            <a:r>
              <a:rPr lang="ko-KR" altLang="en-US" sz="16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대상 아궁 인도네시아 프로젝트</a:t>
            </a:r>
            <a:endParaRPr lang="en-US" altLang="ko-KR" sz="1600" b="1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877293" y="5363566"/>
            <a:ext cx="5159617" cy="9087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ko-KR"/>
            </a:defPPr>
            <a:lvl1pPr marL="285750" lvl="0" indent="-285750" latinLnBrk="0">
              <a:lnSpc>
                <a:spcPct val="120000"/>
              </a:lnSpc>
              <a:spcAft>
                <a:spcPts val="700"/>
              </a:spcAft>
              <a:buClr>
                <a:prstClr val="black"/>
              </a:buClr>
              <a:buSzPct val="100000"/>
              <a:buFont typeface="Arial" panose="020B0604020202020204" pitchFamily="34" charset="0"/>
              <a:buChar char="•"/>
              <a:defRPr sz="1400" ker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95000"/>
                    <a:lumOff val="5000"/>
                  </a:prst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인도네시아 전역에 걸쳐 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16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개의 물류센터를 관리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전국적인 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FMCG(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소비재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 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유통 및 도서 간 배송 서비스를 제공</a:t>
            </a:r>
          </a:p>
          <a:p>
            <a:pPr>
              <a:defRPr/>
            </a:pP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Cello WMS/TMS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를 활용한 시스템 기반 운영으로 정확성과 가시성을 확보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FEFO(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선입선출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 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기반 재고 관리로 제품 품질 및 규정 준수 보장</a:t>
            </a:r>
          </a:p>
        </p:txBody>
      </p:sp>
      <p:pic>
        <p:nvPicPr>
          <p:cNvPr id="15" name="Picture 5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5908" y="6551705"/>
            <a:ext cx="5002389" cy="1804141"/>
          </a:xfrm>
          <a:prstGeom prst="rect">
            <a:avLst/>
          </a:prstGeom>
        </p:spPr>
      </p:pic>
      <p:sp>
        <p:nvSpPr>
          <p:cNvPr id="16" name="직사각형 15"/>
          <p:cNvSpPr/>
          <p:nvPr/>
        </p:nvSpPr>
        <p:spPr>
          <a:xfrm>
            <a:off x="200431" y="1078670"/>
            <a:ext cx="6760109" cy="30899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오른쪽 화살표 16"/>
          <p:cNvSpPr/>
          <p:nvPr/>
        </p:nvSpPr>
        <p:spPr>
          <a:xfrm>
            <a:off x="6991462" y="2835358"/>
            <a:ext cx="504670" cy="307893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직사각형 17"/>
          <p:cNvSpPr/>
          <p:nvPr/>
        </p:nvSpPr>
        <p:spPr>
          <a:xfrm>
            <a:off x="200431" y="4272945"/>
            <a:ext cx="6760109" cy="30899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오른쪽 화살표 18"/>
          <p:cNvSpPr/>
          <p:nvPr/>
        </p:nvSpPr>
        <p:spPr>
          <a:xfrm>
            <a:off x="6991462" y="6223216"/>
            <a:ext cx="504670" cy="307893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직사각형 19"/>
          <p:cNvSpPr/>
          <p:nvPr/>
        </p:nvSpPr>
        <p:spPr>
          <a:xfrm>
            <a:off x="7697116" y="1078669"/>
            <a:ext cx="7759194" cy="31942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직사각형 20"/>
          <p:cNvSpPr/>
          <p:nvPr/>
        </p:nvSpPr>
        <p:spPr>
          <a:xfrm>
            <a:off x="7697116" y="5363566"/>
            <a:ext cx="7759194" cy="33084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7697116" y="629258"/>
            <a:ext cx="733703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/>
              <a:t>국문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693282" y="629258"/>
            <a:ext cx="733703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/>
              <a:t>영문</a:t>
            </a:r>
          </a:p>
        </p:txBody>
      </p:sp>
      <p:sp>
        <p:nvSpPr>
          <p:cNvPr id="26" name="직사각형 16"/>
          <p:cNvSpPr/>
          <p:nvPr/>
        </p:nvSpPr>
        <p:spPr>
          <a:xfrm>
            <a:off x="16060134" y="2307643"/>
            <a:ext cx="2163105" cy="10554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 defTabSz="609585" latinLnBrk="0">
              <a:defRPr/>
            </a:pPr>
            <a:r>
              <a:rPr lang="en-US" altLang="ko-KR" sz="1600" b="1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Cakung</a:t>
            </a:r>
            <a:r>
              <a:rPr lang="en-US" altLang="ko-KR" sz="16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Tangerang Warehouse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498266" y="1037872"/>
            <a:ext cx="5159617" cy="126977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ko-KR"/>
            </a:defPPr>
            <a:lvl1pPr marL="285750" lvl="0" indent="-285750" latinLnBrk="0">
              <a:lnSpc>
                <a:spcPct val="120000"/>
              </a:lnSpc>
              <a:spcAft>
                <a:spcPts val="700"/>
              </a:spcAft>
              <a:buClr>
                <a:prstClr val="black"/>
              </a:buClr>
              <a:buSzPct val="100000"/>
              <a:buFont typeface="Arial" panose="020B0604020202020204" pitchFamily="34" charset="0"/>
              <a:buChar char="•"/>
              <a:defRPr sz="1400" ker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95000"/>
                    <a:lumOff val="5000"/>
                  </a:prst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 marL="171450" indent="-171450">
              <a:defRPr/>
            </a:pPr>
            <a:r>
              <a:rPr lang="en-SG" altLang="ko-KR" sz="1200" dirty="0"/>
              <a:t>End‑to‑end warehouse operations for Samsung Electronics home appliances, delivering efficiency and reliability.</a:t>
            </a:r>
          </a:p>
          <a:p>
            <a:pPr marL="171450" indent="-171450">
              <a:defRPr/>
            </a:pPr>
            <a:r>
              <a:rPr lang="en-SG" altLang="ko-KR" sz="1200" dirty="0"/>
              <a:t>Both facilities feature 24/7 CCTV monitoring with dedicated on‑site security, and support nationwide e‑commerce </a:t>
            </a:r>
            <a:r>
              <a:rPr lang="en-SG" altLang="ko-KR" sz="1200" dirty="0" err="1"/>
              <a:t>fulfillment</a:t>
            </a:r>
            <a:r>
              <a:rPr lang="en-SG" altLang="ko-KR" sz="1200" dirty="0"/>
              <a:t> and local delivery.</a:t>
            </a:r>
          </a:p>
        </p:txBody>
      </p:sp>
      <p:pic>
        <p:nvPicPr>
          <p:cNvPr id="28" name="Picture 4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53748" y="2481794"/>
            <a:ext cx="5044644" cy="1820334"/>
          </a:xfrm>
          <a:prstGeom prst="rect">
            <a:avLst/>
          </a:prstGeom>
        </p:spPr>
      </p:pic>
      <p:sp>
        <p:nvSpPr>
          <p:cNvPr id="31" name="직사각형 16"/>
          <p:cNvSpPr/>
          <p:nvPr/>
        </p:nvSpPr>
        <p:spPr>
          <a:xfrm>
            <a:off x="16060134" y="6527696"/>
            <a:ext cx="2039180" cy="10699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 defTabSz="609585" latinLnBrk="0">
              <a:defRPr/>
            </a:pPr>
            <a:r>
              <a:rPr lang="en-US" altLang="ko-KR" sz="1600" b="1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Daesang</a:t>
            </a:r>
            <a:r>
              <a:rPr lang="en-US" altLang="ko-KR" sz="16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600" b="1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Agung</a:t>
            </a:r>
            <a:r>
              <a:rPr lang="en-US" altLang="ko-KR" sz="16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Indonesia Project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818982" y="5220761"/>
            <a:ext cx="5159617" cy="14913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ko-KR"/>
            </a:defPPr>
            <a:lvl1pPr marL="285750" lvl="0" indent="-285750" latinLnBrk="0">
              <a:lnSpc>
                <a:spcPct val="120000"/>
              </a:lnSpc>
              <a:spcAft>
                <a:spcPts val="700"/>
              </a:spcAft>
              <a:buClr>
                <a:prstClr val="black"/>
              </a:buClr>
              <a:buSzPct val="100000"/>
              <a:buFont typeface="Arial" panose="020B0604020202020204" pitchFamily="34" charset="0"/>
              <a:buChar char="•"/>
              <a:defRPr sz="1400" ker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95000"/>
                    <a:lumOff val="5000"/>
                  </a:prst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 marL="171450" indent="-171450">
              <a:defRPr/>
            </a:pPr>
            <a:r>
              <a:rPr lang="en-SG" altLang="ko-KR" sz="1200" dirty="0"/>
              <a:t>Managing 16 warehouse locations across Indonesia, providing nationwide FMCG distribution and inter‑island shipments with reliable SLA performance. </a:t>
            </a:r>
          </a:p>
          <a:p>
            <a:pPr marL="171450" indent="-171450">
              <a:defRPr/>
            </a:pPr>
            <a:r>
              <a:rPr lang="en-SG" altLang="ko-KR" sz="1200" dirty="0"/>
              <a:t>Operations are system‑driven with Cello WMS/TMS for accuracy and visibility, and FEFO‑based inventory management ensures product quality and compliance.</a:t>
            </a:r>
            <a:endParaRPr lang="ko-KR" altLang="en-US" sz="1200" dirty="0"/>
          </a:p>
        </p:txBody>
      </p:sp>
      <p:pic>
        <p:nvPicPr>
          <p:cNvPr id="33" name="Picture 5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76210" y="6858000"/>
            <a:ext cx="5002389" cy="1804141"/>
          </a:xfrm>
          <a:prstGeom prst="rect">
            <a:avLst/>
          </a:prstGeom>
        </p:spPr>
      </p:pic>
      <p:sp>
        <p:nvSpPr>
          <p:cNvPr id="34" name="직사각형 33"/>
          <p:cNvSpPr/>
          <p:nvPr/>
        </p:nvSpPr>
        <p:spPr>
          <a:xfrm>
            <a:off x="15926826" y="1078669"/>
            <a:ext cx="8573288" cy="336270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직사각형 34"/>
          <p:cNvSpPr/>
          <p:nvPr/>
        </p:nvSpPr>
        <p:spPr>
          <a:xfrm>
            <a:off x="15926826" y="5092200"/>
            <a:ext cx="8573288" cy="40663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D9854B77-C449-087A-742C-25BE3B7B6936}"/>
              </a:ext>
            </a:extLst>
          </p:cNvPr>
          <p:cNvSpPr/>
          <p:nvPr/>
        </p:nvSpPr>
        <p:spPr>
          <a:xfrm>
            <a:off x="9283700" y="228600"/>
            <a:ext cx="2520000" cy="2520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/>
              <a:t>디자인 이미지 변경 </a:t>
            </a:r>
            <a:endParaRPr kumimoji="1" lang="en-US" altLang="ko-KR" dirty="0"/>
          </a:p>
          <a:p>
            <a:pPr algn="ctr"/>
            <a:r>
              <a:rPr kumimoji="1" lang="ko-KR" altLang="en-US" dirty="0" err="1"/>
              <a:t>퍼블</a:t>
            </a:r>
            <a:r>
              <a:rPr kumimoji="1" lang="ko-KR" altLang="en-US" dirty="0"/>
              <a:t> </a:t>
            </a:r>
            <a:r>
              <a:rPr kumimoji="1" lang="en-US" altLang="ko-KR" dirty="0"/>
              <a:t>:</a:t>
            </a:r>
            <a:r>
              <a:rPr kumimoji="1" lang="ko-KR" altLang="en-US" dirty="0"/>
              <a:t> 다국어 엑셀파일 참고</a:t>
            </a:r>
          </a:p>
        </p:txBody>
      </p:sp>
    </p:spTree>
    <p:extLst>
      <p:ext uri="{BB962C8B-B14F-4D97-AF65-F5344CB8AC3E}">
        <p14:creationId xmlns:p14="http://schemas.microsoft.com/office/powerpoint/2010/main" val="41721442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66243"/>
            <a:ext cx="6333047" cy="4491757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215900" y="95935"/>
            <a:ext cx="69088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600" dirty="0" err="1">
                <a:hlinkClick r:id="rId3"/>
              </a:rPr>
              <a:t>첼로스퀘어</a:t>
            </a:r>
            <a:r>
              <a:rPr lang="ko-KR" altLang="en-US" sz="1600" dirty="0">
                <a:hlinkClick r:id="rId3"/>
              </a:rPr>
              <a:t> 인도네시아 소개 </a:t>
            </a:r>
            <a:r>
              <a:rPr lang="en-US" altLang="ko-KR" sz="1600" dirty="0">
                <a:hlinkClick r:id="rId3"/>
              </a:rPr>
              <a:t>- Global Network | </a:t>
            </a:r>
            <a:r>
              <a:rPr lang="ko-KR" altLang="en-US" sz="1600" dirty="0" err="1">
                <a:hlinkClick r:id="rId3"/>
              </a:rPr>
              <a:t>첼로스퀘어</a:t>
            </a:r>
            <a:r>
              <a:rPr lang="en-US" altLang="ko-KR" sz="1600" dirty="0">
                <a:hlinkClick r:id="rId3"/>
              </a:rPr>
              <a:t>(Cello Square)</a:t>
            </a:r>
            <a:endParaRPr lang="en-US" sz="1600" dirty="0"/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3215318"/>
              </p:ext>
            </p:extLst>
          </p:nvPr>
        </p:nvGraphicFramePr>
        <p:xfrm>
          <a:off x="6333047" y="4612121"/>
          <a:ext cx="6811453" cy="10705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7526">
                  <a:extLst>
                    <a:ext uri="{9D8B030D-6E8A-4147-A177-3AD203B41FA5}">
                      <a16:colId xmlns:a16="http://schemas.microsoft.com/office/drawing/2014/main" val="1526357769"/>
                    </a:ext>
                  </a:extLst>
                </a:gridCol>
                <a:gridCol w="2969914">
                  <a:extLst>
                    <a:ext uri="{9D8B030D-6E8A-4147-A177-3AD203B41FA5}">
                      <a16:colId xmlns:a16="http://schemas.microsoft.com/office/drawing/2014/main" val="3704624977"/>
                    </a:ext>
                  </a:extLst>
                </a:gridCol>
                <a:gridCol w="2724013">
                  <a:extLst>
                    <a:ext uri="{9D8B030D-6E8A-4147-A177-3AD203B41FA5}">
                      <a16:colId xmlns:a16="http://schemas.microsoft.com/office/drawing/2014/main" val="561315315"/>
                    </a:ext>
                  </a:extLst>
                </a:gridCol>
              </a:tblGrid>
              <a:tr h="526443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>
                          <a:solidFill>
                            <a:sysClr val="windowText" lastClr="000000"/>
                          </a:solidFill>
                        </a:rPr>
                        <a:t>오피스명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ysClr val="windowText" lastClr="000000"/>
                          </a:solidFill>
                        </a:rPr>
                        <a:t>위치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>
                          <a:solidFill>
                            <a:sysClr val="windowText" lastClr="000000"/>
                          </a:solidFill>
                        </a:rPr>
                        <a:t>연락처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4224422"/>
                  </a:ext>
                </a:extLst>
              </a:tr>
              <a:tr h="52644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HQ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0">
                        <a:lnSpc>
                          <a:spcPct val="90000"/>
                        </a:lnSpc>
                        <a:spcAft>
                          <a:spcPts val="700"/>
                        </a:spcAft>
                        <a:buClr>
                          <a:prstClr val="black"/>
                        </a:buClr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SG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Suite A1, 17th Floor, Centennial Tower, Jl. </a:t>
                      </a:r>
                      <a:r>
                        <a:rPr lang="en-SG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Jend</a:t>
                      </a:r>
                      <a:r>
                        <a:rPr lang="en-SG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. </a:t>
                      </a:r>
                      <a:r>
                        <a:rPr lang="en-SG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Gatot</a:t>
                      </a:r>
                      <a:r>
                        <a:rPr lang="en-SG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SG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Subroto</a:t>
                      </a:r>
                      <a:r>
                        <a:rPr lang="en-SG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No. 27, South Jakarta, 12930, Indonesia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cellosquare.id@samsung.com</a:t>
                      </a:r>
                      <a:b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lang="ko-KR" altLang="en-US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영업</a:t>
                      </a: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: </a:t>
                      </a: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seo.jinwon@samsung.com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0629969"/>
                  </a:ext>
                </a:extLst>
              </a:tr>
            </a:tbl>
          </a:graphicData>
        </a:graphic>
      </p:graphicFrame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46899"/>
              </p:ext>
            </p:extLst>
          </p:nvPr>
        </p:nvGraphicFramePr>
        <p:xfrm>
          <a:off x="13884221" y="4612121"/>
          <a:ext cx="7070780" cy="11208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0073">
                  <a:extLst>
                    <a:ext uri="{9D8B030D-6E8A-4147-A177-3AD203B41FA5}">
                      <a16:colId xmlns:a16="http://schemas.microsoft.com/office/drawing/2014/main" val="1526357769"/>
                    </a:ext>
                  </a:extLst>
                </a:gridCol>
                <a:gridCol w="3082985">
                  <a:extLst>
                    <a:ext uri="{9D8B030D-6E8A-4147-A177-3AD203B41FA5}">
                      <a16:colId xmlns:a16="http://schemas.microsoft.com/office/drawing/2014/main" val="3704624977"/>
                    </a:ext>
                  </a:extLst>
                </a:gridCol>
                <a:gridCol w="2827722">
                  <a:extLst>
                    <a:ext uri="{9D8B030D-6E8A-4147-A177-3AD203B41FA5}">
                      <a16:colId xmlns:a16="http://schemas.microsoft.com/office/drawing/2014/main" val="561315315"/>
                    </a:ext>
                  </a:extLst>
                </a:gridCol>
              </a:tblGrid>
              <a:tr h="526443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>
                          <a:solidFill>
                            <a:sysClr val="windowText" lastClr="000000"/>
                          </a:solidFill>
                        </a:rPr>
                        <a:t>오피스명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ysClr val="windowText" lastClr="000000"/>
                          </a:solidFill>
                        </a:rPr>
                        <a:t>위치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>
                          <a:solidFill>
                            <a:sysClr val="windowText" lastClr="000000"/>
                          </a:solidFill>
                        </a:rPr>
                        <a:t>연락처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4224422"/>
                  </a:ext>
                </a:extLst>
              </a:tr>
              <a:tr h="52644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HQ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0">
                        <a:lnSpc>
                          <a:spcPct val="90000"/>
                        </a:lnSpc>
                        <a:spcAft>
                          <a:spcPts val="700"/>
                        </a:spcAft>
                        <a:buClr>
                          <a:prstClr val="black"/>
                        </a:buClr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SG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Suite A1, 17th Floor, Centennial Tower, Jl. </a:t>
                      </a:r>
                      <a:r>
                        <a:rPr lang="en-SG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Jend</a:t>
                      </a:r>
                      <a:r>
                        <a:rPr lang="en-SG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. </a:t>
                      </a:r>
                      <a:r>
                        <a:rPr lang="en-SG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Gatot</a:t>
                      </a:r>
                      <a:r>
                        <a:rPr lang="en-SG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SG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Subroto</a:t>
                      </a:r>
                      <a:r>
                        <a:rPr lang="en-SG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No. 27, South Jakarta, 12930, Indonesia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44000" lvl="0" indent="-144000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34" charset="-127"/>
                          <a:cs typeface="Arial" panose="020B0604020202020204" pitchFamily="34" charset="0"/>
                        </a:rPr>
                        <a:t>General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: cellosquare.id@samsung.com</a:t>
                      </a:r>
                      <a:b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*Business Development</a:t>
                      </a:r>
                      <a:r>
                        <a:rPr lang="en-US" altLang="ko-KR" sz="1100" dirty="0">
                          <a:solidFill>
                            <a:prstClr val="black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: seo.jinwon@samsung.com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0629969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699790" y="3890859"/>
            <a:ext cx="733703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/>
              <a:t>국문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91833" y="3890859"/>
            <a:ext cx="733703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/>
              <a:t>영문</a:t>
            </a: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7F4136D3-1C5A-053D-93F9-1B29D4EF819D}"/>
              </a:ext>
            </a:extLst>
          </p:cNvPr>
          <p:cNvSpPr/>
          <p:nvPr/>
        </p:nvSpPr>
        <p:spPr>
          <a:xfrm>
            <a:off x="9283700" y="228600"/>
            <a:ext cx="2520000" cy="2520000"/>
          </a:xfrm>
          <a:prstGeom prst="ellipse">
            <a:avLst/>
          </a:prstGeom>
          <a:solidFill>
            <a:srgbClr val="0AD2B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HQ </a:t>
            </a:r>
            <a:r>
              <a:rPr kumimoji="1" lang="ko-KR" altLang="en-US" dirty="0"/>
              <a:t>외 창고 모두 삭제 처리</a:t>
            </a:r>
            <a:r>
              <a:rPr kumimoji="1" lang="en-US" altLang="ko-KR" dirty="0"/>
              <a:t>,</a:t>
            </a:r>
          </a:p>
          <a:p>
            <a:pPr algn="ctr"/>
            <a:r>
              <a:rPr kumimoji="1" lang="ko-KR" altLang="en-US" dirty="0"/>
              <a:t>영문 버전으로 다국어 반영</a:t>
            </a:r>
          </a:p>
        </p:txBody>
      </p:sp>
    </p:spTree>
    <p:extLst>
      <p:ext uri="{BB962C8B-B14F-4D97-AF65-F5344CB8AC3E}">
        <p14:creationId xmlns:p14="http://schemas.microsoft.com/office/powerpoint/2010/main" val="40163749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119864" y="592470"/>
            <a:ext cx="964594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/>
              <a:t>국문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125706" y="146193"/>
            <a:ext cx="598653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dirty="0" err="1">
                <a:hlinkClick r:id="rId2"/>
              </a:rPr>
              <a:t>첼로스퀘어</a:t>
            </a:r>
            <a:r>
              <a:rPr lang="ko-KR" altLang="en-US" sz="1400" dirty="0">
                <a:hlinkClick r:id="rId2"/>
              </a:rPr>
              <a:t> 태국 소개 </a:t>
            </a:r>
            <a:r>
              <a:rPr lang="en-US" altLang="ko-KR" sz="1400" dirty="0">
                <a:hlinkClick r:id="rId2"/>
              </a:rPr>
              <a:t>- Global Network | </a:t>
            </a:r>
            <a:r>
              <a:rPr lang="ko-KR" altLang="en-US" sz="1400" dirty="0" err="1">
                <a:hlinkClick r:id="rId2"/>
              </a:rPr>
              <a:t>첼로스퀘어</a:t>
            </a:r>
            <a:r>
              <a:rPr lang="en-US" altLang="ko-KR" sz="1400" dirty="0">
                <a:hlinkClick r:id="rId2"/>
              </a:rPr>
              <a:t>(Cello Square)</a:t>
            </a:r>
            <a:endParaRPr lang="en-US" sz="1400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071" y="777136"/>
            <a:ext cx="5870000" cy="7948654"/>
          </a:xfrm>
          <a:prstGeom prst="rect">
            <a:avLst/>
          </a:prstGeom>
        </p:spPr>
      </p:pic>
      <p:sp>
        <p:nvSpPr>
          <p:cNvPr id="5" name="사각형 설명선 4"/>
          <p:cNvSpPr/>
          <p:nvPr/>
        </p:nvSpPr>
        <p:spPr>
          <a:xfrm>
            <a:off x="7346953" y="1907792"/>
            <a:ext cx="4920343" cy="600164"/>
          </a:xfrm>
          <a:prstGeom prst="wedgeRectCallout">
            <a:avLst>
              <a:gd name="adj1" fmla="val -78355"/>
              <a:gd name="adj2" fmla="val 28643"/>
            </a:avLst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100" dirty="0">
                <a:solidFill>
                  <a:prstClr val="black"/>
                </a:solidFill>
              </a:rPr>
              <a:t>동남아시아의 자동차</a:t>
            </a:r>
            <a:r>
              <a:rPr lang="en-US" altLang="ko-KR" sz="1100" dirty="0">
                <a:solidFill>
                  <a:prstClr val="black"/>
                </a:solidFill>
              </a:rPr>
              <a:t>·</a:t>
            </a:r>
            <a:r>
              <a:rPr lang="ko-KR" altLang="en-US" sz="1100" dirty="0">
                <a:solidFill>
                  <a:prstClr val="black"/>
                </a:solidFill>
              </a:rPr>
              <a:t>전자</a:t>
            </a:r>
            <a:r>
              <a:rPr lang="en-US" altLang="ko-KR" sz="1100" dirty="0">
                <a:solidFill>
                  <a:prstClr val="black"/>
                </a:solidFill>
              </a:rPr>
              <a:t>·</a:t>
            </a:r>
            <a:r>
              <a:rPr lang="ko-KR" altLang="en-US" sz="1100" dirty="0">
                <a:solidFill>
                  <a:prstClr val="black"/>
                </a:solidFill>
              </a:rPr>
              <a:t>식품 물류 허브인 태국에서 삼성</a:t>
            </a:r>
            <a:r>
              <a:rPr lang="en-US" altLang="ko-KR" sz="1100" dirty="0">
                <a:solidFill>
                  <a:prstClr val="black"/>
                </a:solidFill>
              </a:rPr>
              <a:t>SDS</a:t>
            </a:r>
            <a:r>
              <a:rPr lang="ko-KR" altLang="en-US" sz="1100" dirty="0">
                <a:solidFill>
                  <a:prstClr val="black"/>
                </a:solidFill>
              </a:rPr>
              <a:t>는 지난 </a:t>
            </a:r>
            <a:r>
              <a:rPr lang="en-US" altLang="ko-KR" sz="1100" dirty="0">
                <a:solidFill>
                  <a:prstClr val="black"/>
                </a:solidFill>
              </a:rPr>
              <a:t>12</a:t>
            </a:r>
            <a:r>
              <a:rPr lang="ko-KR" altLang="en-US" sz="1100" dirty="0">
                <a:solidFill>
                  <a:prstClr val="black"/>
                </a:solidFill>
              </a:rPr>
              <a:t>년간 방콕과 </a:t>
            </a:r>
            <a:r>
              <a:rPr lang="ko-KR" altLang="en-US" sz="1100" dirty="0" err="1">
                <a:solidFill>
                  <a:prstClr val="black"/>
                </a:solidFill>
              </a:rPr>
              <a:t>람차방</a:t>
            </a:r>
            <a:r>
              <a:rPr lang="ko-KR" altLang="en-US" sz="1100" dirty="0">
                <a:solidFill>
                  <a:prstClr val="black"/>
                </a:solidFill>
              </a:rPr>
              <a:t> 거점을 중심으로 폭넓고 안정적인 물류 솔루션을 제공해 왔습니다</a:t>
            </a:r>
            <a:r>
              <a:rPr lang="en-US" altLang="ko-KR" sz="1100" dirty="0">
                <a:solidFill>
                  <a:prstClr val="black"/>
                </a:solidFill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54338" y="6969148"/>
            <a:ext cx="5290478" cy="1592744"/>
          </a:xfrm>
          <a:prstGeom prst="rect">
            <a:avLst/>
          </a:prstGeom>
          <a:solidFill>
            <a:srgbClr val="FFFF00"/>
          </a:solidFill>
        </p:spPr>
        <p:txBody>
          <a:bodyPr wrap="square" rtlCol="0" anchor="t">
            <a:spAutoFit/>
          </a:bodyPr>
          <a:lstStyle/>
          <a:p>
            <a:pPr marL="144000" indent="-144000" latinLnBrk="0">
              <a:spcAft>
                <a:spcPts val="700"/>
              </a:spcAft>
              <a:buClr>
                <a:prstClr val="black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국제 운송</a:t>
            </a:r>
            <a:r>
              <a:rPr lang="en-US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: </a:t>
            </a:r>
            <a:r>
              <a:rPr lang="ko-KR" altLang="en-US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해상</a:t>
            </a:r>
            <a:r>
              <a:rPr lang="en-US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(FCL/LCL), </a:t>
            </a:r>
            <a:r>
              <a:rPr lang="ko-KR" altLang="en-US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항공</a:t>
            </a:r>
            <a:r>
              <a:rPr lang="en-US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, </a:t>
            </a:r>
            <a:r>
              <a:rPr lang="ko-KR" altLang="en-US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육상</a:t>
            </a:r>
            <a:r>
              <a:rPr lang="en-US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, </a:t>
            </a:r>
            <a:r>
              <a:rPr lang="ko-KR" altLang="en-US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현지 배송 및 통관 서비스</a:t>
            </a:r>
            <a:r>
              <a:rPr lang="en-US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, </a:t>
            </a:r>
            <a:r>
              <a:rPr lang="ko-KR" altLang="en-US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전 세계 </a:t>
            </a:r>
            <a:r>
              <a:rPr lang="ko-KR" altLang="en-US" sz="1000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운송사</a:t>
            </a:r>
            <a:r>
              <a:rPr lang="ko-KR" altLang="en-US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네트워크 및 실시간 디지털 </a:t>
            </a:r>
            <a:r>
              <a:rPr lang="ko-KR" altLang="en-US" sz="1000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트래킹</a:t>
            </a:r>
            <a:r>
              <a:rPr lang="ko-KR" altLang="en-US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기반</a:t>
            </a:r>
          </a:p>
          <a:p>
            <a:pPr marL="144000" indent="-144000" latinLnBrk="0">
              <a:spcAft>
                <a:spcPts val="700"/>
              </a:spcAft>
              <a:buClr>
                <a:prstClr val="black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000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특송</a:t>
            </a:r>
            <a:r>
              <a:rPr lang="en-US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: UPS, </a:t>
            </a:r>
            <a:r>
              <a:rPr lang="en-US" altLang="ko-KR" sz="1000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Aramex</a:t>
            </a:r>
            <a:r>
              <a:rPr lang="en-US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, FedEx </a:t>
            </a:r>
            <a:r>
              <a:rPr lang="ko-KR" altLang="en-US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등 신뢰할 수 있는 글로벌 파트너와의 협업을 통해 시간 </a:t>
            </a:r>
            <a:r>
              <a:rPr lang="ko-KR" altLang="en-US" sz="1000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민감형</a:t>
            </a:r>
            <a:r>
              <a:rPr lang="ko-KR" altLang="en-US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소포 배송 및 </a:t>
            </a:r>
            <a:r>
              <a:rPr lang="ko-KR" altLang="en-US" sz="1000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이커머스</a:t>
            </a:r>
            <a:r>
              <a:rPr lang="en-US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·</a:t>
            </a:r>
            <a:r>
              <a:rPr lang="ko-KR" altLang="en-US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샘플 물류에 최적화된 서비스 제공</a:t>
            </a:r>
          </a:p>
          <a:p>
            <a:pPr marL="144000" indent="-144000" latinLnBrk="0">
              <a:spcAft>
                <a:spcPts val="700"/>
              </a:spcAft>
              <a:buClr>
                <a:prstClr val="black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계약 물류</a:t>
            </a:r>
            <a:r>
              <a:rPr lang="en-US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: </a:t>
            </a:r>
            <a:r>
              <a:rPr lang="ko-KR" altLang="en-US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온도에 민감한 제품을 위한 전문 냉장</a:t>
            </a:r>
            <a:r>
              <a:rPr lang="en-US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·</a:t>
            </a:r>
            <a:r>
              <a:rPr lang="ko-KR" altLang="en-US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냉동 체인 솔루션</a:t>
            </a:r>
            <a:r>
              <a:rPr lang="en-US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, </a:t>
            </a:r>
            <a:r>
              <a:rPr lang="ko-KR" altLang="en-US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창고 보관</a:t>
            </a:r>
            <a:r>
              <a:rPr lang="en-US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, </a:t>
            </a:r>
            <a:r>
              <a:rPr lang="ko-KR" altLang="en-US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유통</a:t>
            </a:r>
            <a:r>
              <a:rPr lang="en-US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, </a:t>
            </a:r>
            <a:r>
              <a:rPr lang="ko-KR" altLang="en-US" sz="1000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드레이지</a:t>
            </a:r>
            <a:r>
              <a:rPr lang="en-US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(</a:t>
            </a:r>
            <a:r>
              <a:rPr lang="ko-KR" altLang="en-US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내륙 운송</a:t>
            </a:r>
            <a:r>
              <a:rPr lang="en-US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), </a:t>
            </a:r>
            <a:r>
              <a:rPr lang="ko-KR" altLang="en-US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프로젝트 물류</a:t>
            </a:r>
            <a:r>
              <a:rPr lang="en-US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, BOI(</a:t>
            </a:r>
            <a:r>
              <a:rPr lang="ko-KR" altLang="en-US" sz="1000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투자청</a:t>
            </a:r>
            <a:r>
              <a:rPr lang="en-US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) </a:t>
            </a:r>
            <a:r>
              <a:rPr lang="ko-KR" altLang="en-US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컨설팅 제공</a:t>
            </a:r>
          </a:p>
          <a:p>
            <a:pPr marL="144000" indent="-144000" latinLnBrk="0">
              <a:spcAft>
                <a:spcPts val="700"/>
              </a:spcAft>
              <a:buClr>
                <a:prstClr val="black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라스트 마일 배송 및 설치</a:t>
            </a:r>
            <a:r>
              <a:rPr lang="en-US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: </a:t>
            </a:r>
            <a:r>
              <a:rPr lang="ko-KR" altLang="en-US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익일</a:t>
            </a:r>
            <a:r>
              <a:rPr lang="en-US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·</a:t>
            </a:r>
            <a:r>
              <a:rPr lang="ko-KR" altLang="en-US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당일 배송 서비스와 함께 가전</a:t>
            </a:r>
            <a:r>
              <a:rPr lang="en-US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·</a:t>
            </a:r>
            <a:r>
              <a:rPr lang="ko-KR" altLang="en-US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전자</a:t>
            </a:r>
            <a:r>
              <a:rPr lang="en-US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·</a:t>
            </a:r>
            <a:r>
              <a:rPr lang="ko-KR" altLang="en-US" sz="1000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리테일</a:t>
            </a:r>
            <a:r>
              <a:rPr lang="ko-KR" altLang="en-US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설비 설치 지원 및 스마트 디바이스</a:t>
            </a:r>
            <a:r>
              <a:rPr lang="en-US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·</a:t>
            </a:r>
            <a:r>
              <a:rPr lang="en-US" altLang="ko-KR" sz="1000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IoT</a:t>
            </a:r>
            <a:r>
              <a:rPr lang="en-US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ko-KR" altLang="en-US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장비의 플러그</a:t>
            </a:r>
            <a:r>
              <a:rPr lang="en-US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‑</a:t>
            </a:r>
            <a:r>
              <a:rPr lang="ko-KR" altLang="en-US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앤</a:t>
            </a:r>
            <a:r>
              <a:rPr lang="en-US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‑</a:t>
            </a:r>
            <a:r>
              <a:rPr lang="ko-KR" altLang="en-US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플레이 설치 포함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027179" y="592470"/>
            <a:ext cx="964594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/>
              <a:t>영문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717070" y="7276269"/>
            <a:ext cx="4855011" cy="12856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직사각형 11"/>
          <p:cNvSpPr/>
          <p:nvPr/>
        </p:nvSpPr>
        <p:spPr>
          <a:xfrm>
            <a:off x="856342" y="2235367"/>
            <a:ext cx="5138057" cy="6965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2853008" y="6969148"/>
            <a:ext cx="5290478" cy="1608133"/>
          </a:xfrm>
          <a:prstGeom prst="rect">
            <a:avLst/>
          </a:prstGeom>
          <a:solidFill>
            <a:srgbClr val="FFFF00"/>
          </a:solidFill>
        </p:spPr>
        <p:txBody>
          <a:bodyPr wrap="square" rtlCol="0" anchor="t">
            <a:spAutoFit/>
          </a:bodyPr>
          <a:lstStyle/>
          <a:p>
            <a:pPr marL="144000" lvl="0" indent="-144000">
              <a:lnSpc>
                <a:spcPct val="90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/>
            </a:pPr>
            <a:r>
              <a:rPr lang="en-SG" altLang="ko-KR" sz="1000" dirty="0">
                <a:solidFill>
                  <a:prstClr val="black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International Freight Forwarding: Ocean (FCL/LCL), Air, Ground, local delivery, and customs clearance, supported by a global carrier network and real‑time digital tracking.</a:t>
            </a:r>
          </a:p>
          <a:p>
            <a:pPr marL="144000" lvl="0" indent="-144000">
              <a:lnSpc>
                <a:spcPct val="90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/>
            </a:pPr>
            <a:r>
              <a:rPr lang="en-SG" altLang="ko-KR" sz="1000" dirty="0">
                <a:solidFill>
                  <a:prstClr val="black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Express Delivery: Time‑critical parcel services powered by trusted global partners (UPS, </a:t>
            </a:r>
            <a:r>
              <a:rPr lang="en-SG" altLang="ko-KR" sz="1000" dirty="0" err="1">
                <a:solidFill>
                  <a:prstClr val="black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Aramex</a:t>
            </a:r>
            <a:r>
              <a:rPr lang="en-SG" altLang="ko-KR" sz="1000" dirty="0">
                <a:solidFill>
                  <a:prstClr val="black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FedEx), ideal for samples and e‑commerce shipments.</a:t>
            </a:r>
          </a:p>
          <a:p>
            <a:pPr marL="144000" lvl="0" indent="-144000">
              <a:lnSpc>
                <a:spcPct val="90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/>
            </a:pPr>
            <a:r>
              <a:rPr lang="en-SG" altLang="ko-KR" sz="1000" dirty="0">
                <a:solidFill>
                  <a:prstClr val="black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Contract Logistics: Specialised cold chain solutions for temperature‑sensitive products, plus warehousing, distribution, drayage, project logistics, and BOI consulting.</a:t>
            </a:r>
          </a:p>
          <a:p>
            <a:pPr marL="144000" lvl="0" indent="-144000">
              <a:lnSpc>
                <a:spcPct val="90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/>
            </a:pPr>
            <a:r>
              <a:rPr lang="en-SG" altLang="ko-KR" sz="1000" dirty="0">
                <a:solidFill>
                  <a:prstClr val="black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Last Mile Delivery &amp; Installation: Next‑day and same‑day delivery with professional installation for appliances, electronics, and retail fixtures, including plug‑and‑play setup for smart devices and </a:t>
            </a:r>
            <a:r>
              <a:rPr lang="en-SG" altLang="ko-KR" sz="1000" dirty="0" err="1">
                <a:solidFill>
                  <a:prstClr val="black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IoT</a:t>
            </a:r>
            <a:r>
              <a:rPr lang="en-SG" altLang="ko-KR" sz="1000" dirty="0">
                <a:solidFill>
                  <a:prstClr val="black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equipment.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97440" y="1600015"/>
            <a:ext cx="4004274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해당 부분 국문만 변경</a:t>
            </a: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82A503BE-14FC-E2BF-6EED-A2B22F02BAEF}"/>
              </a:ext>
            </a:extLst>
          </p:cNvPr>
          <p:cNvSpPr/>
          <p:nvPr/>
        </p:nvSpPr>
        <p:spPr>
          <a:xfrm>
            <a:off x="9283700" y="228600"/>
            <a:ext cx="2520000" cy="2520000"/>
          </a:xfrm>
          <a:prstGeom prst="ellipse">
            <a:avLst/>
          </a:prstGeom>
          <a:solidFill>
            <a:srgbClr val="0AD2B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/>
              <a:t>텍스트 변경</a:t>
            </a:r>
            <a:endParaRPr kumimoji="1" lang="en-US" altLang="ko-KR" dirty="0"/>
          </a:p>
          <a:p>
            <a:pPr algn="ctr"/>
            <a:r>
              <a:rPr kumimoji="1" lang="ko-KR" altLang="en-US" dirty="0" err="1"/>
              <a:t>현지어</a:t>
            </a:r>
            <a:r>
              <a:rPr kumimoji="1" lang="ko-KR" altLang="en-US" dirty="0"/>
              <a:t> 및 다국어 엑셀파일 참고</a:t>
            </a:r>
          </a:p>
        </p:txBody>
      </p:sp>
    </p:spTree>
    <p:extLst>
      <p:ext uri="{BB962C8B-B14F-4D97-AF65-F5344CB8AC3E}">
        <p14:creationId xmlns:p14="http://schemas.microsoft.com/office/powerpoint/2010/main" val="13276622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25706" y="146193"/>
            <a:ext cx="598653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dirty="0" err="1">
                <a:hlinkClick r:id="rId2"/>
              </a:rPr>
              <a:t>첼로스퀘어</a:t>
            </a:r>
            <a:r>
              <a:rPr lang="ko-KR" altLang="en-US" sz="1400" dirty="0">
                <a:hlinkClick r:id="rId2"/>
              </a:rPr>
              <a:t> 태국 소개 </a:t>
            </a:r>
            <a:r>
              <a:rPr lang="en-US" altLang="ko-KR" sz="1400" dirty="0">
                <a:hlinkClick r:id="rId2"/>
              </a:rPr>
              <a:t>- Global Network | </a:t>
            </a:r>
            <a:r>
              <a:rPr lang="ko-KR" altLang="en-US" sz="1400" dirty="0" err="1">
                <a:hlinkClick r:id="rId2"/>
              </a:rPr>
              <a:t>첼로스퀘어</a:t>
            </a:r>
            <a:r>
              <a:rPr lang="en-US" altLang="ko-KR" sz="1400" dirty="0">
                <a:hlinkClick r:id="rId2"/>
              </a:rPr>
              <a:t>(Cello Square)</a:t>
            </a:r>
            <a:endParaRPr lang="en-US" sz="140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095" y="1001485"/>
            <a:ext cx="5098905" cy="5674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19864" y="592470"/>
            <a:ext cx="964594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/>
              <a:t>국문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27179" y="592470"/>
            <a:ext cx="964594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/>
              <a:t>영문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19864" y="1176200"/>
            <a:ext cx="5587885" cy="461665"/>
          </a:xfrm>
          <a:prstGeom prst="wedgeRectCallout">
            <a:avLst>
              <a:gd name="adj1" fmla="val -95640"/>
              <a:gd name="adj2" fmla="val 21629"/>
            </a:avLst>
          </a:prstGeom>
          <a:solidFill>
            <a:srgbClr val="FFFF00"/>
          </a:solidFill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latinLnBrk="0">
              <a:spcAft>
                <a:spcPts val="400"/>
              </a:spcAft>
              <a:defRPr sz="1500">
                <a:ln>
                  <a:solidFill>
                    <a:prstClr val="white">
                      <a:alpha val="0"/>
                    </a:prstClr>
                  </a:solidFill>
                </a:ln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defRPr>
            </a:lvl1pPr>
          </a:lstStyle>
          <a:p>
            <a:pPr lvl="0">
              <a:defRPr/>
            </a:pPr>
            <a:r>
              <a:rPr lang="ko-KR" altLang="en-US" dirty="0">
                <a:solidFill>
                  <a:prstClr val="black"/>
                </a:solidFill>
              </a:rPr>
              <a:t>삼성</a:t>
            </a:r>
            <a:r>
              <a:rPr lang="en-US" altLang="ko-KR" dirty="0">
                <a:solidFill>
                  <a:prstClr val="black"/>
                </a:solidFill>
              </a:rPr>
              <a:t>SDS </a:t>
            </a:r>
            <a:r>
              <a:rPr lang="ko-KR" altLang="en-US" dirty="0">
                <a:solidFill>
                  <a:prstClr val="black"/>
                </a:solidFill>
              </a:rPr>
              <a:t>태국 거점 창고 및 야드 서비스는 하이테크</a:t>
            </a:r>
            <a:r>
              <a:rPr lang="en-US" altLang="ko-KR" dirty="0">
                <a:solidFill>
                  <a:prstClr val="black"/>
                </a:solidFill>
              </a:rPr>
              <a:t>, </a:t>
            </a:r>
            <a:r>
              <a:rPr lang="ko-KR" altLang="en-US" dirty="0">
                <a:solidFill>
                  <a:prstClr val="black"/>
                </a:solidFill>
              </a:rPr>
              <a:t>가전제품</a:t>
            </a:r>
            <a:r>
              <a:rPr lang="en-US" altLang="ko-KR" dirty="0">
                <a:solidFill>
                  <a:prstClr val="black"/>
                </a:solidFill>
              </a:rPr>
              <a:t>, </a:t>
            </a:r>
            <a:r>
              <a:rPr lang="ko-KR" altLang="en-US" dirty="0">
                <a:solidFill>
                  <a:prstClr val="black"/>
                </a:solidFill>
              </a:rPr>
              <a:t>자동차</a:t>
            </a:r>
            <a:r>
              <a:rPr lang="en-US" altLang="ko-KR" dirty="0">
                <a:solidFill>
                  <a:prstClr val="black"/>
                </a:solidFill>
              </a:rPr>
              <a:t>, </a:t>
            </a:r>
            <a:r>
              <a:rPr lang="ko-KR" altLang="en-US" dirty="0" err="1">
                <a:solidFill>
                  <a:prstClr val="black"/>
                </a:solidFill>
              </a:rPr>
              <a:t>이커머스</a:t>
            </a:r>
            <a:r>
              <a:rPr lang="ko-KR" altLang="en-US" dirty="0">
                <a:solidFill>
                  <a:prstClr val="black"/>
                </a:solidFill>
              </a:rPr>
              <a:t> 등 다양한 </a:t>
            </a:r>
            <a:r>
              <a:rPr lang="ko-KR" altLang="en-US" dirty="0" err="1">
                <a:solidFill>
                  <a:prstClr val="black"/>
                </a:solidFill>
              </a:rPr>
              <a:t>산업군에</a:t>
            </a:r>
            <a:r>
              <a:rPr lang="ko-KR" altLang="en-US" dirty="0">
                <a:solidFill>
                  <a:prstClr val="black"/>
                </a:solidFill>
              </a:rPr>
              <a:t> 물류 솔루션을 제공하고 있습니다</a:t>
            </a:r>
            <a:r>
              <a:rPr lang="en-US" altLang="ko-KR" dirty="0">
                <a:solidFill>
                  <a:prstClr val="black"/>
                </a:solidFill>
              </a:rPr>
              <a:t>.</a:t>
            </a:r>
          </a:p>
        </p:txBody>
      </p:sp>
      <p:sp>
        <p:nvSpPr>
          <p:cNvPr id="11" name="직사각형 16"/>
          <p:cNvSpPr/>
          <p:nvPr/>
        </p:nvSpPr>
        <p:spPr>
          <a:xfrm>
            <a:off x="5884401" y="3651230"/>
            <a:ext cx="1303080" cy="7170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 defTabSz="609585" latinLnBrk="0">
              <a:defRPr/>
            </a:pPr>
            <a:r>
              <a:rPr lang="ko-KR" altLang="en-US" sz="16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물류 창고 네트워크</a:t>
            </a:r>
            <a:endParaRPr lang="en-US" altLang="ko-KR" sz="1600" b="1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직사각형 19"/>
          <p:cNvSpPr/>
          <p:nvPr/>
        </p:nvSpPr>
        <p:spPr>
          <a:xfrm>
            <a:off x="5779626" y="6437342"/>
            <a:ext cx="1728371" cy="6614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609585" latinLnBrk="0">
              <a:defRPr/>
            </a:pPr>
            <a:r>
              <a:rPr lang="ko-KR" altLang="en-US" sz="16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 panose="020B0604020202020204" pitchFamily="34" charset="0"/>
              </a:rPr>
              <a:t>컨테이너 야드 </a:t>
            </a:r>
            <a:r>
              <a:rPr lang="en-US" altLang="ko-KR" sz="16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 panose="020B0604020202020204" pitchFamily="34" charset="0"/>
              </a:rPr>
              <a:t>&amp; </a:t>
            </a:r>
            <a:r>
              <a:rPr lang="ko-KR" altLang="en-US" sz="160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 panose="020B0604020202020204" pitchFamily="34" charset="0"/>
              </a:rPr>
              <a:t>데포</a:t>
            </a:r>
            <a:r>
              <a:rPr lang="ko-KR" altLang="en-US" sz="16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altLang="ko-KR" sz="16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 panose="020B0604020202020204" pitchFamily="34" charset="0"/>
              </a:rPr>
              <a:t>(Depot)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87481" y="1852263"/>
            <a:ext cx="5004519" cy="136409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ko-KR"/>
            </a:defPPr>
            <a:lvl1pPr marL="285750" lvl="0" indent="-285750" latinLnBrk="0">
              <a:lnSpc>
                <a:spcPct val="120000"/>
              </a:lnSpc>
              <a:spcAft>
                <a:spcPts val="700"/>
              </a:spcAft>
              <a:buClr>
                <a:prstClr val="black"/>
              </a:buClr>
              <a:buSzPct val="100000"/>
              <a:buFont typeface="Arial" panose="020B0604020202020204" pitchFamily="34" charset="0"/>
              <a:buChar char="•"/>
              <a:defRPr sz="1400" ker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95000"/>
                    <a:lumOff val="5000"/>
                  </a:prst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방콕 및 촌부리 핵심 입지</a:t>
            </a:r>
          </a:p>
          <a:p>
            <a:pPr>
              <a:defRPr/>
            </a:pP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항구 및 공항과의 뛰어난 접근성을 갖춘 총 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66,000sqm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이상의 창고 공간</a:t>
            </a:r>
          </a:p>
          <a:p>
            <a:pPr>
              <a:defRPr/>
            </a:pP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최대 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53,600CBM 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규모의 저장 용량</a:t>
            </a:r>
          </a:p>
          <a:p>
            <a:pPr>
              <a:defRPr/>
            </a:pP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통합 보안 및 안전 관리 시스템</a:t>
            </a:r>
          </a:p>
          <a:p>
            <a:pPr>
              <a:defRPr/>
            </a:pP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삼성전자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CJ</a:t>
            </a:r>
            <a:r>
              <a:rPr lang="ko-KR" altLang="en-US" sz="1000" dirty="0" err="1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푸드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등 업계 선도 기업이 신뢰하는 물류 운영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33997" y="5652343"/>
            <a:ext cx="5159617" cy="13747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ko-KR"/>
            </a:defPPr>
            <a:lvl1pPr marL="285750" lvl="0" indent="-285750" latinLnBrk="0">
              <a:lnSpc>
                <a:spcPct val="120000"/>
              </a:lnSpc>
              <a:spcAft>
                <a:spcPts val="700"/>
              </a:spcAft>
              <a:buClr>
                <a:prstClr val="black"/>
              </a:buClr>
              <a:buSzPct val="100000"/>
              <a:buFont typeface="Arial" panose="020B0604020202020204" pitchFamily="34" charset="0"/>
              <a:buChar char="•"/>
              <a:defRPr sz="1400" ker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95000"/>
                    <a:lumOff val="5000"/>
                  </a:prst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 lvl="0">
              <a:defRPr/>
            </a:pP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촌부리 소재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항구까지 약 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15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분 거리의 전략적 입지</a:t>
            </a:r>
          </a:p>
          <a:p>
            <a:pPr lvl="0">
              <a:defRPr/>
            </a:pP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93,000sqm 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규모의 야드 및 </a:t>
            </a:r>
            <a:r>
              <a:rPr lang="ko-KR" altLang="en-US" sz="1000" dirty="0" err="1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데포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시설</a:t>
            </a:r>
          </a:p>
          <a:p>
            <a:pPr lvl="0">
              <a:defRPr/>
            </a:pP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최대 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8,000 TEU 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수용 가능</a:t>
            </a:r>
          </a:p>
          <a:p>
            <a:pPr lvl="0">
              <a:defRPr/>
            </a:pP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첨단 하이테크 관리 시스템 기반 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24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시간 운영</a:t>
            </a:r>
          </a:p>
          <a:p>
            <a:pPr lvl="0">
              <a:defRPr/>
            </a:pP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ONE, EVERGREEN, HMM, COSCO 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등 글로벌 주요 선사가 신뢰하는 운영 역량</a:t>
            </a:r>
          </a:p>
        </p:txBody>
      </p:sp>
      <p:pic>
        <p:nvPicPr>
          <p:cNvPr id="17" name="Picture 4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5870" y="3430752"/>
            <a:ext cx="5080000" cy="1875115"/>
          </a:xfrm>
          <a:prstGeom prst="rect">
            <a:avLst/>
          </a:prstGeom>
        </p:spPr>
      </p:pic>
      <p:pic>
        <p:nvPicPr>
          <p:cNvPr id="18" name="Picture 4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5870" y="7027078"/>
            <a:ext cx="5105399" cy="1875115"/>
          </a:xfrm>
          <a:prstGeom prst="rect">
            <a:avLst/>
          </a:prstGeom>
        </p:spPr>
      </p:pic>
      <p:sp>
        <p:nvSpPr>
          <p:cNvPr id="21" name="직사각형 16"/>
          <p:cNvSpPr/>
          <p:nvPr/>
        </p:nvSpPr>
        <p:spPr>
          <a:xfrm>
            <a:off x="13471441" y="3364325"/>
            <a:ext cx="2112870" cy="9490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 defTabSz="609585" latinLnBrk="0">
              <a:defRPr/>
            </a:pPr>
            <a:r>
              <a:rPr lang="en-US" altLang="ko-KR" sz="16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Modern Warehousing Network</a:t>
            </a:r>
          </a:p>
        </p:txBody>
      </p:sp>
      <p:sp>
        <p:nvSpPr>
          <p:cNvPr id="24" name="직사각형 19"/>
          <p:cNvSpPr/>
          <p:nvPr/>
        </p:nvSpPr>
        <p:spPr>
          <a:xfrm>
            <a:off x="13027179" y="6676060"/>
            <a:ext cx="2735335" cy="5955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34" charset="-127"/>
                <a:cs typeface="Arial" panose="020B0604020202020204" pitchFamily="34" charset="0"/>
              </a:rPr>
              <a:t>Container Yard &amp;</a:t>
            </a:r>
            <a:r>
              <a:rPr kumimoji="0" lang="th-TH" altLang="ko-KR" sz="1600" b="1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34" charset="-127"/>
                <a:cs typeface="Arial" panose="020B0604020202020204" pitchFamily="34" charset="0"/>
              </a:rPr>
              <a:t>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34" charset="-127"/>
                <a:cs typeface="Arial" panose="020B0604020202020204" pitchFamily="34" charset="0"/>
              </a:rPr>
              <a:t>Depot</a:t>
            </a:r>
          </a:p>
        </p:txBody>
      </p:sp>
      <p:cxnSp>
        <p:nvCxnSpPr>
          <p:cNvPr id="25" name="직선 연결선 20"/>
          <p:cNvCxnSpPr/>
          <p:nvPr/>
        </p:nvCxnSpPr>
        <p:spPr>
          <a:xfrm>
            <a:off x="21016685" y="2242495"/>
            <a:ext cx="0" cy="3966647"/>
          </a:xfrm>
          <a:prstGeom prst="line">
            <a:avLst/>
          </a:prstGeom>
          <a:ln w="12700" cap="rnd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5508829" y="1620009"/>
            <a:ext cx="5004519" cy="198227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ko-KR"/>
            </a:defPPr>
            <a:lvl1pPr marL="285750" lvl="0" indent="-285750" latinLnBrk="0">
              <a:lnSpc>
                <a:spcPct val="120000"/>
              </a:lnSpc>
              <a:spcAft>
                <a:spcPts val="700"/>
              </a:spcAft>
              <a:buClr>
                <a:prstClr val="black"/>
              </a:buClr>
              <a:buSzPct val="100000"/>
              <a:buFont typeface="Arial" panose="020B0604020202020204" pitchFamily="34" charset="0"/>
              <a:buChar char="•"/>
              <a:defRPr sz="1400" ker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95000"/>
                    <a:lumOff val="5000"/>
                  </a:prst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 marL="171450" indent="-171450">
              <a:defRPr/>
            </a:pPr>
            <a:r>
              <a:rPr lang="en-SG" altLang="ko-KR" sz="1200" dirty="0"/>
              <a:t>Prime locations in Bangkok and </a:t>
            </a:r>
            <a:r>
              <a:rPr lang="en-SG" altLang="ko-KR" sz="1200" dirty="0" err="1"/>
              <a:t>Chonburi</a:t>
            </a:r>
            <a:endParaRPr lang="en-SG" altLang="ko-KR" sz="1200" dirty="0"/>
          </a:p>
          <a:p>
            <a:pPr marL="171450" indent="-171450">
              <a:defRPr/>
            </a:pPr>
            <a:r>
              <a:rPr lang="en-SG" altLang="ko-KR" sz="1200" dirty="0"/>
              <a:t>Over 66,000 </a:t>
            </a:r>
            <a:r>
              <a:rPr lang="en-SG" altLang="ko-KR" sz="1200" dirty="0" err="1"/>
              <a:t>sqm</a:t>
            </a:r>
            <a:r>
              <a:rPr lang="en-SG" altLang="ko-KR" sz="1200" dirty="0"/>
              <a:t> of modern warehouse space with easy access to seaports and airports.</a:t>
            </a:r>
          </a:p>
          <a:p>
            <a:pPr marL="171450" indent="-171450">
              <a:defRPr/>
            </a:pPr>
            <a:r>
              <a:rPr lang="en-SG" altLang="ko-KR" sz="1200" dirty="0"/>
              <a:t>Storage capacity: up to 53,600 CBM</a:t>
            </a:r>
          </a:p>
          <a:p>
            <a:pPr marL="171450" indent="-171450">
              <a:defRPr/>
            </a:pPr>
            <a:r>
              <a:rPr lang="en-SG" altLang="ko-KR" sz="1200" dirty="0"/>
              <a:t>Comprehensive security and safety systems</a:t>
            </a:r>
          </a:p>
          <a:p>
            <a:pPr marL="171450" indent="-171450">
              <a:defRPr/>
            </a:pPr>
            <a:r>
              <a:rPr lang="en-SG" altLang="ko-KR" sz="1200" dirty="0"/>
              <a:t>Trusted by industry leaders including Samsung Electronics and CJ Food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605399" y="6014179"/>
            <a:ext cx="5159617" cy="168764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ko-KR"/>
            </a:defPPr>
            <a:lvl1pPr marL="285750" lvl="0" indent="-285750" latinLnBrk="0">
              <a:lnSpc>
                <a:spcPct val="120000"/>
              </a:lnSpc>
              <a:spcAft>
                <a:spcPts val="700"/>
              </a:spcAft>
              <a:buClr>
                <a:prstClr val="black"/>
              </a:buClr>
              <a:buSzPct val="100000"/>
              <a:buFont typeface="Arial" panose="020B0604020202020204" pitchFamily="34" charset="0"/>
              <a:buChar char="•"/>
              <a:defRPr sz="1400" ker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95000"/>
                    <a:lumOff val="5000"/>
                  </a:prst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 marL="171450" indent="-171450">
              <a:defRPr/>
            </a:pPr>
            <a:r>
              <a:rPr lang="en-SG" altLang="ko-KR" sz="1200" dirty="0"/>
              <a:t>Located at </a:t>
            </a:r>
            <a:r>
              <a:rPr lang="en-SG" altLang="ko-KR" sz="1200" dirty="0" err="1"/>
              <a:t>Chonburi</a:t>
            </a:r>
            <a:r>
              <a:rPr lang="en-SG" altLang="ko-KR" sz="1200" dirty="0"/>
              <a:t>, 15 minutes from the seaport.</a:t>
            </a:r>
          </a:p>
          <a:p>
            <a:pPr marL="171450" indent="-171450">
              <a:defRPr/>
            </a:pPr>
            <a:r>
              <a:rPr lang="en-SG" altLang="ko-KR" sz="1200" dirty="0"/>
              <a:t>A 93,000 </a:t>
            </a:r>
            <a:r>
              <a:rPr lang="en-SG" altLang="ko-KR" sz="1200" dirty="0" err="1"/>
              <a:t>sqm</a:t>
            </a:r>
            <a:r>
              <a:rPr lang="en-SG" altLang="ko-KR" sz="1200" dirty="0"/>
              <a:t> yard and depot area with 24/7 operations powered by advanced high‑tech management systems.</a:t>
            </a:r>
          </a:p>
          <a:p>
            <a:pPr marL="171450" indent="-171450">
              <a:defRPr/>
            </a:pPr>
            <a:r>
              <a:rPr lang="en-SG" altLang="ko-KR" sz="1200" dirty="0"/>
              <a:t>Storage capacity: up to 8,000 TEU.</a:t>
            </a:r>
          </a:p>
          <a:p>
            <a:pPr marL="171450" indent="-171450">
              <a:defRPr/>
            </a:pPr>
            <a:r>
              <a:rPr lang="en-SG" altLang="ko-KR" sz="1200" dirty="0"/>
              <a:t>Trusted by leading global shipping lines: ONE, EVERGREEN, HMM, COSCO</a:t>
            </a:r>
            <a:r>
              <a:rPr lang="en-SG" altLang="ko-KR" sz="1300" dirty="0"/>
              <a:t>.</a:t>
            </a:r>
          </a:p>
        </p:txBody>
      </p:sp>
      <p:pic>
        <p:nvPicPr>
          <p:cNvPr id="28" name="Picture 4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14593" y="3838835"/>
            <a:ext cx="5080000" cy="1832131"/>
          </a:xfrm>
          <a:prstGeom prst="rect">
            <a:avLst/>
          </a:prstGeom>
        </p:spPr>
      </p:pic>
      <p:pic>
        <p:nvPicPr>
          <p:cNvPr id="29" name="Picture 4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14593" y="7793081"/>
            <a:ext cx="5105399" cy="1841292"/>
          </a:xfrm>
          <a:prstGeom prst="rect">
            <a:avLst/>
          </a:prstGeom>
        </p:spPr>
      </p:pic>
      <p:sp>
        <p:nvSpPr>
          <p:cNvPr id="30" name="직사각형 29"/>
          <p:cNvSpPr/>
          <p:nvPr/>
        </p:nvSpPr>
        <p:spPr>
          <a:xfrm>
            <a:off x="6058919" y="1786138"/>
            <a:ext cx="6968260" cy="36857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직사각형 30"/>
          <p:cNvSpPr/>
          <p:nvPr/>
        </p:nvSpPr>
        <p:spPr>
          <a:xfrm>
            <a:off x="6058919" y="5538010"/>
            <a:ext cx="6968260" cy="36857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직사각형 31"/>
          <p:cNvSpPr/>
          <p:nvPr/>
        </p:nvSpPr>
        <p:spPr>
          <a:xfrm>
            <a:off x="13201697" y="1675703"/>
            <a:ext cx="8105274" cy="41668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직사각형 32"/>
          <p:cNvSpPr/>
          <p:nvPr/>
        </p:nvSpPr>
        <p:spPr>
          <a:xfrm>
            <a:off x="13201697" y="6057661"/>
            <a:ext cx="8105274" cy="37685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직사각형 33"/>
          <p:cNvSpPr/>
          <p:nvPr/>
        </p:nvSpPr>
        <p:spPr>
          <a:xfrm>
            <a:off x="633901" y="1684466"/>
            <a:ext cx="4984381" cy="24085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직사각형 34"/>
          <p:cNvSpPr/>
          <p:nvPr/>
        </p:nvSpPr>
        <p:spPr>
          <a:xfrm>
            <a:off x="633901" y="4093029"/>
            <a:ext cx="4984381" cy="24085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직사각형 35"/>
          <p:cNvSpPr/>
          <p:nvPr/>
        </p:nvSpPr>
        <p:spPr>
          <a:xfrm>
            <a:off x="633901" y="1423210"/>
            <a:ext cx="4984381" cy="2524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/>
          <p:cNvSpPr txBox="1"/>
          <p:nvPr/>
        </p:nvSpPr>
        <p:spPr>
          <a:xfrm>
            <a:off x="8703475" y="874038"/>
            <a:ext cx="4004274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해당 부분 국문만 변경</a:t>
            </a: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11B792DB-7489-A8CF-7D4B-2A068C86B769}"/>
              </a:ext>
            </a:extLst>
          </p:cNvPr>
          <p:cNvSpPr/>
          <p:nvPr/>
        </p:nvSpPr>
        <p:spPr>
          <a:xfrm>
            <a:off x="9283700" y="228600"/>
            <a:ext cx="2520000" cy="2520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/>
              <a:t>디자인 이미지 변경 </a:t>
            </a:r>
            <a:endParaRPr kumimoji="1" lang="en-US" altLang="ko-KR" dirty="0"/>
          </a:p>
          <a:p>
            <a:pPr algn="ctr"/>
            <a:r>
              <a:rPr kumimoji="1" lang="ko-KR" altLang="en-US" dirty="0" err="1"/>
              <a:t>퍼블</a:t>
            </a:r>
            <a:r>
              <a:rPr kumimoji="1" lang="ko-KR" altLang="en-US" dirty="0"/>
              <a:t> </a:t>
            </a:r>
            <a:r>
              <a:rPr kumimoji="1" lang="en-US" altLang="ko-KR" dirty="0"/>
              <a:t>: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현지어</a:t>
            </a:r>
            <a:r>
              <a:rPr kumimoji="1" lang="en-US" altLang="ko-KR" dirty="0"/>
              <a:t>,</a:t>
            </a:r>
            <a:r>
              <a:rPr kumimoji="1" lang="ko-KR" altLang="en-US" dirty="0"/>
              <a:t> 다국어 엑셀파일 참고</a:t>
            </a:r>
          </a:p>
        </p:txBody>
      </p:sp>
    </p:spTree>
    <p:extLst>
      <p:ext uri="{BB962C8B-B14F-4D97-AF65-F5344CB8AC3E}">
        <p14:creationId xmlns:p14="http://schemas.microsoft.com/office/powerpoint/2010/main" val="14579197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25706" y="146193"/>
            <a:ext cx="598653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dirty="0" err="1">
                <a:hlinkClick r:id="rId2"/>
              </a:rPr>
              <a:t>첼로스퀘어</a:t>
            </a:r>
            <a:r>
              <a:rPr lang="ko-KR" altLang="en-US" sz="1400" dirty="0">
                <a:hlinkClick r:id="rId2"/>
              </a:rPr>
              <a:t> 태국 소개 </a:t>
            </a:r>
            <a:r>
              <a:rPr lang="en-US" altLang="ko-KR" sz="1400" dirty="0">
                <a:hlinkClick r:id="rId2"/>
              </a:rPr>
              <a:t>- Global Network | </a:t>
            </a:r>
            <a:r>
              <a:rPr lang="ko-KR" altLang="en-US" sz="1400" dirty="0" err="1">
                <a:hlinkClick r:id="rId2"/>
              </a:rPr>
              <a:t>첼로스퀘어</a:t>
            </a:r>
            <a:r>
              <a:rPr lang="en-US" altLang="ko-KR" sz="1400" dirty="0">
                <a:hlinkClick r:id="rId2"/>
              </a:rPr>
              <a:t>(Cello Square)</a:t>
            </a:r>
            <a:endParaRPr lang="en-US" sz="1400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06" y="2380354"/>
            <a:ext cx="6168408" cy="2222850"/>
          </a:xfrm>
          <a:prstGeom prst="rect">
            <a:avLst/>
          </a:prstGeom>
        </p:spPr>
      </p:pic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4279324"/>
              </p:ext>
            </p:extLst>
          </p:nvPr>
        </p:nvGraphicFramePr>
        <p:xfrm>
          <a:off x="6468968" y="1983229"/>
          <a:ext cx="6811453" cy="16145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7526">
                  <a:extLst>
                    <a:ext uri="{9D8B030D-6E8A-4147-A177-3AD203B41FA5}">
                      <a16:colId xmlns:a16="http://schemas.microsoft.com/office/drawing/2014/main" val="1526357769"/>
                    </a:ext>
                  </a:extLst>
                </a:gridCol>
                <a:gridCol w="2969914">
                  <a:extLst>
                    <a:ext uri="{9D8B030D-6E8A-4147-A177-3AD203B41FA5}">
                      <a16:colId xmlns:a16="http://schemas.microsoft.com/office/drawing/2014/main" val="3704624977"/>
                    </a:ext>
                  </a:extLst>
                </a:gridCol>
                <a:gridCol w="2724013">
                  <a:extLst>
                    <a:ext uri="{9D8B030D-6E8A-4147-A177-3AD203B41FA5}">
                      <a16:colId xmlns:a16="http://schemas.microsoft.com/office/drawing/2014/main" val="561315315"/>
                    </a:ext>
                  </a:extLst>
                </a:gridCol>
              </a:tblGrid>
              <a:tr h="526443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>
                          <a:solidFill>
                            <a:sysClr val="windowText" lastClr="000000"/>
                          </a:solidFill>
                        </a:rPr>
                        <a:t>오피스명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ysClr val="windowText" lastClr="000000"/>
                          </a:solidFill>
                        </a:rPr>
                        <a:t>위치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>
                          <a:solidFill>
                            <a:sysClr val="windowText" lastClr="000000"/>
                          </a:solidFill>
                        </a:rPr>
                        <a:t>연락처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4224422"/>
                  </a:ext>
                </a:extLst>
              </a:tr>
              <a:tr h="52644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HQ</a:t>
                      </a:r>
                      <a:endParaRPr 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0">
                        <a:lnSpc>
                          <a:spcPct val="90000"/>
                        </a:lnSpc>
                        <a:spcAft>
                          <a:spcPts val="700"/>
                        </a:spcAft>
                        <a:buClr>
                          <a:prstClr val="black"/>
                        </a:buClr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Room 302, 3rd Floor </a:t>
                      </a:r>
                      <a:r>
                        <a:rPr lang="en-US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Talay</a:t>
                      </a: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Thuong</a:t>
                      </a: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Tower, 53 Moo. 9 </a:t>
                      </a:r>
                      <a:r>
                        <a:rPr lang="en-US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Sukhumvit</a:t>
                      </a: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Rd. </a:t>
                      </a:r>
                      <a:r>
                        <a:rPr lang="en-US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Tungsukla</a:t>
                      </a: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Sriracha</a:t>
                      </a: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Chonburi</a:t>
                      </a: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, 20230, Thailand</a:t>
                      </a:r>
                      <a:endParaRPr lang="en-SG" altLang="ko-KR" sz="1100" kern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srgbClr val="FF0000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144000" indent="-144000" latinLnBrk="0">
                        <a:spcAft>
                          <a:spcPts val="700"/>
                        </a:spcAft>
                        <a:buClr>
                          <a:prstClr val="black"/>
                        </a:buClr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cellosquare.id@samsung.com</a:t>
                      </a:r>
                      <a:b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lang="ko-KR" altLang="en-US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영업</a:t>
                      </a: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: </a:t>
                      </a:r>
                      <a:r>
                        <a:rPr lang="en-SG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sales.sdsth@samsung.com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0629969"/>
                  </a:ext>
                </a:extLst>
              </a:tr>
              <a:tr h="52644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ACUTECH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0">
                        <a:lnSpc>
                          <a:spcPct val="90000"/>
                        </a:lnSpc>
                        <a:spcAft>
                          <a:spcPts val="700"/>
                        </a:spcAft>
                        <a:buClr>
                          <a:prstClr val="black"/>
                        </a:buClr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SG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2525 FYI </a:t>
                      </a:r>
                      <a:r>
                        <a:rPr lang="en-SG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Center</a:t>
                      </a:r>
                      <a:r>
                        <a:rPr lang="en-SG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1, Suite No. 1/1008, 10th Floor, Rama 4 Road, </a:t>
                      </a:r>
                      <a:r>
                        <a:rPr lang="en-SG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Klongtoei</a:t>
                      </a:r>
                      <a:r>
                        <a:rPr lang="en-SG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District, Bangkok Metropolis, 10110, Thailand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1100" kern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6972682"/>
                  </a:ext>
                </a:extLst>
              </a:tr>
            </a:tbl>
          </a:graphicData>
        </a:graphic>
      </p:graphicFrame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7915034"/>
              </p:ext>
            </p:extLst>
          </p:nvPr>
        </p:nvGraphicFramePr>
        <p:xfrm>
          <a:off x="14020142" y="1983229"/>
          <a:ext cx="7070780" cy="16145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0073">
                  <a:extLst>
                    <a:ext uri="{9D8B030D-6E8A-4147-A177-3AD203B41FA5}">
                      <a16:colId xmlns:a16="http://schemas.microsoft.com/office/drawing/2014/main" val="1526357769"/>
                    </a:ext>
                  </a:extLst>
                </a:gridCol>
                <a:gridCol w="3082985">
                  <a:extLst>
                    <a:ext uri="{9D8B030D-6E8A-4147-A177-3AD203B41FA5}">
                      <a16:colId xmlns:a16="http://schemas.microsoft.com/office/drawing/2014/main" val="3704624977"/>
                    </a:ext>
                  </a:extLst>
                </a:gridCol>
                <a:gridCol w="2827722">
                  <a:extLst>
                    <a:ext uri="{9D8B030D-6E8A-4147-A177-3AD203B41FA5}">
                      <a16:colId xmlns:a16="http://schemas.microsoft.com/office/drawing/2014/main" val="561315315"/>
                    </a:ext>
                  </a:extLst>
                </a:gridCol>
              </a:tblGrid>
              <a:tr h="526443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>
                          <a:solidFill>
                            <a:sysClr val="windowText" lastClr="000000"/>
                          </a:solidFill>
                        </a:rPr>
                        <a:t>오피스명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ysClr val="windowText" lastClr="000000"/>
                          </a:solidFill>
                        </a:rPr>
                        <a:t>위치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>
                          <a:solidFill>
                            <a:sysClr val="windowText" lastClr="000000"/>
                          </a:solidFill>
                        </a:rPr>
                        <a:t>연락처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4224422"/>
                  </a:ext>
                </a:extLst>
              </a:tr>
              <a:tr h="52644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HQ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0">
                        <a:lnSpc>
                          <a:spcPct val="90000"/>
                        </a:lnSpc>
                        <a:spcAft>
                          <a:spcPts val="700"/>
                        </a:spcAft>
                        <a:buClr>
                          <a:prstClr val="black"/>
                        </a:buClr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Room 302, 3rd Floor </a:t>
                      </a:r>
                      <a:r>
                        <a:rPr lang="en-US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Talay</a:t>
                      </a: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Thuong</a:t>
                      </a: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Tower, 53 Moo. 9 </a:t>
                      </a:r>
                      <a:r>
                        <a:rPr lang="en-US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Sukhumvit</a:t>
                      </a: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Rd. </a:t>
                      </a:r>
                      <a:r>
                        <a:rPr lang="en-US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Tungsukla</a:t>
                      </a: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Sriracha</a:t>
                      </a: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Chonburi</a:t>
                      </a: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, 20230, Thailand</a:t>
                      </a:r>
                      <a:endParaRPr lang="en-SG" altLang="ko-KR" sz="1100" kern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srgbClr val="FF0000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144000" lvl="0" indent="-144000">
                        <a:spcAft>
                          <a:spcPts val="700"/>
                        </a:spcAft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34" charset="-127"/>
                          <a:cs typeface="Arial" panose="020B0604020202020204" pitchFamily="34" charset="0"/>
                        </a:rPr>
                        <a:t>General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: cellosquare.id@samsung.com</a:t>
                      </a:r>
                      <a:b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*Business Development</a:t>
                      </a:r>
                      <a:r>
                        <a:rPr lang="en-US" altLang="ko-KR" sz="11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: </a:t>
                      </a:r>
                      <a:r>
                        <a:rPr lang="en-SG" altLang="ko-KR" sz="1100" dirty="0">
                          <a:solidFill>
                            <a:srgbClr val="FF0000"/>
                          </a:solidFill>
                        </a:rPr>
                        <a:t>sales.sdsth@samsung.com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0629969"/>
                  </a:ext>
                </a:extLst>
              </a:tr>
              <a:tr h="52644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ACUTECH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0">
                        <a:lnSpc>
                          <a:spcPct val="90000"/>
                        </a:lnSpc>
                        <a:spcAft>
                          <a:spcPts val="700"/>
                        </a:spcAft>
                        <a:buClr>
                          <a:prstClr val="black"/>
                        </a:buClr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SG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2525 FYI </a:t>
                      </a:r>
                      <a:r>
                        <a:rPr lang="en-SG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Center</a:t>
                      </a:r>
                      <a:r>
                        <a:rPr lang="en-SG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1, Suite No. 1/1008, 10th Floor, Rama 4 Road, </a:t>
                      </a:r>
                      <a:r>
                        <a:rPr lang="en-SG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Klongtoei</a:t>
                      </a:r>
                      <a:r>
                        <a:rPr lang="en-SG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District, Bangkok Metropolis, 10110, Thailand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144000" lvl="0" indent="-144000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  <a:defRPr/>
                      </a:pPr>
                      <a:endParaRPr lang="en-US" altLang="ko-KR" sz="1100" dirty="0">
                        <a:solidFill>
                          <a:prstClr val="black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12984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5344" y="1292869"/>
            <a:ext cx="733703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/>
              <a:t>국문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20142" y="1033789"/>
            <a:ext cx="733703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/>
              <a:t>영문</a:t>
            </a:r>
          </a:p>
        </p:txBody>
      </p:sp>
      <p:sp>
        <p:nvSpPr>
          <p:cNvPr id="12" name="사각형 설명선 11"/>
          <p:cNvSpPr/>
          <p:nvPr/>
        </p:nvSpPr>
        <p:spPr>
          <a:xfrm>
            <a:off x="9833502" y="612930"/>
            <a:ext cx="4920343" cy="261610"/>
          </a:xfrm>
          <a:prstGeom prst="wedgeRectCallout">
            <a:avLst>
              <a:gd name="adj1" fmla="val -31120"/>
              <a:gd name="adj2" fmla="val 16992"/>
            </a:avLst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1100">
                <a:solidFill>
                  <a:prstClr val="black"/>
                </a:solidFill>
              </a:rPr>
              <a:t>부분 수정</a:t>
            </a:r>
            <a:endParaRPr lang="en-US" altLang="ko-KR" sz="1100" dirty="0">
              <a:solidFill>
                <a:prstClr val="black"/>
              </a:solidFill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81887B09-D247-BCCE-88C4-612C22FFFDF0}"/>
              </a:ext>
            </a:extLst>
          </p:cNvPr>
          <p:cNvSpPr/>
          <p:nvPr/>
        </p:nvSpPr>
        <p:spPr>
          <a:xfrm>
            <a:off x="9283700" y="228600"/>
            <a:ext cx="2520000" cy="2520000"/>
          </a:xfrm>
          <a:prstGeom prst="ellipse">
            <a:avLst/>
          </a:prstGeom>
          <a:solidFill>
            <a:srgbClr val="0AD2B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/>
              <a:t>텍스트 변경</a:t>
            </a:r>
            <a:endParaRPr kumimoji="1" lang="en-US" altLang="ko-KR" dirty="0"/>
          </a:p>
          <a:p>
            <a:pPr algn="ctr"/>
            <a:r>
              <a:rPr kumimoji="1" lang="ko-KR" altLang="en-US" dirty="0"/>
              <a:t>영문 버전으로 다국어 반영</a:t>
            </a:r>
            <a:endParaRPr kumimoji="1"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5551006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180" y="1512347"/>
            <a:ext cx="6591591" cy="5131259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203200" y="115892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1400" dirty="0" err="1">
                <a:hlinkClick r:id="rId3"/>
              </a:rPr>
              <a:t>첼로스퀘어</a:t>
            </a:r>
            <a:r>
              <a:rPr lang="ko-KR" altLang="en-US" sz="1400" dirty="0">
                <a:hlinkClick r:id="rId3"/>
              </a:rPr>
              <a:t> 필리핀 소개 </a:t>
            </a:r>
            <a:r>
              <a:rPr lang="en-US" altLang="ko-KR" sz="1400" dirty="0">
                <a:hlinkClick r:id="rId3"/>
              </a:rPr>
              <a:t>- Global Network | </a:t>
            </a:r>
            <a:r>
              <a:rPr lang="ko-KR" altLang="en-US" sz="1400" dirty="0" err="1">
                <a:hlinkClick r:id="rId3"/>
              </a:rPr>
              <a:t>첼로스퀘어</a:t>
            </a:r>
            <a:r>
              <a:rPr lang="en-US" altLang="ko-KR" sz="1400" dirty="0">
                <a:hlinkClick r:id="rId3"/>
              </a:rPr>
              <a:t>(Cello Square)</a:t>
            </a:r>
            <a:endParaRPr lang="en-US" sz="1400" dirty="0"/>
          </a:p>
        </p:txBody>
      </p:sp>
      <p:sp>
        <p:nvSpPr>
          <p:cNvPr id="6" name="사각형 설명선 5"/>
          <p:cNvSpPr/>
          <p:nvPr/>
        </p:nvSpPr>
        <p:spPr>
          <a:xfrm>
            <a:off x="7866743" y="2670407"/>
            <a:ext cx="6096000" cy="646331"/>
          </a:xfrm>
          <a:prstGeom prst="wedgeRectCallout">
            <a:avLst>
              <a:gd name="adj1" fmla="val -74404"/>
              <a:gd name="adj2" fmla="val -16097"/>
            </a:avLst>
          </a:prstGeom>
          <a:solidFill>
            <a:srgbClr val="FFFF00"/>
          </a:solidFill>
        </p:spPr>
        <p:txBody>
          <a:bodyPr>
            <a:spAutoFit/>
          </a:bodyPr>
          <a:lstStyle/>
          <a:p>
            <a:pPr lvl="0">
              <a:defRPr/>
            </a:pPr>
            <a:r>
              <a:rPr lang="ko-KR" altLang="en-US" dirty="0">
                <a:solidFill>
                  <a:prstClr val="black"/>
                </a:solidFill>
              </a:rPr>
              <a:t>삼성</a:t>
            </a:r>
            <a:r>
              <a:rPr lang="en-US" altLang="ko-KR" dirty="0">
                <a:solidFill>
                  <a:prstClr val="black"/>
                </a:solidFill>
              </a:rPr>
              <a:t>SDS </a:t>
            </a:r>
            <a:r>
              <a:rPr lang="ko-KR" altLang="en-US" dirty="0">
                <a:solidFill>
                  <a:prstClr val="black"/>
                </a:solidFill>
              </a:rPr>
              <a:t>필리핀은 지난 </a:t>
            </a:r>
            <a:r>
              <a:rPr lang="en-US" altLang="ko-KR" dirty="0">
                <a:solidFill>
                  <a:prstClr val="black"/>
                </a:solidFill>
              </a:rPr>
              <a:t>15</a:t>
            </a:r>
            <a:r>
              <a:rPr lang="ko-KR" altLang="en-US" dirty="0">
                <a:solidFill>
                  <a:prstClr val="black"/>
                </a:solidFill>
              </a:rPr>
              <a:t>년간 다양한 산업 분야의 </a:t>
            </a:r>
            <a:r>
              <a:rPr lang="ko-KR" altLang="en-US" dirty="0" err="1">
                <a:solidFill>
                  <a:prstClr val="black"/>
                </a:solidFill>
              </a:rPr>
              <a:t>고객사에게</a:t>
            </a:r>
            <a:r>
              <a:rPr lang="ko-KR" altLang="en-US" dirty="0">
                <a:solidFill>
                  <a:prstClr val="black"/>
                </a:solidFill>
              </a:rPr>
              <a:t> 차별화된 </a:t>
            </a:r>
            <a:r>
              <a:rPr lang="en-US" altLang="ko-KR" dirty="0">
                <a:solidFill>
                  <a:prstClr val="black"/>
                </a:solidFill>
              </a:rPr>
              <a:t>4PL </a:t>
            </a:r>
            <a:r>
              <a:rPr lang="ko-KR" altLang="en-US" dirty="0">
                <a:solidFill>
                  <a:prstClr val="black"/>
                </a:solidFill>
              </a:rPr>
              <a:t>물류 솔루션을 제공해왔습니다</a:t>
            </a:r>
            <a:r>
              <a:rPr lang="en-US" altLang="ko-KR" dirty="0">
                <a:solidFill>
                  <a:prstClr val="black"/>
                </a:solidFill>
              </a:rPr>
              <a:t>.</a:t>
            </a:r>
          </a:p>
        </p:txBody>
      </p:sp>
      <p:sp>
        <p:nvSpPr>
          <p:cNvPr id="7" name="Rectangle 146"/>
          <p:cNvSpPr/>
          <p:nvPr/>
        </p:nvSpPr>
        <p:spPr>
          <a:xfrm>
            <a:off x="1451715" y="2741558"/>
            <a:ext cx="4847485" cy="5040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7866743" y="2362630"/>
            <a:ext cx="4004274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해당 부분 국문만 변경</a:t>
            </a: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4B51A68A-36AD-6555-EAE0-A889A3A1765A}"/>
              </a:ext>
            </a:extLst>
          </p:cNvPr>
          <p:cNvSpPr/>
          <p:nvPr/>
        </p:nvSpPr>
        <p:spPr>
          <a:xfrm>
            <a:off x="9283700" y="228600"/>
            <a:ext cx="2520000" cy="2520000"/>
          </a:xfrm>
          <a:prstGeom prst="ellipse">
            <a:avLst/>
          </a:prstGeom>
          <a:solidFill>
            <a:srgbClr val="0AD2B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/>
              <a:t>국문 문구 반영</a:t>
            </a:r>
            <a:endParaRPr kumimoji="1" lang="en-US" altLang="ko-KR" dirty="0"/>
          </a:p>
          <a:p>
            <a:pPr algn="ctr"/>
            <a:r>
              <a:rPr kumimoji="1" lang="en-US" altLang="ko-KR" dirty="0"/>
              <a:t>Only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481839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16114" y="101600"/>
            <a:ext cx="6096000" cy="29238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1300" dirty="0" err="1">
                <a:hlinkClick r:id="rId2"/>
              </a:rPr>
              <a:t>첼로스퀘어</a:t>
            </a:r>
            <a:r>
              <a:rPr lang="ko-KR" altLang="en-US" sz="1300" dirty="0">
                <a:hlinkClick r:id="rId2"/>
              </a:rPr>
              <a:t> 호주 소개 </a:t>
            </a:r>
            <a:r>
              <a:rPr lang="en-US" altLang="ko-KR" sz="1300" dirty="0">
                <a:hlinkClick r:id="rId2"/>
              </a:rPr>
              <a:t>- Global Network | </a:t>
            </a:r>
            <a:r>
              <a:rPr lang="ko-KR" altLang="en-US" sz="1300" dirty="0" err="1">
                <a:hlinkClick r:id="rId2"/>
              </a:rPr>
              <a:t>첼로스퀘어</a:t>
            </a:r>
            <a:r>
              <a:rPr lang="en-US" altLang="ko-KR" sz="1300" dirty="0">
                <a:hlinkClick r:id="rId2"/>
              </a:rPr>
              <a:t>(Cello Square)</a:t>
            </a:r>
            <a:endParaRPr lang="en-US" sz="130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238" y="1480457"/>
            <a:ext cx="6532403" cy="4064000"/>
          </a:xfrm>
          <a:prstGeom prst="rect">
            <a:avLst/>
          </a:prstGeom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66DE5BFF-387F-B4CF-BD09-AE05D18FF9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7985"/>
          <a:stretch/>
        </p:blipFill>
        <p:spPr bwMode="auto">
          <a:xfrm>
            <a:off x="8222256" y="2637556"/>
            <a:ext cx="5137932" cy="3039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1D546F33-92D6-00E3-B1CC-E4125B7B2135}"/>
              </a:ext>
            </a:extLst>
          </p:cNvPr>
          <p:cNvCxnSpPr/>
          <p:nvPr/>
        </p:nvCxnSpPr>
        <p:spPr>
          <a:xfrm flipV="1">
            <a:off x="11851188" y="3112742"/>
            <a:ext cx="0" cy="1327893"/>
          </a:xfrm>
          <a:prstGeom prst="line">
            <a:avLst/>
          </a:prstGeom>
          <a:noFill/>
          <a:ln w="12700" cap="rnd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1D546F33-92D6-00E3-B1CC-E4125B7B2135}"/>
              </a:ext>
            </a:extLst>
          </p:cNvPr>
          <p:cNvCxnSpPr/>
          <p:nvPr/>
        </p:nvCxnSpPr>
        <p:spPr>
          <a:xfrm flipH="1">
            <a:off x="11845813" y="3123330"/>
            <a:ext cx="364330" cy="4763"/>
          </a:xfrm>
          <a:prstGeom prst="line">
            <a:avLst/>
          </a:prstGeom>
          <a:noFill/>
          <a:ln w="12700" cap="rnd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1D546F33-92D6-00E3-B1CC-E4125B7B2135}"/>
              </a:ext>
            </a:extLst>
          </p:cNvPr>
          <p:cNvCxnSpPr/>
          <p:nvPr/>
        </p:nvCxnSpPr>
        <p:spPr>
          <a:xfrm>
            <a:off x="11473599" y="4825366"/>
            <a:ext cx="756000" cy="854"/>
          </a:xfrm>
          <a:prstGeom prst="line">
            <a:avLst/>
          </a:prstGeom>
          <a:noFill/>
          <a:ln w="12700" cap="rnd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3" name="그룹 12"/>
          <p:cNvGrpSpPr/>
          <p:nvPr/>
        </p:nvGrpSpPr>
        <p:grpSpPr>
          <a:xfrm>
            <a:off x="12204516" y="4656113"/>
            <a:ext cx="1358967" cy="369977"/>
            <a:chOff x="9172259" y="1532983"/>
            <a:chExt cx="1358967" cy="369977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903DC0D1-2844-2E76-2869-CDF6EC90CD6B}"/>
                </a:ext>
              </a:extLst>
            </p:cNvPr>
            <p:cNvGrpSpPr/>
            <p:nvPr/>
          </p:nvGrpSpPr>
          <p:grpSpPr>
            <a:xfrm>
              <a:off x="9172259" y="1532983"/>
              <a:ext cx="1358967" cy="369977"/>
              <a:chOff x="1297144" y="162344"/>
              <a:chExt cx="1504097" cy="511464"/>
            </a:xfrm>
          </p:grpSpPr>
          <p:grpSp>
            <p:nvGrpSpPr>
              <p:cNvPr id="16" name="그룹 15">
                <a:extLst>
                  <a:ext uri="{FF2B5EF4-FFF2-40B4-BE49-F238E27FC236}">
                    <a16:creationId xmlns:a16="http://schemas.microsoft.com/office/drawing/2014/main" id="{FFF041CB-3DFC-FB41-F31E-477EE938A2AB}"/>
                  </a:ext>
                </a:extLst>
              </p:cNvPr>
              <p:cNvGrpSpPr/>
              <p:nvPr/>
            </p:nvGrpSpPr>
            <p:grpSpPr>
              <a:xfrm>
                <a:off x="1302397" y="162344"/>
                <a:ext cx="1498844" cy="504621"/>
                <a:chOff x="540680" y="1745400"/>
                <a:chExt cx="1498844" cy="504621"/>
              </a:xfrm>
            </p:grpSpPr>
            <p:sp>
              <p:nvSpPr>
                <p:cNvPr id="18" name="모서리가 둥근 직사각형 240">
                  <a:extLst>
                    <a:ext uri="{FF2B5EF4-FFF2-40B4-BE49-F238E27FC236}">
                      <a16:creationId xmlns:a16="http://schemas.microsoft.com/office/drawing/2014/main" id="{1D18C733-A5D5-311E-08E4-3FFF8CD91906}"/>
                    </a:ext>
                  </a:extLst>
                </p:cNvPr>
                <p:cNvSpPr/>
                <p:nvPr/>
              </p:nvSpPr>
              <p:spPr>
                <a:xfrm>
                  <a:off x="540680" y="1745400"/>
                  <a:ext cx="1498844" cy="50462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>
                  <a:solidFill>
                    <a:srgbClr val="595959"/>
                  </a:solidFill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맑은 고딕" panose="020F0502020204030204"/>
                    <a:ea typeface="맑은 고딕" panose="020B0503020000020004" pitchFamily="34" charset="-127"/>
                    <a:cs typeface="+mn-cs"/>
                  </a:endParaRPr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78D0A822-87C0-4959-51F2-A808B0297E82}"/>
                    </a:ext>
                  </a:extLst>
                </p:cNvPr>
                <p:cNvSpPr txBox="1"/>
                <p:nvPr/>
              </p:nvSpPr>
              <p:spPr>
                <a:xfrm>
                  <a:off x="1133416" y="1794117"/>
                  <a:ext cx="308710" cy="41129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 anchor="t">
                  <a:spAutoFit/>
                </a:bodyPr>
                <a:lstStyle>
                  <a:defPPr>
                    <a:defRPr lang="ko-KR"/>
                  </a:defPPr>
                  <a:lvl1pPr algn="r" latinLnBrk="0">
                    <a:spcAft>
                      <a:spcPts val="200"/>
                    </a:spcAft>
                    <a:defRPr sz="90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latin typeface="나눔스퀘어 Bold" panose="020B0600000101010101" pitchFamily="50" charset="-127"/>
                      <a:ea typeface="나눔스퀘어 Bold" panose="020B0600000101010101" pitchFamily="50" charset="-127"/>
                      <a:cs typeface="Arial" panose="020B0604020202020204" pitchFamily="34" charset="0"/>
                    </a:defRPr>
                  </a:lvl1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1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0" normalizeH="0" baseline="0" noProof="0" dirty="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나눔스퀘어 ExtraBold" panose="020B0600000101010101" pitchFamily="50" charset="-127"/>
                      <a:ea typeface="나눔스퀘어 ExtraBold" panose="020B0600000101010101" pitchFamily="50" charset="-127"/>
                      <a:cs typeface="Arial" panose="020B0604020202020204" pitchFamily="34" charset="0"/>
                    </a:rPr>
                    <a:t>창고</a:t>
                  </a:r>
                  <a:r>
                    <a:rPr kumimoji="0" lang="en-US" altLang="ko-KR" sz="1050" b="1" i="0" u="none" strike="noStrike" kern="1200" cap="none" spc="0" normalizeH="0" baseline="0" noProof="0" dirty="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prstClr val="black">
                          <a:lumMod val="95000"/>
                          <a:lumOff val="5000"/>
                        </a:prstClr>
                      </a:solidFill>
                      <a:effectLst/>
                      <a:uLnTx/>
                      <a:uFillTx/>
                      <a:latin typeface="SDS Sans  Medium" panose="020B0000000101010101" pitchFamily="50" charset="-127"/>
                      <a:ea typeface="SDS Sans  Bold"/>
                      <a:cs typeface="Arial" panose="020B0604020202020204" pitchFamily="34" charset="0"/>
                    </a:rPr>
                    <a:t> 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1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800" b="0" i="0" u="none" strike="noStrike" kern="1200" cap="none" spc="0" normalizeH="0" baseline="0" noProof="0" dirty="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prstClr val="black">
                          <a:lumMod val="95000"/>
                          <a:lumOff val="5000"/>
                        </a:prstClr>
                      </a:solidFill>
                      <a:effectLst/>
                      <a:uLnTx/>
                      <a:uFillTx/>
                      <a:latin typeface="나눔스퀘어" panose="020B0600000101010101" pitchFamily="50" charset="-127"/>
                      <a:ea typeface="나눔스퀘어" panose="020B0600000101010101" pitchFamily="50" charset="-127"/>
                      <a:cs typeface="Arial" panose="020B0604020202020204" pitchFamily="34" charset="0"/>
                    </a:rPr>
                    <a:t>멜버른</a:t>
                  </a:r>
                  <a:endParaRPr kumimoji="0" lang="en-US" altLang="ko-KR" sz="800" b="0" i="0" u="none" strike="noStrike" kern="120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95000"/>
                        <a:lumOff val="5000"/>
                      </a:prstClr>
                    </a:solidFill>
                    <a:effectLst/>
                    <a:uLnTx/>
                    <a:uFillTx/>
                    <a:latin typeface="나눔스퀘어" panose="020B0600000101010101" pitchFamily="50" charset="-127"/>
                    <a:ea typeface="나눔스퀘어" panose="020B0600000101010101" pitchFamily="50" charset="-127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7" name="양쪽 모서리가 둥근 사각형 245">
                <a:extLst>
                  <a:ext uri="{FF2B5EF4-FFF2-40B4-BE49-F238E27FC236}">
                    <a16:creationId xmlns:a16="http://schemas.microsoft.com/office/drawing/2014/main" id="{509F0944-F6B2-06A1-F123-B46488B45D27}"/>
                  </a:ext>
                </a:extLst>
              </p:cNvPr>
              <p:cNvSpPr/>
              <p:nvPr/>
            </p:nvSpPr>
            <p:spPr>
              <a:xfrm rot="16200000">
                <a:off x="1315141" y="146219"/>
                <a:ext cx="509592" cy="545586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595959"/>
              </a:solidFill>
              <a:ln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</p:grpSp>
        <p:pic>
          <p:nvPicPr>
            <p:cNvPr id="15" name="Picture 9"/>
            <p:cNvPicPr>
              <a:picLocks noChangeAspect="1" noChangeArrowheads="1"/>
            </p:cNvPicPr>
            <p:nvPr/>
          </p:nvPicPr>
          <p:blipFill>
            <a:blip r:embed="rId5" cstate="print"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9301483" y="1546881"/>
              <a:ext cx="314449" cy="3144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0" name="그룹 19"/>
          <p:cNvGrpSpPr/>
          <p:nvPr/>
        </p:nvGrpSpPr>
        <p:grpSpPr>
          <a:xfrm>
            <a:off x="11292519" y="4645365"/>
            <a:ext cx="359282" cy="360000"/>
            <a:chOff x="4825263" y="5286022"/>
            <a:chExt cx="359282" cy="360000"/>
          </a:xfrm>
        </p:grpSpPr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542CD452-5C90-A645-C41E-92985823D5AB}"/>
                </a:ext>
              </a:extLst>
            </p:cNvPr>
            <p:cNvSpPr/>
            <p:nvPr/>
          </p:nvSpPr>
          <p:spPr>
            <a:xfrm>
              <a:off x="4943010" y="5418280"/>
              <a:ext cx="134360" cy="134360"/>
            </a:xfrm>
            <a:prstGeom prst="ellipse">
              <a:avLst/>
            </a:prstGeom>
            <a:gradFill flip="none" rotWithShape="1">
              <a:gsLst>
                <a:gs pos="7000">
                  <a:schemeClr val="bg1">
                    <a:alpha val="66000"/>
                  </a:schemeClr>
                </a:gs>
                <a:gs pos="52000">
                  <a:schemeClr val="bg1">
                    <a:alpha val="1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DS Sans Light" panose="020B0000000101010101" pitchFamily="50" charset="-127"/>
                <a:ea typeface="SDS Sans Light" panose="020B0000000101010101" pitchFamily="50" charset="-127"/>
                <a:cs typeface="+mn-cs"/>
              </a:endParaRPr>
            </a:p>
          </p:txBody>
        </p:sp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F2833673-A28D-2D48-61F6-61123920710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825263" y="5286022"/>
              <a:ext cx="359282" cy="360000"/>
            </a:xfrm>
            <a:prstGeom prst="rect">
              <a:avLst/>
            </a:prstGeom>
          </p:spPr>
        </p:pic>
      </p:grpSp>
      <p:grpSp>
        <p:nvGrpSpPr>
          <p:cNvPr id="23" name="그룹 74"/>
          <p:cNvGrpSpPr/>
          <p:nvPr/>
        </p:nvGrpSpPr>
        <p:grpSpPr>
          <a:xfrm>
            <a:off x="8223063" y="4195075"/>
            <a:ext cx="1358967" cy="369977"/>
            <a:chOff x="4198653" y="1429475"/>
            <a:chExt cx="1358967" cy="369977"/>
          </a:xfrm>
        </p:grpSpPr>
        <p:grpSp>
          <p:nvGrpSpPr>
            <p:cNvPr id="24" name="그룹 75">
              <a:extLst>
                <a:ext uri="{FF2B5EF4-FFF2-40B4-BE49-F238E27FC236}">
                  <a16:creationId xmlns:a16="http://schemas.microsoft.com/office/drawing/2014/main" id="{903DC0D1-2844-2E76-2869-CDF6EC90CD6B}"/>
                </a:ext>
              </a:extLst>
            </p:cNvPr>
            <p:cNvGrpSpPr/>
            <p:nvPr/>
          </p:nvGrpSpPr>
          <p:grpSpPr>
            <a:xfrm>
              <a:off x="4198653" y="1429475"/>
              <a:ext cx="1358967" cy="369977"/>
              <a:chOff x="1297144" y="162344"/>
              <a:chExt cx="1504097" cy="511464"/>
            </a:xfrm>
          </p:grpSpPr>
          <p:grpSp>
            <p:nvGrpSpPr>
              <p:cNvPr id="26" name="그룹 78">
                <a:extLst>
                  <a:ext uri="{FF2B5EF4-FFF2-40B4-BE49-F238E27FC236}">
                    <a16:creationId xmlns:a16="http://schemas.microsoft.com/office/drawing/2014/main" id="{FFF041CB-3DFC-FB41-F31E-477EE938A2AB}"/>
                  </a:ext>
                </a:extLst>
              </p:cNvPr>
              <p:cNvGrpSpPr/>
              <p:nvPr/>
            </p:nvGrpSpPr>
            <p:grpSpPr>
              <a:xfrm>
                <a:off x="1302397" y="162344"/>
                <a:ext cx="1498844" cy="504621"/>
                <a:chOff x="540680" y="1745400"/>
                <a:chExt cx="1498844" cy="504621"/>
              </a:xfrm>
            </p:grpSpPr>
            <p:sp>
              <p:nvSpPr>
                <p:cNvPr id="28" name="모서리가 둥근 직사각형 240">
                  <a:extLst>
                    <a:ext uri="{FF2B5EF4-FFF2-40B4-BE49-F238E27FC236}">
                      <a16:creationId xmlns:a16="http://schemas.microsoft.com/office/drawing/2014/main" id="{1D18C733-A5D5-311E-08E4-3FFF8CD91906}"/>
                    </a:ext>
                  </a:extLst>
                </p:cNvPr>
                <p:cNvSpPr/>
                <p:nvPr/>
              </p:nvSpPr>
              <p:spPr>
                <a:xfrm>
                  <a:off x="540680" y="1745400"/>
                  <a:ext cx="1498844" cy="50462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>
                  <a:solidFill>
                    <a:srgbClr val="595959"/>
                  </a:solidFill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맑은 고딕" panose="020F0502020204030204"/>
                    <a:ea typeface="맑은 고딕" panose="020B0503020000020004" pitchFamily="34" charset="-127"/>
                    <a:cs typeface="+mn-cs"/>
                  </a:endParaRP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78D0A822-87C0-4959-51F2-A808B0297E82}"/>
                    </a:ext>
                  </a:extLst>
                </p:cNvPr>
                <p:cNvSpPr txBox="1"/>
                <p:nvPr/>
              </p:nvSpPr>
              <p:spPr>
                <a:xfrm>
                  <a:off x="1133416" y="1827162"/>
                  <a:ext cx="328226" cy="3900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 anchor="t">
                  <a:spAutoFit/>
                </a:bodyPr>
                <a:lstStyle>
                  <a:defPPr>
                    <a:defRPr lang="ko-KR"/>
                  </a:defPPr>
                  <a:lvl1pPr algn="r" latinLnBrk="0">
                    <a:spcAft>
                      <a:spcPts val="200"/>
                    </a:spcAft>
                    <a:defRPr sz="90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latin typeface="나눔스퀘어 Bold" panose="020B0600000101010101" pitchFamily="50" charset="-127"/>
                      <a:ea typeface="나눔스퀘어 Bold" panose="020B0600000101010101" pitchFamily="50" charset="-127"/>
                      <a:cs typeface="Arial" panose="020B0604020202020204" pitchFamily="34" charset="0"/>
                    </a:defRPr>
                  </a:lvl1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1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ko-KR" altLang="en-US" sz="1050" b="1" dirty="0">
                      <a:solidFill>
                        <a:prstClr val="black">
                          <a:lumMod val="95000"/>
                          <a:lumOff val="5000"/>
                        </a:prstClr>
                      </a:solidFill>
                      <a:latin typeface="SDS Sans  Medium" panose="020B0000000101010101" pitchFamily="50" charset="-127"/>
                      <a:ea typeface="SDS Sans  Bold"/>
                    </a:rPr>
                    <a:t>창고</a:t>
                  </a:r>
                  <a:r>
                    <a:rPr kumimoji="0" lang="en-US" altLang="ko-KR" sz="1050" b="1" i="0" u="none" strike="noStrike" kern="1200" cap="none" spc="0" normalizeH="0" baseline="0" noProof="0" dirty="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prstClr val="black">
                          <a:lumMod val="95000"/>
                          <a:lumOff val="5000"/>
                        </a:prstClr>
                      </a:solidFill>
                      <a:effectLst/>
                      <a:uLnTx/>
                      <a:uFillTx/>
                      <a:latin typeface="SDS Sans  Medium" panose="020B0000000101010101" pitchFamily="50" charset="-127"/>
                      <a:ea typeface="SDS Sans  Bold"/>
                      <a:cs typeface="Arial" panose="020B0604020202020204" pitchFamily="34" charset="0"/>
                    </a:rPr>
                    <a:t> 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1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ko-KR" altLang="en-US" sz="700" noProof="0" dirty="0">
                      <a:solidFill>
                        <a:prstClr val="black">
                          <a:lumMod val="95000"/>
                          <a:lumOff val="5000"/>
                        </a:prstClr>
                      </a:solidFill>
                      <a:latin typeface="SDS Sans  Regular" panose="020B0600000101010101" charset="-127"/>
                      <a:ea typeface="SDS Sans  Regular" panose="020B0600000101010101" charset="-127"/>
                    </a:rPr>
                    <a:t>퍼스</a:t>
                  </a:r>
                  <a:endParaRPr kumimoji="0" lang="en-US" altLang="ko-KR" sz="700" b="0" i="0" u="none" strike="noStrike" kern="120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95000"/>
                        <a:lumOff val="5000"/>
                      </a:prstClr>
                    </a:solidFill>
                    <a:effectLst/>
                    <a:uLnTx/>
                    <a:uFillTx/>
                    <a:latin typeface="SDS Sans  Regular" panose="020B0600000101010101" charset="-127"/>
                    <a:ea typeface="SDS Sans  Regular" panose="020B0600000101010101" charset="-127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27" name="양쪽 모서리가 둥근 사각형 245">
                <a:extLst>
                  <a:ext uri="{FF2B5EF4-FFF2-40B4-BE49-F238E27FC236}">
                    <a16:creationId xmlns:a16="http://schemas.microsoft.com/office/drawing/2014/main" id="{509F0944-F6B2-06A1-F123-B46488B45D27}"/>
                  </a:ext>
                </a:extLst>
              </p:cNvPr>
              <p:cNvSpPr/>
              <p:nvPr/>
            </p:nvSpPr>
            <p:spPr>
              <a:xfrm rot="16200000">
                <a:off x="1315141" y="146219"/>
                <a:ext cx="509592" cy="545586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595959"/>
              </a:solidFill>
              <a:ln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</p:grpSp>
        <p:pic>
          <p:nvPicPr>
            <p:cNvPr id="25" name="Picture 9"/>
            <p:cNvPicPr>
              <a:picLocks noChangeAspect="1" noChangeArrowheads="1"/>
            </p:cNvPicPr>
            <p:nvPr/>
          </p:nvPicPr>
          <p:blipFill>
            <a:blip r:embed="rId5" cstate="screen"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4326389" y="1439165"/>
              <a:ext cx="314449" cy="3144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0" name="그룹 82"/>
          <p:cNvGrpSpPr/>
          <p:nvPr/>
        </p:nvGrpSpPr>
        <p:grpSpPr>
          <a:xfrm>
            <a:off x="9802210" y="3840884"/>
            <a:ext cx="359282" cy="360000"/>
            <a:chOff x="4825263" y="5286022"/>
            <a:chExt cx="359282" cy="360000"/>
          </a:xfrm>
        </p:grpSpPr>
        <p:sp>
          <p:nvSpPr>
            <p:cNvPr id="31" name="타원 83">
              <a:extLst>
                <a:ext uri="{FF2B5EF4-FFF2-40B4-BE49-F238E27FC236}">
                  <a16:creationId xmlns:a16="http://schemas.microsoft.com/office/drawing/2014/main" id="{542CD452-5C90-A645-C41E-92985823D5AB}"/>
                </a:ext>
              </a:extLst>
            </p:cNvPr>
            <p:cNvSpPr/>
            <p:nvPr/>
          </p:nvSpPr>
          <p:spPr>
            <a:xfrm>
              <a:off x="4943010" y="5418280"/>
              <a:ext cx="134360" cy="134360"/>
            </a:xfrm>
            <a:prstGeom prst="ellipse">
              <a:avLst/>
            </a:prstGeom>
            <a:gradFill flip="none" rotWithShape="1">
              <a:gsLst>
                <a:gs pos="7000">
                  <a:schemeClr val="bg1">
                    <a:alpha val="66000"/>
                  </a:schemeClr>
                </a:gs>
                <a:gs pos="52000">
                  <a:schemeClr val="bg1">
                    <a:alpha val="1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DS Sans Light" panose="020B0000000101010101" pitchFamily="50" charset="-127"/>
                <a:ea typeface="SDS Sans Light" panose="020B0000000101010101" pitchFamily="50" charset="-127"/>
                <a:cs typeface="+mn-cs"/>
              </a:endParaRPr>
            </a:p>
          </p:txBody>
        </p:sp>
        <p:pic>
          <p:nvPicPr>
            <p:cNvPr id="32" name="그림 101">
              <a:extLst>
                <a:ext uri="{FF2B5EF4-FFF2-40B4-BE49-F238E27FC236}">
                  <a16:creationId xmlns:a16="http://schemas.microsoft.com/office/drawing/2014/main" id="{F2833673-A28D-2D48-61F6-61123920710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825263" y="5286022"/>
              <a:ext cx="359282" cy="360000"/>
            </a:xfrm>
            <a:prstGeom prst="rect">
              <a:avLst/>
            </a:prstGeom>
          </p:spPr>
        </p:pic>
      </p:grpSp>
      <p:cxnSp>
        <p:nvCxnSpPr>
          <p:cNvPr id="33" name="직선 연결선 102">
            <a:extLst>
              <a:ext uri="{FF2B5EF4-FFF2-40B4-BE49-F238E27FC236}">
                <a16:creationId xmlns:a16="http://schemas.microsoft.com/office/drawing/2014/main" id="{1D546F33-92D6-00E3-B1CC-E4125B7B2135}"/>
              </a:ext>
            </a:extLst>
          </p:cNvPr>
          <p:cNvCxnSpPr>
            <a:stCxn id="28" idx="3"/>
          </p:cNvCxnSpPr>
          <p:nvPr/>
        </p:nvCxnSpPr>
        <p:spPr>
          <a:xfrm flipV="1">
            <a:off x="9582030" y="4021221"/>
            <a:ext cx="370389" cy="356368"/>
          </a:xfrm>
          <a:prstGeom prst="line">
            <a:avLst/>
          </a:prstGeom>
          <a:noFill/>
          <a:ln w="12700" cap="rnd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4" name="직선 연결선 102">
            <a:extLst>
              <a:ext uri="{FF2B5EF4-FFF2-40B4-BE49-F238E27FC236}">
                <a16:creationId xmlns:a16="http://schemas.microsoft.com/office/drawing/2014/main" id="{1D546F33-92D6-00E3-B1CC-E4125B7B2135}"/>
              </a:ext>
            </a:extLst>
          </p:cNvPr>
          <p:cNvCxnSpPr>
            <a:stCxn id="60" idx="3"/>
          </p:cNvCxnSpPr>
          <p:nvPr/>
        </p:nvCxnSpPr>
        <p:spPr>
          <a:xfrm flipH="1" flipV="1">
            <a:off x="11959534" y="4066981"/>
            <a:ext cx="246100" cy="74930"/>
          </a:xfrm>
          <a:prstGeom prst="line">
            <a:avLst/>
          </a:prstGeom>
          <a:noFill/>
          <a:ln w="12700" cap="rnd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35" name="그룹 82"/>
          <p:cNvGrpSpPr/>
          <p:nvPr/>
        </p:nvGrpSpPr>
        <p:grpSpPr>
          <a:xfrm>
            <a:off x="11799404" y="3873764"/>
            <a:ext cx="359282" cy="360000"/>
            <a:chOff x="4825263" y="5286022"/>
            <a:chExt cx="359282" cy="360000"/>
          </a:xfrm>
        </p:grpSpPr>
        <p:sp>
          <p:nvSpPr>
            <p:cNvPr id="36" name="타원 83">
              <a:extLst>
                <a:ext uri="{FF2B5EF4-FFF2-40B4-BE49-F238E27FC236}">
                  <a16:creationId xmlns:a16="http://schemas.microsoft.com/office/drawing/2014/main" id="{542CD452-5C90-A645-C41E-92985823D5AB}"/>
                </a:ext>
              </a:extLst>
            </p:cNvPr>
            <p:cNvSpPr/>
            <p:nvPr/>
          </p:nvSpPr>
          <p:spPr>
            <a:xfrm>
              <a:off x="4943010" y="5418280"/>
              <a:ext cx="134360" cy="134360"/>
            </a:xfrm>
            <a:prstGeom prst="ellipse">
              <a:avLst/>
            </a:prstGeom>
            <a:gradFill flip="none" rotWithShape="1">
              <a:gsLst>
                <a:gs pos="7000">
                  <a:schemeClr val="bg1">
                    <a:alpha val="66000"/>
                  </a:schemeClr>
                </a:gs>
                <a:gs pos="52000">
                  <a:schemeClr val="bg1">
                    <a:alpha val="1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DS Sans Light" panose="020B0000000101010101" pitchFamily="50" charset="-127"/>
                <a:ea typeface="SDS Sans Light" panose="020B0000000101010101" pitchFamily="50" charset="-127"/>
                <a:cs typeface="+mn-cs"/>
              </a:endParaRPr>
            </a:p>
          </p:txBody>
        </p:sp>
        <p:pic>
          <p:nvPicPr>
            <p:cNvPr id="37" name="그림 101">
              <a:extLst>
                <a:ext uri="{FF2B5EF4-FFF2-40B4-BE49-F238E27FC236}">
                  <a16:creationId xmlns:a16="http://schemas.microsoft.com/office/drawing/2014/main" id="{F2833673-A28D-2D48-61F6-61123920710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825263" y="5286022"/>
              <a:ext cx="359282" cy="360000"/>
            </a:xfrm>
            <a:prstGeom prst="rect">
              <a:avLst/>
            </a:prstGeom>
          </p:spPr>
        </p:pic>
      </p:grpSp>
      <p:grpSp>
        <p:nvGrpSpPr>
          <p:cNvPr id="38" name="그룹 37"/>
          <p:cNvGrpSpPr/>
          <p:nvPr/>
        </p:nvGrpSpPr>
        <p:grpSpPr>
          <a:xfrm>
            <a:off x="12206851" y="2924663"/>
            <a:ext cx="1358967" cy="366270"/>
            <a:chOff x="4198653" y="1428231"/>
            <a:chExt cx="1358967" cy="366270"/>
          </a:xfrm>
        </p:grpSpPr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903DC0D1-2844-2E76-2869-CDF6EC90CD6B}"/>
                </a:ext>
              </a:extLst>
            </p:cNvPr>
            <p:cNvGrpSpPr/>
            <p:nvPr/>
          </p:nvGrpSpPr>
          <p:grpSpPr>
            <a:xfrm>
              <a:off x="4198653" y="1428231"/>
              <a:ext cx="1358967" cy="366270"/>
              <a:chOff x="1297144" y="160625"/>
              <a:chExt cx="1504097" cy="506340"/>
            </a:xfrm>
          </p:grpSpPr>
          <p:grpSp>
            <p:nvGrpSpPr>
              <p:cNvPr id="41" name="그룹 40">
                <a:extLst>
                  <a:ext uri="{FF2B5EF4-FFF2-40B4-BE49-F238E27FC236}">
                    <a16:creationId xmlns:a16="http://schemas.microsoft.com/office/drawing/2014/main" id="{FFF041CB-3DFC-FB41-F31E-477EE938A2AB}"/>
                  </a:ext>
                </a:extLst>
              </p:cNvPr>
              <p:cNvGrpSpPr/>
              <p:nvPr/>
            </p:nvGrpSpPr>
            <p:grpSpPr>
              <a:xfrm>
                <a:off x="1302397" y="162344"/>
                <a:ext cx="1498844" cy="504621"/>
                <a:chOff x="540680" y="1745400"/>
                <a:chExt cx="1498844" cy="504621"/>
              </a:xfrm>
            </p:grpSpPr>
            <p:sp>
              <p:nvSpPr>
                <p:cNvPr id="43" name="모서리가 둥근 직사각형 240">
                  <a:extLst>
                    <a:ext uri="{FF2B5EF4-FFF2-40B4-BE49-F238E27FC236}">
                      <a16:creationId xmlns:a16="http://schemas.microsoft.com/office/drawing/2014/main" id="{1D18C733-A5D5-311E-08E4-3FFF8CD91906}"/>
                    </a:ext>
                  </a:extLst>
                </p:cNvPr>
                <p:cNvSpPr/>
                <p:nvPr/>
              </p:nvSpPr>
              <p:spPr>
                <a:xfrm>
                  <a:off x="540680" y="1745400"/>
                  <a:ext cx="1498844" cy="50462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>
                  <a:solidFill>
                    <a:srgbClr val="595959"/>
                  </a:solidFill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맑은 고딕" panose="020F0502020204030204"/>
                    <a:ea typeface="맑은 고딕" panose="020B0503020000020004" pitchFamily="34" charset="-127"/>
                    <a:cs typeface="+mn-cs"/>
                  </a:endParaRPr>
                </a:p>
              </p:txBody>
            </p:sp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78D0A822-87C0-4959-51F2-A808B0297E82}"/>
                    </a:ext>
                  </a:extLst>
                </p:cNvPr>
                <p:cNvSpPr txBox="1"/>
                <p:nvPr/>
              </p:nvSpPr>
              <p:spPr>
                <a:xfrm>
                  <a:off x="1133416" y="1827162"/>
                  <a:ext cx="337097" cy="37938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 anchor="t">
                  <a:spAutoFit/>
                </a:bodyPr>
                <a:lstStyle>
                  <a:defPPr>
                    <a:defRPr lang="ko-KR"/>
                  </a:defPPr>
                  <a:lvl1pPr algn="r" latinLnBrk="0">
                    <a:spcAft>
                      <a:spcPts val="200"/>
                    </a:spcAft>
                    <a:defRPr sz="90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latin typeface="나눔스퀘어 Bold" panose="020B0600000101010101" pitchFamily="50" charset="-127"/>
                      <a:ea typeface="나눔스퀘어 Bold" panose="020B0600000101010101" pitchFamily="50" charset="-127"/>
                      <a:cs typeface="Arial" panose="020B0604020202020204" pitchFamily="34" charset="0"/>
                    </a:defRPr>
                  </a:lvl1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1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0" normalizeH="0" baseline="0" noProof="0" dirty="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나눔스퀘어 ExtraBold" panose="020B0600000101010101" pitchFamily="50" charset="-127"/>
                      <a:ea typeface="나눔스퀘어 ExtraBold" panose="020B0600000101010101" pitchFamily="50" charset="-127"/>
                      <a:cs typeface="Arial" panose="020B0604020202020204" pitchFamily="34" charset="0"/>
                    </a:rPr>
                    <a:t>창고</a:t>
                  </a:r>
                  <a:r>
                    <a:rPr kumimoji="0" lang="en-US" altLang="ko-KR" sz="900" b="0" i="0" u="none" strike="noStrike" kern="1200" cap="none" spc="0" normalizeH="0" baseline="0" noProof="0" dirty="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나눔스퀘어 ExtraBold" panose="020B0600000101010101" pitchFamily="50" charset="-127"/>
                      <a:ea typeface="나눔스퀘어 ExtraBold" panose="020B0600000101010101" pitchFamily="50" charset="-127"/>
                      <a:cs typeface="Arial" panose="020B0604020202020204" pitchFamily="34" charset="0"/>
                    </a:rPr>
                    <a:t> 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1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ko-KR" altLang="en-US" sz="800" dirty="0">
                      <a:solidFill>
                        <a:prstClr val="black">
                          <a:lumMod val="95000"/>
                          <a:lumOff val="5000"/>
                        </a:prstClr>
                      </a:solidFill>
                      <a:latin typeface="나눔스퀘어" panose="020B0600000101010101" pitchFamily="50" charset="-127"/>
                      <a:ea typeface="나눔스퀘어" panose="020B0600000101010101" pitchFamily="50" charset="-127"/>
                    </a:rPr>
                    <a:t>시드니 </a:t>
                  </a:r>
                  <a:endParaRPr kumimoji="0" lang="en-US" altLang="ko-KR" sz="800" b="0" i="0" u="none" strike="noStrike" kern="120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95000"/>
                        <a:lumOff val="5000"/>
                      </a:prstClr>
                    </a:solidFill>
                    <a:effectLst/>
                    <a:uLnTx/>
                    <a:uFillTx/>
                    <a:latin typeface="나눔스퀘어" panose="020B0600000101010101" pitchFamily="50" charset="-127"/>
                    <a:ea typeface="나눔스퀘어" panose="020B0600000101010101" pitchFamily="50" charset="-127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42" name="양쪽 모서리가 둥근 사각형 245">
                <a:extLst>
                  <a:ext uri="{FF2B5EF4-FFF2-40B4-BE49-F238E27FC236}">
                    <a16:creationId xmlns:a16="http://schemas.microsoft.com/office/drawing/2014/main" id="{509F0944-F6B2-06A1-F123-B46488B45D27}"/>
                  </a:ext>
                </a:extLst>
              </p:cNvPr>
              <p:cNvSpPr/>
              <p:nvPr/>
            </p:nvSpPr>
            <p:spPr>
              <a:xfrm rot="16200000">
                <a:off x="1318613" y="139156"/>
                <a:ext cx="502648" cy="545586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595959"/>
              </a:solidFill>
              <a:ln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</p:grpSp>
        <p:pic>
          <p:nvPicPr>
            <p:cNvPr id="40" name="Picture 9"/>
            <p:cNvPicPr>
              <a:picLocks noChangeAspect="1" noChangeArrowheads="1"/>
            </p:cNvPicPr>
            <p:nvPr/>
          </p:nvPicPr>
          <p:blipFill>
            <a:blip r:embed="rId5" cstate="print"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4326389" y="1439165"/>
              <a:ext cx="314449" cy="3144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5" name="그룹 44"/>
          <p:cNvGrpSpPr/>
          <p:nvPr/>
        </p:nvGrpSpPr>
        <p:grpSpPr>
          <a:xfrm>
            <a:off x="11676001" y="4289624"/>
            <a:ext cx="359282" cy="360000"/>
            <a:chOff x="4825263" y="5286022"/>
            <a:chExt cx="359282" cy="360000"/>
          </a:xfrm>
        </p:grpSpPr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542CD452-5C90-A645-C41E-92985823D5AB}"/>
                </a:ext>
              </a:extLst>
            </p:cNvPr>
            <p:cNvSpPr/>
            <p:nvPr/>
          </p:nvSpPr>
          <p:spPr>
            <a:xfrm>
              <a:off x="4943010" y="5418280"/>
              <a:ext cx="134360" cy="134360"/>
            </a:xfrm>
            <a:prstGeom prst="ellipse">
              <a:avLst/>
            </a:prstGeom>
            <a:gradFill flip="none" rotWithShape="1">
              <a:gsLst>
                <a:gs pos="7000">
                  <a:schemeClr val="bg1">
                    <a:alpha val="66000"/>
                  </a:schemeClr>
                </a:gs>
                <a:gs pos="52000">
                  <a:schemeClr val="bg1">
                    <a:alpha val="1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DS Sans Light" panose="020B0000000101010101" pitchFamily="50" charset="-127"/>
                <a:ea typeface="SDS Sans Light" panose="020B0000000101010101" pitchFamily="50" charset="-127"/>
                <a:cs typeface="+mn-cs"/>
              </a:endParaRPr>
            </a:p>
          </p:txBody>
        </p:sp>
        <p:pic>
          <p:nvPicPr>
            <p:cNvPr id="47" name="그림 46">
              <a:extLst>
                <a:ext uri="{FF2B5EF4-FFF2-40B4-BE49-F238E27FC236}">
                  <a16:creationId xmlns:a16="http://schemas.microsoft.com/office/drawing/2014/main" id="{F2833673-A28D-2D48-61F6-61123920710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825263" y="5286022"/>
              <a:ext cx="359282" cy="360000"/>
            </a:xfrm>
            <a:prstGeom prst="rect">
              <a:avLst/>
            </a:prstGeom>
          </p:spPr>
        </p:pic>
      </p:grp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1D546F33-92D6-00E3-B1CC-E4125B7B2135}"/>
              </a:ext>
            </a:extLst>
          </p:cNvPr>
          <p:cNvCxnSpPr/>
          <p:nvPr/>
        </p:nvCxnSpPr>
        <p:spPr>
          <a:xfrm>
            <a:off x="11854602" y="3646582"/>
            <a:ext cx="181150" cy="0"/>
          </a:xfrm>
          <a:prstGeom prst="line">
            <a:avLst/>
          </a:prstGeom>
          <a:noFill/>
          <a:ln w="12700" cap="rnd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0E631153-E2CC-C2CC-B042-239F0D955FF6}"/>
              </a:ext>
            </a:extLst>
          </p:cNvPr>
          <p:cNvGrpSpPr/>
          <p:nvPr/>
        </p:nvGrpSpPr>
        <p:grpSpPr>
          <a:xfrm>
            <a:off x="11904478" y="3355218"/>
            <a:ext cx="1659005" cy="504658"/>
            <a:chOff x="5127389" y="3936715"/>
            <a:chExt cx="1863220" cy="640047"/>
          </a:xfrm>
        </p:grpSpPr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F2CDE7B6-4B38-E131-774A-E5DBD342CC9F}"/>
                </a:ext>
              </a:extLst>
            </p:cNvPr>
            <p:cNvGrpSpPr/>
            <p:nvPr/>
          </p:nvGrpSpPr>
          <p:grpSpPr>
            <a:xfrm>
              <a:off x="5130764" y="3936715"/>
              <a:ext cx="1859845" cy="639210"/>
              <a:chOff x="540679" y="1745400"/>
              <a:chExt cx="1859845" cy="639210"/>
            </a:xfrm>
          </p:grpSpPr>
          <p:sp>
            <p:nvSpPr>
              <p:cNvPr id="54" name="모서리가 둥근 직사각형 160">
                <a:extLst>
                  <a:ext uri="{FF2B5EF4-FFF2-40B4-BE49-F238E27FC236}">
                    <a16:creationId xmlns:a16="http://schemas.microsoft.com/office/drawing/2014/main" id="{CA4A6E8C-AF23-211E-7896-562C95BA8FB9}"/>
                  </a:ext>
                </a:extLst>
              </p:cNvPr>
              <p:cNvSpPr/>
              <p:nvPr/>
            </p:nvSpPr>
            <p:spPr>
              <a:xfrm>
                <a:off x="540679" y="1745400"/>
                <a:ext cx="1859845" cy="63921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solidFill>
                  <a:srgbClr val="1428A0"/>
                </a:solidFill>
              </a:ln>
              <a:effectLst>
                <a:outerShdw blurRad="1270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51EA1B03-7BD3-B12A-BBE2-623E0D63DFAD}"/>
                  </a:ext>
                </a:extLst>
              </p:cNvPr>
              <p:cNvSpPr txBox="1"/>
              <p:nvPr/>
            </p:nvSpPr>
            <p:spPr>
              <a:xfrm>
                <a:off x="1241751" y="1825092"/>
                <a:ext cx="410474" cy="45540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>
                <a:defPPr>
                  <a:defRPr lang="ko-KR"/>
                </a:defPPr>
                <a:lvl1pPr algn="r" latinLnBrk="0">
                  <a:spcAft>
                    <a:spcPts val="200"/>
                  </a:spcAft>
                  <a:defRPr sz="90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  <a:cs typeface="Arial" panose="020B0604020202020204" pitchFamily="34" charset="0"/>
                  </a:defRPr>
                </a:lvl1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ExtraBold" panose="020B0600000101010101" pitchFamily="50" charset="-127"/>
                    <a:ea typeface="나눔스퀘어 ExtraBold" panose="020B0600000101010101" pitchFamily="50" charset="-127"/>
                    <a:cs typeface="Arial" panose="020B0604020202020204" pitchFamily="34" charset="0"/>
                  </a:rPr>
                  <a:t>호주</a:t>
                </a:r>
                <a:endParaRPr kumimoji="0" lang="en-US" altLang="ko-KR" sz="1200" b="0" i="0" u="none" strike="noStrike" kern="120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 ExtraBold" panose="020B0600000101010101" pitchFamily="50" charset="-127"/>
                  <a:ea typeface="나눔스퀘어 ExtraBold" panose="020B0600000101010101" pitchFamily="50" charset="-127"/>
                  <a:cs typeface="Arial" panose="020B0604020202020204" pitchFamily="34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50" b="0" i="0" u="none" strike="noStrike" kern="120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95000"/>
                        <a:lumOff val="5000"/>
                      </a:prstClr>
                    </a:solidFill>
                    <a:effectLst/>
                    <a:uLnTx/>
                    <a:uFillTx/>
                    <a:latin typeface="나눔스퀘어" panose="020B0600000101010101" pitchFamily="50" charset="-127"/>
                    <a:ea typeface="나눔스퀘어" panose="020B0600000101010101" pitchFamily="50" charset="-127"/>
                    <a:cs typeface="Arial" panose="020B0604020202020204" pitchFamily="34" charset="0"/>
                  </a:rPr>
                  <a:t>시드니</a:t>
                </a:r>
                <a:endParaRPr kumimoji="0" lang="en-US" altLang="ko-KR" sz="1050" b="0" i="0" u="none" strike="noStrike" kern="120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51" name="그룹 50">
              <a:extLst>
                <a:ext uri="{FF2B5EF4-FFF2-40B4-BE49-F238E27FC236}">
                  <a16:creationId xmlns:a16="http://schemas.microsoft.com/office/drawing/2014/main" id="{255644A2-2BA3-0256-5E23-5855A502D2BA}"/>
                </a:ext>
              </a:extLst>
            </p:cNvPr>
            <p:cNvGrpSpPr/>
            <p:nvPr/>
          </p:nvGrpSpPr>
          <p:grpSpPr>
            <a:xfrm>
              <a:off x="5127389" y="3937551"/>
              <a:ext cx="614558" cy="639211"/>
              <a:chOff x="4797177" y="1799165"/>
              <a:chExt cx="614558" cy="639211"/>
            </a:xfrm>
          </p:grpSpPr>
          <p:sp>
            <p:nvSpPr>
              <p:cNvPr id="52" name="양쪽 모서리가 둥근 사각형 272">
                <a:extLst>
                  <a:ext uri="{FF2B5EF4-FFF2-40B4-BE49-F238E27FC236}">
                    <a16:creationId xmlns:a16="http://schemas.microsoft.com/office/drawing/2014/main" id="{55CB5CE9-6FC0-DBC9-2812-5A8F83426042}"/>
                  </a:ext>
                </a:extLst>
              </p:cNvPr>
              <p:cNvSpPr/>
              <p:nvPr/>
            </p:nvSpPr>
            <p:spPr>
              <a:xfrm rot="16200000">
                <a:off x="4784850" y="1811492"/>
                <a:ext cx="639211" cy="614558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1428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  <p:pic>
            <p:nvPicPr>
              <p:cNvPr id="53" name="그림 52">
                <a:extLst>
                  <a:ext uri="{FF2B5EF4-FFF2-40B4-BE49-F238E27FC236}">
                    <a16:creationId xmlns:a16="http://schemas.microsoft.com/office/drawing/2014/main" id="{51851F0A-BBBC-C203-AED8-C852509D58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4890441" y="1871860"/>
                <a:ext cx="465351" cy="465352"/>
              </a:xfrm>
              <a:prstGeom prst="rect">
                <a:avLst/>
              </a:prstGeom>
            </p:spPr>
          </p:pic>
        </p:grpSp>
      </p:grpSp>
      <p:grpSp>
        <p:nvGrpSpPr>
          <p:cNvPr id="56" name="그룹 55"/>
          <p:cNvGrpSpPr/>
          <p:nvPr/>
        </p:nvGrpSpPr>
        <p:grpSpPr>
          <a:xfrm>
            <a:off x="12205634" y="3960112"/>
            <a:ext cx="1358967" cy="366270"/>
            <a:chOff x="4198653" y="1428231"/>
            <a:chExt cx="1358967" cy="366270"/>
          </a:xfrm>
        </p:grpSpPr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903DC0D1-2844-2E76-2869-CDF6EC90CD6B}"/>
                </a:ext>
              </a:extLst>
            </p:cNvPr>
            <p:cNvGrpSpPr/>
            <p:nvPr/>
          </p:nvGrpSpPr>
          <p:grpSpPr>
            <a:xfrm>
              <a:off x="4198653" y="1428231"/>
              <a:ext cx="1358967" cy="366270"/>
              <a:chOff x="1297144" y="160625"/>
              <a:chExt cx="1504097" cy="506340"/>
            </a:xfrm>
          </p:grpSpPr>
          <p:grpSp>
            <p:nvGrpSpPr>
              <p:cNvPr id="59" name="그룹 58">
                <a:extLst>
                  <a:ext uri="{FF2B5EF4-FFF2-40B4-BE49-F238E27FC236}">
                    <a16:creationId xmlns:a16="http://schemas.microsoft.com/office/drawing/2014/main" id="{FFF041CB-3DFC-FB41-F31E-477EE938A2AB}"/>
                  </a:ext>
                </a:extLst>
              </p:cNvPr>
              <p:cNvGrpSpPr/>
              <p:nvPr/>
            </p:nvGrpSpPr>
            <p:grpSpPr>
              <a:xfrm>
                <a:off x="1302397" y="162344"/>
                <a:ext cx="1498844" cy="504621"/>
                <a:chOff x="540680" y="1745400"/>
                <a:chExt cx="1498844" cy="504621"/>
              </a:xfrm>
            </p:grpSpPr>
            <p:sp>
              <p:nvSpPr>
                <p:cNvPr id="61" name="모서리가 둥근 직사각형 240">
                  <a:extLst>
                    <a:ext uri="{FF2B5EF4-FFF2-40B4-BE49-F238E27FC236}">
                      <a16:creationId xmlns:a16="http://schemas.microsoft.com/office/drawing/2014/main" id="{1D18C733-A5D5-311E-08E4-3FFF8CD91906}"/>
                    </a:ext>
                  </a:extLst>
                </p:cNvPr>
                <p:cNvSpPr/>
                <p:nvPr/>
              </p:nvSpPr>
              <p:spPr>
                <a:xfrm>
                  <a:off x="540680" y="1745400"/>
                  <a:ext cx="1498844" cy="50462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>
                  <a:solidFill>
                    <a:srgbClr val="595959"/>
                  </a:solidFill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맑은 고딕" panose="020F0502020204030204"/>
                    <a:ea typeface="맑은 고딕" panose="020B0503020000020004" pitchFamily="34" charset="-127"/>
                    <a:cs typeface="+mn-cs"/>
                  </a:endParaRPr>
                </a:p>
              </p:txBody>
            </p:sp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78D0A822-87C0-4959-51F2-A808B0297E82}"/>
                    </a:ext>
                  </a:extLst>
                </p:cNvPr>
                <p:cNvSpPr txBox="1"/>
                <p:nvPr/>
              </p:nvSpPr>
              <p:spPr>
                <a:xfrm>
                  <a:off x="1133416" y="1827162"/>
                  <a:ext cx="411613" cy="37938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 anchor="t">
                  <a:spAutoFit/>
                </a:bodyPr>
                <a:lstStyle>
                  <a:defPPr>
                    <a:defRPr lang="ko-KR"/>
                  </a:defPPr>
                  <a:lvl1pPr algn="r" latinLnBrk="0">
                    <a:spcAft>
                      <a:spcPts val="200"/>
                    </a:spcAft>
                    <a:defRPr sz="90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latin typeface="나눔스퀘어 Bold" panose="020B0600000101010101" pitchFamily="50" charset="-127"/>
                      <a:ea typeface="나눔스퀘어 Bold" panose="020B0600000101010101" pitchFamily="50" charset="-127"/>
                      <a:cs typeface="Arial" panose="020B0604020202020204" pitchFamily="34" charset="0"/>
                    </a:defRPr>
                  </a:lvl1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1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0" normalizeH="0" baseline="0" noProof="0" dirty="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나눔스퀘어 ExtraBold" panose="020B0600000101010101" pitchFamily="50" charset="-127"/>
                      <a:ea typeface="나눔스퀘어 ExtraBold" panose="020B0600000101010101" pitchFamily="50" charset="-127"/>
                      <a:cs typeface="Arial" panose="020B0604020202020204" pitchFamily="34" charset="0"/>
                    </a:rPr>
                    <a:t>창고</a:t>
                  </a:r>
                  <a:r>
                    <a:rPr kumimoji="0" lang="en-US" altLang="ko-KR" sz="900" b="0" i="0" u="none" strike="noStrike" kern="1200" cap="none" spc="0" normalizeH="0" baseline="0" noProof="0" dirty="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나눔스퀘어 ExtraBold" panose="020B0600000101010101" pitchFamily="50" charset="-127"/>
                      <a:ea typeface="나눔스퀘어 ExtraBold" panose="020B0600000101010101" pitchFamily="50" charset="-127"/>
                      <a:cs typeface="Arial" panose="020B0604020202020204" pitchFamily="34" charset="0"/>
                    </a:rPr>
                    <a:t> 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1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800" b="0" i="0" u="none" strike="noStrike" kern="1200" cap="none" spc="0" normalizeH="0" baseline="0" noProof="0" dirty="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prstClr val="black">
                          <a:lumMod val="95000"/>
                          <a:lumOff val="5000"/>
                        </a:prstClr>
                      </a:solidFill>
                      <a:effectLst/>
                      <a:uLnTx/>
                      <a:uFillTx/>
                      <a:latin typeface="나눔스퀘어" panose="020B0600000101010101" pitchFamily="50" charset="-127"/>
                      <a:ea typeface="나눔스퀘어" panose="020B0600000101010101" pitchFamily="50" charset="-127"/>
                      <a:cs typeface="Arial" panose="020B0604020202020204" pitchFamily="34" charset="0"/>
                    </a:rPr>
                    <a:t>브리즈번</a:t>
                  </a:r>
                  <a:endParaRPr kumimoji="0" lang="en-US" altLang="ko-KR" sz="800" b="0" i="0" u="none" strike="noStrike" kern="120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95000"/>
                        <a:lumOff val="5000"/>
                      </a:prstClr>
                    </a:solidFill>
                    <a:effectLst/>
                    <a:uLnTx/>
                    <a:uFillTx/>
                    <a:latin typeface="나눔스퀘어" panose="020B0600000101010101" pitchFamily="50" charset="-127"/>
                    <a:ea typeface="나눔스퀘어" panose="020B0600000101010101" pitchFamily="50" charset="-127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60" name="양쪽 모서리가 둥근 사각형 245">
                <a:extLst>
                  <a:ext uri="{FF2B5EF4-FFF2-40B4-BE49-F238E27FC236}">
                    <a16:creationId xmlns:a16="http://schemas.microsoft.com/office/drawing/2014/main" id="{509F0944-F6B2-06A1-F123-B46488B45D27}"/>
                  </a:ext>
                </a:extLst>
              </p:cNvPr>
              <p:cNvSpPr/>
              <p:nvPr/>
            </p:nvSpPr>
            <p:spPr>
              <a:xfrm rot="16200000">
                <a:off x="1318613" y="139156"/>
                <a:ext cx="502648" cy="545586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595959"/>
              </a:solidFill>
              <a:ln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</p:grpSp>
        <p:pic>
          <p:nvPicPr>
            <p:cNvPr id="58" name="Picture 9"/>
            <p:cNvPicPr>
              <a:picLocks noChangeAspect="1" noChangeArrowheads="1"/>
            </p:cNvPicPr>
            <p:nvPr/>
          </p:nvPicPr>
          <p:blipFill>
            <a:blip r:embed="rId5" cstate="print"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4326389" y="1439165"/>
              <a:ext cx="314449" cy="3144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63" name="TextBox 62"/>
          <p:cNvSpPr txBox="1"/>
          <p:nvPr/>
        </p:nvSpPr>
        <p:spPr>
          <a:xfrm>
            <a:off x="7975598" y="1126403"/>
            <a:ext cx="964594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/>
              <a:t>국문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975598" y="1710133"/>
            <a:ext cx="5587885" cy="461665"/>
          </a:xfrm>
          <a:prstGeom prst="wedgeRectCallout">
            <a:avLst>
              <a:gd name="adj1" fmla="val -97345"/>
              <a:gd name="adj2" fmla="val 182557"/>
            </a:avLst>
          </a:prstGeom>
          <a:solidFill>
            <a:srgbClr val="FFFF00"/>
          </a:solidFill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latinLnBrk="0">
              <a:spcAft>
                <a:spcPts val="400"/>
              </a:spcAft>
              <a:defRPr sz="1500">
                <a:ln>
                  <a:solidFill>
                    <a:prstClr val="white">
                      <a:alpha val="0"/>
                    </a:prstClr>
                  </a:solidFill>
                </a:ln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defRPr>
            </a:lvl1pPr>
          </a:lstStyle>
          <a:p>
            <a:pPr lvl="0">
              <a:defRPr/>
            </a:pPr>
            <a:r>
              <a:rPr lang="ko-KR" altLang="en-US" dirty="0">
                <a:solidFill>
                  <a:prstClr val="black"/>
                </a:solidFill>
              </a:rPr>
              <a:t>삼성</a:t>
            </a:r>
            <a:r>
              <a:rPr lang="en-US" altLang="ko-KR" dirty="0">
                <a:solidFill>
                  <a:prstClr val="black"/>
                </a:solidFill>
              </a:rPr>
              <a:t>SDS </a:t>
            </a:r>
            <a:r>
              <a:rPr lang="ko-KR" altLang="en-US" dirty="0">
                <a:solidFill>
                  <a:prstClr val="black"/>
                </a:solidFill>
              </a:rPr>
              <a:t>호주는 고객과 최종 소비자까지 만족시키는 최적화된 </a:t>
            </a:r>
            <a:r>
              <a:rPr lang="ko-KR" altLang="en-US" dirty="0" err="1">
                <a:solidFill>
                  <a:prstClr val="black"/>
                </a:solidFill>
              </a:rPr>
              <a:t>공급망</a:t>
            </a:r>
            <a:r>
              <a:rPr lang="ko-KR" altLang="en-US" dirty="0">
                <a:solidFill>
                  <a:prstClr val="black"/>
                </a:solidFill>
              </a:rPr>
              <a:t> 솔루션과 다각적인 물류 서비스를 제공하고 있습니다</a:t>
            </a:r>
            <a:r>
              <a:rPr lang="en-US" altLang="ko-KR" dirty="0">
                <a:solidFill>
                  <a:prstClr val="black"/>
                </a:solidFill>
              </a:rPr>
              <a:t>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3938248" y="1126403"/>
            <a:ext cx="964594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/>
              <a:t>영문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286640" y="872196"/>
            <a:ext cx="3765071" cy="276999"/>
          </a:xfrm>
          <a:prstGeom prst="wedgeRectCallout">
            <a:avLst>
              <a:gd name="adj1" fmla="val -23363"/>
              <a:gd name="adj2" fmla="val 293380"/>
            </a:avLst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1200" dirty="0" err="1"/>
              <a:t>해당부분</a:t>
            </a:r>
            <a:r>
              <a:rPr lang="en-US" altLang="ko-KR" sz="1200" dirty="0"/>
              <a:t>, </a:t>
            </a:r>
            <a:r>
              <a:rPr lang="ko-KR" altLang="en-US" sz="1200" dirty="0"/>
              <a:t>국문만 </a:t>
            </a:r>
            <a:r>
              <a:rPr lang="ko-KR" altLang="en-US" sz="1200" dirty="0" err="1"/>
              <a:t>반영부탁드립니다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pic>
        <p:nvPicPr>
          <p:cNvPr id="67" name="Picture 2">
            <a:extLst>
              <a:ext uri="{FF2B5EF4-FFF2-40B4-BE49-F238E27FC236}">
                <a16:creationId xmlns:a16="http://schemas.microsoft.com/office/drawing/2014/main" id="{66DE5BFF-387F-B4CF-BD09-AE05D18FF9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screen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3953181" y="2637556"/>
            <a:ext cx="5137932" cy="4220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8" name="그룹 74"/>
          <p:cNvGrpSpPr/>
          <p:nvPr/>
        </p:nvGrpSpPr>
        <p:grpSpPr>
          <a:xfrm>
            <a:off x="13953988" y="4195075"/>
            <a:ext cx="1358967" cy="369977"/>
            <a:chOff x="4198653" y="1429475"/>
            <a:chExt cx="1358967" cy="369977"/>
          </a:xfrm>
        </p:grpSpPr>
        <p:grpSp>
          <p:nvGrpSpPr>
            <p:cNvPr id="69" name="그룹 75">
              <a:extLst>
                <a:ext uri="{FF2B5EF4-FFF2-40B4-BE49-F238E27FC236}">
                  <a16:creationId xmlns:a16="http://schemas.microsoft.com/office/drawing/2014/main" id="{903DC0D1-2844-2E76-2869-CDF6EC90CD6B}"/>
                </a:ext>
              </a:extLst>
            </p:cNvPr>
            <p:cNvGrpSpPr/>
            <p:nvPr/>
          </p:nvGrpSpPr>
          <p:grpSpPr>
            <a:xfrm>
              <a:off x="4198653" y="1429475"/>
              <a:ext cx="1358967" cy="369977"/>
              <a:chOff x="1297144" y="162344"/>
              <a:chExt cx="1504097" cy="511464"/>
            </a:xfrm>
          </p:grpSpPr>
          <p:grpSp>
            <p:nvGrpSpPr>
              <p:cNvPr id="71" name="그룹 78">
                <a:extLst>
                  <a:ext uri="{FF2B5EF4-FFF2-40B4-BE49-F238E27FC236}">
                    <a16:creationId xmlns:a16="http://schemas.microsoft.com/office/drawing/2014/main" id="{FFF041CB-3DFC-FB41-F31E-477EE938A2AB}"/>
                  </a:ext>
                </a:extLst>
              </p:cNvPr>
              <p:cNvGrpSpPr/>
              <p:nvPr/>
            </p:nvGrpSpPr>
            <p:grpSpPr>
              <a:xfrm>
                <a:off x="1302397" y="162344"/>
                <a:ext cx="1498844" cy="504621"/>
                <a:chOff x="540680" y="1745400"/>
                <a:chExt cx="1498844" cy="504621"/>
              </a:xfrm>
            </p:grpSpPr>
            <p:sp>
              <p:nvSpPr>
                <p:cNvPr id="73" name="모서리가 둥근 직사각형 240">
                  <a:extLst>
                    <a:ext uri="{FF2B5EF4-FFF2-40B4-BE49-F238E27FC236}">
                      <a16:creationId xmlns:a16="http://schemas.microsoft.com/office/drawing/2014/main" id="{1D18C733-A5D5-311E-08E4-3FFF8CD91906}"/>
                    </a:ext>
                  </a:extLst>
                </p:cNvPr>
                <p:cNvSpPr/>
                <p:nvPr/>
              </p:nvSpPr>
              <p:spPr>
                <a:xfrm>
                  <a:off x="540680" y="1745400"/>
                  <a:ext cx="1498844" cy="50462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>
                  <a:solidFill>
                    <a:srgbClr val="595959"/>
                  </a:solidFill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맑은 고딕" panose="020F0502020204030204"/>
                    <a:ea typeface="맑은 고딕" panose="020B0503020000020004" pitchFamily="34" charset="-127"/>
                    <a:cs typeface="+mn-cs"/>
                  </a:endParaRPr>
                </a:p>
              </p:txBody>
            </p:sp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78D0A822-87C0-4959-51F2-A808B0297E82}"/>
                    </a:ext>
                  </a:extLst>
                </p:cNvPr>
                <p:cNvSpPr txBox="1"/>
                <p:nvPr/>
              </p:nvSpPr>
              <p:spPr>
                <a:xfrm>
                  <a:off x="1133416" y="1827162"/>
                  <a:ext cx="809032" cy="3900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 anchor="t">
                  <a:spAutoFit/>
                </a:bodyPr>
                <a:lstStyle>
                  <a:defPPr>
                    <a:defRPr lang="ko-KR"/>
                  </a:defPPr>
                  <a:lvl1pPr algn="r" latinLnBrk="0">
                    <a:spcAft>
                      <a:spcPts val="200"/>
                    </a:spcAft>
                    <a:defRPr sz="90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latin typeface="나눔스퀘어 Bold" panose="020B0600000101010101" pitchFamily="50" charset="-127"/>
                      <a:ea typeface="나눔스퀘어 Bold" panose="020B0600000101010101" pitchFamily="50" charset="-127"/>
                      <a:cs typeface="Arial" panose="020B0604020202020204" pitchFamily="34" charset="0"/>
                    </a:defRPr>
                  </a:lvl1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1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050" b="1" i="0" u="none" strike="noStrike" kern="1200" cap="none" spc="0" normalizeH="0" baseline="0" noProof="0" dirty="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prstClr val="black">
                          <a:lumMod val="95000"/>
                          <a:lumOff val="5000"/>
                        </a:prstClr>
                      </a:solidFill>
                      <a:effectLst/>
                      <a:uLnTx/>
                      <a:uFillTx/>
                      <a:latin typeface="SDS Sans  Medium" panose="020B0000000101010101" pitchFamily="50" charset="-127"/>
                      <a:ea typeface="SDS Sans  Bold"/>
                      <a:cs typeface="Arial" panose="020B0604020202020204" pitchFamily="34" charset="0"/>
                    </a:rPr>
                    <a:t>Warehouse 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1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altLang="ko-KR" sz="700" noProof="0" dirty="0">
                      <a:solidFill>
                        <a:prstClr val="black">
                          <a:lumMod val="95000"/>
                          <a:lumOff val="5000"/>
                        </a:prstClr>
                      </a:solidFill>
                      <a:latin typeface="SDS Sans  Regular" panose="020B0600000101010101" charset="-127"/>
                      <a:ea typeface="SDS Sans  Regular" panose="020B0600000101010101" charset="-127"/>
                    </a:rPr>
                    <a:t>Perth</a:t>
                  </a:r>
                  <a:endParaRPr kumimoji="0" lang="en-US" altLang="ko-KR" sz="700" b="0" i="0" u="none" strike="noStrike" kern="120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95000"/>
                        <a:lumOff val="5000"/>
                      </a:prstClr>
                    </a:solidFill>
                    <a:effectLst/>
                    <a:uLnTx/>
                    <a:uFillTx/>
                    <a:latin typeface="SDS Sans  Regular" panose="020B0600000101010101" charset="-127"/>
                    <a:ea typeface="SDS Sans  Regular" panose="020B0600000101010101" charset="-127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72" name="양쪽 모서리가 둥근 사각형 245">
                <a:extLst>
                  <a:ext uri="{FF2B5EF4-FFF2-40B4-BE49-F238E27FC236}">
                    <a16:creationId xmlns:a16="http://schemas.microsoft.com/office/drawing/2014/main" id="{509F0944-F6B2-06A1-F123-B46488B45D27}"/>
                  </a:ext>
                </a:extLst>
              </p:cNvPr>
              <p:cNvSpPr/>
              <p:nvPr/>
            </p:nvSpPr>
            <p:spPr>
              <a:xfrm rot="16200000">
                <a:off x="1315141" y="146219"/>
                <a:ext cx="509592" cy="545586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595959"/>
              </a:solidFill>
              <a:ln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</p:grpSp>
        <p:pic>
          <p:nvPicPr>
            <p:cNvPr id="70" name="Picture 9"/>
            <p:cNvPicPr>
              <a:picLocks noChangeAspect="1" noChangeArrowheads="1"/>
            </p:cNvPicPr>
            <p:nvPr/>
          </p:nvPicPr>
          <p:blipFill>
            <a:blip r:embed="rId5" cstate="screen"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4326389" y="1439165"/>
              <a:ext cx="314449" cy="3144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75" name="그룹 82"/>
          <p:cNvGrpSpPr/>
          <p:nvPr/>
        </p:nvGrpSpPr>
        <p:grpSpPr>
          <a:xfrm>
            <a:off x="15533135" y="3840884"/>
            <a:ext cx="359282" cy="360000"/>
            <a:chOff x="4825263" y="5286022"/>
            <a:chExt cx="359282" cy="360000"/>
          </a:xfrm>
        </p:grpSpPr>
        <p:sp>
          <p:nvSpPr>
            <p:cNvPr id="76" name="타원 83">
              <a:extLst>
                <a:ext uri="{FF2B5EF4-FFF2-40B4-BE49-F238E27FC236}">
                  <a16:creationId xmlns:a16="http://schemas.microsoft.com/office/drawing/2014/main" id="{542CD452-5C90-A645-C41E-92985823D5AB}"/>
                </a:ext>
              </a:extLst>
            </p:cNvPr>
            <p:cNvSpPr/>
            <p:nvPr/>
          </p:nvSpPr>
          <p:spPr>
            <a:xfrm>
              <a:off x="4943010" y="5418280"/>
              <a:ext cx="134360" cy="134360"/>
            </a:xfrm>
            <a:prstGeom prst="ellipse">
              <a:avLst/>
            </a:prstGeom>
            <a:gradFill flip="none" rotWithShape="1">
              <a:gsLst>
                <a:gs pos="7000">
                  <a:schemeClr val="bg1">
                    <a:alpha val="66000"/>
                  </a:schemeClr>
                </a:gs>
                <a:gs pos="52000">
                  <a:schemeClr val="bg1">
                    <a:alpha val="1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DS Sans Light" panose="020B0000000101010101" pitchFamily="50" charset="-127"/>
                <a:ea typeface="SDS Sans Light" panose="020B0000000101010101" pitchFamily="50" charset="-127"/>
                <a:cs typeface="+mn-cs"/>
              </a:endParaRPr>
            </a:p>
          </p:txBody>
        </p:sp>
        <p:pic>
          <p:nvPicPr>
            <p:cNvPr id="77" name="그림 101">
              <a:extLst>
                <a:ext uri="{FF2B5EF4-FFF2-40B4-BE49-F238E27FC236}">
                  <a16:creationId xmlns:a16="http://schemas.microsoft.com/office/drawing/2014/main" id="{F2833673-A28D-2D48-61F6-61123920710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825263" y="5286022"/>
              <a:ext cx="359282" cy="360000"/>
            </a:xfrm>
            <a:prstGeom prst="rect">
              <a:avLst/>
            </a:prstGeom>
          </p:spPr>
        </p:pic>
      </p:grpSp>
      <p:cxnSp>
        <p:nvCxnSpPr>
          <p:cNvPr id="78" name="직선 연결선 102">
            <a:extLst>
              <a:ext uri="{FF2B5EF4-FFF2-40B4-BE49-F238E27FC236}">
                <a16:creationId xmlns:a16="http://schemas.microsoft.com/office/drawing/2014/main" id="{1D546F33-92D6-00E3-B1CC-E4125B7B2135}"/>
              </a:ext>
            </a:extLst>
          </p:cNvPr>
          <p:cNvCxnSpPr>
            <a:stCxn id="73" idx="3"/>
          </p:cNvCxnSpPr>
          <p:nvPr/>
        </p:nvCxnSpPr>
        <p:spPr>
          <a:xfrm flipV="1">
            <a:off x="15312955" y="4021221"/>
            <a:ext cx="370389" cy="356368"/>
          </a:xfrm>
          <a:prstGeom prst="line">
            <a:avLst/>
          </a:prstGeom>
          <a:noFill/>
          <a:ln w="12700" cap="rnd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1D546F33-92D6-00E3-B1CC-E4125B7B2135}"/>
              </a:ext>
            </a:extLst>
          </p:cNvPr>
          <p:cNvCxnSpPr/>
          <p:nvPr/>
        </p:nvCxnSpPr>
        <p:spPr>
          <a:xfrm flipV="1">
            <a:off x="17582113" y="3112742"/>
            <a:ext cx="0" cy="1327893"/>
          </a:xfrm>
          <a:prstGeom prst="line">
            <a:avLst/>
          </a:prstGeom>
          <a:noFill/>
          <a:ln w="12700" cap="rnd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1D546F33-92D6-00E3-B1CC-E4125B7B2135}"/>
              </a:ext>
            </a:extLst>
          </p:cNvPr>
          <p:cNvCxnSpPr/>
          <p:nvPr/>
        </p:nvCxnSpPr>
        <p:spPr>
          <a:xfrm flipH="1">
            <a:off x="17576738" y="3123330"/>
            <a:ext cx="364330" cy="4763"/>
          </a:xfrm>
          <a:prstGeom prst="line">
            <a:avLst/>
          </a:prstGeom>
          <a:noFill/>
          <a:ln w="12700" cap="rnd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1D546F33-92D6-00E3-B1CC-E4125B7B2135}"/>
              </a:ext>
            </a:extLst>
          </p:cNvPr>
          <p:cNvCxnSpPr/>
          <p:nvPr/>
        </p:nvCxnSpPr>
        <p:spPr>
          <a:xfrm>
            <a:off x="17204524" y="4825366"/>
            <a:ext cx="756000" cy="854"/>
          </a:xfrm>
          <a:prstGeom prst="line">
            <a:avLst/>
          </a:prstGeom>
          <a:noFill/>
          <a:ln w="12700" cap="rnd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82" name="그룹 81"/>
          <p:cNvGrpSpPr/>
          <p:nvPr/>
        </p:nvGrpSpPr>
        <p:grpSpPr>
          <a:xfrm>
            <a:off x="17935441" y="4656114"/>
            <a:ext cx="1358967" cy="369977"/>
            <a:chOff x="9172259" y="1532984"/>
            <a:chExt cx="1358967" cy="369977"/>
          </a:xfrm>
        </p:grpSpPr>
        <p:grpSp>
          <p:nvGrpSpPr>
            <p:cNvPr id="83" name="그룹 82">
              <a:extLst>
                <a:ext uri="{FF2B5EF4-FFF2-40B4-BE49-F238E27FC236}">
                  <a16:creationId xmlns:a16="http://schemas.microsoft.com/office/drawing/2014/main" id="{903DC0D1-2844-2E76-2869-CDF6EC90CD6B}"/>
                </a:ext>
              </a:extLst>
            </p:cNvPr>
            <p:cNvGrpSpPr/>
            <p:nvPr/>
          </p:nvGrpSpPr>
          <p:grpSpPr>
            <a:xfrm>
              <a:off x="9172259" y="1532984"/>
              <a:ext cx="1358967" cy="369977"/>
              <a:chOff x="1297144" y="162345"/>
              <a:chExt cx="1504097" cy="511463"/>
            </a:xfrm>
          </p:grpSpPr>
          <p:grpSp>
            <p:nvGrpSpPr>
              <p:cNvPr id="85" name="그룹 84">
                <a:extLst>
                  <a:ext uri="{FF2B5EF4-FFF2-40B4-BE49-F238E27FC236}">
                    <a16:creationId xmlns:a16="http://schemas.microsoft.com/office/drawing/2014/main" id="{FFF041CB-3DFC-FB41-F31E-477EE938A2AB}"/>
                  </a:ext>
                </a:extLst>
              </p:cNvPr>
              <p:cNvGrpSpPr/>
              <p:nvPr/>
            </p:nvGrpSpPr>
            <p:grpSpPr>
              <a:xfrm>
                <a:off x="1302397" y="162345"/>
                <a:ext cx="1498844" cy="504620"/>
                <a:chOff x="540680" y="1745401"/>
                <a:chExt cx="1498844" cy="504620"/>
              </a:xfrm>
            </p:grpSpPr>
            <p:sp>
              <p:nvSpPr>
                <p:cNvPr id="87" name="모서리가 둥근 직사각형 240">
                  <a:extLst>
                    <a:ext uri="{FF2B5EF4-FFF2-40B4-BE49-F238E27FC236}">
                      <a16:creationId xmlns:a16="http://schemas.microsoft.com/office/drawing/2014/main" id="{1D18C733-A5D5-311E-08E4-3FFF8CD91906}"/>
                    </a:ext>
                  </a:extLst>
                </p:cNvPr>
                <p:cNvSpPr/>
                <p:nvPr/>
              </p:nvSpPr>
              <p:spPr>
                <a:xfrm>
                  <a:off x="540680" y="1745401"/>
                  <a:ext cx="1498844" cy="50462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>
                  <a:solidFill>
                    <a:srgbClr val="595959"/>
                  </a:solidFill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맑은 고딕" panose="020F0502020204030204"/>
                    <a:ea typeface="맑은 고딕" panose="020B0503020000020004" pitchFamily="34" charset="-127"/>
                    <a:cs typeface="+mn-cs"/>
                  </a:endParaRPr>
                </a:p>
              </p:txBody>
            </p:sp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78D0A822-87C0-4959-51F2-A808B0297E82}"/>
                    </a:ext>
                  </a:extLst>
                </p:cNvPr>
                <p:cNvSpPr txBox="1"/>
                <p:nvPr/>
              </p:nvSpPr>
              <p:spPr>
                <a:xfrm>
                  <a:off x="1133416" y="1834538"/>
                  <a:ext cx="809032" cy="3900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 anchor="t">
                  <a:spAutoFit/>
                </a:bodyPr>
                <a:lstStyle>
                  <a:defPPr>
                    <a:defRPr lang="ko-KR"/>
                  </a:defPPr>
                  <a:lvl1pPr algn="r" latinLnBrk="0">
                    <a:spcAft>
                      <a:spcPts val="200"/>
                    </a:spcAft>
                    <a:defRPr sz="90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latin typeface="나눔스퀘어 Bold" panose="020B0600000101010101" pitchFamily="50" charset="-127"/>
                      <a:ea typeface="나눔스퀘어 Bold" panose="020B0600000101010101" pitchFamily="50" charset="-127"/>
                      <a:cs typeface="Arial" panose="020B0604020202020204" pitchFamily="34" charset="0"/>
                    </a:defRPr>
                  </a:lvl1pPr>
                </a:lstStyle>
                <a:p>
                  <a:pPr algn="l">
                    <a:spcAft>
                      <a:spcPts val="100"/>
                    </a:spcAft>
                    <a:defRPr/>
                  </a:pPr>
                  <a:r>
                    <a:rPr lang="en-US" altLang="ko-KR" sz="1050" b="1" dirty="0">
                      <a:solidFill>
                        <a:prstClr val="black">
                          <a:lumMod val="95000"/>
                          <a:lumOff val="5000"/>
                        </a:prstClr>
                      </a:solidFill>
                      <a:latin typeface="SDS Sans  Medium" panose="020B0000000101010101" pitchFamily="50" charset="-127"/>
                      <a:ea typeface="SDS Sans  Bold"/>
                    </a:rPr>
                    <a:t>Warehouse </a:t>
                  </a:r>
                </a:p>
                <a:p>
                  <a:pPr algn="l">
                    <a:spcAft>
                      <a:spcPts val="100"/>
                    </a:spcAft>
                    <a:defRPr/>
                  </a:pPr>
                  <a:r>
                    <a:rPr lang="en-US" altLang="ko-KR" sz="700" dirty="0">
                      <a:solidFill>
                        <a:prstClr val="black">
                          <a:lumMod val="95000"/>
                          <a:lumOff val="5000"/>
                        </a:prstClr>
                      </a:solidFill>
                      <a:latin typeface="SDS Sans  Regular" panose="020B0600000101010101" charset="-127"/>
                      <a:ea typeface="SDS Sans  Regular" panose="020B0600000101010101" charset="-127"/>
                    </a:rPr>
                    <a:t>Melbourne</a:t>
                  </a:r>
                </a:p>
              </p:txBody>
            </p:sp>
          </p:grpSp>
          <p:sp>
            <p:nvSpPr>
              <p:cNvPr id="86" name="양쪽 모서리가 둥근 사각형 245">
                <a:extLst>
                  <a:ext uri="{FF2B5EF4-FFF2-40B4-BE49-F238E27FC236}">
                    <a16:creationId xmlns:a16="http://schemas.microsoft.com/office/drawing/2014/main" id="{509F0944-F6B2-06A1-F123-B46488B45D27}"/>
                  </a:ext>
                </a:extLst>
              </p:cNvPr>
              <p:cNvSpPr/>
              <p:nvPr/>
            </p:nvSpPr>
            <p:spPr>
              <a:xfrm rot="16200000">
                <a:off x="1315141" y="146219"/>
                <a:ext cx="509592" cy="545586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595959"/>
              </a:solidFill>
              <a:ln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</p:grpSp>
        <p:pic>
          <p:nvPicPr>
            <p:cNvPr id="84" name="Picture 9"/>
            <p:cNvPicPr>
              <a:picLocks noChangeAspect="1" noChangeArrowheads="1"/>
            </p:cNvPicPr>
            <p:nvPr/>
          </p:nvPicPr>
          <p:blipFill>
            <a:blip r:embed="rId5" cstate="print"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9301483" y="1546881"/>
              <a:ext cx="314449" cy="3144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89" name="그룹 88"/>
          <p:cNvGrpSpPr/>
          <p:nvPr/>
        </p:nvGrpSpPr>
        <p:grpSpPr>
          <a:xfrm>
            <a:off x="17023444" y="4645365"/>
            <a:ext cx="359282" cy="360000"/>
            <a:chOff x="4825263" y="5286022"/>
            <a:chExt cx="359282" cy="360000"/>
          </a:xfrm>
        </p:grpSpPr>
        <p:sp>
          <p:nvSpPr>
            <p:cNvPr id="90" name="타원 89">
              <a:extLst>
                <a:ext uri="{FF2B5EF4-FFF2-40B4-BE49-F238E27FC236}">
                  <a16:creationId xmlns:a16="http://schemas.microsoft.com/office/drawing/2014/main" id="{542CD452-5C90-A645-C41E-92985823D5AB}"/>
                </a:ext>
              </a:extLst>
            </p:cNvPr>
            <p:cNvSpPr/>
            <p:nvPr/>
          </p:nvSpPr>
          <p:spPr>
            <a:xfrm>
              <a:off x="4943010" y="5418280"/>
              <a:ext cx="134360" cy="134360"/>
            </a:xfrm>
            <a:prstGeom prst="ellipse">
              <a:avLst/>
            </a:prstGeom>
            <a:gradFill flip="none" rotWithShape="1">
              <a:gsLst>
                <a:gs pos="7000">
                  <a:schemeClr val="bg1">
                    <a:alpha val="66000"/>
                  </a:schemeClr>
                </a:gs>
                <a:gs pos="52000">
                  <a:schemeClr val="bg1">
                    <a:alpha val="1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DS Sans Light" panose="020B0000000101010101" pitchFamily="50" charset="-127"/>
                <a:ea typeface="SDS Sans Light" panose="020B0000000101010101" pitchFamily="50" charset="-127"/>
                <a:cs typeface="+mn-cs"/>
              </a:endParaRPr>
            </a:p>
          </p:txBody>
        </p:sp>
        <p:pic>
          <p:nvPicPr>
            <p:cNvPr id="91" name="그림 90">
              <a:extLst>
                <a:ext uri="{FF2B5EF4-FFF2-40B4-BE49-F238E27FC236}">
                  <a16:creationId xmlns:a16="http://schemas.microsoft.com/office/drawing/2014/main" id="{F2833673-A28D-2D48-61F6-61123920710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825263" y="5286022"/>
              <a:ext cx="359282" cy="360000"/>
            </a:xfrm>
            <a:prstGeom prst="rect">
              <a:avLst/>
            </a:prstGeom>
          </p:spPr>
        </p:pic>
      </p:grpSp>
      <p:cxnSp>
        <p:nvCxnSpPr>
          <p:cNvPr id="92" name="직선 연결선 102">
            <a:extLst>
              <a:ext uri="{FF2B5EF4-FFF2-40B4-BE49-F238E27FC236}">
                <a16:creationId xmlns:a16="http://schemas.microsoft.com/office/drawing/2014/main" id="{1D546F33-92D6-00E3-B1CC-E4125B7B2135}"/>
              </a:ext>
            </a:extLst>
          </p:cNvPr>
          <p:cNvCxnSpPr>
            <a:stCxn id="118" idx="3"/>
          </p:cNvCxnSpPr>
          <p:nvPr/>
        </p:nvCxnSpPr>
        <p:spPr>
          <a:xfrm flipH="1" flipV="1">
            <a:off x="17690459" y="4066981"/>
            <a:ext cx="246100" cy="74930"/>
          </a:xfrm>
          <a:prstGeom prst="line">
            <a:avLst/>
          </a:prstGeom>
          <a:noFill/>
          <a:ln w="12700" cap="rnd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93" name="그룹 82"/>
          <p:cNvGrpSpPr/>
          <p:nvPr/>
        </p:nvGrpSpPr>
        <p:grpSpPr>
          <a:xfrm>
            <a:off x="17530329" y="3873764"/>
            <a:ext cx="359282" cy="360000"/>
            <a:chOff x="4825263" y="5286022"/>
            <a:chExt cx="359282" cy="360000"/>
          </a:xfrm>
        </p:grpSpPr>
        <p:sp>
          <p:nvSpPr>
            <p:cNvPr id="94" name="타원 83">
              <a:extLst>
                <a:ext uri="{FF2B5EF4-FFF2-40B4-BE49-F238E27FC236}">
                  <a16:creationId xmlns:a16="http://schemas.microsoft.com/office/drawing/2014/main" id="{542CD452-5C90-A645-C41E-92985823D5AB}"/>
                </a:ext>
              </a:extLst>
            </p:cNvPr>
            <p:cNvSpPr/>
            <p:nvPr/>
          </p:nvSpPr>
          <p:spPr>
            <a:xfrm>
              <a:off x="4943010" y="5418280"/>
              <a:ext cx="134360" cy="134360"/>
            </a:xfrm>
            <a:prstGeom prst="ellipse">
              <a:avLst/>
            </a:prstGeom>
            <a:gradFill flip="none" rotWithShape="1">
              <a:gsLst>
                <a:gs pos="7000">
                  <a:schemeClr val="bg1">
                    <a:alpha val="66000"/>
                  </a:schemeClr>
                </a:gs>
                <a:gs pos="52000">
                  <a:schemeClr val="bg1">
                    <a:alpha val="1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DS Sans Light" panose="020B0000000101010101" pitchFamily="50" charset="-127"/>
                <a:ea typeface="SDS Sans Light" panose="020B0000000101010101" pitchFamily="50" charset="-127"/>
                <a:cs typeface="+mn-cs"/>
              </a:endParaRPr>
            </a:p>
          </p:txBody>
        </p:sp>
        <p:pic>
          <p:nvPicPr>
            <p:cNvPr id="95" name="그림 101">
              <a:extLst>
                <a:ext uri="{FF2B5EF4-FFF2-40B4-BE49-F238E27FC236}">
                  <a16:creationId xmlns:a16="http://schemas.microsoft.com/office/drawing/2014/main" id="{F2833673-A28D-2D48-61F6-61123920710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825263" y="5286022"/>
              <a:ext cx="359282" cy="360000"/>
            </a:xfrm>
            <a:prstGeom prst="rect">
              <a:avLst/>
            </a:prstGeom>
          </p:spPr>
        </p:pic>
      </p:grpSp>
      <p:grpSp>
        <p:nvGrpSpPr>
          <p:cNvPr id="96" name="그룹 95"/>
          <p:cNvGrpSpPr/>
          <p:nvPr/>
        </p:nvGrpSpPr>
        <p:grpSpPr>
          <a:xfrm>
            <a:off x="17937776" y="2924663"/>
            <a:ext cx="1358967" cy="366270"/>
            <a:chOff x="4198653" y="1428231"/>
            <a:chExt cx="1358967" cy="366270"/>
          </a:xfrm>
        </p:grpSpPr>
        <p:grpSp>
          <p:nvGrpSpPr>
            <p:cNvPr id="97" name="그룹 96">
              <a:extLst>
                <a:ext uri="{FF2B5EF4-FFF2-40B4-BE49-F238E27FC236}">
                  <a16:creationId xmlns:a16="http://schemas.microsoft.com/office/drawing/2014/main" id="{903DC0D1-2844-2E76-2869-CDF6EC90CD6B}"/>
                </a:ext>
              </a:extLst>
            </p:cNvPr>
            <p:cNvGrpSpPr/>
            <p:nvPr/>
          </p:nvGrpSpPr>
          <p:grpSpPr>
            <a:xfrm>
              <a:off x="4198653" y="1428231"/>
              <a:ext cx="1358967" cy="366270"/>
              <a:chOff x="1297144" y="160625"/>
              <a:chExt cx="1504097" cy="506340"/>
            </a:xfrm>
          </p:grpSpPr>
          <p:grpSp>
            <p:nvGrpSpPr>
              <p:cNvPr id="99" name="그룹 98">
                <a:extLst>
                  <a:ext uri="{FF2B5EF4-FFF2-40B4-BE49-F238E27FC236}">
                    <a16:creationId xmlns:a16="http://schemas.microsoft.com/office/drawing/2014/main" id="{FFF041CB-3DFC-FB41-F31E-477EE938A2AB}"/>
                  </a:ext>
                </a:extLst>
              </p:cNvPr>
              <p:cNvGrpSpPr/>
              <p:nvPr/>
            </p:nvGrpSpPr>
            <p:grpSpPr>
              <a:xfrm>
                <a:off x="1302397" y="162344"/>
                <a:ext cx="1498844" cy="504621"/>
                <a:chOff x="540680" y="1745400"/>
                <a:chExt cx="1498844" cy="504621"/>
              </a:xfrm>
            </p:grpSpPr>
            <p:sp>
              <p:nvSpPr>
                <p:cNvPr id="101" name="모서리가 둥근 직사각형 240">
                  <a:extLst>
                    <a:ext uri="{FF2B5EF4-FFF2-40B4-BE49-F238E27FC236}">
                      <a16:creationId xmlns:a16="http://schemas.microsoft.com/office/drawing/2014/main" id="{1D18C733-A5D5-311E-08E4-3FFF8CD91906}"/>
                    </a:ext>
                  </a:extLst>
                </p:cNvPr>
                <p:cNvSpPr/>
                <p:nvPr/>
              </p:nvSpPr>
              <p:spPr>
                <a:xfrm>
                  <a:off x="540680" y="1745400"/>
                  <a:ext cx="1498844" cy="50462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>
                  <a:solidFill>
                    <a:srgbClr val="595959"/>
                  </a:solidFill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맑은 고딕" panose="020F0502020204030204"/>
                    <a:ea typeface="맑은 고딕" panose="020B0503020000020004" pitchFamily="34" charset="-127"/>
                    <a:cs typeface="+mn-cs"/>
                  </a:endParaRPr>
                </a:p>
              </p:txBody>
            </p:sp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78D0A822-87C0-4959-51F2-A808B0297E82}"/>
                    </a:ext>
                  </a:extLst>
                </p:cNvPr>
                <p:cNvSpPr txBox="1"/>
                <p:nvPr/>
              </p:nvSpPr>
              <p:spPr>
                <a:xfrm>
                  <a:off x="1133416" y="1827162"/>
                  <a:ext cx="809032" cy="3900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 anchor="t">
                  <a:spAutoFit/>
                </a:bodyPr>
                <a:lstStyle>
                  <a:defPPr>
                    <a:defRPr lang="ko-KR"/>
                  </a:defPPr>
                  <a:lvl1pPr algn="r" latinLnBrk="0">
                    <a:spcAft>
                      <a:spcPts val="200"/>
                    </a:spcAft>
                    <a:defRPr sz="90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latin typeface="나눔스퀘어 Bold" panose="020B0600000101010101" pitchFamily="50" charset="-127"/>
                      <a:ea typeface="나눔스퀘어 Bold" panose="020B0600000101010101" pitchFamily="50" charset="-127"/>
                      <a:cs typeface="Arial" panose="020B0604020202020204" pitchFamily="34" charset="0"/>
                    </a:defRPr>
                  </a:lvl1pPr>
                </a:lstStyle>
                <a:p>
                  <a:pPr algn="l">
                    <a:spcAft>
                      <a:spcPts val="100"/>
                    </a:spcAft>
                    <a:defRPr/>
                  </a:pPr>
                  <a:r>
                    <a:rPr lang="en-US" altLang="ko-KR" sz="1050" b="1" dirty="0">
                      <a:solidFill>
                        <a:prstClr val="black">
                          <a:lumMod val="95000"/>
                          <a:lumOff val="5000"/>
                        </a:prstClr>
                      </a:solidFill>
                      <a:latin typeface="SDS Sans  Medium" panose="020B0000000101010101" pitchFamily="50" charset="-127"/>
                      <a:ea typeface="SDS Sans  Bold"/>
                    </a:rPr>
                    <a:t>Warehouse </a:t>
                  </a:r>
                </a:p>
                <a:p>
                  <a:pPr algn="l">
                    <a:spcAft>
                      <a:spcPts val="100"/>
                    </a:spcAft>
                    <a:defRPr/>
                  </a:pPr>
                  <a:r>
                    <a:rPr lang="en-US" altLang="ko-KR" sz="700" dirty="0">
                      <a:solidFill>
                        <a:prstClr val="black">
                          <a:lumMod val="95000"/>
                          <a:lumOff val="5000"/>
                        </a:prstClr>
                      </a:solidFill>
                      <a:latin typeface="SDS Sans  Regular" panose="020B0600000101010101" charset="-127"/>
                      <a:ea typeface="SDS Sans  Regular" panose="020B0600000101010101" charset="-127"/>
                    </a:rPr>
                    <a:t>Sydney</a:t>
                  </a:r>
                </a:p>
              </p:txBody>
            </p:sp>
          </p:grpSp>
          <p:sp>
            <p:nvSpPr>
              <p:cNvPr id="100" name="양쪽 모서리가 둥근 사각형 245">
                <a:extLst>
                  <a:ext uri="{FF2B5EF4-FFF2-40B4-BE49-F238E27FC236}">
                    <a16:creationId xmlns:a16="http://schemas.microsoft.com/office/drawing/2014/main" id="{509F0944-F6B2-06A1-F123-B46488B45D27}"/>
                  </a:ext>
                </a:extLst>
              </p:cNvPr>
              <p:cNvSpPr/>
              <p:nvPr/>
            </p:nvSpPr>
            <p:spPr>
              <a:xfrm rot="16200000">
                <a:off x="1318613" y="139156"/>
                <a:ext cx="502648" cy="545586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595959"/>
              </a:solidFill>
              <a:ln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</p:grpSp>
        <p:pic>
          <p:nvPicPr>
            <p:cNvPr id="98" name="Picture 9"/>
            <p:cNvPicPr>
              <a:picLocks noChangeAspect="1" noChangeArrowheads="1"/>
            </p:cNvPicPr>
            <p:nvPr/>
          </p:nvPicPr>
          <p:blipFill>
            <a:blip r:embed="rId5" cstate="print"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4326389" y="1439165"/>
              <a:ext cx="314449" cy="3144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3" name="그룹 102"/>
          <p:cNvGrpSpPr/>
          <p:nvPr/>
        </p:nvGrpSpPr>
        <p:grpSpPr>
          <a:xfrm>
            <a:off x="17406926" y="4289624"/>
            <a:ext cx="359282" cy="360000"/>
            <a:chOff x="4825263" y="5286022"/>
            <a:chExt cx="359282" cy="360000"/>
          </a:xfrm>
        </p:grpSpPr>
        <p:sp>
          <p:nvSpPr>
            <p:cNvPr id="104" name="타원 103">
              <a:extLst>
                <a:ext uri="{FF2B5EF4-FFF2-40B4-BE49-F238E27FC236}">
                  <a16:creationId xmlns:a16="http://schemas.microsoft.com/office/drawing/2014/main" id="{542CD452-5C90-A645-C41E-92985823D5AB}"/>
                </a:ext>
              </a:extLst>
            </p:cNvPr>
            <p:cNvSpPr/>
            <p:nvPr/>
          </p:nvSpPr>
          <p:spPr>
            <a:xfrm>
              <a:off x="4943010" y="5418280"/>
              <a:ext cx="134360" cy="134360"/>
            </a:xfrm>
            <a:prstGeom prst="ellipse">
              <a:avLst/>
            </a:prstGeom>
            <a:gradFill flip="none" rotWithShape="1">
              <a:gsLst>
                <a:gs pos="7000">
                  <a:schemeClr val="bg1">
                    <a:alpha val="66000"/>
                  </a:schemeClr>
                </a:gs>
                <a:gs pos="52000">
                  <a:schemeClr val="bg1">
                    <a:alpha val="1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DS Sans Light" panose="020B0000000101010101" pitchFamily="50" charset="-127"/>
                <a:ea typeface="SDS Sans Light" panose="020B0000000101010101" pitchFamily="50" charset="-127"/>
                <a:cs typeface="+mn-cs"/>
              </a:endParaRPr>
            </a:p>
          </p:txBody>
        </p:sp>
        <p:pic>
          <p:nvPicPr>
            <p:cNvPr id="105" name="그림 104">
              <a:extLst>
                <a:ext uri="{FF2B5EF4-FFF2-40B4-BE49-F238E27FC236}">
                  <a16:creationId xmlns:a16="http://schemas.microsoft.com/office/drawing/2014/main" id="{F2833673-A28D-2D48-61F6-61123920710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825263" y="5286022"/>
              <a:ext cx="359282" cy="360000"/>
            </a:xfrm>
            <a:prstGeom prst="rect">
              <a:avLst/>
            </a:prstGeom>
          </p:spPr>
        </p:pic>
      </p:grpSp>
      <p:cxnSp>
        <p:nvCxnSpPr>
          <p:cNvPr id="106" name="직선 연결선 105">
            <a:extLst>
              <a:ext uri="{FF2B5EF4-FFF2-40B4-BE49-F238E27FC236}">
                <a16:creationId xmlns:a16="http://schemas.microsoft.com/office/drawing/2014/main" id="{1D546F33-92D6-00E3-B1CC-E4125B7B2135}"/>
              </a:ext>
            </a:extLst>
          </p:cNvPr>
          <p:cNvCxnSpPr/>
          <p:nvPr/>
        </p:nvCxnSpPr>
        <p:spPr>
          <a:xfrm>
            <a:off x="17585527" y="3646582"/>
            <a:ext cx="181150" cy="0"/>
          </a:xfrm>
          <a:prstGeom prst="line">
            <a:avLst/>
          </a:prstGeom>
          <a:noFill/>
          <a:ln w="12700" cap="rnd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0E631153-E2CC-C2CC-B042-239F0D955FF6}"/>
              </a:ext>
            </a:extLst>
          </p:cNvPr>
          <p:cNvGrpSpPr/>
          <p:nvPr/>
        </p:nvGrpSpPr>
        <p:grpSpPr>
          <a:xfrm>
            <a:off x="17635401" y="3355218"/>
            <a:ext cx="1659005" cy="504658"/>
            <a:chOff x="5127389" y="3936715"/>
            <a:chExt cx="1863221" cy="640047"/>
          </a:xfrm>
        </p:grpSpPr>
        <p:grpSp>
          <p:nvGrpSpPr>
            <p:cNvPr id="108" name="그룹 107">
              <a:extLst>
                <a:ext uri="{FF2B5EF4-FFF2-40B4-BE49-F238E27FC236}">
                  <a16:creationId xmlns:a16="http://schemas.microsoft.com/office/drawing/2014/main" id="{F2CDE7B6-4B38-E131-774A-E5DBD342CC9F}"/>
                </a:ext>
              </a:extLst>
            </p:cNvPr>
            <p:cNvGrpSpPr/>
            <p:nvPr/>
          </p:nvGrpSpPr>
          <p:grpSpPr>
            <a:xfrm>
              <a:off x="5130764" y="3936715"/>
              <a:ext cx="1859846" cy="639210"/>
              <a:chOff x="540679" y="1745400"/>
              <a:chExt cx="1859846" cy="639210"/>
            </a:xfrm>
          </p:grpSpPr>
          <p:sp>
            <p:nvSpPr>
              <p:cNvPr id="112" name="모서리가 둥근 직사각형 160">
                <a:extLst>
                  <a:ext uri="{FF2B5EF4-FFF2-40B4-BE49-F238E27FC236}">
                    <a16:creationId xmlns:a16="http://schemas.microsoft.com/office/drawing/2014/main" id="{CA4A6E8C-AF23-211E-7896-562C95BA8FB9}"/>
                  </a:ext>
                </a:extLst>
              </p:cNvPr>
              <p:cNvSpPr/>
              <p:nvPr/>
            </p:nvSpPr>
            <p:spPr>
              <a:xfrm>
                <a:off x="540679" y="1745400"/>
                <a:ext cx="1859846" cy="63921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solidFill>
                  <a:srgbClr val="1428A0"/>
                </a:solidFill>
              </a:ln>
              <a:effectLst>
                <a:outerShdw blurRad="1270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51EA1B03-7BD3-B12A-BBE2-623E0D63DFAD}"/>
                  </a:ext>
                </a:extLst>
              </p:cNvPr>
              <p:cNvSpPr txBox="1"/>
              <p:nvPr/>
            </p:nvSpPr>
            <p:spPr>
              <a:xfrm>
                <a:off x="1241751" y="1892451"/>
                <a:ext cx="466285" cy="37733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>
                <a:defPPr>
                  <a:defRPr lang="ko-KR"/>
                </a:defPPr>
                <a:lvl1pPr algn="r" latinLnBrk="0">
                  <a:spcAft>
                    <a:spcPts val="200"/>
                  </a:spcAft>
                  <a:defRPr sz="90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  <a:cs typeface="Arial" panose="020B0604020202020204" pitchFamily="34" charset="0"/>
                  </a:defRPr>
                </a:lvl1pPr>
              </a:lstStyle>
              <a:p>
                <a:pPr lvl="0" algn="l">
                  <a:spcAft>
                    <a:spcPts val="100"/>
                  </a:spcAft>
                  <a:defRPr/>
                </a:pPr>
                <a:r>
                  <a:rPr lang="en-US" altLang="ko-KR" sz="1050" b="1" dirty="0">
                    <a:solidFill>
                      <a:prstClr val="black">
                        <a:lumMod val="95000"/>
                        <a:lumOff val="5000"/>
                      </a:prstClr>
                    </a:solidFill>
                    <a:latin typeface="SDS Sans  Medium" panose="020B0000000101010101" pitchFamily="50" charset="-127"/>
                    <a:ea typeface="SDS Sans  Bold"/>
                  </a:rPr>
                  <a:t>SDSAU</a:t>
                </a:r>
              </a:p>
              <a:p>
                <a:pPr lvl="0" algn="l">
                  <a:spcAft>
                    <a:spcPts val="100"/>
                  </a:spcAft>
                  <a:defRPr/>
                </a:pPr>
                <a:r>
                  <a:rPr lang="en-US" altLang="ko-KR" sz="800" dirty="0">
                    <a:solidFill>
                      <a:prstClr val="black">
                        <a:lumMod val="95000"/>
                        <a:lumOff val="5000"/>
                      </a:prstClr>
                    </a:solidFill>
                    <a:latin typeface="SDS Sans  Regular" panose="020B0000000101010101" pitchFamily="50" charset="-127"/>
                    <a:ea typeface="SDS Sans  Regular" panose="020B0000000101010101" pitchFamily="50" charset="-127"/>
                  </a:rPr>
                  <a:t>Sydney</a:t>
                </a:r>
              </a:p>
            </p:txBody>
          </p:sp>
        </p:grpSp>
        <p:grpSp>
          <p:nvGrpSpPr>
            <p:cNvPr id="109" name="그룹 108">
              <a:extLst>
                <a:ext uri="{FF2B5EF4-FFF2-40B4-BE49-F238E27FC236}">
                  <a16:creationId xmlns:a16="http://schemas.microsoft.com/office/drawing/2014/main" id="{255644A2-2BA3-0256-5E23-5855A502D2BA}"/>
                </a:ext>
              </a:extLst>
            </p:cNvPr>
            <p:cNvGrpSpPr/>
            <p:nvPr/>
          </p:nvGrpSpPr>
          <p:grpSpPr>
            <a:xfrm>
              <a:off x="5127389" y="3937551"/>
              <a:ext cx="614558" cy="639211"/>
              <a:chOff x="4797177" y="1799165"/>
              <a:chExt cx="614558" cy="639211"/>
            </a:xfrm>
          </p:grpSpPr>
          <p:sp>
            <p:nvSpPr>
              <p:cNvPr id="110" name="양쪽 모서리가 둥근 사각형 272">
                <a:extLst>
                  <a:ext uri="{FF2B5EF4-FFF2-40B4-BE49-F238E27FC236}">
                    <a16:creationId xmlns:a16="http://schemas.microsoft.com/office/drawing/2014/main" id="{55CB5CE9-6FC0-DBC9-2812-5A8F83426042}"/>
                  </a:ext>
                </a:extLst>
              </p:cNvPr>
              <p:cNvSpPr/>
              <p:nvPr/>
            </p:nvSpPr>
            <p:spPr>
              <a:xfrm rot="16200000">
                <a:off x="4784850" y="1811492"/>
                <a:ext cx="639211" cy="614558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1428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  <p:pic>
            <p:nvPicPr>
              <p:cNvPr id="111" name="그림 110">
                <a:extLst>
                  <a:ext uri="{FF2B5EF4-FFF2-40B4-BE49-F238E27FC236}">
                    <a16:creationId xmlns:a16="http://schemas.microsoft.com/office/drawing/2014/main" id="{51851F0A-BBBC-C203-AED8-C852509D58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4890441" y="1871860"/>
                <a:ext cx="465351" cy="465352"/>
              </a:xfrm>
              <a:prstGeom prst="rect">
                <a:avLst/>
              </a:prstGeom>
            </p:spPr>
          </p:pic>
        </p:grpSp>
      </p:grpSp>
      <p:grpSp>
        <p:nvGrpSpPr>
          <p:cNvPr id="114" name="그룹 113"/>
          <p:cNvGrpSpPr/>
          <p:nvPr/>
        </p:nvGrpSpPr>
        <p:grpSpPr>
          <a:xfrm>
            <a:off x="17936559" y="3960112"/>
            <a:ext cx="1358967" cy="366270"/>
            <a:chOff x="4198653" y="1428231"/>
            <a:chExt cx="1358967" cy="366270"/>
          </a:xfrm>
        </p:grpSpPr>
        <p:grpSp>
          <p:nvGrpSpPr>
            <p:cNvPr id="115" name="그룹 114">
              <a:extLst>
                <a:ext uri="{FF2B5EF4-FFF2-40B4-BE49-F238E27FC236}">
                  <a16:creationId xmlns:a16="http://schemas.microsoft.com/office/drawing/2014/main" id="{903DC0D1-2844-2E76-2869-CDF6EC90CD6B}"/>
                </a:ext>
              </a:extLst>
            </p:cNvPr>
            <p:cNvGrpSpPr/>
            <p:nvPr/>
          </p:nvGrpSpPr>
          <p:grpSpPr>
            <a:xfrm>
              <a:off x="4198653" y="1428231"/>
              <a:ext cx="1358967" cy="366270"/>
              <a:chOff x="1297144" y="160625"/>
              <a:chExt cx="1504097" cy="506340"/>
            </a:xfrm>
          </p:grpSpPr>
          <p:grpSp>
            <p:nvGrpSpPr>
              <p:cNvPr id="117" name="그룹 116">
                <a:extLst>
                  <a:ext uri="{FF2B5EF4-FFF2-40B4-BE49-F238E27FC236}">
                    <a16:creationId xmlns:a16="http://schemas.microsoft.com/office/drawing/2014/main" id="{FFF041CB-3DFC-FB41-F31E-477EE938A2AB}"/>
                  </a:ext>
                </a:extLst>
              </p:cNvPr>
              <p:cNvGrpSpPr/>
              <p:nvPr/>
            </p:nvGrpSpPr>
            <p:grpSpPr>
              <a:xfrm>
                <a:off x="1302397" y="162344"/>
                <a:ext cx="1498844" cy="504621"/>
                <a:chOff x="540680" y="1745400"/>
                <a:chExt cx="1498844" cy="504621"/>
              </a:xfrm>
            </p:grpSpPr>
            <p:sp>
              <p:nvSpPr>
                <p:cNvPr id="119" name="모서리가 둥근 직사각형 240">
                  <a:extLst>
                    <a:ext uri="{FF2B5EF4-FFF2-40B4-BE49-F238E27FC236}">
                      <a16:creationId xmlns:a16="http://schemas.microsoft.com/office/drawing/2014/main" id="{1D18C733-A5D5-311E-08E4-3FFF8CD91906}"/>
                    </a:ext>
                  </a:extLst>
                </p:cNvPr>
                <p:cNvSpPr/>
                <p:nvPr/>
              </p:nvSpPr>
              <p:spPr>
                <a:xfrm>
                  <a:off x="540680" y="1745400"/>
                  <a:ext cx="1498844" cy="50462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>
                  <a:solidFill>
                    <a:srgbClr val="595959"/>
                  </a:solidFill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맑은 고딕" panose="020F0502020204030204"/>
                    <a:ea typeface="맑은 고딕" panose="020B0503020000020004" pitchFamily="34" charset="-127"/>
                    <a:cs typeface="+mn-cs"/>
                  </a:endParaRPr>
                </a:p>
              </p:txBody>
            </p:sp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78D0A822-87C0-4959-51F2-A808B0297E82}"/>
                    </a:ext>
                  </a:extLst>
                </p:cNvPr>
                <p:cNvSpPr txBox="1"/>
                <p:nvPr/>
              </p:nvSpPr>
              <p:spPr>
                <a:xfrm>
                  <a:off x="1133416" y="1827162"/>
                  <a:ext cx="809032" cy="3900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 anchor="t">
                  <a:spAutoFit/>
                </a:bodyPr>
                <a:lstStyle>
                  <a:defPPr>
                    <a:defRPr lang="ko-KR"/>
                  </a:defPPr>
                  <a:lvl1pPr algn="r" latinLnBrk="0">
                    <a:spcAft>
                      <a:spcPts val="200"/>
                    </a:spcAft>
                    <a:defRPr sz="90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latin typeface="나눔스퀘어 Bold" panose="020B0600000101010101" pitchFamily="50" charset="-127"/>
                      <a:ea typeface="나눔스퀘어 Bold" panose="020B0600000101010101" pitchFamily="50" charset="-127"/>
                      <a:cs typeface="Arial" panose="020B0604020202020204" pitchFamily="34" charset="0"/>
                    </a:defRPr>
                  </a:lvl1pPr>
                </a:lstStyle>
                <a:p>
                  <a:pPr lvl="0" algn="l">
                    <a:spcAft>
                      <a:spcPts val="100"/>
                    </a:spcAft>
                    <a:defRPr/>
                  </a:pPr>
                  <a:r>
                    <a:rPr lang="en-US" altLang="ko-KR" sz="1050" b="1" dirty="0">
                      <a:solidFill>
                        <a:prstClr val="black">
                          <a:lumMod val="95000"/>
                          <a:lumOff val="5000"/>
                        </a:prstClr>
                      </a:solidFill>
                      <a:latin typeface="SDS Sans  Medium" panose="020B0000000101010101" pitchFamily="50" charset="-127"/>
                      <a:ea typeface="SDS Sans  Bold"/>
                    </a:rPr>
                    <a:t>Warehouse </a:t>
                  </a:r>
                </a:p>
                <a:p>
                  <a:pPr lvl="0" algn="l">
                    <a:spcAft>
                      <a:spcPts val="100"/>
                    </a:spcAft>
                    <a:defRPr/>
                  </a:pPr>
                  <a:r>
                    <a:rPr lang="en-US" altLang="ko-KR" sz="700" dirty="0">
                      <a:solidFill>
                        <a:prstClr val="black">
                          <a:lumMod val="95000"/>
                          <a:lumOff val="5000"/>
                        </a:prstClr>
                      </a:solidFill>
                      <a:latin typeface="SDS Sans  Regular" panose="020B0600000101010101" charset="-127"/>
                      <a:ea typeface="SDS Sans  Regular" panose="020B0600000101010101" charset="-127"/>
                    </a:rPr>
                    <a:t>Brisbane</a:t>
                  </a:r>
                </a:p>
              </p:txBody>
            </p:sp>
          </p:grpSp>
          <p:sp>
            <p:nvSpPr>
              <p:cNvPr id="118" name="양쪽 모서리가 둥근 사각형 245">
                <a:extLst>
                  <a:ext uri="{FF2B5EF4-FFF2-40B4-BE49-F238E27FC236}">
                    <a16:creationId xmlns:a16="http://schemas.microsoft.com/office/drawing/2014/main" id="{509F0944-F6B2-06A1-F123-B46488B45D27}"/>
                  </a:ext>
                </a:extLst>
              </p:cNvPr>
              <p:cNvSpPr/>
              <p:nvPr/>
            </p:nvSpPr>
            <p:spPr>
              <a:xfrm rot="16200000">
                <a:off x="1318613" y="139156"/>
                <a:ext cx="502648" cy="545586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595959"/>
              </a:solidFill>
              <a:ln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</p:grpSp>
        <p:pic>
          <p:nvPicPr>
            <p:cNvPr id="116" name="Picture 9"/>
            <p:cNvPicPr>
              <a:picLocks noChangeAspect="1" noChangeArrowheads="1"/>
            </p:cNvPicPr>
            <p:nvPr/>
          </p:nvPicPr>
          <p:blipFill>
            <a:blip r:embed="rId5" cstate="print"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4326389" y="1439165"/>
              <a:ext cx="314449" cy="3144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타원 1">
            <a:extLst>
              <a:ext uri="{FF2B5EF4-FFF2-40B4-BE49-F238E27FC236}">
                <a16:creationId xmlns:a16="http://schemas.microsoft.com/office/drawing/2014/main" id="{D13DCB74-FFFB-8B58-238C-AA2EEF799BE1}"/>
              </a:ext>
            </a:extLst>
          </p:cNvPr>
          <p:cNvSpPr/>
          <p:nvPr/>
        </p:nvSpPr>
        <p:spPr>
          <a:xfrm>
            <a:off x="9283700" y="228600"/>
            <a:ext cx="2520000" cy="2520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/>
              <a:t>디자인 </a:t>
            </a:r>
            <a:endParaRPr kumimoji="1" lang="en-US" altLang="ko-KR" dirty="0"/>
          </a:p>
          <a:p>
            <a:pPr algn="ctr"/>
            <a:r>
              <a:rPr kumimoji="1" lang="ko-KR" altLang="en-US" dirty="0"/>
              <a:t>지도 변경</a:t>
            </a:r>
          </a:p>
        </p:txBody>
      </p:sp>
    </p:spTree>
    <p:extLst>
      <p:ext uri="{BB962C8B-B14F-4D97-AF65-F5344CB8AC3E}">
        <p14:creationId xmlns:p14="http://schemas.microsoft.com/office/powerpoint/2010/main" val="242918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2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10937 -0.40648 L -1.45833E-6 -4.81481E-6 " pathEditMode="relative" rAng="0" ptsTypes="AA">
                                      <p:cBhvr>
                                        <p:cTn id="50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469" y="20324"/>
                                    </p:animMotion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7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42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10937 -0.40648 L -1.45833E-6 -4.81481E-6 " pathEditMode="relative" rAng="0" ptsTypes="AA">
                                      <p:cBhvr>
                                        <p:cTn id="68" dur="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469" y="20324"/>
                                    </p:animMotion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7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75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75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7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25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25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2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42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10937 -0.40648 L -1.45833E-6 -4.81481E-6 " pathEditMode="relative" rAng="0" ptsTypes="AA">
                                      <p:cBhvr>
                                        <p:cTn id="83" dur="25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469" y="20324"/>
                                    </p:animMotion>
                                  </p:childTnLst>
                                </p:cTn>
                              </p:par>
                              <p:par>
                                <p:cTn id="84" presetID="2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7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1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1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1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1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5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75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75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75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5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75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75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75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5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75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75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75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75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75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75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5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75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75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5" dur="75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8" dur="75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25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25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3" dur="25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42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10937 -0.40648 L -1.45833E-6 -4.81481E-6 " pathEditMode="relative" rAng="0" ptsTypes="AA">
                                      <p:cBhvr>
                                        <p:cTn id="135" dur="25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469" y="20324"/>
                                    </p:animMotion>
                                  </p:childTnLst>
                                </p:cTn>
                              </p:par>
                              <p:par>
                                <p:cTn id="136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75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16114" y="101600"/>
            <a:ext cx="6096000" cy="29238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1300" dirty="0" err="1">
                <a:hlinkClick r:id="rId2"/>
              </a:rPr>
              <a:t>첼로스퀘어</a:t>
            </a:r>
            <a:r>
              <a:rPr lang="ko-KR" altLang="en-US" sz="1300" dirty="0">
                <a:hlinkClick r:id="rId2"/>
              </a:rPr>
              <a:t> 호주 소개 </a:t>
            </a:r>
            <a:r>
              <a:rPr lang="en-US" altLang="ko-KR" sz="1300" dirty="0">
                <a:hlinkClick r:id="rId2"/>
              </a:rPr>
              <a:t>- Global Network | </a:t>
            </a:r>
            <a:r>
              <a:rPr lang="ko-KR" altLang="en-US" sz="1300" dirty="0" err="1">
                <a:hlinkClick r:id="rId2"/>
              </a:rPr>
              <a:t>첼로스퀘어</a:t>
            </a:r>
            <a:r>
              <a:rPr lang="en-US" altLang="ko-KR" sz="1300" dirty="0">
                <a:hlinkClick r:id="rId2"/>
              </a:rPr>
              <a:t>(Cello Square)</a:t>
            </a:r>
            <a:endParaRPr lang="en-US" sz="130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44708"/>
            <a:ext cx="7077659" cy="2394151"/>
          </a:xfrm>
          <a:prstGeom prst="rect">
            <a:avLst/>
          </a:prstGeom>
        </p:spPr>
      </p:pic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4453813"/>
              </p:ext>
            </p:extLst>
          </p:nvPr>
        </p:nvGraphicFramePr>
        <p:xfrm>
          <a:off x="6468968" y="1983229"/>
          <a:ext cx="6811453" cy="26649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7526">
                  <a:extLst>
                    <a:ext uri="{9D8B030D-6E8A-4147-A177-3AD203B41FA5}">
                      <a16:colId xmlns:a16="http://schemas.microsoft.com/office/drawing/2014/main" val="1526357769"/>
                    </a:ext>
                  </a:extLst>
                </a:gridCol>
                <a:gridCol w="2969914">
                  <a:extLst>
                    <a:ext uri="{9D8B030D-6E8A-4147-A177-3AD203B41FA5}">
                      <a16:colId xmlns:a16="http://schemas.microsoft.com/office/drawing/2014/main" val="3704624977"/>
                    </a:ext>
                  </a:extLst>
                </a:gridCol>
                <a:gridCol w="2724013">
                  <a:extLst>
                    <a:ext uri="{9D8B030D-6E8A-4147-A177-3AD203B41FA5}">
                      <a16:colId xmlns:a16="http://schemas.microsoft.com/office/drawing/2014/main" val="561315315"/>
                    </a:ext>
                  </a:extLst>
                </a:gridCol>
              </a:tblGrid>
              <a:tr h="44169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>
                          <a:solidFill>
                            <a:sysClr val="windowText" lastClr="000000"/>
                          </a:solidFill>
                        </a:rPr>
                        <a:t>오피스명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ysClr val="windowText" lastClr="000000"/>
                          </a:solidFill>
                        </a:rPr>
                        <a:t>위치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>
                          <a:solidFill>
                            <a:sysClr val="windowText" lastClr="000000"/>
                          </a:solidFill>
                        </a:rPr>
                        <a:t>연락처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4224422"/>
                  </a:ext>
                </a:extLst>
              </a:tr>
              <a:tr h="45648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HQ</a:t>
                      </a:r>
                      <a:endParaRPr 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0">
                        <a:lnSpc>
                          <a:spcPct val="90000"/>
                        </a:lnSpc>
                        <a:spcAft>
                          <a:spcPts val="700"/>
                        </a:spcAft>
                        <a:buClr>
                          <a:prstClr val="black"/>
                        </a:buClr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2B Murray Jones </a:t>
                      </a:r>
                      <a:r>
                        <a:rPr lang="en-US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Dr</a:t>
                      </a: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Bankstown</a:t>
                      </a: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Aerodrome NSW 220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144000" indent="-144000" latinLnBrk="0">
                        <a:spcAft>
                          <a:spcPts val="700"/>
                        </a:spcAft>
                        <a:buClr>
                          <a:prstClr val="black"/>
                        </a:buClr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cellosquare.id@samsung.com</a:t>
                      </a:r>
                      <a:b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lang="ko-KR" altLang="en-US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영업</a:t>
                      </a: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: park.j@samsung.com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0629969"/>
                  </a:ext>
                </a:extLst>
              </a:tr>
              <a:tr h="44169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Erskine Park </a:t>
                      </a:r>
                      <a:r>
                        <a:rPr lang="ko-KR" altLang="en-US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창고</a:t>
                      </a:r>
                      <a:endParaRPr 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prstClr val="black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SG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Unit A1 57-65 Templar Road, Erskine Park, NSW, 2759</a:t>
                      </a:r>
                      <a:endParaRPr lang="en-US" altLang="ko-KR" sz="1100" kern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144000" indent="-144000" latinLnBrk="0">
                        <a:spcAft>
                          <a:spcPts val="700"/>
                        </a:spcAft>
                        <a:buClr>
                          <a:prstClr val="black"/>
                        </a:buClr>
                        <a:buFont typeface="Arial" panose="020B0604020202020204" pitchFamily="34" charset="0"/>
                        <a:buChar char="•"/>
                        <a:defRPr/>
                      </a:pPr>
                      <a:endParaRPr lang="en-SG" altLang="ko-KR" sz="1100" kern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srgbClr val="FF0000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4657426"/>
                  </a:ext>
                </a:extLst>
              </a:tr>
              <a:tr h="44169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Altona </a:t>
                      </a:r>
                      <a:r>
                        <a:rPr lang="ko-KR" altLang="en-US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창고</a:t>
                      </a:r>
                      <a:endParaRPr 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prstClr val="black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VIC (Altona) Warehouse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144000" indent="-144000" latinLnBrk="0">
                        <a:spcAft>
                          <a:spcPts val="700"/>
                        </a:spcAft>
                        <a:buClr>
                          <a:prstClr val="black"/>
                        </a:buClr>
                        <a:buFont typeface="Arial" panose="020B0604020202020204" pitchFamily="34" charset="0"/>
                        <a:buChar char="•"/>
                        <a:defRPr/>
                      </a:pPr>
                      <a:endParaRPr lang="en-SG" altLang="ko-KR" sz="1100" kern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srgbClr val="FF0000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8606721"/>
                  </a:ext>
                </a:extLst>
              </a:tr>
              <a:tr h="44169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CanningVale</a:t>
                      </a: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ko-KR" altLang="en-US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창고</a:t>
                      </a:r>
                      <a:endParaRPr 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prstClr val="black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8 Gauge Street, Canning Vale, WA, 6155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144000" indent="-144000" latinLnBrk="0">
                        <a:spcAft>
                          <a:spcPts val="700"/>
                        </a:spcAft>
                        <a:buClr>
                          <a:prstClr val="black"/>
                        </a:buClr>
                        <a:buFont typeface="Arial" panose="020B0604020202020204" pitchFamily="34" charset="0"/>
                        <a:buChar char="•"/>
                        <a:defRPr/>
                      </a:pPr>
                      <a:endParaRPr lang="en-SG" altLang="ko-KR" sz="1100" kern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srgbClr val="FF0000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9554904"/>
                  </a:ext>
                </a:extLst>
              </a:tr>
              <a:tr h="44169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Rocklea</a:t>
                      </a: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ko-KR" altLang="en-US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창고</a:t>
                      </a:r>
                      <a:endParaRPr 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prstClr val="black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SG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3/1937 Ipswich Road, </a:t>
                      </a:r>
                      <a:r>
                        <a:rPr lang="en-SG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Rocklea</a:t>
                      </a:r>
                      <a:r>
                        <a:rPr lang="en-SG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, QLD, 4106</a:t>
                      </a:r>
                      <a:endParaRPr lang="en-US" altLang="ko-KR" sz="1100" kern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144000" indent="-144000" latinLnBrk="0">
                        <a:spcAft>
                          <a:spcPts val="700"/>
                        </a:spcAft>
                        <a:buClr>
                          <a:prstClr val="black"/>
                        </a:buClr>
                        <a:buFont typeface="Arial" panose="020B0604020202020204" pitchFamily="34" charset="0"/>
                        <a:buChar char="•"/>
                        <a:defRPr/>
                      </a:pPr>
                      <a:endParaRPr lang="en-SG" altLang="ko-KR" sz="1100" kern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srgbClr val="FF0000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8136851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5344" y="1292869"/>
            <a:ext cx="733703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/>
              <a:t>국문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020142" y="1033789"/>
            <a:ext cx="733703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/>
              <a:t>영문</a:t>
            </a:r>
          </a:p>
        </p:txBody>
      </p:sp>
      <p:graphicFrame>
        <p:nvGraphicFramePr>
          <p:cNvPr id="12" name="표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6942957"/>
              </p:ext>
            </p:extLst>
          </p:nvPr>
        </p:nvGraphicFramePr>
        <p:xfrm>
          <a:off x="14020142" y="1983229"/>
          <a:ext cx="6811453" cy="28028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7526">
                  <a:extLst>
                    <a:ext uri="{9D8B030D-6E8A-4147-A177-3AD203B41FA5}">
                      <a16:colId xmlns:a16="http://schemas.microsoft.com/office/drawing/2014/main" val="1526357769"/>
                    </a:ext>
                  </a:extLst>
                </a:gridCol>
                <a:gridCol w="2969914">
                  <a:extLst>
                    <a:ext uri="{9D8B030D-6E8A-4147-A177-3AD203B41FA5}">
                      <a16:colId xmlns:a16="http://schemas.microsoft.com/office/drawing/2014/main" val="3704624977"/>
                    </a:ext>
                  </a:extLst>
                </a:gridCol>
                <a:gridCol w="2724013">
                  <a:extLst>
                    <a:ext uri="{9D8B030D-6E8A-4147-A177-3AD203B41FA5}">
                      <a16:colId xmlns:a16="http://schemas.microsoft.com/office/drawing/2014/main" val="561315315"/>
                    </a:ext>
                  </a:extLst>
                </a:gridCol>
              </a:tblGrid>
              <a:tr h="44169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>
                          <a:solidFill>
                            <a:sysClr val="windowText" lastClr="000000"/>
                          </a:solidFill>
                        </a:rPr>
                        <a:t>오피스명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ysClr val="windowText" lastClr="000000"/>
                          </a:solidFill>
                        </a:rPr>
                        <a:t>위치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>
                          <a:solidFill>
                            <a:sysClr val="windowText" lastClr="000000"/>
                          </a:solidFill>
                        </a:rPr>
                        <a:t>연락처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4224422"/>
                  </a:ext>
                </a:extLst>
              </a:tr>
              <a:tr h="456485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34" charset="-127"/>
                          <a:cs typeface="Arial" panose="020B0604020202020204" pitchFamily="34" charset="0"/>
                        </a:rPr>
                        <a:t>Australia Office &amp;</a:t>
                      </a:r>
                      <a:r>
                        <a:rPr kumimoji="0" lang="en-US" altLang="ko-KR" sz="1100" b="1" i="0" u="none" strike="noStrike" kern="1200" cap="none" spc="0" normalizeH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34" charset="-127"/>
                          <a:cs typeface="Arial" panose="020B0604020202020204" pitchFamily="34" charset="0"/>
                        </a:rPr>
                        <a:t> Warehouse</a:t>
                      </a:r>
                      <a:endParaRPr 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0">
                        <a:lnSpc>
                          <a:spcPct val="90000"/>
                        </a:lnSpc>
                        <a:spcAft>
                          <a:spcPts val="700"/>
                        </a:spcAft>
                        <a:buClr>
                          <a:prstClr val="black"/>
                        </a:buClr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2B Murray Jones </a:t>
                      </a:r>
                      <a:r>
                        <a:rPr lang="en-US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Dr</a:t>
                      </a: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Bankstown</a:t>
                      </a: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Aerodrome NSW 220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144000" indent="-144000" latinLnBrk="0">
                        <a:spcAft>
                          <a:spcPts val="700"/>
                        </a:spcAft>
                        <a:buClr>
                          <a:prstClr val="black"/>
                        </a:buClr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cellosquare.id@samsung.com</a:t>
                      </a:r>
                      <a:b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*Business Development: park.j@samsung.com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0629969"/>
                  </a:ext>
                </a:extLst>
              </a:tr>
              <a:tr h="44169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1" dirty="0">
                          <a:solidFill>
                            <a:prstClr val="black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Erskine Park Warehouse</a:t>
                      </a:r>
                      <a:endParaRPr 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prstClr val="black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SG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Unit A1 57-65 Templar Road, Erskine Park, NSW, 2759</a:t>
                      </a:r>
                      <a:endParaRPr lang="en-US" altLang="ko-KR" sz="1100" kern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144000" indent="-144000" latinLnBrk="0">
                        <a:spcAft>
                          <a:spcPts val="700"/>
                        </a:spcAft>
                        <a:buClr>
                          <a:prstClr val="black"/>
                        </a:buClr>
                        <a:buFont typeface="Arial" panose="020B0604020202020204" pitchFamily="34" charset="0"/>
                        <a:buChar char="•"/>
                        <a:defRPr/>
                      </a:pPr>
                      <a:endParaRPr lang="en-SG" altLang="ko-KR" sz="1100" kern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srgbClr val="FF0000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4657426"/>
                  </a:ext>
                </a:extLst>
              </a:tr>
              <a:tr h="44169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1" dirty="0">
                          <a:solidFill>
                            <a:prstClr val="black"/>
                          </a:solidFill>
                          <a:latin typeface="Arial" panose="020B0604020202020204" pitchFamily="34" charset="0"/>
                          <a:ea typeface="맑은 고딕" panose="020B0503020000020004" pitchFamily="34" charset="-127"/>
                          <a:cs typeface="Arial" panose="020B0604020202020204" pitchFamily="34" charset="0"/>
                        </a:rPr>
                        <a:t>Altona Warehouse</a:t>
                      </a:r>
                      <a:endParaRPr 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prstClr val="black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VIC (Altona) Warehouse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144000" indent="-144000" latinLnBrk="0">
                        <a:spcAft>
                          <a:spcPts val="700"/>
                        </a:spcAft>
                        <a:buClr>
                          <a:prstClr val="black"/>
                        </a:buClr>
                        <a:buFont typeface="Arial" panose="020B0604020202020204" pitchFamily="34" charset="0"/>
                        <a:buChar char="•"/>
                        <a:defRPr/>
                      </a:pPr>
                      <a:endParaRPr lang="en-SG" altLang="ko-KR" sz="1100" kern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srgbClr val="FF0000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8606721"/>
                  </a:ext>
                </a:extLst>
              </a:tr>
              <a:tr h="44169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1" dirty="0" err="1">
                          <a:solidFill>
                            <a:prstClr val="black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CanningVale</a:t>
                      </a:r>
                      <a:r>
                        <a:rPr lang="en-US" altLang="ko-KR" sz="1100" b="1" dirty="0">
                          <a:solidFill>
                            <a:prstClr val="black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Warehouse</a:t>
                      </a:r>
                      <a:endParaRPr 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prstClr val="black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8 Gauge Street, Canning Vale, WA, 6155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144000" indent="-144000" latinLnBrk="0">
                        <a:spcAft>
                          <a:spcPts val="700"/>
                        </a:spcAft>
                        <a:buClr>
                          <a:prstClr val="black"/>
                        </a:buClr>
                        <a:buFont typeface="Arial" panose="020B0604020202020204" pitchFamily="34" charset="0"/>
                        <a:buChar char="•"/>
                        <a:defRPr/>
                      </a:pPr>
                      <a:endParaRPr lang="en-SG" altLang="ko-KR" sz="1100" kern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srgbClr val="FF0000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9554904"/>
                  </a:ext>
                </a:extLst>
              </a:tr>
              <a:tr h="44169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1" dirty="0" err="1">
                          <a:solidFill>
                            <a:prstClr val="black"/>
                          </a:solidFill>
                          <a:latin typeface="Arial" panose="020B0604020202020204" pitchFamily="34" charset="0"/>
                          <a:ea typeface="맑은 고딕" panose="020B0503020000020004" pitchFamily="34" charset="-127"/>
                          <a:cs typeface="Arial" panose="020B0604020202020204" pitchFamily="34" charset="0"/>
                        </a:rPr>
                        <a:t>Rocklea</a:t>
                      </a:r>
                      <a:r>
                        <a:rPr lang="en-US" altLang="ko-KR" sz="1100" b="1" dirty="0">
                          <a:solidFill>
                            <a:prstClr val="black"/>
                          </a:solidFill>
                          <a:latin typeface="Arial" panose="020B0604020202020204" pitchFamily="34" charset="0"/>
                          <a:ea typeface="맑은 고딕" panose="020B0503020000020004" pitchFamily="34" charset="-127"/>
                          <a:cs typeface="Arial" panose="020B0604020202020204" pitchFamily="34" charset="0"/>
                        </a:rPr>
                        <a:t> Warehouse</a:t>
                      </a:r>
                      <a:endParaRPr 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prstClr val="black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SG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3/1937 Ipswich Road, </a:t>
                      </a:r>
                      <a:r>
                        <a:rPr lang="en-SG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Rocklea</a:t>
                      </a:r>
                      <a:r>
                        <a:rPr lang="en-SG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, QLD, 4106</a:t>
                      </a:r>
                      <a:endParaRPr lang="en-US" altLang="ko-KR" sz="1100" kern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144000" indent="-144000" latinLnBrk="0">
                        <a:spcAft>
                          <a:spcPts val="700"/>
                        </a:spcAft>
                        <a:buClr>
                          <a:prstClr val="black"/>
                        </a:buClr>
                        <a:buFont typeface="Arial" panose="020B0604020202020204" pitchFamily="34" charset="0"/>
                        <a:buChar char="•"/>
                        <a:defRPr/>
                      </a:pPr>
                      <a:endParaRPr lang="en-SG" altLang="ko-KR" sz="1100" kern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srgbClr val="FF0000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8136851"/>
                  </a:ext>
                </a:extLst>
              </a:tr>
            </a:tbl>
          </a:graphicData>
        </a:graphic>
      </p:graphicFrame>
      <p:sp>
        <p:nvSpPr>
          <p:cNvPr id="2" name="타원 1">
            <a:extLst>
              <a:ext uri="{FF2B5EF4-FFF2-40B4-BE49-F238E27FC236}">
                <a16:creationId xmlns:a16="http://schemas.microsoft.com/office/drawing/2014/main" id="{C2B255B5-8545-1081-BB49-F1E8D4E8CEC2}"/>
              </a:ext>
            </a:extLst>
          </p:cNvPr>
          <p:cNvSpPr/>
          <p:nvPr/>
        </p:nvSpPr>
        <p:spPr>
          <a:xfrm>
            <a:off x="9283700" y="228600"/>
            <a:ext cx="2520000" cy="2520000"/>
          </a:xfrm>
          <a:prstGeom prst="ellipse">
            <a:avLst/>
          </a:prstGeom>
          <a:solidFill>
            <a:srgbClr val="0AD2B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/>
              <a:t>텍스트 변경</a:t>
            </a:r>
            <a:endParaRPr kumimoji="1" lang="en-US" altLang="ko-KR" dirty="0"/>
          </a:p>
          <a:p>
            <a:pPr algn="ctr"/>
            <a:r>
              <a:rPr kumimoji="1" lang="ko-KR" altLang="en-US" dirty="0"/>
              <a:t>영문 버전으로 다국어 반영</a:t>
            </a:r>
            <a:endParaRPr kumimoji="1"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1380251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14" y="1552575"/>
            <a:ext cx="5688612" cy="5172075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116114" y="101600"/>
            <a:ext cx="6096000" cy="29238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1300" dirty="0" err="1">
                <a:hlinkClick r:id="rId3"/>
              </a:rPr>
              <a:t>첼로스퀘어</a:t>
            </a:r>
            <a:r>
              <a:rPr lang="ko-KR" altLang="en-US" sz="1300" dirty="0">
                <a:hlinkClick r:id="rId3"/>
              </a:rPr>
              <a:t> 호주 소개 </a:t>
            </a:r>
            <a:r>
              <a:rPr lang="en-US" altLang="ko-KR" sz="1300" dirty="0">
                <a:hlinkClick r:id="rId3"/>
              </a:rPr>
              <a:t>- Global Network | </a:t>
            </a:r>
            <a:r>
              <a:rPr lang="ko-KR" altLang="en-US" sz="1300" dirty="0" err="1">
                <a:hlinkClick r:id="rId3"/>
              </a:rPr>
              <a:t>첼로스퀘어</a:t>
            </a:r>
            <a:r>
              <a:rPr lang="en-US" altLang="ko-KR" sz="1300" dirty="0">
                <a:hlinkClick r:id="rId3"/>
              </a:rPr>
              <a:t>(Cello Square)</a:t>
            </a:r>
            <a:endParaRPr lang="en-US" sz="1300" dirty="0"/>
          </a:p>
        </p:txBody>
      </p:sp>
      <p:sp>
        <p:nvSpPr>
          <p:cNvPr id="6" name="TextBox 5"/>
          <p:cNvSpPr txBox="1"/>
          <p:nvPr/>
        </p:nvSpPr>
        <p:spPr>
          <a:xfrm>
            <a:off x="6405344" y="1292869"/>
            <a:ext cx="733703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/>
              <a:t>국문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20142" y="1033789"/>
            <a:ext cx="733703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/>
              <a:t>영문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5344" y="1809902"/>
            <a:ext cx="5587885" cy="369332"/>
          </a:xfrm>
          <a:prstGeom prst="wedgeRectCallout">
            <a:avLst>
              <a:gd name="adj1" fmla="val -75697"/>
              <a:gd name="adj2" fmla="val 3060"/>
            </a:avLst>
          </a:prstGeom>
          <a:solidFill>
            <a:srgbClr val="FFFF00"/>
          </a:solidFill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latinLnBrk="0">
              <a:spcAft>
                <a:spcPts val="400"/>
              </a:spcAft>
              <a:defRPr sz="1500">
                <a:ln>
                  <a:solidFill>
                    <a:prstClr val="white">
                      <a:alpha val="0"/>
                    </a:prstClr>
                  </a:solidFill>
                </a:ln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defRPr>
            </a:lvl1pPr>
          </a:lstStyle>
          <a:p>
            <a:pPr lvl="0">
              <a:defRPr/>
            </a:pPr>
            <a:r>
              <a:rPr lang="ko-KR" altLang="en-US" sz="1200" dirty="0">
                <a:solidFill>
                  <a:prstClr val="black"/>
                </a:solidFill>
              </a:rPr>
              <a:t>시드니와 멜버른의 물류 요충지에 위치한 창고 및 </a:t>
            </a:r>
            <a:r>
              <a:rPr lang="ko-KR" altLang="en-US" sz="1200" dirty="0" err="1">
                <a:solidFill>
                  <a:prstClr val="black"/>
                </a:solidFill>
              </a:rPr>
              <a:t>풀필먼트</a:t>
            </a:r>
            <a:r>
              <a:rPr lang="ko-KR" altLang="en-US" sz="1200" dirty="0">
                <a:solidFill>
                  <a:prstClr val="black"/>
                </a:solidFill>
              </a:rPr>
              <a:t> 센터는 고객의 다양한 </a:t>
            </a:r>
            <a:r>
              <a:rPr lang="ko-KR" altLang="en-US" sz="1200" dirty="0" err="1">
                <a:solidFill>
                  <a:prstClr val="black"/>
                </a:solidFill>
              </a:rPr>
              <a:t>니즈에</a:t>
            </a:r>
            <a:r>
              <a:rPr lang="ko-KR" altLang="en-US" sz="1200" dirty="0">
                <a:solidFill>
                  <a:prstClr val="black"/>
                </a:solidFill>
              </a:rPr>
              <a:t> 맞춰 효율적이고 최적화된 물류 솔루션을 제공하고 있습니다</a:t>
            </a:r>
            <a:r>
              <a:rPr lang="en-US" altLang="ko-KR" sz="1200" dirty="0">
                <a:solidFill>
                  <a:prstClr val="black"/>
                </a:solidFill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16386" y="971965"/>
            <a:ext cx="3765071" cy="276999"/>
          </a:xfrm>
          <a:prstGeom prst="wedgeRectCallout">
            <a:avLst>
              <a:gd name="adj1" fmla="val -23363"/>
              <a:gd name="adj2" fmla="val 293380"/>
            </a:avLst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1200" dirty="0" err="1"/>
              <a:t>해당부분</a:t>
            </a:r>
            <a:r>
              <a:rPr lang="en-US" altLang="ko-KR" sz="1200" dirty="0"/>
              <a:t>, </a:t>
            </a:r>
            <a:r>
              <a:rPr lang="ko-KR" altLang="en-US" sz="1200" dirty="0"/>
              <a:t>국문만 </a:t>
            </a:r>
            <a:r>
              <a:rPr lang="ko-KR" altLang="en-US" sz="1200" dirty="0" err="1"/>
              <a:t>반영부탁드립니다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11" name="직사각형 10"/>
          <p:cNvSpPr/>
          <p:nvPr/>
        </p:nvSpPr>
        <p:spPr>
          <a:xfrm>
            <a:off x="5835035" y="9170532"/>
            <a:ext cx="1140617" cy="455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 defTabSz="609585" latinLnBrk="0">
              <a:defRPr/>
            </a:pPr>
            <a:r>
              <a:rPr lang="ko-KR" altLang="en-US" sz="160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 panose="020B0604020202020204" pitchFamily="34" charset="0"/>
              </a:rPr>
              <a:t>어스킨</a:t>
            </a:r>
            <a:r>
              <a:rPr lang="ko-KR" altLang="en-US" sz="16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 panose="020B0604020202020204" pitchFamily="34" charset="0"/>
              </a:rPr>
              <a:t> 파크</a:t>
            </a:r>
            <a:r>
              <a:rPr lang="en-US" altLang="ko-KR" sz="16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 panose="020B0604020202020204" pitchFamily="34" charset="0"/>
              </a:rPr>
              <a:t>, </a:t>
            </a:r>
            <a:r>
              <a:rPr lang="ko-KR" altLang="en-US" sz="16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 panose="020B0604020202020204" pitchFamily="34" charset="0"/>
              </a:rPr>
              <a:t>시드니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9047" y="8372892"/>
            <a:ext cx="5159617" cy="127432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ko-KR"/>
            </a:defPPr>
            <a:lvl1pPr marL="285750" lvl="0" indent="-285750" latinLnBrk="0">
              <a:lnSpc>
                <a:spcPct val="120000"/>
              </a:lnSpc>
              <a:spcAft>
                <a:spcPts val="700"/>
              </a:spcAft>
              <a:buClr>
                <a:prstClr val="black"/>
              </a:buClr>
              <a:buSzPct val="100000"/>
              <a:buFont typeface="Arial" panose="020B0604020202020204" pitchFamily="34" charset="0"/>
              <a:buChar char="•"/>
              <a:defRPr sz="1300" ker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95000"/>
                    <a:lumOff val="5000"/>
                  </a:prst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 lvl="0">
              <a:defRPr/>
            </a:pP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타이어 및 </a:t>
            </a:r>
            <a:r>
              <a:rPr lang="ko-KR" altLang="en-US" sz="1000" dirty="0" err="1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벌크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화물 처리 전용 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7,123sqm 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규모 시설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000" dirty="0" err="1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매립식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로딩 독 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4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개 및 롤러 도어 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4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개 보유</a:t>
            </a:r>
          </a:p>
          <a:p>
            <a:pPr lvl="0">
              <a:defRPr/>
            </a:pP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타이어 보관 및 </a:t>
            </a:r>
            <a:r>
              <a:rPr lang="ko-KR" altLang="en-US" sz="1000" dirty="0" err="1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산업재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핸들링 특화</a:t>
            </a:r>
          </a:p>
          <a:p>
            <a:pPr lvl="0">
              <a:defRPr/>
            </a:pP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NSW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주 주요 화물 </a:t>
            </a:r>
            <a:r>
              <a:rPr lang="ko-KR" altLang="en-US" sz="1000" dirty="0" err="1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운송로와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직접 연결되는 최적의 물류 네트워크</a:t>
            </a:r>
          </a:p>
          <a:p>
            <a:pPr lvl="0">
              <a:defRPr/>
            </a:pP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CCTV 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카메라 및 실시간 보안 모니터링 시스템을 통한 철저한 보안 관리</a:t>
            </a:r>
          </a:p>
        </p:txBody>
      </p:sp>
      <p:pic>
        <p:nvPicPr>
          <p:cNvPr id="13" name="Picture 3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6912" y="9806974"/>
            <a:ext cx="4963885" cy="1790254"/>
          </a:xfrm>
          <a:prstGeom prst="rect">
            <a:avLst/>
          </a:prstGeom>
        </p:spPr>
      </p:pic>
      <p:sp>
        <p:nvSpPr>
          <p:cNvPr id="14" name="Rectangle 146"/>
          <p:cNvSpPr/>
          <p:nvPr/>
        </p:nvSpPr>
        <p:spPr>
          <a:xfrm>
            <a:off x="5835035" y="7611416"/>
            <a:ext cx="6804640" cy="105585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6"/>
          <p:cNvSpPr/>
          <p:nvPr/>
        </p:nvSpPr>
        <p:spPr>
          <a:xfrm>
            <a:off x="1451428" y="4395442"/>
            <a:ext cx="4042595" cy="26439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오른쪽 화살표 15"/>
          <p:cNvSpPr/>
          <p:nvPr/>
        </p:nvSpPr>
        <p:spPr>
          <a:xfrm>
            <a:off x="5431592" y="6017985"/>
            <a:ext cx="504670" cy="307893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그룹 17"/>
          <p:cNvGrpSpPr/>
          <p:nvPr/>
        </p:nvGrpSpPr>
        <p:grpSpPr>
          <a:xfrm>
            <a:off x="13259127" y="9522656"/>
            <a:ext cx="2130694" cy="417818"/>
            <a:chOff x="4374674" y="1883295"/>
            <a:chExt cx="3442653" cy="417818"/>
          </a:xfrm>
        </p:grpSpPr>
        <p:cxnSp>
          <p:nvCxnSpPr>
            <p:cNvPr id="18" name="직선 연결선 18"/>
            <p:cNvCxnSpPr/>
            <p:nvPr/>
          </p:nvCxnSpPr>
          <p:spPr>
            <a:xfrm flipV="1">
              <a:off x="4374674" y="2301113"/>
              <a:ext cx="3442653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직사각형 19"/>
            <p:cNvSpPr/>
            <p:nvPr/>
          </p:nvSpPr>
          <p:spPr>
            <a:xfrm>
              <a:off x="4575500" y="1883295"/>
              <a:ext cx="3041000" cy="33373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1" i="0" u="none" strike="noStrike" kern="120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맑은 고딕" panose="020B0503020000020004" pitchFamily="34" charset="-127"/>
                  <a:cs typeface="Arial" panose="020B0604020202020204" pitchFamily="34" charset="0"/>
                </a:rPr>
                <a:t>Erskine Park, Sydney Warehouse</a:t>
              </a: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15376145" y="7861006"/>
            <a:ext cx="5159617" cy="21344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ko-KR"/>
            </a:defPPr>
            <a:lvl1pPr marL="285750" lvl="0" indent="-285750" latinLnBrk="0">
              <a:lnSpc>
                <a:spcPct val="120000"/>
              </a:lnSpc>
              <a:spcAft>
                <a:spcPts val="700"/>
              </a:spcAft>
              <a:buClr>
                <a:prstClr val="black"/>
              </a:buClr>
              <a:buSzPct val="100000"/>
              <a:buFont typeface="Arial" panose="020B0604020202020204" pitchFamily="34" charset="0"/>
              <a:buChar char="•"/>
              <a:defRPr sz="1300" ker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95000"/>
                    <a:lumOff val="5000"/>
                  </a:prst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 lvl="0">
              <a:defRPr/>
            </a:pPr>
            <a:r>
              <a:rPr lang="en-SG" altLang="ko-KR" sz="1200" dirty="0"/>
              <a:t>Scale: 7,123 </a:t>
            </a:r>
            <a:r>
              <a:rPr lang="en-SG" altLang="ko-KR" sz="1200" dirty="0" err="1"/>
              <a:t>sqm</a:t>
            </a:r>
            <a:r>
              <a:rPr lang="en-SG" altLang="ko-KR" sz="1200" dirty="0"/>
              <a:t> facility purpose‑built for tyre storage and bulk handling, featuring 4 recessed loading docks and 4 roller doors.</a:t>
            </a:r>
          </a:p>
          <a:p>
            <a:pPr lvl="0">
              <a:defRPr/>
            </a:pPr>
            <a:r>
              <a:rPr lang="en-SG" altLang="ko-KR" sz="1200" dirty="0"/>
              <a:t>Specialization: Exclusively in tyre storage and industrial goods handling.</a:t>
            </a:r>
          </a:p>
          <a:p>
            <a:pPr lvl="0">
              <a:defRPr/>
            </a:pPr>
            <a:r>
              <a:rPr lang="en-SG" altLang="ko-KR" sz="1200" dirty="0"/>
              <a:t>Connectivity: Direct access to key NSW freight corridors, ensuring seamless distribution.</a:t>
            </a:r>
          </a:p>
          <a:p>
            <a:pPr lvl="0">
              <a:defRPr/>
            </a:pPr>
            <a:r>
              <a:rPr lang="en-SG" altLang="ko-KR" sz="1200" dirty="0"/>
              <a:t>Safety: Comprehensive security with CCTV cameras and secure live‑feed monitoring.</a:t>
            </a:r>
          </a:p>
        </p:txBody>
      </p:sp>
      <p:pic>
        <p:nvPicPr>
          <p:cNvPr id="21" name="Picture 4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51277" y="10303329"/>
            <a:ext cx="4963885" cy="1790254"/>
          </a:xfrm>
          <a:prstGeom prst="rect">
            <a:avLst/>
          </a:prstGeom>
        </p:spPr>
      </p:pic>
      <p:sp>
        <p:nvSpPr>
          <p:cNvPr id="22" name="Rectangle 146"/>
          <p:cNvSpPr/>
          <p:nvPr/>
        </p:nvSpPr>
        <p:spPr>
          <a:xfrm>
            <a:off x="13106400" y="7749351"/>
            <a:ext cx="8000999" cy="104206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6222365" y="2622181"/>
            <a:ext cx="2542493" cy="184666"/>
          </a:xfrm>
          <a:prstGeom prst="wedgeRectCallout">
            <a:avLst>
              <a:gd name="adj1" fmla="val -33878"/>
              <a:gd name="adj2" fmla="val 51201"/>
            </a:avLst>
          </a:prstGeom>
          <a:solidFill>
            <a:srgbClr val="FFFF00"/>
          </a:solidFill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latinLnBrk="0">
              <a:spcAft>
                <a:spcPts val="400"/>
              </a:spcAft>
              <a:defRPr sz="1500">
                <a:ln>
                  <a:solidFill>
                    <a:prstClr val="white">
                      <a:alpha val="0"/>
                    </a:prstClr>
                  </a:solidFill>
                </a:ln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defRPr>
            </a:lvl1pPr>
          </a:lstStyle>
          <a:p>
            <a:pPr lvl="0">
              <a:defRPr/>
            </a:pPr>
            <a:r>
              <a:rPr lang="ko-KR" altLang="en-US" sz="1200" dirty="0">
                <a:solidFill>
                  <a:prstClr val="black"/>
                </a:solidFill>
              </a:rPr>
              <a:t>알토나</a:t>
            </a:r>
            <a:r>
              <a:rPr lang="en-US" altLang="ko-KR" sz="1200" dirty="0">
                <a:solidFill>
                  <a:prstClr val="black"/>
                </a:solidFill>
              </a:rPr>
              <a:t>, </a:t>
            </a:r>
            <a:r>
              <a:rPr lang="ko-KR" altLang="en-US" sz="1200" dirty="0">
                <a:solidFill>
                  <a:prstClr val="black"/>
                </a:solidFill>
              </a:rPr>
              <a:t>사진과 내용 수정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835035" y="7455412"/>
            <a:ext cx="1981089" cy="430887"/>
          </a:xfrm>
          <a:prstGeom prst="wedgeRectCallout">
            <a:avLst>
              <a:gd name="adj1" fmla="val -33878"/>
              <a:gd name="adj2" fmla="val 51201"/>
            </a:avLst>
          </a:prstGeom>
          <a:solidFill>
            <a:srgbClr val="FFFF00"/>
          </a:solidFill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latinLnBrk="0">
              <a:spcAft>
                <a:spcPts val="400"/>
              </a:spcAft>
              <a:defRPr sz="1500">
                <a:ln>
                  <a:solidFill>
                    <a:prstClr val="white">
                      <a:alpha val="0"/>
                    </a:prstClr>
                  </a:solidFill>
                </a:ln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defRPr>
            </a:lvl1pPr>
          </a:lstStyle>
          <a:p>
            <a:pPr lvl="0" algn="ctr">
              <a:defRPr/>
            </a:pPr>
            <a:r>
              <a:rPr lang="ko-KR" altLang="en-US" sz="2800" dirty="0">
                <a:solidFill>
                  <a:prstClr val="black"/>
                </a:solidFill>
              </a:rPr>
              <a:t>신규 추가 </a:t>
            </a:r>
            <a:endParaRPr lang="en-US" altLang="ko-KR" sz="2800" dirty="0">
              <a:solidFill>
                <a:prstClr val="black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219014" y="3221318"/>
            <a:ext cx="5159617" cy="128496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ko-KR"/>
            </a:defPPr>
            <a:lvl1pPr marL="285750" lvl="0" indent="-285750" latinLnBrk="0">
              <a:lnSpc>
                <a:spcPct val="120000"/>
              </a:lnSpc>
              <a:spcAft>
                <a:spcPts val="700"/>
              </a:spcAft>
              <a:buClr>
                <a:prstClr val="black"/>
              </a:buClr>
              <a:buSzPct val="100000"/>
              <a:buFont typeface="Arial" panose="020B0604020202020204" pitchFamily="34" charset="0"/>
              <a:buChar char="•"/>
              <a:defRPr sz="1300" ker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95000"/>
                    <a:lumOff val="5000"/>
                  </a:prst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 lvl="0">
              <a:defRPr/>
            </a:pP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멜버른 항만에서 약 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13km 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거리에 위치한 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9,00sqm 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규모 시설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넓은 오픈 </a:t>
            </a:r>
            <a:r>
              <a:rPr lang="ko-KR" altLang="en-US" sz="1000" dirty="0" err="1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플로어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공간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전용 야드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그리고 </a:t>
            </a:r>
            <a:r>
              <a:rPr lang="ko-KR" altLang="en-US" sz="1000" dirty="0" err="1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캐노피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차양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 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시설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lvl="0">
              <a:defRPr/>
            </a:pP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타이어 보관 및 대량 산업 화물 처리에 특화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lvl="0">
              <a:defRPr/>
            </a:pP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멜버른 항만과의 근접성을 바탕으로 보다 빠른 화물 이동 및 회전율 지원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lvl="0">
              <a:defRPr/>
            </a:pP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24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시간 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CCTV 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모니터링을 통해 지속적인 가시성과 보안을 제공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</p:txBody>
      </p:sp>
      <p:pic>
        <p:nvPicPr>
          <p:cNvPr id="30" name="Picture 2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7316" y="4676987"/>
            <a:ext cx="5004479" cy="1804894"/>
          </a:xfrm>
          <a:prstGeom prst="rect">
            <a:avLst/>
          </a:prstGeom>
        </p:spPr>
      </p:pic>
      <p:sp>
        <p:nvSpPr>
          <p:cNvPr id="32" name="Rectangle 146"/>
          <p:cNvSpPr/>
          <p:nvPr/>
        </p:nvSpPr>
        <p:spPr>
          <a:xfrm>
            <a:off x="6056614" y="2884374"/>
            <a:ext cx="6242050" cy="40517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146"/>
          <p:cNvSpPr/>
          <p:nvPr/>
        </p:nvSpPr>
        <p:spPr>
          <a:xfrm>
            <a:off x="13862954" y="2179234"/>
            <a:ext cx="7492096" cy="47569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15265527" y="2400362"/>
            <a:ext cx="5159617" cy="21344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ko-KR"/>
            </a:defPPr>
            <a:lvl1pPr marL="285750" lvl="0" indent="-285750" latinLnBrk="0">
              <a:lnSpc>
                <a:spcPct val="120000"/>
              </a:lnSpc>
              <a:spcAft>
                <a:spcPts val="700"/>
              </a:spcAft>
              <a:buClr>
                <a:prstClr val="black"/>
              </a:buClr>
              <a:buSzPct val="100000"/>
              <a:buFont typeface="Arial" panose="020B0604020202020204" pitchFamily="34" charset="0"/>
              <a:buChar char="•"/>
              <a:defRPr sz="1300" ker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95000"/>
                    <a:lumOff val="5000"/>
                  </a:prst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 lvl="0">
              <a:defRPr/>
            </a:pPr>
            <a:r>
              <a:rPr lang="en-SG" altLang="ko-KR" sz="1200" dirty="0"/>
              <a:t>Scale: 9,000 </a:t>
            </a:r>
            <a:r>
              <a:rPr lang="en-SG" altLang="ko-KR" sz="1200" dirty="0" err="1"/>
              <a:t>sqm</a:t>
            </a:r>
            <a:r>
              <a:rPr lang="en-SG" altLang="ko-KR" sz="1200" dirty="0"/>
              <a:t> facility located just 13km from the Port of Melbourne, featuring expansive open floor space, dedicated yard, and covered awning.</a:t>
            </a:r>
          </a:p>
          <a:p>
            <a:pPr lvl="0">
              <a:defRPr/>
            </a:pPr>
            <a:r>
              <a:rPr lang="en-SG" altLang="ko-KR" sz="1200" dirty="0"/>
              <a:t>Specialization in tyre storage and bulk industrial goods handling.</a:t>
            </a:r>
          </a:p>
          <a:p>
            <a:pPr lvl="0">
              <a:defRPr/>
            </a:pPr>
            <a:r>
              <a:rPr lang="en-SG" altLang="ko-KR" sz="1200" dirty="0"/>
              <a:t>Connectivity: Enables faster freight movement and turnaround with proximity to the Port of Melbourne.</a:t>
            </a:r>
          </a:p>
          <a:p>
            <a:pPr lvl="0">
              <a:defRPr/>
            </a:pPr>
            <a:r>
              <a:rPr lang="en-SG" altLang="ko-KR" sz="1200" dirty="0"/>
              <a:t>Safety: 24/7 CCTV monitoring delivering continuous visibility and security.</a:t>
            </a:r>
          </a:p>
        </p:txBody>
      </p:sp>
      <p:pic>
        <p:nvPicPr>
          <p:cNvPr id="35" name="Picture 2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35297" y="4769566"/>
            <a:ext cx="5004479" cy="180489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4241273" y="1881357"/>
            <a:ext cx="2542493" cy="184666"/>
          </a:xfrm>
          <a:prstGeom prst="wedgeRectCallout">
            <a:avLst>
              <a:gd name="adj1" fmla="val -33878"/>
              <a:gd name="adj2" fmla="val 51201"/>
            </a:avLst>
          </a:prstGeom>
          <a:solidFill>
            <a:srgbClr val="FFFF00"/>
          </a:solidFill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latinLnBrk="0">
              <a:spcAft>
                <a:spcPts val="400"/>
              </a:spcAft>
              <a:defRPr sz="1500">
                <a:ln>
                  <a:solidFill>
                    <a:prstClr val="white">
                      <a:alpha val="0"/>
                    </a:prstClr>
                  </a:solidFill>
                </a:ln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defRPr>
            </a:lvl1pPr>
          </a:lstStyle>
          <a:p>
            <a:pPr lvl="0">
              <a:defRPr/>
            </a:pPr>
            <a:r>
              <a:rPr lang="ko-KR" altLang="en-US" sz="1200" dirty="0">
                <a:solidFill>
                  <a:prstClr val="black"/>
                </a:solidFill>
              </a:rPr>
              <a:t>알토나</a:t>
            </a:r>
            <a:r>
              <a:rPr lang="en-US" altLang="ko-KR" sz="1200" dirty="0">
                <a:solidFill>
                  <a:prstClr val="black"/>
                </a:solidFill>
              </a:rPr>
              <a:t>, </a:t>
            </a:r>
            <a:r>
              <a:rPr lang="ko-KR" altLang="en-US" sz="1200" dirty="0">
                <a:solidFill>
                  <a:prstClr val="black"/>
                </a:solidFill>
              </a:rPr>
              <a:t>사진과 내용 수정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3029597" y="7455412"/>
            <a:ext cx="1981089" cy="430887"/>
          </a:xfrm>
          <a:prstGeom prst="wedgeRectCallout">
            <a:avLst>
              <a:gd name="adj1" fmla="val -33878"/>
              <a:gd name="adj2" fmla="val 51201"/>
            </a:avLst>
          </a:prstGeom>
          <a:solidFill>
            <a:srgbClr val="FFFF00"/>
          </a:solidFill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latinLnBrk="0">
              <a:spcAft>
                <a:spcPts val="400"/>
              </a:spcAft>
              <a:defRPr sz="1500">
                <a:ln>
                  <a:solidFill>
                    <a:prstClr val="white">
                      <a:alpha val="0"/>
                    </a:prstClr>
                  </a:solidFill>
                </a:ln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defRPr>
            </a:lvl1pPr>
          </a:lstStyle>
          <a:p>
            <a:pPr lvl="0" algn="ctr">
              <a:defRPr/>
            </a:pPr>
            <a:r>
              <a:rPr lang="ko-KR" altLang="en-US" sz="2800" dirty="0">
                <a:solidFill>
                  <a:prstClr val="black"/>
                </a:solidFill>
              </a:rPr>
              <a:t>신규 추가 </a:t>
            </a:r>
            <a:endParaRPr lang="en-US" altLang="ko-KR" sz="2800" dirty="0">
              <a:solidFill>
                <a:prstClr val="black"/>
              </a:solidFill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13298708" y="15089140"/>
            <a:ext cx="2041098" cy="8205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34" charset="-127"/>
                <a:cs typeface="Arial" panose="020B0604020202020204" pitchFamily="34" charset="0"/>
              </a:rPr>
              <a:t>Canning Vale, Perth Warehouse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753410" y="12977678"/>
            <a:ext cx="5159617" cy="21141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ko-KR"/>
            </a:defPPr>
            <a:lvl1pPr marL="285750" lvl="0" indent="-285750" latinLnBrk="0">
              <a:lnSpc>
                <a:spcPct val="120000"/>
              </a:lnSpc>
              <a:spcAft>
                <a:spcPts val="700"/>
              </a:spcAft>
              <a:buClr>
                <a:prstClr val="black"/>
              </a:buClr>
              <a:buSzPct val="100000"/>
              <a:buFont typeface="Arial" panose="020B0604020202020204" pitchFamily="34" charset="0"/>
              <a:buChar char="•"/>
              <a:defRPr sz="1300" ker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95000"/>
                    <a:lumOff val="5000"/>
                  </a:prst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 marL="171450" indent="-171450"/>
            <a:r>
              <a:rPr lang="en-SG" altLang="ko-KR" sz="1200" dirty="0"/>
              <a:t>Scale: 6,698 </a:t>
            </a:r>
            <a:r>
              <a:rPr lang="en-SG" altLang="ko-KR" sz="1200" dirty="0" err="1"/>
              <a:t>sqm</a:t>
            </a:r>
            <a:r>
              <a:rPr lang="en-SG" altLang="ko-KR" sz="1200" dirty="0"/>
              <a:t> warehouse complemented by 5,527 </a:t>
            </a:r>
            <a:r>
              <a:rPr lang="en-SG" altLang="ko-KR" sz="1200" dirty="0" err="1"/>
              <a:t>sqm</a:t>
            </a:r>
            <a:r>
              <a:rPr lang="en-SG" altLang="ko-KR" sz="1200" dirty="0"/>
              <a:t> hardstand and a 993 </a:t>
            </a:r>
            <a:r>
              <a:rPr lang="en-SG" altLang="ko-KR" sz="1200" dirty="0" err="1"/>
              <a:t>sqm</a:t>
            </a:r>
            <a:r>
              <a:rPr lang="en-SG" altLang="ko-KR" sz="1200" dirty="0"/>
              <a:t> covered canopy.</a:t>
            </a:r>
          </a:p>
          <a:p>
            <a:pPr marL="171450" indent="-171450"/>
            <a:r>
              <a:rPr lang="en-SG" altLang="ko-KR" sz="1200" dirty="0"/>
              <a:t>Specialization: Specialised in tyre storage and bulky industrial goods handling</a:t>
            </a:r>
          </a:p>
          <a:p>
            <a:pPr marL="171450" indent="-171450"/>
            <a:r>
              <a:rPr lang="en-SG" altLang="ko-KR" sz="1200" dirty="0"/>
              <a:t>Connectivity: Direct access to Roe Highway and </a:t>
            </a:r>
            <a:r>
              <a:rPr lang="en-SG" altLang="ko-KR" sz="1200" dirty="0" err="1"/>
              <a:t>Kwinana</a:t>
            </a:r>
            <a:r>
              <a:rPr lang="en-SG" altLang="ko-KR" sz="1200" dirty="0"/>
              <a:t> Freeway, facilitating efficient regional and interstate distribution</a:t>
            </a:r>
          </a:p>
          <a:p>
            <a:pPr marL="171450" indent="-171450"/>
            <a:r>
              <a:rPr lang="en-SG" altLang="ko-KR" sz="1200" dirty="0"/>
              <a:t>Safety: Comprehensive security with CCTV cameras, live‑feed monitoring, and fully alarmed systems</a:t>
            </a:r>
          </a:p>
        </p:txBody>
      </p:sp>
      <p:pic>
        <p:nvPicPr>
          <p:cNvPr id="42" name="Picture 2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51277" y="15535332"/>
            <a:ext cx="4992482" cy="1800567"/>
          </a:xfrm>
          <a:prstGeom prst="rect">
            <a:avLst/>
          </a:prstGeom>
        </p:spPr>
      </p:pic>
      <p:sp>
        <p:nvSpPr>
          <p:cNvPr id="45" name="직사각형 44"/>
          <p:cNvSpPr/>
          <p:nvPr/>
        </p:nvSpPr>
        <p:spPr>
          <a:xfrm>
            <a:off x="5867847" y="15052883"/>
            <a:ext cx="1271200" cy="9839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 panose="020B0604020202020204" pitchFamily="34" charset="0"/>
              </a:rPr>
              <a:t>캐닝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 panose="020B0604020202020204" pitchFamily="34" charset="0"/>
              </a:rPr>
              <a:t> 베일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 panose="020B0604020202020204" pitchFamily="34" charset="0"/>
              </a:rPr>
              <a:t>,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 panose="020B0604020202020204" pitchFamily="34" charset="0"/>
              </a:rPr>
              <a:t>퍼스 창고</a:t>
            </a:r>
            <a:endParaRPr kumimoji="0" lang="en-US" altLang="ko-KR" sz="1600" b="0" i="0" u="none" strike="noStrike" kern="120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나눔스퀘어 ExtraBold" panose="020B0600000101010101" pitchFamily="50" charset="-127"/>
              <a:ea typeface="나눔스퀘어 ExtraBold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236912" y="13919839"/>
            <a:ext cx="5159617" cy="108965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ko-KR"/>
            </a:defPPr>
            <a:lvl1pPr marL="285750" lvl="0" indent="-285750" latinLnBrk="0">
              <a:lnSpc>
                <a:spcPct val="120000"/>
              </a:lnSpc>
              <a:spcAft>
                <a:spcPts val="700"/>
              </a:spcAft>
              <a:buClr>
                <a:prstClr val="black"/>
              </a:buClr>
              <a:buSzPct val="100000"/>
              <a:buFont typeface="Arial" panose="020B0604020202020204" pitchFamily="34" charset="0"/>
              <a:buChar char="•"/>
              <a:defRPr sz="1300" ker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95000"/>
                    <a:lumOff val="5000"/>
                  </a:prst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 lvl="0">
              <a:defRPr/>
            </a:pP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6,698sqm 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규모의 창고와 함께 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5,527sqm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의 </a:t>
            </a:r>
            <a:r>
              <a:rPr lang="ko-KR" altLang="en-US" sz="1000" dirty="0" err="1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하드스탠드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및 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993sqm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의 </a:t>
            </a:r>
            <a:r>
              <a:rPr lang="ko-KR" altLang="en-US" sz="1000" dirty="0" err="1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캐노피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차양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 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공간</a:t>
            </a:r>
          </a:p>
          <a:p>
            <a:pPr lvl="0">
              <a:defRPr/>
            </a:pP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타이어 보관 및 대형 화물 처리에 특화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lvl="0">
              <a:defRPr/>
            </a:pP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Roe Highway 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및 </a:t>
            </a:r>
            <a:r>
              <a:rPr lang="en-US" altLang="ko-KR" sz="1000" dirty="0" err="1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Kwinana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Freeway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와 직접 연결되어 지역 및 주간 운송 효율적</a:t>
            </a:r>
          </a:p>
          <a:p>
            <a:pPr lvl="0">
              <a:defRPr/>
            </a:pP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CCTV 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카메라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실시간 모니터링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완전 경보 시스템을 포함한 종합 보안 체계</a:t>
            </a:r>
          </a:p>
        </p:txBody>
      </p:sp>
      <p:pic>
        <p:nvPicPr>
          <p:cNvPr id="47" name="Picture 2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7486" y="15347134"/>
            <a:ext cx="4992482" cy="1800567"/>
          </a:xfrm>
          <a:prstGeom prst="rect">
            <a:avLst/>
          </a:prstGeom>
        </p:spPr>
      </p:pic>
      <p:sp>
        <p:nvSpPr>
          <p:cNvPr id="2" name="타원 1">
            <a:extLst>
              <a:ext uri="{FF2B5EF4-FFF2-40B4-BE49-F238E27FC236}">
                <a16:creationId xmlns:a16="http://schemas.microsoft.com/office/drawing/2014/main" id="{76E346AD-43FB-B580-0376-368A4386D34D}"/>
              </a:ext>
            </a:extLst>
          </p:cNvPr>
          <p:cNvSpPr/>
          <p:nvPr/>
        </p:nvSpPr>
        <p:spPr>
          <a:xfrm>
            <a:off x="9283700" y="228600"/>
            <a:ext cx="2520000" cy="2520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/>
              <a:t>디자인 이미지 변경 </a:t>
            </a:r>
            <a:endParaRPr kumimoji="1" lang="en-US" altLang="ko-KR" dirty="0"/>
          </a:p>
          <a:p>
            <a:pPr algn="ctr"/>
            <a:r>
              <a:rPr kumimoji="1" lang="ko-KR" altLang="en-US" dirty="0" err="1"/>
              <a:t>퍼블</a:t>
            </a:r>
            <a:r>
              <a:rPr kumimoji="1" lang="ko-KR" altLang="en-US" dirty="0"/>
              <a:t> </a:t>
            </a:r>
            <a:r>
              <a:rPr kumimoji="1" lang="en-US" altLang="ko-KR" dirty="0"/>
              <a:t>: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현지어</a:t>
            </a:r>
            <a:r>
              <a:rPr kumimoji="1" lang="en-US" altLang="ko-KR" dirty="0"/>
              <a:t>,</a:t>
            </a:r>
            <a:r>
              <a:rPr kumimoji="1" lang="ko-KR" altLang="en-US" dirty="0"/>
              <a:t> 다국어 엑셀파일 참고</a:t>
            </a:r>
          </a:p>
        </p:txBody>
      </p:sp>
    </p:spTree>
    <p:extLst>
      <p:ext uri="{BB962C8B-B14F-4D97-AF65-F5344CB8AC3E}">
        <p14:creationId xmlns:p14="http://schemas.microsoft.com/office/powerpoint/2010/main" val="14926344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129" y="945466"/>
            <a:ext cx="6493571" cy="5717570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6671914" y="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dirty="0" err="1">
                <a:hlinkClick r:id="rId3"/>
              </a:rPr>
              <a:t>첼로스퀘어</a:t>
            </a:r>
            <a:r>
              <a:rPr lang="ko-KR" altLang="en-US" dirty="0">
                <a:hlinkClick r:id="rId3"/>
              </a:rPr>
              <a:t> 콜롬비아 소개 </a:t>
            </a:r>
            <a:r>
              <a:rPr lang="en-US" altLang="ko-KR" dirty="0">
                <a:hlinkClick r:id="rId3"/>
              </a:rPr>
              <a:t>- Global Network | </a:t>
            </a:r>
            <a:r>
              <a:rPr lang="ko-KR" altLang="en-US" dirty="0" err="1">
                <a:hlinkClick r:id="rId3"/>
              </a:rPr>
              <a:t>첼로스퀘어</a:t>
            </a:r>
            <a:r>
              <a:rPr lang="en-US" altLang="ko-KR" dirty="0">
                <a:hlinkClick r:id="rId3"/>
              </a:rPr>
              <a:t>(Cello Square)</a:t>
            </a:r>
            <a:endParaRPr lang="en-US" dirty="0"/>
          </a:p>
        </p:txBody>
      </p:sp>
      <p:sp>
        <p:nvSpPr>
          <p:cNvPr id="6" name="직사각형 5"/>
          <p:cNvSpPr/>
          <p:nvPr/>
        </p:nvSpPr>
        <p:spPr>
          <a:xfrm>
            <a:off x="9079084" y="6293704"/>
            <a:ext cx="36888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trike="sngStrike" dirty="0">
                <a:solidFill>
                  <a:srgbClr val="FF0000"/>
                </a:solidFill>
                <a:latin typeface="arial" panose="020B0604020202020204" pitchFamily="34" charset="0"/>
              </a:rPr>
              <a:t>E-mail: diego.diaz@samsung.com</a:t>
            </a:r>
            <a:endParaRPr lang="en-US" strike="sngStrike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4" y="1240878"/>
            <a:ext cx="6470305" cy="5126745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115522" y="94324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dirty="0" err="1">
                <a:hlinkClick r:id="rId5"/>
              </a:rPr>
              <a:t>첼로스퀘어</a:t>
            </a:r>
            <a:r>
              <a:rPr lang="ko-KR" altLang="en-US" dirty="0">
                <a:hlinkClick r:id="rId5"/>
              </a:rPr>
              <a:t> 칠레 소개 </a:t>
            </a:r>
            <a:r>
              <a:rPr lang="en-US" altLang="ko-KR" dirty="0">
                <a:hlinkClick r:id="rId5"/>
              </a:rPr>
              <a:t>- Global Network | </a:t>
            </a:r>
            <a:r>
              <a:rPr lang="ko-KR" altLang="en-US" dirty="0" err="1">
                <a:hlinkClick r:id="rId5"/>
              </a:rPr>
              <a:t>첼로스퀘어</a:t>
            </a:r>
            <a:r>
              <a:rPr lang="en-US" altLang="ko-KR" dirty="0">
                <a:hlinkClick r:id="rId5"/>
              </a:rPr>
              <a:t>(Cello Square)</a:t>
            </a:r>
            <a:endParaRPr lang="en-US" dirty="0"/>
          </a:p>
        </p:txBody>
      </p:sp>
      <p:sp>
        <p:nvSpPr>
          <p:cNvPr id="10" name="직사각형 9"/>
          <p:cNvSpPr/>
          <p:nvPr/>
        </p:nvSpPr>
        <p:spPr>
          <a:xfrm>
            <a:off x="7431747" y="4350773"/>
            <a:ext cx="4262705" cy="646331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ko-KR" altLang="en-US" dirty="0" err="1">
                <a:solidFill>
                  <a:srgbClr val="FF0000"/>
                </a:solidFill>
                <a:latin typeface="arial" panose="020B0604020202020204" pitchFamily="34" charset="0"/>
              </a:rPr>
              <a:t>국영문</a:t>
            </a:r>
            <a:r>
              <a:rPr lang="ko-KR" altLang="en-US" dirty="0">
                <a:solidFill>
                  <a:srgbClr val="FF0000"/>
                </a:solidFill>
                <a:latin typeface="arial" panose="020B0604020202020204" pitchFamily="34" charset="0"/>
              </a:rPr>
              <a:t> 동일</a:t>
            </a:r>
            <a:r>
              <a:rPr lang="en-US" altLang="ko-KR" dirty="0">
                <a:solidFill>
                  <a:srgbClr val="FF0000"/>
                </a:solidFill>
                <a:latin typeface="arial" panose="020B0604020202020204" pitchFamily="34" charset="0"/>
              </a:rPr>
              <a:t>, </a:t>
            </a:r>
          </a:p>
          <a:p>
            <a:r>
              <a:rPr lang="ko-KR" altLang="en-US" dirty="0">
                <a:solidFill>
                  <a:srgbClr val="FF0000"/>
                </a:solidFill>
                <a:latin typeface="arial" panose="020B0604020202020204" pitchFamily="34" charset="0"/>
              </a:rPr>
              <a:t>이메일 주소 삭제 후 위치만 남겨 주세요</a:t>
            </a:r>
            <a:endParaRPr lang="en-US" dirty="0"/>
          </a:p>
        </p:txBody>
      </p:sp>
      <p:sp>
        <p:nvSpPr>
          <p:cNvPr id="11" name="직사각형 10"/>
          <p:cNvSpPr/>
          <p:nvPr/>
        </p:nvSpPr>
        <p:spPr>
          <a:xfrm>
            <a:off x="1612568" y="4304606"/>
            <a:ext cx="2582758" cy="369332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ko-KR" altLang="en-US" dirty="0" err="1">
                <a:solidFill>
                  <a:srgbClr val="FF0000"/>
                </a:solidFill>
                <a:latin typeface="arial" panose="020B0604020202020204" pitchFamily="34" charset="0"/>
              </a:rPr>
              <a:t>국영문</a:t>
            </a:r>
            <a:r>
              <a:rPr lang="ko-KR" altLang="en-US" dirty="0">
                <a:solidFill>
                  <a:srgbClr val="FF0000"/>
                </a:solidFill>
                <a:latin typeface="arial" panose="020B0604020202020204" pitchFamily="34" charset="0"/>
              </a:rPr>
              <a:t> 동일</a:t>
            </a:r>
            <a:r>
              <a:rPr lang="en-US" altLang="ko-KR" dirty="0">
                <a:solidFill>
                  <a:srgbClr val="FF0000"/>
                </a:solidFill>
                <a:latin typeface="arial" panose="020B0604020202020204" pitchFamily="34" charset="0"/>
              </a:rPr>
              <a:t>,  </a:t>
            </a:r>
            <a:r>
              <a:rPr lang="ko-KR" altLang="en-US" dirty="0">
                <a:solidFill>
                  <a:srgbClr val="FF0000"/>
                </a:solidFill>
                <a:latin typeface="arial" panose="020B0604020202020204" pitchFamily="34" charset="0"/>
              </a:rPr>
              <a:t>성명 삭제</a:t>
            </a:r>
            <a:endParaRPr lang="en-US" dirty="0"/>
          </a:p>
        </p:txBody>
      </p:sp>
      <p:sp>
        <p:nvSpPr>
          <p:cNvPr id="12" name="직사각형 11"/>
          <p:cNvSpPr/>
          <p:nvPr/>
        </p:nvSpPr>
        <p:spPr>
          <a:xfrm>
            <a:off x="1048852" y="6109038"/>
            <a:ext cx="43782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trike="sngStrike" dirty="0">
                <a:solidFill>
                  <a:srgbClr val="FF0000"/>
                </a:solidFill>
                <a:latin typeface="arial" panose="020B0604020202020204" pitchFamily="34" charset="0"/>
              </a:rPr>
              <a:t>Mr. Joohyun Kim -Sammy- (Sr. Manager)</a:t>
            </a:r>
            <a:endParaRPr lang="en-US" strike="sngStrike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209800" y="5549900"/>
            <a:ext cx="1498600" cy="1243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직사각형 13"/>
          <p:cNvSpPr/>
          <p:nvPr/>
        </p:nvSpPr>
        <p:spPr>
          <a:xfrm>
            <a:off x="10174199" y="5932388"/>
            <a:ext cx="1498600" cy="3613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3285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836</TotalTime>
  <Words>3391</Words>
  <Application>Microsoft Macintosh PowerPoint</Application>
  <PresentationFormat>와이드스크린</PresentationFormat>
  <Paragraphs>398</Paragraphs>
  <Slides>24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7" baseType="lpstr">
      <vt:lpstr>나눔스퀘어</vt:lpstr>
      <vt:lpstr>나눔스퀘어 Bold</vt:lpstr>
      <vt:lpstr>나눔스퀘어 ExtraBold</vt:lpstr>
      <vt:lpstr>맑은 고딕</vt:lpstr>
      <vt:lpstr>맑은 고딕</vt:lpstr>
      <vt:lpstr>SDS Sans  Medium</vt:lpstr>
      <vt:lpstr>SDS Sans  Regular</vt:lpstr>
      <vt:lpstr>SDS Sans Light</vt:lpstr>
      <vt:lpstr>arial</vt:lpstr>
      <vt:lpstr>arial</vt:lpstr>
      <vt:lpstr>Calibri</vt:lpstr>
      <vt:lpstr>Segoe UI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prof</dc:creator>
  <cp:lastModifiedBy>Yoojin Shin</cp:lastModifiedBy>
  <cp:revision>27</cp:revision>
  <dcterms:created xsi:type="dcterms:W3CDTF">2026-05-13T07:51:29Z</dcterms:created>
  <dcterms:modified xsi:type="dcterms:W3CDTF">2026-05-21T08:14:32Z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  <property fmtid="{D5CDD505-2E9C-101B-9397-08002B2CF9AE}" pid="3" name="FLCMData">
    <vt:lpwstr>E474E8EDF8A709C111EB6F6C94592C17F66418EDAB4C467CA6EDB3763E8FE46B942FB55205E5C2B97B0F271DAD4ABD7D1387EC99EC2355B441EA23B6198D61EE</vt:lpwstr>
  </property>
</Properties>
</file>