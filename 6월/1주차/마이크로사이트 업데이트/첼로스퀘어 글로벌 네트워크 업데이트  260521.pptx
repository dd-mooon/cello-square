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4" r:id="rId2"/>
    <p:sldId id="283" r:id="rId3"/>
    <p:sldId id="282" r:id="rId4"/>
    <p:sldId id="259" r:id="rId5"/>
    <p:sldId id="261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55CA9-6E58-4F0F-927B-E6A082DEF2B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9DB1F-DCAF-47E3-8197-01DE922C2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2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86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5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5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92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6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1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79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2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86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384EB-C3C3-4682-BA2E-19AEDF7B903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1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transportation.d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US-ko.do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ellosquare.vn@samsung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ello-square.com/kr/company/global-network/VN-ko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cello-square.com/kr/company/global-network/MY-ko.d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hyperlink" Target="mailto:jeffrey.kee@partner.samsung.co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van.xu@samsung.com" TargetMode="External"/><Relationship Id="rId5" Type="http://schemas.openxmlformats.org/officeDocument/2006/relationships/hyperlink" Target="mailto:terrance.lee@samsung.com" TargetMode="External"/><Relationship Id="rId4" Type="http://schemas.openxmlformats.org/officeDocument/2006/relationships/hyperlink" Target="mailto:cellosquare.my@samsung.co" TargetMode="Externa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ID-ko.do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PH-ko.do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AU-ko.do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CO-ko.do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CL-ko.do" TargetMode="Externa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 smtClean="0"/>
              <a:t>서안 개발팀</a:t>
            </a:r>
            <a:endParaRPr lang="ko-KR" altLang="en-US" sz="4500" dirty="0"/>
          </a:p>
        </p:txBody>
      </p:sp>
    </p:spTree>
    <p:extLst>
      <p:ext uri="{BB962C8B-B14F-4D97-AF65-F5344CB8AC3E}">
        <p14:creationId xmlns:p14="http://schemas.microsoft.com/office/powerpoint/2010/main" val="291557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1380166"/>
            <a:ext cx="7143751" cy="4962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91179" y="310634"/>
            <a:ext cx="3942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3"/>
              </a:rPr>
              <a:t>국제운송 </a:t>
            </a:r>
            <a:r>
              <a:rPr lang="en-US" altLang="ko-KR" dirty="0">
                <a:hlinkClick r:id="rId3"/>
              </a:rPr>
              <a:t>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</a:t>
            </a:r>
            <a:r>
              <a:rPr lang="en-US" dirty="0">
                <a:hlinkClick r:id="rId3"/>
              </a:rPr>
              <a:t>Cello Square)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국영문</a:t>
            </a:r>
            <a:r>
              <a:rPr lang="ko-KR" altLang="en-US" dirty="0" smtClean="0"/>
              <a:t> 모두 </a:t>
            </a:r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84" y="1560904"/>
            <a:ext cx="4757693" cy="513298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678679" y="3272100"/>
            <a:ext cx="1178041" cy="2539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ko-KR" sz="1050" dirty="0" smtClean="0"/>
              <a:t>52</a:t>
            </a:r>
            <a:r>
              <a:rPr lang="ko-KR" altLang="en-US" sz="1050" dirty="0" smtClean="0"/>
              <a:t>개 거점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337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0869" r="5946"/>
          <a:stretch/>
        </p:blipFill>
        <p:spPr>
          <a:xfrm>
            <a:off x="1219199" y="1398831"/>
            <a:ext cx="9505951" cy="385151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42900" y="343585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66" y="6300956"/>
            <a:ext cx="10317015" cy="518232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2900" y="5654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미국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014983" y="3126694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2481333" y="9466033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국영문</a:t>
            </a:r>
            <a:r>
              <a:rPr lang="ko-KR" altLang="en-US" dirty="0" smtClean="0"/>
              <a:t> 모두 </a:t>
            </a:r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589542" y="3206381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43264" y="9545720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9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0230" b="10805"/>
          <a:stretch/>
        </p:blipFill>
        <p:spPr>
          <a:xfrm>
            <a:off x="0" y="1235675"/>
            <a:ext cx="11640064" cy="176701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4227" y="1649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85916" y="3427108"/>
            <a:ext cx="19255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/>
              <a:t>베트남 하노이 </a:t>
            </a:r>
            <a:r>
              <a:rPr lang="ko-KR" altLang="en-US" sz="1500" dirty="0" smtClean="0"/>
              <a:t>거점 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5246431" y="3427108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6734" y="2942359"/>
            <a:ext cx="22036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하노이 </a:t>
            </a:r>
            <a:r>
              <a:rPr lang="en-US" altLang="ko-KR" dirty="0"/>
              <a:t>(</a:t>
            </a:r>
            <a:r>
              <a:rPr lang="en-US" altLang="ko-KR" dirty="0" smtClean="0"/>
              <a:t>RHQ) </a:t>
            </a:r>
            <a:r>
              <a:rPr lang="ko-KR" altLang="en-US" dirty="0" smtClean="0"/>
              <a:t>밑에 추가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74197" y="4997004"/>
            <a:ext cx="1946367" cy="597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 err="1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Hochiminh</a:t>
            </a:r>
            <a:r>
              <a:rPr lang="en-US" altLang="ko-KR" sz="15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5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Branch</a:t>
            </a:r>
            <a:endParaRPr lang="en-US" altLang="ko-KR" sz="1500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11443" y="4886835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557850" y="3031691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557850" y="4560669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648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 err="1" smtClean="0"/>
              <a:t>콘센트릭스</a:t>
            </a:r>
            <a:endParaRPr lang="ko-KR" altLang="en-US" sz="4500" dirty="0"/>
          </a:p>
        </p:txBody>
      </p:sp>
    </p:spTree>
    <p:extLst>
      <p:ext uri="{BB962C8B-B14F-4D97-AF65-F5344CB8AC3E}">
        <p14:creationId xmlns:p14="http://schemas.microsoft.com/office/powerpoint/2010/main" val="43276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9" y="1015454"/>
            <a:ext cx="10793331" cy="35152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2321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292285" y="4123989"/>
            <a:ext cx="6096000" cy="52280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RHQ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</a:t>
            </a: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Vietnam</a:t>
            </a: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ALS </a:t>
            </a: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kern="0" dirty="0" err="1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Hanoi, Bac </a:t>
            </a:r>
            <a:r>
              <a:rPr lang="en-US" altLang="ko-KR" kern="0" dirty="0" err="1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Ninh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</a:t>
            </a: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Vietnam</a:t>
            </a: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 Chi </a:t>
            </a: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Minh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Vietnam</a:t>
            </a:r>
            <a:b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*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cho.jinho@samsung.com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685918" y="4123989"/>
            <a:ext cx="6096000" cy="538762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hlinkClick r:id="rId4"/>
              </a:rPr>
              <a:t>cellosquare.vn@samsung.com</a:t>
            </a: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SG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kern="0" dirty="0" smtClean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</a:t>
            </a: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cho.jinho@samsung.com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3335" y="1788471"/>
            <a:ext cx="15012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</a:t>
            </a:r>
            <a:r>
              <a:rPr lang="en-US" altLang="ko-KR" dirty="0" smtClean="0"/>
              <a:t>/</a:t>
            </a:r>
            <a:r>
              <a:rPr lang="ko-KR" altLang="en-US" dirty="0" smtClean="0"/>
              <a:t>영문 동일</a:t>
            </a:r>
            <a:endParaRPr lang="en-US" altLang="ko-KR" dirty="0" smtClean="0"/>
          </a:p>
          <a:p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25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베트남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394" y="3424237"/>
            <a:ext cx="257211" cy="95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83" y="842601"/>
            <a:ext cx="8659433" cy="517279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66282" y="2510433"/>
            <a:ext cx="86594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prstClr val="black"/>
                </a:solidFill>
              </a:rPr>
              <a:t>2011</a:t>
            </a:r>
            <a:r>
              <a:rPr lang="ko-KR" altLang="en-US" dirty="0">
                <a:solidFill>
                  <a:prstClr val="black"/>
                </a:solidFill>
              </a:rPr>
              <a:t>년에 설립된 </a:t>
            </a:r>
            <a:r>
              <a:rPr lang="ko-KR" altLang="en-US" dirty="0" smtClean="0">
                <a:solidFill>
                  <a:prstClr val="black"/>
                </a:solidFill>
              </a:rPr>
              <a:t>삼성</a:t>
            </a:r>
            <a:r>
              <a:rPr lang="en-US" altLang="ko-KR" dirty="0" smtClean="0">
                <a:solidFill>
                  <a:prstClr val="black"/>
                </a:solidFill>
              </a:rPr>
              <a:t>SDS </a:t>
            </a:r>
            <a:r>
              <a:rPr lang="ko-KR" altLang="en-US" dirty="0" smtClean="0">
                <a:solidFill>
                  <a:prstClr val="black"/>
                </a:solidFill>
              </a:rPr>
              <a:t>베트남은 다양한 산업의 </a:t>
            </a:r>
            <a:r>
              <a:rPr lang="ko-KR" altLang="en-US" dirty="0">
                <a:solidFill>
                  <a:prstClr val="black"/>
                </a:solidFill>
              </a:rPr>
              <a:t>고객을 대상으로 효율성과 확장성을 제고하는 솔루션을 제공하며 물류 리더로 빠르게 성장하고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9406" y="130805"/>
            <a:ext cx="37650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국문만 </a:t>
            </a:r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3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0" y="0"/>
            <a:ext cx="6515664" cy="686349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73257" y="475067"/>
            <a:ext cx="4673600" cy="1788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음료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리테일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국제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특송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허브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Bắc Ninh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(4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34,734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Đông Anh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1,098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Thái Nguyên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4,160 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Hải 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3,548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7,455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73257" y="3901665"/>
            <a:ext cx="4426857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모바일 및 가전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호치민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중남부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식품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지역 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냉장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냉동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(6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Bình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4,070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Thủ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Đức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City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21,400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2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말레이시아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87" y="646331"/>
            <a:ext cx="6183541" cy="44013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46628" y="3219271"/>
            <a:ext cx="6096000" cy="646331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prstClr val="black"/>
                </a:solidFill>
              </a:rPr>
              <a:t>2011</a:t>
            </a:r>
            <a:r>
              <a:rPr lang="ko-KR" altLang="en-US" sz="1200" dirty="0">
                <a:solidFill>
                  <a:prstClr val="black"/>
                </a:solidFill>
              </a:rPr>
              <a:t>년부터 삼성</a:t>
            </a:r>
            <a:r>
              <a:rPr lang="en-US" altLang="ko-KR" sz="1200" dirty="0">
                <a:solidFill>
                  <a:prstClr val="black"/>
                </a:solidFill>
              </a:rPr>
              <a:t>SDS </a:t>
            </a:r>
            <a:r>
              <a:rPr lang="ko-KR" altLang="en-US" sz="1200" dirty="0">
                <a:solidFill>
                  <a:prstClr val="black"/>
                </a:solidFill>
              </a:rPr>
              <a:t>말레이시아는 선도적인 물류 서비스 기업으로 성장해왔습니다</a:t>
            </a:r>
            <a:r>
              <a:rPr lang="en-US" altLang="ko-KR" sz="1200" dirty="0">
                <a:solidFill>
                  <a:prstClr val="black"/>
                </a:solidFill>
              </a:rPr>
              <a:t>. </a:t>
            </a:r>
            <a:r>
              <a:rPr lang="ko-KR" altLang="en-US" sz="1200" dirty="0" err="1">
                <a:solidFill>
                  <a:prstClr val="black"/>
                </a:solidFill>
              </a:rPr>
              <a:t>샤알람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</a:rPr>
              <a:t>글렌마리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(Glen Marie, Shah </a:t>
            </a:r>
            <a:r>
              <a:rPr lang="en-US" altLang="ko-KR" sz="1200" dirty="0" err="1">
                <a:solidFill>
                  <a:prstClr val="black"/>
                </a:solidFill>
              </a:rPr>
              <a:t>Alam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에 위치한 거점을 기반으로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지난 </a:t>
            </a:r>
            <a:r>
              <a:rPr lang="en-US" altLang="ko-KR" sz="1200" dirty="0">
                <a:solidFill>
                  <a:prstClr val="black"/>
                </a:solidFill>
              </a:rPr>
              <a:t>13</a:t>
            </a:r>
            <a:r>
              <a:rPr lang="ko-KR" altLang="en-US" sz="1200" dirty="0">
                <a:solidFill>
                  <a:prstClr val="black"/>
                </a:solidFill>
              </a:rPr>
              <a:t>년 동안 고객 맞춤형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해당부분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국문만 </a:t>
            </a:r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14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59" y="236624"/>
            <a:ext cx="8792802" cy="3896269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69239"/>
              </p:ext>
            </p:extLst>
          </p:nvPr>
        </p:nvGraphicFramePr>
        <p:xfrm>
          <a:off x="1334859" y="339121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Sabah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지점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Jaya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67111"/>
              </p:ext>
            </p:extLst>
          </p:nvPr>
        </p:nvGraphicFramePr>
        <p:xfrm>
          <a:off x="1334859" y="654580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Sabah Office (East Malaysia) 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b="1" dirty="0" err="1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Jaya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707" y="339121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0707" y="654580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843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7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617161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직사각형 29"/>
          <p:cNvSpPr/>
          <p:nvPr/>
        </p:nvSpPr>
        <p:spPr>
          <a:xfrm>
            <a:off x="617161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39" y="698162"/>
            <a:ext cx="4524921" cy="61598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5515429" y="819221"/>
            <a:ext cx="6096000" cy="923330"/>
          </a:xfrm>
          <a:prstGeom prst="wedgeRectCallout">
            <a:avLst>
              <a:gd name="adj1" fmla="val -92976"/>
              <a:gd name="adj2" fmla="val -2552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시스템 중심의 맞춤형 고객 지향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파트너로서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말레이시아는 유통산업 물류 전반을 총괄하는 </a:t>
            </a:r>
            <a:r>
              <a:rPr lang="en-US" altLang="ko-KR" dirty="0">
                <a:solidFill>
                  <a:prstClr val="black"/>
                </a:solidFill>
              </a:rPr>
              <a:t>End-to-End </a:t>
            </a:r>
            <a:r>
              <a:rPr lang="ko-KR" altLang="en-US" dirty="0">
                <a:solidFill>
                  <a:prstClr val="black"/>
                </a:solidFill>
              </a:rPr>
              <a:t>파트너로 자리매김하고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4309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전국 물류 창고 네트워크 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10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10747" y="3831771"/>
            <a:ext cx="2189150" cy="897689"/>
          </a:xfrm>
          <a:prstGeom prst="rect">
            <a:avLst/>
          </a:prstGeom>
        </p:spPr>
      </p:pic>
      <p:sp>
        <p:nvSpPr>
          <p:cNvPr id="11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110312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110940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</a:t>
            </a:r>
            <a:r>
              <a:rPr kumimoji="1" lang="en-US" altLang="ko-KR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5</a:t>
            </a:r>
            <a:r>
              <a:rPr kumimoji="1" lang="ko-KR" altLang="en-US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54934" y="3117463"/>
            <a:ext cx="5133278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25,000 </a:t>
            </a:r>
            <a:r>
              <a:rPr lang="en-US" altLang="ko-KR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</a:t>
            </a: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 라스트 마일 배송 및 가정 설치 서비스를 포함한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 창고 운영 중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성수기 수요 대응을 위한 유연한 운송 파트너 지원</a:t>
            </a:r>
          </a:p>
        </p:txBody>
      </p:sp>
      <p:pic>
        <p:nvPicPr>
          <p:cNvPr id="16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347" y="3997191"/>
            <a:ext cx="2959834" cy="1630277"/>
          </a:xfrm>
          <a:prstGeom prst="rect">
            <a:avLst/>
          </a:prstGeom>
        </p:spPr>
      </p:pic>
      <p:pic>
        <p:nvPicPr>
          <p:cNvPr id="18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1109403" y="4688963"/>
            <a:ext cx="2193572" cy="714896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39046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타이어 창고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9862" y="6363862"/>
            <a:ext cx="5124533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쿠알라룸푸르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전국 물류센터 대상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4PL</a:t>
            </a: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기반 운영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 기반 배치</a:t>
            </a:r>
          </a:p>
          <a:p>
            <a:pPr lvl="0"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팀 운영 통관 전 과정 서비스</a:t>
            </a:r>
          </a:p>
          <a:p>
            <a:pPr lvl="0"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감시 및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보안요원</a:t>
            </a:r>
          </a:p>
        </p:txBody>
      </p:sp>
      <p:pic>
        <p:nvPicPr>
          <p:cNvPr id="23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747" y="7944359"/>
            <a:ext cx="5070764" cy="1828800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785539" y="2700493"/>
            <a:ext cx="4860518" cy="2005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직사각형 25"/>
          <p:cNvSpPr/>
          <p:nvPr/>
        </p:nvSpPr>
        <p:spPr>
          <a:xfrm>
            <a:off x="785539" y="4789714"/>
            <a:ext cx="4860518" cy="1973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오른쪽 화살표 26"/>
          <p:cNvSpPr/>
          <p:nvPr/>
        </p:nvSpPr>
        <p:spPr>
          <a:xfrm>
            <a:off x="5515429" y="352387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오른쪽 화살표 27"/>
          <p:cNvSpPr/>
          <p:nvPr/>
        </p:nvSpPr>
        <p:spPr>
          <a:xfrm rot="1955466">
            <a:off x="5598129" y="612563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30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46245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1462459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/>
          <p:cNvSpPr/>
          <p:nvPr/>
        </p:nvSpPr>
        <p:spPr>
          <a:xfrm>
            <a:off x="1469607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Nationwide Warehouse Network</a:t>
            </a:r>
          </a:p>
        </p:txBody>
      </p:sp>
      <p:pic>
        <p:nvPicPr>
          <p:cNvPr id="41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563727" y="3831771"/>
            <a:ext cx="2189150" cy="897689"/>
          </a:xfrm>
          <a:prstGeom prst="rect">
            <a:avLst/>
          </a:prstGeom>
        </p:spPr>
      </p:pic>
      <p:sp>
        <p:nvSpPr>
          <p:cNvPr id="42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955610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3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956238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</a:t>
            </a:r>
            <a:r>
              <a:rPr kumimoji="1" lang="en-US" altLang="ko-KR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5</a:t>
            </a:r>
            <a:r>
              <a:rPr kumimoji="1" lang="ko-KR" altLang="en-US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44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327" y="3997191"/>
            <a:ext cx="2959834" cy="1630277"/>
          </a:xfrm>
          <a:prstGeom prst="rect">
            <a:avLst/>
          </a:prstGeom>
        </p:spPr>
      </p:pic>
      <p:pic>
        <p:nvPicPr>
          <p:cNvPr id="45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9562383" y="4688963"/>
            <a:ext cx="2193572" cy="714896"/>
          </a:xfrm>
          <a:prstGeom prst="rect">
            <a:avLst/>
          </a:prstGeom>
        </p:spPr>
      </p:pic>
      <p:sp>
        <p:nvSpPr>
          <p:cNvPr id="46" name="직사각형 45"/>
          <p:cNvSpPr/>
          <p:nvPr/>
        </p:nvSpPr>
        <p:spPr>
          <a:xfrm>
            <a:off x="1462459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직사각형 46"/>
          <p:cNvSpPr/>
          <p:nvPr/>
        </p:nvSpPr>
        <p:spPr>
          <a:xfrm>
            <a:off x="1484344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Tire Warehouse</a:t>
            </a:r>
          </a:p>
        </p:txBody>
      </p:sp>
      <p:pic>
        <p:nvPicPr>
          <p:cNvPr id="48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9727" y="7944359"/>
            <a:ext cx="5070764" cy="1828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439727" y="6258379"/>
            <a:ext cx="5124533" cy="1596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4PL for Nationwide Distribution Center in KL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System based operation by own Cello WMS/ TMS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FIFO(First-in, First-out) based bin allocation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Full customs clearance service scopes by own team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Constant CCTV surveillance with 24/7 security guards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377213" y="2807341"/>
            <a:ext cx="5133278" cy="1068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en-SG" altLang="ko-KR" sz="1200" dirty="0"/>
              <a:t>A dedicated 25,000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powered by our Cello WMS/TMS</a:t>
            </a:r>
            <a:r>
              <a:rPr lang="en-SG" altLang="ko-KR" sz="1200" dirty="0" smtClean="0"/>
              <a:t>.</a:t>
            </a:r>
          </a:p>
          <a:p>
            <a:r>
              <a:rPr lang="en-SG" altLang="ko-KR" sz="1200" dirty="0" smtClean="0"/>
              <a:t>We </a:t>
            </a:r>
            <a:r>
              <a:rPr lang="en-SG" altLang="ko-KR" sz="1200" dirty="0"/>
              <a:t>manage 14 ongoing warehouse operations with nationwide last-mile and home installation coverage, supported by a flexible network of transport partners to handle peak-season demand.</a:t>
            </a:r>
            <a:endParaRPr lang="ko-KR" altLang="en-US" sz="1200" dirty="0"/>
          </a:p>
        </p:txBody>
      </p:sp>
      <p:sp>
        <p:nvSpPr>
          <p:cNvPr id="52" name="사각형 설명선 51"/>
          <p:cNvSpPr/>
          <p:nvPr/>
        </p:nvSpPr>
        <p:spPr>
          <a:xfrm>
            <a:off x="15882329" y="819221"/>
            <a:ext cx="6096000" cy="369332"/>
          </a:xfrm>
          <a:prstGeom prst="wedgeRectCallout">
            <a:avLst>
              <a:gd name="adj1" fmla="val -60268"/>
              <a:gd name="adj2" fmla="val 4731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 smtClean="0">
                <a:solidFill>
                  <a:prstClr val="black"/>
                </a:solidFill>
              </a:rPr>
              <a:t>이 부분 변화 없음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아래만 반영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64781" y="5320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226614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14624590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82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054" b="11657"/>
          <a:stretch/>
        </p:blipFill>
        <p:spPr>
          <a:xfrm>
            <a:off x="723209" y="850900"/>
            <a:ext cx="8149622" cy="58293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싱가포르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8207829" y="3077170"/>
            <a:ext cx="6096000" cy="923330"/>
          </a:xfrm>
          <a:prstGeom prst="wedgeRectCallout">
            <a:avLst>
              <a:gd name="adj1" fmla="val -66934"/>
              <a:gd name="adj2" fmla="val 1435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싱가포르는 강력한 운임 경쟁력과 탄탄한 현지 운영 역량을 바탕으로 디지털 </a:t>
            </a:r>
            <a:r>
              <a:rPr lang="ko-KR" altLang="en-US" dirty="0" err="1">
                <a:solidFill>
                  <a:prstClr val="black"/>
                </a:solidFill>
              </a:rPr>
              <a:t>포워딩</a:t>
            </a:r>
            <a:r>
              <a:rPr lang="ko-KR" altLang="en-US" dirty="0">
                <a:solidFill>
                  <a:prstClr val="black"/>
                </a:solidFill>
              </a:rPr>
              <a:t> 리더로 자리매김 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538" y="3348193"/>
            <a:ext cx="6097861" cy="652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000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547538" y="4309100"/>
            <a:ext cx="6097861" cy="2434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8785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7009"/>
          <a:stretch/>
        </p:blipFill>
        <p:spPr bwMode="auto">
          <a:xfrm>
            <a:off x="8469728" y="4309101"/>
            <a:ext cx="5122473" cy="265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직선 연결선 51"/>
          <p:cNvCxnSpPr/>
          <p:nvPr/>
        </p:nvCxnSpPr>
        <p:spPr>
          <a:xfrm>
            <a:off x="13897001" y="4501742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/>
          <p:cNvGrpSpPr/>
          <p:nvPr/>
        </p:nvGrpSpPr>
        <p:grpSpPr>
          <a:xfrm>
            <a:off x="10950648" y="5651499"/>
            <a:ext cx="359282" cy="360000"/>
            <a:chOff x="2424318" y="2632193"/>
            <a:chExt cx="359282" cy="36000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56" name="그룹 55"/>
          <p:cNvGrpSpPr/>
          <p:nvPr/>
        </p:nvGrpSpPr>
        <p:grpSpPr>
          <a:xfrm>
            <a:off x="11131176" y="5460495"/>
            <a:ext cx="508516" cy="1159840"/>
            <a:chOff x="3330175" y="3145295"/>
            <a:chExt cx="508516" cy="115984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9" name="그룹 58"/>
          <p:cNvGrpSpPr/>
          <p:nvPr/>
        </p:nvGrpSpPr>
        <p:grpSpPr>
          <a:xfrm>
            <a:off x="11441356" y="5213047"/>
            <a:ext cx="359282" cy="360000"/>
            <a:chOff x="2424318" y="2632193"/>
            <a:chExt cx="359282" cy="36000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0305790" y="6421334"/>
            <a:ext cx="1660746" cy="504000"/>
            <a:chOff x="1297143" y="162343"/>
            <a:chExt cx="1838103" cy="69674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6" y="162343"/>
              <a:ext cx="1832850" cy="696740"/>
              <a:chOff x="540679" y="1745399"/>
              <a:chExt cx="1832850" cy="696740"/>
            </a:xfrm>
          </p:grpSpPr>
          <p:sp>
            <p:nvSpPr>
              <p:cNvPr id="67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79" y="1745399"/>
                <a:ext cx="1832850" cy="69674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268278" y="1899359"/>
                <a:ext cx="617419" cy="4786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r>
                  <a: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</a:br>
                <a:r>
                  <a:rPr kumimoji="0" lang="ko-KR" altLang="en-US" sz="1050" b="0" i="0" u="none" strike="noStrike" kern="1200" cap="none" spc="0" normalizeH="0" baseline="0" noProof="0" smtClea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3" y="162343"/>
              <a:ext cx="605637" cy="696740"/>
              <a:chOff x="4797175" y="1799754"/>
              <a:chExt cx="605637" cy="696740"/>
            </a:xfrm>
          </p:grpSpPr>
          <p:sp>
            <p:nvSpPr>
              <p:cNvPr id="65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751624" y="1845305"/>
                <a:ext cx="696740" cy="6056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1695" y="1897719"/>
                <a:ext cx="475354" cy="475356"/>
              </a:xfrm>
              <a:prstGeom prst="rect">
                <a:avLst/>
              </a:prstGeom>
            </p:spPr>
          </p:pic>
        </p:grpSp>
      </p:grpSp>
      <p:grpSp>
        <p:nvGrpSpPr>
          <p:cNvPr id="69" name="그룹 68"/>
          <p:cNvGrpSpPr/>
          <p:nvPr/>
        </p:nvGrpSpPr>
        <p:grpSpPr>
          <a:xfrm>
            <a:off x="11543717" y="5931750"/>
            <a:ext cx="1358345" cy="368623"/>
            <a:chOff x="4702254" y="3968686"/>
            <a:chExt cx="1358345" cy="36862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58345" cy="368623"/>
              <a:chOff x="1297144" y="159828"/>
              <a:chExt cx="1503408" cy="509592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498156" cy="504621"/>
                <a:chOff x="540679" y="1745400"/>
                <a:chExt cx="1498156" cy="504621"/>
              </a:xfrm>
            </p:grpSpPr>
            <p:sp>
              <p:nvSpPr>
                <p:cNvPr id="74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498156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734516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dirty="0" smtClean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그린위치 </a:t>
                  </a:r>
                  <a:r>
                    <a:rPr kumimoji="0" lang="ko-KR" altLang="en-US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/>
                  </a:r>
                  <a:b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</a:b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그린위치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3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1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그룹 96"/>
          <p:cNvGrpSpPr/>
          <p:nvPr/>
        </p:nvGrpSpPr>
        <p:grpSpPr>
          <a:xfrm>
            <a:off x="8108479" y="5764899"/>
            <a:ext cx="1380311" cy="372482"/>
            <a:chOff x="4702254" y="3964827"/>
            <a:chExt cx="1380311" cy="372482"/>
          </a:xfrm>
        </p:grpSpPr>
        <p:grpSp>
          <p:nvGrpSpPr>
            <p:cNvPr id="77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79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8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617419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ko-KR" altLang="en-US" dirty="0" err="1" smtClean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투아스</a:t>
                  </a:r>
                  <a:r>
                    <a:rPr lang="ko-KR" altLang="en-US" dirty="0" smtClean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 창고</a:t>
                  </a:r>
                  <a:r>
                    <a:rPr lang="en-US" altLang="ko-KR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/>
                  </a:r>
                  <a:br>
                    <a:rPr lang="en-US" altLang="ko-KR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</a:br>
                  <a:r>
                    <a:rPr lang="ko-KR" altLang="en-US" sz="800" dirty="0" err="1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투아스</a:t>
                  </a:r>
                  <a:endPara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sp>
            <p:nvSpPr>
              <p:cNvPr id="8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8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3" name="Rectangle 157"/>
          <p:cNvSpPr/>
          <p:nvPr/>
        </p:nvSpPr>
        <p:spPr>
          <a:xfrm>
            <a:off x="8067058" y="4549389"/>
            <a:ext cx="5600798" cy="2380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그룹 83"/>
          <p:cNvGrpSpPr/>
          <p:nvPr/>
        </p:nvGrpSpPr>
        <p:grpSpPr>
          <a:xfrm>
            <a:off x="9382559" y="5807641"/>
            <a:ext cx="359282" cy="360000"/>
            <a:chOff x="2424318" y="2632193"/>
            <a:chExt cx="359282" cy="360000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87" name="오른쪽 화살표 86"/>
          <p:cNvSpPr/>
          <p:nvPr/>
        </p:nvSpPr>
        <p:spPr>
          <a:xfrm>
            <a:off x="7784434" y="5148760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014"/>
          <a:stretch/>
        </p:blipFill>
        <p:spPr bwMode="auto">
          <a:xfrm>
            <a:off x="15100815" y="4390334"/>
            <a:ext cx="5122473" cy="277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그룹 88"/>
          <p:cNvGrpSpPr/>
          <p:nvPr/>
        </p:nvGrpSpPr>
        <p:grpSpPr>
          <a:xfrm>
            <a:off x="17581735" y="5732732"/>
            <a:ext cx="359282" cy="360000"/>
            <a:chOff x="2424318" y="2632193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2" name="그룹 91"/>
          <p:cNvGrpSpPr/>
          <p:nvPr/>
        </p:nvGrpSpPr>
        <p:grpSpPr>
          <a:xfrm>
            <a:off x="17762263" y="5541728"/>
            <a:ext cx="508516" cy="1159840"/>
            <a:chOff x="3330175" y="3145295"/>
            <a:chExt cx="508516" cy="115984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5" name="그룹 94"/>
          <p:cNvGrpSpPr/>
          <p:nvPr/>
        </p:nvGrpSpPr>
        <p:grpSpPr>
          <a:xfrm>
            <a:off x="18072443" y="5294280"/>
            <a:ext cx="359282" cy="360000"/>
            <a:chOff x="2424318" y="2632193"/>
            <a:chExt cx="359282" cy="360000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6936878" y="6500747"/>
            <a:ext cx="1171509" cy="368623"/>
            <a:chOff x="1297144" y="159827"/>
            <a:chExt cx="1296619" cy="50959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7" y="162344"/>
              <a:ext cx="1291366" cy="504621"/>
              <a:chOff x="540680" y="1745400"/>
              <a:chExt cx="1291366" cy="504621"/>
            </a:xfrm>
          </p:grpSpPr>
          <p:sp>
            <p:nvSpPr>
              <p:cNvPr id="103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80" y="1745400"/>
                <a:ext cx="1291366" cy="504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133414" y="1827162"/>
                <a:ext cx="463065" cy="3900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Medium" panose="020B0000000101010101" pitchFamily="50" charset="-127"/>
                    <a:ea typeface="SDS Sans  Bold"/>
                    <a:cs typeface="Arial" panose="020B0604020202020204" pitchFamily="34" charset="0"/>
                  </a:rPr>
                  <a:t>SDSAP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  <a:t>Singapore</a:t>
                </a: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4" y="159827"/>
              <a:ext cx="545586" cy="509592"/>
              <a:chOff x="4797176" y="1797238"/>
              <a:chExt cx="545586" cy="509592"/>
            </a:xfrm>
          </p:grpSpPr>
          <p:sp>
            <p:nvSpPr>
              <p:cNvPr id="101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815173" y="1779241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16762" y="1872483"/>
                <a:ext cx="366351" cy="366351"/>
              </a:xfrm>
              <a:prstGeom prst="rect">
                <a:avLst/>
              </a:prstGeom>
            </p:spPr>
          </p:pic>
        </p:grpSp>
      </p:grpSp>
      <p:grpSp>
        <p:nvGrpSpPr>
          <p:cNvPr id="105" name="그룹 104"/>
          <p:cNvGrpSpPr/>
          <p:nvPr/>
        </p:nvGrpSpPr>
        <p:grpSpPr>
          <a:xfrm>
            <a:off x="18174804" y="6114583"/>
            <a:ext cx="1380311" cy="368623"/>
            <a:chOff x="4702254" y="3968686"/>
            <a:chExt cx="1380311" cy="368623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80311" cy="368623"/>
              <a:chOff x="1297144" y="159828"/>
              <a:chExt cx="1527720" cy="509592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522468" cy="504621"/>
                <a:chOff x="540679" y="1745400"/>
                <a:chExt cx="1522468" cy="504621"/>
              </a:xfrm>
            </p:grpSpPr>
            <p:sp>
              <p:nvSpPr>
                <p:cNvPr id="110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Regular" panose="020B0000000101010101" pitchFamily="50" charset="-127"/>
                      <a:ea typeface="SDS Sans  Regular" panose="020B0000000101010101" pitchFamily="50" charset="-127"/>
                      <a:cs typeface="Arial" panose="020B0604020202020204" pitchFamily="34" charset="0"/>
                    </a:rPr>
                    <a:t>Greenwich</a:t>
                  </a:r>
                </a:p>
              </p:txBody>
            </p:sp>
          </p:grpSp>
          <p:sp>
            <p:nvSpPr>
              <p:cNvPr id="109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07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2" name="모서리가 둥근 직사각형 240">
            <a:hlinkClick r:id="" action="ppaction://noaction"/>
            <a:extLst>
              <a:ext uri="{FF2B5EF4-FFF2-40B4-BE49-F238E27FC236}">
                <a16:creationId xmlns:a16="http://schemas.microsoft.com/office/drawing/2014/main" id="{1D18C733-A5D5-311E-08E4-3FFF8CD91906}"/>
              </a:ext>
            </a:extLst>
          </p:cNvPr>
          <p:cNvSpPr/>
          <p:nvPr/>
        </p:nvSpPr>
        <p:spPr>
          <a:xfrm>
            <a:off x="18174804" y="6119472"/>
            <a:ext cx="1380311" cy="36502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13" name="그룹 96"/>
          <p:cNvGrpSpPr/>
          <p:nvPr/>
        </p:nvGrpSpPr>
        <p:grpSpPr>
          <a:xfrm>
            <a:off x="14739566" y="5846132"/>
            <a:ext cx="1380311" cy="372482"/>
            <a:chOff x="4702254" y="3964827"/>
            <a:chExt cx="1380311" cy="372482"/>
          </a:xfrm>
        </p:grpSpPr>
        <p:grpSp>
          <p:nvGrpSpPr>
            <p:cNvPr id="114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116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1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dirty="0" err="1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000000101010101" pitchFamily="50" charset="-127"/>
                      <a:ea typeface="SDS Sans  Regular" panose="020B0000000101010101" pitchFamily="50" charset="-127"/>
                    </a:rPr>
                    <a:t>Tuas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5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0" name="그룹 119"/>
          <p:cNvGrpSpPr/>
          <p:nvPr/>
        </p:nvGrpSpPr>
        <p:grpSpPr>
          <a:xfrm>
            <a:off x="16013646" y="5888874"/>
            <a:ext cx="359282" cy="360000"/>
            <a:chOff x="2424318" y="2632193"/>
            <a:chExt cx="359282" cy="360000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123" name="사각형 설명선 122"/>
          <p:cNvSpPr/>
          <p:nvPr/>
        </p:nvSpPr>
        <p:spPr>
          <a:xfrm>
            <a:off x="15222779" y="3077170"/>
            <a:ext cx="4223283" cy="369332"/>
          </a:xfrm>
          <a:prstGeom prst="wedgeRectCallout">
            <a:avLst>
              <a:gd name="adj1" fmla="val -54642"/>
              <a:gd name="adj2" fmla="val 17798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solidFill>
                  <a:prstClr val="black"/>
                </a:solidFill>
              </a:rPr>
              <a:t>영문 텍스트 유지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2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44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1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5026"/>
          <a:stretch/>
        </p:blipFill>
        <p:spPr>
          <a:xfrm>
            <a:off x="913825" y="921136"/>
            <a:ext cx="5182175" cy="57590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싱가포르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27643"/>
              </p:ext>
            </p:extLst>
          </p:nvPr>
        </p:nvGraphicFramePr>
        <p:xfrm>
          <a:off x="6156003" y="5799134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싱가포르 거점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일반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SG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해상 서비스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SG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계약 물류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SG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기타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96979"/>
              </p:ext>
            </p:extLst>
          </p:nvPr>
        </p:nvGraphicFramePr>
        <p:xfrm>
          <a:off x="14512603" y="5799134"/>
          <a:ext cx="7994337" cy="145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Singapore Office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General: 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Ocean Logistics: 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Contract Logistics: 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Business Development: 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23" name="TextBox 122"/>
          <p:cNvSpPr txBox="1"/>
          <p:nvPr/>
        </p:nvSpPr>
        <p:spPr>
          <a:xfrm>
            <a:off x="6471629" y="-1005651"/>
            <a:ext cx="4956779" cy="145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15 Greenwich Drive, Singapore 534022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116,875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가전 제품 및 서비스 부품 운영 창고</a:t>
            </a:r>
          </a:p>
          <a:p>
            <a:pPr>
              <a:defRPr/>
            </a:pP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이커머스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풀필먼트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정확도 높은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피킹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패킹을 통한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고가치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모바일 기기 핸들링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정시 배송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(OTD)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최적화를 위한 지정 시간대 배송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(Time-slot delivery)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자동화 솔루션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AI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기술 탑재한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3D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소터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(3D Sorter)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도입으로 정확도 및 처리량 극대화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(2025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07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도입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71629" y="2687809"/>
            <a:ext cx="5125839" cy="725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29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Tuas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Avenue 11, Singapore 639089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가전 및 제조 제품 등 다양한 화물 핸들링을 위한 유연한 물류 시설로 고객 수요에 맞춰 확장 가능</a:t>
            </a:r>
          </a:p>
        </p:txBody>
      </p:sp>
      <p:pic>
        <p:nvPicPr>
          <p:cNvPr id="125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36" y="540399"/>
            <a:ext cx="5070764" cy="1828800"/>
          </a:xfrm>
          <a:prstGeom prst="rect">
            <a:avLst/>
          </a:prstGeom>
        </p:spPr>
      </p:pic>
      <p:pic>
        <p:nvPicPr>
          <p:cNvPr id="126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23" y="3645374"/>
            <a:ext cx="5088369" cy="183515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4951126" y="-1681092"/>
            <a:ext cx="4956779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 smtClean="0"/>
              <a:t>Location</a:t>
            </a:r>
            <a:r>
              <a:rPr lang="en-SG" altLang="ko-KR" sz="1200" dirty="0"/>
              <a:t>: 15 Greenwich Drive, Singapore </a:t>
            </a:r>
            <a:r>
              <a:rPr lang="en-SG" altLang="ko-KR" sz="1200" dirty="0" smtClean="0"/>
              <a:t>534022</a:t>
            </a:r>
            <a:endParaRPr lang="en-SG" altLang="ko-KR" sz="1200" dirty="0"/>
          </a:p>
          <a:p>
            <a:pPr marL="171450" indent="-171450"/>
            <a:r>
              <a:rPr lang="en-SG" altLang="ko-KR" sz="1200" dirty="0"/>
              <a:t>Warehouse Space: A 116,875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specializing in consumer electronics and service parts operations</a:t>
            </a:r>
            <a:r>
              <a:rPr lang="en-SG" altLang="ko-KR" sz="1200" dirty="0" smtClean="0"/>
              <a:t>.</a:t>
            </a:r>
            <a:endParaRPr lang="en-SG" altLang="ko-KR" sz="1200" dirty="0"/>
          </a:p>
          <a:p>
            <a:pPr marL="171450" indent="-171450"/>
            <a:r>
              <a:rPr lang="en-SG" altLang="ko-KR" sz="1200" dirty="0" err="1"/>
              <a:t>eCommerce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: Secure handling of high‑value mobile devices with precision picking and packing; time‑slot delivery supported by optimized on‑time delivery (OTD) performance</a:t>
            </a:r>
            <a:r>
              <a:rPr lang="en-SG" altLang="ko-KR" sz="1200" dirty="0" smtClean="0"/>
              <a:t>.</a:t>
            </a:r>
            <a:endParaRPr lang="en-SG" altLang="ko-KR" sz="1200" dirty="0"/>
          </a:p>
          <a:p>
            <a:pPr marL="171450" indent="-171450"/>
            <a:r>
              <a:rPr lang="en-SG" altLang="ko-KR" sz="1200" dirty="0"/>
              <a:t>Advanced Automation: 3D sorter with AI‑powered camera technology (go‑live: July 2025) enhances accuracy and throughput</a:t>
            </a:r>
            <a:r>
              <a:rPr lang="en-SG" altLang="ko-KR" sz="1200" dirty="0" smtClean="0"/>
              <a:t>.</a:t>
            </a:r>
            <a:endParaRPr lang="en-SG" altLang="ko-KR" sz="1200" dirty="0"/>
          </a:p>
        </p:txBody>
      </p:sp>
      <p:sp>
        <p:nvSpPr>
          <p:cNvPr id="128" name="TextBox 127"/>
          <p:cNvSpPr txBox="1"/>
          <p:nvPr/>
        </p:nvSpPr>
        <p:spPr>
          <a:xfrm>
            <a:off x="15277583" y="2983857"/>
            <a:ext cx="5125839" cy="10481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Location: 29 </a:t>
            </a:r>
            <a:r>
              <a:rPr lang="en-SG" altLang="ko-KR" sz="1200" dirty="0" err="1"/>
              <a:t>Tuas</a:t>
            </a:r>
            <a:r>
              <a:rPr lang="en-SG" altLang="ko-KR" sz="1200" dirty="0"/>
              <a:t> Avenue 11, Singapore </a:t>
            </a:r>
            <a:r>
              <a:rPr lang="en-SG" altLang="ko-KR" sz="1200" dirty="0" smtClean="0"/>
              <a:t>639089</a:t>
            </a:r>
            <a:endParaRPr lang="en-SG" altLang="ko-KR" sz="1200" dirty="0"/>
          </a:p>
          <a:p>
            <a:pPr marL="171450" indent="-171450"/>
            <a:r>
              <a:rPr lang="en-SG" altLang="ko-KR" sz="1200" dirty="0"/>
              <a:t>Warehouse Space: A flexible facility designed for consumer electronics, manufacturing products, and heating &amp; water systems. The space is expandable to accommodate growing customer needs.</a:t>
            </a:r>
          </a:p>
        </p:txBody>
      </p:sp>
      <p:pic>
        <p:nvPicPr>
          <p:cNvPr id="129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1833" y="859009"/>
            <a:ext cx="5070764" cy="1828800"/>
          </a:xfrm>
          <a:prstGeom prst="rect">
            <a:avLst/>
          </a:prstGeom>
        </p:spPr>
      </p:pic>
      <p:pic>
        <p:nvPicPr>
          <p:cNvPr id="130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583" y="4074034"/>
            <a:ext cx="4020067" cy="1449861"/>
          </a:xfrm>
          <a:prstGeom prst="rect">
            <a:avLst/>
          </a:prstGeom>
        </p:spPr>
      </p:pic>
      <p:sp>
        <p:nvSpPr>
          <p:cNvPr id="131" name="직사각형 130"/>
          <p:cNvSpPr/>
          <p:nvPr/>
        </p:nvSpPr>
        <p:spPr>
          <a:xfrm>
            <a:off x="2176189" y="1365347"/>
            <a:ext cx="3469868" cy="177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직사각형 131"/>
          <p:cNvSpPr/>
          <p:nvPr/>
        </p:nvSpPr>
        <p:spPr>
          <a:xfrm>
            <a:off x="2172761" y="3200399"/>
            <a:ext cx="3580339" cy="1888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오른쪽 화살표 132"/>
          <p:cNvSpPr/>
          <p:nvPr/>
        </p:nvSpPr>
        <p:spPr>
          <a:xfrm>
            <a:off x="5554940" y="21003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오른쪽 화살표 133"/>
          <p:cNvSpPr/>
          <p:nvPr/>
        </p:nvSpPr>
        <p:spPr>
          <a:xfrm>
            <a:off x="5719592" y="41246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6699790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14991833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3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24667"/>
          <a:stretch/>
        </p:blipFill>
        <p:spPr>
          <a:xfrm>
            <a:off x="351889" y="758267"/>
            <a:ext cx="7357012" cy="4944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해당부분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국문만 </a:t>
            </a:r>
            <a:r>
              <a:rPr lang="ko-KR" altLang="en-US" dirty="0" err="1" smtClean="0"/>
              <a:t>반영부탁드립니다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82394" y="2179935"/>
            <a:ext cx="654870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prstClr val="black"/>
                </a:solidFill>
              </a:rPr>
              <a:t>삼성</a:t>
            </a:r>
            <a:r>
              <a:rPr lang="en-US" altLang="ko-KR" sz="1600" dirty="0">
                <a:solidFill>
                  <a:prstClr val="black"/>
                </a:solidFill>
              </a:rPr>
              <a:t>SDS </a:t>
            </a:r>
            <a:r>
              <a:rPr lang="ko-KR" altLang="en-US" sz="1600" dirty="0">
                <a:solidFill>
                  <a:prstClr val="black"/>
                </a:solidFill>
              </a:rPr>
              <a:t>인도네시아는 자카르타 남부 </a:t>
            </a:r>
            <a:r>
              <a:rPr lang="ko-KR" altLang="en-US" sz="1600" dirty="0" err="1">
                <a:solidFill>
                  <a:prstClr val="black"/>
                </a:solidFill>
              </a:rPr>
              <a:t>가톳</a:t>
            </a:r>
            <a:r>
              <a:rPr lang="ko-KR" altLang="en-US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 err="1">
                <a:solidFill>
                  <a:prstClr val="black"/>
                </a:solidFill>
              </a:rPr>
              <a:t>수브로토</a:t>
            </a:r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</a:rPr>
              <a:t>Gatot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</a:rPr>
              <a:t>Subroto</a:t>
            </a:r>
            <a:r>
              <a:rPr lang="en-US" altLang="ko-KR" sz="1600" dirty="0">
                <a:solidFill>
                  <a:prstClr val="black"/>
                </a:solidFill>
              </a:rPr>
              <a:t>)</a:t>
            </a:r>
            <a:r>
              <a:rPr lang="ko-KR" altLang="en-US" sz="1600" dirty="0">
                <a:solidFill>
                  <a:prstClr val="black"/>
                </a:solidFill>
              </a:rPr>
              <a:t>에 위치하고 있으며</a:t>
            </a:r>
            <a:r>
              <a:rPr lang="en-US" altLang="ko-KR" sz="1600" dirty="0">
                <a:solidFill>
                  <a:prstClr val="black"/>
                </a:solidFill>
              </a:rPr>
              <a:t>, 10</a:t>
            </a:r>
            <a:r>
              <a:rPr lang="ko-KR" altLang="en-US" sz="1600" dirty="0">
                <a:solidFill>
                  <a:prstClr val="black"/>
                </a:solidFill>
              </a:rPr>
              <a:t>년 이상 종합 물류 서비스를 제공하고 있습니다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785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813924"/>
            <a:ext cx="6744641" cy="6639852"/>
          </a:xfrm>
          <a:prstGeom prst="rect">
            <a:avLst/>
          </a:prstGeom>
        </p:spPr>
      </p:pic>
      <p:sp>
        <p:nvSpPr>
          <p:cNvPr id="8" name="직사각형 16"/>
          <p:cNvSpPr/>
          <p:nvPr/>
        </p:nvSpPr>
        <p:spPr>
          <a:xfrm>
            <a:off x="7668319" y="2454694"/>
            <a:ext cx="1943872" cy="803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카쿵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ko-KR" altLang="en-US" sz="16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탕게랑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창고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12191" y="1527978"/>
            <a:ext cx="5159617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물류 운영 역량을 바탕으로 삼성전자 가전 물류 서비스를 제공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전담 현장 보안 인력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전자상거래 주문 처리 및 지역 배송을 지원</a:t>
            </a:r>
          </a:p>
        </p:txBody>
      </p:sp>
      <p:pic>
        <p:nvPicPr>
          <p:cNvPr id="10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517" y="2348288"/>
            <a:ext cx="5044644" cy="1820334"/>
          </a:xfrm>
          <a:prstGeom prst="rect">
            <a:avLst/>
          </a:prstGeom>
        </p:spPr>
      </p:pic>
      <p:sp>
        <p:nvSpPr>
          <p:cNvPr id="13" name="직사각형 16"/>
          <p:cNvSpPr/>
          <p:nvPr/>
        </p:nvSpPr>
        <p:spPr>
          <a:xfrm>
            <a:off x="8022516" y="5592446"/>
            <a:ext cx="1797241" cy="135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대상 아궁 인도네시아 프로젝트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7293" y="5363566"/>
            <a:ext cx="5159617" cy="908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인도네시아 전역에 걸쳐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16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물류센터를 관리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FMCG(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소비재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유통 및 도서 간 배송 서비스를 제공</a:t>
            </a:r>
          </a:p>
          <a:p>
            <a:pPr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활용한 시스템 기반 운영으로 정확성과 가시성을 확보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FEFO(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재고 관리로 제품 품질 및 규정 준수 보장</a:t>
            </a:r>
          </a:p>
        </p:txBody>
      </p:sp>
      <p:pic>
        <p:nvPicPr>
          <p:cNvPr id="15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908" y="6551705"/>
            <a:ext cx="5002389" cy="180414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00431" y="1078670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오른쪽 화살표 16"/>
          <p:cNvSpPr/>
          <p:nvPr/>
        </p:nvSpPr>
        <p:spPr>
          <a:xfrm>
            <a:off x="6991462" y="283535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/>
          <p:cNvSpPr/>
          <p:nvPr/>
        </p:nvSpPr>
        <p:spPr>
          <a:xfrm>
            <a:off x="200431" y="4272945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오른쪽 화살표 18"/>
          <p:cNvSpPr/>
          <p:nvPr/>
        </p:nvSpPr>
        <p:spPr>
          <a:xfrm>
            <a:off x="6991462" y="622321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/>
          <p:cNvSpPr/>
          <p:nvPr/>
        </p:nvSpPr>
        <p:spPr>
          <a:xfrm>
            <a:off x="7697116" y="1078669"/>
            <a:ext cx="7759194" cy="3194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/>
          <p:cNvSpPr/>
          <p:nvPr/>
        </p:nvSpPr>
        <p:spPr>
          <a:xfrm>
            <a:off x="7697116" y="5363566"/>
            <a:ext cx="7759194" cy="3308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97116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693282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26" name="직사각형 16"/>
          <p:cNvSpPr/>
          <p:nvPr/>
        </p:nvSpPr>
        <p:spPr>
          <a:xfrm>
            <a:off x="16060134" y="2307643"/>
            <a:ext cx="2163105" cy="10554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Cakung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Tangerang 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98266" y="1037872"/>
            <a:ext cx="5159617" cy="12697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End‑to‑end warehouse operations for Samsung Electronics home appliances, delivering efficiency and reliability.</a:t>
            </a:r>
          </a:p>
          <a:p>
            <a:pPr marL="171450" indent="-171450">
              <a:defRPr/>
            </a:pPr>
            <a:r>
              <a:rPr lang="en-SG" altLang="ko-KR" sz="1200" dirty="0"/>
              <a:t>Both facilities feature 24/7 CCTV monitoring with dedicated on‑site security, and support nationwide e‑commerce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 and local delivery.</a:t>
            </a:r>
          </a:p>
        </p:txBody>
      </p:sp>
      <p:pic>
        <p:nvPicPr>
          <p:cNvPr id="28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748" y="2481794"/>
            <a:ext cx="5044644" cy="1820334"/>
          </a:xfrm>
          <a:prstGeom prst="rect">
            <a:avLst/>
          </a:prstGeom>
        </p:spPr>
      </p:pic>
      <p:sp>
        <p:nvSpPr>
          <p:cNvPr id="31" name="직사각형 16"/>
          <p:cNvSpPr/>
          <p:nvPr/>
        </p:nvSpPr>
        <p:spPr>
          <a:xfrm>
            <a:off x="16060134" y="6527696"/>
            <a:ext cx="2039180" cy="1069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Daesang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Indonesia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18982" y="5220761"/>
            <a:ext cx="5159617" cy="1491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Managing 16 warehouse locations across Indonesia, providing nationwide FMCG distribution and inter‑island shipments with reliable SLA performance. </a:t>
            </a:r>
          </a:p>
          <a:p>
            <a:pPr marL="171450" indent="-171450">
              <a:defRPr/>
            </a:pPr>
            <a:r>
              <a:rPr lang="en-SG" altLang="ko-KR" sz="1200" dirty="0"/>
              <a:t>Operations are system‑driven with Cello WMS/TMS for accuracy and visibility, and FEFO‑based inventory management ensures product quality and compliance.</a:t>
            </a:r>
            <a:endParaRPr lang="ko-KR" altLang="en-US" sz="1200" dirty="0"/>
          </a:p>
        </p:txBody>
      </p:sp>
      <p:pic>
        <p:nvPicPr>
          <p:cNvPr id="33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6210" y="6858000"/>
            <a:ext cx="5002389" cy="1804141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15926826" y="1078669"/>
            <a:ext cx="8573288" cy="3362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15926826" y="5092200"/>
            <a:ext cx="8573288" cy="4066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243"/>
            <a:ext cx="6333047" cy="44917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3"/>
              </a:rPr>
              <a:t>첼로스퀘어</a:t>
            </a:r>
            <a:r>
              <a:rPr lang="ko-KR" altLang="en-US" sz="1600" dirty="0">
                <a:hlinkClick r:id="rId3"/>
              </a:rPr>
              <a:t> 인도네시아 소개 </a:t>
            </a:r>
            <a:r>
              <a:rPr lang="en-US" altLang="ko-KR" sz="1600" dirty="0">
                <a:hlinkClick r:id="rId3"/>
              </a:rPr>
              <a:t>- Global Network | </a:t>
            </a:r>
            <a:r>
              <a:rPr lang="ko-KR" altLang="en-US" sz="1600" dirty="0" err="1">
                <a:hlinkClick r:id="rId3"/>
              </a:rPr>
              <a:t>첼로스퀘어</a:t>
            </a:r>
            <a:r>
              <a:rPr lang="en-US" altLang="ko-KR" sz="1600" dirty="0">
                <a:hlinkClick r:id="rId3"/>
              </a:rPr>
              <a:t>(Cello Square)</a:t>
            </a:r>
            <a:endParaRPr lang="en-US" sz="16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15318"/>
              </p:ext>
            </p:extLst>
          </p:nvPr>
        </p:nvGraphicFramePr>
        <p:xfrm>
          <a:off x="6333047" y="4612121"/>
          <a:ext cx="6811453" cy="1070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seo.jinwon@samsung.com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899"/>
              </p:ext>
            </p:extLst>
          </p:nvPr>
        </p:nvGraphicFramePr>
        <p:xfrm>
          <a:off x="13884221" y="4612121"/>
          <a:ext cx="7070780" cy="112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seo.jinwon@samsung.com</a:t>
                      </a:r>
                      <a:endParaRPr lang="en-US" altLang="ko-KR" sz="11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99790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4991833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37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1" y="777136"/>
            <a:ext cx="5870000" cy="7948654"/>
          </a:xfrm>
          <a:prstGeom prst="rect">
            <a:avLst/>
          </a:prstGeom>
        </p:spPr>
      </p:pic>
      <p:sp>
        <p:nvSpPr>
          <p:cNvPr id="5" name="사각형 설명선 4"/>
          <p:cNvSpPr/>
          <p:nvPr/>
        </p:nvSpPr>
        <p:spPr>
          <a:xfrm>
            <a:off x="7346953" y="1907792"/>
            <a:ext cx="4920343" cy="600164"/>
          </a:xfrm>
          <a:prstGeom prst="wedgeRectCallout">
            <a:avLst>
              <a:gd name="adj1" fmla="val -78355"/>
              <a:gd name="adj2" fmla="val 28643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동남아시아의 자동차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전자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식품 물류 허브인 태국에서 삼성</a:t>
            </a:r>
            <a:r>
              <a:rPr lang="en-US" altLang="ko-KR" sz="1100" dirty="0">
                <a:solidFill>
                  <a:prstClr val="black"/>
                </a:solidFill>
              </a:rPr>
              <a:t>SDS</a:t>
            </a:r>
            <a:r>
              <a:rPr lang="ko-KR" altLang="en-US" sz="1100" dirty="0">
                <a:solidFill>
                  <a:prstClr val="black"/>
                </a:solidFill>
              </a:rPr>
              <a:t>는 지난 </a:t>
            </a:r>
            <a:r>
              <a:rPr lang="en-US" altLang="ko-KR" sz="1100" dirty="0">
                <a:solidFill>
                  <a:prstClr val="black"/>
                </a:solidFill>
              </a:rPr>
              <a:t>12</a:t>
            </a:r>
            <a:r>
              <a:rPr lang="ko-KR" altLang="en-US" sz="1100" dirty="0">
                <a:solidFill>
                  <a:prstClr val="black"/>
                </a:solidFill>
              </a:rPr>
              <a:t>년간 방콕과 </a:t>
            </a:r>
            <a:r>
              <a:rPr lang="ko-KR" altLang="en-US" sz="1100" dirty="0" err="1">
                <a:solidFill>
                  <a:prstClr val="black"/>
                </a:solidFill>
              </a:rPr>
              <a:t>람차방</a:t>
            </a:r>
            <a:r>
              <a:rPr lang="ko-KR" altLang="en-US" sz="1100" dirty="0">
                <a:solidFill>
                  <a:prstClr val="black"/>
                </a:solidFill>
              </a:rPr>
              <a:t> 거점을 중심으로 폭넓고 안정적인 물류 솔루션을 제공해 왔습니다</a:t>
            </a:r>
            <a:r>
              <a:rPr lang="en-US" altLang="ko-KR" sz="11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4338" y="6969148"/>
            <a:ext cx="5290478" cy="159274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국제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해상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(FCL/LCL),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항공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육상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현지 배송 및 통관 서비스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 세계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운송사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네트워크 및 실시간 디지털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트래킹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기반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특송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UPS,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Aramex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FedEx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등 신뢰할 수 있는 글로벌 파트너와의 협업을 통해 시간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민감형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소포 배송 및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이커머스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샘플 물류에 최적화된 서비스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계약 물류</a:t>
            </a:r>
            <a:r>
              <a:rPr lang="en-US" altLang="ko-KR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온도에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민감한 제품을 위한 전문 냉장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냉동 체인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솔루션</a:t>
            </a:r>
            <a:r>
              <a:rPr lang="en-US" altLang="ko-KR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창고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보관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드레이지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내륙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프로젝트 물류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BOI(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투자청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컨설팅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라스트 마일 배송 및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설치</a:t>
            </a:r>
            <a:r>
              <a:rPr lang="en-US" altLang="ko-KR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익일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당일 배송 서비스와 함께 가전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전자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리테일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설비 설치 </a:t>
            </a:r>
            <a:r>
              <a:rPr lang="ko-KR" altLang="en-US" sz="1000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지원 및 스마트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디바이스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IoT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장비의 플러그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플레이 설치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17070" y="7276269"/>
            <a:ext cx="4855011" cy="1285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856342" y="2235367"/>
            <a:ext cx="5138057" cy="69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853008" y="6969148"/>
            <a:ext cx="5290478" cy="1608133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International Freight Forwarding: Ocean (FCL/LCL), Air, Ground, local delivery, and customs clearance, supported by a global carrier network and real‑time digital tracking</a:t>
            </a:r>
            <a:r>
              <a:rPr lang="en-SG" altLang="ko-KR" sz="1000" dirty="0" smtClean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en-SG" altLang="ko-KR" sz="1000" dirty="0">
              <a:solidFill>
                <a:prstClr val="black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Express Delivery: Time‑critical parcel services powered by trusted global partners (UPS,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Aramex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FedEx), ideal for samples and e‑commerce shipments</a:t>
            </a:r>
            <a:r>
              <a:rPr lang="en-SG" altLang="ko-KR" sz="1000" dirty="0" smtClean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en-SG" altLang="ko-KR" sz="1000" dirty="0">
              <a:solidFill>
                <a:prstClr val="black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Contract Logistics: Specialised cold chain solutions for temperature‑sensitive products, plus warehousing, distribution, drayage, project logistics, and BOI consulting</a:t>
            </a:r>
            <a:r>
              <a:rPr lang="en-SG" altLang="ko-KR" sz="1000" dirty="0" smtClean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en-SG" altLang="ko-KR" sz="1000" dirty="0">
              <a:solidFill>
                <a:prstClr val="black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 Mile Delivery &amp; Installation: Next‑day and same‑day delivery with professional installation for appliances, electronics, and retail fixtures, including plug‑and‑play setup for smart devices and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IoT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equipment.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7440" y="1600015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해당 부분 국문만 변경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7662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5" y="1001485"/>
            <a:ext cx="5098905" cy="567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19864" y="1176200"/>
            <a:ext cx="5587885" cy="461665"/>
          </a:xfrm>
          <a:prstGeom prst="wedgeRectCallout">
            <a:avLst>
              <a:gd name="adj1" fmla="val -95640"/>
              <a:gd name="adj2" fmla="val 21629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태국 거점 창고 및 야드 서비스는 하이테크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가전제품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자동차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이커머스</a:t>
            </a:r>
            <a:r>
              <a:rPr lang="ko-KR" altLang="en-US" dirty="0">
                <a:solidFill>
                  <a:prstClr val="black"/>
                </a:solidFill>
              </a:rPr>
              <a:t> 등 다양한 </a:t>
            </a:r>
            <a:r>
              <a:rPr lang="ko-KR" altLang="en-US" dirty="0" err="1">
                <a:solidFill>
                  <a:prstClr val="black"/>
                </a:solidFill>
              </a:rPr>
              <a:t>산업군에</a:t>
            </a:r>
            <a:r>
              <a:rPr lang="ko-KR" altLang="en-US" dirty="0">
                <a:solidFill>
                  <a:prstClr val="black"/>
                </a:solidFill>
              </a:rPr>
              <a:t> 물류 솔루션을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1" name="직사각형 16"/>
          <p:cNvSpPr/>
          <p:nvPr/>
        </p:nvSpPr>
        <p:spPr>
          <a:xfrm>
            <a:off x="5884401" y="3651230"/>
            <a:ext cx="1303080" cy="71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물류 창고 네트워크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9"/>
          <p:cNvSpPr/>
          <p:nvPr/>
        </p:nvSpPr>
        <p:spPr>
          <a:xfrm>
            <a:off x="5779626" y="6437342"/>
            <a:ext cx="1728371" cy="66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09585" latinLnBrk="0">
              <a:defRPr/>
            </a:pP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컨테이너 야드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&amp; </a:t>
            </a: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데포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(Depot)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481" y="1852263"/>
            <a:ext cx="5004519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방콕 및 촌부리 핵심 입지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 및 공항과의 뛰어난 접근성을 갖춘 총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66,000sqm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이상의 창고 공간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53,600CBM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저장 용량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보안 및 안전 관리 시스템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삼성전자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CJ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푸드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 업계 선도 기업이 신뢰하는 물류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997" y="5652343"/>
            <a:ext cx="5159617" cy="1374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촌부리 소재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항구까지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 거리의 전략적 입지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93,000sqm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야드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시설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8,000 TEU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수용 가능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하이테크 관리 시스템 기반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운영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ONE, EVERGREEN, HMM, COSCO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 글로벌 주요 선사가 신뢰하는 운영 역량</a:t>
            </a:r>
          </a:p>
        </p:txBody>
      </p:sp>
      <p:pic>
        <p:nvPicPr>
          <p:cNvPr id="17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3430752"/>
            <a:ext cx="5080000" cy="1875115"/>
          </a:xfrm>
          <a:prstGeom prst="rect">
            <a:avLst/>
          </a:prstGeom>
        </p:spPr>
      </p:pic>
      <p:pic>
        <p:nvPicPr>
          <p:cNvPr id="18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7027078"/>
            <a:ext cx="5105399" cy="1875115"/>
          </a:xfrm>
          <a:prstGeom prst="rect">
            <a:avLst/>
          </a:prstGeom>
        </p:spPr>
      </p:pic>
      <p:sp>
        <p:nvSpPr>
          <p:cNvPr id="21" name="직사각형 16"/>
          <p:cNvSpPr/>
          <p:nvPr/>
        </p:nvSpPr>
        <p:spPr>
          <a:xfrm>
            <a:off x="13471441" y="3364325"/>
            <a:ext cx="2112870" cy="949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Warehousing Network</a:t>
            </a:r>
          </a:p>
        </p:txBody>
      </p:sp>
      <p:sp>
        <p:nvSpPr>
          <p:cNvPr id="24" name="직사각형 19"/>
          <p:cNvSpPr/>
          <p:nvPr/>
        </p:nvSpPr>
        <p:spPr>
          <a:xfrm>
            <a:off x="13027179" y="6676060"/>
            <a:ext cx="2735335" cy="595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Container Yard &amp;</a:t>
            </a:r>
            <a:r>
              <a:rPr kumimoji="0" lang="th-TH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Depot</a:t>
            </a:r>
          </a:p>
        </p:txBody>
      </p:sp>
      <p:cxnSp>
        <p:nvCxnSpPr>
          <p:cNvPr id="25" name="직선 연결선 20"/>
          <p:cNvCxnSpPr/>
          <p:nvPr/>
        </p:nvCxnSpPr>
        <p:spPr>
          <a:xfrm>
            <a:off x="21016685" y="2242495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508829" y="1620009"/>
            <a:ext cx="5004519" cy="19822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Prime locations in Bangkok and </a:t>
            </a:r>
            <a:r>
              <a:rPr lang="en-SG" altLang="ko-KR" sz="1200" dirty="0" err="1"/>
              <a:t>Chonburi</a:t>
            </a:r>
            <a:endParaRPr lang="en-SG" altLang="ko-KR" sz="1200" dirty="0"/>
          </a:p>
          <a:p>
            <a:pPr marL="171450" indent="-171450">
              <a:defRPr/>
            </a:pPr>
            <a:r>
              <a:rPr lang="en-SG" altLang="ko-KR" sz="1200" dirty="0"/>
              <a:t>Over 66,000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of modern warehouse space with easy access to seaports and airports.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53,600 CBM</a:t>
            </a:r>
          </a:p>
          <a:p>
            <a:pPr marL="171450" indent="-171450">
              <a:defRPr/>
            </a:pPr>
            <a:r>
              <a:rPr lang="en-SG" altLang="ko-KR" sz="1200" dirty="0"/>
              <a:t>Comprehensive security and safety systems</a:t>
            </a:r>
          </a:p>
          <a:p>
            <a:pPr marL="171450" indent="-171450">
              <a:defRPr/>
            </a:pPr>
            <a:r>
              <a:rPr lang="en-SG" altLang="ko-KR" sz="1200" dirty="0"/>
              <a:t>Trusted by industry leaders including Samsung Electronics and CJ 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05399" y="6014179"/>
            <a:ext cx="5159617" cy="168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Located at </a:t>
            </a:r>
            <a:r>
              <a:rPr lang="en-SG" altLang="ko-KR" sz="1200" dirty="0" err="1"/>
              <a:t>Chonburi</a:t>
            </a:r>
            <a:r>
              <a:rPr lang="en-SG" altLang="ko-KR" sz="1200" dirty="0"/>
              <a:t>, 15 minutes from the seaport.</a:t>
            </a:r>
          </a:p>
          <a:p>
            <a:pPr marL="171450" indent="-171450">
              <a:defRPr/>
            </a:pPr>
            <a:r>
              <a:rPr lang="en-SG" altLang="ko-KR" sz="1200" dirty="0"/>
              <a:t>A 93,000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yard and depot area with 24/7 operations powered by advanced high‑tech management systems.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8,000 TEU.</a:t>
            </a:r>
          </a:p>
          <a:p>
            <a:pPr marL="171450" indent="-171450">
              <a:defRPr/>
            </a:pPr>
            <a:r>
              <a:rPr lang="en-SG" altLang="ko-KR" sz="1200" dirty="0"/>
              <a:t>Trusted by leading global shipping lines: ONE, EVERGREEN, HMM, COSCO</a:t>
            </a:r>
            <a:r>
              <a:rPr lang="en-SG" altLang="ko-KR" sz="1300" dirty="0" smtClean="0"/>
              <a:t>.</a:t>
            </a:r>
            <a:endParaRPr lang="en-SG" altLang="ko-KR" sz="1300" dirty="0"/>
          </a:p>
        </p:txBody>
      </p:sp>
      <p:pic>
        <p:nvPicPr>
          <p:cNvPr id="28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3838835"/>
            <a:ext cx="5080000" cy="1832131"/>
          </a:xfrm>
          <a:prstGeom prst="rect">
            <a:avLst/>
          </a:prstGeom>
        </p:spPr>
      </p:pic>
      <p:pic>
        <p:nvPicPr>
          <p:cNvPr id="29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7793081"/>
            <a:ext cx="5105399" cy="1841292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6058919" y="1786138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직사각형 30"/>
          <p:cNvSpPr/>
          <p:nvPr/>
        </p:nvSpPr>
        <p:spPr>
          <a:xfrm>
            <a:off x="6058919" y="5538010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직사각형 31"/>
          <p:cNvSpPr/>
          <p:nvPr/>
        </p:nvSpPr>
        <p:spPr>
          <a:xfrm>
            <a:off x="13201697" y="1675703"/>
            <a:ext cx="8105274" cy="4166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32"/>
          <p:cNvSpPr/>
          <p:nvPr/>
        </p:nvSpPr>
        <p:spPr>
          <a:xfrm>
            <a:off x="13201697" y="6057661"/>
            <a:ext cx="8105274" cy="3768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633901" y="1684466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633901" y="4093029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/>
          <p:cNvSpPr/>
          <p:nvPr/>
        </p:nvSpPr>
        <p:spPr>
          <a:xfrm>
            <a:off x="633901" y="1423210"/>
            <a:ext cx="4984381" cy="252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703475" y="874038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해당 부분 국문만 변경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5791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06" y="2380354"/>
            <a:ext cx="6168408" cy="2222850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79324"/>
              </p:ext>
            </p:extLst>
          </p:nvPr>
        </p:nvGraphicFramePr>
        <p:xfrm>
          <a:off x="6468968" y="1983229"/>
          <a:ext cx="6811453" cy="1616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sales.sdsth@samsung.com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7268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15034"/>
              </p:ext>
            </p:extLst>
          </p:nvPr>
        </p:nvGraphicFramePr>
        <p:xfrm>
          <a:off x="14020142" y="1983229"/>
          <a:ext cx="7070780" cy="1616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lvl="0" indent="-144000">
                        <a:spcAft>
                          <a:spcPts val="7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dirty="0" smtClean="0">
                          <a:solidFill>
                            <a:srgbClr val="FF0000"/>
                          </a:solidFill>
                        </a:rPr>
                        <a:t>sales.sdsth@samsung.com</a:t>
                      </a:r>
                      <a:endParaRPr lang="en-SG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endParaRPr lang="en-US" altLang="ko-KR" sz="11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298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12" name="사각형 설명선 11"/>
          <p:cNvSpPr/>
          <p:nvPr/>
        </p:nvSpPr>
        <p:spPr>
          <a:xfrm>
            <a:off x="9833502" y="612930"/>
            <a:ext cx="4920343" cy="261610"/>
          </a:xfrm>
          <a:prstGeom prst="wedgeRectCallout">
            <a:avLst>
              <a:gd name="adj1" fmla="val -31120"/>
              <a:gd name="adj2" fmla="val 16992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100" smtClean="0">
                <a:solidFill>
                  <a:prstClr val="black"/>
                </a:solidFill>
              </a:rPr>
              <a:t>부분 수정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10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80" y="1512347"/>
            <a:ext cx="6591591" cy="513125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03200" y="11589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필리핀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sp>
        <p:nvSpPr>
          <p:cNvPr id="6" name="사각형 설명선 5"/>
          <p:cNvSpPr/>
          <p:nvPr/>
        </p:nvSpPr>
        <p:spPr>
          <a:xfrm>
            <a:off x="7866743" y="2670407"/>
            <a:ext cx="6096000" cy="646331"/>
          </a:xfrm>
          <a:prstGeom prst="wedgeRectCallout">
            <a:avLst>
              <a:gd name="adj1" fmla="val -74404"/>
              <a:gd name="adj2" fmla="val -16097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필리핀은 지난 </a:t>
            </a:r>
            <a:r>
              <a:rPr lang="en-US" altLang="ko-KR" dirty="0">
                <a:solidFill>
                  <a:prstClr val="black"/>
                </a:solidFill>
              </a:rPr>
              <a:t>15</a:t>
            </a:r>
            <a:r>
              <a:rPr lang="ko-KR" altLang="en-US" dirty="0">
                <a:solidFill>
                  <a:prstClr val="black"/>
                </a:solidFill>
              </a:rPr>
              <a:t>년간 다양한 산업 분야의 </a:t>
            </a:r>
            <a:r>
              <a:rPr lang="ko-KR" altLang="en-US" dirty="0" err="1">
                <a:solidFill>
                  <a:prstClr val="black"/>
                </a:solidFill>
              </a:rPr>
              <a:t>고객사에게</a:t>
            </a:r>
            <a:r>
              <a:rPr lang="ko-KR" altLang="en-US" dirty="0">
                <a:solidFill>
                  <a:prstClr val="black"/>
                </a:solidFill>
              </a:rPr>
              <a:t> 차별화된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솔루션을 제공해왔습니다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7" name="Rectangle 146"/>
          <p:cNvSpPr/>
          <p:nvPr/>
        </p:nvSpPr>
        <p:spPr>
          <a:xfrm>
            <a:off x="1451715" y="2741558"/>
            <a:ext cx="4847485" cy="504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66743" y="2362630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해당 부분 국문만 변경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4818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38" y="1480457"/>
            <a:ext cx="6532403" cy="40640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7985"/>
          <a:stretch/>
        </p:blipFill>
        <p:spPr bwMode="auto">
          <a:xfrm>
            <a:off x="8222256" y="2637556"/>
            <a:ext cx="5137932" cy="303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1851188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1845813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473599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그룹 12"/>
          <p:cNvGrpSpPr/>
          <p:nvPr/>
        </p:nvGrpSpPr>
        <p:grpSpPr>
          <a:xfrm>
            <a:off x="12204516" y="4656113"/>
            <a:ext cx="1358967" cy="369977"/>
            <a:chOff x="9172259" y="1532983"/>
            <a:chExt cx="1358967" cy="36997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3"/>
              <a:ext cx="1358967" cy="369977"/>
              <a:chOff x="1297144" y="162344"/>
              <a:chExt cx="1504097" cy="511464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794117"/>
                  <a:ext cx="308710" cy="4112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  <a:endParaRPr kumimoji="0" lang="en-US" altLang="ko-KR" sz="1050" b="1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Medium" panose="020B0000000101010101" pitchFamily="50" charset="-127"/>
                    <a:ea typeface="SDS Sans  Bold"/>
                    <a:cs typeface="Arial" panose="020B0604020202020204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멜버른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5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/>
          <p:cNvGrpSpPr/>
          <p:nvPr/>
        </p:nvGrpSpPr>
        <p:grpSpPr>
          <a:xfrm>
            <a:off x="11292519" y="4645365"/>
            <a:ext cx="359282" cy="360000"/>
            <a:chOff x="4825263" y="5286022"/>
            <a:chExt cx="359282" cy="360000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23" name="그룹 74"/>
          <p:cNvGrpSpPr/>
          <p:nvPr/>
        </p:nvGrpSpPr>
        <p:grpSpPr>
          <a:xfrm>
            <a:off x="8223063" y="4195075"/>
            <a:ext cx="1358967" cy="369977"/>
            <a:chOff x="4198653" y="1429475"/>
            <a:chExt cx="1358967" cy="369977"/>
          </a:xfrm>
        </p:grpSpPr>
        <p:grpSp>
          <p:nvGrpSpPr>
            <p:cNvPr id="24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26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2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28226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050" b="1" dirty="0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  <a:endParaRPr kumimoji="0" lang="en-US" altLang="ko-KR" sz="1050" b="1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Medium" panose="020B0000000101010101" pitchFamily="50" charset="-127"/>
                    <a:ea typeface="SDS Sans  Bold"/>
                    <a:cs typeface="Arial" panose="020B0604020202020204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700" noProof="0" dirty="0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퍼스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25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그룹 82"/>
          <p:cNvGrpSpPr/>
          <p:nvPr/>
        </p:nvGrpSpPr>
        <p:grpSpPr>
          <a:xfrm>
            <a:off x="9802210" y="3840884"/>
            <a:ext cx="359282" cy="360000"/>
            <a:chOff x="4825263" y="5286022"/>
            <a:chExt cx="359282" cy="360000"/>
          </a:xfrm>
        </p:grpSpPr>
        <p:sp>
          <p:nvSpPr>
            <p:cNvPr id="31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2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33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28" idx="3"/>
          </p:cNvCxnSpPr>
          <p:nvPr/>
        </p:nvCxnSpPr>
        <p:spPr>
          <a:xfrm flipV="1">
            <a:off x="9582030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60" idx="3"/>
          </p:cNvCxnSpPr>
          <p:nvPr/>
        </p:nvCxnSpPr>
        <p:spPr>
          <a:xfrm flipH="1" flipV="1">
            <a:off x="11959534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그룹 82"/>
          <p:cNvGrpSpPr/>
          <p:nvPr/>
        </p:nvGrpSpPr>
        <p:grpSpPr>
          <a:xfrm>
            <a:off x="11799404" y="3873764"/>
            <a:ext cx="359282" cy="360000"/>
            <a:chOff x="4825263" y="5286022"/>
            <a:chExt cx="359282" cy="360000"/>
          </a:xfrm>
        </p:grpSpPr>
        <p:sp>
          <p:nvSpPr>
            <p:cNvPr id="3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38" name="그룹 37"/>
          <p:cNvGrpSpPr/>
          <p:nvPr/>
        </p:nvGrpSpPr>
        <p:grpSpPr>
          <a:xfrm>
            <a:off x="12206851" y="2924663"/>
            <a:ext cx="1358967" cy="366270"/>
            <a:chOff x="4198653" y="1428231"/>
            <a:chExt cx="1358967" cy="36627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4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37097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800" dirty="0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시드니 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40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그룹 44"/>
          <p:cNvGrpSpPr/>
          <p:nvPr/>
        </p:nvGrpSpPr>
        <p:grpSpPr>
          <a:xfrm>
            <a:off x="11676001" y="4289624"/>
            <a:ext cx="359282" cy="360000"/>
            <a:chOff x="4825263" y="5286022"/>
            <a:chExt cx="359282" cy="360000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854602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1904478" y="3355218"/>
            <a:ext cx="1659005" cy="504658"/>
            <a:chOff x="5127389" y="3936715"/>
            <a:chExt cx="1863220" cy="640047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5" cy="639210"/>
              <a:chOff x="540679" y="1745400"/>
              <a:chExt cx="1859845" cy="639210"/>
            </a:xfrm>
          </p:grpSpPr>
          <p:sp>
            <p:nvSpPr>
              <p:cNvPr id="54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5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25092"/>
                <a:ext cx="410474" cy="4554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호주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시드니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52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56" name="그룹 55"/>
          <p:cNvGrpSpPr/>
          <p:nvPr/>
        </p:nvGrpSpPr>
        <p:grpSpPr>
          <a:xfrm>
            <a:off x="12205634" y="3960112"/>
            <a:ext cx="1358967" cy="366270"/>
            <a:chOff x="4198653" y="1428231"/>
            <a:chExt cx="1358967" cy="366270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6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411613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 smtClean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브리즈번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5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TextBox 62"/>
          <p:cNvSpPr txBox="1"/>
          <p:nvPr/>
        </p:nvSpPr>
        <p:spPr>
          <a:xfrm>
            <a:off x="797559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7975598" y="1710133"/>
            <a:ext cx="5587885" cy="461665"/>
          </a:xfrm>
          <a:prstGeom prst="wedgeRectCallout">
            <a:avLst>
              <a:gd name="adj1" fmla="val -97345"/>
              <a:gd name="adj2" fmla="val 182557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호주는 고객과 최종 소비자까지 만족시키는 최적화된 </a:t>
            </a:r>
            <a:r>
              <a:rPr lang="ko-KR" altLang="en-US" dirty="0" err="1">
                <a:solidFill>
                  <a:prstClr val="black"/>
                </a:solidFill>
              </a:rPr>
              <a:t>공급망</a:t>
            </a:r>
            <a:r>
              <a:rPr lang="ko-KR" altLang="en-US" dirty="0">
                <a:solidFill>
                  <a:prstClr val="black"/>
                </a:solidFill>
              </a:rPr>
              <a:t> 솔루션과 다각적인 물류 서비스를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93824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9286640" y="872196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해당부분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국문만 </a:t>
            </a:r>
            <a:r>
              <a:rPr lang="ko-KR" altLang="en-US" sz="1200" dirty="0" err="1" smtClean="0"/>
              <a:t>반영부탁드립니다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953181" y="2637556"/>
            <a:ext cx="5137932" cy="422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그룹 74"/>
          <p:cNvGrpSpPr/>
          <p:nvPr/>
        </p:nvGrpSpPr>
        <p:grpSpPr>
          <a:xfrm>
            <a:off x="13953988" y="4195075"/>
            <a:ext cx="1358967" cy="369977"/>
            <a:chOff x="4198653" y="1429475"/>
            <a:chExt cx="1358967" cy="369977"/>
          </a:xfrm>
        </p:grpSpPr>
        <p:grpSp>
          <p:nvGrpSpPr>
            <p:cNvPr id="69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71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7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noProof="0" dirty="0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Perth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0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5" name="그룹 82"/>
          <p:cNvGrpSpPr/>
          <p:nvPr/>
        </p:nvGrpSpPr>
        <p:grpSpPr>
          <a:xfrm>
            <a:off x="15533135" y="3840884"/>
            <a:ext cx="359282" cy="360000"/>
            <a:chOff x="4825263" y="5286022"/>
            <a:chExt cx="359282" cy="360000"/>
          </a:xfrm>
        </p:grpSpPr>
        <p:sp>
          <p:nvSpPr>
            <p:cNvPr id="7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7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78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73" idx="3"/>
          </p:cNvCxnSpPr>
          <p:nvPr/>
        </p:nvCxnSpPr>
        <p:spPr>
          <a:xfrm flipV="1">
            <a:off x="15312955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7582113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7576738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204524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17935441" y="4656114"/>
            <a:ext cx="1358967" cy="369977"/>
            <a:chOff x="9172259" y="1532984"/>
            <a:chExt cx="1358967" cy="36997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4"/>
              <a:ext cx="1358967" cy="369977"/>
              <a:chOff x="1297144" y="162345"/>
              <a:chExt cx="1504097" cy="511463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5"/>
                <a:ext cx="1498844" cy="504620"/>
                <a:chOff x="540680" y="1745401"/>
                <a:chExt cx="1498844" cy="504620"/>
              </a:xfrm>
            </p:grpSpPr>
            <p:sp>
              <p:nvSpPr>
                <p:cNvPr id="87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1"/>
                  <a:ext cx="1498844" cy="5046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34538"/>
                  <a:ext cx="809032" cy="3900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M</a:t>
                  </a:r>
                  <a:r>
                    <a:rPr lang="en-US" altLang="ko-KR" sz="700" dirty="0" smtClean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elbourne</a:t>
                  </a:r>
                  <a:endParaRPr lang="en-US" altLang="ko-KR" sz="7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Regular" panose="020B0600000101010101" charset="-127"/>
                    <a:ea typeface="SDS Sans  Regular" panose="020B0600000101010101" charset="-127"/>
                  </a:endParaRPr>
                </a:p>
              </p:txBody>
            </p:sp>
          </p:grpSp>
          <p:sp>
            <p:nvSpPr>
              <p:cNvPr id="86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84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" name="그룹 88"/>
          <p:cNvGrpSpPr/>
          <p:nvPr/>
        </p:nvGrpSpPr>
        <p:grpSpPr>
          <a:xfrm>
            <a:off x="17023444" y="4645365"/>
            <a:ext cx="359282" cy="360000"/>
            <a:chOff x="4825263" y="5286022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92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118" idx="3"/>
          </p:cNvCxnSpPr>
          <p:nvPr/>
        </p:nvCxnSpPr>
        <p:spPr>
          <a:xfrm flipH="1" flipV="1">
            <a:off x="17690459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3" name="그룹 82"/>
          <p:cNvGrpSpPr/>
          <p:nvPr/>
        </p:nvGrpSpPr>
        <p:grpSpPr>
          <a:xfrm>
            <a:off x="17530329" y="3873764"/>
            <a:ext cx="359282" cy="360000"/>
            <a:chOff x="4825263" y="5286022"/>
            <a:chExt cx="359282" cy="360000"/>
          </a:xfrm>
        </p:grpSpPr>
        <p:sp>
          <p:nvSpPr>
            <p:cNvPr id="94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5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96" name="그룹 95"/>
          <p:cNvGrpSpPr/>
          <p:nvPr/>
        </p:nvGrpSpPr>
        <p:grpSpPr>
          <a:xfrm>
            <a:off x="17937776" y="2924663"/>
            <a:ext cx="1358967" cy="366270"/>
            <a:chOff x="4198653" y="1428231"/>
            <a:chExt cx="1358967" cy="366270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0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Sydney</a:t>
                  </a:r>
                </a:p>
              </p:txBody>
            </p:sp>
          </p:grpSp>
          <p:sp>
            <p:nvSpPr>
              <p:cNvPr id="10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9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그룹 102"/>
          <p:cNvGrpSpPr/>
          <p:nvPr/>
        </p:nvGrpSpPr>
        <p:grpSpPr>
          <a:xfrm>
            <a:off x="17406926" y="4289624"/>
            <a:ext cx="359282" cy="360000"/>
            <a:chOff x="4825263" y="5286022"/>
            <a:chExt cx="359282" cy="360000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585527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7635401" y="3355218"/>
            <a:ext cx="1659005" cy="504658"/>
            <a:chOff x="5127389" y="3936715"/>
            <a:chExt cx="1863221" cy="640047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6" cy="639210"/>
              <a:chOff x="540679" y="1745400"/>
              <a:chExt cx="1859846" cy="639210"/>
            </a:xfrm>
          </p:grpSpPr>
          <p:sp>
            <p:nvSpPr>
              <p:cNvPr id="112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6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92451"/>
                <a:ext cx="466285" cy="3773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1050" b="1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Medium" panose="020B0000000101010101" pitchFamily="50" charset="-127"/>
                    <a:ea typeface="SDS Sans  Bold"/>
                  </a:rPr>
                  <a:t>SDSAU</a:t>
                </a:r>
              </a:p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Regular" panose="020B0000000101010101" pitchFamily="50" charset="-127"/>
                    <a:ea typeface="SDS Sans  Regular" panose="020B0000000101010101" pitchFamily="50" charset="-127"/>
                  </a:rPr>
                  <a:t>Sydney</a:t>
                </a: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110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114" name="그룹 113"/>
          <p:cNvGrpSpPr/>
          <p:nvPr/>
        </p:nvGrpSpPr>
        <p:grpSpPr>
          <a:xfrm>
            <a:off x="17936559" y="3960112"/>
            <a:ext cx="1358967" cy="366270"/>
            <a:chOff x="4198653" y="1428231"/>
            <a:chExt cx="1358967" cy="36627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19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Brisbane</a:t>
                  </a:r>
                </a:p>
              </p:txBody>
            </p:sp>
          </p:grpSp>
          <p:sp>
            <p:nvSpPr>
              <p:cNvPr id="118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6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291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83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13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708"/>
            <a:ext cx="7077659" cy="2394151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453813"/>
              </p:ext>
            </p:extLst>
          </p:nvPr>
        </p:nvGraphicFramePr>
        <p:xfrm>
          <a:off x="6468968" y="1983229"/>
          <a:ext cx="6811453" cy="266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Erskine Park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Altona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42957"/>
              </p:ext>
            </p:extLst>
          </p:nvPr>
        </p:nvGraphicFramePr>
        <p:xfrm>
          <a:off x="14020142" y="1983229"/>
          <a:ext cx="6811453" cy="280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smtClean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Australia Office &amp;</a:t>
                      </a:r>
                      <a:r>
                        <a:rPr kumimoji="0" lang="en-US" altLang="ko-KR" sz="1100" b="1" i="0" u="none" strike="noStrike" kern="1200" cap="none" spc="0" normalizeH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*Business Development: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Erskine Park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Altona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 smtClean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 smtClean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025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" y="1552575"/>
            <a:ext cx="5688612" cy="51720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3"/>
              </a:rPr>
              <a:t>첼로스퀘어</a:t>
            </a:r>
            <a:r>
              <a:rPr lang="ko-KR" altLang="en-US" sz="1300" dirty="0">
                <a:hlinkClick r:id="rId3"/>
              </a:rPr>
              <a:t> 호주 소개 </a:t>
            </a:r>
            <a:r>
              <a:rPr lang="en-US" altLang="ko-KR" sz="1300" dirty="0">
                <a:hlinkClick r:id="rId3"/>
              </a:rPr>
              <a:t>- Global Network | </a:t>
            </a:r>
            <a:r>
              <a:rPr lang="ko-KR" altLang="en-US" sz="1300" dirty="0" err="1">
                <a:hlinkClick r:id="rId3"/>
              </a:rPr>
              <a:t>첼로스퀘어</a:t>
            </a:r>
            <a:r>
              <a:rPr lang="en-US" altLang="ko-KR" sz="1300" dirty="0">
                <a:hlinkClick r:id="rId3"/>
              </a:rPr>
              <a:t>(Cello Square)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영문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05344" y="1809902"/>
            <a:ext cx="5587885" cy="369332"/>
          </a:xfrm>
          <a:prstGeom prst="wedgeRectCallout">
            <a:avLst>
              <a:gd name="adj1" fmla="val -75697"/>
              <a:gd name="adj2" fmla="val 3060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시드니와 멜버른의 물류 요충지에 위치한 창고 및 </a:t>
            </a:r>
            <a:r>
              <a:rPr lang="ko-KR" altLang="en-US" sz="1200" dirty="0" err="1">
                <a:solidFill>
                  <a:prstClr val="black"/>
                </a:solidFill>
              </a:rPr>
              <a:t>풀필먼트</a:t>
            </a:r>
            <a:r>
              <a:rPr lang="ko-KR" altLang="en-US" sz="1200" dirty="0">
                <a:solidFill>
                  <a:prstClr val="black"/>
                </a:solidFill>
              </a:rPr>
              <a:t> 센터는 고객의 다양한 </a:t>
            </a:r>
            <a:r>
              <a:rPr lang="ko-KR" altLang="en-US" sz="1200" dirty="0" err="1">
                <a:solidFill>
                  <a:prstClr val="black"/>
                </a:solidFill>
              </a:rPr>
              <a:t>니즈에</a:t>
            </a:r>
            <a:r>
              <a:rPr lang="ko-KR" altLang="en-US" sz="1200" dirty="0">
                <a:solidFill>
                  <a:prstClr val="black"/>
                </a:solidFill>
              </a:rPr>
              <a:t> 맞춰 효율적이고 최적화된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386" y="971965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해당부분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국문만 </a:t>
            </a:r>
            <a:r>
              <a:rPr lang="ko-KR" altLang="en-US" sz="1200" dirty="0" err="1" smtClean="0"/>
              <a:t>반영부탁드립니다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5835035" y="9170532"/>
            <a:ext cx="1140617" cy="45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어스킨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파크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시드니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9047" y="8372892"/>
            <a:ext cx="5159617" cy="1274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벌크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화물 처리 전용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7,123sqm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매립식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로딩 독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및 롤러 도어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보유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핸들링 특화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NSW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 주요 화물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운송로와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직접 연결되는 최적의 물류 네트워크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및 실시간 보안 모니터링 시스템을 통한 철저한 보안 관리</a:t>
            </a:r>
          </a:p>
        </p:txBody>
      </p:sp>
      <p:pic>
        <p:nvPicPr>
          <p:cNvPr id="1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912" y="9806974"/>
            <a:ext cx="4963885" cy="1790254"/>
          </a:xfrm>
          <a:prstGeom prst="rect">
            <a:avLst/>
          </a:prstGeom>
        </p:spPr>
      </p:pic>
      <p:sp>
        <p:nvSpPr>
          <p:cNvPr id="14" name="Rectangle 146"/>
          <p:cNvSpPr/>
          <p:nvPr/>
        </p:nvSpPr>
        <p:spPr>
          <a:xfrm>
            <a:off x="5835035" y="7611416"/>
            <a:ext cx="6804640" cy="10558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6"/>
          <p:cNvSpPr/>
          <p:nvPr/>
        </p:nvSpPr>
        <p:spPr>
          <a:xfrm>
            <a:off x="1451428" y="4395442"/>
            <a:ext cx="4042595" cy="2643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오른쪽 화살표 15"/>
          <p:cNvSpPr/>
          <p:nvPr/>
        </p:nvSpPr>
        <p:spPr>
          <a:xfrm>
            <a:off x="5431592" y="6017985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그룹 17"/>
          <p:cNvGrpSpPr/>
          <p:nvPr/>
        </p:nvGrpSpPr>
        <p:grpSpPr>
          <a:xfrm>
            <a:off x="13259127" y="9522656"/>
            <a:ext cx="2130694" cy="417818"/>
            <a:chOff x="4374674" y="1883295"/>
            <a:chExt cx="3442653" cy="417818"/>
          </a:xfrm>
        </p:grpSpPr>
        <p:cxnSp>
          <p:nvCxnSpPr>
            <p:cNvPr id="18" name="직선 연결선 18"/>
            <p:cNvCxnSpPr/>
            <p:nvPr/>
          </p:nvCxnSpPr>
          <p:spPr>
            <a:xfrm flipV="1">
              <a:off x="4374674" y="2301113"/>
              <a:ext cx="344265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9"/>
            <p:cNvSpPr/>
            <p:nvPr/>
          </p:nvSpPr>
          <p:spPr>
            <a:xfrm>
              <a:off x="4575500" y="1883295"/>
              <a:ext cx="3041000" cy="3337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34" charset="-127"/>
                  <a:cs typeface="Arial" panose="020B0604020202020204" pitchFamily="34" charset="0"/>
                </a:rPr>
                <a:t>Erskine Park, Sydney Warehouse</a:t>
              </a:r>
              <a:endPara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376145" y="7861006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7,123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purpose‑built for tyre storage and bulk handling, featuring 4 recessed loading docks and 4 roller doors.</a:t>
            </a:r>
          </a:p>
          <a:p>
            <a:pPr lvl="0">
              <a:defRPr/>
            </a:pPr>
            <a:r>
              <a:rPr lang="en-SG" altLang="ko-KR" sz="1200" dirty="0"/>
              <a:t>Specialization: Exclusively in tyre storage and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Direct access to key NSW freight corridors, ensuring seamless distribution.</a:t>
            </a:r>
          </a:p>
          <a:p>
            <a:pPr lvl="0">
              <a:defRPr/>
            </a:pPr>
            <a:r>
              <a:rPr lang="en-SG" altLang="ko-KR" sz="1200" dirty="0"/>
              <a:t>Safety: Comprehensive security with CCTV cameras and secure live‑feed monitoring</a:t>
            </a:r>
            <a:r>
              <a:rPr lang="en-SG" altLang="ko-KR" sz="1200" dirty="0" smtClean="0"/>
              <a:t>.</a:t>
            </a:r>
            <a:endParaRPr lang="en-SG" altLang="ko-KR" sz="1200" dirty="0"/>
          </a:p>
        </p:txBody>
      </p:sp>
      <p:pic>
        <p:nvPicPr>
          <p:cNvPr id="21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0303329"/>
            <a:ext cx="4963885" cy="1790254"/>
          </a:xfrm>
          <a:prstGeom prst="rect">
            <a:avLst/>
          </a:prstGeom>
        </p:spPr>
      </p:pic>
      <p:sp>
        <p:nvSpPr>
          <p:cNvPr id="22" name="Rectangle 146"/>
          <p:cNvSpPr/>
          <p:nvPr/>
        </p:nvSpPr>
        <p:spPr>
          <a:xfrm>
            <a:off x="13106400" y="7749351"/>
            <a:ext cx="8000999" cy="1042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22365" y="2622181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 smtClean="0">
                <a:solidFill>
                  <a:prstClr val="black"/>
                </a:solidFill>
              </a:rPr>
              <a:t>알토나</a:t>
            </a:r>
            <a:r>
              <a:rPr lang="en-US" altLang="ko-KR" sz="1200" dirty="0" smtClean="0">
                <a:solidFill>
                  <a:prstClr val="black"/>
                </a:solidFill>
              </a:rPr>
              <a:t>, </a:t>
            </a:r>
            <a:r>
              <a:rPr lang="ko-KR" altLang="en-US" sz="1200" dirty="0" smtClean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35035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 smtClean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9014" y="3221318"/>
            <a:ext cx="5159617" cy="1284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항만에서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13km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거리에 위치한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9,00sqm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넓은 오픈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플로어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공간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야드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대량 산업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항만과의 근접성을 바탕으로 보다 빠른 화물 이동 및 회전율 지원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모니터링을 통해 지속적인 가시성과 보안을 제공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0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16" y="4676987"/>
            <a:ext cx="5004479" cy="1804894"/>
          </a:xfrm>
          <a:prstGeom prst="rect">
            <a:avLst/>
          </a:prstGeom>
        </p:spPr>
      </p:pic>
      <p:sp>
        <p:nvSpPr>
          <p:cNvPr id="32" name="Rectangle 146"/>
          <p:cNvSpPr/>
          <p:nvPr/>
        </p:nvSpPr>
        <p:spPr>
          <a:xfrm>
            <a:off x="6056614" y="2884374"/>
            <a:ext cx="6242050" cy="4051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46"/>
          <p:cNvSpPr/>
          <p:nvPr/>
        </p:nvSpPr>
        <p:spPr>
          <a:xfrm>
            <a:off x="13862954" y="2179234"/>
            <a:ext cx="7492096" cy="4756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5265527" y="2400362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9,000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located just 13km from the Port of Melbourne, featuring expansive open floor space, dedicated yard, and covered awning.</a:t>
            </a:r>
          </a:p>
          <a:p>
            <a:pPr lvl="0">
              <a:defRPr/>
            </a:pPr>
            <a:r>
              <a:rPr lang="en-SG" altLang="ko-KR" sz="1200" dirty="0"/>
              <a:t>Specialization in tyre storage and bulk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Enables faster freight movement and turnaround with proximity to the Port of Melbourne.</a:t>
            </a:r>
          </a:p>
          <a:p>
            <a:pPr lvl="0">
              <a:defRPr/>
            </a:pPr>
            <a:r>
              <a:rPr lang="en-SG" altLang="ko-KR" sz="1200" dirty="0"/>
              <a:t>Safety: 24/7 CCTV monitoring delivering continuous visibility and security.</a:t>
            </a:r>
          </a:p>
        </p:txBody>
      </p:sp>
      <p:pic>
        <p:nvPicPr>
          <p:cNvPr id="35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5297" y="4769566"/>
            <a:ext cx="5004479" cy="18048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41273" y="1881357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 smtClean="0">
                <a:solidFill>
                  <a:prstClr val="black"/>
                </a:solidFill>
              </a:rPr>
              <a:t>알토나</a:t>
            </a:r>
            <a:r>
              <a:rPr lang="en-US" altLang="ko-KR" sz="1200" dirty="0" smtClean="0">
                <a:solidFill>
                  <a:prstClr val="black"/>
                </a:solidFill>
              </a:rPr>
              <a:t>, </a:t>
            </a:r>
            <a:r>
              <a:rPr lang="ko-KR" altLang="en-US" sz="1200" dirty="0" smtClean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029597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 smtClean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3298708" y="15089140"/>
            <a:ext cx="2041098" cy="820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Canning Vale, Perth Warehouse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753410" y="12977678"/>
            <a:ext cx="5159617" cy="2114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Scale: 6,698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warehouse complemented by 5,527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hardstand and a 993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covered canopy.</a:t>
            </a:r>
          </a:p>
          <a:p>
            <a:pPr marL="171450" indent="-171450"/>
            <a:r>
              <a:rPr lang="en-SG" altLang="ko-KR" sz="1200" dirty="0"/>
              <a:t>Specialization: Specialised in tyre storage and bulky industrial goods handling</a:t>
            </a:r>
          </a:p>
          <a:p>
            <a:pPr marL="171450" indent="-171450"/>
            <a:r>
              <a:rPr lang="en-SG" altLang="ko-KR" sz="1200" dirty="0"/>
              <a:t>Connectivity: Direct access to Roe Highway and </a:t>
            </a:r>
            <a:r>
              <a:rPr lang="en-SG" altLang="ko-KR" sz="1200" dirty="0" err="1"/>
              <a:t>Kwinana</a:t>
            </a:r>
            <a:r>
              <a:rPr lang="en-SG" altLang="ko-KR" sz="1200" dirty="0"/>
              <a:t> Freeway, facilitating efficient regional and interstate distribution</a:t>
            </a:r>
          </a:p>
          <a:p>
            <a:pPr marL="171450" indent="-171450"/>
            <a:r>
              <a:rPr lang="en-SG" altLang="ko-KR" sz="1200" dirty="0"/>
              <a:t>Safety: Comprehensive security with CCTV cameras, live‑feed monitoring, and fully alarmed systems</a:t>
            </a:r>
          </a:p>
        </p:txBody>
      </p:sp>
      <p:pic>
        <p:nvPicPr>
          <p:cNvPr id="42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5535332"/>
            <a:ext cx="4992482" cy="1800567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5867847" y="15052883"/>
            <a:ext cx="1271200" cy="98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캐닝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베일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퍼스 창고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36912" y="13919839"/>
            <a:ext cx="5159617" cy="1089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6,698sqm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창고와 함께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5,527sqm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하드스탠드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993sqm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공간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대형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Roe Highway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Kwinana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Freeway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직접 연결되어 지역 및 주간 운송 효율적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 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완전 경보 시스템을 포함한 종합 보안 체계</a:t>
            </a:r>
          </a:p>
        </p:txBody>
      </p:sp>
      <p:pic>
        <p:nvPicPr>
          <p:cNvPr id="47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486" y="15347134"/>
            <a:ext cx="4992482" cy="18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3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129" y="945466"/>
            <a:ext cx="6493571" cy="571757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71914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콜롬비아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079084" y="6293704"/>
            <a:ext cx="3688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trike="sngStrike" dirty="0" smtClean="0">
                <a:solidFill>
                  <a:srgbClr val="FF0000"/>
                </a:solidFill>
                <a:latin typeface="arial" panose="020B0604020202020204" pitchFamily="34" charset="0"/>
              </a:rPr>
              <a:t>E-mail: diego.diaz@samsung.com</a:t>
            </a:r>
            <a:endParaRPr lang="en-US" strike="sngStrike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" y="1240878"/>
            <a:ext cx="6470305" cy="51267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15522" y="943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칠레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431747" y="4350773"/>
            <a:ext cx="4262705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이메일 주소 삭제 후 위치만 남겨 주세요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612568" y="4304606"/>
            <a:ext cx="2582758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 smtClean="0">
                <a:solidFill>
                  <a:srgbClr val="FF0000"/>
                </a:solidFill>
                <a:latin typeface="arial" panose="020B0604020202020204" pitchFamily="34" charset="0"/>
              </a:rPr>
              <a:t>,  </a:t>
            </a:r>
            <a:r>
              <a:rPr lang="ko-KR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성명 삭제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048852" y="6109038"/>
            <a:ext cx="437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trike="sngStrike" dirty="0">
                <a:solidFill>
                  <a:srgbClr val="FF0000"/>
                </a:solidFill>
                <a:latin typeface="arial" panose="020B0604020202020204" pitchFamily="34" charset="0"/>
              </a:rPr>
              <a:t>Mr. Joohyun Kim -Sammy- (Sr. Manager)</a:t>
            </a:r>
            <a:endParaRPr lang="en-US" strike="sngStrike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09800" y="5549900"/>
            <a:ext cx="1498600" cy="124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/>
          <p:cNvSpPr/>
          <p:nvPr/>
        </p:nvSpPr>
        <p:spPr>
          <a:xfrm>
            <a:off x="10174199" y="5932388"/>
            <a:ext cx="1498600" cy="361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3026</Words>
  <Application>Microsoft Office PowerPoint</Application>
  <PresentationFormat>와이드스크린</PresentationFormat>
  <Paragraphs>362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8" baseType="lpstr">
      <vt:lpstr>SDS Sans  Bold</vt:lpstr>
      <vt:lpstr>SDS Sans  Medium</vt:lpstr>
      <vt:lpstr>SDS Sans  Regular</vt:lpstr>
      <vt:lpstr>SDS Sans Light</vt:lpstr>
      <vt:lpstr>나눔스퀘어</vt:lpstr>
      <vt:lpstr>나눔스퀘어 Bold</vt:lpstr>
      <vt:lpstr>나눔스퀘어 ExtraBold</vt:lpstr>
      <vt:lpstr>Malgun Gothic</vt:lpstr>
      <vt:lpstr>Malgun Gothic</vt:lpstr>
      <vt:lpstr>Arial</vt:lpstr>
      <vt:lpstr>Arial</vt:lpstr>
      <vt:lpstr>Calibri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SDS</cp:lastModifiedBy>
  <cp:revision>26</cp:revision>
  <dcterms:created xsi:type="dcterms:W3CDTF">2026-05-13T07:51:29Z</dcterms:created>
  <dcterms:modified xsi:type="dcterms:W3CDTF">2026-05-21T00:26:22Z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E474E8EDF8A709C111EB6F6C94592C17F66418EDAB4C467CA6EDB3763E8FE46B942FB55205E5C2B97B0F271DAD4ABD7D1387EC99EC2355B441EA23B6198D61EE</vt:lpwstr>
  </property>
</Properties>
</file>