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4" r:id="rId2"/>
    <p:sldId id="283" r:id="rId3"/>
    <p:sldId id="282" r:id="rId4"/>
    <p:sldId id="259" r:id="rId5"/>
    <p:sldId id="261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D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60"/>
  </p:normalViewPr>
  <p:slideViewPr>
    <p:cSldViewPr snapToGrid="0">
      <p:cViewPr>
        <p:scale>
          <a:sx n="90" d="100"/>
          <a:sy n="90" d="100"/>
        </p:scale>
        <p:origin x="156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55CA9-6E58-4F0F-927B-E6A082DEF2B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9DB1F-DCAF-47E3-8197-01DE922C2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3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32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86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45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5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92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06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31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795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42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86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384EB-C3C3-4682-BA2E-19AEDF7B9032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3A6D3-2F64-4023-89B7-643B2A3CC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1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transportation.d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.d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ello-square.com/kr/company/global-network/US-ko.do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.do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VN-ko.d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ellosquare.vn@samsung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cello-square.com/kr/company/global-network/VN-ko.d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VN-ko.do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cello-square.com/kr/company/global-network/MY-ko.d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MY-ko.do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MY-ko.do" TargetMode="External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SG-ko.do" TargetMode="External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www.cello-square.com/kr/company/global-network/SG-ko.do" TargetMode="External"/><Relationship Id="rId7" Type="http://schemas.openxmlformats.org/officeDocument/2006/relationships/hyperlink" Target="mailto:jeffrey.kee@partner.samsung.com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ivan.xu@samsung.com" TargetMode="External"/><Relationship Id="rId5" Type="http://schemas.openxmlformats.org/officeDocument/2006/relationships/hyperlink" Target="mailto:terrance.lee@samsung.com" TargetMode="External"/><Relationship Id="rId4" Type="http://schemas.openxmlformats.org/officeDocument/2006/relationships/hyperlink" Target="mailto:cellosquare.my@samsung.co" TargetMode="Externa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cello-square.com/kr/company/global-network/ID-ko.do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cello-square.com/kr/company/global-network/ID-ko.d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ID-ko.do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cello-square.com/kr/company/global-network/TH-ko.do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PH-ko.do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6.png"/><Relationship Id="rId7" Type="http://schemas.openxmlformats.org/officeDocument/2006/relationships/image" Target="../media/image20.png"/><Relationship Id="rId2" Type="http://schemas.openxmlformats.org/officeDocument/2006/relationships/hyperlink" Target="https://www.cello-square.com/kr/company/global-network/AU-ko.d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cello-square.com/kr/company/global-network/AU-ko.d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AU-ko.do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o-square.com/kr/company/global-network/CO-ko.do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ello-square.com/kr/company/global-network/CL-ko.do" TargetMode="Externa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07192" y="2907441"/>
            <a:ext cx="757935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500" dirty="0"/>
              <a:t>서안 개발팀</a:t>
            </a:r>
          </a:p>
        </p:txBody>
      </p:sp>
    </p:spTree>
    <p:extLst>
      <p:ext uri="{BB962C8B-B14F-4D97-AF65-F5344CB8AC3E}">
        <p14:creationId xmlns:p14="http://schemas.microsoft.com/office/powerpoint/2010/main" val="291557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1380166"/>
            <a:ext cx="7143751" cy="49620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91179" y="310634"/>
            <a:ext cx="3942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3"/>
              </a:rPr>
              <a:t>국제운송 </a:t>
            </a:r>
            <a:r>
              <a:rPr lang="en-US" altLang="ko-KR" dirty="0">
                <a:hlinkClick r:id="rId3"/>
              </a:rPr>
              <a:t>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</a:t>
            </a:r>
            <a:r>
              <a:rPr lang="en-US" dirty="0">
                <a:hlinkClick r:id="rId3"/>
              </a:rPr>
              <a:t>Cello Square)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08006" y="350234"/>
            <a:ext cx="37839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국영문</a:t>
            </a:r>
            <a:r>
              <a:rPr lang="ko-KR" altLang="en-US" dirty="0"/>
              <a:t> 모두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484" y="1560904"/>
            <a:ext cx="4757693" cy="513298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678679" y="3272100"/>
            <a:ext cx="1178041" cy="2539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ko-KR" sz="1050" dirty="0"/>
              <a:t>52</a:t>
            </a:r>
            <a:r>
              <a:rPr lang="ko-KR" altLang="en-US" sz="1050" dirty="0"/>
              <a:t>개 거점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337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0869" r="5946"/>
          <a:stretch/>
        </p:blipFill>
        <p:spPr>
          <a:xfrm>
            <a:off x="1219199" y="1398831"/>
            <a:ext cx="9505951" cy="385151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42900" y="343585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글로벌 네트워크</a:t>
            </a:r>
            <a:r>
              <a:rPr lang="en-US" altLang="ko-KR" dirty="0">
                <a:hlinkClick r:id="rId3"/>
              </a:rPr>
              <a:t>(Global Network)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66" y="6300956"/>
            <a:ext cx="10317015" cy="518232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42900" y="56546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5"/>
              </a:rPr>
              <a:t>첼로스퀘어</a:t>
            </a:r>
            <a:r>
              <a:rPr lang="ko-KR" altLang="en-US" dirty="0">
                <a:hlinkClick r:id="rId5"/>
              </a:rPr>
              <a:t> 미국 소개 </a:t>
            </a:r>
            <a:r>
              <a:rPr lang="en-US" altLang="ko-KR" dirty="0">
                <a:hlinkClick r:id="rId5"/>
              </a:rPr>
              <a:t>- Global Network | </a:t>
            </a:r>
            <a:r>
              <a:rPr lang="ko-KR" altLang="en-US" dirty="0" err="1">
                <a:hlinkClick r:id="rId5"/>
              </a:rPr>
              <a:t>첼로스퀘어</a:t>
            </a:r>
            <a:r>
              <a:rPr lang="en-US" altLang="ko-KR" dirty="0">
                <a:hlinkClick r:id="rId5"/>
              </a:rPr>
              <a:t>(Cello Square)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014983" y="3126694"/>
            <a:ext cx="4456563" cy="449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2481333" y="9466033"/>
            <a:ext cx="4456563" cy="449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408006" y="350234"/>
            <a:ext cx="37839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국영문</a:t>
            </a:r>
            <a:r>
              <a:rPr lang="ko-KR" altLang="en-US" dirty="0"/>
              <a:t> 모두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9589542" y="3206381"/>
            <a:ext cx="544251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801 E. Old Settlers Blvd, Round Rock, Texas 78664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243264" y="9545720"/>
            <a:ext cx="5442516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1F497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801 E. Old Settlers Blvd, Round Rock, Texas 78664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9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20230" b="10805"/>
          <a:stretch/>
        </p:blipFill>
        <p:spPr>
          <a:xfrm>
            <a:off x="0" y="1235675"/>
            <a:ext cx="11640064" cy="176701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4227" y="1649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글로벌 네트워크</a:t>
            </a:r>
            <a:r>
              <a:rPr lang="en-US" altLang="ko-KR" dirty="0">
                <a:hlinkClick r:id="rId3"/>
              </a:rPr>
              <a:t>(Global Network)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85916" y="3427108"/>
            <a:ext cx="19255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베트남 하노이 거점 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5246431" y="3427108"/>
            <a:ext cx="655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6734" y="2942359"/>
            <a:ext cx="22036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하노이 </a:t>
            </a:r>
            <a:r>
              <a:rPr lang="en-US" altLang="ko-KR" dirty="0"/>
              <a:t>(RHQ) </a:t>
            </a:r>
            <a:r>
              <a:rPr lang="ko-KR" altLang="en-US" dirty="0"/>
              <a:t>밑에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4197" y="4997004"/>
            <a:ext cx="1946367" cy="597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5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Vietnam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5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Hochiminh</a:t>
            </a:r>
            <a:r>
              <a:rPr lang="en-US" altLang="ko-KR" sz="15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43" y="4886835"/>
            <a:ext cx="655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557850" y="3031691"/>
            <a:ext cx="73370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7850" y="4560669"/>
            <a:ext cx="73370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</p:spTree>
    <p:extLst>
      <p:ext uri="{BB962C8B-B14F-4D97-AF65-F5344CB8AC3E}">
        <p14:creationId xmlns:p14="http://schemas.microsoft.com/office/powerpoint/2010/main" val="343648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07192" y="2907441"/>
            <a:ext cx="757935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500" dirty="0" err="1"/>
              <a:t>콘센트릭스</a:t>
            </a:r>
            <a:endParaRPr lang="ko-KR" altLang="en-US" sz="4500" dirty="0"/>
          </a:p>
        </p:txBody>
      </p:sp>
    </p:spTree>
    <p:extLst>
      <p:ext uri="{BB962C8B-B14F-4D97-AF65-F5344CB8AC3E}">
        <p14:creationId xmlns:p14="http://schemas.microsoft.com/office/powerpoint/2010/main" val="43276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9" y="68638"/>
            <a:ext cx="10793331" cy="351521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2321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베트남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93364" y="3177173"/>
            <a:ext cx="5894785" cy="3452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RHQ</a:t>
            </a:r>
          </a:p>
          <a:p>
            <a:pPr latinLnBrk="0"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</a:t>
            </a:r>
            <a:r>
              <a:rPr lang="en-SG" altLang="ko-KR" sz="10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Vietnam</a:t>
            </a:r>
          </a:p>
          <a:p>
            <a:pPr latinLnBrk="0">
              <a:spcAft>
                <a:spcPts val="700"/>
              </a:spcAft>
              <a:buClr>
                <a:prstClr val="black"/>
              </a:buClr>
              <a:defRPr/>
            </a:pPr>
            <a:endParaRPr lang="en-US" altLang="ko-KR" sz="1000" kern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ALS 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latinLnBrk="0"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</a:t>
            </a:r>
            <a:r>
              <a:rPr lang="en-SG" altLang="ko-KR" sz="10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Vietnam</a:t>
            </a:r>
            <a:endParaRPr lang="en-US" altLang="ko-KR" sz="1000" kern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sz="1000" kern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0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Hanoi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, Bac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Ninh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anose="020B0604020202020204" pitchFamily="34" charset="0"/>
            </a:endParaRPr>
          </a:p>
          <a:p>
            <a:pPr latinLnBrk="0"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</a:t>
            </a:r>
            <a:r>
              <a:rPr lang="en-SG" altLang="ko-KR" sz="10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Vietnam</a:t>
            </a:r>
            <a:endParaRPr lang="en-US" altLang="ko-KR" sz="1000" kern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altLang="ko-KR" sz="1000" kern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0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Ho 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Chi Minh</a:t>
            </a:r>
          </a:p>
          <a:p>
            <a:pPr latinLnBrk="0"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6F,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Sacom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-Chip Sang Building, Lot T2-4, D1 Road, Sai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Gon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Hi-Tech Park, Tang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Nhon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Phu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Ho Chi Minh City, 700000, Vietnam</a:t>
            </a:r>
            <a:b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*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연락처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cho.jinho@samsung.com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531494" y="3177173"/>
            <a:ext cx="5317161" cy="325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b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cellosquare.vn@samsung.com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Tel: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유지 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Zone B&amp;C, Level 14, PVI Building, No. 01, Pham Van Bach Street,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Cau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Giay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Hanoi, 1000000, Vietnam</a:t>
            </a:r>
            <a:b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jungho.shon@samsung.com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SG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Lot CN05, Road YP6, Yen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Phong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Industrial Zone, Yen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Trung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Commune, Bac </a:t>
            </a:r>
            <a:r>
              <a:rPr lang="en-SG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Ninh</a:t>
            </a:r>
            <a: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Province, 16000, Vietnam</a:t>
            </a:r>
            <a:br>
              <a:rPr lang="en-SG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jungho.shon@samsung.com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6F,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Sacom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-Chip Sang Building, Lot T2-4, D1 Road, Sai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Gon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Hi-Tech Park, Tang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Nhon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Phu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Ward, Ho Chi Minh City, 700000, Vietnam</a:t>
            </a: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Tel: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유지 </a:t>
            </a:r>
            <a:endParaRPr lang="en-US" altLang="ko-KR" sz="1000" kern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accent2">
                  <a:lumMod val="7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  <a:p>
            <a:pPr latinLnBrk="0">
              <a:lnSpc>
                <a:spcPct val="90000"/>
              </a:lnSpc>
              <a:spcAft>
                <a:spcPts val="700"/>
              </a:spcAft>
              <a:buClr>
                <a:prstClr val="black"/>
              </a:buClr>
              <a:defRPr/>
            </a:pP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accent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cho.jinho@samsung.com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335" y="1788471"/>
            <a:ext cx="150124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 동일</a:t>
            </a:r>
            <a:endParaRPr lang="en-US" altLang="ko-KR" dirty="0"/>
          </a:p>
          <a:p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A9D5FBC-D5C5-4522-6A3F-04D43CF9FBA4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총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 지점</a:t>
            </a:r>
          </a:p>
        </p:txBody>
      </p:sp>
    </p:spTree>
    <p:extLst>
      <p:ext uri="{BB962C8B-B14F-4D97-AF65-F5344CB8AC3E}">
        <p14:creationId xmlns:p14="http://schemas.microsoft.com/office/powerpoint/2010/main" val="309025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50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2"/>
              </a:rPr>
              <a:t>첼로스퀘어</a:t>
            </a:r>
            <a:r>
              <a:rPr lang="ko-KR" altLang="en-US" dirty="0">
                <a:hlinkClick r:id="rId2"/>
              </a:rPr>
              <a:t> 베트남 소개 </a:t>
            </a:r>
            <a:r>
              <a:rPr lang="en-US" altLang="ko-KR" dirty="0">
                <a:hlinkClick r:id="rId2"/>
              </a:rPr>
              <a:t>- Global Network | </a:t>
            </a:r>
            <a:r>
              <a:rPr lang="ko-KR" altLang="en-US" dirty="0" err="1">
                <a:hlinkClick r:id="rId2"/>
              </a:rPr>
              <a:t>첼로스퀘어</a:t>
            </a:r>
            <a:r>
              <a:rPr lang="en-US" altLang="ko-KR" dirty="0">
                <a:hlinkClick r:id="rId2"/>
              </a:rPr>
              <a:t>(Cello Square)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394" y="3424237"/>
            <a:ext cx="257211" cy="95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83" y="842601"/>
            <a:ext cx="8659433" cy="517279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66282" y="2510433"/>
            <a:ext cx="86594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2011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년에 설립된 삼성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SDS 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베트남은 다양한 산업의 고객을 대상으로 효율성과 확장성을 제고하는 솔루션을 제공하며 물류 리더로 빠르게 성장하고 있습니다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9406" y="130805"/>
            <a:ext cx="37650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국문만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4262203-74D0-F15A-DF89-CCF42514FDE3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32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0" y="0"/>
            <a:ext cx="6515664" cy="686349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73257" y="475067"/>
            <a:ext cx="4673600" cy="1788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유형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신선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음료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상온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리테일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국제 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특송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허브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(11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Bắc Ninh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(4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34,734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Đông Anh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1,098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Thái Nguyên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4,160 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Hải Dương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(1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3,548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0"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기타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vi-VN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7,455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373257" y="3901665"/>
            <a:ext cx="4426857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유형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모바일 및 가전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공장 물류 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</a:t>
            </a:r>
            <a:r>
              <a:rPr lang="ko-KR" altLang="en-US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호치민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신선물류센터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중남부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식품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지역 물류센터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상온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냉장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냉동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(6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</a:p>
          <a:p>
            <a:pPr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Bình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Dương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4,070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buFont typeface="나눔스퀘어" panose="020B0600000101010101" pitchFamily="50" charset="-127"/>
              <a:buChar char="–"/>
              <a:defRPr/>
            </a:pP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Thủ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Đức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City (3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개소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총 면적 </a:t>
            </a:r>
            <a:r>
              <a:rPr lang="en-US" altLang="ko-KR" sz="10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21,400 </a:t>
            </a:r>
            <a:r>
              <a:rPr lang="en-US" altLang="ko-KR" sz="1050" dirty="0" err="1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sqm</a:t>
            </a:r>
            <a:endParaRPr lang="en-US" altLang="ko-KR" sz="105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2503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베트남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D71B1FE-2C13-4CDB-5901-84A09F79174D}"/>
              </a:ext>
            </a:extLst>
          </p:cNvPr>
          <p:cNvSpPr/>
          <p:nvPr/>
        </p:nvSpPr>
        <p:spPr>
          <a:xfrm>
            <a:off x="0" y="2641665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365682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2"/>
              </a:rPr>
              <a:t>첼로스퀘어</a:t>
            </a:r>
            <a:r>
              <a:rPr lang="ko-KR" altLang="en-US" dirty="0">
                <a:hlinkClick r:id="rId2"/>
              </a:rPr>
              <a:t> 말레이시아 소개 </a:t>
            </a:r>
            <a:r>
              <a:rPr lang="en-US" altLang="ko-KR" dirty="0">
                <a:hlinkClick r:id="rId2"/>
              </a:rPr>
              <a:t>- Global Network | </a:t>
            </a:r>
            <a:r>
              <a:rPr lang="ko-KR" altLang="en-US" dirty="0" err="1">
                <a:hlinkClick r:id="rId2"/>
              </a:rPr>
              <a:t>첼로스퀘어</a:t>
            </a:r>
            <a:r>
              <a:rPr lang="en-US" altLang="ko-KR" dirty="0">
                <a:hlinkClick r:id="rId2"/>
              </a:rPr>
              <a:t>(Cello Square)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87" y="646331"/>
            <a:ext cx="6183541" cy="440133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146628" y="3219271"/>
            <a:ext cx="6096000" cy="646331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en-US" altLang="ko-KR" sz="1200" dirty="0">
                <a:solidFill>
                  <a:prstClr val="black"/>
                </a:solidFill>
              </a:rPr>
              <a:t>2011</a:t>
            </a:r>
            <a:r>
              <a:rPr lang="ko-KR" altLang="en-US" sz="1200" dirty="0">
                <a:solidFill>
                  <a:prstClr val="black"/>
                </a:solidFill>
              </a:rPr>
              <a:t>년부터 삼성</a:t>
            </a:r>
            <a:r>
              <a:rPr lang="en-US" altLang="ko-KR" sz="1200" dirty="0">
                <a:solidFill>
                  <a:prstClr val="black"/>
                </a:solidFill>
              </a:rPr>
              <a:t>SDS </a:t>
            </a:r>
            <a:r>
              <a:rPr lang="ko-KR" altLang="en-US" sz="1200" dirty="0">
                <a:solidFill>
                  <a:prstClr val="black"/>
                </a:solidFill>
              </a:rPr>
              <a:t>말레이시아는 선도적인 물류 서비스 기업으로 성장해왔습니다</a:t>
            </a:r>
            <a:r>
              <a:rPr lang="en-US" altLang="ko-KR" sz="1200" dirty="0">
                <a:solidFill>
                  <a:prstClr val="black"/>
                </a:solidFill>
              </a:rPr>
              <a:t>. </a:t>
            </a:r>
            <a:r>
              <a:rPr lang="ko-KR" altLang="en-US" sz="1200" dirty="0" err="1">
                <a:solidFill>
                  <a:prstClr val="black"/>
                </a:solidFill>
              </a:rPr>
              <a:t>샤알람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</a:rPr>
              <a:t>글렌마리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(Glen Marie, Shah </a:t>
            </a:r>
            <a:r>
              <a:rPr lang="en-US" altLang="ko-KR" sz="1200" dirty="0" err="1">
                <a:solidFill>
                  <a:prstClr val="black"/>
                </a:solidFill>
              </a:rPr>
              <a:t>Alam</a:t>
            </a:r>
            <a:r>
              <a:rPr lang="en-US" altLang="ko-KR" sz="1200" dirty="0">
                <a:solidFill>
                  <a:prstClr val="black"/>
                </a:solidFill>
              </a:rPr>
              <a:t>)</a:t>
            </a:r>
            <a:r>
              <a:rPr lang="ko-KR" altLang="en-US" sz="1200" dirty="0">
                <a:solidFill>
                  <a:prstClr val="black"/>
                </a:solidFill>
              </a:rPr>
              <a:t>에 위치한 거점을 기반으로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지난 </a:t>
            </a:r>
            <a:r>
              <a:rPr lang="en-US" altLang="ko-KR" sz="1200" dirty="0">
                <a:solidFill>
                  <a:prstClr val="black"/>
                </a:solidFill>
              </a:rPr>
              <a:t>13</a:t>
            </a:r>
            <a:r>
              <a:rPr lang="ko-KR" altLang="en-US" sz="1200" dirty="0">
                <a:solidFill>
                  <a:prstClr val="black"/>
                </a:solidFill>
              </a:rPr>
              <a:t>년 동안 고객 맞춤형 물류 솔루션을 제공하고 있습니다</a:t>
            </a:r>
            <a:r>
              <a:rPr lang="en-US" altLang="ko-KR" sz="12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9406" y="130805"/>
            <a:ext cx="37650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해당부분</a:t>
            </a:r>
            <a:r>
              <a:rPr lang="en-US" altLang="ko-KR" dirty="0"/>
              <a:t>, </a:t>
            </a:r>
            <a:r>
              <a:rPr lang="ko-KR" altLang="en-US" dirty="0"/>
              <a:t>국문만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83AA826-87E1-2183-0325-798AD1DFD6C0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814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59" y="236624"/>
            <a:ext cx="8792802" cy="3896269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69239"/>
              </p:ext>
            </p:extLst>
          </p:nvPr>
        </p:nvGraphicFramePr>
        <p:xfrm>
          <a:off x="1334859" y="3391214"/>
          <a:ext cx="10537827" cy="263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84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506533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3512609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3-1, Level 3, Tower 2A, UOA Business Park. No. 1,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Pengaturcara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U1/51A.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Seksyen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U1, 40150 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cellosquare.my@samsung.com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Sabah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지점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B1326, 13th Floor,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Wisma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Merdeka Phase 2,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Razak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88000 Kota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Kinabalu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Sabah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06671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물류창고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69971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Jaya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물류창고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SS 15,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Jaya 47500,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51351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367111"/>
              </p:ext>
            </p:extLst>
          </p:nvPr>
        </p:nvGraphicFramePr>
        <p:xfrm>
          <a:off x="1334859" y="6545804"/>
          <a:ext cx="10537827" cy="263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84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506533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3512609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3-1, Level 3, Tower 2A, UOA Business Park. No. 1,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Pengaturcara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U1/51A.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Seksyen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U1, 40150 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cellosquare.my@samsung.com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Sabah Office (East Malaysia) 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B1326, 13th Floor,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Wisma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Merdeka Phase 2,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Jalan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Razak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88000 Kota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Kinabalu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Sabah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06671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Shah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Alam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169971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Jaya Warehouse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SS 15,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Subang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Jaya 47500, Selangor, Malaysia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5135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0707" y="3391214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707" y="6545804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843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말레이시아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E2BB340-B04C-5BDE-4C70-BCEE92D0746C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총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 지점</a:t>
            </a:r>
            <a:r>
              <a:rPr kumimoji="1" lang="en-US" altLang="ko-KR" dirty="0"/>
              <a:t>,</a:t>
            </a:r>
          </a:p>
          <a:p>
            <a:pPr algn="ctr"/>
            <a:r>
              <a:rPr kumimoji="1" lang="ko-KR" altLang="en-US" dirty="0"/>
              <a:t>연락처 추가</a:t>
            </a:r>
            <a:r>
              <a:rPr kumimoji="1" lang="en-US" altLang="ko-KR" dirty="0"/>
              <a:t>,</a:t>
            </a:r>
          </a:p>
          <a:p>
            <a:pPr algn="ctr"/>
            <a:r>
              <a:rPr kumimoji="1" lang="ko-KR" altLang="en-US" dirty="0"/>
              <a:t>영문 버전으로 다국어 반영</a:t>
            </a:r>
          </a:p>
        </p:txBody>
      </p:sp>
    </p:spTree>
    <p:extLst>
      <p:ext uri="{BB962C8B-B14F-4D97-AF65-F5344CB8AC3E}">
        <p14:creationId xmlns:p14="http://schemas.microsoft.com/office/powerpoint/2010/main" val="326927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6171610" y="2700493"/>
            <a:ext cx="7950790" cy="3079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직사각형 29"/>
          <p:cNvSpPr/>
          <p:nvPr/>
        </p:nvSpPr>
        <p:spPr>
          <a:xfrm>
            <a:off x="6171610" y="6060152"/>
            <a:ext cx="7950790" cy="3947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39" y="698162"/>
            <a:ext cx="4524921" cy="61598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말레이시아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사각형 설명선 5"/>
          <p:cNvSpPr/>
          <p:nvPr/>
        </p:nvSpPr>
        <p:spPr>
          <a:xfrm>
            <a:off x="5515429" y="819221"/>
            <a:ext cx="6096000" cy="923330"/>
          </a:xfrm>
          <a:prstGeom prst="wedgeRectCallout">
            <a:avLst>
              <a:gd name="adj1" fmla="val -92976"/>
              <a:gd name="adj2" fmla="val -25529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시스템 중심의 맞춤형 고객 지향 </a:t>
            </a:r>
            <a:r>
              <a:rPr lang="en-US" altLang="ko-KR" dirty="0">
                <a:solidFill>
                  <a:prstClr val="black"/>
                </a:solidFill>
              </a:rPr>
              <a:t>4PL </a:t>
            </a:r>
            <a:r>
              <a:rPr lang="ko-KR" altLang="en-US" dirty="0">
                <a:solidFill>
                  <a:prstClr val="black"/>
                </a:solidFill>
              </a:rPr>
              <a:t>물류 파트너로서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말레이시아는 유통산업 물류 전반을 총괄하는 </a:t>
            </a:r>
            <a:r>
              <a:rPr lang="en-US" altLang="ko-KR" dirty="0">
                <a:solidFill>
                  <a:prstClr val="black"/>
                </a:solidFill>
              </a:rPr>
              <a:t>End-to-End </a:t>
            </a:r>
            <a:r>
              <a:rPr lang="ko-KR" altLang="en-US" dirty="0">
                <a:solidFill>
                  <a:prstClr val="black"/>
                </a:solidFill>
              </a:rPr>
              <a:t>파트너로 자리매김하고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243096" y="2568437"/>
            <a:ext cx="1209312" cy="2251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전국 물류 창고 네트워크 </a:t>
            </a:r>
            <a:endParaRPr kumimoji="0" lang="en-US" altLang="ko-KR" sz="16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10" name="Picture 91">
            <a:extLst>
              <a:ext uri="{FF2B5EF4-FFF2-40B4-BE49-F238E27FC236}">
                <a16:creationId xmlns:a16="http://schemas.microsoft.com/office/drawing/2014/main" id="{2B111052-8540-4A1B-BB12-2A9E6031FE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10747" y="3831771"/>
            <a:ext cx="2189150" cy="897689"/>
          </a:xfrm>
          <a:prstGeom prst="rect">
            <a:avLst/>
          </a:prstGeom>
        </p:spPr>
      </p:pic>
      <p:sp>
        <p:nvSpPr>
          <p:cNvPr id="11" name="직사각형 90">
            <a:extLst>
              <a:ext uri="{FF2B5EF4-FFF2-40B4-BE49-F238E27FC236}">
                <a16:creationId xmlns:a16="http://schemas.microsoft.com/office/drawing/2014/main" id="{FA04C549-F2E0-4388-898B-6291389B4684}"/>
              </a:ext>
            </a:extLst>
          </p:cNvPr>
          <p:cNvSpPr/>
          <p:nvPr/>
        </p:nvSpPr>
        <p:spPr>
          <a:xfrm>
            <a:off x="11103125" y="4462682"/>
            <a:ext cx="2189152" cy="26633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Stock/Storage Mgmt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직사각형 101">
            <a:extLst>
              <a:ext uri="{FF2B5EF4-FFF2-40B4-BE49-F238E27FC236}">
                <a16:creationId xmlns:a16="http://schemas.microsoft.com/office/drawing/2014/main" id="{E18DC5DB-DA18-4C47-A309-414A4373888E}"/>
              </a:ext>
            </a:extLst>
          </p:cNvPr>
          <p:cNvSpPr/>
          <p:nvPr/>
        </p:nvSpPr>
        <p:spPr>
          <a:xfrm>
            <a:off x="11109402" y="5374867"/>
            <a:ext cx="2194367" cy="26151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Local Delivery (5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톤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54934" y="3117463"/>
            <a:ext cx="5133278" cy="7360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전용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25,000 </a:t>
            </a:r>
            <a:r>
              <a:rPr lang="en-US" altLang="ko-KR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sqft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시설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Cello WMS/TMS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운영</a:t>
            </a:r>
          </a:p>
          <a:p>
            <a:pPr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 라스트 마일 배송 및 가정 설치 서비스를 포함한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14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물류 창고 운영 중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성수기 수요 대응을 위한 유연한 운송 파트너 지원</a:t>
            </a:r>
          </a:p>
        </p:txBody>
      </p:sp>
      <p:pic>
        <p:nvPicPr>
          <p:cNvPr id="16" name="그림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347" y="3997191"/>
            <a:ext cx="2959834" cy="1630277"/>
          </a:xfrm>
          <a:prstGeom prst="rect">
            <a:avLst/>
          </a:prstGeom>
        </p:spPr>
      </p:pic>
      <p:pic>
        <p:nvPicPr>
          <p:cNvPr id="18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468" b="27908"/>
          <a:stretch/>
        </p:blipFill>
        <p:spPr>
          <a:xfrm>
            <a:off x="11109403" y="4688963"/>
            <a:ext cx="2193572" cy="714896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6390468" y="6151379"/>
            <a:ext cx="1269973" cy="634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타이어 창고</a:t>
            </a:r>
            <a:endParaRPr kumimoji="0" lang="en-US" altLang="ko-KR" sz="16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9862" y="6363862"/>
            <a:ext cx="5124533" cy="13640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쿠알라룸푸르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 전국 물류센터 대상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4PL</a:t>
            </a:r>
          </a:p>
          <a:p>
            <a:pPr marL="0" indent="0">
              <a:buNone/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-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자체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Cello WMS/TMS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기반 운영</a:t>
            </a:r>
            <a:endParaRPr lang="en-US" altLang="ko-KR" sz="1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>
              <a:buNone/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-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선입선출 기반 배치</a:t>
            </a:r>
          </a:p>
          <a:p>
            <a:pPr lvl="0">
              <a:defRPr/>
            </a:pP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자체 팀 운영 통관 전 과정 서비스</a:t>
            </a:r>
          </a:p>
          <a:p>
            <a:pPr lvl="0">
              <a:defRPr/>
            </a:pP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감시 및 </a:t>
            </a:r>
            <a:r>
              <a:rPr lang="en-US" altLang="ko-KR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보안요원</a:t>
            </a:r>
          </a:p>
        </p:txBody>
      </p:sp>
      <p:pic>
        <p:nvPicPr>
          <p:cNvPr id="23" name="Picture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747" y="7944359"/>
            <a:ext cx="5070764" cy="1828800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785539" y="2700493"/>
            <a:ext cx="4860518" cy="2005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직사각형 25"/>
          <p:cNvSpPr/>
          <p:nvPr/>
        </p:nvSpPr>
        <p:spPr>
          <a:xfrm>
            <a:off x="785539" y="4789714"/>
            <a:ext cx="4860518" cy="1973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오른쪽 화살표 26"/>
          <p:cNvSpPr/>
          <p:nvPr/>
        </p:nvSpPr>
        <p:spPr>
          <a:xfrm>
            <a:off x="5515429" y="3523878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오른쪽 화살표 27"/>
          <p:cNvSpPr/>
          <p:nvPr/>
        </p:nvSpPr>
        <p:spPr>
          <a:xfrm rot="1955466">
            <a:off x="5598129" y="6125636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3090" y="7871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24590" y="7871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14624590" y="2700493"/>
            <a:ext cx="7950790" cy="3079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직사각형 39"/>
          <p:cNvSpPr/>
          <p:nvPr/>
        </p:nvSpPr>
        <p:spPr>
          <a:xfrm>
            <a:off x="14696076" y="2568437"/>
            <a:ext cx="1209312" cy="2251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Nationwide Warehouse Network</a:t>
            </a:r>
          </a:p>
        </p:txBody>
      </p:sp>
      <p:pic>
        <p:nvPicPr>
          <p:cNvPr id="41" name="Picture 91">
            <a:extLst>
              <a:ext uri="{FF2B5EF4-FFF2-40B4-BE49-F238E27FC236}">
                <a16:creationId xmlns:a16="http://schemas.microsoft.com/office/drawing/2014/main" id="{2B111052-8540-4A1B-BB12-2A9E6031FE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563727" y="3831771"/>
            <a:ext cx="2189150" cy="897689"/>
          </a:xfrm>
          <a:prstGeom prst="rect">
            <a:avLst/>
          </a:prstGeom>
        </p:spPr>
      </p:pic>
      <p:sp>
        <p:nvSpPr>
          <p:cNvPr id="42" name="직사각형 90">
            <a:extLst>
              <a:ext uri="{FF2B5EF4-FFF2-40B4-BE49-F238E27FC236}">
                <a16:creationId xmlns:a16="http://schemas.microsoft.com/office/drawing/2014/main" id="{FA04C549-F2E0-4388-898B-6291389B4684}"/>
              </a:ext>
            </a:extLst>
          </p:cNvPr>
          <p:cNvSpPr/>
          <p:nvPr/>
        </p:nvSpPr>
        <p:spPr>
          <a:xfrm>
            <a:off x="19556105" y="4462682"/>
            <a:ext cx="2189152" cy="26633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Stock/Storage Mgmt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43" name="직사각형 101">
            <a:extLst>
              <a:ext uri="{FF2B5EF4-FFF2-40B4-BE49-F238E27FC236}">
                <a16:creationId xmlns:a16="http://schemas.microsoft.com/office/drawing/2014/main" id="{E18DC5DB-DA18-4C47-A309-414A4373888E}"/>
              </a:ext>
            </a:extLst>
          </p:cNvPr>
          <p:cNvSpPr/>
          <p:nvPr/>
        </p:nvSpPr>
        <p:spPr>
          <a:xfrm>
            <a:off x="19562382" y="5374867"/>
            <a:ext cx="2194367" cy="26151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Local Delivery (5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톤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endParaRPr kumimoji="1" lang="ko-KR" altLang="en-US" sz="9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44" name="그림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327" y="3997191"/>
            <a:ext cx="2959834" cy="1630277"/>
          </a:xfrm>
          <a:prstGeom prst="rect">
            <a:avLst/>
          </a:prstGeom>
        </p:spPr>
      </p:pic>
      <p:pic>
        <p:nvPicPr>
          <p:cNvPr id="45" name="그림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468" b="27908"/>
          <a:stretch/>
        </p:blipFill>
        <p:spPr>
          <a:xfrm>
            <a:off x="19562383" y="4688963"/>
            <a:ext cx="2193572" cy="714896"/>
          </a:xfrm>
          <a:prstGeom prst="rect">
            <a:avLst/>
          </a:prstGeom>
        </p:spPr>
      </p:pic>
      <p:sp>
        <p:nvSpPr>
          <p:cNvPr id="46" name="직사각형 45"/>
          <p:cNvSpPr/>
          <p:nvPr/>
        </p:nvSpPr>
        <p:spPr>
          <a:xfrm>
            <a:off x="14624590" y="6060152"/>
            <a:ext cx="7950790" cy="3947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직사각형 46"/>
          <p:cNvSpPr/>
          <p:nvPr/>
        </p:nvSpPr>
        <p:spPr>
          <a:xfrm>
            <a:off x="14843448" y="6151379"/>
            <a:ext cx="1269973" cy="634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Tire Warehouse</a:t>
            </a:r>
          </a:p>
        </p:txBody>
      </p:sp>
      <p:pic>
        <p:nvPicPr>
          <p:cNvPr id="48" name="Picture 4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9727" y="7944359"/>
            <a:ext cx="5070764" cy="1828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439727" y="6258379"/>
            <a:ext cx="5124533" cy="1596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4PL for Nationwide Distribution Center in KL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- System based operation by own Cello WMS/ TMS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  - FIFO(First-in, First-out) based bin allocation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Full customs clearance service scopes by own team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ko-KR" sz="1200" b="0" i="0" u="none" strike="noStrike" kern="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Constant CCTV surveillance with 24/7 security guards</a:t>
            </a:r>
            <a:endParaRPr kumimoji="0" lang="en-US" altLang="ko-KR" sz="1200" b="0" i="0" u="none" strike="noStrike" kern="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377213" y="2807341"/>
            <a:ext cx="5133278" cy="1068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en-SG" altLang="ko-KR" sz="1200" dirty="0"/>
              <a:t>A dedicated 25,000 </a:t>
            </a:r>
            <a:r>
              <a:rPr lang="en-SG" altLang="ko-KR" sz="1200" dirty="0" err="1"/>
              <a:t>sq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ft</a:t>
            </a:r>
            <a:r>
              <a:rPr lang="en-SG" altLang="ko-KR" sz="1200" dirty="0"/>
              <a:t> facility powered by our Cello WMS/TMS.</a:t>
            </a:r>
          </a:p>
          <a:p>
            <a:r>
              <a:rPr lang="en-SG" altLang="ko-KR" sz="1200" dirty="0"/>
              <a:t>We manage 14 ongoing warehouse operations with nationwide last-mile and home installation coverage, supported by a flexible network of transport partners to handle peak-season demand.</a:t>
            </a:r>
            <a:endParaRPr lang="ko-KR" altLang="en-US" sz="1200" dirty="0"/>
          </a:p>
        </p:txBody>
      </p:sp>
      <p:sp>
        <p:nvSpPr>
          <p:cNvPr id="52" name="사각형 설명선 51"/>
          <p:cNvSpPr/>
          <p:nvPr/>
        </p:nvSpPr>
        <p:spPr>
          <a:xfrm>
            <a:off x="15882329" y="819221"/>
            <a:ext cx="6096000" cy="369332"/>
          </a:xfrm>
          <a:prstGeom prst="wedgeRectCallout">
            <a:avLst>
              <a:gd name="adj1" fmla="val -60268"/>
              <a:gd name="adj2" fmla="val 4731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이 부분 변화 없음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아래만 반영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64781" y="5320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26614" y="2263882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24590" y="2263882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B4CF235-0ACE-EAE5-1D44-4BAB28917B7C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60482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6054" b="11657"/>
          <a:stretch/>
        </p:blipFill>
        <p:spPr>
          <a:xfrm>
            <a:off x="723209" y="850900"/>
            <a:ext cx="8149622" cy="58293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502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싱가포르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사각형 설명선 5"/>
          <p:cNvSpPr/>
          <p:nvPr/>
        </p:nvSpPr>
        <p:spPr>
          <a:xfrm>
            <a:off x="8207829" y="3077170"/>
            <a:ext cx="6096000" cy="923330"/>
          </a:xfrm>
          <a:prstGeom prst="wedgeRectCallout">
            <a:avLst>
              <a:gd name="adj1" fmla="val -66934"/>
              <a:gd name="adj2" fmla="val 14359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싱가포르는 강력한 운임 경쟁력과 탄탄한 현지 운영 역량을 바탕으로 디지털 </a:t>
            </a:r>
            <a:r>
              <a:rPr lang="ko-KR" altLang="en-US" dirty="0" err="1">
                <a:solidFill>
                  <a:prstClr val="black"/>
                </a:solidFill>
              </a:rPr>
              <a:t>포워딩</a:t>
            </a:r>
            <a:r>
              <a:rPr lang="ko-KR" altLang="en-US" dirty="0">
                <a:solidFill>
                  <a:prstClr val="black"/>
                </a:solidFill>
              </a:rPr>
              <a:t> 리더로 자리매김 하고 있습니다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endParaRPr lang="en-US" altLang="ko-KR" sz="15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538" y="3348193"/>
            <a:ext cx="6097861" cy="652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00090" y="11935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547538" y="4309100"/>
            <a:ext cx="6097861" cy="2434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878590" y="119351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7009"/>
          <a:stretch/>
        </p:blipFill>
        <p:spPr bwMode="auto">
          <a:xfrm>
            <a:off x="8469728" y="4309101"/>
            <a:ext cx="5122473" cy="265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직선 연결선 51"/>
          <p:cNvCxnSpPr/>
          <p:nvPr/>
        </p:nvCxnSpPr>
        <p:spPr>
          <a:xfrm>
            <a:off x="13897001" y="4501742"/>
            <a:ext cx="0" cy="3966647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/>
          <p:cNvGrpSpPr/>
          <p:nvPr/>
        </p:nvGrpSpPr>
        <p:grpSpPr>
          <a:xfrm>
            <a:off x="10950648" y="5651499"/>
            <a:ext cx="359282" cy="360000"/>
            <a:chOff x="2424318" y="2632193"/>
            <a:chExt cx="359282" cy="360000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56" name="그룹 55"/>
          <p:cNvGrpSpPr/>
          <p:nvPr/>
        </p:nvGrpSpPr>
        <p:grpSpPr>
          <a:xfrm>
            <a:off x="11131176" y="5460495"/>
            <a:ext cx="508516" cy="1159840"/>
            <a:chOff x="3330175" y="3145295"/>
            <a:chExt cx="508516" cy="1159840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330175" y="358513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827937" y="314529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9" name="그룹 58"/>
          <p:cNvGrpSpPr/>
          <p:nvPr/>
        </p:nvGrpSpPr>
        <p:grpSpPr>
          <a:xfrm>
            <a:off x="11441356" y="5213047"/>
            <a:ext cx="359282" cy="360000"/>
            <a:chOff x="2424318" y="2632193"/>
            <a:chExt cx="359282" cy="360000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03DC0D1-2844-2E76-2869-CDF6EC90CD6B}"/>
              </a:ext>
            </a:extLst>
          </p:cNvPr>
          <p:cNvGrpSpPr/>
          <p:nvPr/>
        </p:nvGrpSpPr>
        <p:grpSpPr>
          <a:xfrm>
            <a:off x="10305790" y="6421334"/>
            <a:ext cx="1660746" cy="504000"/>
            <a:chOff x="1297143" y="162343"/>
            <a:chExt cx="1838103" cy="696740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FF041CB-3DFC-FB41-F31E-477EE938A2AB}"/>
                </a:ext>
              </a:extLst>
            </p:cNvPr>
            <p:cNvGrpSpPr/>
            <p:nvPr/>
          </p:nvGrpSpPr>
          <p:grpSpPr>
            <a:xfrm>
              <a:off x="1302396" y="162343"/>
              <a:ext cx="1832850" cy="696740"/>
              <a:chOff x="540679" y="1745399"/>
              <a:chExt cx="1832850" cy="696740"/>
            </a:xfrm>
          </p:grpSpPr>
          <p:sp>
            <p:nvSpPr>
              <p:cNvPr id="67" name="모서리가 둥근 직사각형 240">
                <a:extLst>
                  <a:ext uri="{FF2B5EF4-FFF2-40B4-BE49-F238E27FC236}">
                    <a16:creationId xmlns:a16="http://schemas.microsoft.com/office/drawing/2014/main" id="{1D18C733-A5D5-311E-08E4-3FFF8CD91906}"/>
                  </a:ext>
                </a:extLst>
              </p:cNvPr>
              <p:cNvSpPr/>
              <p:nvPr/>
            </p:nvSpPr>
            <p:spPr>
              <a:xfrm>
                <a:off x="540679" y="1745399"/>
                <a:ext cx="1832850" cy="69674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8D0A822-87C0-4959-51F2-A808B0297E82}"/>
                  </a:ext>
                </a:extLst>
              </p:cNvPr>
              <p:cNvSpPr txBox="1"/>
              <p:nvPr/>
            </p:nvSpPr>
            <p:spPr>
              <a:xfrm>
                <a:off x="1268278" y="1899359"/>
                <a:ext cx="617419" cy="4786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anose="020B0604020202020204" pitchFamily="34" charset="0"/>
                  </a:rPr>
                  <a:t>싱가포르</a:t>
                </a:r>
                <a:br>
                  <a: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rPr>
                </a:br>
                <a:r>
                  <a:rPr kumimoji="0" lang="ko-KR" altLang="en-US" sz="1050" b="0" i="0" u="none" strike="noStrike" kern="1200" cap="none" spc="0" normalizeH="0" baseline="0" noProof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rPr>
                  <a:t>싱가포르</a:t>
                </a:r>
                <a:endPara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71EC1A8-C945-F422-47EB-3EC31A5C1B29}"/>
                </a:ext>
              </a:extLst>
            </p:cNvPr>
            <p:cNvGrpSpPr/>
            <p:nvPr/>
          </p:nvGrpSpPr>
          <p:grpSpPr>
            <a:xfrm>
              <a:off x="1297143" y="162343"/>
              <a:ext cx="605637" cy="696740"/>
              <a:chOff x="4797175" y="1799754"/>
              <a:chExt cx="605637" cy="696740"/>
            </a:xfrm>
          </p:grpSpPr>
          <p:sp>
            <p:nvSpPr>
              <p:cNvPr id="65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4751624" y="1845305"/>
                <a:ext cx="696740" cy="60563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ED4CD418-DFF3-035D-94FF-B6863659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1695" y="1897719"/>
                <a:ext cx="475354" cy="475356"/>
              </a:xfrm>
              <a:prstGeom prst="rect">
                <a:avLst/>
              </a:prstGeom>
            </p:spPr>
          </p:pic>
        </p:grpSp>
      </p:grpSp>
      <p:grpSp>
        <p:nvGrpSpPr>
          <p:cNvPr id="69" name="그룹 68"/>
          <p:cNvGrpSpPr/>
          <p:nvPr/>
        </p:nvGrpSpPr>
        <p:grpSpPr>
          <a:xfrm>
            <a:off x="11543717" y="5931750"/>
            <a:ext cx="1358345" cy="368623"/>
            <a:chOff x="4702254" y="3968686"/>
            <a:chExt cx="1358345" cy="36862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8686"/>
              <a:ext cx="1358345" cy="368623"/>
              <a:chOff x="1297144" y="159828"/>
              <a:chExt cx="1503408" cy="509592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62344"/>
                <a:ext cx="1498156" cy="504621"/>
                <a:chOff x="540679" y="1745400"/>
                <a:chExt cx="1498156" cy="504621"/>
              </a:xfrm>
            </p:grpSpPr>
            <p:sp>
              <p:nvSpPr>
                <p:cNvPr id="74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45400"/>
                  <a:ext cx="1498156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734516" cy="3616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그린위치 </a:t>
                  </a: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b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</a:br>
                  <a:r>
                    <a:rPr kumimoji="0" lang="ko-KR" altLang="en-US" sz="8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그린위치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3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1" name="Picture 9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그룹 96"/>
          <p:cNvGrpSpPr/>
          <p:nvPr/>
        </p:nvGrpSpPr>
        <p:grpSpPr>
          <a:xfrm>
            <a:off x="8108479" y="5764899"/>
            <a:ext cx="1380311" cy="372482"/>
            <a:chOff x="4702254" y="3964827"/>
            <a:chExt cx="1380311" cy="372482"/>
          </a:xfrm>
        </p:grpSpPr>
        <p:grpSp>
          <p:nvGrpSpPr>
            <p:cNvPr id="77" name="그룹 10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4827"/>
              <a:ext cx="1380311" cy="372482"/>
              <a:chOff x="1297144" y="154493"/>
              <a:chExt cx="1527720" cy="514927"/>
            </a:xfrm>
          </p:grpSpPr>
          <p:grpSp>
            <p:nvGrpSpPr>
              <p:cNvPr id="79" name="그룹 11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54493"/>
                <a:ext cx="1522468" cy="504621"/>
                <a:chOff x="540679" y="1737549"/>
                <a:chExt cx="1522468" cy="504621"/>
              </a:xfrm>
            </p:grpSpPr>
            <p:sp>
              <p:nvSpPr>
                <p:cNvPr id="8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37549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11457"/>
                  <a:ext cx="617419" cy="3616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ko-KR" altLang="en-US" dirty="0" err="1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투아스</a:t>
                  </a:r>
                  <a:r>
                    <a:rPr lang="ko-KR" altLang="en-US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  <a:t> 창고</a:t>
                  </a:r>
                  <a:br>
                    <a:rPr lang="en-US" altLang="ko-KR" dirty="0"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</a:rPr>
                  </a:br>
                  <a:r>
                    <a:rPr lang="ko-KR" altLang="en-US" sz="800" dirty="0" err="1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투아스</a:t>
                  </a:r>
                  <a:endParaRPr lang="en-US" altLang="ko-KR" sz="8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sp>
            <p:nvSpPr>
              <p:cNvPr id="8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8" name="Picture 9"/>
            <p:cNvPicPr>
              <a:picLocks noChangeAspect="1" noChangeArrowheads="1"/>
            </p:cNvPicPr>
            <p:nvPr/>
          </p:nvPicPr>
          <p:blipFill>
            <a:blip r:embed="rId7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3" name="Rectangle 157"/>
          <p:cNvSpPr/>
          <p:nvPr/>
        </p:nvSpPr>
        <p:spPr>
          <a:xfrm>
            <a:off x="8067058" y="4549389"/>
            <a:ext cx="5600798" cy="2380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그룹 83"/>
          <p:cNvGrpSpPr/>
          <p:nvPr/>
        </p:nvGrpSpPr>
        <p:grpSpPr>
          <a:xfrm>
            <a:off x="9382559" y="5807641"/>
            <a:ext cx="359282" cy="360000"/>
            <a:chOff x="2424318" y="2632193"/>
            <a:chExt cx="359282" cy="360000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sp>
        <p:nvSpPr>
          <p:cNvPr id="87" name="오른쪽 화살표 86"/>
          <p:cNvSpPr/>
          <p:nvPr/>
        </p:nvSpPr>
        <p:spPr>
          <a:xfrm>
            <a:off x="7784434" y="5148760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014"/>
          <a:stretch/>
        </p:blipFill>
        <p:spPr bwMode="auto">
          <a:xfrm>
            <a:off x="15100815" y="4390334"/>
            <a:ext cx="5122473" cy="277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그룹 88"/>
          <p:cNvGrpSpPr/>
          <p:nvPr/>
        </p:nvGrpSpPr>
        <p:grpSpPr>
          <a:xfrm>
            <a:off x="17581735" y="5732732"/>
            <a:ext cx="359282" cy="360000"/>
            <a:chOff x="2424318" y="2632193"/>
            <a:chExt cx="359282" cy="360000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92" name="그룹 91"/>
          <p:cNvGrpSpPr/>
          <p:nvPr/>
        </p:nvGrpSpPr>
        <p:grpSpPr>
          <a:xfrm>
            <a:off x="17762263" y="5541728"/>
            <a:ext cx="508516" cy="1159840"/>
            <a:chOff x="3330175" y="3145295"/>
            <a:chExt cx="508516" cy="1159840"/>
          </a:xfrm>
        </p:grpSpPr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330175" y="358513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6DD4D543-6F91-B2A7-906A-55EDBEE01ADC}"/>
                </a:ext>
              </a:extLst>
            </p:cNvPr>
            <p:cNvCxnSpPr/>
            <p:nvPr/>
          </p:nvCxnSpPr>
          <p:spPr>
            <a:xfrm flipH="1" flipV="1">
              <a:off x="3827937" y="3145295"/>
              <a:ext cx="10754" cy="720000"/>
            </a:xfrm>
            <a:prstGeom prst="line">
              <a:avLst/>
            </a:prstGeom>
            <a:noFill/>
            <a:ln w="12700" cap="rnd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5" name="그룹 94"/>
          <p:cNvGrpSpPr/>
          <p:nvPr/>
        </p:nvGrpSpPr>
        <p:grpSpPr>
          <a:xfrm>
            <a:off x="18072443" y="5294280"/>
            <a:ext cx="359282" cy="360000"/>
            <a:chOff x="2424318" y="2632193"/>
            <a:chExt cx="359282" cy="360000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03DC0D1-2844-2E76-2869-CDF6EC90CD6B}"/>
              </a:ext>
            </a:extLst>
          </p:cNvPr>
          <p:cNvGrpSpPr/>
          <p:nvPr/>
        </p:nvGrpSpPr>
        <p:grpSpPr>
          <a:xfrm>
            <a:off x="16936878" y="6500747"/>
            <a:ext cx="1171509" cy="368623"/>
            <a:chOff x="1297144" y="159827"/>
            <a:chExt cx="1296619" cy="50959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FFF041CB-3DFC-FB41-F31E-477EE938A2AB}"/>
                </a:ext>
              </a:extLst>
            </p:cNvPr>
            <p:cNvGrpSpPr/>
            <p:nvPr/>
          </p:nvGrpSpPr>
          <p:grpSpPr>
            <a:xfrm>
              <a:off x="1302397" y="162344"/>
              <a:ext cx="1291366" cy="504621"/>
              <a:chOff x="540680" y="1745400"/>
              <a:chExt cx="1291366" cy="504621"/>
            </a:xfrm>
          </p:grpSpPr>
          <p:sp>
            <p:nvSpPr>
              <p:cNvPr id="103" name="모서리가 둥근 직사각형 240">
                <a:extLst>
                  <a:ext uri="{FF2B5EF4-FFF2-40B4-BE49-F238E27FC236}">
                    <a16:creationId xmlns:a16="http://schemas.microsoft.com/office/drawing/2014/main" id="{1D18C733-A5D5-311E-08E4-3FFF8CD91906}"/>
                  </a:ext>
                </a:extLst>
              </p:cNvPr>
              <p:cNvSpPr/>
              <p:nvPr/>
            </p:nvSpPr>
            <p:spPr>
              <a:xfrm>
                <a:off x="540680" y="1745400"/>
                <a:ext cx="1291366" cy="5046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8D0A822-87C0-4959-51F2-A808B0297E82}"/>
                  </a:ext>
                </a:extLst>
              </p:cNvPr>
              <p:cNvSpPr txBox="1"/>
              <p:nvPr/>
            </p:nvSpPr>
            <p:spPr>
              <a:xfrm>
                <a:off x="1133414" y="1827162"/>
                <a:ext cx="463065" cy="3900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Medium" panose="020B0000000101010101" pitchFamily="50" charset="-127"/>
                    <a:ea typeface="SDS Sans  Bold"/>
                    <a:cs typeface="Arial" panose="020B0604020202020204" pitchFamily="34" charset="0"/>
                  </a:rPr>
                  <a:t>SDSAP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rPr>
                  <a:t>Singapore</a:t>
                </a: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871EC1A8-C945-F422-47EB-3EC31A5C1B29}"/>
                </a:ext>
              </a:extLst>
            </p:cNvPr>
            <p:cNvGrpSpPr/>
            <p:nvPr/>
          </p:nvGrpSpPr>
          <p:grpSpPr>
            <a:xfrm>
              <a:off x="1297144" y="159827"/>
              <a:ext cx="545586" cy="509592"/>
              <a:chOff x="4797176" y="1797238"/>
              <a:chExt cx="545586" cy="509592"/>
            </a:xfrm>
          </p:grpSpPr>
          <p:sp>
            <p:nvSpPr>
              <p:cNvPr id="101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4815173" y="1779241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102" name="그림 101">
                <a:extLst>
                  <a:ext uri="{FF2B5EF4-FFF2-40B4-BE49-F238E27FC236}">
                    <a16:creationId xmlns:a16="http://schemas.microsoft.com/office/drawing/2014/main" id="{ED4CD418-DFF3-035D-94FF-B6863659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916762" y="1872483"/>
                <a:ext cx="366351" cy="366351"/>
              </a:xfrm>
              <a:prstGeom prst="rect">
                <a:avLst/>
              </a:prstGeom>
            </p:spPr>
          </p:pic>
        </p:grpSp>
      </p:grpSp>
      <p:grpSp>
        <p:nvGrpSpPr>
          <p:cNvPr id="105" name="그룹 104"/>
          <p:cNvGrpSpPr/>
          <p:nvPr/>
        </p:nvGrpSpPr>
        <p:grpSpPr>
          <a:xfrm>
            <a:off x="18174804" y="6114583"/>
            <a:ext cx="1380311" cy="368623"/>
            <a:chOff x="4702254" y="3968686"/>
            <a:chExt cx="1380311" cy="368623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8686"/>
              <a:ext cx="1380311" cy="368623"/>
              <a:chOff x="1297144" y="159828"/>
              <a:chExt cx="1527720" cy="509592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62344"/>
                <a:ext cx="1522468" cy="504621"/>
                <a:chOff x="540679" y="1745400"/>
                <a:chExt cx="1522468" cy="504621"/>
              </a:xfrm>
            </p:grpSpPr>
            <p:sp>
              <p:nvSpPr>
                <p:cNvPr id="110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45400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7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Regular" panose="020B0000000101010101" pitchFamily="50" charset="-127"/>
                      <a:ea typeface="SDS Sans  Regular" panose="020B0000000101010101" pitchFamily="50" charset="-127"/>
                      <a:cs typeface="Arial" panose="020B0604020202020204" pitchFamily="34" charset="0"/>
                    </a:rPr>
                    <a:t>Greenwich</a:t>
                  </a:r>
                </a:p>
              </p:txBody>
            </p:sp>
          </p:grpSp>
          <p:sp>
            <p:nvSpPr>
              <p:cNvPr id="109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07" name="Picture 9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2" name="모서리가 둥근 직사각형 240">
            <a:hlinkClick r:id="" action="ppaction://noaction"/>
            <a:extLst>
              <a:ext uri="{FF2B5EF4-FFF2-40B4-BE49-F238E27FC236}">
                <a16:creationId xmlns:a16="http://schemas.microsoft.com/office/drawing/2014/main" id="{1D18C733-A5D5-311E-08E4-3FFF8CD91906}"/>
              </a:ext>
            </a:extLst>
          </p:cNvPr>
          <p:cNvSpPr/>
          <p:nvPr/>
        </p:nvSpPr>
        <p:spPr>
          <a:xfrm>
            <a:off x="18174804" y="6119472"/>
            <a:ext cx="1380311" cy="36502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13" name="그룹 96"/>
          <p:cNvGrpSpPr/>
          <p:nvPr/>
        </p:nvGrpSpPr>
        <p:grpSpPr>
          <a:xfrm>
            <a:off x="14739566" y="5846132"/>
            <a:ext cx="1380311" cy="372482"/>
            <a:chOff x="4702254" y="3964827"/>
            <a:chExt cx="1380311" cy="372482"/>
          </a:xfrm>
        </p:grpSpPr>
        <p:grpSp>
          <p:nvGrpSpPr>
            <p:cNvPr id="114" name="그룹 10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702254" y="3964827"/>
              <a:ext cx="1380311" cy="372482"/>
              <a:chOff x="1297144" y="154493"/>
              <a:chExt cx="1527720" cy="514927"/>
            </a:xfrm>
          </p:grpSpPr>
          <p:grpSp>
            <p:nvGrpSpPr>
              <p:cNvPr id="116" name="그룹 117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6" y="154493"/>
                <a:ext cx="1522468" cy="504621"/>
                <a:chOff x="540679" y="1737549"/>
                <a:chExt cx="1522468" cy="504621"/>
              </a:xfrm>
            </p:grpSpPr>
            <p:sp>
              <p:nvSpPr>
                <p:cNvPr id="11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79" y="1737549"/>
                  <a:ext cx="1522468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11457"/>
                  <a:ext cx="809032" cy="3900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700" dirty="0" err="1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000000101010101" pitchFamily="50" charset="-127"/>
                      <a:ea typeface="SDS Sans  Regular" panose="020B0000000101010101" pitchFamily="50" charset="-127"/>
                    </a:rPr>
                    <a:t>Tuas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000000101010101" pitchFamily="50" charset="-127"/>
                    <a:ea typeface="SDS Sans  Regular" panose="020B00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1831"/>
                <a:ext cx="509592" cy="54558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15" name="Picture 9"/>
            <p:cNvPicPr>
              <a:picLocks noChangeAspect="1" noChangeArrowheads="1"/>
            </p:cNvPicPr>
            <p:nvPr/>
          </p:nvPicPr>
          <p:blipFill>
            <a:blip r:embed="rId7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819130" y="3978522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0" name="그룹 119"/>
          <p:cNvGrpSpPr/>
          <p:nvPr/>
        </p:nvGrpSpPr>
        <p:grpSpPr>
          <a:xfrm>
            <a:off x="16013646" y="5888874"/>
            <a:ext cx="359282" cy="360000"/>
            <a:chOff x="2424318" y="2632193"/>
            <a:chExt cx="359282" cy="360000"/>
          </a:xfrm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D4E1DCA4-F4C8-D022-DC9E-653243F8A19C}"/>
                </a:ext>
              </a:extLst>
            </p:cNvPr>
            <p:cNvSpPr/>
            <p:nvPr/>
          </p:nvSpPr>
          <p:spPr>
            <a:xfrm>
              <a:off x="2542065" y="2764451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74A322BA-CF1E-C465-4409-A3A08BE3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4318" y="2632193"/>
              <a:ext cx="359282" cy="360000"/>
            </a:xfrm>
            <a:prstGeom prst="rect">
              <a:avLst/>
            </a:prstGeom>
          </p:spPr>
        </p:pic>
      </p:grpSp>
      <p:sp>
        <p:nvSpPr>
          <p:cNvPr id="123" name="사각형 설명선 122"/>
          <p:cNvSpPr/>
          <p:nvPr/>
        </p:nvSpPr>
        <p:spPr>
          <a:xfrm>
            <a:off x="15222779" y="3077170"/>
            <a:ext cx="4223283" cy="369332"/>
          </a:xfrm>
          <a:prstGeom prst="wedgeRectCallout">
            <a:avLst>
              <a:gd name="adj1" fmla="val -54642"/>
              <a:gd name="adj2" fmla="val 17798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영문 텍스트 유지</a:t>
            </a:r>
            <a:endParaRPr lang="en-US" altLang="ko-KR" sz="15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651D347-1F34-BFFE-3781-A2EE6633199D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지도 변경</a:t>
            </a:r>
          </a:p>
        </p:txBody>
      </p:sp>
    </p:spTree>
    <p:extLst>
      <p:ext uri="{BB962C8B-B14F-4D97-AF65-F5344CB8AC3E}">
        <p14:creationId xmlns:p14="http://schemas.microsoft.com/office/powerpoint/2010/main" val="168702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44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51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8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5026"/>
          <a:stretch/>
        </p:blipFill>
        <p:spPr>
          <a:xfrm>
            <a:off x="913825" y="921136"/>
            <a:ext cx="5182175" cy="575906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5026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 err="1">
                <a:hlinkClick r:id="rId3"/>
              </a:rPr>
              <a:t>첼로스퀘어</a:t>
            </a:r>
            <a:r>
              <a:rPr lang="ko-KR" altLang="en-US" sz="1400" dirty="0">
                <a:hlinkClick r:id="rId3"/>
              </a:rPr>
              <a:t> 싱가포르 소개 </a:t>
            </a:r>
            <a:r>
              <a:rPr lang="en-US" altLang="ko-KR" sz="1400" dirty="0">
                <a:hlinkClick r:id="rId3"/>
              </a:rPr>
              <a:t>- Global Network | </a:t>
            </a:r>
            <a:r>
              <a:rPr lang="ko-KR" altLang="en-US" sz="1400" dirty="0" err="1">
                <a:hlinkClick r:id="rId3"/>
              </a:rPr>
              <a:t>첼로스퀘어</a:t>
            </a:r>
            <a:r>
              <a:rPr lang="en-US" altLang="ko-KR" sz="1400" dirty="0">
                <a:hlinkClick r:id="rId3"/>
              </a:rPr>
              <a:t>(Cello Square)</a:t>
            </a:r>
            <a:endParaRPr lang="en-US" sz="14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27643"/>
              </p:ext>
            </p:extLst>
          </p:nvPr>
        </p:nvGraphicFramePr>
        <p:xfrm>
          <a:off x="6156003" y="5799134"/>
          <a:ext cx="7994337" cy="128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97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싱가포르 거점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30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Pasir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Panjang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Road #07-32,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Mapletree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Business City, 117440, Singapore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일반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4"/>
                        </a:rPr>
                        <a:t>cellosquare.my@samsung.co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해상 서비스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5"/>
                        </a:rPr>
                        <a:t>terrance.lee@samsung.com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계약 물류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6"/>
                        </a:rPr>
                        <a:t>ivan.xu@samsung.com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기타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  <a:hlinkClick r:id="rId7"/>
                        </a:rPr>
                        <a:t>jeffrey.kee@partner.samsung.com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596979"/>
              </p:ext>
            </p:extLst>
          </p:nvPr>
        </p:nvGraphicFramePr>
        <p:xfrm>
          <a:off x="14512603" y="5799134"/>
          <a:ext cx="7994337" cy="1288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97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Singapore Office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30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Pasir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Panjang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Road #07-32,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Mapletree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Business City, 117440, Singapore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General: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4"/>
                        </a:rPr>
                        <a:t>cellosquare.my@samsung.co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Ocean Logistics: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5"/>
                        </a:rPr>
                        <a:t>terrance.lee@samsung.com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Contract Logistics: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6"/>
                        </a:rPr>
                        <a:t>ivan.xu@samsung.com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Business Development: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  <a:hlinkClick r:id="rId7"/>
                        </a:rPr>
                        <a:t>jeffrey.kee@partner.samsung.com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sp>
        <p:nvSpPr>
          <p:cNvPr id="123" name="TextBox 122"/>
          <p:cNvSpPr txBox="1"/>
          <p:nvPr/>
        </p:nvSpPr>
        <p:spPr>
          <a:xfrm>
            <a:off x="6471629" y="-1005651"/>
            <a:ext cx="4956779" cy="1458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위치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15 Greenwich Drive, Singapore 534022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면적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116,875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sqft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가전 제품 및 서비스 부품 운영 창고</a:t>
            </a:r>
          </a:p>
          <a:p>
            <a:pPr>
              <a:defRPr/>
            </a:pP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이커머스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풀필먼트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정확도 높은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피킹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패킹을 통한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고가치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모바일 기기 핸들링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정시 배송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(OTD)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최적화를 위한 지정 시간대 배송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(Time-slot delivery)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첨단 자동화 솔루션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AI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 기술 탑재한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3D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소터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(3D Sorter)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도입으로 정확도 및 처리량 극대화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(2025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07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도입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71629" y="2687809"/>
            <a:ext cx="5125839" cy="7254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위치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29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Tuas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Avenue 11, Singapore 639089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창고 면적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가전 및 제조 제품 등 다양한 화물 핸들링을 위한 유연한 물류 시설로 고객 수요에 맞춰 확장 가능</a:t>
            </a:r>
          </a:p>
        </p:txBody>
      </p:sp>
      <p:pic>
        <p:nvPicPr>
          <p:cNvPr id="125" name="Picture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336" y="540399"/>
            <a:ext cx="5070764" cy="1828800"/>
          </a:xfrm>
          <a:prstGeom prst="rect">
            <a:avLst/>
          </a:prstGeom>
        </p:spPr>
      </p:pic>
      <p:pic>
        <p:nvPicPr>
          <p:cNvPr id="126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623" y="3645374"/>
            <a:ext cx="5088369" cy="183515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4951126" y="-1681092"/>
            <a:ext cx="4956779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Location: 15 Greenwich Drive, Singapore 534022</a:t>
            </a:r>
          </a:p>
          <a:p>
            <a:pPr marL="171450" indent="-171450"/>
            <a:r>
              <a:rPr lang="en-SG" altLang="ko-KR" sz="1200" dirty="0"/>
              <a:t>Warehouse Space: A 116,875 </a:t>
            </a:r>
            <a:r>
              <a:rPr lang="en-SG" altLang="ko-KR" sz="1200" dirty="0" err="1"/>
              <a:t>sq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ft</a:t>
            </a:r>
            <a:r>
              <a:rPr lang="en-SG" altLang="ko-KR" sz="1200" dirty="0"/>
              <a:t> facility specializing in consumer electronics and service parts operations.</a:t>
            </a:r>
          </a:p>
          <a:p>
            <a:pPr marL="171450" indent="-171450"/>
            <a:r>
              <a:rPr lang="en-SG" altLang="ko-KR" sz="1200" dirty="0" err="1"/>
              <a:t>eCommerce</a:t>
            </a:r>
            <a:r>
              <a:rPr lang="en-SG" altLang="ko-KR" sz="1200" dirty="0"/>
              <a:t> </a:t>
            </a:r>
            <a:r>
              <a:rPr lang="en-SG" altLang="ko-KR" sz="1200" dirty="0" err="1"/>
              <a:t>Fulfillment</a:t>
            </a:r>
            <a:r>
              <a:rPr lang="en-SG" altLang="ko-KR" sz="1200" dirty="0"/>
              <a:t>: Secure handling of high‑value mobile devices with precision picking and packing; time‑slot delivery supported by optimized on‑time delivery (OTD) performance.</a:t>
            </a:r>
          </a:p>
          <a:p>
            <a:pPr marL="171450" indent="-171450"/>
            <a:r>
              <a:rPr lang="en-SG" altLang="ko-KR" sz="1200" dirty="0"/>
              <a:t>Advanced Automation: 3D sorter with AI‑powered camera technology (go‑live: July 2025) enhances accuracy and throughput.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277583" y="2983857"/>
            <a:ext cx="5125839" cy="10481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Location: 29 </a:t>
            </a:r>
            <a:r>
              <a:rPr lang="en-SG" altLang="ko-KR" sz="1200" dirty="0" err="1"/>
              <a:t>Tuas</a:t>
            </a:r>
            <a:r>
              <a:rPr lang="en-SG" altLang="ko-KR" sz="1200" dirty="0"/>
              <a:t> Avenue 11, Singapore 639089</a:t>
            </a:r>
          </a:p>
          <a:p>
            <a:pPr marL="171450" indent="-171450"/>
            <a:r>
              <a:rPr lang="en-SG" altLang="ko-KR" sz="1200" dirty="0"/>
              <a:t>Warehouse Space: A flexible facility designed for consumer electronics, manufacturing products, and heating &amp; water systems. The space is expandable to accommodate growing customer needs.</a:t>
            </a:r>
          </a:p>
        </p:txBody>
      </p:sp>
      <p:pic>
        <p:nvPicPr>
          <p:cNvPr id="129" name="Picture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1833" y="859009"/>
            <a:ext cx="5070764" cy="1828800"/>
          </a:xfrm>
          <a:prstGeom prst="rect">
            <a:avLst/>
          </a:prstGeom>
        </p:spPr>
      </p:pic>
      <p:pic>
        <p:nvPicPr>
          <p:cNvPr id="130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7583" y="4074034"/>
            <a:ext cx="4020067" cy="1449861"/>
          </a:xfrm>
          <a:prstGeom prst="rect">
            <a:avLst/>
          </a:prstGeom>
        </p:spPr>
      </p:pic>
      <p:sp>
        <p:nvSpPr>
          <p:cNvPr id="131" name="직사각형 130"/>
          <p:cNvSpPr/>
          <p:nvPr/>
        </p:nvSpPr>
        <p:spPr>
          <a:xfrm>
            <a:off x="2176189" y="1365347"/>
            <a:ext cx="3469868" cy="1777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직사각형 131"/>
          <p:cNvSpPr/>
          <p:nvPr/>
        </p:nvSpPr>
        <p:spPr>
          <a:xfrm>
            <a:off x="2172761" y="3200399"/>
            <a:ext cx="3580339" cy="1888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오른쪽 화살표 132"/>
          <p:cNvSpPr/>
          <p:nvPr/>
        </p:nvSpPr>
        <p:spPr>
          <a:xfrm>
            <a:off x="5554940" y="2100352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오른쪽 화살표 133"/>
          <p:cNvSpPr/>
          <p:nvPr/>
        </p:nvSpPr>
        <p:spPr>
          <a:xfrm>
            <a:off x="5719592" y="4124652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6699790" y="-2224191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991833" y="-2224191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137162F-375E-AC4D-0A36-15FE636CF104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24503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2"/>
              </a:rPr>
              <a:t>첼로스퀘어</a:t>
            </a:r>
            <a:r>
              <a:rPr lang="ko-KR" altLang="en-US" sz="1600" dirty="0">
                <a:hlinkClick r:id="rId2"/>
              </a:rPr>
              <a:t> 인도네시아 소개 </a:t>
            </a:r>
            <a:r>
              <a:rPr lang="en-US" altLang="ko-KR" sz="1600" dirty="0">
                <a:hlinkClick r:id="rId2"/>
              </a:rPr>
              <a:t>- Global Network | </a:t>
            </a:r>
            <a:r>
              <a:rPr lang="ko-KR" altLang="en-US" sz="1600" dirty="0" err="1">
                <a:hlinkClick r:id="rId2"/>
              </a:rPr>
              <a:t>첼로스퀘어</a:t>
            </a:r>
            <a:r>
              <a:rPr lang="en-US" altLang="ko-KR" sz="1600" dirty="0">
                <a:hlinkClick r:id="rId2"/>
              </a:rPr>
              <a:t>(Cello Square)</a:t>
            </a:r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b="24667"/>
          <a:stretch/>
        </p:blipFill>
        <p:spPr>
          <a:xfrm>
            <a:off x="351889" y="758267"/>
            <a:ext cx="7357012" cy="4944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79406" y="130805"/>
            <a:ext cx="376507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해당부분</a:t>
            </a:r>
            <a:r>
              <a:rPr lang="en-US" altLang="ko-KR" dirty="0"/>
              <a:t>, </a:t>
            </a:r>
            <a:r>
              <a:rPr lang="ko-KR" altLang="en-US" dirty="0"/>
              <a:t>국문만 </a:t>
            </a:r>
            <a:r>
              <a:rPr lang="ko-KR" altLang="en-US" dirty="0" err="1"/>
              <a:t>반영부탁드립니다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82394" y="2179935"/>
            <a:ext cx="654870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solidFill>
                  <a:prstClr val="black"/>
                </a:solidFill>
              </a:rPr>
              <a:t>삼성</a:t>
            </a:r>
            <a:r>
              <a:rPr lang="en-US" altLang="ko-KR" sz="1600" dirty="0">
                <a:solidFill>
                  <a:prstClr val="black"/>
                </a:solidFill>
              </a:rPr>
              <a:t>SDS </a:t>
            </a:r>
            <a:r>
              <a:rPr lang="ko-KR" altLang="en-US" sz="1600" dirty="0">
                <a:solidFill>
                  <a:prstClr val="black"/>
                </a:solidFill>
              </a:rPr>
              <a:t>인도네시아는 자카르타 남부 </a:t>
            </a:r>
            <a:r>
              <a:rPr lang="ko-KR" altLang="en-US" sz="1600" dirty="0" err="1">
                <a:solidFill>
                  <a:prstClr val="black"/>
                </a:solidFill>
              </a:rPr>
              <a:t>가톳</a:t>
            </a:r>
            <a:r>
              <a:rPr lang="ko-KR" altLang="en-US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 err="1">
                <a:solidFill>
                  <a:prstClr val="black"/>
                </a:solidFill>
              </a:rPr>
              <a:t>수브로토</a:t>
            </a:r>
            <a:r>
              <a:rPr lang="en-US" altLang="ko-KR" sz="1600" dirty="0">
                <a:solidFill>
                  <a:prstClr val="black"/>
                </a:solidFill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</a:rPr>
              <a:t>Gatot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</a:rPr>
              <a:t>Subroto</a:t>
            </a:r>
            <a:r>
              <a:rPr lang="en-US" altLang="ko-KR" sz="1600" dirty="0">
                <a:solidFill>
                  <a:prstClr val="black"/>
                </a:solidFill>
              </a:rPr>
              <a:t>)</a:t>
            </a:r>
            <a:r>
              <a:rPr lang="ko-KR" altLang="en-US" sz="1600" dirty="0">
                <a:solidFill>
                  <a:prstClr val="black"/>
                </a:solidFill>
              </a:rPr>
              <a:t>에 위치하고 있으며</a:t>
            </a:r>
            <a:r>
              <a:rPr lang="en-US" altLang="ko-KR" sz="1600" dirty="0">
                <a:solidFill>
                  <a:prstClr val="black"/>
                </a:solidFill>
              </a:rPr>
              <a:t>, 10</a:t>
            </a:r>
            <a:r>
              <a:rPr lang="ko-KR" altLang="en-US" sz="1600" dirty="0">
                <a:solidFill>
                  <a:prstClr val="black"/>
                </a:solidFill>
              </a:rPr>
              <a:t>년 이상 종합 물류 서비스를 제공하고 있습니다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6DBD2A7-6D03-D1CC-F3F5-34BDDD06FB12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785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2"/>
              </a:rPr>
              <a:t>첼로스퀘어</a:t>
            </a:r>
            <a:r>
              <a:rPr lang="ko-KR" altLang="en-US" sz="1600" dirty="0">
                <a:hlinkClick r:id="rId2"/>
              </a:rPr>
              <a:t> 인도네시아 소개 </a:t>
            </a:r>
            <a:r>
              <a:rPr lang="en-US" altLang="ko-KR" sz="1600" dirty="0">
                <a:hlinkClick r:id="rId2"/>
              </a:rPr>
              <a:t>- Global Network | </a:t>
            </a:r>
            <a:r>
              <a:rPr lang="ko-KR" altLang="en-US" sz="1600" dirty="0" err="1">
                <a:hlinkClick r:id="rId2"/>
              </a:rPr>
              <a:t>첼로스퀘어</a:t>
            </a:r>
            <a:r>
              <a:rPr lang="en-US" altLang="ko-KR" sz="1600" dirty="0">
                <a:hlinkClick r:id="rId2"/>
              </a:rPr>
              <a:t>(Cello Square)</a:t>
            </a:r>
            <a:endParaRPr lang="en-US" sz="16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813924"/>
            <a:ext cx="6744641" cy="6639852"/>
          </a:xfrm>
          <a:prstGeom prst="rect">
            <a:avLst/>
          </a:prstGeom>
        </p:spPr>
      </p:pic>
      <p:sp>
        <p:nvSpPr>
          <p:cNvPr id="8" name="직사각형 16"/>
          <p:cNvSpPr/>
          <p:nvPr/>
        </p:nvSpPr>
        <p:spPr>
          <a:xfrm>
            <a:off x="7668319" y="2454694"/>
            <a:ext cx="1943872" cy="8037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카쿵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ko-KR" altLang="en-US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탕게랑</a:t>
            </a: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창고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12191" y="1527978"/>
            <a:ext cx="5159617" cy="7360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통합 물류 운영 역량을 바탕으로 삼성전자 가전 물류 서비스를 제공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전담 현장 보안 인력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전국적인 전자상거래 주문 처리 및 지역 배송을 지원</a:t>
            </a:r>
          </a:p>
        </p:txBody>
      </p:sp>
      <p:pic>
        <p:nvPicPr>
          <p:cNvPr id="10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517" y="2348288"/>
            <a:ext cx="5044644" cy="1820334"/>
          </a:xfrm>
          <a:prstGeom prst="rect">
            <a:avLst/>
          </a:prstGeom>
        </p:spPr>
      </p:pic>
      <p:sp>
        <p:nvSpPr>
          <p:cNvPr id="13" name="직사각형 16"/>
          <p:cNvSpPr/>
          <p:nvPr/>
        </p:nvSpPr>
        <p:spPr>
          <a:xfrm>
            <a:off x="8022516" y="5592446"/>
            <a:ext cx="1797241" cy="1359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대상 아궁 인도네시아 프로젝트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7293" y="5363566"/>
            <a:ext cx="5159617" cy="908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인도네시아 전역에 걸쳐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16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물류센터를 관리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전국적인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FMCG(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소비재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유통 및 도서 간 배송 서비스를 제공</a:t>
            </a:r>
          </a:p>
          <a:p>
            <a:pPr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Cello WMS/TMS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활용한 시스템 기반 운영으로 정확성과 가시성을 확보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FEFO(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선입선출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재고 관리로 제품 품질 및 규정 준수 보장</a:t>
            </a:r>
          </a:p>
        </p:txBody>
      </p:sp>
      <p:pic>
        <p:nvPicPr>
          <p:cNvPr id="15" name="Picture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908" y="6551705"/>
            <a:ext cx="5002389" cy="1804141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200431" y="1078670"/>
            <a:ext cx="6760109" cy="308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오른쪽 화살표 16"/>
          <p:cNvSpPr/>
          <p:nvPr/>
        </p:nvSpPr>
        <p:spPr>
          <a:xfrm>
            <a:off x="6991462" y="2835358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직사각형 17"/>
          <p:cNvSpPr/>
          <p:nvPr/>
        </p:nvSpPr>
        <p:spPr>
          <a:xfrm>
            <a:off x="200431" y="4272945"/>
            <a:ext cx="6760109" cy="3089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오른쪽 화살표 18"/>
          <p:cNvSpPr/>
          <p:nvPr/>
        </p:nvSpPr>
        <p:spPr>
          <a:xfrm>
            <a:off x="6991462" y="6223216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직사각형 19"/>
          <p:cNvSpPr/>
          <p:nvPr/>
        </p:nvSpPr>
        <p:spPr>
          <a:xfrm>
            <a:off x="7697116" y="1078669"/>
            <a:ext cx="7759194" cy="3194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직사각형 20"/>
          <p:cNvSpPr/>
          <p:nvPr/>
        </p:nvSpPr>
        <p:spPr>
          <a:xfrm>
            <a:off x="7697116" y="5363566"/>
            <a:ext cx="7759194" cy="3308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7697116" y="629258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93282" y="629258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26" name="직사각형 16"/>
          <p:cNvSpPr/>
          <p:nvPr/>
        </p:nvSpPr>
        <p:spPr>
          <a:xfrm>
            <a:off x="16060134" y="2307643"/>
            <a:ext cx="2163105" cy="10554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Cakung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Tangerang Warehouse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98266" y="1037872"/>
            <a:ext cx="5159617" cy="12697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End‑to‑end warehouse operations for Samsung Electronics home appliances, delivering efficiency and reliability.</a:t>
            </a:r>
          </a:p>
          <a:p>
            <a:pPr marL="171450" indent="-171450">
              <a:defRPr/>
            </a:pPr>
            <a:r>
              <a:rPr lang="en-SG" altLang="ko-KR" sz="1200" dirty="0"/>
              <a:t>Both facilities feature 24/7 CCTV monitoring with dedicated on‑site security, and support nationwide e‑commerce </a:t>
            </a:r>
            <a:r>
              <a:rPr lang="en-SG" altLang="ko-KR" sz="1200" dirty="0" err="1"/>
              <a:t>fulfillment</a:t>
            </a:r>
            <a:r>
              <a:rPr lang="en-SG" altLang="ko-KR" sz="1200" dirty="0"/>
              <a:t> and local delivery.</a:t>
            </a:r>
          </a:p>
        </p:txBody>
      </p:sp>
      <p:pic>
        <p:nvPicPr>
          <p:cNvPr id="28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3748" y="2481794"/>
            <a:ext cx="5044644" cy="1820334"/>
          </a:xfrm>
          <a:prstGeom prst="rect">
            <a:avLst/>
          </a:prstGeom>
        </p:spPr>
      </p:pic>
      <p:sp>
        <p:nvSpPr>
          <p:cNvPr id="31" name="직사각형 16"/>
          <p:cNvSpPr/>
          <p:nvPr/>
        </p:nvSpPr>
        <p:spPr>
          <a:xfrm>
            <a:off x="16060134" y="6527696"/>
            <a:ext cx="2039180" cy="1069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Daesang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Agung</a:t>
            </a: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Indonesia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18982" y="5220761"/>
            <a:ext cx="5159617" cy="1491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Managing 16 warehouse locations across Indonesia, providing nationwide FMCG distribution and inter‑island shipments with reliable SLA performance. </a:t>
            </a:r>
          </a:p>
          <a:p>
            <a:pPr marL="171450" indent="-171450">
              <a:defRPr/>
            </a:pPr>
            <a:r>
              <a:rPr lang="en-SG" altLang="ko-KR" sz="1200" dirty="0"/>
              <a:t>Operations are system‑driven with Cello WMS/TMS for accuracy and visibility, and FEFO‑based inventory management ensures product quality and compliance.</a:t>
            </a:r>
            <a:endParaRPr lang="ko-KR" altLang="en-US" sz="1200" dirty="0"/>
          </a:p>
        </p:txBody>
      </p:sp>
      <p:pic>
        <p:nvPicPr>
          <p:cNvPr id="33" name="Picture 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6210" y="6858000"/>
            <a:ext cx="5002389" cy="1804141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15926826" y="1078669"/>
            <a:ext cx="8573288" cy="3362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15926826" y="5092200"/>
            <a:ext cx="8573288" cy="4066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9854B77-C449-087A-742C-25BE3B7B6936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4172144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6243"/>
            <a:ext cx="6333047" cy="44917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5900" y="95935"/>
            <a:ext cx="690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>
                <a:hlinkClick r:id="rId3"/>
              </a:rPr>
              <a:t>첼로스퀘어</a:t>
            </a:r>
            <a:r>
              <a:rPr lang="ko-KR" altLang="en-US" sz="1600" dirty="0">
                <a:hlinkClick r:id="rId3"/>
              </a:rPr>
              <a:t> 인도네시아 소개 </a:t>
            </a:r>
            <a:r>
              <a:rPr lang="en-US" altLang="ko-KR" sz="1600" dirty="0">
                <a:hlinkClick r:id="rId3"/>
              </a:rPr>
              <a:t>- Global Network | </a:t>
            </a:r>
            <a:r>
              <a:rPr lang="ko-KR" altLang="en-US" sz="1600" dirty="0" err="1">
                <a:hlinkClick r:id="rId3"/>
              </a:rPr>
              <a:t>첼로스퀘어</a:t>
            </a:r>
            <a:r>
              <a:rPr lang="en-US" altLang="ko-KR" sz="1600" dirty="0">
                <a:hlinkClick r:id="rId3"/>
              </a:rPr>
              <a:t>(Cello Square)</a:t>
            </a:r>
            <a:endParaRPr lang="en-US" sz="16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15318"/>
              </p:ext>
            </p:extLst>
          </p:nvPr>
        </p:nvGraphicFramePr>
        <p:xfrm>
          <a:off x="6333047" y="4612121"/>
          <a:ext cx="6811453" cy="1070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Suite A1, 17th Floor, Centennial Tower, Jl.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Jend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Gatot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Subroto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No. 27, South Jakarta, 12930, Indonesia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seo.jinwon@samsung.com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899"/>
              </p:ext>
            </p:extLst>
          </p:nvPr>
        </p:nvGraphicFramePr>
        <p:xfrm>
          <a:off x="13884221" y="4612121"/>
          <a:ext cx="7070780" cy="112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073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3082985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827722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Suite A1, 17th Floor, Centennial Tower, Jl.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Jend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Gatot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Subroto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No. 27, South Jakarta, 12930, Indonesia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44000" lvl="0" indent="-1440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General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cellosquare.id@samsung.com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*Business Development</a:t>
                      </a:r>
                      <a:r>
                        <a:rPr lang="en-US" altLang="ko-KR" sz="1100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seo.jinwon@samsung.com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99790" y="38908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1833" y="389085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F4136D3-1C5A-053D-93F9-1B29D4EF819D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HQ </a:t>
            </a:r>
            <a:r>
              <a:rPr kumimoji="1" lang="ko-KR" altLang="en-US" dirty="0"/>
              <a:t>외 창고 모두 삭제 처리</a:t>
            </a:r>
            <a:r>
              <a:rPr kumimoji="1" lang="en-US" altLang="ko-KR" dirty="0"/>
              <a:t>,</a:t>
            </a:r>
          </a:p>
          <a:p>
            <a:pPr algn="ctr"/>
            <a:r>
              <a:rPr kumimoji="1" lang="ko-KR" altLang="en-US" dirty="0"/>
              <a:t>영문 버전으로 다국어 반영</a:t>
            </a:r>
          </a:p>
        </p:txBody>
      </p:sp>
    </p:spTree>
    <p:extLst>
      <p:ext uri="{BB962C8B-B14F-4D97-AF65-F5344CB8AC3E}">
        <p14:creationId xmlns:p14="http://schemas.microsoft.com/office/powerpoint/2010/main" val="4016374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9864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71" y="777136"/>
            <a:ext cx="5870000" cy="7948654"/>
          </a:xfrm>
          <a:prstGeom prst="rect">
            <a:avLst/>
          </a:prstGeom>
        </p:spPr>
      </p:pic>
      <p:sp>
        <p:nvSpPr>
          <p:cNvPr id="5" name="사각형 설명선 4"/>
          <p:cNvSpPr/>
          <p:nvPr/>
        </p:nvSpPr>
        <p:spPr>
          <a:xfrm>
            <a:off x="7346953" y="1907792"/>
            <a:ext cx="4920343" cy="600164"/>
          </a:xfrm>
          <a:prstGeom prst="wedgeRectCallout">
            <a:avLst>
              <a:gd name="adj1" fmla="val -78355"/>
              <a:gd name="adj2" fmla="val 28643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동남아시아의 자동차</a:t>
            </a:r>
            <a:r>
              <a:rPr lang="en-US" altLang="ko-KR" sz="1100" dirty="0"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solidFill>
                  <a:prstClr val="black"/>
                </a:solidFill>
              </a:rPr>
              <a:t>전자</a:t>
            </a:r>
            <a:r>
              <a:rPr lang="en-US" altLang="ko-KR" sz="1100" dirty="0"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solidFill>
                  <a:prstClr val="black"/>
                </a:solidFill>
              </a:rPr>
              <a:t>식품 물류 허브인 태국에서 삼성</a:t>
            </a:r>
            <a:r>
              <a:rPr lang="en-US" altLang="ko-KR" sz="1100" dirty="0">
                <a:solidFill>
                  <a:prstClr val="black"/>
                </a:solidFill>
              </a:rPr>
              <a:t>SDS</a:t>
            </a:r>
            <a:r>
              <a:rPr lang="ko-KR" altLang="en-US" sz="1100" dirty="0">
                <a:solidFill>
                  <a:prstClr val="black"/>
                </a:solidFill>
              </a:rPr>
              <a:t>는 지난 </a:t>
            </a:r>
            <a:r>
              <a:rPr lang="en-US" altLang="ko-KR" sz="1100" dirty="0">
                <a:solidFill>
                  <a:prstClr val="black"/>
                </a:solidFill>
              </a:rPr>
              <a:t>12</a:t>
            </a:r>
            <a:r>
              <a:rPr lang="ko-KR" altLang="en-US" sz="1100" dirty="0">
                <a:solidFill>
                  <a:prstClr val="black"/>
                </a:solidFill>
              </a:rPr>
              <a:t>년간 방콕과 </a:t>
            </a:r>
            <a:r>
              <a:rPr lang="ko-KR" altLang="en-US" sz="1100" dirty="0" err="1">
                <a:solidFill>
                  <a:prstClr val="black"/>
                </a:solidFill>
              </a:rPr>
              <a:t>람차방</a:t>
            </a:r>
            <a:r>
              <a:rPr lang="ko-KR" altLang="en-US" sz="1100" dirty="0">
                <a:solidFill>
                  <a:prstClr val="black"/>
                </a:solidFill>
              </a:rPr>
              <a:t> 거점을 중심으로 폭넓고 안정적인 물류 솔루션을 제공해 왔습니다</a:t>
            </a:r>
            <a:r>
              <a:rPr lang="en-US" altLang="ko-KR" sz="11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4338" y="6969148"/>
            <a:ext cx="5290478" cy="159274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국제 운송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해상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(FCL/LCL),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항공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육상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현지 배송 및 통관 서비스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 세계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운송사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네트워크 및 실시간 디지털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트래킹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기반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특송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UPS, 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Aramex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FedEx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등 신뢰할 수 있는 글로벌 파트너와의 협업을 통해 시간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민감형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소포 배송 및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이커머스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샘플 물류에 최적화된 서비스 제공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계약 물류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온도에 민감한 제품을 위한 전문 냉장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냉동 체인 솔루션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창고 보관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유통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드레이지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내륙 운송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),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프로젝트 물류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, BOI(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투자청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)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컨설팅 제공</a:t>
            </a:r>
          </a:p>
          <a:p>
            <a:pPr marL="144000" indent="-144000" latinLnBrk="0">
              <a:spcAft>
                <a:spcPts val="70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라스트 마일 배송 및 설치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: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익일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당일 배송 서비스와 함께 가전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전자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ko-KR" altLang="en-US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리테일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설비 설치 지원 및 스마트 디바이스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·</a:t>
            </a:r>
            <a:r>
              <a:rPr lang="en-US" altLang="ko-KR" sz="1000" kern="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IoT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장비의 플러그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‑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앤</a:t>
            </a:r>
            <a:r>
              <a:rPr lang="en-US" altLang="ko-KR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‑</a:t>
            </a:r>
            <a:r>
              <a:rPr lang="ko-KR" altLang="en-US" sz="1000" kern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플레이 설치 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27179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17070" y="7276269"/>
            <a:ext cx="4855011" cy="1285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856342" y="2235367"/>
            <a:ext cx="5138057" cy="696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853008" y="6969148"/>
            <a:ext cx="5290478" cy="1608133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t">
            <a:spAutoFit/>
          </a:bodyPr>
          <a:lstStyle/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International Freight Forwarding: Ocean (FCL/LCL), Air, Ground, local delivery, and customs clearance, supported by a global carrier network and real‑time digital tracking.</a:t>
            </a: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Express Delivery: Time‑critical parcel services powered by trusted global partners (UPS, </a:t>
            </a:r>
            <a:r>
              <a:rPr lang="en-SG" altLang="ko-KR" sz="1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Aramex</a:t>
            </a: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FedEx), ideal for samples and e‑commerce shipments.</a:t>
            </a: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Contract Logistics: Specialised cold chain solutions for temperature‑sensitive products, plus warehousing, distribution, drayage, project logistics, and BOI consulting.</a:t>
            </a:r>
          </a:p>
          <a:p>
            <a:pPr marL="144000" lvl="0" indent="-144000">
              <a:lnSpc>
                <a:spcPct val="9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/>
            </a:pP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Last Mile Delivery &amp; Installation: Next‑day and same‑day delivery with professional installation for appliances, electronics, and retail fixtures, including plug‑and‑play setup for smart devices and </a:t>
            </a:r>
            <a:r>
              <a:rPr lang="en-SG" altLang="ko-KR" sz="1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IoT</a:t>
            </a:r>
            <a:r>
              <a:rPr lang="en-SG" altLang="ko-KR" sz="1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equipment.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7440" y="1600015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부분 국문만 변경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2A503BE-14FC-E2BF-6EED-A2B22F02BAEF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현지어</a:t>
            </a:r>
            <a:r>
              <a:rPr kumimoji="1" lang="ko-KR" altLang="en-US" dirty="0"/>
              <a:t> 및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1327662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5" y="1001485"/>
            <a:ext cx="5098905" cy="5674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9864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27179" y="592470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9864" y="1176200"/>
            <a:ext cx="5587885" cy="461665"/>
          </a:xfrm>
          <a:prstGeom prst="wedgeRectCallout">
            <a:avLst>
              <a:gd name="adj1" fmla="val -95640"/>
              <a:gd name="adj2" fmla="val 21629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태국 거점 창고 및 야드 서비스는 하이테크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가전제품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자동차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 err="1">
                <a:solidFill>
                  <a:prstClr val="black"/>
                </a:solidFill>
              </a:rPr>
              <a:t>이커머스</a:t>
            </a:r>
            <a:r>
              <a:rPr lang="ko-KR" altLang="en-US" dirty="0">
                <a:solidFill>
                  <a:prstClr val="black"/>
                </a:solidFill>
              </a:rPr>
              <a:t> 등 다양한 </a:t>
            </a:r>
            <a:r>
              <a:rPr lang="ko-KR" altLang="en-US" dirty="0" err="1">
                <a:solidFill>
                  <a:prstClr val="black"/>
                </a:solidFill>
              </a:rPr>
              <a:t>산업군에</a:t>
            </a:r>
            <a:r>
              <a:rPr lang="ko-KR" altLang="en-US" dirty="0">
                <a:solidFill>
                  <a:prstClr val="black"/>
                </a:solidFill>
              </a:rPr>
              <a:t> 물류 솔루션을 제공하고 있습니다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1" name="직사각형 16"/>
          <p:cNvSpPr/>
          <p:nvPr/>
        </p:nvSpPr>
        <p:spPr>
          <a:xfrm>
            <a:off x="5884401" y="3651230"/>
            <a:ext cx="1303080" cy="71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물류 창고 네트워크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9"/>
          <p:cNvSpPr/>
          <p:nvPr/>
        </p:nvSpPr>
        <p:spPr>
          <a:xfrm>
            <a:off x="5779626" y="6437342"/>
            <a:ext cx="1728371" cy="66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09585" latinLnBrk="0">
              <a:defRPr/>
            </a:pP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컨테이너 야드 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&amp; </a:t>
            </a:r>
            <a:r>
              <a:rPr lang="ko-KR" altLang="en-US" sz="16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데포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(Depot)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481" y="1852263"/>
            <a:ext cx="5004519" cy="13640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방콕 및 촌부리 핵심 입지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항구 및 공항과의 뛰어난 접근성을 갖춘 총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66,000sqm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이상의 창고 공간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53,600CBM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저장 용량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통합 보안 및 안전 관리 시스템</a:t>
            </a:r>
          </a:p>
          <a:p>
            <a:pPr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삼성전자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CJ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푸드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 업계 선도 기업이 신뢰하는 물류 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997" y="5652343"/>
            <a:ext cx="5159617" cy="1374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촌부리 소재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항구까지 약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15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 거리의 전략적 입지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93,000sqm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야드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시설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8,000 TEU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수용 가능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첨단 하이테크 관리 시스템 기반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운영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ONE, EVERGREEN, HMM, COSCO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 글로벌 주요 선사가 신뢰하는 운영 역량</a:t>
            </a:r>
          </a:p>
        </p:txBody>
      </p:sp>
      <p:pic>
        <p:nvPicPr>
          <p:cNvPr id="17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70" y="3430752"/>
            <a:ext cx="5080000" cy="1875115"/>
          </a:xfrm>
          <a:prstGeom prst="rect">
            <a:avLst/>
          </a:prstGeom>
        </p:spPr>
      </p:pic>
      <p:pic>
        <p:nvPicPr>
          <p:cNvPr id="18" name="Picture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70" y="7027078"/>
            <a:ext cx="5105399" cy="1875115"/>
          </a:xfrm>
          <a:prstGeom prst="rect">
            <a:avLst/>
          </a:prstGeom>
        </p:spPr>
      </p:pic>
      <p:sp>
        <p:nvSpPr>
          <p:cNvPr id="21" name="직사각형 16"/>
          <p:cNvSpPr/>
          <p:nvPr/>
        </p:nvSpPr>
        <p:spPr>
          <a:xfrm>
            <a:off x="13471441" y="3364325"/>
            <a:ext cx="2112870" cy="949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Warehousing Network</a:t>
            </a:r>
          </a:p>
        </p:txBody>
      </p:sp>
      <p:sp>
        <p:nvSpPr>
          <p:cNvPr id="24" name="직사각형 19"/>
          <p:cNvSpPr/>
          <p:nvPr/>
        </p:nvSpPr>
        <p:spPr>
          <a:xfrm>
            <a:off x="13027179" y="6676060"/>
            <a:ext cx="2735335" cy="595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Container Yard &amp;</a:t>
            </a:r>
            <a:r>
              <a:rPr kumimoji="0" lang="th-TH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Depot</a:t>
            </a:r>
          </a:p>
        </p:txBody>
      </p:sp>
      <p:cxnSp>
        <p:nvCxnSpPr>
          <p:cNvPr id="25" name="직선 연결선 20"/>
          <p:cNvCxnSpPr/>
          <p:nvPr/>
        </p:nvCxnSpPr>
        <p:spPr>
          <a:xfrm>
            <a:off x="21016685" y="2242495"/>
            <a:ext cx="0" cy="3966647"/>
          </a:xfrm>
          <a:prstGeom prst="line">
            <a:avLst/>
          </a:prstGeom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508829" y="1620009"/>
            <a:ext cx="5004519" cy="19822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Prime locations in Bangkok and </a:t>
            </a:r>
            <a:r>
              <a:rPr lang="en-SG" altLang="ko-KR" sz="1200" dirty="0" err="1"/>
              <a:t>Chonburi</a:t>
            </a:r>
            <a:endParaRPr lang="en-SG" altLang="ko-KR" sz="1200" dirty="0"/>
          </a:p>
          <a:p>
            <a:pPr marL="171450" indent="-171450">
              <a:defRPr/>
            </a:pPr>
            <a:r>
              <a:rPr lang="en-SG" altLang="ko-KR" sz="1200" dirty="0"/>
              <a:t>Over 66,000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of modern warehouse space with easy access to seaports and airports.</a:t>
            </a:r>
          </a:p>
          <a:p>
            <a:pPr marL="171450" indent="-171450">
              <a:defRPr/>
            </a:pPr>
            <a:r>
              <a:rPr lang="en-SG" altLang="ko-KR" sz="1200" dirty="0"/>
              <a:t>Storage capacity: up to 53,600 CBM</a:t>
            </a:r>
          </a:p>
          <a:p>
            <a:pPr marL="171450" indent="-171450">
              <a:defRPr/>
            </a:pPr>
            <a:r>
              <a:rPr lang="en-SG" altLang="ko-KR" sz="1200" dirty="0"/>
              <a:t>Comprehensive security and safety systems</a:t>
            </a:r>
          </a:p>
          <a:p>
            <a:pPr marL="171450" indent="-171450">
              <a:defRPr/>
            </a:pPr>
            <a:r>
              <a:rPr lang="en-SG" altLang="ko-KR" sz="1200" dirty="0"/>
              <a:t>Trusted by industry leaders including Samsung Electronics and CJ Food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05399" y="6014179"/>
            <a:ext cx="5159617" cy="168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4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>
              <a:defRPr/>
            </a:pPr>
            <a:r>
              <a:rPr lang="en-SG" altLang="ko-KR" sz="1200" dirty="0"/>
              <a:t>Located at </a:t>
            </a:r>
            <a:r>
              <a:rPr lang="en-SG" altLang="ko-KR" sz="1200" dirty="0" err="1"/>
              <a:t>Chonburi</a:t>
            </a:r>
            <a:r>
              <a:rPr lang="en-SG" altLang="ko-KR" sz="1200" dirty="0"/>
              <a:t>, 15 minutes from the seaport.</a:t>
            </a:r>
          </a:p>
          <a:p>
            <a:pPr marL="171450" indent="-171450">
              <a:defRPr/>
            </a:pPr>
            <a:r>
              <a:rPr lang="en-SG" altLang="ko-KR" sz="1200" dirty="0"/>
              <a:t>A 93,000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yard and depot area with 24/7 operations powered by advanced high‑tech management systems.</a:t>
            </a:r>
          </a:p>
          <a:p>
            <a:pPr marL="171450" indent="-171450">
              <a:defRPr/>
            </a:pPr>
            <a:r>
              <a:rPr lang="en-SG" altLang="ko-KR" sz="1200" dirty="0"/>
              <a:t>Storage capacity: up to 8,000 TEU.</a:t>
            </a:r>
          </a:p>
          <a:p>
            <a:pPr marL="171450" indent="-171450">
              <a:defRPr/>
            </a:pPr>
            <a:r>
              <a:rPr lang="en-SG" altLang="ko-KR" sz="1200" dirty="0"/>
              <a:t>Trusted by leading global shipping lines: ONE, EVERGREEN, HMM, COSCO</a:t>
            </a:r>
            <a:r>
              <a:rPr lang="en-SG" altLang="ko-KR" sz="1300" dirty="0"/>
              <a:t>.</a:t>
            </a:r>
          </a:p>
        </p:txBody>
      </p:sp>
      <p:pic>
        <p:nvPicPr>
          <p:cNvPr id="28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593" y="3838835"/>
            <a:ext cx="5080000" cy="1832131"/>
          </a:xfrm>
          <a:prstGeom prst="rect">
            <a:avLst/>
          </a:prstGeom>
        </p:spPr>
      </p:pic>
      <p:pic>
        <p:nvPicPr>
          <p:cNvPr id="29" name="Picture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593" y="7793081"/>
            <a:ext cx="5105399" cy="1841292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6058919" y="1786138"/>
            <a:ext cx="6968260" cy="3685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직사각형 30"/>
          <p:cNvSpPr/>
          <p:nvPr/>
        </p:nvSpPr>
        <p:spPr>
          <a:xfrm>
            <a:off x="6058919" y="5538010"/>
            <a:ext cx="6968260" cy="3685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직사각형 31"/>
          <p:cNvSpPr/>
          <p:nvPr/>
        </p:nvSpPr>
        <p:spPr>
          <a:xfrm>
            <a:off x="13201697" y="1675703"/>
            <a:ext cx="8105274" cy="4166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직사각형 32"/>
          <p:cNvSpPr/>
          <p:nvPr/>
        </p:nvSpPr>
        <p:spPr>
          <a:xfrm>
            <a:off x="13201697" y="6057661"/>
            <a:ext cx="8105274" cy="37685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/>
          <p:cNvSpPr/>
          <p:nvPr/>
        </p:nvSpPr>
        <p:spPr>
          <a:xfrm>
            <a:off x="633901" y="1684466"/>
            <a:ext cx="4984381" cy="2408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633901" y="4093029"/>
            <a:ext cx="4984381" cy="2408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직사각형 35"/>
          <p:cNvSpPr/>
          <p:nvPr/>
        </p:nvSpPr>
        <p:spPr>
          <a:xfrm>
            <a:off x="633901" y="1423210"/>
            <a:ext cx="4984381" cy="252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8703475" y="874038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부분 국문만 변경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1B792DB-7489-A8CF-7D4B-2A068C86B769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현지어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1457919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25706" y="146193"/>
            <a:ext cx="59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hlinkClick r:id="rId2"/>
              </a:rPr>
              <a:t>첼로스퀘어</a:t>
            </a:r>
            <a:r>
              <a:rPr lang="ko-KR" altLang="en-US" sz="1400" dirty="0">
                <a:hlinkClick r:id="rId2"/>
              </a:rPr>
              <a:t> 태국 소개 </a:t>
            </a:r>
            <a:r>
              <a:rPr lang="en-US" altLang="ko-KR" sz="1400" dirty="0">
                <a:hlinkClick r:id="rId2"/>
              </a:rPr>
              <a:t>- Global Network | </a:t>
            </a:r>
            <a:r>
              <a:rPr lang="ko-KR" altLang="en-US" sz="1400" dirty="0" err="1">
                <a:hlinkClick r:id="rId2"/>
              </a:rPr>
              <a:t>첼로스퀘어</a:t>
            </a:r>
            <a:r>
              <a:rPr lang="en-US" altLang="ko-KR" sz="1400" dirty="0">
                <a:hlinkClick r:id="rId2"/>
              </a:rPr>
              <a:t>(Cello Square)</a:t>
            </a:r>
            <a:endParaRPr 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06" y="2380354"/>
            <a:ext cx="6168408" cy="2222850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79324"/>
              </p:ext>
            </p:extLst>
          </p:nvPr>
        </p:nvGraphicFramePr>
        <p:xfrm>
          <a:off x="6468968" y="1983229"/>
          <a:ext cx="6811453" cy="1614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Room 302, 3rd Floor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Talay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Thuong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Tower, 53 Moo. 9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Sukhumvit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Rd.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Tungsukla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Sriracha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Chonburi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20230, Thailand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sales.sdsth@samsung.com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ACUTECH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2525 FYI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Center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1, Suite No. 1/1008, 10th Floor, Rama 4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Klongtoei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District, Bangkok Metropolis, 10110, Thailand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97268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15034"/>
              </p:ext>
            </p:extLst>
          </p:nvPr>
        </p:nvGraphicFramePr>
        <p:xfrm>
          <a:off x="14020142" y="1983229"/>
          <a:ext cx="7070780" cy="1614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073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3082985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827722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Room 302, 3rd Floor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Talay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Thuong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Tower, 53 Moo. 9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Sukhumvit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Rd.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Tungsukla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Sriracha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Chonburi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20230, Thailand</a:t>
                      </a: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44000" lvl="0" indent="-144000">
                        <a:spcAft>
                          <a:spcPts val="7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General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cellosquare.id@samsung.com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*Business Development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SG" altLang="ko-KR" sz="1100" dirty="0">
                          <a:solidFill>
                            <a:srgbClr val="FF0000"/>
                          </a:solidFill>
                        </a:rPr>
                        <a:t>sales.sdsth@samsung.com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52644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ACUTECH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2525 FYI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Center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1, Suite No. 1/1008, 10th Floor, Rama 4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Klongtoei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District, Bangkok Metropolis, 10110, Thailand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lvl="0" indent="-14400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endParaRPr lang="en-US" altLang="ko-KR" sz="11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298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12" name="사각형 설명선 11"/>
          <p:cNvSpPr/>
          <p:nvPr/>
        </p:nvSpPr>
        <p:spPr>
          <a:xfrm>
            <a:off x="9833502" y="612930"/>
            <a:ext cx="4920343" cy="261610"/>
          </a:xfrm>
          <a:prstGeom prst="wedgeRectCallout">
            <a:avLst>
              <a:gd name="adj1" fmla="val -31120"/>
              <a:gd name="adj2" fmla="val 16992"/>
            </a:avLst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100">
                <a:solidFill>
                  <a:prstClr val="black"/>
                </a:solidFill>
              </a:rPr>
              <a:t>부분 수정</a:t>
            </a:r>
            <a:endParaRPr lang="en-US" altLang="ko-KR" sz="1100" dirty="0">
              <a:solidFill>
                <a:prstClr val="black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1887B09-D247-BCCE-88C4-612C22FFFDF0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영문 버전으로 다국어 반영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55100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80" y="1512347"/>
            <a:ext cx="6591591" cy="513125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03200" y="11589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 err="1">
                <a:hlinkClick r:id="rId3"/>
              </a:rPr>
              <a:t>첼로스퀘어</a:t>
            </a:r>
            <a:r>
              <a:rPr lang="ko-KR" altLang="en-US" sz="1400" dirty="0">
                <a:hlinkClick r:id="rId3"/>
              </a:rPr>
              <a:t> 필리핀 소개 </a:t>
            </a:r>
            <a:r>
              <a:rPr lang="en-US" altLang="ko-KR" sz="1400" dirty="0">
                <a:hlinkClick r:id="rId3"/>
              </a:rPr>
              <a:t>- Global Network | </a:t>
            </a:r>
            <a:r>
              <a:rPr lang="ko-KR" altLang="en-US" sz="1400" dirty="0" err="1">
                <a:hlinkClick r:id="rId3"/>
              </a:rPr>
              <a:t>첼로스퀘어</a:t>
            </a:r>
            <a:r>
              <a:rPr lang="en-US" altLang="ko-KR" sz="1400" dirty="0">
                <a:hlinkClick r:id="rId3"/>
              </a:rPr>
              <a:t>(Cello Square)</a:t>
            </a:r>
            <a:endParaRPr lang="en-US" sz="1400" dirty="0"/>
          </a:p>
        </p:txBody>
      </p:sp>
      <p:sp>
        <p:nvSpPr>
          <p:cNvPr id="6" name="사각형 설명선 5"/>
          <p:cNvSpPr/>
          <p:nvPr/>
        </p:nvSpPr>
        <p:spPr>
          <a:xfrm>
            <a:off x="7866743" y="2670407"/>
            <a:ext cx="6096000" cy="646331"/>
          </a:xfrm>
          <a:prstGeom prst="wedgeRectCallout">
            <a:avLst>
              <a:gd name="adj1" fmla="val -74404"/>
              <a:gd name="adj2" fmla="val -16097"/>
            </a:avLst>
          </a:prstGeom>
          <a:solidFill>
            <a:srgbClr val="FFFF00"/>
          </a:solidFill>
        </p:spPr>
        <p:txBody>
          <a:bodyPr>
            <a:spAutoFit/>
          </a:bodyPr>
          <a:lstStyle/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필리핀은 지난 </a:t>
            </a:r>
            <a:r>
              <a:rPr lang="en-US" altLang="ko-KR" dirty="0">
                <a:solidFill>
                  <a:prstClr val="black"/>
                </a:solidFill>
              </a:rPr>
              <a:t>15</a:t>
            </a:r>
            <a:r>
              <a:rPr lang="ko-KR" altLang="en-US" dirty="0">
                <a:solidFill>
                  <a:prstClr val="black"/>
                </a:solidFill>
              </a:rPr>
              <a:t>년간 다양한 산업 분야의 </a:t>
            </a:r>
            <a:r>
              <a:rPr lang="ko-KR" altLang="en-US" dirty="0" err="1">
                <a:solidFill>
                  <a:prstClr val="black"/>
                </a:solidFill>
              </a:rPr>
              <a:t>고객사에게</a:t>
            </a:r>
            <a:r>
              <a:rPr lang="ko-KR" altLang="en-US" dirty="0">
                <a:solidFill>
                  <a:prstClr val="black"/>
                </a:solidFill>
              </a:rPr>
              <a:t> 차별화된 </a:t>
            </a:r>
            <a:r>
              <a:rPr lang="en-US" altLang="ko-KR" dirty="0">
                <a:solidFill>
                  <a:prstClr val="black"/>
                </a:solidFill>
              </a:rPr>
              <a:t>4PL </a:t>
            </a:r>
            <a:r>
              <a:rPr lang="ko-KR" altLang="en-US" dirty="0">
                <a:solidFill>
                  <a:prstClr val="black"/>
                </a:solidFill>
              </a:rPr>
              <a:t>물류 솔루션을 제공해왔습니다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7" name="Rectangle 146"/>
          <p:cNvSpPr/>
          <p:nvPr/>
        </p:nvSpPr>
        <p:spPr>
          <a:xfrm>
            <a:off x="1451715" y="2741558"/>
            <a:ext cx="4847485" cy="504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66743" y="2362630"/>
            <a:ext cx="400427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해당 부분 국문만 변경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4B51A68A-36AD-6555-EAE0-A889A3A1765A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국문 문구 반영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Only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183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2"/>
              </a:rPr>
              <a:t>첼로스퀘어</a:t>
            </a:r>
            <a:r>
              <a:rPr lang="ko-KR" altLang="en-US" sz="1300" dirty="0">
                <a:hlinkClick r:id="rId2"/>
              </a:rPr>
              <a:t> 호주 소개 </a:t>
            </a:r>
            <a:r>
              <a:rPr lang="en-US" altLang="ko-KR" sz="1300" dirty="0">
                <a:hlinkClick r:id="rId2"/>
              </a:rPr>
              <a:t>- Global Network | </a:t>
            </a:r>
            <a:r>
              <a:rPr lang="ko-KR" altLang="en-US" sz="1300" dirty="0" err="1">
                <a:hlinkClick r:id="rId2"/>
              </a:rPr>
              <a:t>첼로스퀘어</a:t>
            </a:r>
            <a:r>
              <a:rPr lang="en-US" altLang="ko-KR" sz="1300" dirty="0">
                <a:hlinkClick r:id="rId2"/>
              </a:rPr>
              <a:t>(Cello Square)</a:t>
            </a:r>
            <a:endParaRPr lang="en-US" sz="13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38" y="1480457"/>
            <a:ext cx="6532403" cy="40640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7985"/>
          <a:stretch/>
        </p:blipFill>
        <p:spPr bwMode="auto">
          <a:xfrm>
            <a:off x="8222256" y="2637556"/>
            <a:ext cx="5137932" cy="303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V="1">
            <a:off x="11851188" y="3112742"/>
            <a:ext cx="0" cy="132789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H="1">
            <a:off x="11845813" y="3123330"/>
            <a:ext cx="364330" cy="476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1473599" y="4825366"/>
            <a:ext cx="756000" cy="854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" name="그룹 12"/>
          <p:cNvGrpSpPr/>
          <p:nvPr/>
        </p:nvGrpSpPr>
        <p:grpSpPr>
          <a:xfrm>
            <a:off x="12204516" y="4656113"/>
            <a:ext cx="1358967" cy="369977"/>
            <a:chOff x="9172259" y="1532983"/>
            <a:chExt cx="1358967" cy="369977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9172259" y="1532983"/>
              <a:ext cx="1358967" cy="369977"/>
              <a:chOff x="1297144" y="162344"/>
              <a:chExt cx="1504097" cy="511464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794117"/>
                  <a:ext cx="308710" cy="4112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멜버른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5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301483" y="1546881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그룹 19"/>
          <p:cNvGrpSpPr/>
          <p:nvPr/>
        </p:nvGrpSpPr>
        <p:grpSpPr>
          <a:xfrm>
            <a:off x="11292519" y="4645365"/>
            <a:ext cx="359282" cy="360000"/>
            <a:chOff x="4825263" y="5286022"/>
            <a:chExt cx="359282" cy="360000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23" name="그룹 74"/>
          <p:cNvGrpSpPr/>
          <p:nvPr/>
        </p:nvGrpSpPr>
        <p:grpSpPr>
          <a:xfrm>
            <a:off x="8223063" y="4195075"/>
            <a:ext cx="1358967" cy="369977"/>
            <a:chOff x="4198653" y="1429475"/>
            <a:chExt cx="1358967" cy="369977"/>
          </a:xfrm>
        </p:grpSpPr>
        <p:grpSp>
          <p:nvGrpSpPr>
            <p:cNvPr id="24" name="그룹 7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9475"/>
              <a:ext cx="1358967" cy="369977"/>
              <a:chOff x="1297144" y="162344"/>
              <a:chExt cx="1504097" cy="511464"/>
            </a:xfrm>
          </p:grpSpPr>
          <p:grpSp>
            <p:nvGrpSpPr>
              <p:cNvPr id="26" name="그룹 7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28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328226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창고</a:t>
                  </a: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700" noProof="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퍼스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600000101010101" charset="-127"/>
                    <a:ea typeface="SDS Sans  Regular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7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25" name="Picture 9"/>
            <p:cNvPicPr>
              <a:picLocks noChangeAspect="1" noChangeArrowheads="1"/>
            </p:cNvPicPr>
            <p:nvPr/>
          </p:nvPicPr>
          <p:blipFill>
            <a:blip r:embed="rId5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그룹 82"/>
          <p:cNvGrpSpPr/>
          <p:nvPr/>
        </p:nvGrpSpPr>
        <p:grpSpPr>
          <a:xfrm>
            <a:off x="9802210" y="3840884"/>
            <a:ext cx="359282" cy="360000"/>
            <a:chOff x="4825263" y="5286022"/>
            <a:chExt cx="359282" cy="360000"/>
          </a:xfrm>
        </p:grpSpPr>
        <p:sp>
          <p:nvSpPr>
            <p:cNvPr id="31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32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33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28" idx="3"/>
          </p:cNvCxnSpPr>
          <p:nvPr/>
        </p:nvCxnSpPr>
        <p:spPr>
          <a:xfrm flipV="1">
            <a:off x="9582030" y="4021221"/>
            <a:ext cx="370389" cy="356368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60" idx="3"/>
          </p:cNvCxnSpPr>
          <p:nvPr/>
        </p:nvCxnSpPr>
        <p:spPr>
          <a:xfrm flipH="1" flipV="1">
            <a:off x="11959534" y="4066981"/>
            <a:ext cx="246100" cy="7493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그룹 82"/>
          <p:cNvGrpSpPr/>
          <p:nvPr/>
        </p:nvGrpSpPr>
        <p:grpSpPr>
          <a:xfrm>
            <a:off x="11799404" y="3873764"/>
            <a:ext cx="359282" cy="360000"/>
            <a:chOff x="4825263" y="5286022"/>
            <a:chExt cx="359282" cy="360000"/>
          </a:xfrm>
        </p:grpSpPr>
        <p:sp>
          <p:nvSpPr>
            <p:cNvPr id="36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37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38" name="그룹 37"/>
          <p:cNvGrpSpPr/>
          <p:nvPr/>
        </p:nvGrpSpPr>
        <p:grpSpPr>
          <a:xfrm>
            <a:off x="12206851" y="2924663"/>
            <a:ext cx="1358967" cy="366270"/>
            <a:chOff x="4198653" y="1428231"/>
            <a:chExt cx="1358967" cy="36627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43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337097" cy="37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8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시드니 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2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40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그룹 44"/>
          <p:cNvGrpSpPr/>
          <p:nvPr/>
        </p:nvGrpSpPr>
        <p:grpSpPr>
          <a:xfrm>
            <a:off x="11676001" y="4289624"/>
            <a:ext cx="359282" cy="360000"/>
            <a:chOff x="4825263" y="5286022"/>
            <a:chExt cx="359282" cy="360000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1854602" y="3646582"/>
            <a:ext cx="181150" cy="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E631153-E2CC-C2CC-B042-239F0D955FF6}"/>
              </a:ext>
            </a:extLst>
          </p:cNvPr>
          <p:cNvGrpSpPr/>
          <p:nvPr/>
        </p:nvGrpSpPr>
        <p:grpSpPr>
          <a:xfrm>
            <a:off x="11904478" y="3355218"/>
            <a:ext cx="1659005" cy="504658"/>
            <a:chOff x="5127389" y="3936715"/>
            <a:chExt cx="1863220" cy="640047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2CDE7B6-4B38-E131-774A-E5DBD342CC9F}"/>
                </a:ext>
              </a:extLst>
            </p:cNvPr>
            <p:cNvGrpSpPr/>
            <p:nvPr/>
          </p:nvGrpSpPr>
          <p:grpSpPr>
            <a:xfrm>
              <a:off x="5130764" y="3936715"/>
              <a:ext cx="1859845" cy="639210"/>
              <a:chOff x="540679" y="1745400"/>
              <a:chExt cx="1859845" cy="639210"/>
            </a:xfrm>
          </p:grpSpPr>
          <p:sp>
            <p:nvSpPr>
              <p:cNvPr id="54" name="모서리가 둥근 직사각형 160">
                <a:extLst>
                  <a:ext uri="{FF2B5EF4-FFF2-40B4-BE49-F238E27FC236}">
                    <a16:creationId xmlns:a16="http://schemas.microsoft.com/office/drawing/2014/main" id="{CA4A6E8C-AF23-211E-7896-562C95BA8FB9}"/>
                  </a:ext>
                </a:extLst>
              </p:cNvPr>
              <p:cNvSpPr/>
              <p:nvPr/>
            </p:nvSpPr>
            <p:spPr>
              <a:xfrm>
                <a:off x="540679" y="1745400"/>
                <a:ext cx="1859845" cy="6392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1EA1B03-7BD3-B12A-BBE2-623E0D63DFAD}"/>
                  </a:ext>
                </a:extLst>
              </p:cNvPr>
              <p:cNvSpPr txBox="1"/>
              <p:nvPr/>
            </p:nvSpPr>
            <p:spPr>
              <a:xfrm>
                <a:off x="1241751" y="1825092"/>
                <a:ext cx="410474" cy="4554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2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ExtraBold" panose="020B0600000101010101" pitchFamily="50" charset="-127"/>
                    <a:ea typeface="나눔스퀘어 ExtraBold" panose="020B0600000101010101" pitchFamily="50" charset="-127"/>
                    <a:cs typeface="Arial" panose="020B0604020202020204" pitchFamily="34" charset="0"/>
                  </a:rPr>
                  <a:t>호주</a:t>
                </a:r>
                <a:endParaRPr kumimoji="0" lang="en-US" altLang="ko-KR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ExtraBold" panose="020B0600000101010101" pitchFamily="50" charset="-127"/>
                  <a:ea typeface="나눔스퀘어 ExtraBold" panose="020B0600000101010101" pitchFamily="50" charset="-127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rPr>
                  <a:t>시드니</a:t>
                </a:r>
                <a:endPara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255644A2-2BA3-0256-5E23-5855A502D2BA}"/>
                </a:ext>
              </a:extLst>
            </p:cNvPr>
            <p:cNvGrpSpPr/>
            <p:nvPr/>
          </p:nvGrpSpPr>
          <p:grpSpPr>
            <a:xfrm>
              <a:off x="5127389" y="3937551"/>
              <a:ext cx="614558" cy="639211"/>
              <a:chOff x="4797177" y="1799165"/>
              <a:chExt cx="614558" cy="639211"/>
            </a:xfrm>
          </p:grpSpPr>
          <p:sp>
            <p:nvSpPr>
              <p:cNvPr id="52" name="양쪽 모서리가 둥근 사각형 272">
                <a:extLst>
                  <a:ext uri="{FF2B5EF4-FFF2-40B4-BE49-F238E27FC236}">
                    <a16:creationId xmlns:a16="http://schemas.microsoft.com/office/drawing/2014/main" id="{55CB5CE9-6FC0-DBC9-2812-5A8F83426042}"/>
                  </a:ext>
                </a:extLst>
              </p:cNvPr>
              <p:cNvSpPr/>
              <p:nvPr/>
            </p:nvSpPr>
            <p:spPr>
              <a:xfrm rot="16200000">
                <a:off x="4784850" y="1811492"/>
                <a:ext cx="639211" cy="61455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51851F0A-BBBC-C203-AED8-C852509D5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0441" y="1871860"/>
                <a:ext cx="465351" cy="465352"/>
              </a:xfrm>
              <a:prstGeom prst="rect">
                <a:avLst/>
              </a:prstGeom>
            </p:spPr>
          </p:pic>
        </p:grpSp>
      </p:grpSp>
      <p:grpSp>
        <p:nvGrpSpPr>
          <p:cNvPr id="56" name="그룹 55"/>
          <p:cNvGrpSpPr/>
          <p:nvPr/>
        </p:nvGrpSpPr>
        <p:grpSpPr>
          <a:xfrm>
            <a:off x="12205634" y="3960112"/>
            <a:ext cx="1358967" cy="366270"/>
            <a:chOff x="4198653" y="1428231"/>
            <a:chExt cx="1358967" cy="366270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6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411613" cy="37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창고</a:t>
                  </a: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스퀘어 ExtraBold" panose="020B0600000101010101" pitchFamily="50" charset="-127"/>
                      <a:ea typeface="나눔스퀘어 ExtraBold" panose="020B0600000101010101" pitchFamily="50" charset="-127"/>
                      <a:cs typeface="Arial" panose="020B0604020202020204" pitchFamily="34" charset="0"/>
                    </a:rPr>
                    <a:t>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Arial" panose="020B0604020202020204" pitchFamily="34" charset="0"/>
                    </a:rPr>
                    <a:t>브리즈번</a:t>
                  </a:r>
                  <a:endParaRPr kumimoji="0" lang="en-US" altLang="ko-KR" sz="8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58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3" name="TextBox 62"/>
          <p:cNvSpPr txBox="1"/>
          <p:nvPr/>
        </p:nvSpPr>
        <p:spPr>
          <a:xfrm>
            <a:off x="7975598" y="1126403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75598" y="1710133"/>
            <a:ext cx="5587885" cy="461665"/>
          </a:xfrm>
          <a:prstGeom prst="wedgeRectCallout">
            <a:avLst>
              <a:gd name="adj1" fmla="val -97345"/>
              <a:gd name="adj2" fmla="val 182557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dirty="0">
                <a:solidFill>
                  <a:prstClr val="black"/>
                </a:solidFill>
              </a:rPr>
              <a:t>삼성</a:t>
            </a:r>
            <a:r>
              <a:rPr lang="en-US" altLang="ko-KR" dirty="0">
                <a:solidFill>
                  <a:prstClr val="black"/>
                </a:solidFill>
              </a:rPr>
              <a:t>SDS </a:t>
            </a:r>
            <a:r>
              <a:rPr lang="ko-KR" altLang="en-US" dirty="0">
                <a:solidFill>
                  <a:prstClr val="black"/>
                </a:solidFill>
              </a:rPr>
              <a:t>호주는 고객과 최종 소비자까지 만족시키는 최적화된 </a:t>
            </a:r>
            <a:r>
              <a:rPr lang="ko-KR" altLang="en-US" dirty="0" err="1">
                <a:solidFill>
                  <a:prstClr val="black"/>
                </a:solidFill>
              </a:rPr>
              <a:t>공급망</a:t>
            </a:r>
            <a:r>
              <a:rPr lang="ko-KR" altLang="en-US" dirty="0">
                <a:solidFill>
                  <a:prstClr val="black"/>
                </a:solidFill>
              </a:rPr>
              <a:t> 솔루션과 다각적인 물류 서비스를 제공하고 있습니다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938248" y="1126403"/>
            <a:ext cx="9645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6640" y="872196"/>
            <a:ext cx="3765071" cy="276999"/>
          </a:xfrm>
          <a:prstGeom prst="wedgeRectCallout">
            <a:avLst>
              <a:gd name="adj1" fmla="val -23363"/>
              <a:gd name="adj2" fmla="val 29338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해당부분</a:t>
            </a:r>
            <a:r>
              <a:rPr lang="en-US" altLang="ko-KR" sz="1200" dirty="0"/>
              <a:t>, </a:t>
            </a:r>
            <a:r>
              <a:rPr lang="ko-KR" altLang="en-US" sz="1200" dirty="0"/>
              <a:t>국문만 </a:t>
            </a:r>
            <a:r>
              <a:rPr lang="ko-KR" altLang="en-US" sz="1200" dirty="0" err="1"/>
              <a:t>반영부탁드립니다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66DE5BFF-387F-B4CF-BD09-AE05D18FF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953181" y="2637556"/>
            <a:ext cx="5137932" cy="422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그룹 74"/>
          <p:cNvGrpSpPr/>
          <p:nvPr/>
        </p:nvGrpSpPr>
        <p:grpSpPr>
          <a:xfrm>
            <a:off x="13953988" y="4195075"/>
            <a:ext cx="1358967" cy="369977"/>
            <a:chOff x="4198653" y="1429475"/>
            <a:chExt cx="1358967" cy="369977"/>
          </a:xfrm>
        </p:grpSpPr>
        <p:grpSp>
          <p:nvGrpSpPr>
            <p:cNvPr id="69" name="그룹 75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9475"/>
              <a:ext cx="1358967" cy="369977"/>
              <a:chOff x="1297144" y="162344"/>
              <a:chExt cx="1504097" cy="511464"/>
            </a:xfrm>
          </p:grpSpPr>
          <p:grpSp>
            <p:nvGrpSpPr>
              <p:cNvPr id="71" name="그룹 7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73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effectLst/>
                      <a:uLnTx/>
                      <a:uFillTx/>
                      <a:latin typeface="SDS Sans  Medium" panose="020B0000000101010101" pitchFamily="50" charset="-127"/>
                      <a:ea typeface="SDS Sans  Bold"/>
                      <a:cs typeface="Arial" panose="020B0604020202020204" pitchFamily="34" charset="0"/>
                    </a:rPr>
                    <a:t>Warehouse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1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700" noProof="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Perth</a:t>
                  </a:r>
                  <a:endParaRPr kumimoji="0" lang="en-US" altLang="ko-KR" sz="7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95000"/>
                        <a:lumOff val="5000"/>
                      </a:prstClr>
                    </a:solidFill>
                    <a:effectLst/>
                    <a:uLnTx/>
                    <a:uFillTx/>
                    <a:latin typeface="SDS Sans  Regular" panose="020B0600000101010101" charset="-127"/>
                    <a:ea typeface="SDS Sans  Regular" panose="020B0600000101010101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2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70" name="Picture 9"/>
            <p:cNvPicPr>
              <a:picLocks noChangeAspect="1" noChangeArrowheads="1"/>
            </p:cNvPicPr>
            <p:nvPr/>
          </p:nvPicPr>
          <p:blipFill>
            <a:blip r:embed="rId5" cstate="screen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5" name="그룹 82"/>
          <p:cNvGrpSpPr/>
          <p:nvPr/>
        </p:nvGrpSpPr>
        <p:grpSpPr>
          <a:xfrm>
            <a:off x="15533135" y="3840884"/>
            <a:ext cx="359282" cy="360000"/>
            <a:chOff x="4825263" y="5286022"/>
            <a:chExt cx="359282" cy="360000"/>
          </a:xfrm>
        </p:grpSpPr>
        <p:sp>
          <p:nvSpPr>
            <p:cNvPr id="76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77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78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73" idx="3"/>
          </p:cNvCxnSpPr>
          <p:nvPr/>
        </p:nvCxnSpPr>
        <p:spPr>
          <a:xfrm flipV="1">
            <a:off x="15312955" y="4021221"/>
            <a:ext cx="370389" cy="356368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V="1">
            <a:off x="17582113" y="3112742"/>
            <a:ext cx="0" cy="132789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 flipH="1">
            <a:off x="17576738" y="3123330"/>
            <a:ext cx="364330" cy="4763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7204524" y="4825366"/>
            <a:ext cx="756000" cy="854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17935441" y="4656114"/>
            <a:ext cx="1358967" cy="369977"/>
            <a:chOff x="9172259" y="1532984"/>
            <a:chExt cx="1358967" cy="36997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9172259" y="1532984"/>
              <a:ext cx="1358967" cy="369977"/>
              <a:chOff x="1297144" y="162345"/>
              <a:chExt cx="1504097" cy="511463"/>
            </a:xfrm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5"/>
                <a:ext cx="1498844" cy="504620"/>
                <a:chOff x="540680" y="1745401"/>
                <a:chExt cx="1498844" cy="504620"/>
              </a:xfrm>
            </p:grpSpPr>
            <p:sp>
              <p:nvSpPr>
                <p:cNvPr id="87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1"/>
                  <a:ext cx="1498844" cy="50462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34538"/>
                  <a:ext cx="809032" cy="3900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Melbourne</a:t>
                  </a:r>
                </a:p>
              </p:txBody>
            </p:sp>
          </p:grpSp>
          <p:sp>
            <p:nvSpPr>
              <p:cNvPr id="86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5141" y="146219"/>
                <a:ext cx="509592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84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9301483" y="1546881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9" name="그룹 88"/>
          <p:cNvGrpSpPr/>
          <p:nvPr/>
        </p:nvGrpSpPr>
        <p:grpSpPr>
          <a:xfrm>
            <a:off x="17023444" y="4645365"/>
            <a:ext cx="359282" cy="360000"/>
            <a:chOff x="4825263" y="5286022"/>
            <a:chExt cx="359282" cy="360000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92" name="직선 연결선 102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>
            <a:stCxn id="118" idx="3"/>
          </p:cNvCxnSpPr>
          <p:nvPr/>
        </p:nvCxnSpPr>
        <p:spPr>
          <a:xfrm flipH="1" flipV="1">
            <a:off x="17690459" y="4066981"/>
            <a:ext cx="246100" cy="7493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3" name="그룹 82"/>
          <p:cNvGrpSpPr/>
          <p:nvPr/>
        </p:nvGrpSpPr>
        <p:grpSpPr>
          <a:xfrm>
            <a:off x="17530329" y="3873764"/>
            <a:ext cx="359282" cy="360000"/>
            <a:chOff x="4825263" y="5286022"/>
            <a:chExt cx="359282" cy="360000"/>
          </a:xfrm>
        </p:grpSpPr>
        <p:sp>
          <p:nvSpPr>
            <p:cNvPr id="94" name="타원 8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95" name="그림 101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grpSp>
        <p:nvGrpSpPr>
          <p:cNvPr id="96" name="그룹 95"/>
          <p:cNvGrpSpPr/>
          <p:nvPr/>
        </p:nvGrpSpPr>
        <p:grpSpPr>
          <a:xfrm>
            <a:off x="17937776" y="2924663"/>
            <a:ext cx="1358967" cy="366270"/>
            <a:chOff x="4198653" y="1428231"/>
            <a:chExt cx="1358967" cy="366270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01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Sydney</a:t>
                  </a:r>
                </a:p>
              </p:txBody>
            </p:sp>
          </p:grpSp>
          <p:sp>
            <p:nvSpPr>
              <p:cNvPr id="100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98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" name="그룹 102"/>
          <p:cNvGrpSpPr/>
          <p:nvPr/>
        </p:nvGrpSpPr>
        <p:grpSpPr>
          <a:xfrm>
            <a:off x="17406926" y="4289624"/>
            <a:ext cx="359282" cy="360000"/>
            <a:chOff x="4825263" y="5286022"/>
            <a:chExt cx="359282" cy="360000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542CD452-5C90-A645-C41E-92985823D5AB}"/>
                </a:ext>
              </a:extLst>
            </p:cNvPr>
            <p:cNvSpPr/>
            <p:nvPr/>
          </p:nvSpPr>
          <p:spPr>
            <a:xfrm>
              <a:off x="4943010" y="5418280"/>
              <a:ext cx="134360" cy="134360"/>
            </a:xfrm>
            <a:prstGeom prst="ellipse">
              <a:avLst/>
            </a:prstGeom>
            <a:gradFill flip="none" rotWithShape="1">
              <a:gsLst>
                <a:gs pos="7000">
                  <a:schemeClr val="bg1">
                    <a:alpha val="66000"/>
                  </a:schemeClr>
                </a:gs>
                <a:gs pos="52000">
                  <a:schemeClr val="bg1">
                    <a:alpha val="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DS Sans Light" panose="020B0000000101010101" pitchFamily="50" charset="-127"/>
                <a:ea typeface="SDS Sans Light" panose="020B0000000101010101" pitchFamily="50" charset="-127"/>
                <a:cs typeface="+mn-cs"/>
              </a:endParaRPr>
            </a:p>
          </p:txBody>
        </p:sp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F2833673-A28D-2D48-61F6-61123920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5263" y="5286022"/>
              <a:ext cx="359282" cy="360000"/>
            </a:xfrm>
            <a:prstGeom prst="rect">
              <a:avLst/>
            </a:prstGeom>
          </p:spPr>
        </p:pic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D546F33-92D6-00E3-B1CC-E4125B7B2135}"/>
              </a:ext>
            </a:extLst>
          </p:cNvPr>
          <p:cNvCxnSpPr/>
          <p:nvPr/>
        </p:nvCxnSpPr>
        <p:spPr>
          <a:xfrm>
            <a:off x="17585527" y="3646582"/>
            <a:ext cx="181150" cy="0"/>
          </a:xfrm>
          <a:prstGeom prst="line">
            <a:avLst/>
          </a:prstGeom>
          <a:noFill/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E631153-E2CC-C2CC-B042-239F0D955FF6}"/>
              </a:ext>
            </a:extLst>
          </p:cNvPr>
          <p:cNvGrpSpPr/>
          <p:nvPr/>
        </p:nvGrpSpPr>
        <p:grpSpPr>
          <a:xfrm>
            <a:off x="17635401" y="3355218"/>
            <a:ext cx="1659005" cy="504658"/>
            <a:chOff x="5127389" y="3936715"/>
            <a:chExt cx="1863221" cy="640047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F2CDE7B6-4B38-E131-774A-E5DBD342CC9F}"/>
                </a:ext>
              </a:extLst>
            </p:cNvPr>
            <p:cNvGrpSpPr/>
            <p:nvPr/>
          </p:nvGrpSpPr>
          <p:grpSpPr>
            <a:xfrm>
              <a:off x="5130764" y="3936715"/>
              <a:ext cx="1859846" cy="639210"/>
              <a:chOff x="540679" y="1745400"/>
              <a:chExt cx="1859846" cy="639210"/>
            </a:xfrm>
          </p:grpSpPr>
          <p:sp>
            <p:nvSpPr>
              <p:cNvPr id="112" name="모서리가 둥근 직사각형 160">
                <a:extLst>
                  <a:ext uri="{FF2B5EF4-FFF2-40B4-BE49-F238E27FC236}">
                    <a16:creationId xmlns:a16="http://schemas.microsoft.com/office/drawing/2014/main" id="{CA4A6E8C-AF23-211E-7896-562C95BA8FB9}"/>
                  </a:ext>
                </a:extLst>
              </p:cNvPr>
              <p:cNvSpPr/>
              <p:nvPr/>
            </p:nvSpPr>
            <p:spPr>
              <a:xfrm>
                <a:off x="540679" y="1745400"/>
                <a:ext cx="1859846" cy="6392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1428A0"/>
                </a:solidFill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1EA1B03-7BD3-B12A-BBE2-623E0D63DFAD}"/>
                  </a:ext>
                </a:extLst>
              </p:cNvPr>
              <p:cNvSpPr txBox="1"/>
              <p:nvPr/>
            </p:nvSpPr>
            <p:spPr>
              <a:xfrm>
                <a:off x="1241751" y="1892451"/>
                <a:ext cx="466285" cy="3773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>
                <a:defPPr>
                  <a:defRPr lang="ko-KR"/>
                </a:defPPr>
                <a:lvl1pPr algn="r" latinLnBrk="0">
                  <a:spcAft>
                    <a:spcPts val="200"/>
                  </a:spcAft>
                  <a:defRPr sz="90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defRPr>
                </a:lvl1pPr>
              </a:lstStyle>
              <a:p>
                <a:pPr lvl="0" algn="l">
                  <a:spcAft>
                    <a:spcPts val="100"/>
                  </a:spcAft>
                  <a:defRPr/>
                </a:pPr>
                <a:r>
                  <a:rPr lang="en-US" altLang="ko-KR" sz="1050" b="1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DS Sans  Medium" panose="020B0000000101010101" pitchFamily="50" charset="-127"/>
                    <a:ea typeface="SDS Sans  Bold"/>
                  </a:rPr>
                  <a:t>SDSAU</a:t>
                </a:r>
              </a:p>
              <a:p>
                <a:pPr lvl="0" algn="l">
                  <a:spcAft>
                    <a:spcPts val="100"/>
                  </a:spcAft>
                  <a:defRPr/>
                </a:pPr>
                <a:r>
                  <a:rPr lang="en-US" altLang="ko-KR" sz="8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SDS Sans  Regular" panose="020B0000000101010101" pitchFamily="50" charset="-127"/>
                    <a:ea typeface="SDS Sans  Regular" panose="020B0000000101010101" pitchFamily="50" charset="-127"/>
                  </a:rPr>
                  <a:t>Sydney</a:t>
                </a: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255644A2-2BA3-0256-5E23-5855A502D2BA}"/>
                </a:ext>
              </a:extLst>
            </p:cNvPr>
            <p:cNvGrpSpPr/>
            <p:nvPr/>
          </p:nvGrpSpPr>
          <p:grpSpPr>
            <a:xfrm>
              <a:off x="5127389" y="3937551"/>
              <a:ext cx="614558" cy="639211"/>
              <a:chOff x="4797177" y="1799165"/>
              <a:chExt cx="614558" cy="639211"/>
            </a:xfrm>
          </p:grpSpPr>
          <p:sp>
            <p:nvSpPr>
              <p:cNvPr id="110" name="양쪽 모서리가 둥근 사각형 272">
                <a:extLst>
                  <a:ext uri="{FF2B5EF4-FFF2-40B4-BE49-F238E27FC236}">
                    <a16:creationId xmlns:a16="http://schemas.microsoft.com/office/drawing/2014/main" id="{55CB5CE9-6FC0-DBC9-2812-5A8F83426042}"/>
                  </a:ext>
                </a:extLst>
              </p:cNvPr>
              <p:cNvSpPr/>
              <p:nvPr/>
            </p:nvSpPr>
            <p:spPr>
              <a:xfrm rot="16200000">
                <a:off x="4784850" y="1811492"/>
                <a:ext cx="639211" cy="61455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  <p:pic>
            <p:nvPicPr>
              <p:cNvPr id="111" name="그림 110">
                <a:extLst>
                  <a:ext uri="{FF2B5EF4-FFF2-40B4-BE49-F238E27FC236}">
                    <a16:creationId xmlns:a16="http://schemas.microsoft.com/office/drawing/2014/main" id="{51851F0A-BBBC-C203-AED8-C852509D5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90441" y="1871860"/>
                <a:ext cx="465351" cy="465352"/>
              </a:xfrm>
              <a:prstGeom prst="rect">
                <a:avLst/>
              </a:prstGeom>
            </p:spPr>
          </p:pic>
        </p:grpSp>
      </p:grpSp>
      <p:grpSp>
        <p:nvGrpSpPr>
          <p:cNvPr id="114" name="그룹 113"/>
          <p:cNvGrpSpPr/>
          <p:nvPr/>
        </p:nvGrpSpPr>
        <p:grpSpPr>
          <a:xfrm>
            <a:off x="17936559" y="3960112"/>
            <a:ext cx="1358967" cy="366270"/>
            <a:chOff x="4198653" y="1428231"/>
            <a:chExt cx="1358967" cy="366270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903DC0D1-2844-2E76-2869-CDF6EC90CD6B}"/>
                </a:ext>
              </a:extLst>
            </p:cNvPr>
            <p:cNvGrpSpPr/>
            <p:nvPr/>
          </p:nvGrpSpPr>
          <p:grpSpPr>
            <a:xfrm>
              <a:off x="4198653" y="1428231"/>
              <a:ext cx="1358967" cy="366270"/>
              <a:chOff x="1297144" y="160625"/>
              <a:chExt cx="1504097" cy="506340"/>
            </a:xfrm>
          </p:grpSpPr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FFF041CB-3DFC-FB41-F31E-477EE938A2AB}"/>
                  </a:ext>
                </a:extLst>
              </p:cNvPr>
              <p:cNvGrpSpPr/>
              <p:nvPr/>
            </p:nvGrpSpPr>
            <p:grpSpPr>
              <a:xfrm>
                <a:off x="1302397" y="162344"/>
                <a:ext cx="1498844" cy="504621"/>
                <a:chOff x="540680" y="1745400"/>
                <a:chExt cx="1498844" cy="504621"/>
              </a:xfrm>
            </p:grpSpPr>
            <p:sp>
              <p:nvSpPr>
                <p:cNvPr id="119" name="모서리가 둥근 직사각형 240">
                  <a:extLst>
                    <a:ext uri="{FF2B5EF4-FFF2-40B4-BE49-F238E27FC236}">
                      <a16:creationId xmlns:a16="http://schemas.microsoft.com/office/drawing/2014/main" id="{1D18C733-A5D5-311E-08E4-3FFF8CD91906}"/>
                    </a:ext>
                  </a:extLst>
                </p:cNvPr>
                <p:cNvSpPr/>
                <p:nvPr/>
              </p:nvSpPr>
              <p:spPr>
                <a:xfrm>
                  <a:off x="540680" y="1745400"/>
                  <a:ext cx="1498844" cy="5046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rgbClr val="595959"/>
                  </a:solidFill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34" charset="-127"/>
                    <a:cs typeface="+mn-cs"/>
                  </a:endParaRPr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78D0A822-87C0-4959-51F2-A808B0297E82}"/>
                    </a:ext>
                  </a:extLst>
                </p:cNvPr>
                <p:cNvSpPr txBox="1"/>
                <p:nvPr/>
              </p:nvSpPr>
              <p:spPr>
                <a:xfrm>
                  <a:off x="1133416" y="1827162"/>
                  <a:ext cx="809032" cy="39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 anchor="t">
                  <a:spAutoFit/>
                </a:bodyPr>
                <a:lstStyle>
                  <a:defPPr>
                    <a:defRPr lang="ko-KR"/>
                  </a:defPPr>
                  <a:lvl1pPr algn="r" latinLnBrk="0">
                    <a:spcAft>
                      <a:spcPts val="200"/>
                    </a:spcAft>
                    <a:defRPr sz="90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Arial" panose="020B0604020202020204" pitchFamily="34" charset="0"/>
                    </a:defRPr>
                  </a:lvl1pPr>
                </a:lstStyle>
                <a:p>
                  <a:pPr lvl="0" algn="l">
                    <a:spcAft>
                      <a:spcPts val="100"/>
                    </a:spcAft>
                    <a:defRPr/>
                  </a:pPr>
                  <a:r>
                    <a:rPr lang="en-US" altLang="ko-KR" sz="1050" b="1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Medium" panose="020B0000000101010101" pitchFamily="50" charset="-127"/>
                      <a:ea typeface="SDS Sans  Bold"/>
                    </a:rPr>
                    <a:t>Warehouse </a:t>
                  </a:r>
                </a:p>
                <a:p>
                  <a:pPr lvl="0" algn="l">
                    <a:spcAft>
                      <a:spcPts val="100"/>
                    </a:spcAft>
                    <a:defRPr/>
                  </a:pPr>
                  <a:r>
                    <a:rPr lang="en-US" altLang="ko-KR" sz="700" dirty="0">
                      <a:solidFill>
                        <a:prstClr val="black">
                          <a:lumMod val="95000"/>
                          <a:lumOff val="5000"/>
                        </a:prstClr>
                      </a:solidFill>
                      <a:latin typeface="SDS Sans  Regular" panose="020B0600000101010101" charset="-127"/>
                      <a:ea typeface="SDS Sans  Regular" panose="020B0600000101010101" charset="-127"/>
                    </a:rPr>
                    <a:t>Brisbane</a:t>
                  </a:r>
                </a:p>
              </p:txBody>
            </p:sp>
          </p:grpSp>
          <p:sp>
            <p:nvSpPr>
              <p:cNvPr id="118" name="양쪽 모서리가 둥근 사각형 245">
                <a:extLst>
                  <a:ext uri="{FF2B5EF4-FFF2-40B4-BE49-F238E27FC236}">
                    <a16:creationId xmlns:a16="http://schemas.microsoft.com/office/drawing/2014/main" id="{509F0944-F6B2-06A1-F123-B46488B45D27}"/>
                  </a:ext>
                </a:extLst>
              </p:cNvPr>
              <p:cNvSpPr/>
              <p:nvPr/>
            </p:nvSpPr>
            <p:spPr>
              <a:xfrm rot="16200000">
                <a:off x="1318613" y="139156"/>
                <a:ext cx="502648" cy="54558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595959"/>
              </a:solidFill>
              <a:ln>
                <a:solidFill>
                  <a:srgbClr val="59595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34" charset="-127"/>
                  <a:cs typeface="+mn-cs"/>
                </a:endParaRPr>
              </a:p>
            </p:txBody>
          </p:sp>
        </p:grpSp>
        <p:pic>
          <p:nvPicPr>
            <p:cNvPr id="116" name="Picture 9"/>
            <p:cNvPicPr>
              <a:picLocks noChangeAspect="1" noChangeArrowheads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326389" y="1439165"/>
              <a:ext cx="314449" cy="31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D13DCB74-FFFB-8B58-238C-AA2EEF799BE1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지도 변경</a:t>
            </a:r>
          </a:p>
        </p:txBody>
      </p:sp>
    </p:spTree>
    <p:extLst>
      <p:ext uri="{BB962C8B-B14F-4D97-AF65-F5344CB8AC3E}">
        <p14:creationId xmlns:p14="http://schemas.microsoft.com/office/powerpoint/2010/main" val="24291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50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83" dur="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5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0937 -0.40648 L -1.45833E-6 -4.81481E-6 " pathEditMode="relative" rAng="0" ptsTypes="AA">
                                      <p:cBhvr>
                                        <p:cTn id="135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9" y="20324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2"/>
              </a:rPr>
              <a:t>첼로스퀘어</a:t>
            </a:r>
            <a:r>
              <a:rPr lang="ko-KR" altLang="en-US" sz="1300" dirty="0">
                <a:hlinkClick r:id="rId2"/>
              </a:rPr>
              <a:t> 호주 소개 </a:t>
            </a:r>
            <a:r>
              <a:rPr lang="en-US" altLang="ko-KR" sz="1300" dirty="0">
                <a:hlinkClick r:id="rId2"/>
              </a:rPr>
              <a:t>- Global Network | </a:t>
            </a:r>
            <a:r>
              <a:rPr lang="ko-KR" altLang="en-US" sz="1300" dirty="0" err="1">
                <a:hlinkClick r:id="rId2"/>
              </a:rPr>
              <a:t>첼로스퀘어</a:t>
            </a:r>
            <a:r>
              <a:rPr lang="en-US" altLang="ko-KR" sz="1300" dirty="0">
                <a:hlinkClick r:id="rId2"/>
              </a:rPr>
              <a:t>(Cello Square)</a:t>
            </a:r>
            <a:endParaRPr lang="en-US" sz="13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4708"/>
            <a:ext cx="7077659" cy="2394151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453813"/>
              </p:ext>
            </p:extLst>
          </p:nvPr>
        </p:nvGraphicFramePr>
        <p:xfrm>
          <a:off x="6468968" y="1983229"/>
          <a:ext cx="6811453" cy="266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45648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HQ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2B Murray Jones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Dr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Bankstown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Aerodrome NSW 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영업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: park.j@samsung.com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Erskine Park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A1 57-65 Templar Road, Erskine Park, NSW, 2759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57426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Altona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VIC (Altona)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06721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CanningVale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8 Gauge Street, Canning Vale, WA, 6155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54904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창고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3/1937 Ipswich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QLD, 4106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3685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42957"/>
              </p:ext>
            </p:extLst>
          </p:nvPr>
        </p:nvGraphicFramePr>
        <p:xfrm>
          <a:off x="14020142" y="1983229"/>
          <a:ext cx="6811453" cy="280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526">
                  <a:extLst>
                    <a:ext uri="{9D8B030D-6E8A-4147-A177-3AD203B41FA5}">
                      <a16:colId xmlns:a16="http://schemas.microsoft.com/office/drawing/2014/main" val="1526357769"/>
                    </a:ext>
                  </a:extLst>
                </a:gridCol>
                <a:gridCol w="2969914">
                  <a:extLst>
                    <a:ext uri="{9D8B030D-6E8A-4147-A177-3AD203B41FA5}">
                      <a16:colId xmlns:a16="http://schemas.microsoft.com/office/drawing/2014/main" val="3704624977"/>
                    </a:ext>
                  </a:extLst>
                </a:gridCol>
                <a:gridCol w="2724013">
                  <a:extLst>
                    <a:ext uri="{9D8B030D-6E8A-4147-A177-3AD203B41FA5}">
                      <a16:colId xmlns:a16="http://schemas.microsoft.com/office/drawing/2014/main" val="561315315"/>
                    </a:ext>
                  </a:extLst>
                </a:gridCol>
              </a:tblGrid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오피스명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</a:rPr>
                        <a:t>위치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>
                          <a:solidFill>
                            <a:sysClr val="windowText" lastClr="000000"/>
                          </a:solidFill>
                        </a:rPr>
                        <a:t>연락처</a:t>
                      </a:r>
                      <a:endParaRPr lang="en-US" sz="11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24422"/>
                  </a:ext>
                </a:extLst>
              </a:tr>
              <a:tr h="45648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Australia Office &amp;</a:t>
                      </a:r>
                      <a:r>
                        <a:rPr kumimoji="0" lang="en-US" altLang="ko-KR" sz="1100" b="1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90000"/>
                        </a:lnSpc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2B Murray Jones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Dr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Bankstown</a:t>
                      </a: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 Aerodrome NSW 220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cellosquare.id@samsung.com</a:t>
                      </a:r>
                      <a:b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Arial" panose="020B0604020202020204" pitchFamily="34" charset="0"/>
                        </a:rPr>
                        <a:t>*Business Development: park.j@samsung.com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29969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Erskine Park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Unit A1 57-65 Templar Road, Erskine Park, NSW, 2759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57426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Altona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VIC (Altona)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06721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CanningVale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8 Gauge Street, Canning Vale, WA, 6155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54904"/>
                  </a:ext>
                </a:extLst>
              </a:tr>
              <a:tr h="4416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err="1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US" altLang="ko-KR" sz="1100" b="1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 Warehouse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3/1937 Ipswich Road, </a:t>
                      </a:r>
                      <a:r>
                        <a:rPr lang="en-SG" altLang="ko-KR" sz="1100" kern="0" dirty="0" err="1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Rocklea</a:t>
                      </a:r>
                      <a:r>
                        <a:rPr lang="en-SG" altLang="ko-KR" sz="1100" kern="0" dirty="0">
                          <a:ln>
                            <a:solidFill>
                              <a:prstClr val="black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, QLD, 4106</a:t>
                      </a:r>
                      <a:endParaRPr lang="en-US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44000" indent="-144000" latinLnBrk="0">
                        <a:spcAft>
                          <a:spcPts val="700"/>
                        </a:spcAft>
                        <a:buClr>
                          <a:prstClr val="black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endParaRPr lang="en-SG" altLang="ko-KR" sz="1100" kern="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36851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2B255B5-8545-1081-BB49-F1E8D4E8CEC2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rgbClr val="0AD2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텍스트 변경</a:t>
            </a:r>
            <a:endParaRPr kumimoji="1" lang="en-US" altLang="ko-KR" dirty="0"/>
          </a:p>
          <a:p>
            <a:pPr algn="ctr"/>
            <a:r>
              <a:rPr kumimoji="1" lang="ko-KR" altLang="en-US" dirty="0"/>
              <a:t>영문 버전으로 다국어 반영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8025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" y="1552575"/>
            <a:ext cx="5688612" cy="51720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6114" y="101600"/>
            <a:ext cx="6096000" cy="2923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300" dirty="0" err="1">
                <a:hlinkClick r:id="rId3"/>
              </a:rPr>
              <a:t>첼로스퀘어</a:t>
            </a:r>
            <a:r>
              <a:rPr lang="ko-KR" altLang="en-US" sz="1300" dirty="0">
                <a:hlinkClick r:id="rId3"/>
              </a:rPr>
              <a:t> 호주 소개 </a:t>
            </a:r>
            <a:r>
              <a:rPr lang="en-US" altLang="ko-KR" sz="1300" dirty="0">
                <a:hlinkClick r:id="rId3"/>
              </a:rPr>
              <a:t>- Global Network | </a:t>
            </a:r>
            <a:r>
              <a:rPr lang="ko-KR" altLang="en-US" sz="1300" dirty="0" err="1">
                <a:hlinkClick r:id="rId3"/>
              </a:rPr>
              <a:t>첼로스퀘어</a:t>
            </a:r>
            <a:r>
              <a:rPr lang="en-US" altLang="ko-KR" sz="1300" dirty="0">
                <a:hlinkClick r:id="rId3"/>
              </a:rPr>
              <a:t>(Cello Square)</a:t>
            </a:r>
            <a:endParaRPr lang="en-US" sz="1300" dirty="0"/>
          </a:p>
        </p:txBody>
      </p:sp>
      <p:sp>
        <p:nvSpPr>
          <p:cNvPr id="6" name="TextBox 5"/>
          <p:cNvSpPr txBox="1"/>
          <p:nvPr/>
        </p:nvSpPr>
        <p:spPr>
          <a:xfrm>
            <a:off x="6405344" y="129286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국문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142" y="1033789"/>
            <a:ext cx="73370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영문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5344" y="1809902"/>
            <a:ext cx="5587885" cy="369332"/>
          </a:xfrm>
          <a:prstGeom prst="wedgeRectCallout">
            <a:avLst>
              <a:gd name="adj1" fmla="val -75697"/>
              <a:gd name="adj2" fmla="val 3060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</a:rPr>
              <a:t>시드니와 멜버른의 물류 요충지에 위치한 창고 및 </a:t>
            </a:r>
            <a:r>
              <a:rPr lang="ko-KR" altLang="en-US" sz="1200" dirty="0" err="1">
                <a:solidFill>
                  <a:prstClr val="black"/>
                </a:solidFill>
              </a:rPr>
              <a:t>풀필먼트</a:t>
            </a:r>
            <a:r>
              <a:rPr lang="ko-KR" altLang="en-US" sz="1200" dirty="0">
                <a:solidFill>
                  <a:prstClr val="black"/>
                </a:solidFill>
              </a:rPr>
              <a:t> 센터는 고객의 다양한 </a:t>
            </a:r>
            <a:r>
              <a:rPr lang="ko-KR" altLang="en-US" sz="1200" dirty="0" err="1">
                <a:solidFill>
                  <a:prstClr val="black"/>
                </a:solidFill>
              </a:rPr>
              <a:t>니즈에</a:t>
            </a:r>
            <a:r>
              <a:rPr lang="ko-KR" altLang="en-US" sz="1200" dirty="0">
                <a:solidFill>
                  <a:prstClr val="black"/>
                </a:solidFill>
              </a:rPr>
              <a:t> 맞춰 효율적이고 최적화된 물류 솔루션을 제공하고 있습니다</a:t>
            </a:r>
            <a:r>
              <a:rPr lang="en-US" altLang="ko-KR" sz="12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6386" y="971965"/>
            <a:ext cx="3765071" cy="276999"/>
          </a:xfrm>
          <a:prstGeom prst="wedgeRectCallout">
            <a:avLst>
              <a:gd name="adj1" fmla="val -23363"/>
              <a:gd name="adj2" fmla="val 29338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해당부분</a:t>
            </a:r>
            <a:r>
              <a:rPr lang="en-US" altLang="ko-KR" sz="1200" dirty="0"/>
              <a:t>, </a:t>
            </a:r>
            <a:r>
              <a:rPr lang="ko-KR" altLang="en-US" sz="1200" dirty="0"/>
              <a:t>국문만 </a:t>
            </a:r>
            <a:r>
              <a:rPr lang="ko-KR" altLang="en-US" sz="1200" dirty="0" err="1"/>
              <a:t>반영부탁드립니다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5835035" y="9170532"/>
            <a:ext cx="1140617" cy="455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609585" latinLnBrk="0">
              <a:defRPr/>
            </a:pPr>
            <a:r>
              <a:rPr lang="ko-KR" altLang="en-US" sz="16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어스킨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파크</a:t>
            </a:r>
            <a:r>
              <a:rPr lang="en-US" altLang="ko-KR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시드니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9047" y="8372892"/>
            <a:ext cx="5159617" cy="12743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벌크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화물 처리 전용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7,123sqm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 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매립식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로딩 독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및 롤러 도어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 보유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산업재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핸들링 특화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NSW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 주요 화물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운송로와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직접 연결되는 최적의 물류 네트워크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 및 실시간 보안 모니터링 시스템을 통한 철저한 보안 관리</a:t>
            </a:r>
          </a:p>
        </p:txBody>
      </p:sp>
      <p:pic>
        <p:nvPicPr>
          <p:cNvPr id="1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912" y="9806974"/>
            <a:ext cx="4963885" cy="1790254"/>
          </a:xfrm>
          <a:prstGeom prst="rect">
            <a:avLst/>
          </a:prstGeom>
        </p:spPr>
      </p:pic>
      <p:sp>
        <p:nvSpPr>
          <p:cNvPr id="14" name="Rectangle 146"/>
          <p:cNvSpPr/>
          <p:nvPr/>
        </p:nvSpPr>
        <p:spPr>
          <a:xfrm>
            <a:off x="5835035" y="7611416"/>
            <a:ext cx="6804640" cy="10558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6"/>
          <p:cNvSpPr/>
          <p:nvPr/>
        </p:nvSpPr>
        <p:spPr>
          <a:xfrm>
            <a:off x="1451428" y="4395442"/>
            <a:ext cx="4042595" cy="2643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오른쪽 화살표 15"/>
          <p:cNvSpPr/>
          <p:nvPr/>
        </p:nvSpPr>
        <p:spPr>
          <a:xfrm>
            <a:off x="5431592" y="6017985"/>
            <a:ext cx="504670" cy="30789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그룹 17"/>
          <p:cNvGrpSpPr/>
          <p:nvPr/>
        </p:nvGrpSpPr>
        <p:grpSpPr>
          <a:xfrm>
            <a:off x="13259127" y="9522656"/>
            <a:ext cx="2130694" cy="417818"/>
            <a:chOff x="4374674" y="1883295"/>
            <a:chExt cx="3442653" cy="417818"/>
          </a:xfrm>
        </p:grpSpPr>
        <p:cxnSp>
          <p:nvCxnSpPr>
            <p:cNvPr id="18" name="직선 연결선 18"/>
            <p:cNvCxnSpPr/>
            <p:nvPr/>
          </p:nvCxnSpPr>
          <p:spPr>
            <a:xfrm flipV="1">
              <a:off x="4374674" y="2301113"/>
              <a:ext cx="344265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9"/>
            <p:cNvSpPr/>
            <p:nvPr/>
          </p:nvSpPr>
          <p:spPr>
            <a:xfrm>
              <a:off x="4575500" y="1883295"/>
              <a:ext cx="3041000" cy="3337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34" charset="-127"/>
                  <a:cs typeface="Arial" panose="020B0604020202020204" pitchFamily="34" charset="0"/>
                </a:rPr>
                <a:t>Erskine Park, Sydney Warehouse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5376145" y="7861006"/>
            <a:ext cx="5159617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SG" altLang="ko-KR" sz="1200" dirty="0"/>
              <a:t>Scale: 7,123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facility purpose‑built for tyre storage and bulk handling, featuring 4 recessed loading docks and 4 roller doors.</a:t>
            </a:r>
          </a:p>
          <a:p>
            <a:pPr lvl="0">
              <a:defRPr/>
            </a:pPr>
            <a:r>
              <a:rPr lang="en-SG" altLang="ko-KR" sz="1200" dirty="0"/>
              <a:t>Specialization: Exclusively in tyre storage and industrial goods handling.</a:t>
            </a:r>
          </a:p>
          <a:p>
            <a:pPr lvl="0">
              <a:defRPr/>
            </a:pPr>
            <a:r>
              <a:rPr lang="en-SG" altLang="ko-KR" sz="1200" dirty="0"/>
              <a:t>Connectivity: Direct access to key NSW freight corridors, ensuring seamless distribution.</a:t>
            </a:r>
          </a:p>
          <a:p>
            <a:pPr lvl="0">
              <a:defRPr/>
            </a:pPr>
            <a:r>
              <a:rPr lang="en-SG" altLang="ko-KR" sz="1200" dirty="0"/>
              <a:t>Safety: Comprehensive security with CCTV cameras and secure live‑feed monitoring.</a:t>
            </a:r>
          </a:p>
        </p:txBody>
      </p:sp>
      <p:pic>
        <p:nvPicPr>
          <p:cNvPr id="21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1277" y="10303329"/>
            <a:ext cx="4963885" cy="1790254"/>
          </a:xfrm>
          <a:prstGeom prst="rect">
            <a:avLst/>
          </a:prstGeom>
        </p:spPr>
      </p:pic>
      <p:sp>
        <p:nvSpPr>
          <p:cNvPr id="22" name="Rectangle 146"/>
          <p:cNvSpPr/>
          <p:nvPr/>
        </p:nvSpPr>
        <p:spPr>
          <a:xfrm>
            <a:off x="13106400" y="7749351"/>
            <a:ext cx="8000999" cy="10420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22365" y="2622181"/>
            <a:ext cx="2542493" cy="184666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</a:rPr>
              <a:t>알토나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사진과 내용 수정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35035" y="7455412"/>
            <a:ext cx="1981089" cy="430887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 algn="ctr">
              <a:defRPr/>
            </a:pPr>
            <a:r>
              <a:rPr lang="ko-KR" altLang="en-US" sz="2800" dirty="0">
                <a:solidFill>
                  <a:prstClr val="black"/>
                </a:solidFill>
              </a:rPr>
              <a:t>신규 추가 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9014" y="3221318"/>
            <a:ext cx="5159617" cy="12849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멜버른 항만에서 약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13km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거리에 위치한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9,00sqm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 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넓은 오픈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플로어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공간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전용 야드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그리고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캐노피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차양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시설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대량 산업 화물 처리에 특화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멜버른 항만과의 근접성을 바탕으로 보다 빠른 화물 이동 및 회전율 지원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24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시간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모니터링을 통해 지속적인 가시성과 보안을 제공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0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316" y="4676987"/>
            <a:ext cx="5004479" cy="1804894"/>
          </a:xfrm>
          <a:prstGeom prst="rect">
            <a:avLst/>
          </a:prstGeom>
        </p:spPr>
      </p:pic>
      <p:sp>
        <p:nvSpPr>
          <p:cNvPr id="32" name="Rectangle 146"/>
          <p:cNvSpPr/>
          <p:nvPr/>
        </p:nvSpPr>
        <p:spPr>
          <a:xfrm>
            <a:off x="6056614" y="2884374"/>
            <a:ext cx="6242050" cy="4051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46"/>
          <p:cNvSpPr/>
          <p:nvPr/>
        </p:nvSpPr>
        <p:spPr>
          <a:xfrm>
            <a:off x="13862954" y="2179234"/>
            <a:ext cx="7492096" cy="4756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5265527" y="2400362"/>
            <a:ext cx="5159617" cy="2134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SG" altLang="ko-KR" sz="1200" dirty="0"/>
              <a:t>Scale: 9,000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facility located just 13km from the Port of Melbourne, featuring expansive open floor space, dedicated yard, and covered awning.</a:t>
            </a:r>
          </a:p>
          <a:p>
            <a:pPr lvl="0">
              <a:defRPr/>
            </a:pPr>
            <a:r>
              <a:rPr lang="en-SG" altLang="ko-KR" sz="1200" dirty="0"/>
              <a:t>Specialization in tyre storage and bulk industrial goods handling.</a:t>
            </a:r>
          </a:p>
          <a:p>
            <a:pPr lvl="0">
              <a:defRPr/>
            </a:pPr>
            <a:r>
              <a:rPr lang="en-SG" altLang="ko-KR" sz="1200" dirty="0"/>
              <a:t>Connectivity: Enables faster freight movement and turnaround with proximity to the Port of Melbourne.</a:t>
            </a:r>
          </a:p>
          <a:p>
            <a:pPr lvl="0">
              <a:defRPr/>
            </a:pPr>
            <a:r>
              <a:rPr lang="en-SG" altLang="ko-KR" sz="1200" dirty="0"/>
              <a:t>Safety: 24/7 CCTV monitoring delivering continuous visibility and security.</a:t>
            </a:r>
          </a:p>
        </p:txBody>
      </p:sp>
      <p:pic>
        <p:nvPicPr>
          <p:cNvPr id="35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5297" y="4769566"/>
            <a:ext cx="5004479" cy="18048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241273" y="1881357"/>
            <a:ext cx="2542493" cy="184666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ko-KR" altLang="en-US" sz="1200" dirty="0">
                <a:solidFill>
                  <a:prstClr val="black"/>
                </a:solidFill>
              </a:rPr>
              <a:t>알토나</a:t>
            </a:r>
            <a:r>
              <a:rPr lang="en-US" altLang="ko-KR" sz="1200" dirty="0"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solidFill>
                  <a:prstClr val="black"/>
                </a:solidFill>
              </a:rPr>
              <a:t>사진과 내용 수정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029597" y="7455412"/>
            <a:ext cx="1981089" cy="430887"/>
          </a:xfrm>
          <a:prstGeom prst="wedgeRectCallout">
            <a:avLst>
              <a:gd name="adj1" fmla="val -33878"/>
              <a:gd name="adj2" fmla="val 51201"/>
            </a:avLst>
          </a:prstGeom>
          <a:solidFill>
            <a:srgbClr val="FFFF00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spcAft>
                <a:spcPts val="400"/>
              </a:spcAft>
              <a:defRPr sz="1500">
                <a:ln>
                  <a:solidFill>
                    <a:prstClr val="white">
                      <a:alpha val="0"/>
                    </a:prst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defRPr>
            </a:lvl1pPr>
          </a:lstStyle>
          <a:p>
            <a:pPr lvl="0" algn="ctr">
              <a:defRPr/>
            </a:pPr>
            <a:r>
              <a:rPr lang="ko-KR" altLang="en-US" sz="2800" dirty="0">
                <a:solidFill>
                  <a:prstClr val="black"/>
                </a:solidFill>
              </a:rPr>
              <a:t>신규 추가 </a:t>
            </a:r>
            <a:endParaRPr lang="en-US" altLang="ko-KR" sz="2800" dirty="0">
              <a:solidFill>
                <a:prstClr val="black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3298708" y="15089140"/>
            <a:ext cx="2041098" cy="8205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34" charset="-127"/>
                <a:cs typeface="Arial" panose="020B0604020202020204" pitchFamily="34" charset="0"/>
              </a:rPr>
              <a:t>Canning Vale, Perth Warehouse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53410" y="12977678"/>
            <a:ext cx="5159617" cy="2114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marL="171450" indent="-171450"/>
            <a:r>
              <a:rPr lang="en-SG" altLang="ko-KR" sz="1200" dirty="0"/>
              <a:t>Scale: 6,698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warehouse complemented by 5,527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hardstand and a 993 </a:t>
            </a:r>
            <a:r>
              <a:rPr lang="en-SG" altLang="ko-KR" sz="1200" dirty="0" err="1"/>
              <a:t>sqm</a:t>
            </a:r>
            <a:r>
              <a:rPr lang="en-SG" altLang="ko-KR" sz="1200" dirty="0"/>
              <a:t> covered canopy.</a:t>
            </a:r>
          </a:p>
          <a:p>
            <a:pPr marL="171450" indent="-171450"/>
            <a:r>
              <a:rPr lang="en-SG" altLang="ko-KR" sz="1200" dirty="0"/>
              <a:t>Specialization: Specialised in tyre storage and bulky industrial goods handling</a:t>
            </a:r>
          </a:p>
          <a:p>
            <a:pPr marL="171450" indent="-171450"/>
            <a:r>
              <a:rPr lang="en-SG" altLang="ko-KR" sz="1200" dirty="0"/>
              <a:t>Connectivity: Direct access to Roe Highway and </a:t>
            </a:r>
            <a:r>
              <a:rPr lang="en-SG" altLang="ko-KR" sz="1200" dirty="0" err="1"/>
              <a:t>Kwinana</a:t>
            </a:r>
            <a:r>
              <a:rPr lang="en-SG" altLang="ko-KR" sz="1200" dirty="0"/>
              <a:t> Freeway, facilitating efficient regional and interstate distribution</a:t>
            </a:r>
          </a:p>
          <a:p>
            <a:pPr marL="171450" indent="-171450"/>
            <a:r>
              <a:rPr lang="en-SG" altLang="ko-KR" sz="1200" dirty="0"/>
              <a:t>Safety: Comprehensive security with CCTV cameras, live‑feed monitoring, and fully alarmed systems</a:t>
            </a:r>
          </a:p>
        </p:txBody>
      </p:sp>
      <p:pic>
        <p:nvPicPr>
          <p:cNvPr id="42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1277" y="15535332"/>
            <a:ext cx="4992482" cy="1800567"/>
          </a:xfrm>
          <a:prstGeom prst="rect">
            <a:avLst/>
          </a:prstGeom>
        </p:spPr>
      </p:pic>
      <p:sp>
        <p:nvSpPr>
          <p:cNvPr id="45" name="직사각형 44"/>
          <p:cNvSpPr/>
          <p:nvPr/>
        </p:nvSpPr>
        <p:spPr>
          <a:xfrm>
            <a:off x="5867847" y="15052883"/>
            <a:ext cx="1271200" cy="98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캐닝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 베일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퍼스 창고</a:t>
            </a:r>
            <a:endParaRPr kumimoji="0" lang="en-US" altLang="ko-KR" sz="16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236912" y="13919839"/>
            <a:ext cx="5159617" cy="1089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ko-KR"/>
            </a:defPPr>
            <a:lvl1pPr marL="285750" lvl="0" indent="-285750" latinLnBrk="0">
              <a:lnSpc>
                <a:spcPct val="120000"/>
              </a:lnSpc>
              <a:spcAft>
                <a:spcPts val="700"/>
              </a:spcAft>
              <a:buClr>
                <a:prstClr val="black"/>
              </a:buClr>
              <a:buSzPct val="100000"/>
              <a:buFont typeface="Arial" panose="020B0604020202020204" pitchFamily="34" charset="0"/>
              <a:buChar char="•"/>
              <a:defRPr sz="1300" ker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6,698sqm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규모의 창고와 함께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5,527sqm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하드스탠드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993sqm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ko-KR" altLang="en-US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캐노피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차양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공간</a:t>
            </a:r>
          </a:p>
          <a:p>
            <a:pPr lvl="0">
              <a:defRPr/>
            </a:pP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타이어 보관 및 대형 화물 처리에 특화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Roe Highway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</a:t>
            </a:r>
            <a:r>
              <a:rPr lang="en-US" altLang="ko-KR" sz="10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Kwinana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Freeway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직접 연결되어 지역 및 주간 운송 효율적</a:t>
            </a:r>
          </a:p>
          <a:p>
            <a:pPr lvl="0"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CCTV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카메라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실시간 모니터링</a:t>
            </a:r>
            <a:r>
              <a:rPr lang="en-US" altLang="ko-KR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완전 경보 시스템을 포함한 종합 보안 체계</a:t>
            </a:r>
          </a:p>
        </p:txBody>
      </p:sp>
      <p:pic>
        <p:nvPicPr>
          <p:cNvPr id="47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486" y="15347134"/>
            <a:ext cx="4992482" cy="1800567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76E346AD-43FB-B580-0376-368A4386D34D}"/>
              </a:ext>
            </a:extLst>
          </p:cNvPr>
          <p:cNvSpPr/>
          <p:nvPr/>
        </p:nvSpPr>
        <p:spPr>
          <a:xfrm>
            <a:off x="9283700" y="228600"/>
            <a:ext cx="2520000" cy="252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디자인 이미지 변경 </a:t>
            </a:r>
            <a:endParaRPr kumimoji="1" lang="en-US" altLang="ko-KR" dirty="0"/>
          </a:p>
          <a:p>
            <a:pPr algn="ctr"/>
            <a:r>
              <a:rPr kumimoji="1" lang="ko-KR" altLang="en-US" dirty="0" err="1"/>
              <a:t>퍼블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현지어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다국어 엑셀파일 참고</a:t>
            </a:r>
          </a:p>
        </p:txBody>
      </p:sp>
    </p:spTree>
    <p:extLst>
      <p:ext uri="{BB962C8B-B14F-4D97-AF65-F5344CB8AC3E}">
        <p14:creationId xmlns:p14="http://schemas.microsoft.com/office/powerpoint/2010/main" val="1492634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129" y="945466"/>
            <a:ext cx="6493571" cy="571757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671914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3"/>
              </a:rPr>
              <a:t>첼로스퀘어</a:t>
            </a:r>
            <a:r>
              <a:rPr lang="ko-KR" altLang="en-US" dirty="0">
                <a:hlinkClick r:id="rId3"/>
              </a:rPr>
              <a:t> 콜롬비아 소개 </a:t>
            </a:r>
            <a:r>
              <a:rPr lang="en-US" altLang="ko-KR" dirty="0">
                <a:hlinkClick r:id="rId3"/>
              </a:rPr>
              <a:t>- Global Network | </a:t>
            </a:r>
            <a:r>
              <a:rPr lang="ko-KR" altLang="en-US" dirty="0" err="1">
                <a:hlinkClick r:id="rId3"/>
              </a:rPr>
              <a:t>첼로스퀘어</a:t>
            </a:r>
            <a:r>
              <a:rPr lang="en-US" altLang="ko-KR" dirty="0">
                <a:hlinkClick r:id="rId3"/>
              </a:rPr>
              <a:t>(Cello Square)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079084" y="6293704"/>
            <a:ext cx="3688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trike="sngStrike" dirty="0">
                <a:solidFill>
                  <a:srgbClr val="FF0000"/>
                </a:solidFill>
                <a:latin typeface="arial" panose="020B0604020202020204" pitchFamily="34" charset="0"/>
              </a:rPr>
              <a:t>E-mail: diego.diaz@samsung.com</a:t>
            </a:r>
            <a:endParaRPr lang="en-US" strike="sngStrike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" y="1240878"/>
            <a:ext cx="6470305" cy="512674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15522" y="943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err="1">
                <a:hlinkClick r:id="rId5"/>
              </a:rPr>
              <a:t>첼로스퀘어</a:t>
            </a:r>
            <a:r>
              <a:rPr lang="ko-KR" altLang="en-US" dirty="0">
                <a:hlinkClick r:id="rId5"/>
              </a:rPr>
              <a:t> 칠레 소개 </a:t>
            </a:r>
            <a:r>
              <a:rPr lang="en-US" altLang="ko-KR" dirty="0">
                <a:hlinkClick r:id="rId5"/>
              </a:rPr>
              <a:t>- Global Network | </a:t>
            </a:r>
            <a:r>
              <a:rPr lang="ko-KR" altLang="en-US" dirty="0" err="1">
                <a:hlinkClick r:id="rId5"/>
              </a:rPr>
              <a:t>첼로스퀘어</a:t>
            </a:r>
            <a:r>
              <a:rPr lang="en-US" altLang="ko-KR" dirty="0">
                <a:hlinkClick r:id="rId5"/>
              </a:rPr>
              <a:t>(Cello Square)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431747" y="4350773"/>
            <a:ext cx="4262705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국영문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동일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</a:p>
          <a:p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이메일 주소 삭제 후 위치만 남겨 주세요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612568" y="4304606"/>
            <a:ext cx="2582758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arial" panose="020B0604020202020204" pitchFamily="34" charset="0"/>
              </a:rPr>
              <a:t>국영문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동일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,  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성명 삭제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048852" y="6109038"/>
            <a:ext cx="4378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trike="sngStrike" dirty="0">
                <a:solidFill>
                  <a:srgbClr val="FF0000"/>
                </a:solidFill>
                <a:latin typeface="arial" panose="020B0604020202020204" pitchFamily="34" charset="0"/>
              </a:rPr>
              <a:t>Mr. Joohyun Kim -Sammy- (Sr. Manager)</a:t>
            </a:r>
            <a:endParaRPr lang="en-US" strike="sngStrike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09800" y="5549900"/>
            <a:ext cx="1498600" cy="1243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/>
          <p:cNvSpPr/>
          <p:nvPr/>
        </p:nvSpPr>
        <p:spPr>
          <a:xfrm>
            <a:off x="10174199" y="5932388"/>
            <a:ext cx="1498600" cy="361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2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3391</Words>
  <Application>Microsoft Office PowerPoint</Application>
  <PresentationFormat>와이드스크린</PresentationFormat>
  <Paragraphs>398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7" baseType="lpstr">
      <vt:lpstr>SDS Sans  Medium</vt:lpstr>
      <vt:lpstr>SDS Sans  Regular</vt:lpstr>
      <vt:lpstr>SDS Sans Light</vt:lpstr>
      <vt:lpstr>나눔스퀘어</vt:lpstr>
      <vt:lpstr>나눔스퀘어 Bold</vt:lpstr>
      <vt:lpstr>나눔스퀘어 ExtraBold</vt:lpstr>
      <vt:lpstr>Malgun Gothic</vt:lpstr>
      <vt:lpstr>Malgun Gothic</vt:lpstr>
      <vt:lpstr>Arial</vt:lpstr>
      <vt:lpstr>Arial</vt:lpstr>
      <vt:lpstr>Calibri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Heesoon Park</cp:lastModifiedBy>
  <cp:revision>32</cp:revision>
  <dcterms:created xsi:type="dcterms:W3CDTF">2026-05-13T07:51:29Z</dcterms:created>
  <dcterms:modified xsi:type="dcterms:W3CDTF">2026-05-22T04:29:24Z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E474E8EDF8A709C111EB6F6C94592C17F66418EDAB4C467CA6EDB3763E8FE46B942FB55205E5C2B97B0F271DAD4ABD7D1387EC99EC2355B441EA23B6198D61EE</vt:lpwstr>
  </property>
</Properties>
</file>