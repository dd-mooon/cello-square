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1" autoAdjust="0"/>
    <p:restoredTop sz="94118" autoAdjust="0"/>
  </p:normalViewPr>
  <p:slideViewPr>
    <p:cSldViewPr snapToGrid="0">
      <p:cViewPr>
        <p:scale>
          <a:sx n="99" d="100"/>
          <a:sy n="99" d="100"/>
        </p:scale>
        <p:origin x="2811" y="11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924F9-8A98-460D-B22B-7F56A000D5A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F89A5-068E-4BA6-909C-26993F9EC8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46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F89A5-068E-4BA6-909C-26993F9EC8F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175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950C-D3CC-1119-3456-4CEA5F682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730E7-CD6A-A6CE-DED2-08D42DAAE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3F8ED-1657-E4A6-7D44-6C9492E50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FF0D1-31F3-A6CA-7ACB-92039965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FE247-76D3-7A08-486C-5EFDCD98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7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F563-DEA3-B681-2425-E29C6BA70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386C2-DCCB-2FBE-68A7-82EF651A1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6425A-DF6A-D88A-B7D3-8502E872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E2B5F-25DC-68EB-83C8-487F4EBB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59D37-4FA3-BA51-15C0-799F874F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8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D82E-945B-4C5F-6AAB-CB2C2627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B87F5-BA8D-3D20-46AB-2F09581DD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3E606-2F67-A2CD-3531-1878A65F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8A5BB-0C01-FFED-0F9C-B85EC030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F9EB0-0339-0CE3-FE35-F707ED8B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13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10FA-EE5F-29E4-76B8-554643E5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2159-68FB-8F4F-8B96-2E35C95EC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49E2F-1CDE-844E-DE68-F12DD5680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3BEE5-A548-0493-8AF5-86A2CA90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A95DE-CB8C-96A7-7B9B-E836EBAB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D2788-5984-216B-9B0A-A05BB835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1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51F73-BD0A-A92E-943C-49528F32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ADFDE-ED8D-6819-A882-B7061FE18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F61A9-0202-ADF8-9AC2-F3C6C374C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59417-11B6-D4C9-C1A8-3396E9780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06B33-A108-DD2E-A620-4D8977D2B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D7CE29-229A-6057-A5F5-18CAFA75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0F23E-0245-8768-6399-70C56870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7FAE6-0954-AC60-2408-1EE1B7BA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4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BC4E6-8AB4-EB67-15ED-000FACB63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77629B-1CCE-6CF2-96B7-D6E23678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7EA94-41E6-4F6B-C540-1D5CC3E7E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DFA40-6CA9-D88B-4B9F-947F04581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03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A58070-17B0-B5C5-6FDA-D77649624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E12AF-C51C-4F37-4BD7-7708226D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FA868-1FCC-3850-B297-7999FB96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5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901A-ED71-E3BE-B4F1-0AD67CF69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8D558-4AC3-1D49-4452-FCE0493B6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5A3F8-10D3-F0A7-4EC5-43A0344E6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0B4CF-A0FC-A26A-0C1C-604EF3B6D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003FA-D18D-6BE9-A0CA-57B6C448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42EEE-E283-4F4D-AA59-D9517487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3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E6CB-3733-6D45-2FF0-79F99BA62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97640B-5F2F-43D5-51B9-1429E38A3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1DB92-8745-D5F8-3B76-98F862B84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E962D-8467-922A-0AFC-E409CDA9F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91E7A-8A1E-9903-F187-56D465E0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C9B10-188F-FA9C-9A09-466CED0D0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6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F049-9AFC-EFCB-D6EF-999F80D7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338CE-C1EA-2753-922D-FEBE7FF8C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7F0B7-50F7-13F7-B091-259D8605F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41E2E-F7AF-A42B-3C60-38559FDE3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06D16-D83D-D6F2-FE8A-5758D4BB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2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FF2108-6153-40EC-DFC3-DD1696E08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C7C9E-9169-2020-A629-44774DC33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4179C-22A0-5B2A-E841-67B3C1FFC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CDA25-A715-37A7-BB10-EEE8ACE9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40EBC-3A89-BA94-F595-C0CC8212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2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A1911-B245-D7F9-9CD2-D6A09FE3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9D92F-7EFE-AB08-04EB-ABF22E959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77982-F289-F7C9-0840-5543C4180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0788D-C1E2-4998-88C4-B4701F2346D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7914D-6B09-9FF3-7DB7-36C219B10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8CF3D-0315-0E55-CEDD-AE55F9188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45053-D169-4E7E-83B3-96DC136AD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7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F8D871-C132-EE20-5233-520CAA532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94" y="274046"/>
            <a:ext cx="6035563" cy="6309907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462643" y="386443"/>
            <a:ext cx="2110110" cy="448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612571" y="582386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D9F36CE-63AB-6448-3774-A290FFE6BB24}"/>
              </a:ext>
            </a:extLst>
          </p:cNvPr>
          <p:cNvSpPr txBox="1"/>
          <p:nvPr/>
        </p:nvSpPr>
        <p:spPr>
          <a:xfrm>
            <a:off x="6722458" y="444825"/>
            <a:ext cx="94769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로고 유지</a:t>
            </a:r>
            <a:endParaRPr lang="en-US" sz="1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직선 연결선 13"/>
          <p:cNvCxnSpPr>
            <a:stCxn id="2" idx="3"/>
            <a:endCxn id="12" idx="1"/>
          </p:cNvCxnSpPr>
          <p:nvPr/>
        </p:nvCxnSpPr>
        <p:spPr>
          <a:xfrm flipV="1">
            <a:off x="2572753" y="598714"/>
            <a:ext cx="4149705" cy="118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653143" y="1445658"/>
            <a:ext cx="5486400" cy="404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2803071" y="164160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D9F36CE-63AB-6448-3774-A290FFE6BB24}"/>
              </a:ext>
            </a:extLst>
          </p:cNvPr>
          <p:cNvSpPr txBox="1"/>
          <p:nvPr/>
        </p:nvSpPr>
        <p:spPr>
          <a:xfrm>
            <a:off x="6722458" y="1504040"/>
            <a:ext cx="323024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Cello Square Conference Hungary 2026</a:t>
            </a:r>
            <a:endParaRPr lang="en-US" sz="1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직선 연결선 17"/>
          <p:cNvCxnSpPr>
            <a:stCxn id="15" idx="3"/>
            <a:endCxn id="17" idx="1"/>
          </p:cNvCxnSpPr>
          <p:nvPr/>
        </p:nvCxnSpPr>
        <p:spPr>
          <a:xfrm>
            <a:off x="6139543" y="1648115"/>
            <a:ext cx="582915" cy="98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1480984" y="1943100"/>
            <a:ext cx="3711502" cy="685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3630912" y="2203943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9F36CE-63AB-6448-3774-A290FFE6BB24}"/>
              </a:ext>
            </a:extLst>
          </p:cNvPr>
          <p:cNvSpPr txBox="1"/>
          <p:nvPr/>
        </p:nvSpPr>
        <p:spPr>
          <a:xfrm>
            <a:off x="6722457" y="1997208"/>
            <a:ext cx="6018550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Navigating the Future of Intelligent Supply Chains</a:t>
            </a:r>
          </a:p>
          <a:p>
            <a:pPr algn="ctr"/>
            <a:r>
              <a:rPr lang="en-US" altLang="ko-KR" sz="12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Adapting to Hungary's Evolving Environmental Regulations and Permitting </a:t>
            </a:r>
            <a:r>
              <a:rPr lang="en-US" altLang="ko-KR" sz="12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Landscape</a:t>
            </a:r>
            <a:endParaRPr lang="en-US" altLang="ko-KR" sz="12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직선 연결선 23"/>
          <p:cNvCxnSpPr>
            <a:stCxn id="21" idx="3"/>
            <a:endCxn id="23" idx="1"/>
          </p:cNvCxnSpPr>
          <p:nvPr/>
        </p:nvCxnSpPr>
        <p:spPr>
          <a:xfrm flipV="1">
            <a:off x="5192486" y="2243430"/>
            <a:ext cx="1529971" cy="425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1132115" y="2667622"/>
            <a:ext cx="4463142" cy="3663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연결선 37"/>
          <p:cNvCxnSpPr/>
          <p:nvPr/>
        </p:nvCxnSpPr>
        <p:spPr>
          <a:xfrm>
            <a:off x="3282043" y="2863565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D9F36CE-63AB-6448-3774-A290FFE6BB24}"/>
              </a:ext>
            </a:extLst>
          </p:cNvPr>
          <p:cNvSpPr txBox="1"/>
          <p:nvPr/>
        </p:nvSpPr>
        <p:spPr>
          <a:xfrm>
            <a:off x="6722459" y="2682460"/>
            <a:ext cx="536321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1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August 28</a:t>
            </a:r>
            <a:r>
              <a:rPr lang="en-US" altLang="ko-KR" sz="1100" baseline="300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sz="11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1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(Friday) 14:00~18:00 </a:t>
            </a:r>
            <a:r>
              <a:rPr lang="en-US" altLang="ko-KR" sz="1100" dirty="0" smtClean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I</a:t>
            </a:r>
            <a:r>
              <a:rPr lang="en-US" altLang="ko-KR" sz="11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Crowne Plaza Budapest by </a:t>
            </a:r>
            <a:r>
              <a:rPr lang="en-US" sz="11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IHG 2F Black &amp; White room</a:t>
            </a:r>
            <a:endParaRPr lang="en-US" sz="11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직선 연결선 39"/>
          <p:cNvCxnSpPr>
            <a:stCxn id="37" idx="3"/>
            <a:endCxn id="39" idx="1"/>
          </p:cNvCxnSpPr>
          <p:nvPr/>
        </p:nvCxnSpPr>
        <p:spPr>
          <a:xfrm flipV="1">
            <a:off x="5595257" y="2813265"/>
            <a:ext cx="1127202" cy="375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734785" y="3851019"/>
            <a:ext cx="5470071" cy="26314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/>
          <p:cNvCxnSpPr/>
          <p:nvPr/>
        </p:nvCxnSpPr>
        <p:spPr>
          <a:xfrm>
            <a:off x="2884714" y="4844169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D9F36CE-63AB-6448-3774-A290FFE6BB24}"/>
              </a:ext>
            </a:extLst>
          </p:cNvPr>
          <p:cNvSpPr txBox="1"/>
          <p:nvPr/>
        </p:nvSpPr>
        <p:spPr>
          <a:xfrm>
            <a:off x="6722458" y="3504736"/>
            <a:ext cx="5363216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00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Global supply chains are undergoing unprecedented transformation. Driven by AI, digital technologies, and geopolitical uncertainty, businesses must build more resilient, intelligent, and sustainable supply chains</a:t>
            </a:r>
            <a:r>
              <a:rPr lang="en-US" altLang="ko-KR" sz="1200" dirty="0" smtClean="0">
                <a:solidFill>
                  <a:srgbClr val="0000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endParaRPr lang="en-US" altLang="ko-KR" sz="1200" dirty="0">
              <a:solidFill>
                <a:srgbClr val="0000CC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200" dirty="0" smtClean="0">
                <a:solidFill>
                  <a:srgbClr val="0000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At </a:t>
            </a:r>
            <a:r>
              <a:rPr lang="en-US" altLang="ko-KR" sz="1200" dirty="0">
                <a:solidFill>
                  <a:srgbClr val="0000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same time, companies operating in Europe, particularly in Hungary, are navigating increasingly stringent environmental regulations and evolving policy landscapes, requiring more agile and proactive supply chain strategies</a:t>
            </a:r>
            <a:r>
              <a:rPr lang="en-US" altLang="ko-KR" sz="1200" dirty="0" smtClean="0">
                <a:solidFill>
                  <a:srgbClr val="0000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endParaRPr lang="en-US" altLang="ko-KR" sz="1200" dirty="0">
              <a:solidFill>
                <a:srgbClr val="0000CC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200" dirty="0" smtClean="0">
                <a:solidFill>
                  <a:srgbClr val="0000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</a:t>
            </a:r>
            <a:r>
              <a:rPr lang="en-US" altLang="ko-KR" sz="1200" dirty="0">
                <a:solidFill>
                  <a:srgbClr val="0000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Samsung SDS Cello Square Conference Hungary 2026 brings together industry experts and business leaders to explore the AI-driven logistics megatrends shaping the future of supply chains and to share practical insights into building smarter, more resilient, and sustainable logistics operations</a:t>
            </a:r>
            <a:r>
              <a:rPr lang="en-US" altLang="ko-KR" sz="1200" dirty="0" smtClean="0">
                <a:solidFill>
                  <a:srgbClr val="0000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endParaRPr lang="en-US" altLang="ko-KR" sz="1200" dirty="0">
              <a:solidFill>
                <a:srgbClr val="0000CC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ko-KR" sz="1200" dirty="0" smtClean="0">
                <a:solidFill>
                  <a:srgbClr val="0000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Join </a:t>
            </a:r>
            <a:r>
              <a:rPr lang="en-US" altLang="ko-KR" sz="1200" dirty="0">
                <a:solidFill>
                  <a:srgbClr val="0000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Samsung SDS to discover how intelligent logistics and digital innovation can help your business navigate change and unlock new opportunities for growth.</a:t>
            </a:r>
            <a:endParaRPr lang="en-GB" altLang="ko-KR" sz="1200" dirty="0">
              <a:solidFill>
                <a:srgbClr val="0000CC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50" name="직선 연결선 49"/>
          <p:cNvCxnSpPr>
            <a:stCxn id="47" idx="3"/>
            <a:endCxn id="49" idx="1"/>
          </p:cNvCxnSpPr>
          <p:nvPr/>
        </p:nvCxnSpPr>
        <p:spPr>
          <a:xfrm flipV="1">
            <a:off x="6204856" y="4935897"/>
            <a:ext cx="517602" cy="2308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397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D038-2A83-21F2-36EF-39C4FB1F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0EF811-830B-2EF1-C75B-70C2FB641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51" y="373115"/>
            <a:ext cx="5738357" cy="611177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B0F2AF-F236-5915-FDAD-973AE7456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91572"/>
              </p:ext>
            </p:extLst>
          </p:nvPr>
        </p:nvGraphicFramePr>
        <p:xfrm>
          <a:off x="6332461" y="1348638"/>
          <a:ext cx="7488199" cy="42168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6985">
                  <a:extLst>
                    <a:ext uri="{9D8B030D-6E8A-4147-A177-3AD203B41FA5}">
                      <a16:colId xmlns:a16="http://schemas.microsoft.com/office/drawing/2014/main" val="3000125558"/>
                    </a:ext>
                  </a:extLst>
                </a:gridCol>
                <a:gridCol w="5841214">
                  <a:extLst>
                    <a:ext uri="{9D8B030D-6E8A-4147-A177-3AD203B41FA5}">
                      <a16:colId xmlns:a16="http://schemas.microsoft.com/office/drawing/2014/main" val="1889128919"/>
                    </a:ext>
                  </a:extLst>
                </a:gridCol>
              </a:tblGrid>
              <a:tr h="3534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lang="en-US" sz="1200" b="1" i="0" u="none" strike="noStrike" dirty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 &amp; Speakers</a:t>
                      </a:r>
                      <a:endParaRPr lang="en-US" sz="1200" b="1" i="0" u="none" strike="noStrike" dirty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0921023"/>
                  </a:ext>
                </a:extLst>
              </a:tr>
              <a:tr h="299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14:00~14:30</a:t>
                      </a:r>
                      <a:endParaRPr lang="en-US" sz="1200" b="0" i="0" u="none" strike="noStrike" dirty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Welcome &amp; Registration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u="none" strike="noStrike" kern="1200" baseline="0" dirty="0" err="1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Hongseok</a:t>
                      </a:r>
                      <a:r>
                        <a:rPr lang="en-US" sz="1200" u="none" strike="noStrike" kern="1200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u="none" strike="noStrike" kern="1200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Lee – </a:t>
                      </a:r>
                      <a:r>
                        <a:rPr lang="en-US" sz="1200" u="none" strike="noStrike" kern="1200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Samsung SDS</a:t>
                      </a:r>
                      <a:endParaRPr lang="en-US" sz="1200" u="none" strike="noStrike" kern="1200" baseline="0" dirty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2020477"/>
                  </a:ext>
                </a:extLst>
              </a:tr>
              <a:tr h="299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14:30~14:40</a:t>
                      </a:r>
                      <a:endParaRPr lang="en-US" sz="1200" b="0" i="0" u="none" strike="noStrike" dirty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Speech</a:t>
                      </a:r>
                      <a:endParaRPr lang="en-US" sz="1200" u="none" strike="noStrike" dirty="0" smtClean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sz="1200" u="none" strike="noStrike" baseline="0" dirty="0" err="1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Wonwoo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Cho, Head of Logistics Division (SVP) –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Samsung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SDS </a:t>
                      </a:r>
                      <a:r>
                        <a:rPr lang="es-ES" altLang="ko-KR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Europe</a:t>
                      </a:r>
                      <a:endParaRPr lang="en-US" sz="1200" u="none" strike="noStrike" baseline="0" dirty="0" smtClean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59235641"/>
                  </a:ext>
                </a:extLst>
              </a:tr>
              <a:tr h="5362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14:40~15:20</a:t>
                      </a:r>
                      <a:endParaRPr lang="en-US" sz="1200" b="0" i="0" u="none" strike="noStrike" dirty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Environmental Regulations and Trends in the EU and Hungary</a:t>
                      </a: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u="none" strike="noStrike" dirty="0" err="1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Jihye</a:t>
                      </a: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Lee, </a:t>
                      </a:r>
                      <a:r>
                        <a:rPr lang="en-US" sz="1200" u="none" strike="noStrike" dirty="0" err="1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Lawer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JIPYONG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2285185"/>
                  </a:ext>
                </a:extLst>
              </a:tr>
              <a:tr h="6725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15:20~16:00</a:t>
                      </a:r>
                      <a:endParaRPr lang="en-US" sz="1200" b="0" i="0" u="none" strike="noStrike" dirty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Hungary's New Government Tightens Permission Requirements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A shared risk for Korean and Chinese battery companies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u="none" strike="noStrike" baseline="0" dirty="0" err="1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Kyungchul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Park,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CEO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AFGM</a:t>
                      </a:r>
                      <a:endParaRPr lang="es-ES" sz="1200" u="none" strike="noStrike" baseline="0" dirty="0" smtClean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46274489"/>
                  </a:ext>
                </a:extLst>
              </a:tr>
              <a:tr h="5362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16:00~16:30</a:t>
                      </a:r>
                      <a:endParaRPr lang="en-US" sz="1200" b="0" i="0" u="none" strike="noStrike" dirty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European Ocean Freight Market Outlook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Deoklim </a:t>
                      </a:r>
                      <a:r>
                        <a:rPr lang="es-E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Choi, Head</a:t>
                      </a:r>
                      <a:r>
                        <a:rPr lang="es-E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Pricing Team(</a:t>
                      </a:r>
                      <a:r>
                        <a:rPr lang="es-E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VP) </a:t>
                      </a:r>
                      <a:r>
                        <a:rPr lang="es-E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Samsung </a:t>
                      </a:r>
                      <a:r>
                        <a:rPr lang="es-E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SDS Europe</a:t>
                      </a:r>
                      <a:endParaRPr lang="es-ES" sz="1200" b="0" i="0" u="none" strike="noStrike" dirty="0" smtClean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13060989"/>
                  </a:ext>
                </a:extLst>
              </a:tr>
              <a:tr h="5362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16:30~17:00</a:t>
                      </a:r>
                      <a:endParaRPr lang="en-US" sz="1200" b="0" i="0" u="none" strike="noStrike" dirty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the SAMSUNG SDS Logistics service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1200" u="none" strike="noStrike" dirty="0" err="1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Hyunjae</a:t>
                      </a:r>
                      <a:r>
                        <a:rPr lang="en-GB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Shin, </a:t>
                      </a:r>
                      <a:r>
                        <a:rPr lang="en-GB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East EU biz team leader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Samsung SDS</a:t>
                      </a:r>
                      <a:endParaRPr lang="en-US" sz="1200" b="1" i="0" u="none" strike="noStrike" dirty="0" smtClean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21160399"/>
                  </a:ext>
                </a:extLst>
              </a:tr>
              <a:tr h="5362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17:00~17:10</a:t>
                      </a:r>
                      <a:endParaRPr lang="en-US" sz="1200" b="0" i="0" u="none" strike="noStrike" dirty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Lucky </a:t>
                      </a:r>
                      <a:r>
                        <a:rPr lang="en-GB" sz="1200" b="0" i="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 (</a:t>
                      </a:r>
                      <a:r>
                        <a:rPr lang="en-GB" sz="1200" b="0" i="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Samsung TV and others)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u="none" strike="noStrike" dirty="0" err="1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Hongseok</a:t>
                      </a: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en-US" sz="1200" u="none" strike="noStrike" baseline="0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Samsung SDS</a:t>
                      </a:r>
                      <a:endParaRPr lang="en-US" sz="1200" b="1" i="0" u="none" strike="noStrike" dirty="0" smtClean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59061701"/>
                  </a:ext>
                </a:extLst>
              </a:tr>
              <a:tr h="2990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17:10</a:t>
                      </a:r>
                      <a:r>
                        <a:rPr lang="en-US" sz="120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~18:00</a:t>
                      </a:r>
                      <a:endParaRPr lang="en-US" sz="1200" b="0" i="0" u="none" strike="noStrike" dirty="0" smtClean="0"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Networking(Beverage &amp; </a:t>
                      </a:r>
                      <a:r>
                        <a:rPr lang="en-US" sz="1200" b="0" i="0" u="none" strike="noStrike" dirty="0" err="1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Canapes</a:t>
                      </a:r>
                      <a:r>
                        <a:rPr lang="en-US" sz="1200" b="0" i="0" u="none" strike="noStrike" dirty="0" smtClean="0"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73116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28C5541-DD23-A095-B17C-81401A2EBD4E}"/>
              </a:ext>
            </a:extLst>
          </p:cNvPr>
          <p:cNvSpPr txBox="1"/>
          <p:nvPr/>
        </p:nvSpPr>
        <p:spPr>
          <a:xfrm>
            <a:off x="6275605" y="6122278"/>
            <a:ext cx="579521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en-US" sz="11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agenda is subject to change without prior notice.</a:t>
            </a:r>
            <a:endParaRPr lang="en-US" sz="11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62643" y="1289957"/>
            <a:ext cx="5600700" cy="3995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2612571" y="582386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2623457" y="795778"/>
            <a:ext cx="1257300" cy="4288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2612571" y="582386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64128" y="6036669"/>
            <a:ext cx="3412672" cy="448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/>
          <p:cNvCxnSpPr>
            <a:endCxn id="10" idx="1"/>
          </p:cNvCxnSpPr>
          <p:nvPr/>
        </p:nvCxnSpPr>
        <p:spPr>
          <a:xfrm flipV="1">
            <a:off x="4876800" y="6253083"/>
            <a:ext cx="1398805" cy="76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28C5541-DD23-A095-B17C-81401A2EBD4E}"/>
              </a:ext>
            </a:extLst>
          </p:cNvPr>
          <p:cNvSpPr txBox="1"/>
          <p:nvPr/>
        </p:nvSpPr>
        <p:spPr>
          <a:xfrm>
            <a:off x="6303358" y="5744841"/>
            <a:ext cx="503356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삭제해주세요</a:t>
            </a:r>
            <a:endParaRPr lang="en-US" sz="12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38842" y="5340651"/>
            <a:ext cx="3412672" cy="448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연결선 39"/>
          <p:cNvCxnSpPr>
            <a:endCxn id="38" idx="1"/>
          </p:cNvCxnSpPr>
          <p:nvPr/>
        </p:nvCxnSpPr>
        <p:spPr>
          <a:xfrm>
            <a:off x="3951514" y="5731180"/>
            <a:ext cx="2351844" cy="1521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8C5541-DD23-A095-B17C-81401A2EBD4E}"/>
              </a:ext>
            </a:extLst>
          </p:cNvPr>
          <p:cNvSpPr txBox="1"/>
          <p:nvPr/>
        </p:nvSpPr>
        <p:spPr>
          <a:xfrm>
            <a:off x="6251950" y="895621"/>
            <a:ext cx="503356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유지해주세요</a:t>
            </a:r>
            <a:endParaRPr lang="en-US" sz="12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직선 연결선 14"/>
          <p:cNvCxnSpPr>
            <a:stCxn id="17" idx="3"/>
            <a:endCxn id="14" idx="1"/>
          </p:cNvCxnSpPr>
          <p:nvPr/>
        </p:nvCxnSpPr>
        <p:spPr>
          <a:xfrm>
            <a:off x="3880757" y="1010211"/>
            <a:ext cx="2371193" cy="239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332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521" y="1601422"/>
            <a:ext cx="4490486" cy="3155603"/>
          </a:xfrm>
          <a:prstGeom prst="rect">
            <a:avLst/>
          </a:prstGeom>
        </p:spPr>
      </p:pic>
      <p:sp>
        <p:nvSpPr>
          <p:cNvPr id="6" name="직사각형 24"/>
          <p:cNvSpPr/>
          <p:nvPr/>
        </p:nvSpPr>
        <p:spPr>
          <a:xfrm>
            <a:off x="3472873" y="1505528"/>
            <a:ext cx="4673600" cy="33435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30"/>
          <p:cNvSpPr/>
          <p:nvPr/>
        </p:nvSpPr>
        <p:spPr>
          <a:xfrm>
            <a:off x="3472873" y="4944986"/>
            <a:ext cx="4673600" cy="644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039035" y="4897929"/>
            <a:ext cx="35412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Crowne Plaza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Budapest by IHG</a:t>
            </a:r>
          </a:p>
          <a:p>
            <a:pPr algn="ctr" font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2F Black &amp; White room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ctr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Budapest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Váci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út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1062</a:t>
            </a:r>
          </a:p>
          <a:p>
            <a:pPr algn="ctr" fontAlgn="ctr"/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note that hotel parking is limited. Additional parking is available at the </a:t>
            </a:r>
            <a:r>
              <a:rPr lang="en-US" altLang="ko-KR" sz="1400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Westend</a:t>
            </a:r>
            <a:r>
              <a:rPr lang="en-US" altLang="ko-KR" sz="1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Parking Lot</a:t>
            </a: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6305" t="4284" r="7678" b="22014"/>
          <a:stretch/>
        </p:blipFill>
        <p:spPr>
          <a:xfrm>
            <a:off x="93880" y="3688109"/>
            <a:ext cx="3279527" cy="1901428"/>
          </a:xfrm>
          <a:prstGeom prst="rect">
            <a:avLst/>
          </a:prstGeom>
        </p:spPr>
      </p:pic>
      <p:sp>
        <p:nvSpPr>
          <p:cNvPr id="10" name="직사각형 20"/>
          <p:cNvSpPr/>
          <p:nvPr/>
        </p:nvSpPr>
        <p:spPr>
          <a:xfrm>
            <a:off x="521430" y="2908489"/>
            <a:ext cx="369428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Crowne Plaza Parking lot Entrance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15217" y="4185974"/>
            <a:ext cx="1111256" cy="47276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/>
          <p:cNvCxnSpPr>
            <a:stCxn id="10" idx="2"/>
          </p:cNvCxnSpPr>
          <p:nvPr/>
        </p:nvCxnSpPr>
        <p:spPr>
          <a:xfrm>
            <a:off x="2368571" y="3277821"/>
            <a:ext cx="1851307" cy="70305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</p:cNvCxnSpPr>
          <p:nvPr/>
        </p:nvCxnSpPr>
        <p:spPr>
          <a:xfrm flipH="1">
            <a:off x="812801" y="3277821"/>
            <a:ext cx="1555770" cy="147681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46638" y="4584887"/>
            <a:ext cx="1111256" cy="78143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5777732" y="3625509"/>
            <a:ext cx="592077" cy="390719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5810750" y="1653854"/>
            <a:ext cx="1846195" cy="1135528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직사각형 20"/>
          <p:cNvSpPr/>
          <p:nvPr/>
        </p:nvSpPr>
        <p:spPr>
          <a:xfrm>
            <a:off x="8341585" y="1712164"/>
            <a:ext cx="3641261" cy="107721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Crowne Plaza Parking lot Entrance</a:t>
            </a:r>
          </a:p>
          <a:p>
            <a:r>
              <a:rPr lang="en-US" altLang="ko-KR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Please come up to 1F through the </a:t>
            </a:r>
            <a:r>
              <a:rPr lang="en-US" altLang="ko-KR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Westend</a:t>
            </a:r>
            <a:r>
              <a:rPr lang="en-US" altLang="ko-KR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parking lot.</a:t>
            </a:r>
            <a:endParaRPr lang="en-US" altLang="ko-K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>
            <a:stCxn id="19" idx="1"/>
          </p:cNvCxnSpPr>
          <p:nvPr/>
        </p:nvCxnSpPr>
        <p:spPr>
          <a:xfrm flipH="1" flipV="1">
            <a:off x="7142991" y="2081498"/>
            <a:ext cx="1198594" cy="169275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9" idx="1"/>
          </p:cNvCxnSpPr>
          <p:nvPr/>
        </p:nvCxnSpPr>
        <p:spPr>
          <a:xfrm flipH="1">
            <a:off x="6561101" y="2250773"/>
            <a:ext cx="1780484" cy="1297214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585" y="2979999"/>
            <a:ext cx="3479384" cy="260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46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009" y="587828"/>
            <a:ext cx="4529284" cy="5834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9F36CE-63AB-6448-3774-A290FFE6BB24}"/>
              </a:ext>
            </a:extLst>
          </p:cNvPr>
          <p:cNvSpPr txBox="1"/>
          <p:nvPr/>
        </p:nvSpPr>
        <p:spPr>
          <a:xfrm>
            <a:off x="7609797" y="1773526"/>
            <a:ext cx="41184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좌측의 개인정보 입력란 유지해주세요</a:t>
            </a:r>
            <a:r>
              <a:rPr lang="en-US" altLang="ko-KR" sz="1200" b="1" dirty="0" smtClean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</a:t>
            </a:r>
          </a:p>
          <a:p>
            <a:r>
              <a:rPr lang="ko-KR" altLang="en-US" sz="1200" b="1" dirty="0" smtClean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해당</a:t>
            </a:r>
            <a:r>
              <a:rPr lang="en-US" altLang="ko-KR" sz="1200" b="1" dirty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b="1" dirty="0" smtClean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사이트 </a:t>
            </a:r>
            <a:r>
              <a:rPr lang="ko-KR" altLang="en-US" sz="1200" b="1" dirty="0" smtClean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페이지에서 </a:t>
            </a:r>
            <a:r>
              <a:rPr lang="ko-KR" altLang="en-US" sz="1200" b="1" dirty="0" err="1" smtClean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모객</a:t>
            </a:r>
            <a:r>
              <a:rPr lang="ko-KR" altLang="en-US" sz="1200" b="1" dirty="0" smtClean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 활동을 진행하므로</a:t>
            </a:r>
            <a:endParaRPr lang="en-US" altLang="ko-KR" sz="1200" b="1" dirty="0" smtClean="0">
              <a:solidFill>
                <a:srgbClr val="0000CC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r>
              <a:rPr lang="ko-KR" altLang="en-US" sz="1200" b="1" dirty="0" smtClean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참가자들께서 해당 양식에 맞춰 개인 정보를 입력할 예정입니다</a:t>
            </a:r>
            <a:r>
              <a:rPr lang="en-US" altLang="ko-KR" sz="1200" b="1" dirty="0" smtClean="0">
                <a:solidFill>
                  <a:srgbClr val="0000C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.</a:t>
            </a:r>
            <a:endParaRPr lang="en-US" altLang="ko-KR" sz="1200" b="1" dirty="0">
              <a:solidFill>
                <a:srgbClr val="0000CC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90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391</Words>
  <Application>Microsoft Office PowerPoint</Application>
  <PresentationFormat>와이드스크린</PresentationFormat>
  <Paragraphs>51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나눔스퀘어</vt:lpstr>
      <vt:lpstr>맑은 고딕</vt:lpstr>
      <vt:lpstr>Arial</vt:lpstr>
      <vt:lpstr>Calibri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Samsung SDS Mexico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Noah Kang/Planning Part (M)/Manager/SDSLA</dc:creator>
  <cp:lastModifiedBy>SDS</cp:lastModifiedBy>
  <cp:revision>84</cp:revision>
  <dcterms:created xsi:type="dcterms:W3CDTF">2026-04-06T20:33:42Z</dcterms:created>
  <dcterms:modified xsi:type="dcterms:W3CDTF">2026-08-05T06:57:31Z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45C9495649A2779001523CF45378676F49CF6FD502A6C716F802B3F311B8145186F405E94D8727AB204B307E823FDCB7349505784248BD4C9565741ED83CB316</vt:lpwstr>
  </property>
</Properties>
</file>